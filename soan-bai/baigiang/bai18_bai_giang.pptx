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  <p:sldMasterId id="2147483754" r:id="rId2"/>
  </p:sldMasterIdLst>
  <p:notesMasterIdLst>
    <p:notesMasterId r:id="rId28"/>
  </p:notesMasterIdLst>
  <p:sldIdLst>
    <p:sldId id="301" r:id="rId3"/>
    <p:sldId id="315" r:id="rId4"/>
    <p:sldId id="324" r:id="rId5"/>
    <p:sldId id="361" r:id="rId6"/>
    <p:sldId id="372" r:id="rId7"/>
    <p:sldId id="366" r:id="rId8"/>
    <p:sldId id="364" r:id="rId9"/>
    <p:sldId id="373" r:id="rId10"/>
    <p:sldId id="365" r:id="rId11"/>
    <p:sldId id="345" r:id="rId12"/>
    <p:sldId id="370" r:id="rId13"/>
    <p:sldId id="374" r:id="rId14"/>
    <p:sldId id="317" r:id="rId15"/>
    <p:sldId id="376" r:id="rId16"/>
    <p:sldId id="319" r:id="rId17"/>
    <p:sldId id="320" r:id="rId18"/>
    <p:sldId id="377" r:id="rId19"/>
    <p:sldId id="321" r:id="rId20"/>
    <p:sldId id="322" r:id="rId21"/>
    <p:sldId id="323" r:id="rId22"/>
    <p:sldId id="378" r:id="rId23"/>
    <p:sldId id="316" r:id="rId24"/>
    <p:sldId id="325" r:id="rId25"/>
    <p:sldId id="327" r:id="rId26"/>
    <p:sldId id="326" r:id="rId27"/>
  </p:sldIdLst>
  <p:sldSz cx="24384000" cy="13716000"/>
  <p:notesSz cx="6858000" cy="9144000"/>
  <p:custDataLst>
    <p:tags r:id="rId29"/>
  </p:custDataLst>
  <p:defaultTextStyle>
    <a:defPPr>
      <a:defRPr lang="en-US"/>
    </a:defPPr>
    <a:lvl1pPr marL="0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1pPr>
    <a:lvl2pPr marL="1088639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2pPr>
    <a:lvl3pPr marL="2177278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3pPr>
    <a:lvl4pPr marL="3265917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4pPr>
    <a:lvl5pPr marL="4354556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5pPr>
    <a:lvl6pPr marL="5443195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6pPr>
    <a:lvl7pPr marL="6531834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7pPr>
    <a:lvl8pPr marL="7620472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8pPr>
    <a:lvl9pPr marL="8709111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242452"/>
    <a:srgbClr val="E7F7FF"/>
    <a:srgbClr val="D6F7FE"/>
    <a:srgbClr val="EEF7E9"/>
    <a:srgbClr val="0000FF"/>
    <a:srgbClr val="135F82"/>
    <a:srgbClr val="FFFFFF"/>
    <a:srgbClr val="008000"/>
    <a:srgbClr val="270F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698" autoAdjust="0"/>
    <p:restoredTop sz="94139" autoAdjust="0"/>
  </p:normalViewPr>
  <p:slideViewPr>
    <p:cSldViewPr>
      <p:cViewPr varScale="1">
        <p:scale>
          <a:sx n="31" d="100"/>
          <a:sy n="31" d="100"/>
        </p:scale>
        <p:origin x="138" y="348"/>
      </p:cViewPr>
      <p:guideLst>
        <p:guide orient="horz" pos="4320"/>
        <p:guide pos="76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notesMaster" Target="notesMasters/notesMaster1.xml"/><Relationship Id="rId29" Type="http://schemas.openxmlformats.org/officeDocument/2006/relationships/tags" Target="tags/tag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BB293-0719-4B19-A181-EE36FD0623AD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EA8B73-FCCD-4D4C-BC4E-0CE5120A1B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6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1pPr>
    <a:lvl2pPr marL="1088639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2pPr>
    <a:lvl3pPr marL="2177278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3pPr>
    <a:lvl4pPr marL="3265917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4pPr>
    <a:lvl5pPr marL="4354556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5pPr>
    <a:lvl6pPr marL="5443195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6pPr>
    <a:lvl7pPr marL="6531834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7pPr>
    <a:lvl8pPr marL="7620472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8pPr>
    <a:lvl9pPr marL="8709111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64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632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460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9358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295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9968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6003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6183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663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8197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520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5663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3908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6468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5663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6858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583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2028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0240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8658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434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8879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73712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9727" y="1781954"/>
            <a:ext cx="21031200" cy="2651126"/>
          </a:xfrm>
          <a:prstGeom prst="rect">
            <a:avLst/>
          </a:prstGeom>
        </p:spPr>
        <p:txBody>
          <a:bodyPr/>
          <a:lstStyle>
            <a:lvl1pPr algn="l">
              <a:defRPr sz="5400">
                <a:latin typeface="Tomaho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9727" y="4702953"/>
            <a:ext cx="10363200" cy="8702676"/>
          </a:xfrm>
          <a:prstGeom prst="rect">
            <a:avLst/>
          </a:prstGeom>
        </p:spPr>
        <p:txBody>
          <a:bodyPr/>
          <a:lstStyle>
            <a:lvl1pPr algn="l">
              <a:defRPr sz="4800">
                <a:latin typeface="Tomaho"/>
              </a:defRPr>
            </a:lvl1pPr>
            <a:lvl2pPr algn="l">
              <a:defRPr sz="4800">
                <a:latin typeface="Tomaho"/>
              </a:defRPr>
            </a:lvl2pPr>
            <a:lvl3pPr algn="l">
              <a:defRPr sz="4800">
                <a:latin typeface="Tomaho"/>
              </a:defRPr>
            </a:lvl3pPr>
            <a:lvl4pPr algn="l">
              <a:defRPr sz="4800">
                <a:latin typeface="Tomaho"/>
              </a:defRPr>
            </a:lvl4pPr>
            <a:lvl5pPr algn="l">
              <a:defRPr sz="4800">
                <a:latin typeface="Tomah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67727" y="4702953"/>
            <a:ext cx="10363200" cy="8702676"/>
          </a:xfrm>
          <a:prstGeom prst="rect">
            <a:avLst/>
          </a:prstGeom>
        </p:spPr>
        <p:txBody>
          <a:bodyPr/>
          <a:lstStyle>
            <a:lvl1pPr algn="l">
              <a:defRPr sz="4800">
                <a:latin typeface="Tomaho"/>
              </a:defRPr>
            </a:lvl1pPr>
            <a:lvl2pPr algn="l">
              <a:defRPr sz="4800">
                <a:latin typeface="Tomaho"/>
              </a:defRPr>
            </a:lvl2pPr>
            <a:lvl3pPr algn="l">
              <a:defRPr sz="4800">
                <a:latin typeface="Tomaho"/>
              </a:defRPr>
            </a:lvl3pPr>
            <a:lvl4pPr algn="l">
              <a:defRPr sz="4800">
                <a:latin typeface="Tomaho"/>
              </a:defRPr>
            </a:lvl4pPr>
            <a:lvl5pPr algn="l">
              <a:defRPr sz="4800">
                <a:latin typeface="Tomah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073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080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FD4328-148B-4547-A4ED-C0C479A0C7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28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7510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9381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419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589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558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83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85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330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56836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88431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7016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14175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8471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28426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13010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54439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70738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6782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29193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60201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07399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60962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63581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3018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52902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9356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26953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80363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70057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85478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29768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25328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80236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47707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65605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61796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95550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74125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46704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82350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81577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9597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87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6152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944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833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782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5105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2462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811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7073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306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485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0" y="12712706"/>
            <a:ext cx="5689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fld id="{D15044BE-B3F3-4258-B55D-9238C2EBFDF1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5" y="12712706"/>
            <a:ext cx="7721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4" y="12712706"/>
            <a:ext cx="5689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620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2" y="12712702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2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1" y="12712702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644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1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1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0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60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1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1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0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8135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theme" Target="../theme/theme1.xml"/><Relationship Id="rId46" Type="http://schemas.openxmlformats.org/officeDocument/2006/relationships/image" Target="../media/image1.gi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59.xml"/><Relationship Id="rId16" Type="http://schemas.openxmlformats.org/officeDocument/2006/relationships/theme" Target="../theme/theme2.xml"/><Relationship Id="rId17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140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0" r:id="rId3"/>
    <p:sldLayoutId id="2147483741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814" r:id="rId12"/>
    <p:sldLayoutId id="2147483813" r:id="rId13"/>
    <p:sldLayoutId id="2147483812" r:id="rId14"/>
    <p:sldLayoutId id="2147483811" r:id="rId15"/>
    <p:sldLayoutId id="2147483810" r:id="rId16"/>
    <p:sldLayoutId id="2147483809" r:id="rId17"/>
    <p:sldLayoutId id="2147483808" r:id="rId18"/>
    <p:sldLayoutId id="2147483807" r:id="rId19"/>
    <p:sldLayoutId id="2147483806" r:id="rId20"/>
    <p:sldLayoutId id="2147483805" r:id="rId21"/>
    <p:sldLayoutId id="2147483804" r:id="rId22"/>
    <p:sldLayoutId id="2147483803" r:id="rId23"/>
    <p:sldLayoutId id="2147483802" r:id="rId24"/>
    <p:sldLayoutId id="2147483801" r:id="rId25"/>
    <p:sldLayoutId id="2147483800" r:id="rId26"/>
    <p:sldLayoutId id="2147483799" r:id="rId27"/>
    <p:sldLayoutId id="2147483798" r:id="rId28"/>
    <p:sldLayoutId id="2147483797" r:id="rId29"/>
    <p:sldLayoutId id="2147483796" r:id="rId30"/>
    <p:sldLayoutId id="2147483795" r:id="rId31"/>
    <p:sldLayoutId id="2147483794" r:id="rId32"/>
    <p:sldLayoutId id="2147483793" r:id="rId33"/>
    <p:sldLayoutId id="2147483792" r:id="rId34"/>
    <p:sldLayoutId id="2147483791" r:id="rId35"/>
    <p:sldLayoutId id="2147483790" r:id="rId36"/>
    <p:sldLayoutId id="2147483789" r:id="rId37"/>
    <p:sldLayoutId id="2147483788" r:id="rId38"/>
    <p:sldLayoutId id="2147483787" r:id="rId39"/>
    <p:sldLayoutId id="2147483786" r:id="rId40"/>
    <p:sldLayoutId id="2147483785" r:id="rId41"/>
    <p:sldLayoutId id="2147483784" r:id="rId42"/>
    <p:sldLayoutId id="2147483783" r:id="rId43"/>
    <p:sldLayoutId id="2147483782" r:id="rId44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094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emf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9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5.wmf"/><Relationship Id="rId7" Type="http://schemas.openxmlformats.org/officeDocument/2006/relationships/oleObject" Target="../embeddings/oleObject2.bin"/><Relationship Id="rId8" Type="http://schemas.openxmlformats.org/officeDocument/2006/relationships/image" Target="../media/image8.png"/><Relationship Id="rId9" Type="http://schemas.openxmlformats.org/officeDocument/2006/relationships/image" Target="../media/image10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6.png"/><Relationship Id="rId5" Type="http://schemas.openxmlformats.org/officeDocument/2006/relationships/image" Target="../media/image22.png"/><Relationship Id="rId6" Type="http://schemas.openxmlformats.org/officeDocument/2006/relationships/oleObject" Target="../embeddings/oleObject3.bin"/><Relationship Id="rId7" Type="http://schemas.openxmlformats.org/officeDocument/2006/relationships/image" Target="../media/image5.wmf"/><Relationship Id="rId8" Type="http://schemas.openxmlformats.org/officeDocument/2006/relationships/oleObject" Target="../embeddings/oleObject4.bin"/><Relationship Id="rId9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Relationship Id="rId4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Relationship Id="rId4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0.png"/><Relationship Id="rId4" Type="http://schemas.openxmlformats.org/officeDocument/2006/relationships/image" Target="../media/image220.png"/><Relationship Id="rId5" Type="http://schemas.openxmlformats.org/officeDocument/2006/relationships/image" Target="../media/image21.png"/><Relationship Id="rId6" Type="http://schemas.openxmlformats.org/officeDocument/2006/relationships/image" Target="../media/image5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4.png"/><Relationship Id="rId4" Type="http://schemas.openxmlformats.org/officeDocument/2006/relationships/image" Target="../media/image26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5.png"/><Relationship Id="rId4" Type="http://schemas.openxmlformats.org/officeDocument/2006/relationships/image" Target="../media/image3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0.png"/><Relationship Id="rId4" Type="http://schemas.openxmlformats.org/officeDocument/2006/relationships/image" Target="../media/image300.png"/><Relationship Id="rId5" Type="http://schemas.openxmlformats.org/officeDocument/2006/relationships/image" Target="../media/image3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0.png"/><Relationship Id="rId4" Type="http://schemas.openxmlformats.org/officeDocument/2006/relationships/image" Target="../media/image3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0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08C62C3-3138-4092-86C2-85A1567C6E78}"/>
              </a:ext>
            </a:extLst>
          </p:cNvPr>
          <p:cNvGrpSpPr/>
          <p:nvPr/>
        </p:nvGrpSpPr>
        <p:grpSpPr>
          <a:xfrm>
            <a:off x="990598" y="1809816"/>
            <a:ext cx="22808130" cy="11677584"/>
            <a:chOff x="1447797" y="1793812"/>
            <a:chExt cx="22808130" cy="1167758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17C9077-2F0E-4830-9CBB-2CF87E745444}"/>
                </a:ext>
              </a:extLst>
            </p:cNvPr>
            <p:cNvGrpSpPr/>
            <p:nvPr/>
          </p:nvGrpSpPr>
          <p:grpSpPr>
            <a:xfrm>
              <a:off x="1447797" y="1793812"/>
              <a:ext cx="22808130" cy="11677584"/>
              <a:chOff x="1447797" y="1793812"/>
              <a:chExt cx="22808130" cy="11677584"/>
            </a:xfrm>
          </p:grpSpPr>
          <p:grpSp>
            <p:nvGrpSpPr>
              <p:cNvPr id="69" name="Group 68"/>
              <p:cNvGrpSpPr/>
              <p:nvPr/>
            </p:nvGrpSpPr>
            <p:grpSpPr>
              <a:xfrm>
                <a:off x="1575873" y="1797127"/>
                <a:ext cx="22680054" cy="11674269"/>
                <a:chOff x="-3538955" y="3448230"/>
                <a:chExt cx="22680054" cy="11674269"/>
              </a:xfrm>
            </p:grpSpPr>
            <p:sp>
              <p:nvSpPr>
                <p:cNvPr id="70" name="Right Triangle 69"/>
                <p:cNvSpPr/>
                <p:nvPr/>
              </p:nvSpPr>
              <p:spPr>
                <a:xfrm flipH="1">
                  <a:off x="8958821" y="3486542"/>
                  <a:ext cx="193377" cy="212342"/>
                </a:xfrm>
                <a:prstGeom prst="rtTriangle">
                  <a:avLst/>
                </a:prstGeom>
                <a:solidFill>
                  <a:schemeClr val="accent5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71" name="Group 70"/>
                <p:cNvGrpSpPr/>
                <p:nvPr/>
              </p:nvGrpSpPr>
              <p:grpSpPr>
                <a:xfrm>
                  <a:off x="-3538955" y="3448230"/>
                  <a:ext cx="22680054" cy="11674269"/>
                  <a:chOff x="-3538955" y="3448230"/>
                  <a:chExt cx="22680054" cy="11674269"/>
                </a:xfrm>
              </p:grpSpPr>
              <p:sp>
                <p:nvSpPr>
                  <p:cNvPr id="72" name="Rounded Rectangle 71"/>
                  <p:cNvSpPr/>
                  <p:nvPr/>
                </p:nvSpPr>
                <p:spPr>
                  <a:xfrm>
                    <a:off x="-3538955" y="3592713"/>
                    <a:ext cx="22680054" cy="11529786"/>
                  </a:xfrm>
                  <a:prstGeom prst="roundRect">
                    <a:avLst>
                      <a:gd name="adj" fmla="val 2127"/>
                    </a:avLst>
                  </a:prstGeom>
                  <a:solidFill>
                    <a:schemeClr val="bg1"/>
                  </a:solidFill>
                  <a:ln w="28575">
                    <a:solidFill>
                      <a:srgbClr val="0999C8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36000" tIns="18000" rIns="36000" bIns="18000" rtlCol="0" anchor="ctr"/>
                  <a:lstStyle/>
                  <a:p>
                    <a:pPr algn="ctr"/>
                    <a:endParaRPr lang="en-US" sz="4600" dirty="0">
                      <a:latin typeface="Tahoma" pitchFamily="34" charset="0"/>
                      <a:ea typeface="Tahoma" pitchFamily="34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73" name="TextBox 72"/>
                  <p:cNvSpPr txBox="1"/>
                  <p:nvPr/>
                </p:nvSpPr>
                <p:spPr>
                  <a:xfrm>
                    <a:off x="5759299" y="3448230"/>
                    <a:ext cx="3890809" cy="92333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fontAlgn="auto">
                      <a:spcBef>
                        <a:spcPct val="5000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5400" b="1" cap="all" dirty="0">
                        <a:ln w="0"/>
                        <a:solidFill>
                          <a:schemeClr val="bg1"/>
                        </a:solidFill>
                        <a:effectLst>
                          <a:reflection blurRad="12700" stA="50000" endPos="50000" dist="5000" dir="5400000" sy="-100000" rotWithShape="0"/>
                        </a:effectLst>
                        <a:latin typeface="Tahoma" pitchFamily="34" charset="0"/>
                        <a:ea typeface="Tahoma" pitchFamily="34" charset="0"/>
                        <a:cs typeface="Tahoma" pitchFamily="34" charset="0"/>
                      </a:rPr>
                      <a:t>CHƯƠNG I</a:t>
                    </a:r>
                  </a:p>
                </p:txBody>
              </p:sp>
            </p:grpSp>
          </p:grpSp>
          <p:sp>
            <p:nvSpPr>
              <p:cNvPr id="74" name="Right Triangle 73"/>
              <p:cNvSpPr/>
              <p:nvPr/>
            </p:nvSpPr>
            <p:spPr>
              <a:xfrm flipH="1">
                <a:off x="7921388" y="1793819"/>
                <a:ext cx="193377" cy="212342"/>
              </a:xfrm>
              <a:prstGeom prst="rtTriangle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ound Same Side Corner Rectangle 95"/>
              <p:cNvSpPr/>
              <p:nvPr/>
            </p:nvSpPr>
            <p:spPr>
              <a:xfrm flipV="1">
                <a:off x="8114764" y="1793812"/>
                <a:ext cx="14364235" cy="1181261"/>
              </a:xfrm>
              <a:prstGeom prst="round2SameRect">
                <a:avLst>
                  <a:gd name="adj1" fmla="val 6458"/>
                  <a:gd name="adj2" fmla="val 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8597663" y="1953929"/>
                <a:ext cx="1410993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4800" b="1">
                    <a:solidFill>
                      <a:srgbClr val="FF0000"/>
                    </a:solidFill>
                    <a:latin typeface="+mj-lt"/>
                  </a:rPr>
                  <a:t>CHƯƠNG </a:t>
                </a:r>
                <a:r>
                  <a:rPr lang="en-US" sz="48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</a:t>
                </a:r>
                <a:r>
                  <a:rPr lang="vi-VN" sz="4800" b="1">
                    <a:solidFill>
                      <a:srgbClr val="FF0000"/>
                    </a:solidFill>
                    <a:latin typeface="+mj-lt"/>
                  </a:rPr>
                  <a:t>. </a:t>
                </a:r>
                <a:r>
                  <a:rPr lang="en-US" sz="48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HÀM SỐ, ĐỒ THỊ VÀ ỨNG DỤNG</a:t>
                </a:r>
                <a:endParaRPr lang="vi-VN" sz="4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04" name="Picture 53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71230" y="2975075"/>
                <a:ext cx="1495424" cy="14954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7" name="Rectangle 16"/>
              <p:cNvSpPr/>
              <p:nvPr/>
            </p:nvSpPr>
            <p:spPr>
              <a:xfrm>
                <a:off x="7467544" y="4114018"/>
                <a:ext cx="13632086" cy="83322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0" tIns="45705" rIns="91410" bIns="45705" rtlCol="0" anchor="ctr"/>
              <a:lstStyle/>
              <a:p>
                <a:pPr algn="ctr"/>
                <a:endParaRPr lang="en-US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56" name="Group 60"/>
              <p:cNvGrpSpPr/>
              <p:nvPr/>
            </p:nvGrpSpPr>
            <p:grpSpPr>
              <a:xfrm>
                <a:off x="1447797" y="5783935"/>
                <a:ext cx="17650380" cy="1112717"/>
                <a:chOff x="7459670" y="7605944"/>
                <a:chExt cx="17652425" cy="111284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7" name="Rectangle 56"/>
                    <p:cNvSpPr/>
                    <p:nvPr/>
                  </p:nvSpPr>
                  <p:spPr>
                    <a:xfrm>
                      <a:off x="9092456" y="7696018"/>
                      <a:ext cx="16019639" cy="1022771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4800" b="1" kern="1200">
                          <a:solidFill>
                            <a:srgbClr val="242452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PHƯƠNG TRÌNH DẠNG </a:t>
                      </a:r>
                      <a14:m>
                        <m:oMath xmlns:m="http://schemas.openxmlformats.org/officeDocument/2006/math">
                          <m:rad>
                            <m:radPr>
                              <m:degHide m:val="on"/>
                              <m:ctrlPr>
                                <a:rPr lang="en-US" sz="4800" b="1" i="1" kern="1200">
                                  <a:solidFill>
                                    <a:srgbClr val="242452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800" b="1" i="1" kern="1200">
                                  <a:solidFill>
                                    <a:srgbClr val="242452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  <m:sSup>
                                <m:sSupPr>
                                  <m:ctrlPr>
                                    <a:rPr lang="en-US" sz="4800" b="1" i="1" kern="1200">
                                      <a:solidFill>
                                        <a:srgbClr val="242452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800" b="1" i="1" kern="1200">
                                      <a:solidFill>
                                        <a:srgbClr val="242452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4800" b="1" i="1" kern="1200">
                                      <a:solidFill>
                                        <a:srgbClr val="242452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sz="4800" b="1" i="1" kern="1200">
                                  <a:solidFill>
                                    <a:srgbClr val="242452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4800" b="1" i="1" kern="1200">
                                  <a:solidFill>
                                    <a:srgbClr val="242452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𝒃𝒙</m:t>
                              </m:r>
                              <m:r>
                                <a:rPr lang="en-US" sz="4800" b="1" i="1" kern="1200">
                                  <a:solidFill>
                                    <a:srgbClr val="242452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4800" b="1" i="1" kern="1200">
                                  <a:solidFill>
                                    <a:srgbClr val="242452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𝒄</m:t>
                              </m:r>
                            </m:e>
                          </m:rad>
                          <m:r>
                            <a:rPr lang="en-US" sz="4800" b="1" i="1" kern="1200">
                              <a:solidFill>
                                <a:srgbClr val="242452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ad>
                            <m:radPr>
                              <m:degHide m:val="on"/>
                              <m:ctrlPr>
                                <a:rPr lang="en-US" sz="4800" b="1" i="1" kern="1200">
                                  <a:solidFill>
                                    <a:srgbClr val="242452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800" b="1" i="1" kern="1200">
                                  <a:solidFill>
                                    <a:srgbClr val="242452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𝒅</m:t>
                              </m:r>
                              <m:sSup>
                                <m:sSupPr>
                                  <m:ctrlPr>
                                    <a:rPr lang="en-US" sz="4800" b="1" i="1" kern="1200">
                                      <a:solidFill>
                                        <a:srgbClr val="242452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800" b="1" i="1" kern="1200">
                                      <a:solidFill>
                                        <a:srgbClr val="242452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4800" b="1" i="1" kern="1200">
                                      <a:solidFill>
                                        <a:srgbClr val="242452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sz="4800" b="1" i="1" kern="1200">
                                  <a:solidFill>
                                    <a:srgbClr val="242452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4800" b="1" i="1" kern="1200">
                                  <a:solidFill>
                                    <a:srgbClr val="242452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𝒆𝒙</m:t>
                              </m:r>
                              <m:r>
                                <a:rPr lang="en-US" sz="4800" b="1" i="1" kern="1200">
                                  <a:solidFill>
                                    <a:srgbClr val="242452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4800" b="1" i="1" kern="1200">
                                  <a:solidFill>
                                    <a:srgbClr val="242452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𝒇</m:t>
                              </m:r>
                            </m:e>
                          </m:rad>
                        </m:oMath>
                      </a14:m>
                      <a:endParaRPr lang="en-US" sz="4800">
                        <a:solidFill>
                          <a:srgbClr val="242452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57" name="Rectangle 56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092456" y="7696018"/>
                      <a:ext cx="16019639" cy="1022771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1712" b="-2857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58" name="Group 26"/>
                <p:cNvGrpSpPr/>
                <p:nvPr/>
              </p:nvGrpSpPr>
              <p:grpSpPr>
                <a:xfrm>
                  <a:off x="7459670" y="7605944"/>
                  <a:ext cx="1392615" cy="905764"/>
                  <a:chOff x="7459669" y="8063144"/>
                  <a:chExt cx="1381118" cy="905764"/>
                </a:xfrm>
              </p:grpSpPr>
              <p:sp>
                <p:nvSpPr>
                  <p:cNvPr id="59" name="Isosceles Triangle 44"/>
                  <p:cNvSpPr/>
                  <p:nvPr/>
                </p:nvSpPr>
                <p:spPr>
                  <a:xfrm rot="16200000">
                    <a:off x="7469936" y="8052877"/>
                    <a:ext cx="143688" cy="164221"/>
                  </a:xfrm>
                  <a:custGeom>
                    <a:avLst/>
                    <a:gdLst>
                      <a:gd name="connsiteX0" fmla="*/ 0 w 293725"/>
                      <a:gd name="connsiteY0" fmla="*/ 164224 h 164224"/>
                      <a:gd name="connsiteX1" fmla="*/ 146863 w 293725"/>
                      <a:gd name="connsiteY1" fmla="*/ 0 h 164224"/>
                      <a:gd name="connsiteX2" fmla="*/ 293725 w 293725"/>
                      <a:gd name="connsiteY2" fmla="*/ 164224 h 164224"/>
                      <a:gd name="connsiteX3" fmla="*/ 0 w 293725"/>
                      <a:gd name="connsiteY3" fmla="*/ 164224 h 164224"/>
                      <a:gd name="connsiteX0" fmla="*/ 2363 w 296088"/>
                      <a:gd name="connsiteY0" fmla="*/ 164221 h 164221"/>
                      <a:gd name="connsiteX1" fmla="*/ 0 w 296088"/>
                      <a:gd name="connsiteY1" fmla="*/ 0 h 164221"/>
                      <a:gd name="connsiteX2" fmla="*/ 296088 w 296088"/>
                      <a:gd name="connsiteY2" fmla="*/ 164221 h 164221"/>
                      <a:gd name="connsiteX3" fmla="*/ 2363 w 296088"/>
                      <a:gd name="connsiteY3" fmla="*/ 164221 h 164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96088" h="164221">
                        <a:moveTo>
                          <a:pt x="2363" y="164221"/>
                        </a:moveTo>
                        <a:cubicBezTo>
                          <a:pt x="1575" y="109481"/>
                          <a:pt x="788" y="54740"/>
                          <a:pt x="0" y="0"/>
                        </a:cubicBezTo>
                        <a:lnTo>
                          <a:pt x="296088" y="164221"/>
                        </a:lnTo>
                        <a:lnTo>
                          <a:pt x="2363" y="164221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60" name="Group 28"/>
                  <p:cNvGrpSpPr/>
                  <p:nvPr/>
                </p:nvGrpSpPr>
                <p:grpSpPr>
                  <a:xfrm>
                    <a:off x="7469187" y="8161191"/>
                    <a:ext cx="1371600" cy="807717"/>
                    <a:chOff x="7469187" y="8161191"/>
                    <a:chExt cx="1371600" cy="807717"/>
                  </a:xfrm>
                </p:grpSpPr>
                <p:sp>
                  <p:nvSpPr>
                    <p:cNvPr id="61" name="Round Same Side Corner Rectangle 60"/>
                    <p:cNvSpPr/>
                    <p:nvPr/>
                  </p:nvSpPr>
                  <p:spPr>
                    <a:xfrm rot="5400000">
                      <a:off x="7789227" y="7841151"/>
                      <a:ext cx="731520" cy="1371600"/>
                    </a:xfrm>
                    <a:prstGeom prst="round2SameRect">
                      <a:avLst/>
                    </a:prstGeom>
                    <a:solidFill>
                      <a:srgbClr val="135F82"/>
                    </a:solidFill>
                    <a:ln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320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62" name="TextBox 61"/>
                    <p:cNvSpPr txBox="1"/>
                    <p:nvPr/>
                  </p:nvSpPr>
                  <p:spPr>
                    <a:xfrm>
                      <a:off x="7958807" y="8260940"/>
                      <a:ext cx="507514" cy="70796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4000" b="1">
                          <a:solidFill>
                            <a:prstClr val="whit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US" sz="4000" b="1" dirty="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</p:grpSp>
          </p:grpSp>
          <p:grpSp>
            <p:nvGrpSpPr>
              <p:cNvPr id="76" name="Group 32"/>
              <p:cNvGrpSpPr/>
              <p:nvPr/>
            </p:nvGrpSpPr>
            <p:grpSpPr>
              <a:xfrm>
                <a:off x="1447805" y="7603996"/>
                <a:ext cx="1392456" cy="883826"/>
                <a:chOff x="7459669" y="6333639"/>
                <a:chExt cx="1381119" cy="883929"/>
              </a:xfrm>
            </p:grpSpPr>
            <p:sp>
              <p:nvSpPr>
                <p:cNvPr id="77" name="Isosceles Triangle 44"/>
                <p:cNvSpPr/>
                <p:nvPr/>
              </p:nvSpPr>
              <p:spPr>
                <a:xfrm rot="16200000">
                  <a:off x="7469936" y="6323372"/>
                  <a:ext cx="143688" cy="164221"/>
                </a:xfrm>
                <a:custGeom>
                  <a:avLst/>
                  <a:gdLst>
                    <a:gd name="connsiteX0" fmla="*/ 0 w 293725"/>
                    <a:gd name="connsiteY0" fmla="*/ 164224 h 164224"/>
                    <a:gd name="connsiteX1" fmla="*/ 146863 w 293725"/>
                    <a:gd name="connsiteY1" fmla="*/ 0 h 164224"/>
                    <a:gd name="connsiteX2" fmla="*/ 293725 w 293725"/>
                    <a:gd name="connsiteY2" fmla="*/ 164224 h 164224"/>
                    <a:gd name="connsiteX3" fmla="*/ 0 w 293725"/>
                    <a:gd name="connsiteY3" fmla="*/ 164224 h 164224"/>
                    <a:gd name="connsiteX0" fmla="*/ 2363 w 296088"/>
                    <a:gd name="connsiteY0" fmla="*/ 164221 h 164221"/>
                    <a:gd name="connsiteX1" fmla="*/ 0 w 296088"/>
                    <a:gd name="connsiteY1" fmla="*/ 0 h 164221"/>
                    <a:gd name="connsiteX2" fmla="*/ 296088 w 296088"/>
                    <a:gd name="connsiteY2" fmla="*/ 164221 h 164221"/>
                    <a:gd name="connsiteX3" fmla="*/ 2363 w 296088"/>
                    <a:gd name="connsiteY3" fmla="*/ 164221 h 1642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6088" h="164221">
                      <a:moveTo>
                        <a:pt x="2363" y="164221"/>
                      </a:moveTo>
                      <a:cubicBezTo>
                        <a:pt x="1575" y="109481"/>
                        <a:pt x="788" y="54740"/>
                        <a:pt x="0" y="0"/>
                      </a:cubicBezTo>
                      <a:lnTo>
                        <a:pt x="296088" y="164221"/>
                      </a:lnTo>
                      <a:lnTo>
                        <a:pt x="2363" y="164221"/>
                      </a:lnTo>
                      <a:close/>
                    </a:path>
                  </a:pathLst>
                </a:custGeom>
                <a:solidFill>
                  <a:schemeClr val="accent5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grpSp>
              <p:nvGrpSpPr>
                <p:cNvPr id="78" name="Group 41"/>
                <p:cNvGrpSpPr/>
                <p:nvPr/>
              </p:nvGrpSpPr>
              <p:grpSpPr>
                <a:xfrm>
                  <a:off x="7469188" y="6486047"/>
                  <a:ext cx="1371600" cy="731521"/>
                  <a:chOff x="7469188" y="6486047"/>
                  <a:chExt cx="1371600" cy="731521"/>
                </a:xfrm>
              </p:grpSpPr>
              <p:sp>
                <p:nvSpPr>
                  <p:cNvPr id="79" name="Round Same Side Corner Rectangle 78"/>
                  <p:cNvSpPr/>
                  <p:nvPr/>
                </p:nvSpPr>
                <p:spPr>
                  <a:xfrm rot="5400000">
                    <a:off x="7789227" y="6166008"/>
                    <a:ext cx="731521" cy="1371600"/>
                  </a:xfrm>
                  <a:prstGeom prst="round2SameRect">
                    <a:avLst/>
                  </a:prstGeom>
                  <a:solidFill>
                    <a:srgbClr val="135F82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sp>
                <p:nvSpPr>
                  <p:cNvPr id="80" name="TextBox 79"/>
                  <p:cNvSpPr txBox="1"/>
                  <p:nvPr/>
                </p:nvSpPr>
                <p:spPr>
                  <a:xfrm>
                    <a:off x="7958806" y="6486049"/>
                    <a:ext cx="507513" cy="70796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4000" b="1" dirty="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87" name="TextBox 86"/>
              <p:cNvSpPr txBox="1"/>
              <p:nvPr/>
            </p:nvSpPr>
            <p:spPr>
              <a:xfrm>
                <a:off x="1951043" y="11270142"/>
                <a:ext cx="51167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4000" b="1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4</a:t>
                </a:r>
                <a:endParaRPr lang="en-US" sz="4000" b="1" dirty="0">
                  <a:solidFill>
                    <a:prstClr val="whit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3844753" y="6486123"/>
                <a:ext cx="543740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1</a:t>
                </a:r>
              </a:p>
            </p:txBody>
          </p:sp>
          <p:sp>
            <p:nvSpPr>
              <p:cNvPr id="95" name="TextBox 94"/>
              <p:cNvSpPr txBox="1"/>
              <p:nvPr/>
            </p:nvSpPr>
            <p:spPr>
              <a:xfrm>
                <a:off x="3809999" y="7688223"/>
                <a:ext cx="543740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2</a:t>
                </a:r>
              </a:p>
            </p:txBody>
          </p:sp>
          <p:grpSp>
            <p:nvGrpSpPr>
              <p:cNvPr id="47" name="Group 67"/>
              <p:cNvGrpSpPr/>
              <p:nvPr/>
            </p:nvGrpSpPr>
            <p:grpSpPr>
              <a:xfrm>
                <a:off x="1447803" y="9356599"/>
                <a:ext cx="4118388" cy="914400"/>
                <a:chOff x="7459670" y="7898830"/>
                <a:chExt cx="5324734" cy="914506"/>
              </a:xfrm>
            </p:grpSpPr>
            <p:sp>
              <p:nvSpPr>
                <p:cNvPr id="48" name="Rectangle 47"/>
                <p:cNvSpPr/>
                <p:nvPr/>
              </p:nvSpPr>
              <p:spPr>
                <a:xfrm>
                  <a:off x="9529920" y="7921423"/>
                  <a:ext cx="3254484" cy="83109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None/>
                    <a:defRPr/>
                  </a:pPr>
                  <a:r>
                    <a:rPr lang="en-US" sz="4800" b="1" spc="-150">
                      <a:solidFill>
                        <a:srgbClr val="242452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BÀI TẬP</a:t>
                  </a:r>
                  <a:endParaRPr lang="en-US" sz="4800" b="1" spc="-150" dirty="0">
                    <a:solidFill>
                      <a:srgbClr val="242452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49" name="Group 32"/>
                <p:cNvGrpSpPr/>
                <p:nvPr/>
              </p:nvGrpSpPr>
              <p:grpSpPr>
                <a:xfrm>
                  <a:off x="7459670" y="7898830"/>
                  <a:ext cx="1800329" cy="914506"/>
                  <a:chOff x="7459669" y="6918135"/>
                  <a:chExt cx="1785466" cy="914506"/>
                </a:xfrm>
              </p:grpSpPr>
              <p:sp>
                <p:nvSpPr>
                  <p:cNvPr id="50" name="Isosceles Triangle 44"/>
                  <p:cNvSpPr/>
                  <p:nvPr/>
                </p:nvSpPr>
                <p:spPr>
                  <a:xfrm rot="16200000">
                    <a:off x="7469936" y="6907868"/>
                    <a:ext cx="143688" cy="164221"/>
                  </a:xfrm>
                  <a:custGeom>
                    <a:avLst/>
                    <a:gdLst>
                      <a:gd name="connsiteX0" fmla="*/ 0 w 293725"/>
                      <a:gd name="connsiteY0" fmla="*/ 164224 h 164224"/>
                      <a:gd name="connsiteX1" fmla="*/ 146863 w 293725"/>
                      <a:gd name="connsiteY1" fmla="*/ 0 h 164224"/>
                      <a:gd name="connsiteX2" fmla="*/ 293725 w 293725"/>
                      <a:gd name="connsiteY2" fmla="*/ 164224 h 164224"/>
                      <a:gd name="connsiteX3" fmla="*/ 0 w 293725"/>
                      <a:gd name="connsiteY3" fmla="*/ 164224 h 164224"/>
                      <a:gd name="connsiteX0" fmla="*/ 2363 w 296088"/>
                      <a:gd name="connsiteY0" fmla="*/ 164221 h 164221"/>
                      <a:gd name="connsiteX1" fmla="*/ 0 w 296088"/>
                      <a:gd name="connsiteY1" fmla="*/ 0 h 164221"/>
                      <a:gd name="connsiteX2" fmla="*/ 296088 w 296088"/>
                      <a:gd name="connsiteY2" fmla="*/ 164221 h 164221"/>
                      <a:gd name="connsiteX3" fmla="*/ 2363 w 296088"/>
                      <a:gd name="connsiteY3" fmla="*/ 164221 h 164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96088" h="164221">
                        <a:moveTo>
                          <a:pt x="2363" y="164221"/>
                        </a:moveTo>
                        <a:cubicBezTo>
                          <a:pt x="1575" y="109481"/>
                          <a:pt x="788" y="54740"/>
                          <a:pt x="0" y="0"/>
                        </a:cubicBezTo>
                        <a:lnTo>
                          <a:pt x="296088" y="164221"/>
                        </a:lnTo>
                        <a:lnTo>
                          <a:pt x="2363" y="164221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51" name="Group 41"/>
                  <p:cNvGrpSpPr/>
                  <p:nvPr/>
                </p:nvGrpSpPr>
                <p:grpSpPr>
                  <a:xfrm>
                    <a:off x="7469189" y="7044083"/>
                    <a:ext cx="1775946" cy="788558"/>
                    <a:chOff x="7469189" y="7044083"/>
                    <a:chExt cx="1775946" cy="788558"/>
                  </a:xfrm>
                </p:grpSpPr>
                <p:sp>
                  <p:nvSpPr>
                    <p:cNvPr id="52" name="Round Same Side Corner Rectangle 51"/>
                    <p:cNvSpPr/>
                    <p:nvPr/>
                  </p:nvSpPr>
                  <p:spPr>
                    <a:xfrm rot="5400000">
                      <a:off x="7962883" y="6550389"/>
                      <a:ext cx="788557" cy="1775946"/>
                    </a:xfrm>
                    <a:prstGeom prst="round2SameRect">
                      <a:avLst/>
                    </a:prstGeom>
                    <a:solidFill>
                      <a:srgbClr val="135F82"/>
                    </a:solidFill>
                    <a:ln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320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53" name="TextBox 52"/>
                    <p:cNvSpPr txBox="1"/>
                    <p:nvPr/>
                  </p:nvSpPr>
                  <p:spPr>
                    <a:xfrm>
                      <a:off x="8104940" y="7124673"/>
                      <a:ext cx="656097" cy="70796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4000" b="1" dirty="0">
                          <a:solidFill>
                            <a:prstClr val="whit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p:txBody>
                </p:sp>
              </p:grpSp>
            </p:grpSp>
          </p:grpSp>
          <p:sp>
            <p:nvSpPr>
              <p:cNvPr id="68" name="TextBox 67"/>
              <p:cNvSpPr txBox="1"/>
              <p:nvPr/>
            </p:nvSpPr>
            <p:spPr>
              <a:xfrm>
                <a:off x="2114514" y="12402780"/>
                <a:ext cx="184731" cy="707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endParaRPr lang="en-US" sz="4000" b="1" dirty="0">
                  <a:solidFill>
                    <a:prstClr val="whit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03" name="Google Shape;122;p14">
              <a:extLst>
                <a:ext uri="{FF2B5EF4-FFF2-40B4-BE49-F238E27FC236}">
                  <a16:creationId xmlns:a16="http://schemas.microsoft.com/office/drawing/2014/main" id="{FAF7E6E7-D68E-4774-9801-54F6529B128E}"/>
                </a:ext>
              </a:extLst>
            </p:cNvPr>
            <p:cNvSpPr/>
            <p:nvPr/>
          </p:nvSpPr>
          <p:spPr>
            <a:xfrm>
              <a:off x="3165290" y="3009806"/>
              <a:ext cx="4418523" cy="882637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17500" dir="5400000" sx="90000" sy="-19000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  <a:scene3d>
                <a:camera prst="orthographicFront"/>
                <a:lightRig rig="threePt" dir="t"/>
              </a:scene3d>
              <a:sp3d prstMaterial="metal"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>
                  <a:solidFill>
                    <a:srgbClr val="FF0000"/>
                  </a:solidFill>
                  <a:effectLst>
                    <a:glow rad="76200">
                      <a:srgbClr val="FFFF00">
                        <a:alpha val="47000"/>
                      </a:srgbClr>
                    </a:glow>
                    <a:outerShdw blurRad="50800" dist="38100" dir="18900000" algn="bl" rotWithShape="0">
                      <a:srgbClr val="0000CC">
                        <a:alpha val="40000"/>
                      </a:srgbClr>
                    </a:outerShdw>
                  </a:effectLst>
                  <a:latin typeface="Bahnschrift SemiBold SemiConden" panose="020B0502040204020203" pitchFamily="34" charset="0"/>
                  <a:sym typeface="Baumans"/>
                </a:rPr>
                <a:t>TOÁN ĐẠI SỐ  </a:t>
              </a:r>
              <a:endParaRPr sz="6000" dirty="0">
                <a:solidFill>
                  <a:srgbClr val="FF0000"/>
                </a:solidFill>
                <a:effectLst>
                  <a:glow rad="76200">
                    <a:srgbClr val="FFFF00">
                      <a:alpha val="47000"/>
                    </a:srgbClr>
                  </a:glow>
                  <a:outerShdw blurRad="50800" dist="38100" dir="18900000" algn="bl" rotWithShape="0">
                    <a:srgbClr val="0000CC">
                      <a:alpha val="40000"/>
                    </a:srgbClr>
                  </a:outerShdw>
                </a:effectLst>
                <a:latin typeface="Bahnschrift SemiBold SemiConden" panose="020B0502040204020203" pitchFamily="34" charset="0"/>
              </a:endParaRP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7EC462C3-097E-478F-9154-33220765427C}"/>
                </a:ext>
              </a:extLst>
            </p:cNvPr>
            <p:cNvGrpSpPr/>
            <p:nvPr/>
          </p:nvGrpSpPr>
          <p:grpSpPr>
            <a:xfrm>
              <a:off x="4441592" y="3900043"/>
              <a:ext cx="1316269" cy="1323399"/>
              <a:chOff x="4902568" y="2922072"/>
              <a:chExt cx="1316269" cy="1323399"/>
            </a:xfrm>
          </p:grpSpPr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392A2278-170A-49E8-B48D-301797CCDF5E}"/>
                  </a:ext>
                </a:extLst>
              </p:cNvPr>
              <p:cNvGrpSpPr/>
              <p:nvPr/>
            </p:nvGrpSpPr>
            <p:grpSpPr>
              <a:xfrm>
                <a:off x="5015148" y="2971696"/>
                <a:ext cx="1175009" cy="1143519"/>
                <a:chOff x="5015148" y="2971695"/>
                <a:chExt cx="1175009" cy="1143520"/>
              </a:xfrm>
            </p:grpSpPr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4E1041DC-D475-450B-91E9-794165D6DE77}"/>
                    </a:ext>
                  </a:extLst>
                </p:cNvPr>
                <p:cNvSpPr/>
                <p:nvPr/>
              </p:nvSpPr>
              <p:spPr>
                <a:xfrm>
                  <a:off x="5015148" y="2971695"/>
                  <a:ext cx="1175009" cy="1143520"/>
                </a:xfrm>
                <a:prstGeom prst="ellipse">
                  <a:avLst/>
                </a:prstGeom>
                <a:solidFill>
                  <a:srgbClr val="FFFF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1BBB2B80-ECD5-421E-A4F7-BBA59D5C9CDF}"/>
                    </a:ext>
                  </a:extLst>
                </p:cNvPr>
                <p:cNvSpPr/>
                <p:nvPr/>
              </p:nvSpPr>
              <p:spPr>
                <a:xfrm>
                  <a:off x="5015148" y="2993775"/>
                  <a:ext cx="1091111" cy="1121440"/>
                </a:xfrm>
                <a:prstGeom prst="ellipse">
                  <a:avLst/>
                </a:prstGeom>
                <a:solidFill>
                  <a:srgbClr val="3333FF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7" name="Google Shape;123;p14">
                <a:extLst>
                  <a:ext uri="{FF2B5EF4-FFF2-40B4-BE49-F238E27FC236}">
                    <a16:creationId xmlns:a16="http://schemas.microsoft.com/office/drawing/2014/main" id="{F38EB064-8955-4FC1-9AF5-C49985002268}"/>
                  </a:ext>
                </a:extLst>
              </p:cNvPr>
              <p:cNvSpPr txBox="1"/>
              <p:nvPr/>
            </p:nvSpPr>
            <p:spPr>
              <a:xfrm>
                <a:off x="4902568" y="2922072"/>
                <a:ext cx="1316269" cy="1323399"/>
              </a:xfrm>
              <a:prstGeom prst="rect">
                <a:avLst/>
              </a:prstGeom>
              <a:noFill/>
              <a:ln>
                <a:noFill/>
              </a:ln>
              <a:effectLst>
                <a:innerShdw blurRad="63500" dist="50800">
                  <a:prstClr val="black">
                    <a:alpha val="50000"/>
                  </a:prstClr>
                </a:innerShdw>
              </a:effectLst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0">
                    <a:solidFill>
                      <a:schemeClr val="bg1"/>
                    </a:solidFill>
                    <a:latin typeface="Yu Gothic UI Semilight" panose="020B0400000000000000" pitchFamily="34" charset="-128"/>
                    <a:ea typeface="Yu Gothic UI Semilight" panose="020B0400000000000000" pitchFamily="34" charset="-128"/>
                  </a:rPr>
                  <a:t>➉</a:t>
                </a:r>
                <a:endParaRPr sz="80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47AD325-66EE-48DB-9F8D-F8AA55258571}"/>
              </a:ext>
            </a:extLst>
          </p:cNvPr>
          <p:cNvGrpSpPr/>
          <p:nvPr/>
        </p:nvGrpSpPr>
        <p:grpSpPr>
          <a:xfrm>
            <a:off x="7254682" y="3048000"/>
            <a:ext cx="15621908" cy="2551358"/>
            <a:chOff x="61141" y="134810"/>
            <a:chExt cx="6776932" cy="872484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81BFECA0-0F89-4852-8E07-B5554B30D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141" y="138049"/>
              <a:ext cx="6776932" cy="824094"/>
            </a:xfrm>
            <a:prstGeom prst="rect">
              <a:avLst/>
            </a:prstGeom>
          </p:spPr>
        </p:pic>
        <p:sp>
          <p:nvSpPr>
            <p:cNvPr id="64" name="TextBox 321">
              <a:extLst>
                <a:ext uri="{FF2B5EF4-FFF2-40B4-BE49-F238E27FC236}">
                  <a16:creationId xmlns:a16="http://schemas.microsoft.com/office/drawing/2014/main" id="{1416244C-1D11-455E-A7D0-4B93D1F3B2AE}"/>
                </a:ext>
              </a:extLst>
            </p:cNvPr>
            <p:cNvSpPr txBox="1"/>
            <p:nvPr/>
          </p:nvSpPr>
          <p:spPr>
            <a:xfrm>
              <a:off x="1095280" y="232873"/>
              <a:ext cx="4687622" cy="59589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5400" b="1" kern="1200">
                  <a:solidFill>
                    <a:srgbClr val="FCFFEF"/>
                  </a:solidFill>
                  <a:effectLst/>
                  <a:latin typeface="Calibri" panose="020F0502020204030204" pitchFamily="34" charset="0"/>
                  <a:ea typeface="Cascadia Mono" panose="020B0609020000020004" pitchFamily="49" charset="0"/>
                  <a:cs typeface="Times New Roman" panose="02020603050405020304" pitchFamily="18" charset="0"/>
                </a:rPr>
                <a:t>PHƯƠNG TRÌNH QUI VỀ </a:t>
              </a:r>
            </a:p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5400" b="1" kern="1200">
                  <a:solidFill>
                    <a:srgbClr val="FCFFEF"/>
                  </a:solidFill>
                  <a:effectLst/>
                  <a:latin typeface="Calibri" panose="020F0502020204030204" pitchFamily="34" charset="0"/>
                  <a:ea typeface="Cascadia Mono" panose="020B0609020000020004" pitchFamily="49" charset="0"/>
                  <a:cs typeface="Times New Roman" panose="02020603050405020304" pitchFamily="18" charset="0"/>
                </a:rPr>
                <a:t>PHƯƠNG TRÌNH BẬC NHẤT BẬC HAI</a:t>
              </a:r>
              <a:endParaRPr lang="en-US" sz="54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TextBox 321">
              <a:extLst>
                <a:ext uri="{FF2B5EF4-FFF2-40B4-BE49-F238E27FC236}">
                  <a16:creationId xmlns:a16="http://schemas.microsoft.com/office/drawing/2014/main" id="{396955DC-F71D-4106-92C3-22C6C10B7400}"/>
                </a:ext>
              </a:extLst>
            </p:cNvPr>
            <p:cNvSpPr txBox="1"/>
            <p:nvPr/>
          </p:nvSpPr>
          <p:spPr>
            <a:xfrm>
              <a:off x="366091" y="134810"/>
              <a:ext cx="715323" cy="87248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6000" b="1" kern="1200">
                  <a:solidFill>
                    <a:srgbClr val="FFFFFF"/>
                  </a:solidFill>
                  <a:effectLst/>
                  <a:latin typeface="Calibri" panose="020F0502020204030204" pitchFamily="34" charset="0"/>
                  <a:ea typeface="Cascadia Mono" panose="020B0609020000020004" pitchFamily="49" charset="0"/>
                  <a:cs typeface="Times New Roman" panose="02020603050405020304" pitchFamily="18" charset="0"/>
                </a:rPr>
                <a:t>18</a:t>
              </a:r>
              <a:endParaRPr lang="en-US" sz="6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F88B646-FC77-4053-86E9-615F6E5CDC4D}"/>
                  </a:ext>
                </a:extLst>
              </p:cNvPr>
              <p:cNvSpPr txBox="1"/>
              <p:nvPr/>
            </p:nvSpPr>
            <p:spPr>
              <a:xfrm>
                <a:off x="2809455" y="7758008"/>
                <a:ext cx="14325600" cy="9772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800" b="1" kern="1200">
                    <a:solidFill>
                      <a:srgbClr val="242452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PHƯƠNG TRÌNH DẠNG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4800" b="1" i="1" kern="1200">
                            <a:solidFill>
                              <a:srgbClr val="242452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4800" b="1" i="1" kern="1200">
                            <a:solidFill>
                              <a:srgbClr val="242452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𝒂</m:t>
                        </m:r>
                        <m:sSup>
                          <m:sSupPr>
                            <m:ctrlPr>
                              <a:rPr lang="en-US" sz="4800" b="1" i="1" kern="1200">
                                <a:solidFill>
                                  <a:srgbClr val="242452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4800" b="1" i="1" kern="1200">
                                <a:solidFill>
                                  <a:srgbClr val="242452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4800" b="1" i="1" kern="1200">
                                <a:solidFill>
                                  <a:srgbClr val="242452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4800" b="1" i="1" kern="1200">
                            <a:solidFill>
                              <a:srgbClr val="242452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4800" b="1" i="1" kern="1200">
                            <a:solidFill>
                              <a:srgbClr val="242452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𝒃𝒙</m:t>
                        </m:r>
                        <m:r>
                          <a:rPr lang="en-US" sz="4800" b="1" i="1" kern="1200">
                            <a:solidFill>
                              <a:srgbClr val="242452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4800" b="1" i="1" kern="1200">
                            <a:solidFill>
                              <a:srgbClr val="242452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</m:rad>
                    <m:r>
                      <a:rPr lang="en-US" sz="4800" b="1" i="1" kern="1200">
                        <a:solidFill>
                          <a:srgbClr val="242452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4800" b="1" i="1" kern="1200">
                        <a:solidFill>
                          <a:srgbClr val="242452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𝒅𝒙</m:t>
                    </m:r>
                    <m:r>
                      <a:rPr lang="en-US" sz="4800" b="1" i="1" kern="1200">
                        <a:solidFill>
                          <a:srgbClr val="242452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4800" b="1" i="1" kern="1200" smtClean="0">
                        <a:solidFill>
                          <a:srgbClr val="242452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𝒆</m:t>
                    </m:r>
                  </m:oMath>
                </a14:m>
                <a:endParaRPr lang="en-US" sz="4800">
                  <a:solidFill>
                    <a:srgbClr val="242452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F88B646-FC77-4053-86E9-615F6E5CDC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455" y="7758008"/>
                <a:ext cx="14325600" cy="977255"/>
              </a:xfrm>
              <a:prstGeom prst="rect">
                <a:avLst/>
              </a:prstGeom>
              <a:blipFill>
                <a:blip r:embed="rId6"/>
                <a:stretch>
                  <a:fillRect l="-1957" b="-331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Rounded Rectangle 11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2184254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838200" y="3581400"/>
            <a:ext cx="11353800" cy="9921876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sz="4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endParaRPr lang="en-US" sz="4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44400" y="3581400"/>
                <a:ext cx="11630891" cy="983774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82880" indent="0" algn="ctr">
                  <a:buNone/>
                </a:pPr>
                <a:r>
                  <a:rPr lang="en-US" sz="4400" b="1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Lời giải</a:t>
                </a:r>
              </a:p>
              <a:p>
                <a:pPr marL="182880" lvl="0" indent="0" algn="just">
                  <a:buNone/>
                </a:pPr>
                <a:r>
                  <a:rPr lang="en-US" sz="4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Bình phương hai vế của phương trình ta được</a:t>
                </a:r>
              </a:p>
              <a:p>
                <a:pPr marL="182880" indent="0" algn="just">
                  <a:buNone/>
                </a:pPr>
                <a:r>
                  <a:rPr lang="en-US" sz="4400" b="1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sz="4400" b="1"/>
              </a:p>
              <a:p>
                <a:pPr marL="182880" indent="0" algn="just">
                  <a:buNone/>
                </a:pPr>
                <a:r>
                  <a:rPr lang="en-US" sz="4400" b="1"/>
                  <a:t>	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4400" b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["/>
                        <m:endChr m:val="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e>
                        </m:eqArr>
                      </m:e>
                    </m:d>
                  </m:oMath>
                </a14:m>
                <a:endParaRPr lang="en-US" sz="4400" b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182880" lvl="0" indent="0" algn="just">
                  <a:buNone/>
                </a:pPr>
                <a:r>
                  <a:rPr lang="en-US" sz="4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Thay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4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và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4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vào phương trình ban đầu thấy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4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và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4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thỏa mãn phương trình đã cho.</a:t>
                </a:r>
              </a:p>
              <a:p>
                <a:pPr marL="182880" algn="just"/>
                <a:r>
                  <a:rPr lang="en-US" sz="4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 nghiệm của phương trình đã cho là</a:t>
                </a:r>
              </a:p>
              <a:p>
                <a:pPr marL="182880" indent="0" algn="just">
                  <a:buNone/>
                </a:pPr>
                <a:r>
                  <a:rPr lang="en-US" sz="4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4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182880" algn="just"/>
                <a:endParaRPr lang="en-US" sz="4400" b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4400" y="3581400"/>
                <a:ext cx="11630891" cy="9837740"/>
              </a:xfrm>
              <a:prstGeom prst="rect">
                <a:avLst/>
              </a:prstGeom>
              <a:blipFill>
                <a:blip r:embed="rId4"/>
                <a:stretch>
                  <a:fillRect l="-1832" t="-1920" r="-3403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320"/>
          <p:cNvGrpSpPr>
            <a:grpSpLocks/>
          </p:cNvGrpSpPr>
          <p:nvPr/>
        </p:nvGrpSpPr>
        <p:grpSpPr bwMode="auto">
          <a:xfrm>
            <a:off x="1066800" y="3810000"/>
            <a:ext cx="2743200" cy="810070"/>
            <a:chOff x="0" y="923"/>
            <a:chExt cx="14509" cy="2283"/>
          </a:xfrm>
        </p:grpSpPr>
        <p:sp>
          <p:nvSpPr>
            <p:cNvPr id="8" name="TextBox 321"/>
            <p:cNvSpPr txBox="1">
              <a:spLocks noChangeArrowheads="1"/>
            </p:cNvSpPr>
            <p:nvPr/>
          </p:nvSpPr>
          <p:spPr bwMode="auto">
            <a:xfrm>
              <a:off x="6532" y="950"/>
              <a:ext cx="7977" cy="2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4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HĐ1:</a:t>
              </a:r>
              <a:endPara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9" name="Group 58"/>
            <p:cNvGrpSpPr>
              <a:grpSpLocks/>
            </p:cNvGrpSpPr>
            <p:nvPr/>
          </p:nvGrpSpPr>
          <p:grpSpPr bwMode="auto">
            <a:xfrm>
              <a:off x="0" y="923"/>
              <a:ext cx="6270" cy="1976"/>
              <a:chOff x="0" y="923"/>
              <a:chExt cx="5754" cy="1976"/>
            </a:xfrm>
          </p:grpSpPr>
          <p:grpSp>
            <p:nvGrpSpPr>
              <p:cNvPr id="10" name="Group 59"/>
              <p:cNvGrpSpPr>
                <a:grpSpLocks/>
              </p:cNvGrpSpPr>
              <p:nvPr/>
            </p:nvGrpSpPr>
            <p:grpSpPr bwMode="auto">
              <a:xfrm>
                <a:off x="0" y="923"/>
                <a:ext cx="5754" cy="1976"/>
                <a:chOff x="0" y="923"/>
                <a:chExt cx="6444" cy="3028"/>
              </a:xfrm>
            </p:grpSpPr>
            <p:sp>
              <p:nvSpPr>
                <p:cNvPr id="13" name="Arrow: Pentagon 60"/>
                <p:cNvSpPr>
                  <a:spLocks noChangeArrowheads="1"/>
                </p:cNvSpPr>
                <p:nvPr/>
              </p:nvSpPr>
              <p:spPr bwMode="auto">
                <a:xfrm>
                  <a:off x="0" y="1038"/>
                  <a:ext cx="4206" cy="2913"/>
                </a:xfrm>
                <a:prstGeom prst="homePlate">
                  <a:avLst>
                    <a:gd name="adj" fmla="val 50001"/>
                  </a:avLst>
                </a:prstGeom>
                <a:solidFill>
                  <a:srgbClr val="B7DEE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14" name="Arrow: Chevron 61"/>
                <p:cNvSpPr>
                  <a:spLocks noChangeArrowheads="1"/>
                </p:cNvSpPr>
                <p:nvPr/>
              </p:nvSpPr>
              <p:spPr bwMode="auto">
                <a:xfrm>
                  <a:off x="3802" y="923"/>
                  <a:ext cx="1695" cy="2916"/>
                </a:xfrm>
                <a:prstGeom prst="chevron">
                  <a:avLst>
                    <a:gd name="adj" fmla="val 83505"/>
                  </a:avLst>
                </a:prstGeom>
                <a:solidFill>
                  <a:srgbClr val="CCC1DA"/>
                </a:solidFill>
                <a:ln w="25400">
                  <a:solidFill>
                    <a:srgbClr val="FFC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15" name="Arrow: Chevron 62"/>
                <p:cNvSpPr>
                  <a:spLocks noChangeArrowheads="1"/>
                </p:cNvSpPr>
                <p:nvPr/>
              </p:nvSpPr>
              <p:spPr bwMode="auto">
                <a:xfrm>
                  <a:off x="4749" y="923"/>
                  <a:ext cx="1695" cy="2916"/>
                </a:xfrm>
                <a:prstGeom prst="chevron">
                  <a:avLst>
                    <a:gd name="adj" fmla="val 83505"/>
                  </a:avLst>
                </a:prstGeom>
                <a:solidFill>
                  <a:srgbClr val="0000CC"/>
                </a:solidFill>
                <a:ln w="25400">
                  <a:solidFill>
                    <a:srgbClr val="FFFF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1" name="Flowchart: Terminator 63"/>
              <p:cNvSpPr>
                <a:spLocks noChangeArrowheads="1"/>
              </p:cNvSpPr>
              <p:nvPr/>
            </p:nvSpPr>
            <p:spPr bwMode="auto">
              <a:xfrm>
                <a:off x="803" y="1376"/>
                <a:ext cx="2537" cy="1158"/>
              </a:xfrm>
              <a:prstGeom prst="flowChartTerminator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 sz="4400" b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2" name="Oval 64"/>
              <p:cNvSpPr>
                <a:spLocks noChangeArrowheads="1"/>
              </p:cNvSpPr>
              <p:nvPr/>
            </p:nvSpPr>
            <p:spPr bwMode="auto">
              <a:xfrm>
                <a:off x="2116" y="1427"/>
                <a:ext cx="924" cy="954"/>
              </a:xfrm>
              <a:prstGeom prst="ellipse">
                <a:avLst/>
              </a:prstGeom>
              <a:solidFill>
                <a:srgbClr val="3333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 sz="4400" b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</p:grp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BD37DE9-3C02-4524-A08B-0522C7210B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2751728"/>
              </p:ext>
            </p:extLst>
          </p:nvPr>
        </p:nvGraphicFramePr>
        <p:xfrm>
          <a:off x="0" y="457200"/>
          <a:ext cx="133350" cy="13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" name="Equation" r:id="rId5" imgW="126835" imgH="139518" progId="Equation.DSMT4">
                  <p:embed/>
                </p:oleObj>
              </mc:Choice>
              <mc:Fallback>
                <p:oleObj name="Equation" r:id="rId5" imgW="126835" imgH="139518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57200"/>
                        <a:ext cx="133350" cy="133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1909E1F2-8AD7-4799-ACD1-8F224D9C06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3601597"/>
              </p:ext>
            </p:extLst>
          </p:nvPr>
        </p:nvGraphicFramePr>
        <p:xfrm>
          <a:off x="152400" y="609600"/>
          <a:ext cx="133350" cy="13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" name="Equation" r:id="rId7" imgW="126835" imgH="139518" progId="Equation.DSMT4">
                  <p:embed/>
                </p:oleObj>
              </mc:Choice>
              <mc:Fallback>
                <p:oleObj name="Equation" r:id="rId7" imgW="126835" imgH="13951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609600"/>
                        <a:ext cx="133350" cy="133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321">
                <a:extLst>
                  <a:ext uri="{FF2B5EF4-FFF2-40B4-BE49-F238E27FC236}">
                    <a16:creationId xmlns:a16="http://schemas.microsoft.com/office/drawing/2014/main" id="{F1960FC5-F9D2-4DAC-8983-9DBC9D97C347}"/>
                  </a:ext>
                </a:extLst>
              </p:cNvPr>
              <p:cNvSpPr txBox="1"/>
              <p:nvPr/>
            </p:nvSpPr>
            <p:spPr>
              <a:xfrm>
                <a:off x="1232237" y="4511138"/>
                <a:ext cx="10654963" cy="890800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91440"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400" b="1" kern="1200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kern="120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phương trình</a:t>
                </a:r>
              </a:p>
              <a:p>
                <a:pPr marL="91440"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400" b="1" kern="120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4400" b="1" i="1" kern="1200">
                            <a:effectLst/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4400" b="1" i="1" kern="1200">
                                <a:effectLst/>
                                <a:latin typeface="Cambria Math" panose="02040503050406030204" pitchFamily="18" charset="0"/>
                                <a:ea typeface="Cascadia Mono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4400" b="1" i="1" kern="1200">
                                <a:effectLst/>
                                <a:latin typeface="Cambria Math" panose="02040503050406030204" pitchFamily="18" charset="0"/>
                                <a:ea typeface="Cascadia Mono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4400" b="1" i="1" kern="1200">
                                <a:effectLst/>
                                <a:latin typeface="Cambria Math" panose="02040503050406030204" pitchFamily="18" charset="0"/>
                                <a:ea typeface="Cascadia Mono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4400" b="1" i="1" kern="1200">
                            <a:effectLst/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4400" b="1" i="1" kern="1200">
                            <a:effectLst/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𝟑</m:t>
                        </m:r>
                        <m:r>
                          <a:rPr lang="en-US" sz="4400" b="1" i="1" kern="1200">
                            <a:effectLst/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US" sz="4400" b="1" i="1" kern="1200">
                            <a:effectLst/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4400" b="1" i="1" kern="1200">
                            <a:effectLst/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𝟐</m:t>
                        </m:r>
                      </m:e>
                    </m:rad>
                    <m:r>
                      <a:rPr lang="en-US" sz="4400" b="1" i="1" kern="1200">
                        <a:effectLst/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4400" b="1" i="1" kern="1200">
                            <a:effectLst/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4400" b="1" i="1" kern="1200">
                            <a:effectLst/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4400" b="1" i="1" kern="1200">
                                <a:effectLst/>
                                <a:latin typeface="Cambria Math" panose="02040503050406030204" pitchFamily="18" charset="0"/>
                                <a:ea typeface="Cascadia Mono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4400" b="1" i="1" kern="1200">
                                <a:effectLst/>
                                <a:latin typeface="Cambria Math" panose="02040503050406030204" pitchFamily="18" charset="0"/>
                                <a:ea typeface="Cascadia Mono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4400" b="1" i="1" kern="1200">
                                <a:effectLst/>
                                <a:latin typeface="Cambria Math" panose="02040503050406030204" pitchFamily="18" charset="0"/>
                                <a:ea typeface="Cascadia Mono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4400" b="1" i="1" kern="1200">
                            <a:effectLst/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4400" b="1" i="1" kern="1200">
                            <a:effectLst/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n-US" sz="4400" b="1" i="1" kern="1200">
                            <a:effectLst/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US" sz="4400" b="1" i="1" kern="1200">
                            <a:effectLst/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4400" b="1" i="1" kern="1200">
                            <a:effectLst/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𝟐</m:t>
                        </m:r>
                      </m:e>
                    </m:rad>
                  </m:oMath>
                </a14:m>
                <a:endParaRPr lang="en-US" sz="4400" b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91440" lvl="0" indent="-342900" algn="just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en-US" sz="4400" b="1" kern="120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Bình phương hai vế phương trình để khử căn và giải phương trình bậc hai nhận được.</a:t>
                </a:r>
                <a:endParaRPr lang="en-US" sz="4400" b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91440" lvl="0" indent="-342900" algn="just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en-US" sz="4400" b="1" kern="120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Thử lại các giá trị tìm được ở câu a có thỏa mãn phương trình đã cho hay không.</a:t>
                </a:r>
                <a:endParaRPr lang="en-US" sz="4400" b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4" name="TextBox 321">
                <a:extLst>
                  <a:ext uri="{FF2B5EF4-FFF2-40B4-BE49-F238E27FC236}">
                    <a16:creationId xmlns:a16="http://schemas.microsoft.com/office/drawing/2014/main" id="{F1960FC5-F9D2-4DAC-8983-9DBC9D97C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237" y="4511138"/>
                <a:ext cx="10654963" cy="8908002"/>
              </a:xfrm>
              <a:prstGeom prst="rect">
                <a:avLst/>
              </a:prstGeom>
              <a:blipFill>
                <a:blip r:embed="rId8"/>
                <a:stretch>
                  <a:fillRect l="-2346" t="-1574" r="-23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5B00D49-A39D-47BB-A41F-91E10750B1C1}"/>
                  </a:ext>
                </a:extLst>
              </p:cNvPr>
              <p:cNvSpPr/>
              <p:nvPr/>
            </p:nvSpPr>
            <p:spPr>
              <a:xfrm>
                <a:off x="609600" y="2133600"/>
                <a:ext cx="15593564" cy="9451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400" b="1" kern="1200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1. PHƯƠNG TRÌNH DẠNG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4400" b="1" i="1" kern="12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4400" b="1" i="1" kern="12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𝒂</m:t>
                        </m:r>
                        <m:sSup>
                          <m:sSupPr>
                            <m:ctrlPr>
                              <a:rPr lang="en-US" sz="4400" b="1" i="1" kern="12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4400" b="1" i="1" kern="12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4400" b="1" i="1" kern="12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4400" b="1" i="1" kern="12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4400" b="1" i="1" kern="12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𝒃𝒙</m:t>
                        </m:r>
                        <m:r>
                          <a:rPr lang="en-US" sz="4400" b="1" i="1" kern="12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4400" b="1" i="1" kern="12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</m:rad>
                    <m:r>
                      <a:rPr lang="en-US" sz="4400" b="1" i="1" kern="12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4400" b="1" i="1" kern="12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4400" b="1" i="1" kern="12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𝒅</m:t>
                        </m:r>
                        <m:sSup>
                          <m:sSupPr>
                            <m:ctrlPr>
                              <a:rPr lang="en-US" sz="4400" b="1" i="1" kern="12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4400" b="1" i="1" kern="12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4400" b="1" i="1" kern="12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4400" b="1" i="1" kern="12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4400" b="1" i="1" kern="12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𝒆𝒙</m:t>
                        </m:r>
                        <m:r>
                          <a:rPr lang="en-US" sz="4400" b="1" i="1" kern="12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4400" b="1" i="1" kern="12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𝒇</m:t>
                        </m:r>
                      </m:e>
                    </m:rad>
                  </m:oMath>
                </a14:m>
                <a:endParaRPr lang="en-US" sz="4400" b="1">
                  <a:solidFill>
                    <a:srgbClr val="242452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5B00D49-A39D-47BB-A41F-91E10750B1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133600"/>
                <a:ext cx="15593564" cy="945195"/>
              </a:xfrm>
              <a:prstGeom prst="rect">
                <a:avLst/>
              </a:prstGeom>
              <a:blipFill>
                <a:blip r:embed="rId9"/>
                <a:stretch>
                  <a:fillRect l="-1564" b="-26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7816989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0"/>
          <p:cNvSpPr>
            <a:spLocks noChangeArrowheads="1"/>
          </p:cNvSpPr>
          <p:nvPr/>
        </p:nvSpPr>
        <p:spPr bwMode="auto">
          <a:xfrm>
            <a:off x="0" y="0"/>
            <a:ext cx="2438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0" y="687388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AF0F973C-C42C-459F-BC75-7D02518104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4516512"/>
                  </p:ext>
                </p:extLst>
              </p:nvPr>
            </p:nvGraphicFramePr>
            <p:xfrm>
              <a:off x="1905000" y="1800923"/>
              <a:ext cx="21979494" cy="3075877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21979494">
                      <a:extLst>
                        <a:ext uri="{9D8B030D-6E8A-4147-A177-3AD203B41FA5}">
                          <a16:colId xmlns:a16="http://schemas.microsoft.com/office/drawing/2014/main" val="2413322942"/>
                        </a:ext>
                      </a:extLst>
                    </a:gridCol>
                  </a:tblGrid>
                  <a:tr h="3036188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4400" b="1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Để giải phương trình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4400" b="1" i="1" kern="1200">
                                      <a:solidFill>
                                        <a:srgbClr val="385623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400" b="1" i="1" kern="1200">
                                      <a:solidFill>
                                        <a:srgbClr val="385623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𝒂</m:t>
                                  </m:r>
                                  <m:sSup>
                                    <m:sSupPr>
                                      <m:ctrlPr>
                                        <a:rPr lang="en-GB" sz="4400" b="1" i="1" kern="1200">
                                          <a:solidFill>
                                            <a:srgbClr val="385623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4400" b="1" i="1" kern="1200">
                                          <a:solidFill>
                                            <a:srgbClr val="385623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4400" b="1" i="1" kern="1200">
                                          <a:solidFill>
                                            <a:srgbClr val="385623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sz="4400" b="1" i="1" kern="1200">
                                      <a:solidFill>
                                        <a:srgbClr val="385623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4400" b="1" i="1" kern="1200">
                                      <a:solidFill>
                                        <a:srgbClr val="385623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𝒃𝒙</m:t>
                                  </m:r>
                                  <m:r>
                                    <a:rPr lang="en-US" sz="4400" b="1" i="1" kern="1200">
                                      <a:solidFill>
                                        <a:srgbClr val="385623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4400" b="1" i="1" kern="1200">
                                      <a:solidFill>
                                        <a:srgbClr val="385623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𝒄</m:t>
                                  </m:r>
                                </m:e>
                              </m:rad>
                              <m:r>
                                <a:rPr lang="en-US" sz="4400" b="1" i="1" kern="1200">
                                  <a:solidFill>
                                    <a:srgbClr val="38562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4400" b="1" i="1" kern="1200">
                                      <a:solidFill>
                                        <a:srgbClr val="385623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400" b="1" i="1" kern="1200">
                                      <a:solidFill>
                                        <a:srgbClr val="385623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𝒅</m:t>
                                  </m:r>
                                  <m:sSup>
                                    <m:sSupPr>
                                      <m:ctrlPr>
                                        <a:rPr lang="en-GB" sz="4400" b="1" i="1" kern="1200">
                                          <a:solidFill>
                                            <a:srgbClr val="385623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4400" b="1" i="1" kern="1200">
                                          <a:solidFill>
                                            <a:srgbClr val="385623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4400" b="1" i="1" kern="1200">
                                          <a:solidFill>
                                            <a:srgbClr val="385623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sz="4400" b="1" i="1" kern="1200">
                                      <a:solidFill>
                                        <a:srgbClr val="385623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4400" b="1" i="1" kern="1200">
                                      <a:solidFill>
                                        <a:srgbClr val="385623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𝒆𝒙</m:t>
                                  </m:r>
                                  <m:r>
                                    <a:rPr lang="en-US" sz="4400" b="1" i="1" kern="1200">
                                      <a:solidFill>
                                        <a:srgbClr val="385623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4400" b="1" i="1" kern="1200">
                                      <a:solidFill>
                                        <a:srgbClr val="385623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𝒇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4400" b="1" kern="1200">
                              <a:solidFill>
                                <a:srgbClr val="385623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, </a:t>
                          </a:r>
                          <a:r>
                            <a:rPr lang="en-US" sz="4400" b="1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ta thực hiện như sau:</a:t>
                          </a:r>
                          <a:endParaRPr lang="en-GB" sz="4400" b="1" kern="1200">
                            <a:solidFill>
                              <a:schemeClr val="tx1"/>
                            </a:solidFill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4400" b="1" kern="1200">
                              <a:solidFill>
                                <a:srgbClr val="385623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- </a:t>
                          </a:r>
                          <a:r>
                            <a:rPr lang="en-US" sz="4400" b="1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Bình phương hai vế và giải phương trình nhận được.</a:t>
                          </a:r>
                          <a:endParaRPr lang="en-GB" sz="4400" b="1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  <a:p>
                          <a:pPr marL="0" marR="0" lvl="0" indent="0" algn="l" defTabSz="1828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4400" b="1" kern="1200">
                              <a:solidFill>
                                <a:srgbClr val="385623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-</a:t>
                          </a:r>
                          <a:r>
                            <a:rPr lang="en-US" sz="4400" b="1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400" b="1" kern="1200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Thử lại các giá trị </a:t>
                          </a:r>
                          <a14:m>
                            <m:oMath xmlns:m="http://schemas.openxmlformats.org/officeDocument/2006/math">
                              <m:r>
                                <a:rPr lang="en-US" sz="4400" b="1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4400" b="1" kern="1200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tìm được ở trên có thoả mãn phương trình đã cho hay không và kết luận nghiệm.</a:t>
                          </a:r>
                          <a:endParaRPr lang="en-GB" sz="4400" b="1" kern="1200">
                            <a:solidFill>
                              <a:schemeClr val="tx1"/>
                            </a:solidFill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>
                        <a:lnL w="57150" cap="flat" cmpd="dbl" algn="ctr">
                          <a:solidFill>
                            <a:srgbClr val="821AB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3333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3333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3333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58697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AF0F973C-C42C-459F-BC75-7D02518104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4516512"/>
                  </p:ext>
                </p:extLst>
              </p:nvPr>
            </p:nvGraphicFramePr>
            <p:xfrm>
              <a:off x="1905000" y="1800923"/>
              <a:ext cx="21979494" cy="3075877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21979494">
                      <a:extLst>
                        <a:ext uri="{9D8B030D-6E8A-4147-A177-3AD203B41FA5}">
                          <a16:colId xmlns:a16="http://schemas.microsoft.com/office/drawing/2014/main" val="2413322942"/>
                        </a:ext>
                      </a:extLst>
                    </a:gridCol>
                  </a:tblGrid>
                  <a:tr h="307587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57150" cap="flat" cmpd="dbl" algn="ctr">
                          <a:solidFill>
                            <a:srgbClr val="821AB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3333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3333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3333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9" t="-198" r="-55" b="-95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586974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DE666C82-F659-4A1A-B928-FC97C9E492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087" y="5105400"/>
                <a:ext cx="10276513" cy="8229598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74320" indent="0">
                  <a:lnSpc>
                    <a:spcPct val="130000"/>
                  </a:lnSpc>
                  <a:spcBef>
                    <a:spcPts val="0"/>
                  </a:spcBef>
                  <a:buNone/>
                </a:pPr>
                <a:r>
                  <a:rPr lang="en-US" sz="46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		Giải phương trình</a:t>
                </a:r>
              </a:p>
              <a:p>
                <a:pPr marL="274320" indent="0">
                  <a:lnSpc>
                    <a:spcPct val="130000"/>
                  </a:lnSpc>
                  <a:spcBef>
                    <a:spcPts val="0"/>
                  </a:spcBef>
                  <a:buNone/>
                </a:pPr>
                <a:r>
                  <a:rPr lang="en-US" sz="46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	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𝟐</m:t>
                        </m:r>
                        <m:sSup>
                          <m:sSupPr>
                            <m:ctrlPr>
                              <a:rPr lang="en-US" sz="46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6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4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  <m:r>
                      <a:rPr lang="en-US" sz="4600" b="1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46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6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4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endParaRPr lang="en-US" sz="4600" b="1">
                  <a:solidFill>
                    <a:srgbClr val="3333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274320" indent="0" algn="ctr">
                  <a:lnSpc>
                    <a:spcPct val="130000"/>
                  </a:lnSpc>
                  <a:spcBef>
                    <a:spcPts val="0"/>
                  </a:spcBef>
                  <a:buNone/>
                </a:pPr>
                <a:r>
                  <a:rPr lang="en-US" sz="4600" b="1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Lời giải</a:t>
                </a:r>
              </a:p>
              <a:p>
                <a:pPr marL="274320" indent="0">
                  <a:lnSpc>
                    <a:spcPct val="130000"/>
                  </a:lnSpc>
                  <a:spcBef>
                    <a:spcPts val="0"/>
                  </a:spcBef>
                  <a:buNone/>
                </a:pPr>
                <a:r>
                  <a:rPr lang="en-US" altLang="en-US" sz="46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Bình phương hai vế của phương trình ta được: </a:t>
                </a:r>
                <a:endParaRPr lang="en-US" sz="4600" b="1" i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274320" lvl="0" indent="0" defTabSz="914400" eaLnBrk="0" fontAlgn="base" hangingPunct="0">
                  <a:lnSpc>
                    <a:spcPct val="130000"/>
                  </a:lnSpc>
                  <a:spcBef>
                    <a:spcPts val="0"/>
                  </a:spcBef>
                  <a:buNone/>
                </a:pPr>
                <a:r>
                  <a:rPr lang="en-US" sz="4600" b="1"/>
                  <a:t>		</a:t>
                </a:r>
                <a14:m>
                  <m:oMath xmlns:m="http://schemas.openxmlformats.org/officeDocument/2006/math">
                    <m:r>
                      <a:rPr lang="en-US" sz="4600" b="1" i="1"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46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en-US" sz="46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2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46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4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en-US" sz="46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2</a:t>
                </a:r>
              </a:p>
              <a:p>
                <a:pPr marL="274320" lvl="0" indent="0" defTabSz="914400" eaLnBrk="0" fontAlgn="base" hangingPunct="0">
                  <a:lnSpc>
                    <a:spcPct val="130000"/>
                  </a:lnSpc>
                  <a:spcBef>
                    <a:spcPts val="0"/>
                  </a:spcBef>
                  <a:buNone/>
                </a:pPr>
                <a:r>
                  <a:rPr lang="en-US" altLang="en-US" sz="46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 khi thu gọn ta được: </a:t>
                </a:r>
              </a:p>
              <a:p>
                <a:pPr marL="274320" lvl="0" indent="0" defTabSz="914400" eaLnBrk="0" fontAlgn="base" hangingPunct="0">
                  <a:lnSpc>
                    <a:spcPct val="130000"/>
                  </a:lnSpc>
                  <a:spcBef>
                    <a:spcPts val="0"/>
                  </a:spcBef>
                  <a:buNone/>
                </a:pPr>
                <a:r>
                  <a:rPr lang="en-US" sz="4600" b="1"/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46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en-US" sz="4600" b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274320" lvl="0" indent="0" defTabSz="914400" eaLnBrk="0" fontAlgn="base" hangingPunct="0">
                  <a:lnSpc>
                    <a:spcPct val="130000"/>
                  </a:lnSpc>
                  <a:spcBef>
                    <a:spcPts val="0"/>
                  </a:spcBef>
                  <a:buNone/>
                </a:pPr>
                <a:r>
                  <a:rPr lang="en-US" altLang="en-US" sz="46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	</a:t>
                </a:r>
                <a:endParaRPr lang="en-US" sz="4600" b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DE666C82-F659-4A1A-B928-FC97C9E49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087" y="5105400"/>
                <a:ext cx="10276513" cy="8229598"/>
              </a:xfrm>
              <a:prstGeom prst="rect">
                <a:avLst/>
              </a:prstGeom>
              <a:blipFill>
                <a:blip r:embed="rId4"/>
                <a:stretch>
                  <a:fillRect t="-29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57">
            <a:extLst>
              <a:ext uri="{FF2B5EF4-FFF2-40B4-BE49-F238E27FC236}">
                <a16:creationId xmlns:a16="http://schemas.microsoft.com/office/drawing/2014/main" id="{2101D6D0-82E0-4362-8C34-FC1CFF38A1CC}"/>
              </a:ext>
            </a:extLst>
          </p:cNvPr>
          <p:cNvGrpSpPr>
            <a:grpSpLocks/>
          </p:cNvGrpSpPr>
          <p:nvPr/>
        </p:nvGrpSpPr>
        <p:grpSpPr bwMode="auto">
          <a:xfrm>
            <a:off x="499506" y="5181600"/>
            <a:ext cx="3764683" cy="820972"/>
            <a:chOff x="-32" y="592"/>
            <a:chExt cx="8754" cy="1239"/>
          </a:xfrm>
        </p:grpSpPr>
        <p:grpSp>
          <p:nvGrpSpPr>
            <p:cNvPr id="26" name="Group 24">
              <a:extLst>
                <a:ext uri="{FF2B5EF4-FFF2-40B4-BE49-F238E27FC236}">
                  <a16:creationId xmlns:a16="http://schemas.microsoft.com/office/drawing/2014/main" id="{A11B5E43-A24E-4BA0-AA3E-1F0ABD58DB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2" y="592"/>
              <a:ext cx="8052" cy="1124"/>
              <a:chOff x="-46" y="602"/>
              <a:chExt cx="11329" cy="1391"/>
            </a:xfrm>
          </p:grpSpPr>
          <p:sp>
            <p:nvSpPr>
              <p:cNvPr id="28" name="Arrow: Pentagon 25">
                <a:extLst>
                  <a:ext uri="{FF2B5EF4-FFF2-40B4-BE49-F238E27FC236}">
                    <a16:creationId xmlns:a16="http://schemas.microsoft.com/office/drawing/2014/main" id="{A20D87ED-360E-430A-B0E7-3BFAF74136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5" y="620"/>
                <a:ext cx="9238" cy="1372"/>
              </a:xfrm>
              <a:prstGeom prst="homePlate">
                <a:avLst>
                  <a:gd name="adj" fmla="val 50004"/>
                </a:avLst>
              </a:prstGeom>
              <a:solidFill>
                <a:srgbClr val="FCFFEF"/>
              </a:solidFill>
              <a:ln w="25400">
                <a:solidFill>
                  <a:srgbClr val="F2DCDB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0000CC"/>
                    </a:solidFill>
                    <a:effectLst/>
                    <a:latin typeface="Arial" pitchFamily="34" charset="0"/>
                    <a:ea typeface="Calibri" pitchFamily="34" charset="0"/>
                    <a:cs typeface="Times New Roman" pitchFamily="18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9" name="Arrow: Chevron 26">
                <a:extLst>
                  <a:ext uri="{FF2B5EF4-FFF2-40B4-BE49-F238E27FC236}">
                    <a16:creationId xmlns:a16="http://schemas.microsoft.com/office/drawing/2014/main" id="{70AF94B0-A60E-4444-AAF4-A8C2BF51A6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6" y="603"/>
                <a:ext cx="1987" cy="1390"/>
              </a:xfrm>
              <a:prstGeom prst="chevron">
                <a:avLst>
                  <a:gd name="adj" fmla="val 50000"/>
                </a:avLst>
              </a:prstGeom>
              <a:solidFill>
                <a:srgbClr val="4F81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" name="Arrow: Chevron 27">
                <a:extLst>
                  <a:ext uri="{FF2B5EF4-FFF2-40B4-BE49-F238E27FC236}">
                    <a16:creationId xmlns:a16="http://schemas.microsoft.com/office/drawing/2014/main" id="{056E5C88-6A61-4971-935A-285B456DFA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" y="602"/>
                <a:ext cx="2159" cy="1390"/>
              </a:xfrm>
              <a:prstGeom prst="chevron">
                <a:avLst>
                  <a:gd name="adj" fmla="val 50000"/>
                </a:avLst>
              </a:pr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7" name="TextBox 56">
              <a:extLst>
                <a:ext uri="{FF2B5EF4-FFF2-40B4-BE49-F238E27FC236}">
                  <a16:creationId xmlns:a16="http://schemas.microsoft.com/office/drawing/2014/main" id="{A409DBB5-55E9-4F1D-B6AE-6F64BA363F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6" y="655"/>
              <a:ext cx="6566" cy="1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0" b="1" i="0" u="none" strike="noStrike" cap="none" normalizeH="0" baseline="0" dirty="0" err="1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Ví</a:t>
              </a:r>
              <a:r>
                <a:rPr kumimoji="0" lang="en-US" altLang="en-US" sz="4000" b="1" i="0" u="none" strike="noStrike" cap="none" normalizeH="0" baseline="0" dirty="0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altLang="en-US" sz="4000" b="1" i="0" u="none" strike="noStrike" cap="none" normalizeH="0" baseline="0" dirty="0" err="1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dụ</a:t>
              </a:r>
              <a:r>
                <a:rPr kumimoji="0" lang="en-US" altLang="en-US" sz="4000" b="1" i="0" u="none" strike="noStrike" cap="none" normalizeH="0" baseline="0" dirty="0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1.</a:t>
              </a:r>
              <a:endPara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2">
                <a:extLst>
                  <a:ext uri="{FF2B5EF4-FFF2-40B4-BE49-F238E27FC236}">
                    <a16:creationId xmlns:a16="http://schemas.microsoft.com/office/drawing/2014/main" id="{B5F70A35-30F6-4BAB-BAFC-3F0E2DC975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198430" y="5105400"/>
                <a:ext cx="12686064" cy="8229597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74320" indent="0" algn="just">
                  <a:lnSpc>
                    <a:spcPct val="130000"/>
                  </a:lnSpc>
                  <a:buNone/>
                </a:pPr>
                <a:r>
                  <a:rPr lang="en-US" altLang="en-US" sz="46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 đó tìm được </a:t>
                </a:r>
                <a14:m>
                  <m:oMath xmlns:m="http://schemas.openxmlformats.org/officeDocument/2006/math">
                    <m:r>
                      <a:rPr lang="en-US" sz="4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6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600" b="1" i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en-US" sz="46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hoặc </a:t>
                </a:r>
                <a14:m>
                  <m:oMath xmlns:m="http://schemas.openxmlformats.org/officeDocument/2006/math">
                    <m:r>
                      <a:rPr lang="en-US" sz="4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600" b="1" i="1" smtClean="0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US" altLang="en-US" sz="4600" b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274320" lvl="0" indent="0" algn="just" defTabSz="914400" eaLnBrk="0" fontAlgn="base" hangingPunct="0">
                  <a:lnSpc>
                    <a:spcPct val="130000"/>
                  </a:lnSpc>
                  <a:spcBef>
                    <a:spcPct val="0"/>
                  </a:spcBef>
                  <a:buNone/>
                </a:pPr>
                <a:r>
                  <a:rPr lang="en-US" altLang="en-US" sz="46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Thay lần lượt hai giá trị này của </a:t>
                </a:r>
                <a14:m>
                  <m:oMath xmlns:m="http://schemas.openxmlformats.org/officeDocument/2006/math">
                    <m:r>
                      <a:rPr lang="en-US" sz="4600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en-US" sz="46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vào phương trình đã cho, ta thấy chỉ có </a:t>
                </a:r>
                <a14:m>
                  <m:oMath xmlns:m="http://schemas.openxmlformats.org/officeDocument/2006/math">
                    <m:r>
                      <a:rPr lang="en-US" sz="4600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US" sz="4600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4600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𝟑</m:t>
                    </m:r>
                  </m:oMath>
                </a14:m>
                <a:r>
                  <a:rPr lang="en-US" sz="46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thỏa mãn.</a:t>
                </a:r>
              </a:p>
              <a:p>
                <a:pPr marL="274320" indent="0" algn="just">
                  <a:lnSpc>
                    <a:spcPct val="130000"/>
                  </a:lnSpc>
                  <a:buNone/>
                </a:pPr>
                <a:r>
                  <a:rPr lang="en-US" sz="46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 nghiệm của phương trình đã cho là </a:t>
                </a:r>
                <a14:m>
                  <m:oMath xmlns:m="http://schemas.openxmlformats.org/officeDocument/2006/math">
                    <m:r>
                      <a:rPr lang="en-US" sz="4600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US" sz="4600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4600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𝟑</m:t>
                    </m:r>
                  </m:oMath>
                </a14:m>
                <a:r>
                  <a:rPr lang="en-US" sz="46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altLang="en-US" sz="4600" b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274320" indent="0" algn="just">
                  <a:lnSpc>
                    <a:spcPct val="130000"/>
                  </a:lnSpc>
                  <a:buNone/>
                </a:pPr>
                <a:endParaRPr lang="en-US" sz="4600" b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1" name="Content Placeholder 2">
                <a:extLst>
                  <a:ext uri="{FF2B5EF4-FFF2-40B4-BE49-F238E27FC236}">
                    <a16:creationId xmlns:a16="http://schemas.microsoft.com/office/drawing/2014/main" id="{B5F70A35-30F6-4BAB-BAFC-3F0E2DC97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8430" y="5105400"/>
                <a:ext cx="12686064" cy="8229597"/>
              </a:xfrm>
              <a:prstGeom prst="rect">
                <a:avLst/>
              </a:prstGeom>
              <a:blipFill>
                <a:blip r:embed="rId5"/>
                <a:stretch>
                  <a:fillRect t="-296" r="-201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Rounded Rectangle 7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6008838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1" y="6775791"/>
                <a:ext cx="11582399" cy="6330609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74320" indent="0">
                  <a:lnSpc>
                    <a:spcPct val="130000"/>
                  </a:lnSpc>
                  <a:buNone/>
                </a:pPr>
                <a:r>
                  <a:rPr lang="en-US" sz="4400" b="1"/>
                  <a:t>Bình phương hai vế của phương trình ta được: </a:t>
                </a:r>
              </a:p>
              <a:p>
                <a:pPr marL="274320" indent="0">
                  <a:lnSpc>
                    <a:spcPct val="130000"/>
                  </a:lnSpc>
                  <a:buNone/>
                </a:pPr>
                <a:r>
                  <a:rPr lang="en-US" sz="4400" b="1"/>
                  <a:t>	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𝟑</m:t>
                    </m:r>
                    <m:sSup>
                      <m:sSup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4400" b="1"/>
              </a:p>
              <a:p>
                <a:pPr marL="274320" indent="0">
                  <a:lnSpc>
                    <a:spcPct val="130000"/>
                  </a:lnSpc>
                  <a:buNone/>
                </a:pPr>
                <a:r>
                  <a:rPr lang="en-US" sz="4400" b="1"/>
                  <a:t>Sau khi thu gọn ta được:</a:t>
                </a:r>
              </a:p>
              <a:p>
                <a:pPr marL="274320" indent="0">
                  <a:lnSpc>
                    <a:spcPct val="130000"/>
                  </a:lnSpc>
                  <a:buNone/>
                </a:pPr>
                <a:r>
                  <a:rPr lang="en-US" sz="4400" b="1"/>
                  <a:t>	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𝟓</m:t>
                    </m:r>
                    <m:sSup>
                      <m:sSup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4400" b="1"/>
              </a:p>
              <a:p>
                <a:pPr marL="274320" indent="0">
                  <a:lnSpc>
                    <a:spcPct val="130000"/>
                  </a:lnSpc>
                  <a:buNone/>
                </a:pPr>
                <a:r>
                  <a:rPr lang="en-US" sz="4400" b="1"/>
                  <a:t>Từ đó tìm được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4400" b="1"/>
                  <a:t> hoặc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sz="4400" b="1"/>
                  <a:t>.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1" y="6775791"/>
                <a:ext cx="11582399" cy="6330609"/>
              </a:xfrm>
              <a:prstGeom prst="rect">
                <a:avLst/>
              </a:prstGeom>
              <a:blipFill>
                <a:blip r:embed="rId3"/>
                <a:stretch>
                  <a:fillRect r="-126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0"/>
          <p:cNvSpPr>
            <a:spLocks noChangeArrowheads="1"/>
          </p:cNvSpPr>
          <p:nvPr/>
        </p:nvSpPr>
        <p:spPr bwMode="auto">
          <a:xfrm>
            <a:off x="0" y="0"/>
            <a:ext cx="2438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0" y="687388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420599" y="6760029"/>
                <a:ext cx="11353800" cy="6391835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74320" indent="0" algn="just">
                  <a:lnSpc>
                    <a:spcPct val="130000"/>
                  </a:lnSpc>
                  <a:spcBef>
                    <a:spcPts val="0"/>
                  </a:spcBef>
                  <a:buNone/>
                </a:pPr>
                <a:r>
                  <a:rPr lang="en-US" b="1"/>
                  <a:t>Thay lần lượt hai giá trị này của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/>
                  <a:t> vào phương trình đã cho, ta thấy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/>
                  <a:t> và </a:t>
                </a:r>
              </a:p>
              <a:p>
                <a:pPr marL="274320" indent="0" algn="just">
                  <a:lnSpc>
                    <a:spcPct val="13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b="1"/>
                  <a:t> thỏa mãn.</a:t>
                </a:r>
              </a:p>
              <a:p>
                <a:pPr marL="274320" indent="0" algn="just">
                  <a:lnSpc>
                    <a:spcPct val="130000"/>
                  </a:lnSpc>
                  <a:spcBef>
                    <a:spcPts val="0"/>
                  </a:spcBef>
                  <a:buNone/>
                </a:pPr>
                <a:r>
                  <a:rPr lang="en-US" b="1"/>
                  <a:t>Vậy tập nghiệm của phương trình đã cho là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;−</m:t>
                        </m:r>
                        <m:f>
                          <m:f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num>
                          <m:den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𝟓</m:t>
                            </m:r>
                          </m:den>
                        </m:f>
                      </m:e>
                    </m:d>
                  </m:oMath>
                </a14:m>
                <a:r>
                  <a:rPr lang="en-US" b="1"/>
                  <a:t>.</a:t>
                </a:r>
              </a:p>
              <a:p>
                <a:pPr marL="274320" indent="0">
                  <a:lnSpc>
                    <a:spcPct val="130000"/>
                  </a:lnSpc>
                  <a:spcBef>
                    <a:spcPts val="0"/>
                  </a:spcBef>
                  <a:buNone/>
                </a:pPr>
                <a:endParaRPr lang="en-US" dirty="0"/>
              </a:p>
              <a:p>
                <a:pPr marL="274320" indent="0">
                  <a:lnSpc>
                    <a:spcPct val="130000"/>
                  </a:lnSpc>
                  <a:spcBef>
                    <a:spcPts val="0"/>
                  </a:spcBef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20599" y="6760029"/>
                <a:ext cx="11353800" cy="6391835"/>
              </a:xfrm>
              <a:prstGeom prst="rect">
                <a:avLst/>
              </a:prstGeom>
              <a:blipFill>
                <a:blip r:embed="rId4"/>
                <a:stretch>
                  <a:fillRect r="-2359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57"/>
          <p:cNvGrpSpPr>
            <a:grpSpLocks/>
          </p:cNvGrpSpPr>
          <p:nvPr/>
        </p:nvGrpSpPr>
        <p:grpSpPr bwMode="auto">
          <a:xfrm>
            <a:off x="838200" y="1736721"/>
            <a:ext cx="4891422" cy="878618"/>
            <a:chOff x="224" y="592"/>
            <a:chExt cx="11374" cy="1326"/>
          </a:xfrm>
        </p:grpSpPr>
        <p:grpSp>
          <p:nvGrpSpPr>
            <p:cNvPr id="15" name="Group 24"/>
            <p:cNvGrpSpPr>
              <a:grpSpLocks/>
            </p:cNvGrpSpPr>
            <p:nvPr/>
          </p:nvGrpSpPr>
          <p:grpSpPr bwMode="auto">
            <a:xfrm>
              <a:off x="224" y="592"/>
              <a:ext cx="11374" cy="1326"/>
              <a:chOff x="315" y="602"/>
              <a:chExt cx="16002" cy="1640"/>
            </a:xfrm>
          </p:grpSpPr>
          <p:sp>
            <p:nvSpPr>
              <p:cNvPr id="18" name="Arrow: Pentagon 25"/>
              <p:cNvSpPr>
                <a:spLocks noChangeArrowheads="1"/>
              </p:cNvSpPr>
              <p:nvPr/>
            </p:nvSpPr>
            <p:spPr bwMode="auto">
              <a:xfrm>
                <a:off x="2045" y="620"/>
                <a:ext cx="14272" cy="1621"/>
              </a:xfrm>
              <a:prstGeom prst="homePlate">
                <a:avLst>
                  <a:gd name="adj" fmla="val 50004"/>
                </a:avLst>
              </a:prstGeom>
              <a:solidFill>
                <a:srgbClr val="FCFFEF"/>
              </a:solidFill>
              <a:ln w="25400">
                <a:solidFill>
                  <a:srgbClr val="F2DCDB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0000CC"/>
                    </a:solidFill>
                    <a:effectLst/>
                    <a:latin typeface="Arial" pitchFamily="34" charset="0"/>
                    <a:ea typeface="Calibri" pitchFamily="34" charset="0"/>
                    <a:cs typeface="Times New Roman" pitchFamily="18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9" name="Arrow: Chevron 26"/>
              <p:cNvSpPr>
                <a:spLocks noChangeArrowheads="1"/>
              </p:cNvSpPr>
              <p:nvPr/>
            </p:nvSpPr>
            <p:spPr bwMode="auto">
              <a:xfrm>
                <a:off x="315" y="603"/>
                <a:ext cx="1898" cy="1639"/>
              </a:xfrm>
              <a:prstGeom prst="chevron">
                <a:avLst>
                  <a:gd name="adj" fmla="val 50000"/>
                </a:avLst>
              </a:prstGeom>
              <a:solidFill>
                <a:srgbClr val="4F81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Arrow: Chevron 27"/>
              <p:cNvSpPr>
                <a:spLocks noChangeArrowheads="1"/>
              </p:cNvSpPr>
              <p:nvPr/>
            </p:nvSpPr>
            <p:spPr bwMode="auto">
              <a:xfrm>
                <a:off x="1162" y="602"/>
                <a:ext cx="2062" cy="1639"/>
              </a:xfrm>
              <a:prstGeom prst="chevron">
                <a:avLst>
                  <a:gd name="adj" fmla="val 50000"/>
                </a:avLst>
              </a:pr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6" name="TextBox 56"/>
            <p:cNvSpPr txBox="1">
              <a:spLocks noChangeArrowheads="1"/>
            </p:cNvSpPr>
            <p:nvPr/>
          </p:nvSpPr>
          <p:spPr bwMode="auto">
            <a:xfrm>
              <a:off x="2292" y="724"/>
              <a:ext cx="9306" cy="1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400" b="1" i="0" u="none" strike="noStrike" cap="none" normalizeH="0" baseline="0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Luyện tập 1</a:t>
              </a:r>
              <a:r>
                <a:rPr kumimoji="0" lang="en-US" altLang="en-US" sz="4400" b="1" i="0" u="none" strike="noStrike" cap="none" normalizeH="0" baseline="0" dirty="0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  <a:endPara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itle 1">
                <a:extLst>
                  <a:ext uri="{FF2B5EF4-FFF2-40B4-BE49-F238E27FC236}">
                    <a16:creationId xmlns:a16="http://schemas.microsoft.com/office/drawing/2014/main" id="{28E92049-5AB7-443C-A73B-1E6B9EF711F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3466" y="4641361"/>
                <a:ext cx="23130933" cy="185967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30000"/>
                  </a:lnSpc>
                </a:pPr>
                <a:r>
                  <a:rPr lang="en-US" sz="4400" b="1">
                    <a:solidFill>
                      <a:srgbClr val="3333FF"/>
                    </a:solidFill>
                  </a:rPr>
                  <a:t>Lời giải</a:t>
                </a:r>
                <a:endParaRPr lang="en-GB" sz="4400" b="1">
                  <a:solidFill>
                    <a:srgbClr val="3333FF"/>
                  </a:solidFill>
                </a:endParaRPr>
              </a:p>
              <a:p>
                <a:pPr lvl="0">
                  <a:lnSpc>
                    <a:spcPct val="130000"/>
                  </a:lnSpc>
                </a:pPr>
                <a:r>
                  <a:rPr lang="en-GB" sz="4400" b="1"/>
                  <a:t>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44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𝟑</m:t>
                        </m:r>
                        <m:sSup>
                          <m:sSupPr>
                            <m:ctrlPr>
                              <a:rPr lang="en-GB" sz="4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rad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44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  <m:sSup>
                          <m:sSupPr>
                            <m:ctrlPr>
                              <a:rPr lang="en-GB" sz="4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rad>
                  </m:oMath>
                </a14:m>
                <a:r>
                  <a:rPr lang="en-US" sz="4400" b="1"/>
                  <a:t>		</a:t>
                </a:r>
                <a:endParaRPr lang="en-GB" sz="4400" b="1"/>
              </a:p>
            </p:txBody>
          </p:sp>
        </mc:Choice>
        <mc:Fallback xmlns="">
          <p:sp>
            <p:nvSpPr>
              <p:cNvPr id="22" name="Title 1">
                <a:extLst>
                  <a:ext uri="{FF2B5EF4-FFF2-40B4-BE49-F238E27FC236}">
                    <a16:creationId xmlns:a16="http://schemas.microsoft.com/office/drawing/2014/main" id="{28E92049-5AB7-443C-A73B-1E6B9EF71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466" y="4641361"/>
                <a:ext cx="23130933" cy="1859676"/>
              </a:xfrm>
              <a:prstGeom prst="rect">
                <a:avLst/>
              </a:prstGeom>
              <a:blipFill>
                <a:blip r:embed="rId5"/>
                <a:stretch>
                  <a:fillRect l="-1054" b="-18893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50CEE1A1-75D0-461B-AF7C-3F18CDA37C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5802107"/>
                  </p:ext>
                </p:extLst>
              </p:nvPr>
            </p:nvGraphicFramePr>
            <p:xfrm>
              <a:off x="643466" y="2692625"/>
              <a:ext cx="23130934" cy="180841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130934">
                      <a:extLst>
                        <a:ext uri="{9D8B030D-6E8A-4147-A177-3AD203B41FA5}">
                          <a16:colId xmlns:a16="http://schemas.microsoft.com/office/drawing/2014/main" val="442423946"/>
                        </a:ext>
                      </a:extLst>
                    </a:gridCol>
                  </a:tblGrid>
                  <a:tr h="1803176">
                    <a:tc>
                      <a:txBody>
                        <a:bodyPr/>
                        <a:lstStyle/>
                        <a:p>
                          <a:pPr marL="24765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4400" b="1" dirty="0" err="1">
                              <a:effectLst/>
                            </a:rPr>
                            <a:t>Giải</a:t>
                          </a:r>
                          <a:r>
                            <a:rPr lang="en-US" sz="4400" b="1" dirty="0">
                              <a:effectLst/>
                            </a:rPr>
                            <a:t> </a:t>
                          </a:r>
                          <a:r>
                            <a:rPr lang="en-US" sz="4400" b="1" dirty="0" err="1">
                              <a:effectLst/>
                            </a:rPr>
                            <a:t>các</a:t>
                          </a:r>
                          <a:r>
                            <a:rPr lang="en-US" sz="4400" b="1" dirty="0">
                              <a:effectLst/>
                            </a:rPr>
                            <a:t> </a:t>
                          </a:r>
                          <a:r>
                            <a:rPr lang="en-US" sz="4400" b="1" dirty="0" err="1">
                              <a:effectLst/>
                            </a:rPr>
                            <a:t>phương</a:t>
                          </a:r>
                          <a:r>
                            <a:rPr lang="en-US" sz="4400" b="1" dirty="0">
                              <a:effectLst/>
                            </a:rPr>
                            <a:t> </a:t>
                          </a:r>
                          <a:r>
                            <a:rPr lang="en-US" sz="4400" b="1" dirty="0" err="1">
                              <a:effectLst/>
                            </a:rPr>
                            <a:t>trình</a:t>
                          </a:r>
                          <a:r>
                            <a:rPr lang="en-US" sz="4400" b="1" dirty="0">
                              <a:effectLst/>
                            </a:rPr>
                            <a:t> </a:t>
                          </a:r>
                          <a:r>
                            <a:rPr lang="en-US" sz="4400" b="1" dirty="0" err="1">
                              <a:effectLst/>
                            </a:rPr>
                            <a:t>sau</a:t>
                          </a:r>
                          <a:r>
                            <a:rPr lang="en-US" sz="4400" b="1" dirty="0">
                              <a:effectLst/>
                            </a:rPr>
                            <a:t>:</a:t>
                          </a:r>
                          <a:endParaRPr lang="en-GB" sz="4400" b="1" dirty="0">
                            <a:effectLst/>
                          </a:endParaRPr>
                        </a:p>
                        <a:p>
                          <a:pPr marL="207645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3268345" algn="l"/>
                            </a:tabLst>
                          </a:pPr>
                          <a:r>
                            <a:rPr lang="en-GB" sz="4400" b="1" dirty="0"/>
                            <a:t>a)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4400" b="1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sSup>
                                    <m:sSupPr>
                                      <m:ctrlPr>
                                        <a:rPr lang="en-GB" sz="4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44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44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  <m:t>𝟔</m:t>
                                  </m:r>
                                  <m: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rad>
                              <m:r>
                                <a:rPr lang="en-US" sz="44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4400" b="1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sSup>
                                    <m:sSupPr>
                                      <m:ctrlPr>
                                        <a:rPr lang="en-GB" sz="4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44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44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  <m:t>𝟗</m:t>
                                  </m:r>
                                  <m: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4400" b="1" dirty="0"/>
                            <a:t>	b)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4400" b="1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sSup>
                                    <m:sSupPr>
                                      <m:ctrlPr>
                                        <a:rPr lang="en-GB" sz="4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44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44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</m:e>
                              </m:rad>
                              <m:r>
                                <a:rPr lang="en-US" sz="44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4400" b="1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GB" sz="4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44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44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4400" b="1" dirty="0"/>
                            <a:t>	</a:t>
                          </a:r>
                          <a:endParaRPr lang="en-GB" sz="4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1287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50CEE1A1-75D0-461B-AF7C-3F18CDA37C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5802107"/>
                  </p:ext>
                </p:extLst>
              </p:nvPr>
            </p:nvGraphicFramePr>
            <p:xfrm>
              <a:off x="643466" y="2692625"/>
              <a:ext cx="23130934" cy="1803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130934">
                      <a:extLst>
                        <a:ext uri="{9D8B030D-6E8A-4147-A177-3AD203B41FA5}">
                          <a16:colId xmlns:a16="http://schemas.microsoft.com/office/drawing/2014/main" val="442423946"/>
                        </a:ext>
                      </a:extLst>
                    </a:gridCol>
                  </a:tblGrid>
                  <a:tr h="1803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26" t="-6061" r="-132" b="-121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128718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6987649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17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1" y="4419600"/>
                <a:ext cx="11582399" cy="886993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74320" indent="0" algn="ctr">
                  <a:lnSpc>
                    <a:spcPct val="130000"/>
                  </a:lnSpc>
                  <a:buNone/>
                </a:pPr>
                <a:r>
                  <a:rPr lang="en-US" sz="4400" b="1"/>
                  <a:t>Bình phương hai vế của phương trình ta được:</a:t>
                </a:r>
              </a:p>
              <a:p>
                <a:pPr marL="274320" indent="0">
                  <a:lnSpc>
                    <a:spcPct val="130000"/>
                  </a:lnSpc>
                  <a:buNone/>
                </a:pPr>
                <a:r>
                  <a:rPr lang="en-US" sz="4400" b="1"/>
                  <a:t>	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𝟕</m:t>
                    </m:r>
                  </m:oMath>
                </a14:m>
                <a:endParaRPr lang="en-US" sz="4400" b="1"/>
              </a:p>
              <a:p>
                <a:pPr marL="274320" indent="0">
                  <a:lnSpc>
                    <a:spcPct val="130000"/>
                  </a:lnSpc>
                  <a:buNone/>
                </a:pPr>
                <a:r>
                  <a:rPr lang="en-US" sz="4400" b="1"/>
                  <a:t>Sau khi thu gọn ta được: </a:t>
                </a:r>
              </a:p>
              <a:p>
                <a:pPr marL="274320" indent="0">
                  <a:lnSpc>
                    <a:spcPct val="130000"/>
                  </a:lnSpc>
                  <a:buNone/>
                </a:pPr>
                <a:r>
                  <a:rPr lang="en-US" sz="4400" b="1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4400" b="1"/>
              </a:p>
              <a:p>
                <a:pPr marL="274320" indent="0">
                  <a:lnSpc>
                    <a:spcPct val="130000"/>
                  </a:lnSpc>
                  <a:buNone/>
                </a:pPr>
                <a:r>
                  <a:rPr lang="en-US" sz="4400" b="1"/>
                  <a:t>Từ đó tìm được </a:t>
                </a:r>
                <a14:m>
                  <m:oMath xmlns:m="http://schemas.openxmlformats.org/officeDocument/2006/math">
                    <m:r>
                      <a:rPr lang="en-US" sz="4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4400" b="1"/>
                  <a:t> hoặc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4400" b="1"/>
                  <a:t>.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1" y="4419600"/>
                <a:ext cx="11582399" cy="8869936"/>
              </a:xfrm>
              <a:prstGeom prst="rect">
                <a:avLst/>
              </a:prstGeom>
              <a:blipFill>
                <a:blip r:embed="rId3"/>
                <a:stretch>
                  <a:fillRect r="-110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0"/>
          <p:cNvSpPr>
            <a:spLocks noChangeArrowheads="1"/>
          </p:cNvSpPr>
          <p:nvPr/>
        </p:nvSpPr>
        <p:spPr bwMode="auto">
          <a:xfrm>
            <a:off x="0" y="-212963"/>
            <a:ext cx="461665" cy="883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74320">
              <a:lnSpc>
                <a:spcPct val="130000"/>
              </a:lnSpc>
            </a:pPr>
            <a:endParaRPr lang="en-US"/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0" y="413627"/>
            <a:ext cx="504946" cy="547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7432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Calibri" pitchFamily="34" charset="0"/>
              <a:cs typeface="Times New Roman" pitchFamily="18" charset="0"/>
            </a:endParaRPr>
          </a:p>
          <a:p>
            <a:pPr marL="27432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420599" y="4465064"/>
                <a:ext cx="11353800" cy="886993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74320" indent="0" algn="just">
                  <a:lnSpc>
                    <a:spcPct val="130000"/>
                  </a:lnSpc>
                  <a:buNone/>
                </a:pPr>
                <a:r>
                  <a:rPr lang="en-US" b="1"/>
                  <a:t>Thay lần lượt 2 giá trị của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/>
                  <a:t>  vào phương trình đã cho , ta thấy không giá trị nào thỏa mãn.</a:t>
                </a:r>
              </a:p>
              <a:p>
                <a:pPr marL="274320" indent="0" algn="just">
                  <a:lnSpc>
                    <a:spcPct val="130000"/>
                  </a:lnSpc>
                  <a:buNone/>
                </a:pPr>
                <a:r>
                  <a:rPr lang="en-US" b="1"/>
                  <a:t>Vậy tập nghiệm của phương trình đã cho là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b="1"/>
                  <a:t>.</a:t>
                </a:r>
              </a:p>
              <a:p>
                <a:pPr marL="274320" indent="0" algn="just">
                  <a:lnSpc>
                    <a:spcPct val="130000"/>
                  </a:lnSpc>
                  <a:spcBef>
                    <a:spcPts val="0"/>
                  </a:spcBef>
                  <a:buNone/>
                </a:pPr>
                <a:endParaRPr lang="en-US" dirty="0"/>
              </a:p>
              <a:p>
                <a:pPr marL="274320" indent="0" algn="just">
                  <a:lnSpc>
                    <a:spcPct val="130000"/>
                  </a:lnSpc>
                  <a:spcBef>
                    <a:spcPts val="0"/>
                  </a:spcBef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20599" y="4465064"/>
                <a:ext cx="11353800" cy="8869936"/>
              </a:xfrm>
              <a:prstGeom prst="rect">
                <a:avLst/>
              </a:prstGeom>
              <a:blipFill>
                <a:blip r:embed="rId4"/>
                <a:stretch>
                  <a:fillRect r="-2359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57"/>
          <p:cNvGrpSpPr>
            <a:grpSpLocks/>
          </p:cNvGrpSpPr>
          <p:nvPr/>
        </p:nvGrpSpPr>
        <p:grpSpPr bwMode="auto">
          <a:xfrm>
            <a:off x="838200" y="1736059"/>
            <a:ext cx="4891422" cy="879281"/>
            <a:chOff x="224" y="591"/>
            <a:chExt cx="11374" cy="1327"/>
          </a:xfrm>
        </p:grpSpPr>
        <p:grpSp>
          <p:nvGrpSpPr>
            <p:cNvPr id="15" name="Group 24"/>
            <p:cNvGrpSpPr>
              <a:grpSpLocks/>
            </p:cNvGrpSpPr>
            <p:nvPr/>
          </p:nvGrpSpPr>
          <p:grpSpPr bwMode="auto">
            <a:xfrm>
              <a:off x="224" y="592"/>
              <a:ext cx="11374" cy="1326"/>
              <a:chOff x="315" y="602"/>
              <a:chExt cx="16002" cy="1640"/>
            </a:xfrm>
          </p:grpSpPr>
          <p:sp>
            <p:nvSpPr>
              <p:cNvPr id="18" name="Arrow: Pentagon 25"/>
              <p:cNvSpPr>
                <a:spLocks noChangeArrowheads="1"/>
              </p:cNvSpPr>
              <p:nvPr/>
            </p:nvSpPr>
            <p:spPr bwMode="auto">
              <a:xfrm>
                <a:off x="2045" y="620"/>
                <a:ext cx="14272" cy="1621"/>
              </a:xfrm>
              <a:prstGeom prst="homePlate">
                <a:avLst>
                  <a:gd name="adj" fmla="val 50004"/>
                </a:avLst>
              </a:prstGeom>
              <a:solidFill>
                <a:srgbClr val="FCFFEF"/>
              </a:solidFill>
              <a:ln w="25400">
                <a:solidFill>
                  <a:srgbClr val="F2DCDB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274320" marR="0" lvl="0" indent="0" algn="l" defTabSz="914400" rtl="0" eaLnBrk="1" fontAlgn="base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0000CC"/>
                    </a:solidFill>
                    <a:effectLst/>
                    <a:latin typeface="Arial" pitchFamily="34" charset="0"/>
                    <a:ea typeface="Calibri" pitchFamily="34" charset="0"/>
                    <a:cs typeface="Times New Roman" pitchFamily="18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9" name="Arrow: Chevron 26"/>
              <p:cNvSpPr>
                <a:spLocks noChangeArrowheads="1"/>
              </p:cNvSpPr>
              <p:nvPr/>
            </p:nvSpPr>
            <p:spPr bwMode="auto">
              <a:xfrm>
                <a:off x="315" y="603"/>
                <a:ext cx="1898" cy="1639"/>
              </a:xfrm>
              <a:prstGeom prst="chevron">
                <a:avLst>
                  <a:gd name="adj" fmla="val 50000"/>
                </a:avLst>
              </a:prstGeom>
              <a:solidFill>
                <a:srgbClr val="4F81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274320">
                  <a:lnSpc>
                    <a:spcPct val="130000"/>
                  </a:lnSpc>
                </a:pPr>
                <a:endParaRPr lang="en-US"/>
              </a:p>
            </p:txBody>
          </p:sp>
          <p:sp>
            <p:nvSpPr>
              <p:cNvPr id="20" name="Arrow: Chevron 27"/>
              <p:cNvSpPr>
                <a:spLocks noChangeArrowheads="1"/>
              </p:cNvSpPr>
              <p:nvPr/>
            </p:nvSpPr>
            <p:spPr bwMode="auto">
              <a:xfrm>
                <a:off x="1162" y="602"/>
                <a:ext cx="2062" cy="1639"/>
              </a:xfrm>
              <a:prstGeom prst="chevron">
                <a:avLst>
                  <a:gd name="adj" fmla="val 50000"/>
                </a:avLst>
              </a:pr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274320">
                  <a:lnSpc>
                    <a:spcPct val="130000"/>
                  </a:lnSpc>
                </a:pPr>
                <a:endParaRPr lang="en-US"/>
              </a:p>
            </p:txBody>
          </p:sp>
        </p:grpSp>
        <p:sp>
          <p:nvSpPr>
            <p:cNvPr id="16" name="TextBox 56"/>
            <p:cNvSpPr txBox="1">
              <a:spLocks noChangeArrowheads="1"/>
            </p:cNvSpPr>
            <p:nvPr/>
          </p:nvSpPr>
          <p:spPr bwMode="auto">
            <a:xfrm>
              <a:off x="1559" y="591"/>
              <a:ext cx="9306" cy="1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274320" marR="0" lvl="0" indent="0" algn="l" defTabSz="914400" rtl="0" eaLnBrk="1" fontAlgn="base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400" b="1" i="0" u="none" strike="noStrike" cap="none" normalizeH="0" baseline="0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Luyện tập 1</a:t>
              </a:r>
              <a:r>
                <a:rPr kumimoji="0" lang="en-US" altLang="en-US" sz="4400" b="1" i="0" u="none" strike="noStrike" cap="none" normalizeH="0" baseline="0" dirty="0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  <a:endPara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itle 1">
                <a:extLst>
                  <a:ext uri="{FF2B5EF4-FFF2-40B4-BE49-F238E27FC236}">
                    <a16:creationId xmlns:a16="http://schemas.microsoft.com/office/drawing/2014/main" id="{28E92049-5AB7-443C-A73B-1E6B9EF711F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877721"/>
                <a:ext cx="22936199" cy="116087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marL="274320">
                  <a:lnSpc>
                    <a:spcPct val="130000"/>
                  </a:lnSpc>
                </a:pPr>
                <a:r>
                  <a:rPr lang="en-US" sz="4400" b="1"/>
                  <a:t>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44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  <m:sSup>
                          <m:sSupPr>
                            <m:ctrlPr>
                              <a:rPr lang="en-GB" sz="4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rad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44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GB" sz="4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𝟕</m:t>
                        </m:r>
                      </m:e>
                    </m:rad>
                  </m:oMath>
                </a14:m>
                <a:r>
                  <a:rPr lang="en-US" sz="4400" b="1"/>
                  <a:t>	</a:t>
                </a:r>
                <a:endParaRPr lang="en-GB" sz="4400" b="1"/>
              </a:p>
            </p:txBody>
          </p:sp>
        </mc:Choice>
        <mc:Fallback xmlns="">
          <p:sp>
            <p:nvSpPr>
              <p:cNvPr id="22" name="Title 1">
                <a:extLst>
                  <a:ext uri="{FF2B5EF4-FFF2-40B4-BE49-F238E27FC236}">
                    <a16:creationId xmlns:a16="http://schemas.microsoft.com/office/drawing/2014/main" id="{28E92049-5AB7-443C-A73B-1E6B9EF71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877721"/>
                <a:ext cx="22936199" cy="1160879"/>
              </a:xfrm>
              <a:prstGeom prst="rect">
                <a:avLst/>
              </a:prstGeom>
              <a:blipFill>
                <a:blip r:embed="rId5"/>
                <a:stretch>
                  <a:fillRect b="-9326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1778105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17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252710" y="2590800"/>
                <a:ext cx="13647445" cy="10655541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US" b="1" dirty="0" err="1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Lời</a:t>
                </a:r>
                <a:r>
                  <a:rPr lang="en-US" b="1" dirty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giải</a:t>
                </a:r>
                <a:endParaRPr lang="en-US" b="1" dirty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just">
                  <a:lnSpc>
                    <a:spcPct val="120000"/>
                  </a:lnSpc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a)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Bình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hai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vế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𝟐𝟔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𝟔𝟑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𝟑𝟖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𝟐𝟔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𝟔𝟑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𝟑𝟖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𝟐𝟓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𝟔𝟎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𝟑𝟔</m:t>
                    </m:r>
                  </m:oMath>
                </a14:m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["/>
                        <m:endChr m:val="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eqArr>
                      </m:e>
                    </m:d>
                  </m:oMath>
                </a14:m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b)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Thay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ban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thấy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thỏa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mãn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đã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Vậy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nghiệm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đã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2710" y="2590800"/>
                <a:ext cx="13647445" cy="10655541"/>
              </a:xfrm>
              <a:prstGeom prst="rect">
                <a:avLst/>
              </a:prstGeom>
              <a:blipFill>
                <a:blip r:embed="rId4"/>
                <a:stretch>
                  <a:fillRect l="-2008" t="-571" b="-2229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8407" y="2590801"/>
                <a:ext cx="9663793" cy="1065554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b="1">
                    <a:latin typeface="Times New Roman" panose="02020603050405020304" pitchFamily="18" charset="0"/>
                    <a:ea typeface="Cascadia Mono"/>
                    <a:cs typeface="Times New Roman" panose="02020603050405020304" pitchFamily="18" charset="0"/>
                  </a:rPr>
                  <a:t>	      Cho phương trình</a:t>
                </a:r>
              </a:p>
              <a:p>
                <a:pPr marL="0" indent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b="1">
                    <a:latin typeface="Times New Roman" panose="02020603050405020304" pitchFamily="18" charset="0"/>
                    <a:ea typeface="Cascadia Mono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𝟐𝟔</m:t>
                        </m:r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scadia Mono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scadia Mono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  <a:ea typeface="Cascadia Mono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𝟔𝟑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𝟑𝟖</m:t>
                        </m:r>
                      </m:e>
                    </m:rad>
                    <m:r>
                      <a:rPr lang="en-US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𝟓</m:t>
                    </m:r>
                    <m:r>
                      <a:rPr lang="en-US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𝟔</m:t>
                    </m:r>
                  </m:oMath>
                </a14:m>
                <a:endParaRPr lang="en-US" b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lphaLcParenR"/>
                </a:pPr>
                <a:r>
                  <a:rPr lang="en-US" b="1">
                    <a:latin typeface="Times New Roman" panose="02020603050405020304" pitchFamily="18" charset="0"/>
                    <a:ea typeface="Cascadia Mono"/>
                    <a:cs typeface="Times New Roman" panose="02020603050405020304" pitchFamily="18" charset="0"/>
                  </a:rPr>
                  <a:t> Bình phương hai vế và giải phương trình nhận được.</a:t>
                </a:r>
                <a:endParaRPr lang="en-US" b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lphaLcParenR"/>
                </a:pPr>
                <a:r>
                  <a:rPr lang="en-US" b="1">
                    <a:latin typeface="Times New Roman" panose="02020603050405020304" pitchFamily="18" charset="0"/>
                    <a:ea typeface="Cascadia Mono"/>
                    <a:cs typeface="Times New Roman" panose="02020603050405020304" pitchFamily="18" charset="0"/>
                  </a:rPr>
                  <a:t> Thử lại các giá trị  tìm được ở câu a có thỏa mãn phương trình đã cho hay không.</a:t>
                </a:r>
                <a:endParaRPr lang="en-US" b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407" y="2590801"/>
                <a:ext cx="9663793" cy="10655540"/>
              </a:xfrm>
              <a:prstGeom prst="rect">
                <a:avLst/>
              </a:prstGeom>
              <a:blipFill>
                <a:blip r:embed="rId5"/>
                <a:stretch>
                  <a:fillRect l="-2519" t="-1257" r="-277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320"/>
          <p:cNvGrpSpPr>
            <a:grpSpLocks/>
          </p:cNvGrpSpPr>
          <p:nvPr/>
        </p:nvGrpSpPr>
        <p:grpSpPr bwMode="auto">
          <a:xfrm>
            <a:off x="318407" y="2667000"/>
            <a:ext cx="2743200" cy="810070"/>
            <a:chOff x="0" y="923"/>
            <a:chExt cx="14509" cy="2283"/>
          </a:xfrm>
        </p:grpSpPr>
        <p:sp>
          <p:nvSpPr>
            <p:cNvPr id="8" name="TextBox 321"/>
            <p:cNvSpPr txBox="1">
              <a:spLocks noChangeArrowheads="1"/>
            </p:cNvSpPr>
            <p:nvPr/>
          </p:nvSpPr>
          <p:spPr bwMode="auto">
            <a:xfrm>
              <a:off x="6532" y="950"/>
              <a:ext cx="7977" cy="2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400" b="1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Arial" pitchFamily="34" charset="0"/>
                  <a:ea typeface="Calibri" pitchFamily="34" charset="0"/>
                  <a:cs typeface="Times New Roman" pitchFamily="18" charset="0"/>
                </a:rPr>
                <a:t>HĐ2</a:t>
              </a:r>
              <a:r>
                <a:rPr kumimoji="0" lang="en-US" altLang="en-US" sz="4400" b="1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ascadia Mono"/>
                  <a:ea typeface="Calibri" pitchFamily="34" charset="0"/>
                  <a:cs typeface="Times New Roman" pitchFamily="18" charset="0"/>
                </a:rPr>
                <a:t>:</a:t>
              </a:r>
              <a:endPara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9" name="Group 58"/>
            <p:cNvGrpSpPr>
              <a:grpSpLocks/>
            </p:cNvGrpSpPr>
            <p:nvPr/>
          </p:nvGrpSpPr>
          <p:grpSpPr bwMode="auto">
            <a:xfrm>
              <a:off x="0" y="923"/>
              <a:ext cx="6270" cy="1976"/>
              <a:chOff x="0" y="923"/>
              <a:chExt cx="5754" cy="1976"/>
            </a:xfrm>
          </p:grpSpPr>
          <p:grpSp>
            <p:nvGrpSpPr>
              <p:cNvPr id="10" name="Group 59"/>
              <p:cNvGrpSpPr>
                <a:grpSpLocks/>
              </p:cNvGrpSpPr>
              <p:nvPr/>
            </p:nvGrpSpPr>
            <p:grpSpPr bwMode="auto">
              <a:xfrm>
                <a:off x="0" y="923"/>
                <a:ext cx="5754" cy="1976"/>
                <a:chOff x="0" y="923"/>
                <a:chExt cx="6444" cy="3028"/>
              </a:xfrm>
            </p:grpSpPr>
            <p:sp>
              <p:nvSpPr>
                <p:cNvPr id="13" name="Arrow: Pentagon 60"/>
                <p:cNvSpPr>
                  <a:spLocks noChangeArrowheads="1"/>
                </p:cNvSpPr>
                <p:nvPr/>
              </p:nvSpPr>
              <p:spPr bwMode="auto">
                <a:xfrm>
                  <a:off x="0" y="1038"/>
                  <a:ext cx="4206" cy="2913"/>
                </a:xfrm>
                <a:prstGeom prst="homePlate">
                  <a:avLst>
                    <a:gd name="adj" fmla="val 50001"/>
                  </a:avLst>
                </a:prstGeom>
                <a:solidFill>
                  <a:srgbClr val="B7DEE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" name="Arrow: Chevron 61"/>
                <p:cNvSpPr>
                  <a:spLocks noChangeArrowheads="1"/>
                </p:cNvSpPr>
                <p:nvPr/>
              </p:nvSpPr>
              <p:spPr bwMode="auto">
                <a:xfrm>
                  <a:off x="3802" y="923"/>
                  <a:ext cx="1695" cy="2916"/>
                </a:xfrm>
                <a:prstGeom prst="chevron">
                  <a:avLst>
                    <a:gd name="adj" fmla="val 83505"/>
                  </a:avLst>
                </a:prstGeom>
                <a:solidFill>
                  <a:srgbClr val="CCC1DA"/>
                </a:solidFill>
                <a:ln w="25400">
                  <a:solidFill>
                    <a:srgbClr val="FFC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" name="Arrow: Chevron 62"/>
                <p:cNvSpPr>
                  <a:spLocks noChangeArrowheads="1"/>
                </p:cNvSpPr>
                <p:nvPr/>
              </p:nvSpPr>
              <p:spPr bwMode="auto">
                <a:xfrm>
                  <a:off x="4749" y="923"/>
                  <a:ext cx="1695" cy="2916"/>
                </a:xfrm>
                <a:prstGeom prst="chevron">
                  <a:avLst>
                    <a:gd name="adj" fmla="val 83505"/>
                  </a:avLst>
                </a:prstGeom>
                <a:solidFill>
                  <a:srgbClr val="0000CC"/>
                </a:solidFill>
                <a:ln w="25400">
                  <a:solidFill>
                    <a:srgbClr val="FFFF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1" name="Flowchart: Terminator 63"/>
              <p:cNvSpPr>
                <a:spLocks noChangeArrowheads="1"/>
              </p:cNvSpPr>
              <p:nvPr/>
            </p:nvSpPr>
            <p:spPr bwMode="auto">
              <a:xfrm>
                <a:off x="803" y="1376"/>
                <a:ext cx="2537" cy="1158"/>
              </a:xfrm>
              <a:prstGeom prst="flowChartTerminator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Oval 64"/>
              <p:cNvSpPr>
                <a:spLocks noChangeArrowheads="1"/>
              </p:cNvSpPr>
              <p:nvPr/>
            </p:nvSpPr>
            <p:spPr bwMode="auto">
              <a:xfrm>
                <a:off x="2116" y="1427"/>
                <a:ext cx="924" cy="954"/>
              </a:xfrm>
              <a:prstGeom prst="ellipse">
                <a:avLst/>
              </a:prstGeom>
              <a:solidFill>
                <a:srgbClr val="3333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BD37DE9-3C02-4524-A08B-0522C7210B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457200"/>
          <a:ext cx="133350" cy="13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2" name="Equation" r:id="rId6" imgW="126835" imgH="139518" progId="Equation.DSMT4">
                  <p:embed/>
                </p:oleObj>
              </mc:Choice>
              <mc:Fallback>
                <p:oleObj name="Equation" r:id="rId6" imgW="126835" imgH="139518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BD37DE9-3C02-4524-A08B-0522C7210B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57200"/>
                        <a:ext cx="133350" cy="133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1909E1F2-8AD7-4799-ACD1-8F224D9C06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" y="609600"/>
          <a:ext cx="133350" cy="13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3" name="Equation" r:id="rId8" imgW="126835" imgH="139518" progId="Equation.DSMT4">
                  <p:embed/>
                </p:oleObj>
              </mc:Choice>
              <mc:Fallback>
                <p:oleObj name="Equation" r:id="rId8" imgW="126835" imgH="139518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1909E1F2-8AD7-4799-ACD1-8F224D9C06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609600"/>
                        <a:ext cx="133350" cy="133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2C3482C-C612-45FF-9C33-12D78950F13C}"/>
                  </a:ext>
                </a:extLst>
              </p:cNvPr>
              <p:cNvSpPr txBox="1"/>
              <p:nvPr/>
            </p:nvSpPr>
            <p:spPr>
              <a:xfrm>
                <a:off x="1066800" y="1611083"/>
                <a:ext cx="13965382" cy="9035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4400" b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2. </a:t>
                </a:r>
                <a:r>
                  <a:rPr lang="en-US" sz="4400" b="1" kern="120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PHƯƠNG TRÌNH DẠNG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4400" b="1" i="1" kern="12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4400" b="1" i="1" kern="12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𝒂</m:t>
                        </m:r>
                        <m:sSup>
                          <m:sSupPr>
                            <m:ctrlPr>
                              <a:rPr lang="en-GB" sz="4400" b="1" i="1" kern="12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4400" b="1" i="1" kern="12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4400" b="1" i="1" kern="12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4400" b="1" i="1" kern="12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4400" b="1" i="1" kern="12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𝒃𝒙</m:t>
                        </m:r>
                        <m:r>
                          <a:rPr lang="en-US" sz="4400" b="1" i="1" kern="12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4400" b="1" i="1" kern="12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</m:rad>
                    <m:r>
                      <a:rPr lang="en-US" sz="4400" b="1" i="1" kern="12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4400" b="1" i="1" kern="12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𝒅𝒙</m:t>
                    </m:r>
                    <m:r>
                      <a:rPr lang="en-US" sz="4400" b="1" i="1" kern="12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4400" b="1" i="1" kern="12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𝒆</m:t>
                    </m:r>
                  </m:oMath>
                </a14:m>
                <a:endParaRPr lang="en-GB" sz="44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2C3482C-C612-45FF-9C33-12D78950F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1611083"/>
                <a:ext cx="13965382" cy="903517"/>
              </a:xfrm>
              <a:prstGeom prst="rect">
                <a:avLst/>
              </a:prstGeom>
              <a:blipFill>
                <a:blip r:embed="rId9"/>
                <a:stretch>
                  <a:fillRect l="-1746" b="-308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6513464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9" grpId="0" animBg="1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1000" y="5963876"/>
                <a:ext cx="13030200" cy="706473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82880" indent="0">
                  <a:lnSpc>
                    <a:spcPct val="100000"/>
                  </a:lnSpc>
                  <a:buNone/>
                </a:pPr>
                <a:r>
                  <a:rPr lang="en-US"/>
                  <a:t>                             </a:t>
                </a:r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Giải phương trình</a:t>
                </a:r>
              </a:p>
              <a:p>
                <a:pPr marL="18288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𝟗</m:t>
                          </m:r>
                        </m:e>
                      </m:ra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82880" indent="0" algn="ctr">
                  <a:lnSpc>
                    <a:spcPct val="100000"/>
                  </a:lnSpc>
                  <a:buNone/>
                </a:pPr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>
                    <a:solidFill>
                      <a:srgbClr val="3333FF"/>
                    </a:solidFill>
                  </a:rPr>
                  <a:t>Lời giải</a:t>
                </a:r>
              </a:p>
              <a:p>
                <a:pPr marL="182880" indent="0">
                  <a:lnSpc>
                    <a:spcPct val="100000"/>
                  </a:lnSpc>
                  <a:buNone/>
                </a:pPr>
                <a:r>
                  <a:rPr lang="en-US" b="1"/>
                  <a:t>Bình phương hai vế của phương trình ta được:</a:t>
                </a:r>
              </a:p>
              <a:p>
                <a:pPr marL="182880" indent="0">
                  <a:lnSpc>
                    <a:spcPct val="100000"/>
                  </a:lnSpc>
                  <a:buNone/>
                </a:pPr>
                <a:r>
                  <a:rPr lang="en-US" b="1"/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b="1"/>
              </a:p>
              <a:p>
                <a:pPr marL="182880" indent="0">
                  <a:lnSpc>
                    <a:spcPct val="100000"/>
                  </a:lnSpc>
                  <a:buNone/>
                </a:pPr>
                <a:r>
                  <a:rPr lang="en-US" b="1"/>
                  <a:t>Sau khi thu gọn ta được:</a:t>
                </a:r>
              </a:p>
              <a:p>
                <a:pPr marL="182880" indent="0">
                  <a:lnSpc>
                    <a:spcPct val="100000"/>
                  </a:lnSpc>
                  <a:buNone/>
                </a:pPr>
                <a:r>
                  <a:rPr lang="en-US" b="1"/>
                  <a:t>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b="1"/>
              </a:p>
              <a:p>
                <a:pPr marL="182880" indent="0">
                  <a:lnSpc>
                    <a:spcPct val="100000"/>
                  </a:lnSpc>
                  <a:buNone/>
                </a:pPr>
                <a:endParaRPr lang="en-US" dirty="0"/>
              </a:p>
              <a:p>
                <a:pPr marL="182880" indent="0">
                  <a:lnSpc>
                    <a:spcPct val="100000"/>
                  </a:lnSpc>
                  <a:buNone/>
                </a:pPr>
                <a:endParaRPr lang="en-US" dirty="0"/>
              </a:p>
              <a:p>
                <a:pPr marL="182880" indent="0">
                  <a:lnSpc>
                    <a:spcPct val="10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963876"/>
                <a:ext cx="13030200" cy="7064736"/>
              </a:xfrm>
              <a:prstGeom prst="rect">
                <a:avLst/>
              </a:prstGeom>
              <a:blipFill>
                <a:blip r:embed="rId3"/>
                <a:stretch>
                  <a:fillRect l="-701" t="-2067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0"/>
          <p:cNvSpPr>
            <a:spLocks noChangeArrowheads="1"/>
          </p:cNvSpPr>
          <p:nvPr/>
        </p:nvSpPr>
        <p:spPr bwMode="auto">
          <a:xfrm>
            <a:off x="0" y="0"/>
            <a:ext cx="2438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0" y="687388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792199" y="5963876"/>
                <a:ext cx="9962791" cy="706473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82880" indent="0" algn="just">
                  <a:lnSpc>
                    <a:spcPct val="130000"/>
                  </a:lnSpc>
                  <a:buNone/>
                </a:pPr>
                <a:r>
                  <a:rPr lang="en-US" b="1"/>
                  <a:t>Từ đó tìm được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b="1"/>
                  <a:t> hoặc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b="1"/>
                  <a:t>.</a:t>
                </a:r>
              </a:p>
              <a:p>
                <a:pPr marL="182880" indent="0" algn="just">
                  <a:lnSpc>
                    <a:spcPct val="130000"/>
                  </a:lnSpc>
                  <a:buNone/>
                </a:pPr>
                <a:r>
                  <a:rPr lang="en-US" b="1"/>
                  <a:t>Thay lần lượt 2 giá trị của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/>
                  <a:t>  vào phương trình đã cho , ta thấy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b="1"/>
                  <a:t> thỏa mãn.</a:t>
                </a:r>
              </a:p>
              <a:p>
                <a:pPr marL="182880" indent="0" algn="just">
                  <a:lnSpc>
                    <a:spcPct val="130000"/>
                  </a:lnSpc>
                  <a:buNone/>
                </a:pPr>
                <a:r>
                  <a:rPr lang="en-US" b="1"/>
                  <a:t>Vậy nghiệm của phương trình đã cho là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b="1"/>
                  <a:t>.</a:t>
                </a:r>
              </a:p>
              <a:p>
                <a:pPr marL="182880" indent="0" algn="just">
                  <a:lnSpc>
                    <a:spcPct val="130000"/>
                  </a:lnSpc>
                  <a:buNone/>
                </a:pPr>
                <a:endParaRPr lang="en-US" b="1" dirty="0"/>
              </a:p>
              <a:p>
                <a:pPr marL="182880" indent="0" algn="just">
                  <a:lnSpc>
                    <a:spcPct val="130000"/>
                  </a:lnSpc>
                  <a:buNone/>
                </a:pPr>
                <a:endParaRPr lang="en-US" dirty="0"/>
              </a:p>
              <a:p>
                <a:pPr marL="182880" indent="0" algn="just">
                  <a:lnSpc>
                    <a:spcPct val="13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2199" y="5963876"/>
                <a:ext cx="9962791" cy="7064736"/>
              </a:xfrm>
              <a:prstGeom prst="rect">
                <a:avLst/>
              </a:prstGeom>
              <a:blipFill>
                <a:blip r:embed="rId4"/>
                <a:stretch>
                  <a:fillRect l="-855" r="-268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57"/>
          <p:cNvGrpSpPr>
            <a:grpSpLocks/>
          </p:cNvGrpSpPr>
          <p:nvPr/>
        </p:nvGrpSpPr>
        <p:grpSpPr bwMode="auto">
          <a:xfrm>
            <a:off x="370114" y="5943600"/>
            <a:ext cx="3439993" cy="1046922"/>
            <a:chOff x="224" y="866"/>
            <a:chExt cx="7999" cy="1580"/>
          </a:xfrm>
        </p:grpSpPr>
        <p:grpSp>
          <p:nvGrpSpPr>
            <p:cNvPr id="15" name="Group 24"/>
            <p:cNvGrpSpPr>
              <a:grpSpLocks/>
            </p:cNvGrpSpPr>
            <p:nvPr/>
          </p:nvGrpSpPr>
          <p:grpSpPr bwMode="auto">
            <a:xfrm>
              <a:off x="224" y="866"/>
              <a:ext cx="7999" cy="1311"/>
              <a:chOff x="315" y="941"/>
              <a:chExt cx="11254" cy="1622"/>
            </a:xfrm>
          </p:grpSpPr>
          <p:sp>
            <p:nvSpPr>
              <p:cNvPr id="18" name="Arrow: Pentagon 25"/>
              <p:cNvSpPr>
                <a:spLocks noChangeArrowheads="1"/>
              </p:cNvSpPr>
              <p:nvPr/>
            </p:nvSpPr>
            <p:spPr bwMode="auto">
              <a:xfrm>
                <a:off x="2045" y="941"/>
                <a:ext cx="9524" cy="1608"/>
              </a:xfrm>
              <a:prstGeom prst="homePlate">
                <a:avLst>
                  <a:gd name="adj" fmla="val 50004"/>
                </a:avLst>
              </a:prstGeom>
              <a:solidFill>
                <a:srgbClr val="FCFFEF"/>
              </a:solidFill>
              <a:ln w="25400">
                <a:solidFill>
                  <a:srgbClr val="F2DCDB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0000CC"/>
                    </a:solidFill>
                    <a:effectLst/>
                    <a:latin typeface="Arial" pitchFamily="34" charset="0"/>
                    <a:ea typeface="Calibri" pitchFamily="34" charset="0"/>
                    <a:cs typeface="Times New Roman" pitchFamily="18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9" name="Arrow: Chevron 26"/>
              <p:cNvSpPr>
                <a:spLocks noChangeArrowheads="1"/>
              </p:cNvSpPr>
              <p:nvPr/>
            </p:nvSpPr>
            <p:spPr bwMode="auto">
              <a:xfrm>
                <a:off x="315" y="1091"/>
                <a:ext cx="2195" cy="1465"/>
              </a:xfrm>
              <a:prstGeom prst="chevron">
                <a:avLst>
                  <a:gd name="adj" fmla="val 50000"/>
                </a:avLst>
              </a:prstGeom>
              <a:solidFill>
                <a:srgbClr val="4F81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Arrow: Chevron 27"/>
              <p:cNvSpPr>
                <a:spLocks noChangeArrowheads="1"/>
              </p:cNvSpPr>
              <p:nvPr/>
            </p:nvSpPr>
            <p:spPr bwMode="auto">
              <a:xfrm>
                <a:off x="1162" y="1092"/>
                <a:ext cx="2195" cy="1471"/>
              </a:xfrm>
              <a:prstGeom prst="chevron">
                <a:avLst>
                  <a:gd name="adj" fmla="val 50000"/>
                </a:avLst>
              </a:pr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6" name="TextBox 56"/>
            <p:cNvSpPr txBox="1">
              <a:spLocks noChangeArrowheads="1"/>
            </p:cNvSpPr>
            <p:nvPr/>
          </p:nvSpPr>
          <p:spPr bwMode="auto">
            <a:xfrm>
              <a:off x="2386" y="1032"/>
              <a:ext cx="4966" cy="1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0" b="1" i="0" u="none" strike="noStrike" cap="none" normalizeH="0" baseline="0" dirty="0" err="1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Ví</a:t>
              </a:r>
              <a:r>
                <a:rPr kumimoji="0" lang="en-US" altLang="en-US" sz="4000" b="1" i="0" u="none" strike="noStrike" cap="none" normalizeH="0" baseline="0" dirty="0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altLang="en-US" sz="4000" b="1" i="0" u="none" strike="noStrike" cap="none" normalizeH="0" baseline="0" err="1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dụ</a:t>
              </a:r>
              <a:r>
                <a:rPr kumimoji="0" lang="en-US" altLang="en-US" sz="4000" b="1" i="0" u="none" strike="noStrike" cap="none" normalizeH="0" baseline="0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2.</a:t>
              </a:r>
              <a:endPara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B7C00B93-0E8D-438A-8296-6813C6E821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2226380"/>
                  </p:ext>
                </p:extLst>
              </p:nvPr>
            </p:nvGraphicFramePr>
            <p:xfrm>
              <a:off x="2209800" y="1600200"/>
              <a:ext cx="21564600" cy="4101459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21564600">
                      <a:extLst>
                        <a:ext uri="{9D8B030D-6E8A-4147-A177-3AD203B41FA5}">
                          <a16:colId xmlns:a16="http://schemas.microsoft.com/office/drawing/2014/main" val="2406678906"/>
                        </a:ext>
                      </a:extLst>
                    </a:gridCol>
                  </a:tblGrid>
                  <a:tr h="4101459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4400" b="1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Để giải phương trình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4400" b="1" i="1" kern="1200">
                                      <a:solidFill>
                                        <a:srgbClr val="385623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400" b="1" i="1" kern="1200">
                                      <a:solidFill>
                                        <a:srgbClr val="385623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𝒂</m:t>
                                  </m:r>
                                  <m:sSup>
                                    <m:sSupPr>
                                      <m:ctrlPr>
                                        <a:rPr lang="en-GB" sz="4400" b="1" i="1" kern="1200">
                                          <a:solidFill>
                                            <a:srgbClr val="385623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4400" b="1" i="1" kern="1200">
                                          <a:solidFill>
                                            <a:srgbClr val="385623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4400" b="1" i="1" kern="1200">
                                          <a:solidFill>
                                            <a:srgbClr val="385623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sz="4400" b="1" i="1" kern="1200">
                                      <a:solidFill>
                                        <a:srgbClr val="385623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4400" b="1" i="1" kern="1200">
                                      <a:solidFill>
                                        <a:srgbClr val="385623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𝒃𝒙</m:t>
                                  </m:r>
                                  <m:r>
                                    <a:rPr lang="en-US" sz="4400" b="1" i="1" kern="1200">
                                      <a:solidFill>
                                        <a:srgbClr val="385623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4400" b="1" i="1" kern="1200">
                                      <a:solidFill>
                                        <a:srgbClr val="385623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𝒄</m:t>
                                  </m:r>
                                </m:e>
                              </m:rad>
                              <m:r>
                                <a:rPr lang="en-US" sz="4400" b="1" i="1" kern="1200">
                                  <a:solidFill>
                                    <a:srgbClr val="38562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sz="4400" b="1" i="1" kern="1200">
                                  <a:solidFill>
                                    <a:srgbClr val="38562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𝒅𝒙</m:t>
                              </m:r>
                              <m:r>
                                <a:rPr lang="en-US" sz="4400" b="1" i="1" kern="1200">
                                  <a:solidFill>
                                    <a:srgbClr val="38562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4400" b="1" i="1" kern="1200">
                                  <a:solidFill>
                                    <a:srgbClr val="38562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𝒆</m:t>
                              </m:r>
                            </m:oMath>
                          </a14:m>
                          <a:r>
                            <a:rPr lang="en-US" sz="4400" b="1" kern="1200">
                              <a:solidFill>
                                <a:srgbClr val="385623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, </a:t>
                          </a:r>
                          <a:r>
                            <a:rPr lang="en-US" sz="4400" b="1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ta thực hiện như sau:</a:t>
                          </a:r>
                          <a:endParaRPr lang="en-GB" sz="4400" b="1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  <a:p>
                          <a:pPr marL="11811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4400" b="1" kern="1200">
                              <a:solidFill>
                                <a:srgbClr val="385623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-  </a:t>
                          </a:r>
                          <a:r>
                            <a:rPr lang="en-US" sz="4400" b="1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Bình phương hai vế và giải phương trình nhận được.</a:t>
                          </a:r>
                          <a:endParaRPr lang="en-GB" sz="4400" b="1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  <a:p>
                          <a:pPr marL="11811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4400" b="1" kern="1200">
                              <a:solidFill>
                                <a:srgbClr val="385623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-</a:t>
                          </a:r>
                          <a:r>
                            <a:rPr lang="en-US" sz="4400" b="1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 Thử lại các giá trị </a:t>
                          </a:r>
                          <a14:m>
                            <m:oMath xmlns:m="http://schemas.openxmlformats.org/officeDocument/2006/math">
                              <m:r>
                                <a:rPr lang="en-US" sz="4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4400" b="1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tìm được ở trên có thoả mãn phương trình đã cho hay không và kết luận nghiệm.</a:t>
                          </a:r>
                          <a:endParaRPr lang="en-GB" sz="4400" b="1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>
                        <a:lnL w="57150" cap="flat" cmpd="dbl" algn="ctr">
                          <a:solidFill>
                            <a:srgbClr val="821AB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3333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3333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3333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2386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B7C00B93-0E8D-438A-8296-6813C6E821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2226380"/>
                  </p:ext>
                </p:extLst>
              </p:nvPr>
            </p:nvGraphicFramePr>
            <p:xfrm>
              <a:off x="2209800" y="1600200"/>
              <a:ext cx="21564600" cy="4101459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21564600">
                      <a:extLst>
                        <a:ext uri="{9D8B030D-6E8A-4147-A177-3AD203B41FA5}">
                          <a16:colId xmlns:a16="http://schemas.microsoft.com/office/drawing/2014/main" val="2406678906"/>
                        </a:ext>
                      </a:extLst>
                    </a:gridCol>
                  </a:tblGrid>
                  <a:tr h="410145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57150" cap="flat" cmpd="dbl" algn="ctr">
                          <a:solidFill>
                            <a:srgbClr val="821AB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3333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3333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3333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1" t="-148" r="-85" b="-13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23864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5400720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249400" y="4876800"/>
                <a:ext cx="9514114" cy="8415249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74320" indent="0">
                  <a:lnSpc>
                    <a:spcPct val="130000"/>
                  </a:lnSpc>
                  <a:buNone/>
                </a:pPr>
                <a:r>
                  <a:rPr lang="en-US" b="1"/>
                  <a:t>Thay lần lượt 2 giá trị của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/>
                  <a:t>  vào phương trình đã cho , ta thấy  đều thỏa mãn.</a:t>
                </a:r>
              </a:p>
              <a:p>
                <a:pPr marL="274320" indent="0">
                  <a:lnSpc>
                    <a:spcPct val="130000"/>
                  </a:lnSpc>
                  <a:buNone/>
                </a:pPr>
                <a:r>
                  <a:rPr lang="en-US" b="1"/>
                  <a:t>Vậy tập nghiệm của phương trình đã cho là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9400" y="4876800"/>
                <a:ext cx="9514114" cy="8415249"/>
              </a:xfrm>
              <a:prstGeom prst="rect">
                <a:avLst/>
              </a:prstGeom>
              <a:blipFill>
                <a:blip r:embed="rId3"/>
                <a:stretch>
                  <a:fillRect r="-640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0"/>
          <p:cNvSpPr>
            <a:spLocks noChangeArrowheads="1"/>
          </p:cNvSpPr>
          <p:nvPr/>
        </p:nvSpPr>
        <p:spPr bwMode="auto">
          <a:xfrm>
            <a:off x="0" y="0"/>
            <a:ext cx="2438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0" y="687388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" y="4843551"/>
                <a:ext cx="13335000" cy="8415249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74320" indent="0" algn="ctr">
                  <a:lnSpc>
                    <a:spcPct val="130000"/>
                  </a:lnSpc>
                  <a:buNone/>
                </a:pPr>
                <a:r>
                  <a:rPr lang="en-US" b="1">
                    <a:solidFill>
                      <a:srgbClr val="3333FF"/>
                    </a:solidFill>
                  </a:rPr>
                  <a:t>Lời giải</a:t>
                </a:r>
              </a:p>
              <a:p>
                <a:pPr marL="274320" indent="0">
                  <a:lnSpc>
                    <a:spcPct val="130000"/>
                  </a:lnSpc>
                  <a:buNone/>
                </a:pPr>
                <a:r>
                  <a:rPr lang="en-US" b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</a:t>
                </a:r>
                <a:r>
                  <a:rPr lang="en-US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sSup>
                          <m:sSupPr>
                            <m:ctrlPr>
                              <a:rPr lang="en-GB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b="1" dirty="0">
                  <a:solidFill>
                    <a:schemeClr val="tx1"/>
                  </a:solidFill>
                </a:endParaRPr>
              </a:p>
              <a:p>
                <a:pPr marL="274320" indent="0">
                  <a:lnSpc>
                    <a:spcPct val="130000"/>
                  </a:lnSpc>
                  <a:buNone/>
                </a:pPr>
                <a:r>
                  <a:rPr lang="en-US" b="1">
                    <a:solidFill>
                      <a:schemeClr val="tx1"/>
                    </a:solidFill>
                  </a:rPr>
                  <a:t>Bình phương hai vế của phương trình ta được:</a:t>
                </a:r>
              </a:p>
              <a:p>
                <a:pPr marL="274320" indent="0">
                  <a:lnSpc>
                    <a:spcPct val="130000"/>
                  </a:lnSpc>
                  <a:buNone/>
                </a:pPr>
                <a:r>
                  <a:rPr lang="en-US" b="1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>
                  <a:solidFill>
                    <a:schemeClr val="tx1"/>
                  </a:solidFill>
                </a:endParaRPr>
              </a:p>
              <a:p>
                <a:pPr marL="274320" indent="0">
                  <a:lnSpc>
                    <a:spcPct val="130000"/>
                  </a:lnSpc>
                  <a:buNone/>
                </a:pPr>
                <a:r>
                  <a:rPr lang="en-US" b="1">
                    <a:solidFill>
                      <a:schemeClr val="tx1"/>
                    </a:solidFill>
                  </a:rPr>
                  <a:t>Sau khi thu gọn ta được:</a:t>
                </a:r>
              </a:p>
              <a:p>
                <a:pPr marL="274320" indent="0">
                  <a:lnSpc>
                    <a:spcPct val="130000"/>
                  </a:lnSpc>
                  <a:buNone/>
                </a:pPr>
                <a:r>
                  <a:rPr lang="en-US" b="1">
                    <a:solidFill>
                      <a:schemeClr val="tx1"/>
                    </a:solidFill>
                  </a:rPr>
                  <a:t>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/>
              </a:p>
              <a:p>
                <a:pPr marL="274320" indent="0">
                  <a:lnSpc>
                    <a:spcPct val="130000"/>
                  </a:lnSpc>
                  <a:buNone/>
                </a:pPr>
                <a:r>
                  <a:rPr lang="en-US" b="1"/>
                  <a:t>Từ đó tìm được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/>
                  <a:t> hoặc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b="1"/>
                  <a:t>.</a:t>
                </a:r>
              </a:p>
              <a:p>
                <a:pPr marL="274320" indent="0">
                  <a:lnSpc>
                    <a:spcPct val="13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843551"/>
                <a:ext cx="13335000" cy="8415249"/>
              </a:xfrm>
              <a:prstGeom prst="rect">
                <a:avLst/>
              </a:prstGeom>
              <a:blipFill>
                <a:blip r:embed="rId4"/>
                <a:stretch>
                  <a:fillRect b="-4559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E36841C4-849A-4FA5-8295-6A8B5189D3F0}"/>
              </a:ext>
            </a:extLst>
          </p:cNvPr>
          <p:cNvGrpSpPr/>
          <p:nvPr/>
        </p:nvGrpSpPr>
        <p:grpSpPr>
          <a:xfrm>
            <a:off x="838200" y="1879600"/>
            <a:ext cx="23164800" cy="2733762"/>
            <a:chOff x="838200" y="1879600"/>
            <a:chExt cx="23164800" cy="2733762"/>
          </a:xfrm>
        </p:grpSpPr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CD104EB2-EAE8-4E01-B320-8B04945DABCC}"/>
                </a:ext>
              </a:extLst>
            </p:cNvPr>
            <p:cNvSpPr txBox="1">
              <a:spLocks/>
            </p:cNvSpPr>
            <p:nvPr/>
          </p:nvSpPr>
          <p:spPr>
            <a:xfrm>
              <a:off x="838200" y="1879600"/>
              <a:ext cx="23164800" cy="27337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txBody>
            <a:bodyPr/>
            <a:lstStyle>
              <a:lvl1pPr algn="l" defTabSz="18288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kern="1200">
                  <a:solidFill>
                    <a:schemeClr val="tx1"/>
                  </a:solidFill>
                  <a:latin typeface="Tomaho"/>
                  <a:ea typeface="+mj-ea"/>
                  <a:cs typeface="+mj-cs"/>
                </a:defRPr>
              </a:lvl1pPr>
            </a:lstStyle>
            <a:p>
              <a:pPr marL="247650" lvl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endParaRPr lang="en-US">
                <a:solidFill>
                  <a:schemeClr val="bg1"/>
                </a:solidFill>
              </a:endParaRPr>
            </a:p>
          </p:txBody>
        </p:sp>
        <p:grpSp>
          <p:nvGrpSpPr>
            <p:cNvPr id="14" name="Group 57"/>
            <p:cNvGrpSpPr>
              <a:grpSpLocks/>
            </p:cNvGrpSpPr>
            <p:nvPr/>
          </p:nvGrpSpPr>
          <p:grpSpPr bwMode="auto">
            <a:xfrm>
              <a:off x="838200" y="1968500"/>
              <a:ext cx="4876131" cy="985963"/>
              <a:chOff x="224" y="592"/>
              <a:chExt cx="7755" cy="1488"/>
            </a:xfrm>
          </p:grpSpPr>
          <p:grpSp>
            <p:nvGrpSpPr>
              <p:cNvPr id="15" name="Group 24"/>
              <p:cNvGrpSpPr>
                <a:grpSpLocks/>
              </p:cNvGrpSpPr>
              <p:nvPr/>
            </p:nvGrpSpPr>
            <p:grpSpPr bwMode="auto">
              <a:xfrm>
                <a:off x="224" y="592"/>
                <a:ext cx="6996" cy="1410"/>
                <a:chOff x="315" y="602"/>
                <a:chExt cx="9842" cy="1744"/>
              </a:xfrm>
            </p:grpSpPr>
            <p:sp>
              <p:nvSpPr>
                <p:cNvPr id="18" name="Arrow: Pentagon 25"/>
                <p:cNvSpPr>
                  <a:spLocks noChangeArrowheads="1"/>
                </p:cNvSpPr>
                <p:nvPr/>
              </p:nvSpPr>
              <p:spPr bwMode="auto">
                <a:xfrm>
                  <a:off x="2045" y="620"/>
                  <a:ext cx="8112" cy="1726"/>
                </a:xfrm>
                <a:prstGeom prst="homePlate">
                  <a:avLst>
                    <a:gd name="adj" fmla="val 50004"/>
                  </a:avLst>
                </a:prstGeom>
                <a:solidFill>
                  <a:srgbClr val="FCFFEF"/>
                </a:solidFill>
                <a:ln w="25400">
                  <a:solidFill>
                    <a:srgbClr val="F2DCDB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1" i="0" u="none" strike="noStrike" cap="none" normalizeH="0" baseline="0">
                      <a:ln>
                        <a:noFill/>
                      </a:ln>
                      <a:solidFill>
                        <a:srgbClr val="0000CC"/>
                      </a:solidFill>
                      <a:effectLst/>
                      <a:latin typeface="Arial" pitchFamily="34" charset="0"/>
                      <a:ea typeface="Calibri" pitchFamily="34" charset="0"/>
                      <a:cs typeface="Times New Roman" pitchFamily="18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9" name="Arrow: Chevron 26"/>
                <p:cNvSpPr>
                  <a:spLocks noChangeArrowheads="1"/>
                </p:cNvSpPr>
                <p:nvPr/>
              </p:nvSpPr>
              <p:spPr bwMode="auto">
                <a:xfrm>
                  <a:off x="315" y="603"/>
                  <a:ext cx="813" cy="1619"/>
                </a:xfrm>
                <a:prstGeom prst="chevron">
                  <a:avLst>
                    <a:gd name="adj" fmla="val 50000"/>
                  </a:avLst>
                </a:prstGeom>
                <a:solidFill>
                  <a:srgbClr val="4F81B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" name="Arrow: Chevron 27"/>
                <p:cNvSpPr>
                  <a:spLocks noChangeArrowheads="1"/>
                </p:cNvSpPr>
                <p:nvPr/>
              </p:nvSpPr>
              <p:spPr bwMode="auto">
                <a:xfrm>
                  <a:off x="1162" y="602"/>
                  <a:ext cx="883" cy="1619"/>
                </a:xfrm>
                <a:prstGeom prst="chevron">
                  <a:avLst>
                    <a:gd name="adj" fmla="val 50000"/>
                  </a:avLst>
                </a:prstGeom>
                <a:solidFill>
                  <a:srgbClr val="FFC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6" name="TextBox 56"/>
              <p:cNvSpPr txBox="1">
                <a:spLocks noChangeArrowheads="1"/>
              </p:cNvSpPr>
              <p:nvPr/>
            </p:nvSpPr>
            <p:spPr bwMode="auto">
              <a:xfrm>
                <a:off x="1635" y="771"/>
                <a:ext cx="6344" cy="1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4000" b="1" i="0" u="none" strike="noStrike" cap="none" normalizeH="0" baseline="0">
                    <a:ln>
                      <a:noFill/>
                    </a:ln>
                    <a:solidFill>
                      <a:srgbClr val="0000CC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Luyện tập 2.</a:t>
                </a:r>
                <a:endParaRPr kumimoji="0" lang="en-US" altLang="en-US" sz="4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ACE1A01F-64ED-41FE-A333-0CA9E0838A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5888067"/>
                  </p:ext>
                </p:extLst>
              </p:nvPr>
            </p:nvGraphicFramePr>
            <p:xfrm>
              <a:off x="5646947" y="1994375"/>
              <a:ext cx="17898853" cy="2293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898853">
                      <a:extLst>
                        <a:ext uri="{9D8B030D-6E8A-4147-A177-3AD203B41FA5}">
                          <a16:colId xmlns:a16="http://schemas.microsoft.com/office/drawing/2014/main" val="442423946"/>
                        </a:ext>
                      </a:extLst>
                    </a:gridCol>
                  </a:tblGrid>
                  <a:tr h="2293100">
                    <a:tc>
                      <a:txBody>
                        <a:bodyPr/>
                        <a:lstStyle/>
                        <a:p>
                          <a:pPr marL="247650" marR="0">
                            <a:lnSpc>
                              <a:spcPct val="13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4400" b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Giải các phương trình sau:</a:t>
                          </a:r>
                          <a:endParaRPr lang="en-GB" sz="4400" b="1">
                            <a:solidFill>
                              <a:schemeClr val="bg1"/>
                            </a:solidFill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  <a:p>
                          <a:pPr marL="207645" marR="0">
                            <a:lnSpc>
                              <a:spcPct val="13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3268345" algn="l"/>
                            </a:tabLst>
                          </a:pPr>
                          <a:r>
                            <a:rPr lang="en-US" sz="4400" b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4400" b="1" i="1" kern="1200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400" b="1" i="1" kern="12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𝟐</m:t>
                                  </m:r>
                                  <m:sSup>
                                    <m:sSupPr>
                                      <m:ctrlPr>
                                        <a:rPr lang="en-GB" sz="4400" b="1" i="1" kern="1200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4400" b="1" i="1" kern="1200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4400" b="1" i="1" kern="1200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sz="4400" b="1" i="1" kern="12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+</m:t>
                                  </m:r>
                                  <m:r>
                                    <a:rPr lang="en-US" sz="4400" b="1" i="1" kern="12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𝒙</m:t>
                                  </m:r>
                                  <m:r>
                                    <a:rPr lang="en-US" sz="4400" b="1" i="1" kern="12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+</m:t>
                                  </m:r>
                                  <m:r>
                                    <a:rPr lang="en-US" sz="4400" b="1" i="1" kern="12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𝟑</m:t>
                                  </m:r>
                                </m:e>
                              </m:rad>
                              <m:r>
                                <a:rPr lang="en-US" sz="4400" b="1" i="1" kern="12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lang="en-US" sz="4400" b="1" i="1" kern="12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𝟏</m:t>
                              </m:r>
                              <m:r>
                                <a:rPr lang="en-US" sz="4400" b="1" i="1" kern="12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lang="en-US" sz="4400" b="1" i="1" kern="12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4400" b="1">
                              <a:solidFill>
                                <a:schemeClr val="bg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      b)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44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4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sSup>
                                    <m:sSupPr>
                                      <m:ctrlPr>
                                        <a:rPr lang="en-GB" sz="4400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4400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4400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sz="44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44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𝟏𝟑</m:t>
                                  </m:r>
                                  <m:r>
                                    <a:rPr lang="en-US" sz="44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sz="44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44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𝟏𝟒</m:t>
                                  </m:r>
                                </m:e>
                              </m:rad>
                              <m:r>
                                <a:rPr lang="en-US" sz="4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4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4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4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oMath>
                          </a14:m>
                          <a:r>
                            <a:rPr lang="en-US" sz="4400" b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	</a:t>
                          </a:r>
                          <a:endParaRPr lang="en-GB" sz="4400" b="1">
                            <a:solidFill>
                              <a:schemeClr val="bg1"/>
                            </a:solidFill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1287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ACE1A01F-64ED-41FE-A333-0CA9E0838A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5888067"/>
                  </p:ext>
                </p:extLst>
              </p:nvPr>
            </p:nvGraphicFramePr>
            <p:xfrm>
              <a:off x="5646947" y="1994375"/>
              <a:ext cx="17898853" cy="2293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898853">
                      <a:extLst>
                        <a:ext uri="{9D8B030D-6E8A-4147-A177-3AD203B41FA5}">
                          <a16:colId xmlns:a16="http://schemas.microsoft.com/office/drawing/2014/main" val="442423946"/>
                        </a:ext>
                      </a:extLst>
                    </a:gridCol>
                  </a:tblGrid>
                  <a:tr h="22931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4" t="-1061" r="-136" b="-1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128718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57675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792200" y="3564193"/>
                <a:ext cx="10199914" cy="9464419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b="1"/>
                  <a:t>Thay lần lượt hai giá trị này của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/>
                  <a:t> vào phương trình đã cho, ta thấy không có giá trị nào thỏa mãn.</a:t>
                </a:r>
                <a:endParaRPr lang="en-GB" b="1"/>
              </a:p>
              <a:p>
                <a:pPr>
                  <a:lnSpc>
                    <a:spcPct val="130000"/>
                  </a:lnSpc>
                </a:pPr>
                <a:r>
                  <a:rPr lang="en-US" b="1"/>
                  <a:t>Vậy tập nghiệm của phương trình đã cho là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b="1"/>
                  <a:t>.</a:t>
                </a:r>
                <a:endParaRPr lang="en-GB" b="1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2200" y="3564193"/>
                <a:ext cx="10199914" cy="9464419"/>
              </a:xfrm>
              <a:prstGeom prst="rect">
                <a:avLst/>
              </a:prstGeom>
              <a:blipFill>
                <a:blip r:embed="rId3"/>
                <a:stretch>
                  <a:fillRect l="-2448" r="-358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0"/>
          <p:cNvSpPr>
            <a:spLocks noChangeArrowheads="1"/>
          </p:cNvSpPr>
          <p:nvPr/>
        </p:nvSpPr>
        <p:spPr bwMode="auto">
          <a:xfrm>
            <a:off x="0" y="0"/>
            <a:ext cx="2438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0" y="687388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530944"/>
                <a:ext cx="12573000" cy="9497668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74320" indent="0" algn="ctr">
                  <a:lnSpc>
                    <a:spcPct val="130000"/>
                  </a:lnSpc>
                  <a:buNone/>
                </a:pPr>
                <a:r>
                  <a:rPr lang="en-US" b="1">
                    <a:solidFill>
                      <a:srgbClr val="3333FF"/>
                    </a:solidFill>
                  </a:rPr>
                  <a:t>Lời giải</a:t>
                </a:r>
                <a:endParaRPr lang="en-US" b="1" dirty="0">
                  <a:solidFill>
                    <a:srgbClr val="3333FF"/>
                  </a:solidFill>
                </a:endParaRPr>
              </a:p>
              <a:p>
                <a:pPr lvl="0">
                  <a:lnSpc>
                    <a:spcPct val="130000"/>
                  </a:lnSpc>
                </a:pPr>
                <a:r>
                  <a:rPr lang="en-US" b="1"/>
                  <a:t>Bình phương hai vế của phương trình ta được:</a:t>
                </a:r>
              </a:p>
              <a:p>
                <a:pPr marL="0" lvl="0" indent="0">
                  <a:lnSpc>
                    <a:spcPct val="130000"/>
                  </a:lnSpc>
                  <a:buNone/>
                </a:pPr>
                <a:r>
                  <a:rPr lang="en-US" b="1"/>
                  <a:t>	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𝟏𝟑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𝟗</m:t>
                    </m:r>
                  </m:oMath>
                </a14:m>
                <a:endParaRPr lang="en-GB" b="1"/>
              </a:p>
              <a:p>
                <a:pPr>
                  <a:lnSpc>
                    <a:spcPct val="130000"/>
                  </a:lnSpc>
                </a:pPr>
                <a:r>
                  <a:rPr lang="en-US" b="1"/>
                  <a:t>Sau khi thu gọn ta được: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b="1"/>
                  <a:t>	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b="1"/>
              </a:p>
              <a:p>
                <a:pPr>
                  <a:lnSpc>
                    <a:spcPct val="130000"/>
                  </a:lnSpc>
                </a:pPr>
                <a:r>
                  <a:rPr lang="en-US" b="1"/>
                  <a:t>Từ đó tìm được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/>
                  <a:t> hoặc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b="1"/>
                  <a:t>.</a:t>
                </a:r>
                <a:endParaRPr lang="en-GB" b="1"/>
              </a:p>
              <a:p>
                <a:pPr marL="274320" indent="0">
                  <a:lnSpc>
                    <a:spcPct val="130000"/>
                  </a:lnSpc>
                  <a:buNone/>
                </a:pPr>
                <a:endParaRPr lang="en-US" b="1" dirty="0"/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530944"/>
                <a:ext cx="12573000" cy="9497668"/>
              </a:xfrm>
              <a:prstGeom prst="rect">
                <a:avLst/>
              </a:prstGeom>
              <a:blipFill>
                <a:blip r:embed="rId4"/>
                <a:stretch>
                  <a:fillRect l="-1986" r="-193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le 1">
                <a:extLst>
                  <a:ext uri="{FF2B5EF4-FFF2-40B4-BE49-F238E27FC236}">
                    <a16:creationId xmlns:a16="http://schemas.microsoft.com/office/drawing/2014/main" id="{51770834-9AF9-4900-97ED-39FE4C9B69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769807"/>
                <a:ext cx="23164800" cy="150679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b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sSup>
                          <m:sSupPr>
                            <m:ctrlPr>
                              <a:rPr lang="en-GB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𝟏𝟑</m:t>
                        </m:r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𝟏𝟒</m:t>
                        </m:r>
                      </m:e>
                    </m:rad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GB" b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itle 1">
                <a:extLst>
                  <a:ext uri="{FF2B5EF4-FFF2-40B4-BE49-F238E27FC236}">
                    <a16:creationId xmlns:a16="http://schemas.microsoft.com/office/drawing/2014/main" id="{51770834-9AF9-4900-97ED-39FE4C9B6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69807"/>
                <a:ext cx="23164800" cy="1506793"/>
              </a:xfrm>
              <a:prstGeom prst="rect">
                <a:avLst/>
              </a:prstGeom>
              <a:blipFill>
                <a:blip r:embed="rId5"/>
                <a:stretch>
                  <a:fillRect l="-1394" b="-16000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0206588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17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457200" y="1747073"/>
            <a:ext cx="23545800" cy="11664127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 algn="just">
              <a:lnSpc>
                <a:spcPct val="13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indent="0" algn="just">
              <a:lnSpc>
                <a:spcPct val="130000"/>
              </a:lnSpc>
              <a:buNone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bờ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km.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chèo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thuyền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gần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bờ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bến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Bính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8288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trặc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vẫn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nằm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bờ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bến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Bính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9,25 km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dọc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bờ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bến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Bính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kéo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gặp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bến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Bính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lúc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chờ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gặp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rằng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km/h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km/h.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rằng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bờ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bến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Bính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thẳng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chèo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thuyền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bờ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thẳng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82880" indent="0" algn="just">
              <a:lnSpc>
                <a:spcPct val="13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17" name="Group 57"/>
          <p:cNvGrpSpPr>
            <a:grpSpLocks/>
          </p:cNvGrpSpPr>
          <p:nvPr/>
        </p:nvGrpSpPr>
        <p:grpSpPr bwMode="auto">
          <a:xfrm>
            <a:off x="838200" y="1747074"/>
            <a:ext cx="4572000" cy="1060174"/>
            <a:chOff x="224" y="592"/>
            <a:chExt cx="8505" cy="1600"/>
          </a:xfrm>
        </p:grpSpPr>
        <p:grpSp>
          <p:nvGrpSpPr>
            <p:cNvPr id="18" name="Group 24"/>
            <p:cNvGrpSpPr>
              <a:grpSpLocks/>
            </p:cNvGrpSpPr>
            <p:nvPr/>
          </p:nvGrpSpPr>
          <p:grpSpPr bwMode="auto">
            <a:xfrm>
              <a:off x="224" y="592"/>
              <a:ext cx="8505" cy="1599"/>
              <a:chOff x="315" y="602"/>
              <a:chExt cx="11966" cy="1978"/>
            </a:xfrm>
          </p:grpSpPr>
          <p:sp>
            <p:nvSpPr>
              <p:cNvPr id="20" name="Arrow: Pentagon 25"/>
              <p:cNvSpPr>
                <a:spLocks noChangeArrowheads="1"/>
              </p:cNvSpPr>
              <p:nvPr/>
            </p:nvSpPr>
            <p:spPr bwMode="auto">
              <a:xfrm>
                <a:off x="2045" y="620"/>
                <a:ext cx="10237" cy="1961"/>
              </a:xfrm>
              <a:prstGeom prst="homePlate">
                <a:avLst>
                  <a:gd name="adj" fmla="val 50004"/>
                </a:avLst>
              </a:prstGeom>
              <a:solidFill>
                <a:srgbClr val="FCFFEF"/>
              </a:solidFill>
              <a:ln w="25400">
                <a:solidFill>
                  <a:srgbClr val="F2DCDB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0000CC"/>
                    </a:solidFill>
                    <a:effectLst/>
                    <a:latin typeface="Arial" pitchFamily="34" charset="0"/>
                    <a:ea typeface="Calibri" pitchFamily="34" charset="0"/>
                    <a:cs typeface="Times New Roman" pitchFamily="18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1" name="Arrow: Chevron 26"/>
              <p:cNvSpPr>
                <a:spLocks noChangeArrowheads="1"/>
              </p:cNvSpPr>
              <p:nvPr/>
            </p:nvSpPr>
            <p:spPr bwMode="auto">
              <a:xfrm>
                <a:off x="315" y="603"/>
                <a:ext cx="1627" cy="1961"/>
              </a:xfrm>
              <a:prstGeom prst="chevron">
                <a:avLst>
                  <a:gd name="adj" fmla="val 50000"/>
                </a:avLst>
              </a:prstGeom>
              <a:solidFill>
                <a:srgbClr val="4F81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Arrow: Chevron 27"/>
              <p:cNvSpPr>
                <a:spLocks noChangeArrowheads="1"/>
              </p:cNvSpPr>
              <p:nvPr/>
            </p:nvSpPr>
            <p:spPr bwMode="auto">
              <a:xfrm>
                <a:off x="1162" y="602"/>
                <a:ext cx="1768" cy="1961"/>
              </a:xfrm>
              <a:prstGeom prst="chevron">
                <a:avLst>
                  <a:gd name="adj" fmla="val 50000"/>
                </a:avLst>
              </a:pr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9" name="TextBox 56"/>
            <p:cNvSpPr txBox="1">
              <a:spLocks noChangeArrowheads="1"/>
            </p:cNvSpPr>
            <p:nvPr/>
          </p:nvSpPr>
          <p:spPr bwMode="auto">
            <a:xfrm>
              <a:off x="2386" y="1032"/>
              <a:ext cx="4966" cy="1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4000" b="1" dirty="0" err="1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Vận</a:t>
              </a:r>
              <a:r>
                <a:rPr lang="en-US" altLang="en-US" sz="4000" b="1" dirty="0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altLang="en-US" sz="4000" b="1" dirty="0" err="1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dụng</a:t>
              </a:r>
              <a:r>
                <a:rPr kumimoji="0" lang="en-US" altLang="en-US" sz="4000" b="1" i="0" u="none" strike="noStrike" cap="none" normalizeH="0" baseline="0" dirty="0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  <a:endPara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9497366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752599"/>
                <a:ext cx="11414758" cy="11201399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lang="en-US"/>
                  <a:t>		</a:t>
                </a:r>
                <a:endParaRPr lang="en-GB" b="1"/>
              </a:p>
              <a:p>
                <a:pPr marL="182880" indent="0" algn="just">
                  <a:lnSpc>
                    <a:spcPct val="130000"/>
                  </a:lnSpc>
                  <a:buNone/>
                </a:pPr>
                <a:r>
                  <a:rPr lang="en-US" b="1"/>
                  <a:t>Trạm hải đăng ở vị trí A; bến Bính ở B và thôn Hoành ở C. </a:t>
                </a:r>
              </a:p>
              <a:p>
                <a:pPr marL="182880" indent="0" algn="just">
                  <a:lnSpc>
                    <a:spcPct val="130000"/>
                  </a:lnSpc>
                  <a:buNone/>
                </a:pPr>
                <a:r>
                  <a:rPr lang="en-US" b="1"/>
                  <a:t>Giả sử bác Việt chèo thuyền cập bến ở vị trí M và ta đặt </a:t>
                </a:r>
                <a:r>
                  <a:rPr lang="en-US" b="1" i="1"/>
                  <a:t>BM =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i="1"/>
                  <a:t> (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i="1"/>
                  <a:t> &gt; 0).</a:t>
                </a:r>
              </a:p>
              <a:p>
                <a:pPr marL="182880" indent="0" algn="just">
                  <a:lnSpc>
                    <a:spcPct val="130000"/>
                  </a:lnSpc>
                  <a:buNone/>
                </a:pPr>
                <a:r>
                  <a:rPr lang="en-US" b="1" i="1"/>
                  <a:t> </a:t>
                </a:r>
                <a:r>
                  <a:rPr lang="en-US" b="1"/>
                  <a:t>Để hai người không phải chờ nhau thì thời gian chèo thuyền bằng thời gian kéo xe nên ta có phương trình:</a:t>
                </a:r>
              </a:p>
              <a:p>
                <a:pPr marL="182880" indent="0" algn="just">
                  <a:lnSpc>
                    <a:spcPct val="130000"/>
                  </a:lnSpc>
                  <a:buNone/>
                </a:pPr>
                <a:r>
                  <a:rPr lang="en-US" b="1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𝟏𝟔</m:t>
                            </m:r>
                          </m:e>
                        </m:rad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𝟐𝟓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  <m:r>
                      <m:rPr>
                        <m:nor/>
                      </m:rPr>
                      <a:rPr lang="en-US" b="1"/>
                      <m:t>   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b="1"/>
                  <a:t> </a:t>
                </a:r>
              </a:p>
              <a:p>
                <a:pPr marL="182880" indent="0" algn="just">
                  <a:lnSpc>
                    <a:spcPct val="130000"/>
                  </a:lnSpc>
                  <a:buNone/>
                </a:pPr>
                <a:endParaRPr lang="en-US" b="1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52599"/>
                <a:ext cx="11414758" cy="11201399"/>
              </a:xfrm>
              <a:prstGeom prst="rect">
                <a:avLst/>
              </a:prstGeom>
              <a:blipFill>
                <a:blip r:embed="rId3"/>
                <a:stretch>
                  <a:fillRect l="-800" r="-234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17" name="Group 57"/>
          <p:cNvGrpSpPr>
            <a:grpSpLocks/>
          </p:cNvGrpSpPr>
          <p:nvPr/>
        </p:nvGrpSpPr>
        <p:grpSpPr bwMode="auto">
          <a:xfrm>
            <a:off x="838200" y="1752600"/>
            <a:ext cx="3886065" cy="921026"/>
            <a:chOff x="224" y="592"/>
            <a:chExt cx="7229" cy="1390"/>
          </a:xfrm>
        </p:grpSpPr>
        <p:grpSp>
          <p:nvGrpSpPr>
            <p:cNvPr id="18" name="Group 24"/>
            <p:cNvGrpSpPr>
              <a:grpSpLocks/>
            </p:cNvGrpSpPr>
            <p:nvPr/>
          </p:nvGrpSpPr>
          <p:grpSpPr bwMode="auto">
            <a:xfrm>
              <a:off x="224" y="592"/>
              <a:ext cx="7128" cy="1275"/>
              <a:chOff x="315" y="602"/>
              <a:chExt cx="10029" cy="1577"/>
            </a:xfrm>
          </p:grpSpPr>
          <p:sp>
            <p:nvSpPr>
              <p:cNvPr id="20" name="Arrow: Pentagon 25"/>
              <p:cNvSpPr>
                <a:spLocks noChangeArrowheads="1"/>
              </p:cNvSpPr>
              <p:nvPr/>
            </p:nvSpPr>
            <p:spPr bwMode="auto">
              <a:xfrm>
                <a:off x="2045" y="620"/>
                <a:ext cx="8299" cy="1559"/>
              </a:xfrm>
              <a:prstGeom prst="homePlate">
                <a:avLst>
                  <a:gd name="adj" fmla="val 50004"/>
                </a:avLst>
              </a:prstGeom>
              <a:solidFill>
                <a:srgbClr val="FCFFEF"/>
              </a:solidFill>
              <a:ln w="25400">
                <a:solidFill>
                  <a:srgbClr val="F2DCDB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0000CC"/>
                    </a:solidFill>
                    <a:effectLst/>
                    <a:latin typeface="Arial" pitchFamily="34" charset="0"/>
                    <a:ea typeface="Calibri" pitchFamily="34" charset="0"/>
                    <a:cs typeface="Times New Roman" pitchFamily="18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1" name="Arrow: Chevron 26"/>
              <p:cNvSpPr>
                <a:spLocks noChangeArrowheads="1"/>
              </p:cNvSpPr>
              <p:nvPr/>
            </p:nvSpPr>
            <p:spPr bwMode="auto">
              <a:xfrm>
                <a:off x="315" y="603"/>
                <a:ext cx="1532" cy="1576"/>
              </a:xfrm>
              <a:prstGeom prst="chevron">
                <a:avLst>
                  <a:gd name="adj" fmla="val 50000"/>
                </a:avLst>
              </a:prstGeom>
              <a:solidFill>
                <a:srgbClr val="4F81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Arrow: Chevron 27"/>
              <p:cNvSpPr>
                <a:spLocks noChangeArrowheads="1"/>
              </p:cNvSpPr>
              <p:nvPr/>
            </p:nvSpPr>
            <p:spPr bwMode="auto">
              <a:xfrm>
                <a:off x="1162" y="602"/>
                <a:ext cx="1627" cy="1577"/>
              </a:xfrm>
              <a:prstGeom prst="chevron">
                <a:avLst>
                  <a:gd name="adj" fmla="val 50000"/>
                </a:avLst>
              </a:pr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9" name="TextBox 56"/>
            <p:cNvSpPr txBox="1">
              <a:spLocks noChangeArrowheads="1"/>
            </p:cNvSpPr>
            <p:nvPr/>
          </p:nvSpPr>
          <p:spPr bwMode="auto">
            <a:xfrm>
              <a:off x="2487" y="822"/>
              <a:ext cx="4966" cy="1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4000" b="1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Lời giải</a:t>
              </a:r>
              <a:endPara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BBA37A7-0B16-4FF5-B7E6-A1B34B950515}"/>
              </a:ext>
            </a:extLst>
          </p:cNvPr>
          <p:cNvSpPr txBox="1">
            <a:spLocks/>
          </p:cNvSpPr>
          <p:nvPr/>
        </p:nvSpPr>
        <p:spPr>
          <a:xfrm>
            <a:off x="12513345" y="1752599"/>
            <a:ext cx="11414758" cy="11201401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 indent="0" algn="just">
              <a:lnSpc>
                <a:spcPct val="130000"/>
              </a:lnSpc>
              <a:buNone/>
            </a:pPr>
            <a:r>
              <a:rPr lang="en-US" b="1"/>
              <a:t>Ta mô hình hóa bài toán như hình vẽ bên dưới:</a:t>
            </a:r>
            <a:endParaRPr lang="en-US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7B6E1A9-DCC6-43A2-B881-13B0CDC159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1863" y="4403204"/>
            <a:ext cx="10241280" cy="740779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8485794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1752599"/>
                <a:ext cx="12804500" cy="11430001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74320" indent="0">
                  <a:lnSpc>
                    <a:spcPct val="130000"/>
                  </a:lnSpc>
                  <a:buNone/>
                </a:pPr>
                <a:endParaRPr lang="en-US" b="1"/>
              </a:p>
              <a:p>
                <a:pPr marL="274320" indent="0">
                  <a:lnSpc>
                    <a:spcPct val="100000"/>
                  </a:lnSpc>
                  <a:buNone/>
                </a:pPr>
                <a:r>
                  <a:rPr lang="en-US" b="1"/>
                  <a:t>Giải phương trình này sẽ tìm đươc vị trí hai </a:t>
                </a:r>
              </a:p>
              <a:p>
                <a:pPr marL="274320" indent="0">
                  <a:lnSpc>
                    <a:spcPct val="100000"/>
                  </a:lnSpc>
                  <a:buNone/>
                </a:pPr>
                <a:r>
                  <a:rPr lang="en-US" b="1"/>
                  <a:t>người dự định gặp nhau: </a:t>
                </a:r>
              </a:p>
              <a:p>
                <a:pPr marL="274320" indent="0">
                  <a:lnSpc>
                    <a:spcPct val="130000"/>
                  </a:lnSpc>
                  <a:buNone/>
                </a:pPr>
                <a:r>
                  <a:rPr lang="en-US" b="1"/>
                  <a:t>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</m:t>
                    </m:r>
                    <m:rad>
                      <m:radPr>
                        <m:degHide m:val="on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𝟏𝟔</m:t>
                        </m:r>
                      </m:e>
                    </m:ra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𝟑𝟕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b="1" i="1">
                  <a:latin typeface="Cambria Math" panose="02040503050406030204" pitchFamily="18" charset="0"/>
                </a:endParaRPr>
              </a:p>
              <a:p>
                <a:pPr marL="27432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𝟐𝟓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𝟏𝟔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𝟏𝟑𝟔𝟗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𝟐𝟗𝟔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𝟏𝟔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i="1">
                  <a:latin typeface="Cambria Math" panose="02040503050406030204" pitchFamily="18" charset="0"/>
                </a:endParaRPr>
              </a:p>
              <a:p>
                <a:pPr marL="27432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𝟗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𝟐𝟗𝟔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𝟗𝟔𝟗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i="1">
                  <a:latin typeface="Cambria Math" panose="02040503050406030204" pitchFamily="18" charset="0"/>
                </a:endParaRPr>
              </a:p>
              <a:p>
                <a:pPr marL="27432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>
                          <a:latin typeface="Cambria Math" panose="02040503050406030204" pitchFamily="18" charset="0"/>
                        </a:rPr>
                        <m:t>⇔</m:t>
                      </m:r>
                      <m:d>
                        <m:dPr>
                          <m:begChr m:val="["/>
                          <m:endChr m:val="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m:rPr>
                                  <m:nor/>
                                </m:rPr>
                                <a:rPr lang="en-US" b="1"/>
                                <m:t>           </m:t>
                              </m:r>
                            </m:e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𝟑𝟐𝟑</m:t>
                                  </m:r>
                                </m:num>
                                <m:den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𝟗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𝒍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b="1"/>
                                <m:t>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b="1" i="1">
                  <a:latin typeface="Cambria Math" panose="02040503050406030204" pitchFamily="18" charset="0"/>
                </a:endParaRPr>
              </a:p>
              <a:p>
                <a:pPr marL="274320" indent="0">
                  <a:lnSpc>
                    <a:spcPct val="130000"/>
                  </a:lnSpc>
                  <a:buNone/>
                </a:pPr>
                <a:r>
                  <a:rPr lang="en-US" b="1"/>
                  <a:t>Vậy vị trí hai người hẹn gặp cách bến Bính 3 km. </a:t>
                </a:r>
              </a:p>
              <a:p>
                <a:pPr marL="274320" indent="0">
                  <a:lnSpc>
                    <a:spcPct val="130000"/>
                  </a:lnSpc>
                  <a:buNone/>
                </a:pPr>
                <a:r>
                  <a:rPr lang="en-US" b="1" i="1">
                    <a:latin typeface="Cambria Math" panose="02040503050406030204" pitchFamily="18" charset="0"/>
                  </a:rPr>
                  <a:t/>
                </a:r>
                <a:br>
                  <a:rPr lang="en-US" b="1" i="1">
                    <a:latin typeface="Cambria Math" panose="02040503050406030204" pitchFamily="18" charset="0"/>
                  </a:rPr>
                </a:br>
                <a:r>
                  <a:rPr lang="en-US" b="1" i="1">
                    <a:latin typeface="Cambria Math" panose="02040503050406030204" pitchFamily="18" charset="0"/>
                  </a:rPr>
                  <a:t/>
                </a:r>
                <a:br>
                  <a:rPr lang="en-US" b="1" i="1">
                    <a:latin typeface="Cambria Math" panose="02040503050406030204" pitchFamily="18" charset="0"/>
                  </a:rPr>
                </a:br>
                <a:r>
                  <a:rPr lang="en-US" b="1" i="1">
                    <a:latin typeface="Cambria Math" panose="02040503050406030204" pitchFamily="18" charset="0"/>
                  </a:rPr>
                  <a:t/>
                </a:r>
                <a:br>
                  <a:rPr lang="en-US" b="1" i="1">
                    <a:latin typeface="Cambria Math" panose="02040503050406030204" pitchFamily="18" charset="0"/>
                  </a:rPr>
                </a:br>
                <a:endParaRPr lang="en-US" b="1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752599"/>
                <a:ext cx="12804500" cy="11430001"/>
              </a:xfrm>
              <a:prstGeom prst="rect">
                <a:avLst/>
              </a:prstGeom>
              <a:blipFill>
                <a:blip r:embed="rId3"/>
                <a:stretch>
                  <a:fillRect r="-1997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17" name="Group 57"/>
          <p:cNvGrpSpPr>
            <a:grpSpLocks/>
          </p:cNvGrpSpPr>
          <p:nvPr/>
        </p:nvGrpSpPr>
        <p:grpSpPr bwMode="auto">
          <a:xfrm>
            <a:off x="838200" y="1752600"/>
            <a:ext cx="3886065" cy="921026"/>
            <a:chOff x="224" y="592"/>
            <a:chExt cx="7229" cy="1390"/>
          </a:xfrm>
        </p:grpSpPr>
        <p:grpSp>
          <p:nvGrpSpPr>
            <p:cNvPr id="18" name="Group 24"/>
            <p:cNvGrpSpPr>
              <a:grpSpLocks/>
            </p:cNvGrpSpPr>
            <p:nvPr/>
          </p:nvGrpSpPr>
          <p:grpSpPr bwMode="auto">
            <a:xfrm>
              <a:off x="224" y="592"/>
              <a:ext cx="7128" cy="1275"/>
              <a:chOff x="315" y="602"/>
              <a:chExt cx="10029" cy="1577"/>
            </a:xfrm>
          </p:grpSpPr>
          <p:sp>
            <p:nvSpPr>
              <p:cNvPr id="20" name="Arrow: Pentagon 25"/>
              <p:cNvSpPr>
                <a:spLocks noChangeArrowheads="1"/>
              </p:cNvSpPr>
              <p:nvPr/>
            </p:nvSpPr>
            <p:spPr bwMode="auto">
              <a:xfrm>
                <a:off x="2045" y="620"/>
                <a:ext cx="8299" cy="1559"/>
              </a:xfrm>
              <a:prstGeom prst="homePlate">
                <a:avLst>
                  <a:gd name="adj" fmla="val 50004"/>
                </a:avLst>
              </a:prstGeom>
              <a:solidFill>
                <a:srgbClr val="FCFFEF"/>
              </a:solidFill>
              <a:ln w="25400">
                <a:solidFill>
                  <a:srgbClr val="F2DCDB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0000CC"/>
                    </a:solidFill>
                    <a:effectLst/>
                    <a:latin typeface="Arial" pitchFamily="34" charset="0"/>
                    <a:ea typeface="Calibri" pitchFamily="34" charset="0"/>
                    <a:cs typeface="Times New Roman" pitchFamily="18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1" name="Arrow: Chevron 26"/>
              <p:cNvSpPr>
                <a:spLocks noChangeArrowheads="1"/>
              </p:cNvSpPr>
              <p:nvPr/>
            </p:nvSpPr>
            <p:spPr bwMode="auto">
              <a:xfrm>
                <a:off x="315" y="603"/>
                <a:ext cx="1532" cy="1576"/>
              </a:xfrm>
              <a:prstGeom prst="chevron">
                <a:avLst>
                  <a:gd name="adj" fmla="val 50000"/>
                </a:avLst>
              </a:prstGeom>
              <a:solidFill>
                <a:srgbClr val="4F81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Arrow: Chevron 27"/>
              <p:cNvSpPr>
                <a:spLocks noChangeArrowheads="1"/>
              </p:cNvSpPr>
              <p:nvPr/>
            </p:nvSpPr>
            <p:spPr bwMode="auto">
              <a:xfrm>
                <a:off x="1162" y="602"/>
                <a:ext cx="1627" cy="1577"/>
              </a:xfrm>
              <a:prstGeom prst="chevron">
                <a:avLst>
                  <a:gd name="adj" fmla="val 50000"/>
                </a:avLst>
              </a:pr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9" name="TextBox 56"/>
            <p:cNvSpPr txBox="1">
              <a:spLocks noChangeArrowheads="1"/>
            </p:cNvSpPr>
            <p:nvPr/>
          </p:nvSpPr>
          <p:spPr bwMode="auto">
            <a:xfrm>
              <a:off x="2487" y="822"/>
              <a:ext cx="4966" cy="1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4000" b="1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Lời giải</a:t>
              </a:r>
              <a:endPara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BBA37A7-0B16-4FF5-B7E6-A1B34B950515}"/>
              </a:ext>
            </a:extLst>
          </p:cNvPr>
          <p:cNvSpPr txBox="1">
            <a:spLocks/>
          </p:cNvSpPr>
          <p:nvPr/>
        </p:nvSpPr>
        <p:spPr>
          <a:xfrm>
            <a:off x="13966312" y="1828799"/>
            <a:ext cx="9961790" cy="11353799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 indent="0" algn="just">
              <a:lnSpc>
                <a:spcPct val="130000"/>
              </a:lnSpc>
              <a:buNone/>
            </a:pPr>
            <a:endParaRPr lang="en-US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7B6E1A9-DCC6-43A2-B881-13B0CDC159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21032" y="2175013"/>
            <a:ext cx="9024767" cy="643558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3128660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2264061"/>
            <a:ext cx="23088600" cy="3041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endParaRPr lang="en-GB"/>
          </a:p>
          <a:p>
            <a:r>
              <a:rPr lang="en-US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5540468"/>
                <a:ext cx="23088600" cy="779453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b="1">
                    <a:solidFill>
                      <a:srgbClr val="0000FF"/>
                    </a:solidFill>
                  </a:rPr>
                  <a:t>Lời giải</a:t>
                </a:r>
              </a:p>
              <a:p>
                <a:pPr marL="274320" indent="0">
                  <a:buNone/>
                </a:pPr>
                <a:r>
                  <a:rPr lang="en-US" b="1"/>
                  <a:t>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  <m:sSup>
                          <m:sSup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ra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  <m:sSup>
                          <m:sSup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</m:oMath>
                </a14:m>
                <a:endParaRPr lang="en-GB" b="1"/>
              </a:p>
              <a:p>
                <a:pPr marL="274320" indent="0">
                  <a:buNone/>
                </a:pPr>
                <a:r>
                  <a:rPr lang="en-US" b="1"/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GB" b="1"/>
              </a:p>
              <a:p>
                <a:pPr marL="274320" indent="0">
                  <a:buNone/>
                </a:pPr>
                <a:r>
                  <a:rPr lang="en-US" b="1"/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GB" b="1"/>
              </a:p>
              <a:p>
                <a:pPr marL="274320" indent="0">
                  <a:buNone/>
                </a:pPr>
                <a:r>
                  <a:rPr lang="en-US" b="1"/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["/>
                        <m:endChr m:val="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b="1"/>
                  <a:t>.</a:t>
                </a:r>
                <a:endParaRPr lang="en-GB" b="1"/>
              </a:p>
              <a:p>
                <a:pPr marL="274320" indent="0">
                  <a:buNone/>
                </a:pPr>
                <a:r>
                  <a:rPr lang="en-US" b="1"/>
                  <a:t>Thay lần lượt hai giá trị này của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/>
                  <a:t> vào phương trình đã cho, ta thấy cả hai đều thỏa mãn.</a:t>
                </a:r>
                <a:endParaRPr lang="en-GB" b="1"/>
              </a:p>
              <a:p>
                <a:pPr marL="274320" indent="0">
                  <a:buNone/>
                </a:pPr>
                <a:r>
                  <a:rPr lang="en-US" b="1"/>
                  <a:t>Vậy tập nghiệm của phương trình đã cho là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b="1"/>
                  <a:t>.</a:t>
                </a:r>
                <a:endParaRPr lang="en-GB" b="1"/>
              </a:p>
              <a:p>
                <a:pPr marL="0" indent="0" algn="ctr">
                  <a:buNone/>
                </a:pPr>
                <a:endParaRPr lang="en-GB" b="1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540468"/>
                <a:ext cx="23088600" cy="7794532"/>
              </a:xfrm>
              <a:prstGeom prst="rect">
                <a:avLst/>
              </a:prstGeom>
              <a:blipFill>
                <a:blip r:embed="rId3"/>
                <a:stretch>
                  <a:fillRect t="-2576" r="-23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54E2F751-CA7E-42E0-A15C-5F325A8F58C7}"/>
              </a:ext>
            </a:extLst>
          </p:cNvPr>
          <p:cNvGrpSpPr/>
          <p:nvPr/>
        </p:nvGrpSpPr>
        <p:grpSpPr>
          <a:xfrm>
            <a:off x="838200" y="2364492"/>
            <a:ext cx="4279533" cy="818280"/>
            <a:chOff x="22440" y="53427"/>
            <a:chExt cx="994085" cy="53502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30F7589-7DB1-4264-945E-D657C24EDFB2}"/>
                </a:ext>
              </a:extLst>
            </p:cNvPr>
            <p:cNvGrpSpPr/>
            <p:nvPr/>
          </p:nvGrpSpPr>
          <p:grpSpPr>
            <a:xfrm>
              <a:off x="22440" y="59287"/>
              <a:ext cx="850471" cy="529169"/>
              <a:chOff x="31572" y="60276"/>
              <a:chExt cx="1196628" cy="654872"/>
            </a:xfrm>
          </p:grpSpPr>
          <p:sp>
            <p:nvSpPr>
              <p:cNvPr id="16" name="Arrow: Pentagon 15">
                <a:extLst>
                  <a:ext uri="{FF2B5EF4-FFF2-40B4-BE49-F238E27FC236}">
                    <a16:creationId xmlns:a16="http://schemas.microsoft.com/office/drawing/2014/main" id="{EEF1C59D-C865-4C9A-9F33-BC37CB2713DD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653106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GB" sz="1000" b="1" kern="1200">
                    <a:solidFill>
                      <a:srgbClr val="0000CC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GB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Arrow: Chevron 16">
                <a:extLst>
                  <a:ext uri="{FF2B5EF4-FFF2-40B4-BE49-F238E27FC236}">
                    <a16:creationId xmlns:a16="http://schemas.microsoft.com/office/drawing/2014/main" id="{92608ED6-A01B-4689-88D8-42E18377B48C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" name="Arrow: Chevron 17">
                <a:extLst>
                  <a:ext uri="{FF2B5EF4-FFF2-40B4-BE49-F238E27FC236}">
                    <a16:creationId xmlns:a16="http://schemas.microsoft.com/office/drawing/2014/main" id="{97739EA9-969F-4FB5-BA4F-77E9A6A48ABF}"/>
                  </a:ext>
                </a:extLst>
              </p:cNvPr>
              <p:cNvSpPr/>
              <p:nvPr/>
            </p:nvSpPr>
            <p:spPr>
              <a:xfrm>
                <a:off x="116273" y="60276"/>
                <a:ext cx="162630" cy="320624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5" name="TextBox 56">
              <a:extLst>
                <a:ext uri="{FF2B5EF4-FFF2-40B4-BE49-F238E27FC236}">
                  <a16:creationId xmlns:a16="http://schemas.microsoft.com/office/drawing/2014/main" id="{6F095F61-5750-4314-A011-A2870BA3DCF8}"/>
                </a:ext>
              </a:extLst>
            </p:cNvPr>
            <p:cNvSpPr txBox="1"/>
            <p:nvPr/>
          </p:nvSpPr>
          <p:spPr>
            <a:xfrm>
              <a:off x="214453" y="53427"/>
              <a:ext cx="802072" cy="51842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4800" b="1" kern="1200">
                  <a:solidFill>
                    <a:srgbClr val="0000CC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Bài  6.21</a:t>
              </a:r>
              <a:endParaRPr lang="en-GB" sz="48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126B6194-8F13-4703-8D08-C2AB170D36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9918110"/>
                  </p:ext>
                </p:extLst>
              </p:nvPr>
            </p:nvGraphicFramePr>
            <p:xfrm>
              <a:off x="4466819" y="2499136"/>
              <a:ext cx="19078982" cy="27995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078982">
                      <a:extLst>
                        <a:ext uri="{9D8B030D-6E8A-4147-A177-3AD203B41FA5}">
                          <a16:colId xmlns:a16="http://schemas.microsoft.com/office/drawing/2014/main" val="442423946"/>
                        </a:ext>
                      </a:extLst>
                    </a:gridCol>
                  </a:tblGrid>
                  <a:tr h="2359375">
                    <a:tc>
                      <a:txBody>
                        <a:bodyPr/>
                        <a:lstStyle/>
                        <a:p>
                          <a:pPr marL="19050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4400" b="1"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Giải các phương trình sau:</a:t>
                          </a:r>
                          <a:endParaRPr lang="en-GB" sz="4400" b="1">
                            <a:solidFill>
                              <a:schemeClr val="bg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207645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3268345" algn="l"/>
                            </a:tabLst>
                          </a:pPr>
                          <a:r>
                            <a:rPr lang="en-US" sz="4400" b="1"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44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𝟑</m:t>
                                  </m:r>
                                  <m:sSup>
                                    <m:sSupPr>
                                      <m:ctrlPr>
                                        <a:rPr lang="en-GB" sz="4400" b="1" i="1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4400" b="1" i="1" smtClean="0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4400" b="1" i="1" smtClean="0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𝟒</m:t>
                                  </m:r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e>
                              </m:rad>
                              <m:r>
                                <a:rPr lang="en-US" sz="4400" b="1" i="1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44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  <m:sSup>
                                    <m:sSupPr>
                                      <m:ctrlPr>
                                        <a:rPr lang="en-GB" sz="4400" b="1" i="1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4400" b="1" i="1" smtClean="0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4400" b="1" i="1" smtClean="0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𝟒</m:t>
                                  </m:r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𝟑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4400" b="1"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	b)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44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GB" sz="4400" b="1" i="1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4400" b="1" i="1" smtClean="0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4400" b="1" i="1" smtClean="0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𝟑</m:t>
                                  </m:r>
                                </m:e>
                              </m:rad>
                              <m:r>
                                <a:rPr lang="en-US" sz="4400" b="1" i="1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44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  <m:sSup>
                                    <m:sSupPr>
                                      <m:ctrlPr>
                                        <a:rPr lang="en-GB" sz="4400" b="1" i="1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4400" b="1" i="1" smtClean="0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4400" b="1" i="1" smtClean="0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𝟓</m:t>
                                  </m:r>
                                </m:e>
                              </m:rad>
                            </m:oMath>
                          </a14:m>
                          <a:endParaRPr lang="en-GB" sz="4400" b="1">
                            <a:solidFill>
                              <a:schemeClr val="bg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207645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268345" algn="l"/>
                            </a:tabLst>
                          </a:pPr>
                          <a:r>
                            <a:rPr lang="en-US" sz="4400" b="1"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c)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44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  <m:sSup>
                                    <m:sSupPr>
                                      <m:ctrlPr>
                                        <a:rPr lang="en-GB" sz="4400" b="1" i="1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4400" b="1" i="1" smtClean="0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4400" b="1" i="1" smtClean="0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𝟑</m:t>
                                  </m:r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𝟑</m:t>
                                  </m:r>
                                </m:e>
                              </m:rad>
                              <m:r>
                                <a:rPr lang="en-US" sz="4400" b="1" i="1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44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GB" sz="4400" b="1" i="1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4400" b="1" i="1" smtClean="0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4400" b="1" i="1" smtClean="0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4400" b="1"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	d)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44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GB" sz="4400" b="1" i="1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4400" b="1" i="1" smtClean="0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4400" b="1" i="1" smtClean="0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𝟓</m:t>
                                  </m:r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𝟒</m:t>
                                  </m:r>
                                </m:e>
                              </m:rad>
                              <m:r>
                                <a:rPr lang="en-US" sz="4400" b="1" i="1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44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  <m:sSup>
                                    <m:sSupPr>
                                      <m:ctrlPr>
                                        <a:rPr lang="en-GB" sz="4400" b="1" i="1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4400" b="1" i="1" smtClean="0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4400" b="1" i="1" smtClean="0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𝟒</m:t>
                                  </m:r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44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e>
                              </m:rad>
                            </m:oMath>
                          </a14:m>
                          <a:endParaRPr lang="en-GB" sz="4400" b="1">
                            <a:solidFill>
                              <a:schemeClr val="bg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1287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126B6194-8F13-4703-8D08-C2AB170D36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9918110"/>
                  </p:ext>
                </p:extLst>
              </p:nvPr>
            </p:nvGraphicFramePr>
            <p:xfrm>
              <a:off x="4466819" y="2499136"/>
              <a:ext cx="19078982" cy="2707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078982">
                      <a:extLst>
                        <a:ext uri="{9D8B030D-6E8A-4147-A177-3AD203B41FA5}">
                          <a16:colId xmlns:a16="http://schemas.microsoft.com/office/drawing/2014/main" val="442423946"/>
                        </a:ext>
                      </a:extLst>
                    </a:gridCol>
                  </a:tblGrid>
                  <a:tr h="27070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2" t="-4484" r="-128" b="-10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128718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0F2A2EDF-4FA9-46BE-BB4E-5F7B4F42E18D}"/>
              </a:ext>
            </a:extLst>
          </p:cNvPr>
          <p:cNvSpPr txBox="1"/>
          <p:nvPr/>
        </p:nvSpPr>
        <p:spPr>
          <a:xfrm>
            <a:off x="2955289" y="1456606"/>
            <a:ext cx="12719956" cy="829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800" b="1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</a:t>
            </a:r>
            <a:r>
              <a:rPr lang="en-US" sz="4800" b="1" kern="120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 TẬP</a:t>
            </a:r>
            <a:endParaRPr lang="en-GB" sz="480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3237528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9971" y="1905000"/>
                <a:ext cx="22838229" cy="140425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marL="274320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b="1"/>
                  <a:t>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  <m:sSup>
                          <m:sSup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rad>
                  </m:oMath>
                </a14:m>
                <a:endParaRPr lang="en-GB" b="1"/>
              </a:p>
              <a:p>
                <a:pPr marL="274320">
                  <a:spcBef>
                    <a:spcPts val="1200"/>
                  </a:spcBef>
                </a:pPr>
                <a:endParaRPr lang="en-GB" b="1"/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971" y="1905000"/>
                <a:ext cx="22838229" cy="1404257"/>
              </a:xfrm>
              <a:prstGeom prst="rect">
                <a:avLst/>
              </a:prstGeom>
              <a:blipFill>
                <a:blip r:embed="rId3"/>
                <a:stretch>
                  <a:fillRect l="-187" b="-27586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9971" y="3657600"/>
                <a:ext cx="22838229" cy="96012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74320" indent="855663">
                  <a:lnSpc>
                    <a:spcPct val="100000"/>
                  </a:lnSpc>
                  <a:buNone/>
                </a:pPr>
                <a:r>
                  <a:rPr lang="en-US" b="1"/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GB" b="1"/>
              </a:p>
              <a:p>
                <a:pPr marL="274320" indent="855663">
                  <a:lnSpc>
                    <a:spcPct val="100000"/>
                  </a:lnSpc>
                  <a:buNone/>
                </a:pPr>
                <a:r>
                  <a:rPr lang="en-US" b="1"/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b="1"/>
              </a:p>
              <a:p>
                <a:pPr marL="274320" indent="0">
                  <a:lnSpc>
                    <a:spcPct val="100000"/>
                  </a:lnSpc>
                  <a:buNone/>
                </a:pPr>
                <a:r>
                  <a:rPr lang="en-US" b="1"/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["/>
                        <m:endChr m:val="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GB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num>
                              <m:den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</m:e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eqArr>
                      </m:e>
                    </m:d>
                  </m:oMath>
                </a14:m>
                <a:endParaRPr lang="en-GB" b="1"/>
              </a:p>
              <a:p>
                <a:pPr marL="274320" indent="0">
                  <a:lnSpc>
                    <a:spcPct val="100000"/>
                  </a:lnSpc>
                  <a:buNone/>
                </a:pPr>
                <a:r>
                  <a:rPr lang="en-US" b="1"/>
                  <a:t>Thay lần lượt hai giá trị này của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/>
                  <a:t> vào phương trình đã cho, ta thấy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b="1"/>
                  <a:t>  thỏa mãn.</a:t>
                </a:r>
                <a:endParaRPr lang="en-GB" b="1"/>
              </a:p>
              <a:p>
                <a:pPr marL="274320" indent="0">
                  <a:lnSpc>
                    <a:spcPct val="100000"/>
                  </a:lnSpc>
                  <a:buNone/>
                </a:pPr>
                <a:r>
                  <a:rPr lang="en-US" b="1"/>
                  <a:t>Vậy tập nghiệm của phương trình đã cho là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num>
                          <m:den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den>
                        </m:f>
                      </m:e>
                    </m:d>
                  </m:oMath>
                </a14:m>
                <a:r>
                  <a:rPr lang="en-US" b="1"/>
                  <a:t>.</a:t>
                </a:r>
                <a:endParaRPr lang="en-GB" b="1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971" y="3657600"/>
                <a:ext cx="22838229" cy="9601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2535532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769807"/>
                <a:ext cx="22707600" cy="150679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marL="274320">
                  <a:lnSpc>
                    <a:spcPct val="150000"/>
                  </a:lnSpc>
                </a:pPr>
                <a:r>
                  <a:rPr lang="en-US" b="1"/>
                  <a:t>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  <m:sSup>
                          <m:sSup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rad>
                  </m:oMath>
                </a14:m>
                <a:endParaRPr lang="en-GB" b="1"/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69807"/>
                <a:ext cx="22707600" cy="1506793"/>
              </a:xfrm>
              <a:prstGeom prst="rect">
                <a:avLst/>
              </a:prstGeom>
              <a:blipFill>
                <a:blip r:embed="rId3"/>
                <a:stretch>
                  <a:fillRect l="-215" b="-18800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505200"/>
                <a:ext cx="22707600" cy="97536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74320" indent="0">
                  <a:lnSpc>
                    <a:spcPct val="130000"/>
                  </a:lnSpc>
                  <a:spcBef>
                    <a:spcPts val="0"/>
                  </a:spcBef>
                  <a:buNone/>
                </a:pPr>
                <a:r>
                  <a:rPr lang="en-US" b="1"/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GB" b="1"/>
              </a:p>
              <a:p>
                <a:pPr marL="274320" indent="0">
                  <a:lnSpc>
                    <a:spcPct val="130000"/>
                  </a:lnSpc>
                  <a:spcBef>
                    <a:spcPts val="0"/>
                  </a:spcBef>
                  <a:buNone/>
                </a:pPr>
                <a:r>
                  <a:rPr lang="en-US" b="1"/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b="1"/>
              </a:p>
              <a:p>
                <a:pPr marL="274320" indent="0">
                  <a:lnSpc>
                    <a:spcPct val="130000"/>
                  </a:lnSpc>
                  <a:spcBef>
                    <a:spcPts val="0"/>
                  </a:spcBef>
                  <a:buNone/>
                </a:pPr>
                <a:r>
                  <a:rPr lang="en-US" b="1"/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["/>
                        <m:endChr m:val="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GB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</m:e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b="1"/>
                  <a:t>.</a:t>
                </a:r>
                <a:endParaRPr lang="en-GB" b="1"/>
              </a:p>
              <a:p>
                <a:pPr marL="274320" indent="0">
                  <a:lnSpc>
                    <a:spcPct val="130000"/>
                  </a:lnSpc>
                  <a:spcBef>
                    <a:spcPts val="0"/>
                  </a:spcBef>
                  <a:buNone/>
                </a:pPr>
                <a:r>
                  <a:rPr lang="en-US" b="1"/>
                  <a:t>Thay lần lượt hai giá trị này của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/>
                  <a:t> vào phương trình đã cho, ta thấy cả hai giá trị này không thỏa mãn.</a:t>
                </a:r>
                <a:endParaRPr lang="en-GB" b="1"/>
              </a:p>
              <a:p>
                <a:pPr marL="274320" indent="0">
                  <a:lnSpc>
                    <a:spcPct val="130000"/>
                  </a:lnSpc>
                  <a:spcBef>
                    <a:spcPts val="0"/>
                  </a:spcBef>
                  <a:buNone/>
                </a:pPr>
                <a:r>
                  <a:rPr lang="en-US" b="1"/>
                  <a:t>Vậy tập nghiệm của phương trình đã cho là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b="1"/>
                  <a:t>.</a:t>
                </a:r>
                <a:endParaRPr lang="en-GB" b="1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505200"/>
                <a:ext cx="22707600" cy="9753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0004377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769807"/>
                <a:ext cx="22820671" cy="150679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marL="274320">
                  <a:lnSpc>
                    <a:spcPct val="150000"/>
                  </a:lnSpc>
                </a:pPr>
                <a:r>
                  <a:rPr lang="en-US" b="1"/>
                  <a:t>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ra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  <m:sSup>
                          <m:sSup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endParaRPr lang="en-GB" b="1"/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69807"/>
                <a:ext cx="22820671" cy="1506793"/>
              </a:xfrm>
              <a:prstGeom prst="rect">
                <a:avLst/>
              </a:prstGeom>
              <a:blipFill>
                <a:blip r:embed="rId3"/>
                <a:stretch>
                  <a:fillRect l="-214" b="-18800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7529" y="3886200"/>
                <a:ext cx="22820671" cy="83820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74320" indent="0">
                  <a:lnSpc>
                    <a:spcPct val="100000"/>
                  </a:lnSpc>
                  <a:buNone/>
                </a:pPr>
                <a:r>
                  <a:rPr lang="en-US" b="1"/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⇒−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GB" b="1"/>
              </a:p>
              <a:p>
                <a:pPr marL="274320" indent="0">
                  <a:lnSpc>
                    <a:spcPct val="100000"/>
                  </a:lnSpc>
                  <a:buNone/>
                </a:pPr>
                <a:r>
                  <a:rPr lang="en-US" b="1"/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b="1"/>
              </a:p>
              <a:p>
                <a:pPr marL="274320" indent="0">
                  <a:lnSpc>
                    <a:spcPct val="100000"/>
                  </a:lnSpc>
                  <a:buNone/>
                </a:pPr>
                <a:r>
                  <a:rPr lang="en-US" b="1"/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["/>
                        <m:endChr m:val="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b="1"/>
                  <a:t>.</a:t>
                </a:r>
                <a:endParaRPr lang="en-GB" b="1"/>
              </a:p>
              <a:p>
                <a:pPr marL="274320" indent="0">
                  <a:lnSpc>
                    <a:spcPct val="100000"/>
                  </a:lnSpc>
                  <a:buNone/>
                </a:pPr>
                <a:r>
                  <a:rPr lang="en-US" b="1"/>
                  <a:t>Thay lần lượt hai giá trị này của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/>
                  <a:t> vào phương trình đã cho, ta thấy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b="1"/>
                  <a:t> thỏa mãn.</a:t>
                </a:r>
                <a:endParaRPr lang="en-GB" b="1"/>
              </a:p>
              <a:p>
                <a:pPr marL="274320" indent="0">
                  <a:lnSpc>
                    <a:spcPct val="100000"/>
                  </a:lnSpc>
                  <a:buNone/>
                </a:pPr>
                <a:r>
                  <a:rPr lang="en-US" b="1"/>
                  <a:t>Vậy tập nghiệm của phương trình đã cho là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b="1"/>
                  <a:t>.</a:t>
                </a:r>
                <a:endParaRPr lang="en-GB" b="1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29" y="3886200"/>
                <a:ext cx="22820671" cy="8382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0700967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879600"/>
            <a:ext cx="22816457" cy="3041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endParaRPr lang="en-GB"/>
          </a:p>
          <a:p>
            <a:r>
              <a:rPr lang="en-US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5105400"/>
                <a:ext cx="23545800" cy="82296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74320" indent="0" algn="ctr">
                  <a:buNone/>
                </a:pPr>
                <a:r>
                  <a:rPr lang="en-US" b="1">
                    <a:solidFill>
                      <a:srgbClr val="0000FF"/>
                    </a:solidFill>
                  </a:rPr>
                  <a:t>Lời giải</a:t>
                </a:r>
              </a:p>
              <a:p>
                <a:pPr marL="274320" indent="0">
                  <a:buNone/>
                </a:pPr>
                <a:r>
                  <a:rPr lang="en-US" b="1"/>
                  <a:t>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𝟔</m:t>
                        </m:r>
                        <m:sSup>
                          <m:sSup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𝟏𝟑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𝟏𝟑</m:t>
                        </m:r>
                      </m:e>
                    </m:ra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GB" b="1"/>
              </a:p>
              <a:p>
                <a:pPr marL="274320" indent="0">
                  <a:buNone/>
                </a:pPr>
                <a:r>
                  <a:rPr lang="en-US" b="1"/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𝟔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𝟏𝟑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𝟏𝟑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𝟒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𝟏𝟔</m:t>
                    </m:r>
                  </m:oMath>
                </a14:m>
                <a:endParaRPr lang="en-GB" b="1"/>
              </a:p>
              <a:p>
                <a:pPr marL="274320" indent="0">
                  <a:buNone/>
                </a:pPr>
                <a:r>
                  <a:rPr lang="en-US" b="1"/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["/>
                        <m:endChr m:val="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GB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𝟑𝟑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den>
                            </m:f>
                          </m:e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GB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𝟑𝟑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den>
                            </m:f>
                          </m:e>
                        </m:eqArr>
                      </m:e>
                    </m:d>
                  </m:oMath>
                </a14:m>
                <a:endParaRPr lang="en-GB" b="1"/>
              </a:p>
              <a:p>
                <a:pPr marL="274320" indent="0">
                  <a:buNone/>
                </a:pPr>
                <a:r>
                  <a:rPr lang="en-US" b="1"/>
                  <a:t>Thay lần lượt hai giá trị này của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/>
                  <a:t> vào phương trình đã cho, ta thấy cả hai đều thỏa mãn.</a:t>
                </a:r>
                <a:endParaRPr lang="en-GB" b="1"/>
              </a:p>
              <a:p>
                <a:pPr marL="274320" indent="0">
                  <a:buNone/>
                </a:pPr>
                <a:r>
                  <a:rPr lang="en-US" b="1"/>
                  <a:t>Vậy tập nghiệm của phương trình đã cho là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±</m:t>
                            </m:r>
                            <m:rad>
                              <m:radPr>
                                <m:degHide m:val="on"/>
                                <m:ctrlPr>
                                  <a:rPr lang="en-GB" b="1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𝟑𝟒</m:t>
                                </m:r>
                              </m:e>
                            </m:rad>
                          </m:num>
                          <m:den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den>
                        </m:f>
                      </m:e>
                    </m:d>
                  </m:oMath>
                </a14:m>
                <a:r>
                  <a:rPr lang="en-GB" b="1"/>
                  <a:t>.</a:t>
                </a:r>
              </a:p>
              <a:p>
                <a:pPr marL="274320" indent="0" algn="ctr">
                  <a:buNone/>
                </a:pPr>
                <a:endParaRPr lang="en-GB" b="1">
                  <a:solidFill>
                    <a:srgbClr val="0000FF"/>
                  </a:solidFill>
                </a:endParaRPr>
              </a:p>
              <a:p>
                <a:pPr marL="274320" indent="0">
                  <a:buNone/>
                </a:pPr>
                <a:endParaRPr lang="en-US" b="1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105400"/>
                <a:ext cx="23545800" cy="8229600"/>
              </a:xfrm>
              <a:prstGeom prst="rect">
                <a:avLst/>
              </a:prstGeom>
              <a:blipFill>
                <a:blip r:embed="rId3"/>
                <a:stretch>
                  <a:fillRect t="-244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54E2F751-CA7E-42E0-A15C-5F325A8F58C7}"/>
              </a:ext>
            </a:extLst>
          </p:cNvPr>
          <p:cNvGrpSpPr/>
          <p:nvPr/>
        </p:nvGrpSpPr>
        <p:grpSpPr>
          <a:xfrm>
            <a:off x="838200" y="1970840"/>
            <a:ext cx="4279533" cy="818280"/>
            <a:chOff x="22440" y="53427"/>
            <a:chExt cx="994085" cy="53502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30F7589-7DB1-4264-945E-D657C24EDFB2}"/>
                </a:ext>
              </a:extLst>
            </p:cNvPr>
            <p:cNvGrpSpPr/>
            <p:nvPr/>
          </p:nvGrpSpPr>
          <p:grpSpPr>
            <a:xfrm>
              <a:off x="22440" y="59287"/>
              <a:ext cx="850471" cy="529169"/>
              <a:chOff x="31572" y="60276"/>
              <a:chExt cx="1196628" cy="654872"/>
            </a:xfrm>
          </p:grpSpPr>
          <p:sp>
            <p:nvSpPr>
              <p:cNvPr id="16" name="Arrow: Pentagon 15">
                <a:extLst>
                  <a:ext uri="{FF2B5EF4-FFF2-40B4-BE49-F238E27FC236}">
                    <a16:creationId xmlns:a16="http://schemas.microsoft.com/office/drawing/2014/main" id="{EEF1C59D-C865-4C9A-9F33-BC37CB2713DD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653106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GB" sz="1000" b="1" kern="1200">
                    <a:solidFill>
                      <a:srgbClr val="0000CC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GB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Arrow: Chevron 16">
                <a:extLst>
                  <a:ext uri="{FF2B5EF4-FFF2-40B4-BE49-F238E27FC236}">
                    <a16:creationId xmlns:a16="http://schemas.microsoft.com/office/drawing/2014/main" id="{92608ED6-A01B-4689-88D8-42E18377B48C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" name="Arrow: Chevron 17">
                <a:extLst>
                  <a:ext uri="{FF2B5EF4-FFF2-40B4-BE49-F238E27FC236}">
                    <a16:creationId xmlns:a16="http://schemas.microsoft.com/office/drawing/2014/main" id="{97739EA9-969F-4FB5-BA4F-77E9A6A48ABF}"/>
                  </a:ext>
                </a:extLst>
              </p:cNvPr>
              <p:cNvSpPr/>
              <p:nvPr/>
            </p:nvSpPr>
            <p:spPr>
              <a:xfrm>
                <a:off x="116273" y="60276"/>
                <a:ext cx="162630" cy="320624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5" name="TextBox 56">
              <a:extLst>
                <a:ext uri="{FF2B5EF4-FFF2-40B4-BE49-F238E27FC236}">
                  <a16:creationId xmlns:a16="http://schemas.microsoft.com/office/drawing/2014/main" id="{6F095F61-5750-4314-A011-A2870BA3DCF8}"/>
                </a:ext>
              </a:extLst>
            </p:cNvPr>
            <p:cNvSpPr txBox="1"/>
            <p:nvPr/>
          </p:nvSpPr>
          <p:spPr>
            <a:xfrm>
              <a:off x="214453" y="53427"/>
              <a:ext cx="802072" cy="51842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4800" b="1" kern="1200">
                  <a:solidFill>
                    <a:srgbClr val="0000CC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Bài  6.21</a:t>
              </a:r>
              <a:endParaRPr lang="en-GB" sz="48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126B6194-8F13-4703-8D08-C2AB170D36F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82900" y="1979802"/>
              <a:ext cx="19471757" cy="30271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471757">
                      <a:extLst>
                        <a:ext uri="{9D8B030D-6E8A-4147-A177-3AD203B41FA5}">
                          <a16:colId xmlns:a16="http://schemas.microsoft.com/office/drawing/2014/main" val="442423946"/>
                        </a:ext>
                      </a:extLst>
                    </a:gridCol>
                  </a:tblGrid>
                  <a:tr h="2359375">
                    <a:tc>
                      <a:txBody>
                        <a:bodyPr/>
                        <a:lstStyle/>
                        <a:p>
                          <a:pPr marL="24765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4800" b="1">
                              <a:effectLst/>
                            </a:rPr>
                            <a:t>Giải các phương trình sau:</a:t>
                          </a:r>
                          <a:endParaRPr lang="en-GB" sz="4800" b="1">
                            <a:effectLst/>
                          </a:endParaRPr>
                        </a:p>
                        <a:p>
                          <a:pPr marL="207645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3268345" algn="l"/>
                            </a:tabLst>
                          </a:pPr>
                          <a:r>
                            <a:rPr lang="en-US" sz="4800" b="1">
                              <a:effectLst/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48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800" b="1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𝟔</m:t>
                                  </m:r>
                                  <m:sSup>
                                    <m:sSupPr>
                                      <m:ctrlPr>
                                        <a:rPr lang="en-GB" sz="4800" b="1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4800" b="1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4800" b="1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sz="4800" b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4800" b="1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𝟏𝟑</m:t>
                                  </m:r>
                                  <m:r>
                                    <a:rPr lang="en-US" sz="4800" b="1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sz="4800" b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48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𝟏𝟑</m:t>
                                  </m:r>
                                </m:e>
                              </m:rad>
                              <m:r>
                                <a:rPr lang="en-US" sz="4800" b="1" smtClean="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48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48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4800" b="1" smtClean="0">
                                  <a:effectLst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oMath>
                          </a14:m>
                          <a:r>
                            <a:rPr lang="en-US" sz="4800" b="1">
                              <a:effectLst/>
                            </a:rPr>
                            <a:t>	b)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48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800" b="1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sSup>
                                    <m:sSupPr>
                                      <m:ctrlPr>
                                        <a:rPr lang="en-GB" sz="4800" b="1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4800" b="1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4800" b="1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sz="4800" b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4800" b="1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  <m:r>
                                    <a:rPr lang="en-US" sz="4800" b="1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sz="4800" b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48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</m:rad>
                              <m:r>
                                <a:rPr lang="en-US" sz="4800" b="1" smtClean="0">
                                  <a:effectLst/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sz="48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sz="4800" b="1" smtClean="0"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48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endParaRPr lang="en-GB" sz="4800" b="1">
                            <a:effectLst/>
                          </a:endParaRPr>
                        </a:p>
                        <a:p>
                          <a:pPr marL="207645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268345" algn="l"/>
                            </a:tabLst>
                          </a:pPr>
                          <a:r>
                            <a:rPr lang="en-US" sz="4800" b="1">
                              <a:effectLst/>
                            </a:rPr>
                            <a:t>c)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48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800" b="1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sSup>
                                    <m:sSupPr>
                                      <m:ctrlPr>
                                        <a:rPr lang="en-GB" sz="4800" b="1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4800" b="1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4800" b="1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sz="4800" b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4800" b="1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𝟏𝟕</m:t>
                                  </m:r>
                                  <m:r>
                                    <a:rPr lang="en-US" sz="4800" b="1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sz="4800" b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48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𝟐𝟑</m:t>
                                  </m:r>
                                </m:e>
                              </m:rad>
                              <m:r>
                                <a:rPr lang="en-US" sz="4800" b="1" smtClean="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48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4800" b="1" smtClean="0"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oMath>
                          </a14:m>
                          <a:r>
                            <a:rPr lang="en-US" sz="4800" b="1">
                              <a:effectLst/>
                            </a:rPr>
                            <a:t>	d)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48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800" b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GB" sz="4800" b="1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4800" b="1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4800" b="1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sz="4800" b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4800" b="1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US" sz="4800" b="1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sz="4800" b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48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e>
                              </m:rad>
                              <m:r>
                                <a:rPr lang="en-US" sz="4800" b="1" smtClean="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48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4800" b="1" smtClean="0"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oMath>
                          </a14:m>
                          <a:endParaRPr lang="en-GB" sz="4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1287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126B6194-8F13-4703-8D08-C2AB170D36F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82900" y="1979802"/>
              <a:ext cx="19471757" cy="29411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471757">
                      <a:extLst>
                        <a:ext uri="{9D8B030D-6E8A-4147-A177-3AD203B41FA5}">
                          <a16:colId xmlns:a16="http://schemas.microsoft.com/office/drawing/2014/main" val="442423946"/>
                        </a:ext>
                      </a:extLst>
                    </a:gridCol>
                  </a:tblGrid>
                  <a:tr h="29411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1" t="-3926" r="-125" b="-111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128718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6774756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769807"/>
                <a:ext cx="22936200" cy="150679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marL="274320">
                  <a:lnSpc>
                    <a:spcPct val="150000"/>
                  </a:lnSpc>
                </a:pPr>
                <a:r>
                  <a:rPr lang="en-US" b="1"/>
                  <a:t>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  <m:sSup>
                          <m:sSup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  <m:r>
                      <a:rPr lang="en-US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GB" b="1"/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69807"/>
                <a:ext cx="22936200" cy="1506793"/>
              </a:xfrm>
              <a:prstGeom prst="rect">
                <a:avLst/>
              </a:prstGeom>
              <a:blipFill>
                <a:blip r:embed="rId3"/>
                <a:stretch>
                  <a:fillRect l="-213" b="-18800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505200"/>
                <a:ext cx="22936200" cy="97536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74320" indent="0">
                  <a:lnSpc>
                    <a:spcPct val="100000"/>
                  </a:lnSpc>
                  <a:buNone/>
                </a:pPr>
                <a:r>
                  <a:rPr lang="en-US" b="1"/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GB" b="1"/>
              </a:p>
              <a:p>
                <a:pPr marL="274320" indent="0">
                  <a:lnSpc>
                    <a:spcPct val="100000"/>
                  </a:lnSpc>
                  <a:buNone/>
                </a:pPr>
                <a:r>
                  <a:rPr lang="en-US" b="1"/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b="1"/>
              </a:p>
              <a:p>
                <a:pPr marL="274320" indent="0">
                  <a:lnSpc>
                    <a:spcPct val="100000"/>
                  </a:lnSpc>
                  <a:buNone/>
                </a:pPr>
                <a:r>
                  <a:rPr lang="en-US" b="1"/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["/>
                        <m:endChr m:val="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eqArr>
                      </m:e>
                    </m:d>
                  </m:oMath>
                </a14:m>
                <a:endParaRPr lang="en-GB" b="1"/>
              </a:p>
              <a:p>
                <a:pPr marL="274320" indent="0">
                  <a:lnSpc>
                    <a:spcPct val="100000"/>
                  </a:lnSpc>
                  <a:buNone/>
                </a:pPr>
                <a:r>
                  <a:rPr lang="en-US" b="1"/>
                  <a:t>Thay lần lượt hai giá trị này của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/>
                  <a:t> vào phương trình đã cho, ta thấy cả hai giá trị này không thỏa mãn.</a:t>
                </a:r>
                <a:endParaRPr lang="en-GB" b="1"/>
              </a:p>
              <a:p>
                <a:pPr marL="274320" indent="0">
                  <a:lnSpc>
                    <a:spcPct val="100000"/>
                  </a:lnSpc>
                  <a:buNone/>
                </a:pPr>
                <a:r>
                  <a:rPr lang="en-US" b="1"/>
                  <a:t>Vậy tập nghiệm của phương trình là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GB" b="1"/>
                  <a:t>.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505200"/>
                <a:ext cx="22936200" cy="9753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9480078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769807"/>
                <a:ext cx="22936200" cy="150679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marL="274320">
                  <a:lnSpc>
                    <a:spcPct val="150000"/>
                  </a:lnSpc>
                </a:pPr>
                <a:r>
                  <a:rPr lang="en-US" b="1"/>
                  <a:t>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  <m:sSup>
                          <m:sSup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𝟏𝟕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𝟐𝟑</m:t>
                        </m:r>
                      </m:e>
                    </m:ra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GB" b="1"/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69807"/>
                <a:ext cx="22936200" cy="1506793"/>
              </a:xfrm>
              <a:prstGeom prst="rect">
                <a:avLst/>
              </a:prstGeom>
              <a:blipFill>
                <a:blip r:embed="rId3"/>
                <a:stretch>
                  <a:fillRect l="-213" b="-18800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581400"/>
                <a:ext cx="22936200" cy="96774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74320" indent="0">
                  <a:lnSpc>
                    <a:spcPct val="100000"/>
                  </a:lnSpc>
                  <a:buNone/>
                </a:pPr>
                <a:r>
                  <a:rPr lang="en-US" b="1"/>
                  <a:t>	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𝟑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𝟏𝟕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𝟐𝟑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𝟗</m:t>
                    </m:r>
                  </m:oMath>
                </a14:m>
                <a:endParaRPr lang="en-GB" b="1"/>
              </a:p>
              <a:p>
                <a:pPr marL="274320" indent="0">
                  <a:lnSpc>
                    <a:spcPct val="100000"/>
                  </a:lnSpc>
                  <a:buNone/>
                </a:pPr>
                <a:r>
                  <a:rPr lang="en-US" b="1"/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b="1"/>
              </a:p>
              <a:p>
                <a:pPr marL="27432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b="1"/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["/>
                        <m:endChr m:val="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GB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num>
                              <m:den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e>
                        </m:eqArr>
                      </m:e>
                    </m:d>
                  </m:oMath>
                </a14:m>
                <a:r>
                  <a:rPr lang="en-US" b="1"/>
                  <a:t>.</a:t>
                </a:r>
                <a:endParaRPr lang="en-GB" b="1"/>
              </a:p>
              <a:p>
                <a:pPr marL="274320" indent="0">
                  <a:lnSpc>
                    <a:spcPct val="100000"/>
                  </a:lnSpc>
                  <a:buNone/>
                </a:pPr>
                <a:r>
                  <a:rPr lang="en-US" b="1"/>
                  <a:t>Thay lần lượt hai giá trị này của x vào phương trình đã cho, ta thấy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𝟕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b="1"/>
                  <a:t> thỏa mãn.</a:t>
                </a:r>
                <a:endParaRPr lang="en-GB" b="1"/>
              </a:p>
              <a:p>
                <a:pPr marL="274320" indent="0">
                  <a:lnSpc>
                    <a:spcPct val="100000"/>
                  </a:lnSpc>
                  <a:buNone/>
                </a:pPr>
                <a:r>
                  <a:rPr lang="en-US" b="1"/>
                  <a:t>Vậy tập nghiệm của phương trình đã cho là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𝟕</m:t>
                            </m:r>
                          </m:num>
                          <m:den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r>
                  <a:rPr lang="en-GB" b="1"/>
                  <a:t>.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581400"/>
                <a:ext cx="22936200" cy="9677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0125585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769807"/>
                <a:ext cx="22820671" cy="150679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marL="274320">
                  <a:lnSpc>
                    <a:spcPct val="150000"/>
                  </a:lnSpc>
                </a:pPr>
                <a:r>
                  <a:rPr lang="en-US" b="1"/>
                  <a:t>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ra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GB" b="1"/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69807"/>
                <a:ext cx="22820671" cy="1506793"/>
              </a:xfrm>
              <a:prstGeom prst="rect">
                <a:avLst/>
              </a:prstGeom>
              <a:blipFill>
                <a:blip r:embed="rId3"/>
                <a:stretch>
                  <a:fillRect l="-214" b="-18800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7529" y="3886200"/>
                <a:ext cx="22820671" cy="90678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74320" indent="0">
                  <a:lnSpc>
                    <a:spcPct val="100000"/>
                  </a:lnSpc>
                  <a:buNone/>
                </a:pPr>
                <a:r>
                  <a:rPr lang="en-US" b="1"/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⇒−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GB" b="1"/>
              </a:p>
              <a:p>
                <a:pPr marL="274320" indent="0">
                  <a:lnSpc>
                    <a:spcPct val="100000"/>
                  </a:lnSpc>
                  <a:buNone/>
                </a:pPr>
                <a:r>
                  <a:rPr lang="en-US" b="1"/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b="1"/>
              </a:p>
              <a:p>
                <a:pPr marL="274320" indent="0">
                  <a:lnSpc>
                    <a:spcPct val="100000"/>
                  </a:lnSpc>
                  <a:buNone/>
                </a:pPr>
                <a:r>
                  <a:rPr lang="en-US" b="1"/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["/>
                        <m:endChr m:val="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eqArr>
                      </m:e>
                    </m:d>
                  </m:oMath>
                </a14:m>
                <a:endParaRPr lang="en-GB" b="1"/>
              </a:p>
              <a:p>
                <a:pPr marL="274320" indent="0">
                  <a:lnSpc>
                    <a:spcPct val="100000"/>
                  </a:lnSpc>
                  <a:buNone/>
                </a:pPr>
                <a:r>
                  <a:rPr lang="en-US" b="1"/>
                  <a:t>Thay lần lượt hai giá trị này của x vào phương trình đã cho, ta thấy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b="1"/>
                  <a:t> thỏa mãn.</a:t>
                </a:r>
                <a:endParaRPr lang="en-GB" b="1"/>
              </a:p>
              <a:p>
                <a:pPr marL="274320" indent="0">
                  <a:lnSpc>
                    <a:spcPct val="100000"/>
                  </a:lnSpc>
                  <a:buNone/>
                </a:pPr>
                <a:r>
                  <a:rPr lang="en-US" b="1"/>
                  <a:t>Vậy tập nghiệm của phương trình đã cho là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</m:oMath>
                </a14:m>
                <a:r>
                  <a:rPr lang="en-US" b="1"/>
                  <a:t>.</a:t>
                </a:r>
                <a:endParaRPr lang="en-GB" b="1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29" y="3886200"/>
                <a:ext cx="22820671" cy="9067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7973176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1000" y="6595237"/>
                <a:ext cx="11811000" cy="6739763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b="1">
                    <a:solidFill>
                      <a:srgbClr val="0000FF"/>
                    </a:solidFill>
                  </a:rPr>
                  <a:t>Lời giải</a:t>
                </a:r>
                <a:endParaRPr lang="en-GB"/>
              </a:p>
              <a:p>
                <a:pPr marL="0" indent="0" algn="ctr">
                  <a:buNone/>
                </a:pPr>
                <a:r>
                  <a:rPr lang="en-US" b="1" i="1"/>
                  <a:t>Hướng dẫn:</a:t>
                </a:r>
                <a:r>
                  <a:rPr lang="en-US" b="1"/>
                  <a:t> Sử dụng định lí Pytago để tìm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/>
                  <a:t>. </a:t>
                </a:r>
                <a:endParaRPr lang="en-GB" b="1"/>
              </a:p>
              <a:p>
                <a:r>
                  <a:rPr lang="en-US" b="1"/>
                  <a:t>Ta có: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𝑯𝑫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𝟐𝟓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b="1"/>
                  <a:t> . </a:t>
                </a:r>
              </a:p>
              <a:p>
                <a:pPr marL="0" indent="0">
                  <a:buNone/>
                </a:pPr>
                <a:r>
                  <a:rPr lang="en-US" b="1"/>
                  <a:t>Điều kiện: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𝟐𝟓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GB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eqAr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</m:t>
                    </m:r>
                    <m:r>
                      <m:rPr>
                        <m:nor/>
                      </m:rPr>
                      <a:rPr lang="en-US" b="1"/>
                      <m:t>  </m:t>
                    </m:r>
                    <m:d>
                      <m:d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d>
                  </m:oMath>
                </a14:m>
                <a:endParaRPr lang="en-GB" b="1"/>
              </a:p>
              <a:p>
                <a:r>
                  <a:rPr lang="en-US" b="1"/>
                  <a:t>Xét tam giác vuông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𝑩𝑯𝑪</m:t>
                    </m:r>
                  </m:oMath>
                </a14:m>
                <a:r>
                  <a:rPr lang="en-US" b="1"/>
                  <a:t>, ta có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𝑯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𝑯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𝑩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GB" b="1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6595237"/>
                <a:ext cx="11811000" cy="6739763"/>
              </a:xfrm>
              <a:prstGeom prst="rect">
                <a:avLst/>
              </a:prstGeom>
              <a:blipFill>
                <a:blip r:embed="rId3"/>
                <a:stretch>
                  <a:fillRect l="-2321" t="-2978" r="-216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DF6C40BF-EF5A-A650-7B2E-FF2CC163967D}"/>
              </a:ext>
            </a:extLst>
          </p:cNvPr>
          <p:cNvGrpSpPr/>
          <p:nvPr/>
        </p:nvGrpSpPr>
        <p:grpSpPr>
          <a:xfrm>
            <a:off x="381000" y="1879600"/>
            <a:ext cx="23524029" cy="4571800"/>
            <a:chOff x="381000" y="1879600"/>
            <a:chExt cx="23524029" cy="4571800"/>
          </a:xfrm>
        </p:grpSpPr>
        <p:sp>
          <p:nvSpPr>
            <p:cNvPr id="97" name="Title 1">
              <a:extLst>
                <a:ext uri="{FF2B5EF4-FFF2-40B4-BE49-F238E27FC236}">
                  <a16:creationId xmlns:a16="http://schemas.microsoft.com/office/drawing/2014/main" id="{D87ADF89-46F9-4713-9744-A644701231B8}"/>
                </a:ext>
              </a:extLst>
            </p:cNvPr>
            <p:cNvSpPr txBox="1">
              <a:spLocks/>
            </p:cNvSpPr>
            <p:nvPr/>
          </p:nvSpPr>
          <p:spPr>
            <a:xfrm>
              <a:off x="381000" y="1879600"/>
              <a:ext cx="23524029" cy="4571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txBody>
            <a:bodyPr/>
            <a:lstStyle>
              <a:lvl1pPr algn="l" defTabSz="18288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kern="1200">
                  <a:solidFill>
                    <a:schemeClr val="tx1"/>
                  </a:solidFill>
                  <a:latin typeface="Tomaho"/>
                  <a:ea typeface="+mj-ea"/>
                  <a:cs typeface="+mj-cs"/>
                </a:defRPr>
              </a:lvl1pPr>
            </a:lstStyle>
            <a:p>
              <a:endParaRPr lang="en-US"/>
            </a:p>
            <a:p>
              <a:endParaRPr lang="en-US"/>
            </a:p>
            <a:p>
              <a:endParaRPr lang="en-US"/>
            </a:p>
            <a:p>
              <a:endParaRPr lang="en-GB"/>
            </a:p>
            <a:p>
              <a:r>
                <a:rPr lang="en-US"/>
                <a:t> 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4E2F751-CA7E-42E0-A15C-5F325A8F58C7}"/>
                </a:ext>
              </a:extLst>
            </p:cNvPr>
            <p:cNvGrpSpPr/>
            <p:nvPr/>
          </p:nvGrpSpPr>
          <p:grpSpPr>
            <a:xfrm>
              <a:off x="838200" y="1970840"/>
              <a:ext cx="4279533" cy="818280"/>
              <a:chOff x="22440" y="53427"/>
              <a:chExt cx="994085" cy="535029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C30F7589-7DB1-4264-945E-D657C24EDFB2}"/>
                  </a:ext>
                </a:extLst>
              </p:cNvPr>
              <p:cNvGrpSpPr/>
              <p:nvPr/>
            </p:nvGrpSpPr>
            <p:grpSpPr>
              <a:xfrm>
                <a:off x="22440" y="59287"/>
                <a:ext cx="850471" cy="529169"/>
                <a:chOff x="31572" y="60276"/>
                <a:chExt cx="1196628" cy="654872"/>
              </a:xfrm>
            </p:grpSpPr>
            <p:sp>
              <p:nvSpPr>
                <p:cNvPr id="16" name="Arrow: Pentagon 15">
                  <a:extLst>
                    <a:ext uri="{FF2B5EF4-FFF2-40B4-BE49-F238E27FC236}">
                      <a16:creationId xmlns:a16="http://schemas.microsoft.com/office/drawing/2014/main" id="{EEF1C59D-C865-4C9A-9F33-BC37CB2713DD}"/>
                    </a:ext>
                  </a:extLst>
                </p:cNvPr>
                <p:cNvSpPr/>
                <p:nvPr/>
              </p:nvSpPr>
              <p:spPr>
                <a:xfrm>
                  <a:off x="204585" y="62042"/>
                  <a:ext cx="1023615" cy="653106"/>
                </a:xfrm>
                <a:prstGeom prst="homePlate">
                  <a:avLst/>
                </a:prstGeom>
                <a:solidFill>
                  <a:srgbClr val="FCFFEF"/>
                </a:solidFill>
                <a:ln w="12700" cap="flat" cmpd="sng" algn="ctr">
                  <a:solidFill>
                    <a:srgbClr val="ED7D31">
                      <a:lumMod val="20000"/>
                      <a:lumOff val="8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GB" sz="1000" b="1" kern="1200">
                      <a:solidFill>
                        <a:srgbClr val="0000CC"/>
                      </a:solidFill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:endParaRPr lang="en-GB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" name="Arrow: Chevron 16">
                  <a:extLst>
                    <a:ext uri="{FF2B5EF4-FFF2-40B4-BE49-F238E27FC236}">
                      <a16:creationId xmlns:a16="http://schemas.microsoft.com/office/drawing/2014/main" id="{92608ED6-A01B-4689-88D8-42E18377B48C}"/>
                    </a:ext>
                  </a:extLst>
                </p:cNvPr>
                <p:cNvSpPr/>
                <p:nvPr/>
              </p:nvSpPr>
              <p:spPr>
                <a:xfrm>
                  <a:off x="31572" y="60341"/>
                  <a:ext cx="162630" cy="196062"/>
                </a:xfrm>
                <a:prstGeom prst="chevron">
                  <a:avLst/>
                </a:prstGeom>
                <a:solidFill>
                  <a:srgbClr val="4472C4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8" name="Arrow: Chevron 17">
                  <a:extLst>
                    <a:ext uri="{FF2B5EF4-FFF2-40B4-BE49-F238E27FC236}">
                      <a16:creationId xmlns:a16="http://schemas.microsoft.com/office/drawing/2014/main" id="{97739EA9-969F-4FB5-BA4F-77E9A6A48ABF}"/>
                    </a:ext>
                  </a:extLst>
                </p:cNvPr>
                <p:cNvSpPr/>
                <p:nvPr/>
              </p:nvSpPr>
              <p:spPr>
                <a:xfrm>
                  <a:off x="116273" y="60276"/>
                  <a:ext cx="162630" cy="320624"/>
                </a:xfrm>
                <a:prstGeom prst="chevron">
                  <a:avLst/>
                </a:prstGeom>
                <a:solidFill>
                  <a:srgbClr val="FFC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sp>
            <p:nvSpPr>
              <p:cNvPr id="15" name="TextBox 56">
                <a:extLst>
                  <a:ext uri="{FF2B5EF4-FFF2-40B4-BE49-F238E27FC236}">
                    <a16:creationId xmlns:a16="http://schemas.microsoft.com/office/drawing/2014/main" id="{6F095F61-5750-4314-A011-A2870BA3DCF8}"/>
                  </a:ext>
                </a:extLst>
              </p:cNvPr>
              <p:cNvSpPr txBox="1"/>
              <p:nvPr/>
            </p:nvSpPr>
            <p:spPr>
              <a:xfrm>
                <a:off x="214453" y="53427"/>
                <a:ext cx="802072" cy="518422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4800" b="1" kern="1200">
                    <a:solidFill>
                      <a:srgbClr val="0000CC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Bài  6.22</a:t>
                </a:r>
                <a:endParaRPr lang="en-GB" sz="48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126B6194-8F13-4703-8D08-C2AB170D36F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59472" y="1970840"/>
              <a:ext cx="9639388" cy="4480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39388">
                      <a:extLst>
                        <a:ext uri="{9D8B030D-6E8A-4147-A177-3AD203B41FA5}">
                          <a16:colId xmlns:a16="http://schemas.microsoft.com/office/drawing/2014/main" val="442423946"/>
                        </a:ext>
                      </a:extLst>
                    </a:gridCol>
                  </a:tblGrid>
                  <a:tr h="3940382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4800" b="1" kern="120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Cho tứ giác </a:t>
                          </a:r>
                          <a14:m>
                            <m:oMath xmlns:m="http://schemas.openxmlformats.org/officeDocument/2006/math">
                              <m:r>
                                <a:rPr lang="en-US" sz="48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𝑨𝑩𝑪𝑫</m:t>
                              </m:r>
                            </m:oMath>
                          </a14:m>
                          <a:r>
                            <a:rPr lang="en-US" sz="4800" b="1" kern="120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có </a:t>
                          </a:r>
                          <a14:m>
                            <m:oMath xmlns:m="http://schemas.openxmlformats.org/officeDocument/2006/math">
                              <m:r>
                                <a:rPr lang="en-US" sz="48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𝑨𝑩</m:t>
                              </m:r>
                              <m:r>
                                <a:rPr lang="en-US" sz="48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⊥</m:t>
                              </m:r>
                              <m:r>
                                <a:rPr lang="en-US" sz="48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𝑪𝑫</m:t>
                              </m:r>
                              <m:r>
                                <a:rPr lang="en-US" sz="48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;</m:t>
                              </m:r>
                            </m:oMath>
                          </a14:m>
                          <a:r>
                            <a:rPr lang="en-US" sz="4800" b="1" kern="120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48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𝑨𝑩</m:t>
                              </m:r>
                              <m:r>
                                <a:rPr lang="en-US" sz="48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lang="en-US" sz="48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𝟐</m:t>
                              </m:r>
                              <m:r>
                                <a:rPr lang="en-US" sz="48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;</m:t>
                              </m:r>
                            </m:oMath>
                          </a14:m>
                          <a:r>
                            <a:rPr lang="en-US" sz="4800" b="1" kern="120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48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𝑩𝑪</m:t>
                              </m:r>
                              <m:r>
                                <a:rPr lang="en-US" sz="48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lang="en-US" sz="48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𝟏𝟑</m:t>
                              </m:r>
                              <m:r>
                                <a:rPr lang="en-US" sz="48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;</m:t>
                              </m:r>
                            </m:oMath>
                          </a14:m>
                          <a:r>
                            <a:rPr lang="en-US" sz="4800" b="1" kern="120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48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𝑪𝑫</m:t>
                              </m:r>
                              <m:r>
                                <a:rPr lang="en-US" sz="48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lang="en-US" sz="48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𝟖</m:t>
                              </m:r>
                              <m:r>
                                <a:rPr lang="en-US" sz="48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;</m:t>
                              </m:r>
                            </m:oMath>
                          </a14:m>
                          <a:r>
                            <a:rPr lang="en-US" sz="4800" b="1" kern="120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48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𝑫𝑨</m:t>
                              </m:r>
                              <m:r>
                                <a:rPr lang="en-US" sz="48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lang="en-US" sz="48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𝟓</m:t>
                              </m:r>
                              <m:r>
                                <a:rPr lang="en-US" sz="48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</m:oMath>
                          </a14:m>
                          <a:r>
                            <a:rPr lang="en-US" sz="4800" b="1" kern="120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Gọi </a:t>
                          </a:r>
                          <a14:m>
                            <m:oMath xmlns:m="http://schemas.openxmlformats.org/officeDocument/2006/math">
                              <m:r>
                                <a:rPr lang="en-US" sz="48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𝑯</m:t>
                              </m:r>
                            </m:oMath>
                          </a14:m>
                          <a:r>
                            <a:rPr lang="en-US" sz="4800" b="1" kern="120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là giao điểm của </a:t>
                          </a:r>
                          <a14:m>
                            <m:oMath xmlns:m="http://schemas.openxmlformats.org/officeDocument/2006/math">
                              <m:r>
                                <a:rPr lang="en-US" sz="48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𝑨𝑩</m:t>
                              </m:r>
                            </m:oMath>
                          </a14:m>
                          <a:r>
                            <a:rPr lang="en-US" sz="4800" b="1" kern="120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và </a:t>
                          </a:r>
                          <a14:m>
                            <m:oMath xmlns:m="http://schemas.openxmlformats.org/officeDocument/2006/math">
                              <m:r>
                                <a:rPr lang="en-US" sz="48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𝑪𝑫</m:t>
                              </m:r>
                            </m:oMath>
                          </a14:m>
                          <a:r>
                            <a:rPr lang="en-US" sz="4800" b="1" kern="120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và đặt </a:t>
                          </a:r>
                          <a14:m>
                            <m:oMath xmlns:m="http://schemas.openxmlformats.org/officeDocument/2006/math">
                              <m:r>
                                <a:rPr lang="en-US" sz="48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𝒙</m:t>
                              </m:r>
                              <m:r>
                                <a:rPr lang="en-US" sz="48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lang="en-US" sz="48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𝑨𝑯</m:t>
                              </m:r>
                            </m:oMath>
                          </a14:m>
                          <a:r>
                            <a:rPr lang="en-US" sz="4800" b="1" kern="120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. Hãy thiết lập một phuơng trình để tính độ dài </a:t>
                          </a:r>
                          <a14:m>
                            <m:oMath xmlns:m="http://schemas.openxmlformats.org/officeDocument/2006/math">
                              <m:r>
                                <a:rPr lang="en-US" sz="48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4800" b="1" kern="120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, từ đó tính diện tích tứ giác </a:t>
                          </a:r>
                          <a14:m>
                            <m:oMath xmlns:m="http://schemas.openxmlformats.org/officeDocument/2006/math">
                              <m:r>
                                <a:rPr lang="en-US" sz="48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𝑨𝑩𝑪𝑫</m:t>
                              </m:r>
                              <m:r>
                                <a:rPr lang="en-US" sz="48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</m:oMath>
                          </a14:m>
                          <a:endParaRPr lang="en-GB" sz="4800" b="1" kern="1200">
                            <a:solidFill>
                              <a:schemeClr val="lt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1287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126B6194-8F13-4703-8D08-C2AB170D36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5477234"/>
                  </p:ext>
                </p:extLst>
              </p:nvPr>
            </p:nvGraphicFramePr>
            <p:xfrm>
              <a:off x="4459472" y="1970840"/>
              <a:ext cx="9639388" cy="4480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39388">
                      <a:extLst>
                        <a:ext uri="{9D8B030D-6E8A-4147-A177-3AD203B41FA5}">
                          <a16:colId xmlns:a16="http://schemas.microsoft.com/office/drawing/2014/main" val="442423946"/>
                        </a:ext>
                      </a:extLst>
                    </a:gridCol>
                  </a:tblGrid>
                  <a:tr h="44805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3" t="-2989" r="-253" b="-72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128718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B7869B6F-A4D7-49B3-97FE-F5F74F3EFF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03108" y="1970840"/>
            <a:ext cx="9557852" cy="432676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6BE34774-A38E-4226-8482-AB7C6A692E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420600" y="6591301"/>
                <a:ext cx="11484429" cy="6743699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⇔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𝟐𝟓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rad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𝟖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GB" b="1">
                  <a:solidFill>
                    <a:srgbClr val="0000FF"/>
                  </a:solidFill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⇔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𝟏𝟔</m:t>
                      </m:r>
                      <m:rad>
                        <m:radPr>
                          <m:degHide m:val="on"/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𝟐𝟓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𝟔𝟒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𝟏𝟔𝟗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r>
                  <a:rPr lang="en-GB" b="1"/>
                  <a:t/>
                </a:r>
                <a:br>
                  <a:rPr lang="en-GB" b="1"/>
                </a:br>
                <a:endParaRPr lang="en-GB">
                  <a:solidFill>
                    <a:srgbClr val="0000FF"/>
                  </a:solidFill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𝟏𝟔</m:t>
                      </m:r>
                      <m:rad>
                        <m:radPr>
                          <m:degHide m:val="on"/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𝟐𝟓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𝟕𝟔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b="1" i="1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𝟒</m:t>
                      </m:r>
                      <m:rad>
                        <m:radPr>
                          <m:degHide m:val="on"/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𝟐𝟓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𝟏𝟗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m:rPr>
                          <m:nor/>
                        </m:rPr>
                        <a:rPr lang="en-US" b="1"/>
                        <m:t>     </m:t>
                      </m:r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r>
                  <a:rPr lang="en-US" b="1" i="1">
                    <a:latin typeface="Cambria Math" panose="02040503050406030204" pitchFamily="18" charset="0"/>
                  </a:rPr>
                  <a:t/>
                </a:r>
                <a:br>
                  <a:rPr lang="en-US" b="1" i="1">
                    <a:latin typeface="Cambria Math" panose="02040503050406030204" pitchFamily="18" charset="0"/>
                  </a:rPr>
                </a:br>
                <a:endParaRPr lang="en-US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6BE34774-A38E-4226-8482-AB7C6A692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20600" y="6591301"/>
                <a:ext cx="11484429" cy="67436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0592862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2509" y="1981200"/>
                <a:ext cx="123166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91440" indent="0">
                  <a:lnSpc>
                    <a:spcPct val="130000"/>
                  </a:lnSpc>
                  <a:buNone/>
                </a:pPr>
                <a:r>
                  <a:rPr lang="en-US" b="1"/>
                  <a:t>Bình phương hai vế của phương trình ta được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𝟏𝟔</m:t>
                    </m:r>
                    <m:d>
                      <m:d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𝟐𝟓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𝟑𝟔𝟏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𝟑𝟖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GB" b="1"/>
              </a:p>
              <a:p>
                <a:pPr marL="91440" indent="0">
                  <a:lnSpc>
                    <a:spcPct val="130000"/>
                  </a:lnSpc>
                  <a:buNone/>
                </a:pPr>
                <a:r>
                  <a:rPr lang="en-US" b="1"/>
                  <a:t>Sau khi thu gọn ta được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𝟏𝟕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𝟑𝟖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𝟑𝟗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b="1" i="1">
                  <a:latin typeface="Cambria Math" panose="02040503050406030204" pitchFamily="18" charset="0"/>
                </a:endParaRPr>
              </a:p>
              <a:p>
                <a:pPr marL="9144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⇔</m:t>
                      </m:r>
                      <m:d>
                        <m:dPr>
                          <m:begChr m:val="["/>
                          <m:endChr m:val=""/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𝟏𝟑</m:t>
                                  </m:r>
                                </m:num>
                                <m:den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𝟏𝟕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en-GB" b="1"/>
              </a:p>
              <a:p>
                <a:pPr marL="91440" indent="0">
                  <a:lnSpc>
                    <a:spcPct val="130000"/>
                  </a:lnSpc>
                  <a:buNone/>
                </a:pPr>
                <a:r>
                  <a:rPr lang="en-US" b="1"/>
                  <a:t>Thay lần lượt hai giá trị này của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/>
                  <a:t> vào phương trình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b="1"/>
                  <a:t>và kết hợp với điều kiện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d>
                  </m:oMath>
                </a14:m>
                <a:r>
                  <a:rPr lang="en-US" b="1"/>
                  <a:t>, ta thấy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b="1"/>
                  <a:t> thỏa mãn.</a:t>
                </a:r>
                <a:endParaRPr lang="en-GB" b="1"/>
              </a:p>
              <a:p>
                <a:pPr marL="91440" indent="0">
                  <a:lnSpc>
                    <a:spcPct val="130000"/>
                  </a:lnSpc>
                  <a:buNone/>
                </a:pPr>
                <a:r>
                  <a:rPr lang="en-US" b="1"/>
                  <a:t>Vậy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GB" b="1"/>
                  <a:t>.</a:t>
                </a:r>
              </a:p>
              <a:p>
                <a:pPr marL="91440">
                  <a:lnSpc>
                    <a:spcPct val="130000"/>
                  </a:lnSpc>
                </a:pPr>
                <a:endParaRPr lang="en-US" b="1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509" y="1981200"/>
                <a:ext cx="12316691" cy="11411749"/>
              </a:xfrm>
              <a:prstGeom prst="rect">
                <a:avLst/>
              </a:prstGeom>
              <a:blipFill>
                <a:blip r:embed="rId3"/>
                <a:stretch>
                  <a:fillRect l="-1484" r="-74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877800" y="1981200"/>
                <a:ext cx="111736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b="1" i="1"/>
                  <a:t>Hướng dẫn:</a:t>
                </a:r>
                <a:r>
                  <a:rPr lang="en-US" b="1"/>
                  <a:t> Để tính diện tích tứ giác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𝑨𝑩𝑪𝑫</m:t>
                    </m:r>
                  </m:oMath>
                </a14:m>
                <a:r>
                  <a:rPr lang="en-US" b="1"/>
                  <a:t>, ta áp dụng công thức tính diện tích tam giác cho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𝜟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𝑩𝑯𝑪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𝜟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𝑨𝑯𝑫</m:t>
                    </m:r>
                  </m:oMath>
                </a14:m>
                <a:r>
                  <a:rPr lang="en-US" b="1"/>
                  <a:t>. </a:t>
                </a:r>
                <a:endParaRPr lang="en-GB" b="1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b="1"/>
                  <a:t>Ta có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𝑯𝑩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𝑯𝑪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𝑯𝑨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𝑯𝑫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b="1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𝑨𝑩𝑪𝑫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𝑩𝑯𝑪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𝑨𝑯𝑫</m:t>
                          </m:r>
                        </m:sub>
                      </m:sSub>
                    </m:oMath>
                  </m:oMathPara>
                </a14:m>
                <a:endParaRPr lang="en-US" b="1" i="1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𝑯𝑩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𝑯𝑪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𝑯𝑨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𝑯𝑫</m:t>
                      </m:r>
                    </m:oMath>
                  </m:oMathPara>
                </a14:m>
                <a:endParaRPr lang="en-US" b="1" i="1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d>
                      <m:d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𝟏𝟐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𝟐𝟒</m:t>
                    </m:r>
                  </m:oMath>
                </a14:m>
                <a:r>
                  <a:rPr lang="vi-VN" b="1"/>
                  <a:t>.</a:t>
                </a:r>
                <a:endParaRPr lang="en-GB" b="1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7800" y="1981200"/>
                <a:ext cx="11173691" cy="11411749"/>
              </a:xfrm>
              <a:prstGeom prst="rect">
                <a:avLst/>
              </a:prstGeom>
              <a:blipFill>
                <a:blip r:embed="rId4"/>
                <a:stretch>
                  <a:fillRect l="-245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1586650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457200" y="1879600"/>
            <a:ext cx="23545800" cy="11150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endParaRPr lang="en-US"/>
          </a:p>
          <a:p>
            <a:pPr>
              <a:lnSpc>
                <a:spcPct val="120000"/>
              </a:lnSpc>
            </a:pPr>
            <a:endParaRPr lang="en-US"/>
          </a:p>
          <a:p>
            <a:pPr>
              <a:lnSpc>
                <a:spcPct val="120000"/>
              </a:lnSpc>
            </a:pPr>
            <a:endParaRPr lang="en-US"/>
          </a:p>
          <a:p>
            <a:pPr>
              <a:lnSpc>
                <a:spcPct val="120000"/>
              </a:lnSpc>
            </a:pPr>
            <a:endParaRPr lang="en-GB"/>
          </a:p>
          <a:p>
            <a:pPr>
              <a:lnSpc>
                <a:spcPct val="120000"/>
              </a:lnSpc>
            </a:pPr>
            <a:r>
              <a:rPr lang="en-US"/>
              <a:t>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4E2F751-CA7E-42E0-A15C-5F325A8F58C7}"/>
              </a:ext>
            </a:extLst>
          </p:cNvPr>
          <p:cNvGrpSpPr/>
          <p:nvPr/>
        </p:nvGrpSpPr>
        <p:grpSpPr>
          <a:xfrm>
            <a:off x="492620" y="1752599"/>
            <a:ext cx="4315260" cy="915819"/>
            <a:chOff x="20834" y="-370456"/>
            <a:chExt cx="1002384" cy="59880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30F7589-7DB1-4264-945E-D657C24EDFB2}"/>
                </a:ext>
              </a:extLst>
            </p:cNvPr>
            <p:cNvGrpSpPr/>
            <p:nvPr/>
          </p:nvGrpSpPr>
          <p:grpSpPr>
            <a:xfrm>
              <a:off x="20834" y="-299394"/>
              <a:ext cx="867620" cy="527742"/>
              <a:chOff x="29312" y="-383609"/>
              <a:chExt cx="1220757" cy="653106"/>
            </a:xfrm>
          </p:grpSpPr>
          <p:sp>
            <p:nvSpPr>
              <p:cNvPr id="16" name="Arrow: Pentagon 15">
                <a:extLst>
                  <a:ext uri="{FF2B5EF4-FFF2-40B4-BE49-F238E27FC236}">
                    <a16:creationId xmlns:a16="http://schemas.microsoft.com/office/drawing/2014/main" id="{EEF1C59D-C865-4C9A-9F33-BC37CB2713DD}"/>
                  </a:ext>
                </a:extLst>
              </p:cNvPr>
              <p:cNvSpPr/>
              <p:nvPr/>
            </p:nvSpPr>
            <p:spPr>
              <a:xfrm>
                <a:off x="226454" y="-383609"/>
                <a:ext cx="1023615" cy="653106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>
                  <a:lnSpc>
                    <a:spcPct val="12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GB" sz="1000" b="1" kern="1200">
                    <a:solidFill>
                      <a:srgbClr val="0000CC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GB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Arrow: Chevron 16">
                <a:extLst>
                  <a:ext uri="{FF2B5EF4-FFF2-40B4-BE49-F238E27FC236}">
                    <a16:creationId xmlns:a16="http://schemas.microsoft.com/office/drawing/2014/main" id="{92608ED6-A01B-4689-88D8-42E18377B48C}"/>
                  </a:ext>
                </a:extLst>
              </p:cNvPr>
              <p:cNvSpPr/>
              <p:nvPr/>
            </p:nvSpPr>
            <p:spPr>
              <a:xfrm>
                <a:off x="29312" y="-265639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>
                  <a:lnSpc>
                    <a:spcPct val="120000"/>
                  </a:lnSpc>
                </a:pPr>
                <a:endParaRPr lang="en-GB"/>
              </a:p>
            </p:txBody>
          </p:sp>
          <p:sp>
            <p:nvSpPr>
              <p:cNvPr id="18" name="Arrow: Chevron 17">
                <a:extLst>
                  <a:ext uri="{FF2B5EF4-FFF2-40B4-BE49-F238E27FC236}">
                    <a16:creationId xmlns:a16="http://schemas.microsoft.com/office/drawing/2014/main" id="{97739EA9-969F-4FB5-BA4F-77E9A6A48ABF}"/>
                  </a:ext>
                </a:extLst>
              </p:cNvPr>
              <p:cNvSpPr/>
              <p:nvPr/>
            </p:nvSpPr>
            <p:spPr>
              <a:xfrm>
                <a:off x="117959" y="-327921"/>
                <a:ext cx="162630" cy="320624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>
                  <a:lnSpc>
                    <a:spcPct val="120000"/>
                  </a:lnSpc>
                </a:pPr>
                <a:endParaRPr lang="en-GB"/>
              </a:p>
            </p:txBody>
          </p:sp>
        </p:grpSp>
        <p:sp>
          <p:nvSpPr>
            <p:cNvPr id="15" name="TextBox 56">
              <a:extLst>
                <a:ext uri="{FF2B5EF4-FFF2-40B4-BE49-F238E27FC236}">
                  <a16:creationId xmlns:a16="http://schemas.microsoft.com/office/drawing/2014/main" id="{6F095F61-5750-4314-A011-A2870BA3DCF8}"/>
                </a:ext>
              </a:extLst>
            </p:cNvPr>
            <p:cNvSpPr txBox="1"/>
            <p:nvPr/>
          </p:nvSpPr>
          <p:spPr>
            <a:xfrm>
              <a:off x="221146" y="-370456"/>
              <a:ext cx="802072" cy="51842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>
                <a:lnSpc>
                  <a:spcPct val="120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4800" b="1" kern="1200">
                  <a:solidFill>
                    <a:srgbClr val="0000CC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Bài  6.23</a:t>
              </a:r>
              <a:endParaRPr lang="en-GB" sz="48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126B6194-8F13-4703-8D08-C2AB170D36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6025645"/>
                  </p:ext>
                </p:extLst>
              </p:nvPr>
            </p:nvGraphicFramePr>
            <p:xfrm>
              <a:off x="465667" y="2795419"/>
              <a:ext cx="23461133" cy="4919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461133">
                      <a:extLst>
                        <a:ext uri="{9D8B030D-6E8A-4147-A177-3AD203B41FA5}">
                          <a16:colId xmlns:a16="http://schemas.microsoft.com/office/drawing/2014/main" val="442423946"/>
                        </a:ext>
                      </a:extLst>
                    </a:gridCol>
                  </a:tblGrid>
                  <a:tr h="4900781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</a:pPr>
                          <a:r>
                            <a:rPr lang="en-US" sz="4400" b="1" kern="120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Hằng ngày bạn Hùng đều đón bạn Minh đi học tại một vị trí trên lề đường thẳng đến trường. Minh đứng tại vị trí </a:t>
                          </a:r>
                          <a14:m>
                            <m:oMath xmlns:m="http://schemas.openxmlformats.org/officeDocument/2006/math">
                              <m:r>
                                <a:rPr lang="en-US" sz="44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𝑨</m:t>
                              </m:r>
                            </m:oMath>
                          </a14:m>
                          <a:r>
                            <a:rPr lang="en-US" sz="4400" b="1" kern="120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cách lề đường một khoảng </a:t>
                          </a:r>
                          <a14:m>
                            <m:oMath xmlns:m="http://schemas.openxmlformats.org/officeDocument/2006/math">
                              <m:r>
                                <a:rPr lang="en-US" sz="44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𝟓𝟎</m:t>
                              </m:r>
                              <m:r>
                                <a:rPr lang="en-US" sz="44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𝒎</m:t>
                              </m:r>
                            </m:oMath>
                          </a14:m>
                          <a:r>
                            <a:rPr lang="en-US" sz="4400" b="1" kern="120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để chờ Hùng. Khi nhìn thấy Hùng đạp xe đến địa điểm </a:t>
                          </a:r>
                          <a14:m>
                            <m:oMath xmlns:m="http://schemas.openxmlformats.org/officeDocument/2006/math">
                              <m:r>
                                <a:rPr lang="en-US" sz="44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𝑩</m:t>
                              </m:r>
                            </m:oMath>
                          </a14:m>
                          <a:r>
                            <a:rPr lang="en-US" sz="4400" b="1" kern="120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, cách mình một đoạn </a:t>
                          </a:r>
                          <a14:m>
                            <m:oMath xmlns:m="http://schemas.openxmlformats.org/officeDocument/2006/math">
                              <m:r>
                                <a:rPr lang="en-US" sz="44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𝟐𝟎𝟎</m:t>
                              </m:r>
                              <m:r>
                                <a:rPr lang="en-US" sz="44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𝒎</m:t>
                              </m:r>
                            </m:oMath>
                          </a14:m>
                          <a:r>
                            <a:rPr lang="en-US" sz="4400" b="1" kern="120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thì Minh bắt đầu đi bộ ra lề đường để bắt kịp xe. Vận tốc đi bộ của Minh là </a:t>
                          </a:r>
                          <a14:m>
                            <m:oMath xmlns:m="http://schemas.openxmlformats.org/officeDocument/2006/math">
                              <m:r>
                                <a:rPr lang="en-US" sz="44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𝟓</m:t>
                              </m:r>
                              <m:r>
                                <a:rPr lang="en-US" sz="44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𝒌𝒎</m:t>
                              </m:r>
                              <m:r>
                                <a:rPr lang="en-US" sz="44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/</m:t>
                              </m:r>
                              <m:r>
                                <a:rPr lang="en-US" sz="44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𝒉</m:t>
                              </m:r>
                            </m:oMath>
                          </a14:m>
                          <a:r>
                            <a:rPr lang="en-US" sz="4400" b="1" kern="120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, vận tốc xe đạp của Hùng là </a:t>
                          </a:r>
                          <a14:m>
                            <m:oMath xmlns:m="http://schemas.openxmlformats.org/officeDocument/2006/math">
                              <m:r>
                                <a:rPr lang="en-US" sz="44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𝟏𝟓</m:t>
                              </m:r>
                              <m:r>
                                <a:rPr lang="en-US" sz="44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𝒌𝒎</m:t>
                              </m:r>
                              <m:r>
                                <a:rPr lang="en-US" sz="44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/</m:t>
                              </m:r>
                              <m:r>
                                <a:rPr lang="en-US" sz="44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𝒉</m:t>
                              </m:r>
                            </m:oMath>
                          </a14:m>
                          <a:r>
                            <a:rPr lang="en-US" sz="4400" b="1" kern="120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. Hãy xác định vị trí </a:t>
                          </a:r>
                          <a14:m>
                            <m:oMath xmlns:m="http://schemas.openxmlformats.org/officeDocument/2006/math">
                              <m:r>
                                <a:rPr lang="en-US" sz="4400" b="1" i="1" kern="120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𝑪</m:t>
                              </m:r>
                            </m:oMath>
                          </a14:m>
                          <a:r>
                            <a:rPr lang="en-US" sz="4400" b="1" kern="120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trên lề đường (H.6.22) để hai bạn gặp nhau mà không bạn nào phải chờ người kia (làm tròn kết quả đến hàng phần mười).</a:t>
                          </a:r>
                          <a:endParaRPr lang="en-GB" sz="4400" b="1" kern="1200">
                            <a:solidFill>
                              <a:schemeClr val="lt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1287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126B6194-8F13-4703-8D08-C2AB170D36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6025645"/>
                  </p:ext>
                </p:extLst>
              </p:nvPr>
            </p:nvGraphicFramePr>
            <p:xfrm>
              <a:off x="465667" y="2795419"/>
              <a:ext cx="23461133" cy="490078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461133">
                      <a:extLst>
                        <a:ext uri="{9D8B030D-6E8A-4147-A177-3AD203B41FA5}">
                          <a16:colId xmlns:a16="http://schemas.microsoft.com/office/drawing/2014/main" val="442423946"/>
                        </a:ext>
                      </a:extLst>
                    </a:gridCol>
                  </a:tblGrid>
                  <a:tr h="49007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6" t="-870" r="-130" b="-52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128718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2AF466E3-D7CE-4367-9333-093B39078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7823201"/>
            <a:ext cx="12801600" cy="5206999"/>
          </a:xfrm>
          <a:prstGeom prst="rect">
            <a:avLst/>
          </a:prstGeom>
        </p:spPr>
      </p:pic>
      <p:sp>
        <p:nvSpPr>
          <p:cNvPr id="99" name="Rounded Rectangle 9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1308561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879600"/>
            <a:ext cx="23164800" cy="528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00FF"/>
                </a:solidFill>
              </a:rPr>
              <a:t>		Lời giải</a:t>
            </a:r>
            <a:endParaRPr lang="en-GB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667000"/>
                <a:ext cx="11658600" cy="107442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b="1"/>
                  <a:t>Vận tốc của bạn Minh: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</m:t>
                    </m:r>
                    <m:d>
                      <m:d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𝒌𝒎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</m:d>
                  </m:oMath>
                </a14:m>
                <a:r>
                  <a:rPr lang="en-US" b="1"/>
                  <a:t>.</a:t>
                </a:r>
                <a:endParaRPr lang="en-GB" b="1"/>
              </a:p>
              <a:p>
                <a:pPr marL="0" indent="0" algn="just">
                  <a:buNone/>
                </a:pPr>
                <a:r>
                  <a:rPr lang="en-US" b="1"/>
                  <a:t>Vận tốc của bạn Hùng: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𝟏𝟓</m:t>
                    </m:r>
                    <m:d>
                      <m:d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𝒌𝒎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</m:d>
                  </m:oMath>
                </a14:m>
                <a:r>
                  <a:rPr lang="en-US" b="1"/>
                  <a:t>.</a:t>
                </a:r>
                <a:endParaRPr lang="en-GB" b="1"/>
              </a:p>
              <a:p>
                <a:pPr algn="just"/>
                <a:r>
                  <a:rPr lang="en-US" b="1"/>
                  <a:t>Áp dụng định lý Pithago vào tam giác vuông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𝑨𝑯𝑩</m:t>
                    </m:r>
                  </m:oMath>
                </a14:m>
                <a:r>
                  <a:rPr lang="en-US" b="1"/>
                  <a:t>: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𝑩𝑯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𝟎𝟓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𝟏𝟓</m:t>
                              </m:r>
                            </m:e>
                          </m:rad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𝟐𝟎</m:t>
                          </m:r>
                        </m:den>
                      </m:f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𝒌𝒎</m:t>
                          </m:r>
                        </m:e>
                      </m:d>
                    </m:oMath>
                  </m:oMathPara>
                </a14:m>
                <a:endParaRPr lang="en-GB" b="1"/>
              </a:p>
              <a:p>
                <a:pPr marL="0" indent="0" algn="just">
                  <a:buNone/>
                </a:pPr>
                <a:r>
                  <a:rPr lang="en-US" b="1"/>
                  <a:t>Gọi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𝑩𝑪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𝒌𝒎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/>
                  <a:t>.</a:t>
                </a:r>
                <a:endParaRPr lang="en-GB" b="1"/>
              </a:p>
              <a:p>
                <a:pPr marL="0" indent="0" algn="just">
                  <a:buNone/>
                </a:pPr>
                <a:r>
                  <a:rPr lang="en-US" b="1"/>
                  <a:t>Suy ra: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𝑪𝑯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𝟏𝟓</m:t>
                            </m:r>
                          </m:e>
                        </m:rad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𝟐𝟎</m:t>
                        </m:r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/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𝟏𝟓</m:t>
                            </m:r>
                          </m:e>
                        </m:rad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𝟐𝟎</m:t>
                        </m:r>
                      </m:den>
                    </m:f>
                  </m:oMath>
                </a14:m>
                <a:r>
                  <a:rPr lang="en-US" b="1"/>
                  <a:t>.</a:t>
                </a:r>
              </a:p>
              <a:p>
                <a:pPr algn="just"/>
                <a:r>
                  <a:rPr lang="en-US" b="1"/>
                  <a:t>Ta cần xác định vị trí điểm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b="1"/>
                  <a:t> để Minh và Hùng gặp nhau mà không bạn nào phải chờ người kia.</a:t>
                </a:r>
                <a:endParaRPr lang="en-GB" b="1"/>
              </a:p>
              <a:p>
                <a:pPr marL="0" indent="0" algn="just">
                  <a:buNone/>
                </a:pPr>
                <a:r>
                  <a:rPr lang="en-US" b="1"/>
                  <a:t>Nghĩa là: ta cần tìm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/>
                  <a:t> để thời gian hai bạn di chuyển đến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b="1"/>
                  <a:t> là bằng nhau.</a:t>
                </a:r>
                <a:endParaRPr lang="en-GB" b="1"/>
              </a:p>
              <a:p>
                <a:endParaRPr lang="en-GB" b="1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667000"/>
                <a:ext cx="11658600" cy="10744200"/>
              </a:xfrm>
              <a:prstGeom prst="rect">
                <a:avLst/>
              </a:prstGeom>
              <a:blipFill>
                <a:blip r:embed="rId3"/>
                <a:stretch>
                  <a:fillRect l="-2351" t="-1871" r="-2299" b="-215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6BE34774-A38E-4226-8482-AB7C6A692E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725400" y="6858000"/>
                <a:ext cx="11277600" cy="65532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/>
                  <a:t>Thời gian Hùng đi từ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b="1"/>
                  <a:t> đến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b="1"/>
                  <a:t> là: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𝑩𝑪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𝟏𝟓</m:t>
                        </m:r>
                      </m:den>
                    </m:f>
                    <m:d>
                      <m:d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</m:d>
                  </m:oMath>
                </a14:m>
                <a:r>
                  <a:rPr lang="en-US" b="1"/>
                  <a:t>.</a:t>
                </a:r>
                <a:endParaRPr lang="en-GB" b="1"/>
              </a:p>
              <a:p>
                <a:r>
                  <a:rPr lang="en-US" b="1"/>
                  <a:t>Quãng đường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𝑨𝑪</m:t>
                    </m:r>
                  </m:oMath>
                </a14:m>
                <a:r>
                  <a:rPr lang="en-US" b="1"/>
                  <a:t> Minh đã đi là: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𝑨𝑪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𝑪</m:t>
                          </m:r>
                          <m:sSup>
                            <m:s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𝑨</m:t>
                          </m:r>
                          <m:sSup>
                            <m:s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ad>
                                        <m:radPr>
                                          <m:degHide m:val="on"/>
                                          <m:ctrlPr>
                                            <a:rPr lang="en-GB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𝟏𝟓</m:t>
                                          </m:r>
                                        </m:e>
                                      </m:rad>
                                    </m:num>
                                    <m:den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𝟐𝟎</m:t>
                                      </m:r>
                                    </m:den>
                                  </m:f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𝟎𝟓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GB" b="1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6BE34774-A38E-4226-8482-AB7C6A692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5400" y="6858000"/>
                <a:ext cx="11277600" cy="6553200"/>
              </a:xfrm>
              <a:prstGeom prst="rect">
                <a:avLst/>
              </a:prstGeom>
              <a:blipFill>
                <a:blip r:embed="rId4"/>
                <a:stretch>
                  <a:fillRect l="-2214" t="-306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2AF466E3-D7CE-4367-9333-093B390781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8057" y="2133600"/>
            <a:ext cx="11102664" cy="4277560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8867254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11658600" cy="10386211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/>
                  <a:t>Thời gian Minh đã đi từ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b="1"/>
                  <a:t> đến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b="1"/>
                  <a:t> là: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𝑨𝑪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GB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GB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en-GB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r>
                                              <a:rPr lang="en-US" b="1" i="1">
                                                <a:latin typeface="Cambria Math" panose="02040503050406030204" pitchFamily="18" charset="0"/>
                                              </a:rPr>
                                              <m:t>𝟏𝟓</m:t>
                                            </m:r>
                                          </m:e>
                                        </m:rad>
                                      </m:num>
                                      <m:den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𝟐𝟎</m:t>
                                        </m:r>
                                      </m:den>
                                    </m:f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GB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𝟎𝟓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  <m:d>
                      <m:d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</m:d>
                  </m:oMath>
                </a14:m>
                <a:r>
                  <a:rPr lang="en-US" b="1"/>
                  <a:t>.</a:t>
                </a:r>
                <a:endParaRPr lang="en-GB" b="1"/>
              </a:p>
              <a:p>
                <a:r>
                  <a:rPr lang="en-US" b="1"/>
                  <a:t>Theo yêu cầu bài toán: </a:t>
                </a:r>
              </a:p>
              <a:p>
                <a:pPr marL="0" indent="0">
                  <a:buNone/>
                </a:pPr>
                <a:endParaRPr lang="en-GB" b="1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GB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ad>
                                            <m:radPr>
                                              <m:degHide m:val="on"/>
                                              <m:ctrlPr>
                                                <a:rPr lang="en-GB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radPr>
                                            <m:deg/>
                                            <m:e>
                                              <m: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  <m:t>𝟏𝟓</m:t>
                                              </m:r>
                                            </m:e>
                                          </m:rad>
                                        </m:num>
                                        <m:den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𝟐𝟎</m:t>
                                          </m:r>
                                        </m:den>
                                      </m:f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𝟎𝟓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𝟏𝟓</m:t>
                          </m:r>
                        </m:den>
                      </m:f>
                    </m:oMath>
                  </m:oMathPara>
                </a14:m>
                <a:endParaRPr lang="en-GB" b="1"/>
              </a:p>
              <a:p>
                <a:r>
                  <a:rPr lang="en-US" b="1"/>
                  <a:t>Bình phương 2 vế: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GB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𝟏𝟓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den>
                                </m:f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𝟎𝟓</m:t>
                                </m:r>
                              </m:e>
                            </m:d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𝟐𝟓</m:t>
                        </m:r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𝟐𝟐𝟓</m:t>
                        </m:r>
                      </m:den>
                    </m:f>
                  </m:oMath>
                </a14:m>
                <a:endParaRPr lang="en-GB" b="1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11658600" cy="10386211"/>
              </a:xfrm>
              <a:prstGeom prst="rect">
                <a:avLst/>
              </a:prstGeom>
              <a:blipFill>
                <a:blip r:embed="rId3"/>
                <a:stretch>
                  <a:fillRect l="-2142" t="-193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6BE34774-A38E-4226-8482-AB7C6A692E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725400" y="1977264"/>
                <a:ext cx="11277600" cy="10386211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𝟗</m:t>
                    </m:r>
                    <m:d>
                      <m:d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num>
                          <m:den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𝟖𝟎</m:t>
                            </m:r>
                          </m:den>
                        </m:f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GB" b="1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𝟏𝟓</m:t>
                                </m:r>
                              </m:e>
                            </m:rad>
                          </m:num>
                          <m:den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den>
                        </m:f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𝟗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𝟒𝟎𝟎</m:t>
                        </m:r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b="1" i="1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𝟖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𝟗</m:t>
                        </m:r>
                        <m:rad>
                          <m:radPr>
                            <m:degHide m:val="on"/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𝟏𝟓</m:t>
                            </m:r>
                          </m:e>
                        </m:rad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𝟏𝟎</m:t>
                        </m:r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𝟗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𝟐𝟓</m:t>
                        </m:r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b="1" i="1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["/>
                        <m:endChr m:val="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≈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≈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eqArr>
                      </m:e>
                    </m:d>
                  </m:oMath>
                </a14:m>
                <a:endParaRPr lang="en-GB" b="1"/>
              </a:p>
              <a:p>
                <a:r>
                  <a:rPr lang="en-US" b="1"/>
                  <a:t>Vì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𝟏𝟓</m:t>
                            </m:r>
                          </m:e>
                        </m:rad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𝟐𝟎</m:t>
                        </m:r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𝟏𝟗</m:t>
                    </m:r>
                  </m:oMath>
                </a14:m>
                <a:r>
                  <a:rPr lang="en-US" b="1"/>
                  <a:t> nên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/>
                  <a:t> thỏa mãn.</a:t>
                </a:r>
                <a:endParaRPr lang="en-GB" b="1"/>
              </a:p>
              <a:p>
                <a:r>
                  <a:rPr lang="en-US" b="1"/>
                  <a:t>Vậy hai bạn Minh và Hùng di chuyển đến vị trí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b="1"/>
                  <a:t> cách điểm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b="1"/>
                  <a:t> một đoạn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d>
                      <m:d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𝒌𝒎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𝟏𝟎𝟎</m:t>
                    </m:r>
                    <m:d>
                      <m:d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b="1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6BE34774-A38E-4226-8482-AB7C6A692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5400" y="1977264"/>
                <a:ext cx="11277600" cy="10386211"/>
              </a:xfrm>
              <a:prstGeom prst="rect">
                <a:avLst/>
              </a:prstGeom>
              <a:blipFill>
                <a:blip r:embed="rId4"/>
                <a:stretch>
                  <a:fillRect l="-2214" r="-280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7584165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7&quot;/&gt;&lt;/object&gt;&lt;object type=&quot;3&quot; unique_id=&quot;10004&quot;&gt;&lt;property id=&quot;20148&quot; value=&quot;5&quot;/&gt;&lt;property id=&quot;20300&quot; value=&quot;Slide 2&quot;/&gt;&lt;property id=&quot;20307&quot; value=&quot;258&quot;/&gt;&lt;/object&gt;&lt;object type=&quot;3&quot; unique_id=&quot;10005&quot;&gt;&lt;property id=&quot;20148&quot; value=&quot;5&quot;/&gt;&lt;property id=&quot;20300&quot; value=&quot;Slide 3&quot;/&gt;&lt;property id=&quot;20307&quot; value=&quot;259&quot;/&gt;&lt;/object&gt;&lt;object type=&quot;3&quot; unique_id=&quot;10006&quot;&gt;&lt;property id=&quot;20148&quot; value=&quot;5&quot;/&gt;&lt;property id=&quot;20300&quot; value=&quot;Slide 4&quot;/&gt;&lt;property id=&quot;20307&quot; value=&quot;260&quot;/&gt;&lt;/object&gt;&lt;object type=&quot;3&quot; unique_id=&quot;10007&quot;&gt;&lt;property id=&quot;20148&quot; value=&quot;5&quot;/&gt;&lt;property id=&quot;20300&quot; value=&quot;Slide 5&quot;/&gt;&lt;property id=&quot;20307&quot; value=&quot;262&quot;/&gt;&lt;/object&gt;&lt;object type=&quot;3&quot; unique_id=&quot;10008&quot;&gt;&lt;property id=&quot;20148&quot; value=&quot;5&quot;/&gt;&lt;property id=&quot;20300&quot; value=&quot;Slide 6&quot;/&gt;&lt;property id=&quot;20307&quot; value=&quot;263&quot;/&gt;&lt;/object&gt;&lt;object type=&quot;3&quot; unique_id=&quot;10009&quot;&gt;&lt;property id=&quot;20148&quot; value=&quot;5&quot;/&gt;&lt;property id=&quot;20300&quot; value=&quot;Slide 7&quot;/&gt;&lt;property id=&quot;20307&quot; value=&quot;264&quot;/&gt;&lt;/object&gt;&lt;object type=&quot;3&quot; unique_id=&quot;10010&quot;&gt;&lt;property id=&quot;20148&quot; value=&quot;5&quot;/&gt;&lt;property id=&quot;20300&quot; value=&quot;Slide 8&quot;/&gt;&lt;property id=&quot;20307&quot; value=&quot;265&quot;/&gt;&lt;/object&gt;&lt;object type=&quot;3&quot; unique_id=&quot;10011&quot;&gt;&lt;property id=&quot;20148&quot; value=&quot;5&quot;/&gt;&lt;property id=&quot;20300&quot; value=&quot;Slide 9&quot;/&gt;&lt;property id=&quot;20307&quot; value=&quot;266&quot;/&gt;&lt;/object&gt;&lt;object type=&quot;3&quot; unique_id=&quot;10012&quot;&gt;&lt;property id=&quot;20148&quot; value=&quot;5&quot;/&gt;&lt;property id=&quot;20300&quot; value=&quot;Slide 10&quot;/&gt;&lt;property id=&quot;20307&quot; value=&quot;267&quot;/&gt;&lt;/object&gt;&lt;object type=&quot;3&quot; unique_id=&quot;10013&quot;&gt;&lt;property id=&quot;20148&quot; value=&quot;5&quot;/&gt;&lt;property id=&quot;20300&quot; value=&quot;Slide 11&quot;/&gt;&lt;property id=&quot;20307&quot; value=&quot;269&quot;/&gt;&lt;/object&gt;&lt;object type=&quot;3&quot; unique_id=&quot;10014&quot;&gt;&lt;property id=&quot;20148&quot; value=&quot;5&quot;/&gt;&lt;property id=&quot;20300&quot; value=&quot;Slide 12&quot;/&gt;&lt;property id=&quot;20307&quot; value=&quot;270&quot;/&gt;&lt;/object&gt;&lt;object type=&quot;3&quot; unique_id=&quot;10015&quot;&gt;&lt;property id=&quot;20148&quot; value=&quot;5&quot;/&gt;&lt;property id=&quot;20300&quot; value=&quot;Slide 13&quot;/&gt;&lt;property id=&quot;20307&quot; value=&quot;274&quot;/&gt;&lt;/object&gt;&lt;object type=&quot;3&quot; unique_id=&quot;10016&quot;&gt;&lt;property id=&quot;20148&quot; value=&quot;5&quot;/&gt;&lt;property id=&quot;20300&quot; value=&quot;Slide 14&quot;/&gt;&lt;property id=&quot;20307&quot; value=&quot;275&quot;/&gt;&lt;/object&gt;&lt;object type=&quot;3&quot; unique_id=&quot;10017&quot;&gt;&lt;property id=&quot;20148&quot; value=&quot;5&quot;/&gt;&lt;property id=&quot;20300&quot; value=&quot;Slide 15&quot;/&gt;&lt;property id=&quot;20307&quot; value=&quot;276&quot;/&gt;&lt;/object&gt;&lt;object type=&quot;3&quot; unique_id=&quot;10018&quot;&gt;&lt;property id=&quot;20148&quot; value=&quot;5&quot;/&gt;&lt;property id=&quot;20300&quot; value=&quot;Slide 16&quot;/&gt;&lt;property id=&quot;20307&quot; value=&quot;277&quot;/&gt;&lt;/object&gt;&lt;object type=&quot;3&quot; unique_id=&quot;10019&quot;&gt;&lt;property id=&quot;20148&quot; value=&quot;5&quot;/&gt;&lt;property id=&quot;20300&quot; value=&quot;Slide 17&quot;/&gt;&lt;property id=&quot;20307&quot; value=&quot;271&quot;/&gt;&lt;/object&gt;&lt;object type=&quot;3&quot; unique_id=&quot;10020&quot;&gt;&lt;property id=&quot;20148&quot; value=&quot;5&quot;/&gt;&lt;property id=&quot;20300&quot; value=&quot;Slide 18&quot;/&gt;&lt;property id=&quot;20307&quot; value=&quot;278&quot;/&gt;&lt;/object&gt;&lt;object type=&quot;3&quot; unique_id=&quot;10021&quot;&gt;&lt;property id=&quot;20148&quot; value=&quot;5&quot;/&gt;&lt;property id=&quot;20300&quot; value=&quot;Slide 19&quot;/&gt;&lt;property id=&quot;20307&quot; value=&quot;279&quot;/&gt;&lt;/object&gt;&lt;object type=&quot;3&quot; unique_id=&quot;10022&quot;&gt;&lt;property id=&quot;20148&quot; value=&quot;5&quot;/&gt;&lt;property id=&quot;20300&quot; value=&quot;Slide 20&quot;/&gt;&lt;property id=&quot;20307&quot; value=&quot;272&quot;/&gt;&lt;/object&gt;&lt;object type=&quot;3&quot; unique_id=&quot;10023&quot;&gt;&lt;property id=&quot;20148&quot; value=&quot;5&quot;/&gt;&lt;property id=&quot;20300&quot; value=&quot;Slide 21&quot;/&gt;&lt;property id=&quot;20307&quot; value=&quot;273&quot;/&gt;&lt;/object&gt;&lt;object type=&quot;3&quot; unique_id=&quot;10024&quot;&gt;&lt;property id=&quot;20148&quot; value=&quot;5&quot;/&gt;&lt;property id=&quot;20300&quot; value=&quot;Slide 22&quot;/&gt;&lt;property id=&quot;20307&quot; value=&quot;268&quot;/&gt;&lt;/object&gt;&lt;object type=&quot;3&quot; unique_id=&quot;10025&quot;&gt;&lt;property id=&quot;20148&quot; value=&quot;5&quot;/&gt;&lt;property id=&quot;20300&quot; value=&quot;Slide 23&quot;/&gt;&lt;property id=&quot;20307&quot; value=&quot;280&quot;/&gt;&lt;/object&gt;&lt;object type=&quot;3&quot; unique_id=&quot;10026&quot;&gt;&lt;property id=&quot;20148&quot; value=&quot;5&quot;/&gt;&lt;property id=&quot;20300&quot; value=&quot;Slide 24&quot;/&gt;&lt;property id=&quot;20307&quot; value=&quot;281&quot;/&gt;&lt;/object&gt;&lt;object type=&quot;3&quot; unique_id=&quot;10027&quot;&gt;&lt;property id=&quot;20148&quot; value=&quot;5&quot;/&gt;&lt;property id=&quot;20300&quot; value=&quot;Slide 25&quot;/&gt;&lt;property id=&quot;20307&quot; value=&quot;282&quot;/&gt;&lt;/object&gt;&lt;/object&gt;&lt;object type=&quot;8&quot; unique_id=&quot;10056&quot;&gt;&lt;/object&gt;&lt;/object&gt;&lt;/database&gt;"/>
  <p:tag name="SECTOMILLISECCONVERTED" val="1"/>
  <p:tag name="INKNOELEADERBOARD" val="-42375347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4768</TotalTime>
  <Words>1027</Words>
  <Application>Microsoft Office PowerPoint</Application>
  <PresentationFormat>Custom</PresentationFormat>
  <Paragraphs>315</Paragraphs>
  <Slides>25</Slides>
  <Notes>25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9" baseType="lpstr">
      <vt:lpstr>Yu Gothic UI Semilight</vt:lpstr>
      <vt:lpstr>Arial</vt:lpstr>
      <vt:lpstr>Bahnschrift SemiBold SemiConden</vt:lpstr>
      <vt:lpstr>Baumans</vt:lpstr>
      <vt:lpstr>Calibri</vt:lpstr>
      <vt:lpstr>Calibri Light</vt:lpstr>
      <vt:lpstr>Cambria Math</vt:lpstr>
      <vt:lpstr>Cascadia Mono</vt:lpstr>
      <vt:lpstr>Tahoma</vt:lpstr>
      <vt:lpstr>Times New Roman</vt:lpstr>
      <vt:lpstr>Tomaho</vt:lpstr>
      <vt:lpstr>Office Theme</vt:lpstr>
      <vt:lpstr>1_Office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9Slide.vn</Manager>
  <Company>9Slide.vn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9Slide.vn</dc:subject>
  <dc:creator>BINH</dc:creator>
  <dc:description>9Slide.vn</dc:description>
  <cp:lastModifiedBy>Admin</cp:lastModifiedBy>
  <cp:revision>435</cp:revision>
  <dcterms:created xsi:type="dcterms:W3CDTF">2013-08-31T11:42:51Z</dcterms:created>
  <dcterms:modified xsi:type="dcterms:W3CDTF">2022-08-29T11:25:27Z</dcterms:modified>
  <cp:category>9Slide.vn</cp:category>
</cp:coreProperties>
</file>