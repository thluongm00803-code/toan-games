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14">
  <p:sldMasterIdLst>
    <p:sldMasterId id="2147483738" r:id="rId1"/>
    <p:sldMasterId id="2147483754" r:id="rId2"/>
  </p:sldMasterIdLst>
  <p:notesMasterIdLst>
    <p:notesMasterId r:id="rId28"/>
  </p:notesMasterIdLst>
  <p:sldIdLst>
    <p:sldId id="313" r:id="rId3"/>
    <p:sldId id="301" r:id="rId4"/>
    <p:sldId id="337" r:id="rId5"/>
    <p:sldId id="317" r:id="rId6"/>
    <p:sldId id="318" r:id="rId7"/>
    <p:sldId id="338" r:id="rId8"/>
    <p:sldId id="320" r:id="rId9"/>
    <p:sldId id="321" r:id="rId10"/>
    <p:sldId id="322" r:id="rId11"/>
    <p:sldId id="323" r:id="rId12"/>
    <p:sldId id="324" r:id="rId13"/>
    <p:sldId id="325" r:id="rId14"/>
    <p:sldId id="339" r:id="rId15"/>
    <p:sldId id="326" r:id="rId16"/>
    <p:sldId id="327" r:id="rId17"/>
    <p:sldId id="328" r:id="rId18"/>
    <p:sldId id="329" r:id="rId19"/>
    <p:sldId id="340" r:id="rId20"/>
    <p:sldId id="341" r:id="rId21"/>
    <p:sldId id="330" r:id="rId22"/>
    <p:sldId id="331" r:id="rId23"/>
    <p:sldId id="332" r:id="rId24"/>
    <p:sldId id="334" r:id="rId25"/>
    <p:sldId id="335" r:id="rId26"/>
    <p:sldId id="336" r:id="rId27"/>
  </p:sldIdLst>
  <p:sldSz cx="24384000" cy="13716000"/>
  <p:notesSz cx="6858000" cy="9144000"/>
  <p:custDataLst>
    <p:tags r:id="rId29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7FF"/>
    <a:srgbClr val="D6F7FE"/>
    <a:srgbClr val="EEF7E9"/>
    <a:srgbClr val="0000FF"/>
    <a:srgbClr val="135F82"/>
    <a:srgbClr val="FFFFFF"/>
    <a:srgbClr val="008000"/>
    <a:srgbClr val="242452"/>
    <a:srgbClr val="270F6B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8" autoAdjust="0"/>
    <p:restoredTop sz="94139" autoAdjust="0"/>
  </p:normalViewPr>
  <p:slideViewPr>
    <p:cSldViewPr>
      <p:cViewPr varScale="1">
        <p:scale>
          <a:sx n="31" d="100"/>
          <a:sy n="31" d="100"/>
        </p:scale>
        <p:origin x="252" y="34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notesMaster" Target="notesMasters/notesMaster1.xml"/><Relationship Id="rId29" Type="http://schemas.openxmlformats.org/officeDocument/2006/relationships/tags" Target="tags/tag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image" Target="../media/image6.w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image" Target="../media/image6.w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5.emf"/><Relationship Id="rId2" Type="http://schemas.openxmlformats.org/officeDocument/2006/relationships/image" Target="../media/image6.wmf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11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86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4777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037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30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748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920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23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15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51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49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8777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21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877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075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154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86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349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088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82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9.png"/><Relationship Id="rId5" Type="http://schemas.openxmlformats.org/officeDocument/2006/relationships/oleObject" Target="../embeddings/oleObject1.bin"/><Relationship Id="rId6" Type="http://schemas.openxmlformats.org/officeDocument/2006/relationships/image" Target="../media/image5.emf"/><Relationship Id="rId7" Type="http://schemas.openxmlformats.org/officeDocument/2006/relationships/oleObject" Target="../embeddings/oleObject2.bin"/><Relationship Id="rId8" Type="http://schemas.openxmlformats.org/officeDocument/2006/relationships/image" Target="../media/image6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5.emf"/><Relationship Id="rId8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5.emf"/><Relationship Id="rId8" Type="http://schemas.openxmlformats.org/officeDocument/2006/relationships/oleObject" Target="../embeddings/oleObject2.bin"/><Relationship Id="rId9" Type="http://schemas.openxmlformats.org/officeDocument/2006/relationships/image" Target="../media/image6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Relationship Id="rId4" Type="http://schemas.openxmlformats.org/officeDocument/2006/relationships/image" Target="../media/image5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3.png"/><Relationship Id="rId3" Type="http://schemas.openxmlformats.org/officeDocument/2006/relationships/image" Target="../media/image3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677400" y="1676400"/>
            <a:ext cx="13944600" cy="11181523"/>
            <a:chOff x="9851187" y="2126503"/>
            <a:chExt cx="13944600" cy="11181523"/>
          </a:xfrm>
        </p:grpSpPr>
        <p:grpSp>
          <p:nvGrpSpPr>
            <p:cNvPr id="8" name="Group 7"/>
            <p:cNvGrpSpPr/>
            <p:nvPr/>
          </p:nvGrpSpPr>
          <p:grpSpPr>
            <a:xfrm>
              <a:off x="9851187" y="2126503"/>
              <a:ext cx="13944600" cy="11181523"/>
              <a:chOff x="1339699" y="3448230"/>
              <a:chExt cx="13944600" cy="11181523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339699" y="3448230"/>
                <a:ext cx="13944600" cy="11181523"/>
                <a:chOff x="1339699" y="3448230"/>
                <a:chExt cx="13944600" cy="11181523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1339699" y="3696072"/>
                  <a:ext cx="139446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10917987" y="2164808"/>
              <a:ext cx="12863666" cy="2781403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0079787" y="5288484"/>
              <a:ext cx="13335000" cy="7734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§3.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Bất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phương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trình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bậc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nhất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</a:t>
              </a: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hai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ẩn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§4.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Hệ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bất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phương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trình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bậc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nhất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</a:t>
              </a: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hai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ẩn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.</a:t>
              </a: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cuối</a:t>
              </a:r>
              <a:r>
                <a:rPr lang="en-US" sz="6000" b="1" dirty="0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6000" b="1" dirty="0" err="1">
                  <a:solidFill>
                    <a:srgbClr val="0000FF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chương</a:t>
              </a:r>
              <a:r>
                <a:rPr lang="en-US" sz="60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2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912450" y="2428363"/>
              <a:ext cx="1032510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CHƯƠNG </a:t>
              </a:r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vi-VN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vi-VN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BẤT PHƯƠNG TRÌNH VÀ HỆ BẤT PHƯƠNG TRÌNH </a:t>
              </a:r>
            </a:p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BẬC NHẤT HAI ẨN</a:t>
              </a:r>
              <a:r>
                <a:rPr lang="vi-VN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4FF52DF-8AC8-4DAD-B751-39601E57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34" y="1924240"/>
            <a:ext cx="8813299" cy="1093368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990600" y="1809823"/>
            <a:ext cx="22808128" cy="11677577"/>
            <a:chOff x="1447799" y="1793819"/>
            <a:chExt cx="22808128" cy="1167757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47799" y="1793819"/>
              <a:ext cx="22808128" cy="11677577"/>
              <a:chOff x="1447799" y="1793819"/>
              <a:chExt cx="22808128" cy="11677577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575873" y="1797127"/>
                <a:ext cx="22680054" cy="11674269"/>
                <a:chOff x="-3538955" y="3448230"/>
                <a:chExt cx="22680054" cy="11674269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" name="Group 70"/>
                <p:cNvGrpSpPr/>
                <p:nvPr/>
              </p:nvGrpSpPr>
              <p:grpSpPr>
                <a:xfrm>
                  <a:off x="-3538955" y="3448230"/>
                  <a:ext cx="22680054" cy="11674269"/>
                  <a:chOff x="-3538955" y="3448230"/>
                  <a:chExt cx="22680054" cy="11674269"/>
                </a:xfrm>
              </p:grpSpPr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-3538955" y="3592713"/>
                    <a:ext cx="22680054" cy="11529786"/>
                  </a:xfrm>
                  <a:prstGeom prst="roundRect">
                    <a:avLst>
                      <a:gd name="adj" fmla="val 2127"/>
                    </a:avLst>
                  </a:prstGeom>
                  <a:solidFill>
                    <a:schemeClr val="bg1"/>
                  </a:solidFill>
                  <a:ln w="28575">
                    <a:solidFill>
                      <a:srgbClr val="0999C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18000" rIns="36000" bIns="18000" rtlCol="0" anchor="ctr"/>
                  <a:lstStyle/>
                  <a:p>
                    <a:pPr algn="ctr"/>
                    <a:endParaRPr lang="en-US" sz="4600" dirty="0">
                      <a:latin typeface="Tahoma" pitchFamily="34" charset="0"/>
                      <a:ea typeface="Tahoma" pitchFamily="34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759299" y="3448230"/>
                    <a:ext cx="389080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5400" b="1" cap="all" dirty="0">
                        <a:ln w="0"/>
                        <a:solidFill>
                          <a:schemeClr val="bg1"/>
                        </a:solidFill>
                        <a:effectLst>
                          <a:reflection blurRad="12700" stA="50000" endPos="50000" dist="5000" dir="5400000" sy="-100000" rotWithShape="0"/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CHƯƠNG I</a:t>
                    </a:r>
                  </a:p>
                </p:txBody>
              </p:sp>
            </p:grp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8114764" y="1812795"/>
                <a:ext cx="14821435" cy="1576656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8597663" y="1953929"/>
                <a:ext cx="1433853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vi-VN" sz="4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CHƯƠNG </a:t>
                </a:r>
                <a:r>
                  <a:rPr lang="en-US" sz="4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vi-VN" sz="4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 </a:t>
                </a:r>
                <a:r>
                  <a:rPr lang="en-US" sz="4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 PHƯƠNG TRÌNH VÀ </a:t>
                </a:r>
              </a:p>
              <a:p>
                <a:r>
                  <a:rPr lang="en-US" sz="4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 BẤT PHƯƠNG TRÌNH BẬC NHẤT HAI ẨN.</a:t>
                </a:r>
                <a:endParaRPr lang="vi-VN" sz="48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6" name="Group 60"/>
              <p:cNvGrpSpPr/>
              <p:nvPr/>
            </p:nvGrpSpPr>
            <p:grpSpPr>
              <a:xfrm>
                <a:off x="1447800" y="5264646"/>
                <a:ext cx="15085252" cy="1284839"/>
                <a:chOff x="7459670" y="7086600"/>
                <a:chExt cx="15086997" cy="1284988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9177359" y="7574868"/>
                  <a:ext cx="13369308" cy="7967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800"/>
                    </a:spcAft>
                  </a:pPr>
                  <a:r>
                    <a:rPr lang="en-US" sz="4700" b="1" dirty="0">
                      <a:solidFill>
                        <a:srgbClr val="385623"/>
                      </a:solidFill>
                      <a:effectLst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</a:t>
                  </a:r>
                  <a:r>
                    <a:rPr lang="en-US" sz="4700" b="1" dirty="0">
                      <a:effectLst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HỆ BẤT PHƯƠNG TRÌNH BẬC NHẤT HAI ẨN</a:t>
                  </a:r>
                  <a:endParaRPr lang="en-US" sz="47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58" name="Group 26"/>
                <p:cNvGrpSpPr/>
                <p:nvPr/>
              </p:nvGrpSpPr>
              <p:grpSpPr>
                <a:xfrm>
                  <a:off x="7459670" y="7086600"/>
                  <a:ext cx="1392611" cy="1228255"/>
                  <a:chOff x="7459669" y="7543800"/>
                  <a:chExt cx="1381114" cy="1228255"/>
                </a:xfrm>
              </p:grpSpPr>
              <p:sp>
                <p:nvSpPr>
                  <p:cNvPr id="59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0" name="Group 28"/>
                  <p:cNvGrpSpPr/>
                  <p:nvPr/>
                </p:nvGrpSpPr>
                <p:grpSpPr>
                  <a:xfrm>
                    <a:off x="7469183" y="7984489"/>
                    <a:ext cx="1371600" cy="787566"/>
                    <a:chOff x="7469183" y="7984489"/>
                    <a:chExt cx="1371600" cy="787566"/>
                  </a:xfrm>
                </p:grpSpPr>
                <p:sp>
                  <p:nvSpPr>
                    <p:cNvPr id="61" name="Round Same Side Corner Rectangle 60"/>
                    <p:cNvSpPr/>
                    <p:nvPr/>
                  </p:nvSpPr>
                  <p:spPr>
                    <a:xfrm rot="5400000">
                      <a:off x="7789223" y="7720495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7949265" y="7984489"/>
                      <a:ext cx="507514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 dirty="0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p:txBody>
                </p:sp>
              </p:grpSp>
            </p:grpSp>
          </p:grpSp>
          <p:grpSp>
            <p:nvGrpSpPr>
              <p:cNvPr id="63" name="Group 67"/>
              <p:cNvGrpSpPr/>
              <p:nvPr/>
            </p:nvGrpSpPr>
            <p:grpSpPr>
              <a:xfrm>
                <a:off x="1447800" y="7776170"/>
                <a:ext cx="19583398" cy="1570559"/>
                <a:chOff x="7459670" y="7486501"/>
                <a:chExt cx="19585665" cy="1570737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9119764" y="7486501"/>
                  <a:ext cx="17925571" cy="157073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algn="just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4700" b="1" dirty="0">
                      <a:effectLst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BIỂU DIỄN MIỀN NGHIỆM CỦA HỆ BẤT PHƯƠNG TRÌNH </a:t>
                  </a:r>
                </a:p>
                <a:p>
                  <a:pPr marL="0" marR="0" algn="just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4700" b="1" dirty="0">
                      <a:effectLst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 BẬC NHẤT HAI ẨN TRÊN MẶT PHẲNG TỌA ĐỘ</a:t>
                  </a:r>
                  <a:endParaRPr lang="en-US" sz="47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76" name="Group 32"/>
                <p:cNvGrpSpPr/>
                <p:nvPr/>
              </p:nvGrpSpPr>
              <p:grpSpPr>
                <a:xfrm>
                  <a:off x="7459670" y="7568265"/>
                  <a:ext cx="1392614" cy="1099918"/>
                  <a:chOff x="7459669" y="6587570"/>
                  <a:chExt cx="1381117" cy="1099918"/>
                </a:xfrm>
              </p:grpSpPr>
              <p:sp>
                <p:nvSpPr>
                  <p:cNvPr id="77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78" name="Group 41"/>
                  <p:cNvGrpSpPr/>
                  <p:nvPr/>
                </p:nvGrpSpPr>
                <p:grpSpPr>
                  <a:xfrm>
                    <a:off x="7469186" y="6587570"/>
                    <a:ext cx="1371600" cy="731520"/>
                    <a:chOff x="7469186" y="6587570"/>
                    <a:chExt cx="1371600" cy="731520"/>
                  </a:xfrm>
                </p:grpSpPr>
                <p:sp>
                  <p:nvSpPr>
                    <p:cNvPr id="79" name="Round Same Side Corner Rectangle 78"/>
                    <p:cNvSpPr/>
                    <p:nvPr/>
                  </p:nvSpPr>
                  <p:spPr>
                    <a:xfrm rot="5400000">
                      <a:off x="7789226" y="6267530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0" name="TextBox 79"/>
                    <p:cNvSpPr txBox="1"/>
                    <p:nvPr/>
                  </p:nvSpPr>
                  <p:spPr>
                    <a:xfrm>
                      <a:off x="7900152" y="6607409"/>
                      <a:ext cx="507513" cy="7079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4000" b="1" dirty="0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p:txBody>
                </p:sp>
              </p:grpSp>
            </p:grpSp>
          </p:grpSp>
          <p:sp>
            <p:nvSpPr>
              <p:cNvPr id="84" name="Isosceles Triangle 44"/>
              <p:cNvSpPr/>
              <p:nvPr/>
            </p:nvSpPr>
            <p:spPr>
              <a:xfrm rot="16200000">
                <a:off x="1458749" y="11114251"/>
                <a:ext cx="143671" cy="165569"/>
              </a:xfrm>
              <a:custGeom>
                <a:avLst/>
                <a:gdLst>
                  <a:gd name="connsiteX0" fmla="*/ 0 w 293725"/>
                  <a:gd name="connsiteY0" fmla="*/ 164224 h 164224"/>
                  <a:gd name="connsiteX1" fmla="*/ 146863 w 293725"/>
                  <a:gd name="connsiteY1" fmla="*/ 0 h 164224"/>
                  <a:gd name="connsiteX2" fmla="*/ 293725 w 293725"/>
                  <a:gd name="connsiteY2" fmla="*/ 164224 h 164224"/>
                  <a:gd name="connsiteX3" fmla="*/ 0 w 293725"/>
                  <a:gd name="connsiteY3" fmla="*/ 164224 h 164224"/>
                  <a:gd name="connsiteX0" fmla="*/ 2363 w 296088"/>
                  <a:gd name="connsiteY0" fmla="*/ 164221 h 164221"/>
                  <a:gd name="connsiteX1" fmla="*/ 0 w 296088"/>
                  <a:gd name="connsiteY1" fmla="*/ 0 h 164221"/>
                  <a:gd name="connsiteX2" fmla="*/ 296088 w 296088"/>
                  <a:gd name="connsiteY2" fmla="*/ 164221 h 164221"/>
                  <a:gd name="connsiteX3" fmla="*/ 2363 w 296088"/>
                  <a:gd name="connsiteY3" fmla="*/ 164221 h 16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088" h="164221">
                    <a:moveTo>
                      <a:pt x="2363" y="164221"/>
                    </a:moveTo>
                    <a:cubicBezTo>
                      <a:pt x="1575" y="109481"/>
                      <a:pt x="788" y="54740"/>
                      <a:pt x="0" y="0"/>
                    </a:cubicBezTo>
                    <a:lnTo>
                      <a:pt x="296088" y="164221"/>
                    </a:lnTo>
                    <a:lnTo>
                      <a:pt x="2363" y="164221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47" name="Group 67"/>
              <p:cNvGrpSpPr/>
              <p:nvPr/>
            </p:nvGrpSpPr>
            <p:grpSpPr>
              <a:xfrm>
                <a:off x="1447799" y="9982204"/>
                <a:ext cx="20030564" cy="1213968"/>
                <a:chOff x="7459670" y="8524495"/>
                <a:chExt cx="25897876" cy="1214107"/>
              </a:xfrm>
            </p:grpSpPr>
            <p:sp>
              <p:nvSpPr>
                <p:cNvPr id="48" name="Rectangle 47"/>
                <p:cNvSpPr/>
                <p:nvPr/>
              </p:nvSpPr>
              <p:spPr>
                <a:xfrm>
                  <a:off x="9846109" y="8941882"/>
                  <a:ext cx="23511437" cy="7967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algn="just">
                    <a:lnSpc>
                      <a:spcPct val="107000"/>
                    </a:lnSpc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4700" b="1" dirty="0">
                      <a:effectLst/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ỨNG DỤNG CỦA HỆ BẤT PHƯƠNG TRÌNH BẬC NHẤT HAI ẨN</a:t>
                  </a:r>
                  <a:endParaRPr lang="en-US" sz="4700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  <p:grpSp>
              <p:nvGrpSpPr>
                <p:cNvPr id="49" name="Group 32"/>
                <p:cNvGrpSpPr/>
                <p:nvPr/>
              </p:nvGrpSpPr>
              <p:grpSpPr>
                <a:xfrm>
                  <a:off x="7459670" y="8524495"/>
                  <a:ext cx="1800325" cy="1036519"/>
                  <a:chOff x="7459669" y="7543800"/>
                  <a:chExt cx="1785462" cy="1036519"/>
                </a:xfrm>
              </p:grpSpPr>
              <p:sp>
                <p:nvSpPr>
                  <p:cNvPr id="50" name="Isosceles Triangle 44"/>
                  <p:cNvSpPr/>
                  <p:nvPr/>
                </p:nvSpPr>
                <p:spPr>
                  <a:xfrm rot="16200000">
                    <a:off x="7469936" y="753353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51" name="Group 41"/>
                  <p:cNvGrpSpPr/>
                  <p:nvPr/>
                </p:nvGrpSpPr>
                <p:grpSpPr>
                  <a:xfrm>
                    <a:off x="7469185" y="7791761"/>
                    <a:ext cx="1775946" cy="788558"/>
                    <a:chOff x="7469185" y="7791761"/>
                    <a:chExt cx="1775946" cy="788558"/>
                  </a:xfrm>
                </p:grpSpPr>
                <p:sp>
                  <p:nvSpPr>
                    <p:cNvPr id="52" name="Round Same Side Corner Rectangle 51"/>
                    <p:cNvSpPr/>
                    <p:nvPr/>
                  </p:nvSpPr>
                  <p:spPr>
                    <a:xfrm rot="5400000">
                      <a:off x="7962879" y="7298067"/>
                      <a:ext cx="788557" cy="1775946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8079807" y="7872351"/>
                      <a:ext cx="656097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 dirty="0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p:txBody>
                </p:sp>
              </p:grpSp>
            </p:grpSp>
          </p:grpSp>
          <p:sp>
            <p:nvSpPr>
              <p:cNvPr id="65" name="Isosceles Triangle 44"/>
              <p:cNvSpPr/>
              <p:nvPr/>
            </p:nvSpPr>
            <p:spPr>
              <a:xfrm rot="16200000">
                <a:off x="1458750" y="12246878"/>
                <a:ext cx="143671" cy="165569"/>
              </a:xfrm>
              <a:custGeom>
                <a:avLst/>
                <a:gdLst>
                  <a:gd name="connsiteX0" fmla="*/ 0 w 293725"/>
                  <a:gd name="connsiteY0" fmla="*/ 164224 h 164224"/>
                  <a:gd name="connsiteX1" fmla="*/ 146863 w 293725"/>
                  <a:gd name="connsiteY1" fmla="*/ 0 h 164224"/>
                  <a:gd name="connsiteX2" fmla="*/ 293725 w 293725"/>
                  <a:gd name="connsiteY2" fmla="*/ 164224 h 164224"/>
                  <a:gd name="connsiteX3" fmla="*/ 0 w 293725"/>
                  <a:gd name="connsiteY3" fmla="*/ 164224 h 164224"/>
                  <a:gd name="connsiteX0" fmla="*/ 2363 w 296088"/>
                  <a:gd name="connsiteY0" fmla="*/ 164221 h 164221"/>
                  <a:gd name="connsiteX1" fmla="*/ 0 w 296088"/>
                  <a:gd name="connsiteY1" fmla="*/ 0 h 164221"/>
                  <a:gd name="connsiteX2" fmla="*/ 296088 w 296088"/>
                  <a:gd name="connsiteY2" fmla="*/ 164221 h 164221"/>
                  <a:gd name="connsiteX3" fmla="*/ 2363 w 296088"/>
                  <a:gd name="connsiteY3" fmla="*/ 164221 h 164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6088" h="164221">
                    <a:moveTo>
                      <a:pt x="2363" y="164221"/>
                    </a:moveTo>
                    <a:cubicBezTo>
                      <a:pt x="1575" y="109481"/>
                      <a:pt x="788" y="54740"/>
                      <a:pt x="0" y="0"/>
                    </a:cubicBezTo>
                    <a:lnTo>
                      <a:pt x="296088" y="164221"/>
                    </a:lnTo>
                    <a:lnTo>
                      <a:pt x="2363" y="164221"/>
                    </a:ln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200">
                  <a:solidFill>
                    <a:prstClr val="white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3165290" y="3009806"/>
              <a:ext cx="4418523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ĐẠI SỐ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4441592" y="3900043"/>
              <a:ext cx="1316269" cy="1323399"/>
              <a:chOff x="4902568" y="2922072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4902568" y="2922072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F6311BF-A4CF-4E55-85D0-0A86514BB33B}"/>
              </a:ext>
            </a:extLst>
          </p:cNvPr>
          <p:cNvGrpSpPr/>
          <p:nvPr/>
        </p:nvGrpSpPr>
        <p:grpSpPr>
          <a:xfrm>
            <a:off x="6781800" y="3738792"/>
            <a:ext cx="15697200" cy="1754038"/>
            <a:chOff x="71819" y="108752"/>
            <a:chExt cx="6395438" cy="872484"/>
          </a:xfrm>
        </p:grpSpPr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E248C2BE-8566-4C92-B9DC-0F7EBDD76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19" y="148683"/>
              <a:ext cx="6395438" cy="824094"/>
            </a:xfrm>
            <a:prstGeom prst="rect">
              <a:avLst/>
            </a:prstGeom>
          </p:spPr>
        </p:pic>
        <p:sp>
          <p:nvSpPr>
            <p:cNvPr id="114" name="TextBox 321">
              <a:extLst>
                <a:ext uri="{FF2B5EF4-FFF2-40B4-BE49-F238E27FC236}">
                  <a16:creationId xmlns:a16="http://schemas.microsoft.com/office/drawing/2014/main" id="{39A246B9-3D0B-4A2B-A2B0-AD412E909BB4}"/>
                </a:ext>
              </a:extLst>
            </p:cNvPr>
            <p:cNvSpPr txBox="1"/>
            <p:nvPr/>
          </p:nvSpPr>
          <p:spPr>
            <a:xfrm>
              <a:off x="1235200" y="145136"/>
              <a:ext cx="4239341" cy="59589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5400" b="1" kern="1200" dirty="0">
                  <a:solidFill>
                    <a:srgbClr val="FCFFEF"/>
                  </a:solidFill>
                  <a:effectLst/>
                  <a:latin typeface="Calibri" panose="020F0502020204030204" pitchFamily="34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HỆ BẤT PHƯƠNG TRÌNH BẬC NHẤT HAI ẨN</a:t>
              </a:r>
              <a:endParaRPr lang="en-US" sz="5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5" name="TextBox 321">
              <a:extLst>
                <a:ext uri="{FF2B5EF4-FFF2-40B4-BE49-F238E27FC236}">
                  <a16:creationId xmlns:a16="http://schemas.microsoft.com/office/drawing/2014/main" id="{EFE5FD9A-8DAE-41E9-BE5B-4B8636094028}"/>
                </a:ext>
              </a:extLst>
            </p:cNvPr>
            <p:cNvSpPr txBox="1"/>
            <p:nvPr/>
          </p:nvSpPr>
          <p:spPr>
            <a:xfrm>
              <a:off x="366091" y="108752"/>
              <a:ext cx="715323" cy="87248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algn="ctr">
                <a:lnSpc>
                  <a:spcPct val="106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6000" b="1" dirty="0">
                  <a:solidFill>
                    <a:srgbClr val="FFFFFF"/>
                  </a:solidFill>
                  <a:latin typeface="Calibri" panose="020F0502020204030204" pitchFamily="34" charset="0"/>
                  <a:ea typeface="Cascadia Mono" panose="020B0609020000020004" pitchFamily="49" charset="0"/>
                  <a:cs typeface="Times New Roman" panose="02020603050405020304" pitchFamily="18" charset="0"/>
                </a:rPr>
                <a:t>4</a:t>
              </a:r>
              <a:endParaRPr lang="en-US" sz="6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7" name="Rounded Rectangle 1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0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1. HỆ BẤT PHƯƠNG TRÌNH BẬC NHẤT HAI ẨN</a:t>
            </a:r>
            <a:endParaRPr lang="en-US" dirty="0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3032125"/>
            <a:ext cx="11353800" cy="10607675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nay,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lạnh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: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vốn</a:t>
            </a:r>
            <a:r>
              <a:rPr lang="en-US" dirty="0"/>
              <a:t> ban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1,2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ước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100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bao </a:t>
            </a:r>
            <a:r>
              <a:rPr lang="en-US" dirty="0" err="1"/>
              <a:t>nhiêu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nhuận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?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253913" y="3009900"/>
                <a:ext cx="11901487" cy="1060766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/>
                  <a:t>HĐ1: G</a:t>
                </a:r>
                <a:r>
                  <a:rPr lang="en-US" dirty="0" err="1"/>
                  <a:t>ọi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.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tiền</a:t>
                </a:r>
                <a:r>
                  <a:rPr lang="en-US" dirty="0"/>
                  <a:t> </a:t>
                </a:r>
                <a:r>
                  <a:rPr lang="en-US" dirty="0" err="1"/>
                  <a:t>vốn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bỏ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b="1" dirty="0" err="1"/>
                  <a:t>Giải</a:t>
                </a:r>
                <a:r>
                  <a:rPr lang="en-US" b="1" dirty="0"/>
                  <a:t>: </a:t>
                </a:r>
                <a:r>
                  <a:rPr lang="en-US" dirty="0"/>
                  <a:t>a)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. Khi </a:t>
                </a:r>
                <a:r>
                  <a:rPr lang="en-US" dirty="0" err="1"/>
                  <a:t>đó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  Do </a:t>
                </a:r>
                <a:r>
                  <a:rPr lang="en-US" dirty="0" err="1"/>
                  <a:t>nhu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:r>
                  <a:rPr lang="en-US" dirty="0" err="1"/>
                  <a:t>trường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100  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đk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Vì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vốn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chủ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tư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vượt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1,2 </a:t>
                </a:r>
                <a:r>
                  <a:rPr lang="en-US" dirty="0" err="1"/>
                  <a:t>tỉ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kiện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≤1200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c)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tiền</a:t>
                </a:r>
                <a:r>
                  <a:rPr lang="en-US" dirty="0"/>
                  <a:t> </a:t>
                </a:r>
                <a:r>
                  <a:rPr lang="en-US" dirty="0" err="1"/>
                  <a:t>lãi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dự</a:t>
                </a:r>
                <a:r>
                  <a:rPr lang="en-US" dirty="0"/>
                  <a:t> </a:t>
                </a:r>
                <a:r>
                  <a:rPr lang="en-US" dirty="0" err="1"/>
                  <a:t>kiến</a:t>
                </a:r>
                <a:r>
                  <a:rPr lang="en-US" dirty="0"/>
                  <a:t>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3,5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3913" y="3009900"/>
                <a:ext cx="11901487" cy="10607665"/>
              </a:xfrm>
              <a:prstGeom prst="rect">
                <a:avLst/>
              </a:prstGeom>
              <a:blipFill>
                <a:blip r:embed="rId4"/>
                <a:stretch>
                  <a:fillRect l="-2251" t="-1894" r="-2251" b="-40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705856-5AFF-455E-B94A-9F03CD6D39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681156"/>
              </p:ext>
            </p:extLst>
          </p:nvPr>
        </p:nvGraphicFramePr>
        <p:xfrm>
          <a:off x="1143000" y="6629400"/>
          <a:ext cx="10896600" cy="21323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81644">
                  <a:extLst>
                    <a:ext uri="{9D8B030D-6E8A-4147-A177-3AD203B41FA5}">
                      <a16:colId xmlns:a16="http://schemas.microsoft.com/office/drawing/2014/main" val="768098747"/>
                    </a:ext>
                  </a:extLst>
                </a:gridCol>
                <a:gridCol w="3907478">
                  <a:extLst>
                    <a:ext uri="{9D8B030D-6E8A-4147-A177-3AD203B41FA5}">
                      <a16:colId xmlns:a16="http://schemas.microsoft.com/office/drawing/2014/main" val="4223190020"/>
                    </a:ext>
                  </a:extLst>
                </a:gridCol>
                <a:gridCol w="3907478">
                  <a:extLst>
                    <a:ext uri="{9D8B030D-6E8A-4147-A177-3AD203B41FA5}">
                      <a16:colId xmlns:a16="http://schemas.microsoft.com/office/drawing/2014/main" val="346193924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Điều hòa hai chiều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Điều hòa một chiều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857457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Giá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mua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vào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triệu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đồng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/1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máy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 triệu đồng/1 máy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8165379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Lợi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nhuận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dự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kiến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3,5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triệu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đồng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/1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máy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triệu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đồng</a:t>
                      </a:r>
                      <a:r>
                        <a:rPr lang="en-US" sz="2800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/1 </a:t>
                      </a:r>
                      <a:r>
                        <a:rPr lang="en-US" sz="2800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máy</a:t>
                      </a:r>
                      <a:endParaRPr lang="en-US" sz="2800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909705"/>
                  </a:ext>
                </a:extLst>
              </a:tr>
            </a:tbl>
          </a:graphicData>
        </a:graphic>
      </p:graphicFrame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160B0663-8F94-42AA-8EE6-55DCA49EB4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888831"/>
              </p:ext>
            </p:extLst>
          </p:nvPr>
        </p:nvGraphicFramePr>
        <p:xfrm>
          <a:off x="12130088" y="6786563"/>
          <a:ext cx="123825" cy="14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" name="Equation" r:id="rId5" imgW="123783" imgH="143125" progId="Equation.DSMT4">
                  <p:embed/>
                </p:oleObj>
              </mc:Choice>
              <mc:Fallback>
                <p:oleObj name="Equation" r:id="rId5" imgW="123783" imgH="14312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30088" y="6786563"/>
                        <a:ext cx="123825" cy="142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90">
            <a:extLst>
              <a:ext uri="{FF2B5EF4-FFF2-40B4-BE49-F238E27FC236}">
                <a16:creationId xmlns:a16="http://schemas.microsoft.com/office/drawing/2014/main" id="{1384DC08-87A1-42F4-B84E-80764973F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B5BAF9D1-0A60-4EC4-B063-4AA8C8771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2238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" name="Equation" r:id="rId7" imgW="126835" imgH="139518" progId="Equation.DSMT4">
                  <p:embed/>
                </p:oleObj>
              </mc:Choice>
              <mc:Fallback>
                <p:oleObj name="Equation" r:id="rId7" imgW="126835" imgH="139518" progId="Equation.DSMT4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22238" cy="144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Rectangle 91">
            <a:extLst>
              <a:ext uri="{FF2B5EF4-FFF2-40B4-BE49-F238E27FC236}">
                <a16:creationId xmlns:a16="http://schemas.microsoft.com/office/drawing/2014/main" id="{4D321740-C960-45A6-9A88-6AEEE26BF3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163800" y="7812696"/>
            <a:ext cx="1066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9549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199" y="2034075"/>
            <a:ext cx="1112520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524509" y="2060513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Ví</a:t>
                </a:r>
                <a:r>
                  <a:rPr lang="en-US" b="1" dirty="0"/>
                  <a:t> </a:t>
                </a:r>
                <a:r>
                  <a:rPr lang="en-US" b="1" dirty="0" err="1"/>
                  <a:t>dụ</a:t>
                </a:r>
                <a:r>
                  <a:rPr lang="en-US" b="1" dirty="0"/>
                  <a:t> 1.</a:t>
                </a:r>
                <a:r>
                  <a:rPr lang="en-US" dirty="0"/>
                  <a:t> Cho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b="1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≤150.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ẩn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Kiểm</a:t>
                </a:r>
                <a:r>
                  <a:rPr lang="en-US" dirty="0"/>
                  <a:t> </a:t>
                </a:r>
                <a:r>
                  <a:rPr lang="en-US" dirty="0" err="1"/>
                  <a:t>tra</a:t>
                </a:r>
                <a:r>
                  <a:rPr lang="en-US" dirty="0"/>
                  <a:t> </a:t>
                </a:r>
                <a:r>
                  <a:rPr lang="en-US" dirty="0" err="1"/>
                  <a:t>xem</a:t>
                </a:r>
                <a:r>
                  <a:rPr lang="en-US" dirty="0"/>
                  <a:t> </a:t>
                </a:r>
                <a:r>
                  <a:rPr lang="en-US" dirty="0" err="1"/>
                  <a:t>cặp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 err="1"/>
                  <a:t>Giải</a:t>
                </a:r>
                <a:r>
                  <a:rPr lang="en-US" b="1" dirty="0"/>
                  <a:t>: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đã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ẩn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Cặp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cả</a:t>
                </a:r>
                <a:r>
                  <a:rPr lang="en-US" dirty="0"/>
                  <a:t> </a:t>
                </a:r>
                <a:r>
                  <a:rPr lang="en-US" dirty="0" err="1"/>
                  <a:t>ba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dirty="0" err="1"/>
                  <a:t>nó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ẩn</a:t>
                </a:r>
                <a:r>
                  <a:rPr lang="en-US" dirty="0"/>
                  <a:t> </a:t>
                </a:r>
                <a:r>
                  <a:rPr lang="en-US" dirty="0" err="1"/>
                  <a:t>đã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4509" y="2060513"/>
                <a:ext cx="11859491" cy="11411749"/>
              </a:xfrm>
              <a:prstGeom prst="rect">
                <a:avLst/>
              </a:prstGeom>
              <a:blipFill>
                <a:blip r:embed="rId3"/>
                <a:stretch>
                  <a:fillRect l="-2311" t="-1761" r="-2209" b="-240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74043E0-A0E6-44C3-BA08-406A03C33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743286"/>
              </p:ext>
            </p:extLst>
          </p:nvPr>
        </p:nvGraphicFramePr>
        <p:xfrm>
          <a:off x="990600" y="2060513"/>
          <a:ext cx="10820400" cy="3425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0400">
                  <a:extLst>
                    <a:ext uri="{9D8B030D-6E8A-4147-A177-3AD203B41FA5}">
                      <a16:colId xmlns:a16="http://schemas.microsoft.com/office/drawing/2014/main" val="472875364"/>
                    </a:ext>
                  </a:extLst>
                </a:gridCol>
              </a:tblGrid>
              <a:tr h="3425887"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Hệ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phương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bậc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nhất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hai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ẩn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là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một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hệ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gồm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hai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hay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nhiều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phương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bậc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nhất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hai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ẩn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.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58647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3844876-6EC5-48F9-BA74-4765E29451F1}"/>
              </a:ext>
            </a:extLst>
          </p:cNvPr>
          <p:cNvSpPr txBox="1"/>
          <p:nvPr/>
        </p:nvSpPr>
        <p:spPr>
          <a:xfrm>
            <a:off x="685800" y="10189027"/>
            <a:ext cx="12192000" cy="779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n-US" sz="4400" b="0" dirty="0">
              <a:solidFill>
                <a:schemeClr val="tx1"/>
              </a:solidFill>
              <a:effectLst/>
              <a:latin typeface="Tomaho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234DAA6-5122-47CD-AD9C-2D694ED7DE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029353"/>
                  </p:ext>
                </p:extLst>
              </p:nvPr>
            </p:nvGraphicFramePr>
            <p:xfrm>
              <a:off x="990599" y="5974130"/>
              <a:ext cx="10820400" cy="34258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20400">
                      <a:extLst>
                        <a:ext uri="{9D8B030D-6E8A-4147-A177-3AD203B41FA5}">
                          <a16:colId xmlns:a16="http://schemas.microsoft.com/office/drawing/2014/main" val="472875364"/>
                        </a:ext>
                      </a:extLst>
                    </a:gridCol>
                  </a:tblGrid>
                  <a:tr h="3425887">
                    <a:tc>
                      <a:txBody>
                        <a:bodyPr/>
                        <a:lstStyle/>
                        <a:p>
                          <a:pPr marL="342900" marR="0" lvl="0" indent="-342900" algn="just">
                            <a:lnSpc>
                              <a:spcPct val="106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Symbol" panose="05050102010706020507" pitchFamily="18" charset="2"/>
                            <a:buChar char=""/>
                          </a:pP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Cặp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số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48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48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48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4800" b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sz="48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48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48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là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nghiệm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của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một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hệ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bất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phương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trình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bậc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nhất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hai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ẩn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khi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sz="4800" b="0" i="1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48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48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lang="en-US" sz="48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sz="4800" b="0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sSub>
                                    <m:sSubPr>
                                      <m:ctrlPr>
                                        <a:rPr lang="en-US" sz="48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48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b>
                                      <m:r>
                                        <a:rPr lang="en-US" sz="48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đồng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thời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là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nghiệm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của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tất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cả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các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bất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phương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trình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trong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hệ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 </a:t>
                          </a:r>
                          <a:r>
                            <a:rPr lang="en-US" sz="4800" b="0" dirty="0" err="1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đó</a:t>
                          </a:r>
                          <a:r>
                            <a:rPr lang="en-US" sz="4800" b="0" dirty="0">
                              <a:solidFill>
                                <a:schemeClr val="tx1"/>
                              </a:solidFill>
                              <a:effectLst/>
                              <a:latin typeface="Tomaho"/>
                            </a:rPr>
                            <a:t>.</a:t>
                          </a:r>
                          <a:endParaRPr lang="en-US" sz="4800" b="0" dirty="0">
                            <a:solidFill>
                              <a:schemeClr val="tx1"/>
                            </a:solidFill>
                            <a:effectLst/>
                            <a:latin typeface="Tomaho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25864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9234DAA6-5122-47CD-AD9C-2D694ED7DE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69029353"/>
                  </p:ext>
                </p:extLst>
              </p:nvPr>
            </p:nvGraphicFramePr>
            <p:xfrm>
              <a:off x="990599" y="5974130"/>
              <a:ext cx="10820400" cy="34258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820400">
                      <a:extLst>
                        <a:ext uri="{9D8B030D-6E8A-4147-A177-3AD203B41FA5}">
                          <a16:colId xmlns:a16="http://schemas.microsoft.com/office/drawing/2014/main" val="472875364"/>
                        </a:ext>
                      </a:extLst>
                    </a:gridCol>
                  </a:tblGrid>
                  <a:tr h="34258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6" t="-5338" r="-225" b="-17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5258647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5108986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Luyện</a:t>
                </a:r>
                <a:r>
                  <a:rPr lang="en-US" b="1" dirty="0"/>
                  <a:t> </a:t>
                </a:r>
                <a:r>
                  <a:rPr lang="en-US" b="1" dirty="0" err="1"/>
                  <a:t>tập</a:t>
                </a:r>
                <a:r>
                  <a:rPr lang="en-US" b="1" dirty="0"/>
                  <a:t> 1.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i="1" dirty="0" err="1"/>
                  <a:t>tình</a:t>
                </a:r>
                <a:r>
                  <a:rPr lang="en-US" i="1" dirty="0"/>
                  <a:t> </a:t>
                </a:r>
                <a:r>
                  <a:rPr lang="en-US" i="1" dirty="0" err="1"/>
                  <a:t>huống</a:t>
                </a:r>
                <a:r>
                  <a:rPr lang="en-US" i="1" dirty="0"/>
                  <a:t> </a:t>
                </a:r>
                <a:r>
                  <a:rPr lang="en-US" i="1" dirty="0" err="1"/>
                  <a:t>mở</a:t>
                </a:r>
                <a:r>
                  <a:rPr lang="en-US" i="1" dirty="0"/>
                  <a:t> </a:t>
                </a:r>
                <a:r>
                  <a:rPr lang="en-US" i="1" dirty="0" err="1"/>
                  <a:t>đầu</a:t>
                </a:r>
                <a:r>
                  <a:rPr lang="en-US" dirty="0"/>
                  <a:t>,</a:t>
                </a:r>
                <a:r>
                  <a:rPr lang="en-US" i="1" dirty="0"/>
                  <a:t>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. </a:t>
                </a:r>
                <a:r>
                  <a:rPr lang="en-US" dirty="0" err="1"/>
                  <a:t>Từ</a:t>
                </a:r>
                <a:r>
                  <a:rPr lang="en-US" dirty="0"/>
                  <a:t> HĐ1, </a:t>
                </a:r>
                <a:r>
                  <a:rPr lang="en-US" dirty="0" err="1"/>
                  <a:t>viết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ẩn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244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Giải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ẩn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ở HĐ1 </a:t>
                </a:r>
                <a:r>
                  <a:rPr lang="en-US" dirty="0" err="1"/>
                  <a:t>là</a:t>
                </a:r>
                <a:r>
                  <a:rPr lang="en-US" dirty="0"/>
                  <a:t>    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≤100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≤1200.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</a:t>
                </a:r>
                <a:r>
                  <a:rPr lang="en-US" dirty="0" err="1"/>
                  <a:t>Cặp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5;20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tất</a:t>
                </a:r>
                <a:r>
                  <a:rPr lang="en-US" dirty="0"/>
                  <a:t> </a:t>
                </a:r>
                <a:r>
                  <a:rPr lang="en-US" dirty="0" err="1"/>
                  <a:t>cả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dirty="0" err="1"/>
                  <a:t>nó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27533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64099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2. BIỂU DIỄN MIỀN NGHIỆM CỦA HỆ BẤT PHƯƠNG TRÌNH BẬC NHẤT HAI ẨN TRÊN MẶT PHẲNG TỌA ĐỘ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445094"/>
                <a:ext cx="11353800" cy="1005818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HĐ2: </a:t>
                </a:r>
                <a:r>
                  <a:rPr lang="en-US" dirty="0"/>
                  <a:t>Cho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 </a:t>
                </a:r>
                <a:r>
                  <a:rPr lang="en-US" dirty="0" err="1"/>
                  <a:t>cắt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trục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indent="-914400">
                  <a:buAutoNum type="alphaLcParenR"/>
                </a:pP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tương</a:t>
                </a:r>
                <a:r>
                  <a:rPr lang="en-US" dirty="0"/>
                  <a:t> </a:t>
                </a:r>
                <a:r>
                  <a:rPr lang="en-US" dirty="0" err="1"/>
                  <a:t>ứng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≤150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OAB (H.2.5)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hay </a:t>
                </a:r>
                <a:r>
                  <a:rPr lang="en-US" dirty="0" err="1"/>
                  <a:t>không</a:t>
                </a:r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45094"/>
                <a:ext cx="11353800" cy="10058181"/>
              </a:xfrm>
              <a:prstGeom prst="rect">
                <a:avLst/>
              </a:prstGeom>
              <a:blipFill>
                <a:blip r:embed="rId4"/>
                <a:stretch>
                  <a:fillRect l="-2468" t="-1998" r="-160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253913" y="3445093"/>
                <a:ext cx="11901487" cy="10058175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c) </a:t>
                </a:r>
                <a:r>
                  <a:rPr lang="en-US" dirty="0" err="1"/>
                  <a:t>Lấy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chẳng</a:t>
                </a:r>
                <a:r>
                  <a:rPr lang="en-US" dirty="0"/>
                  <a:t> </a:t>
                </a:r>
                <a:r>
                  <a:rPr lang="en-US" dirty="0" err="1"/>
                  <a:t>hạn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1;2</m:t>
                        </m:r>
                      </m:e>
                    </m:d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hoặc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cạnh</a:t>
                </a:r>
                <a:r>
                  <a:rPr lang="en-US" dirty="0"/>
                  <a:t> </a:t>
                </a:r>
                <a:r>
                  <a:rPr lang="en-US" dirty="0" err="1"/>
                  <a:t>nào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chẳng</a:t>
                </a:r>
                <a:r>
                  <a:rPr lang="en-US" dirty="0"/>
                  <a:t> </a:t>
                </a:r>
                <a:r>
                  <a:rPr lang="en-US" dirty="0" err="1"/>
                  <a:t>hạn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1;149</m:t>
                        </m:r>
                      </m:e>
                    </m:d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kiểm</a:t>
                </a:r>
                <a:r>
                  <a:rPr lang="en-US" dirty="0"/>
                  <a:t> </a:t>
                </a:r>
                <a:r>
                  <a:rPr lang="en-US" dirty="0" err="1"/>
                  <a:t>tra</a:t>
                </a:r>
                <a:r>
                  <a:rPr lang="en-US" dirty="0"/>
                  <a:t> </a:t>
                </a:r>
                <a:r>
                  <a:rPr lang="en-US" dirty="0" err="1"/>
                  <a:t>xem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hay </a:t>
                </a:r>
                <a:r>
                  <a:rPr lang="en-US" dirty="0" err="1"/>
                  <a:t>không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≤150.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3913" y="3445093"/>
                <a:ext cx="11901487" cy="10058175"/>
              </a:xfrm>
              <a:prstGeom prst="rect">
                <a:avLst/>
              </a:prstGeom>
              <a:blipFill>
                <a:blip r:embed="rId5"/>
                <a:stretch>
                  <a:fillRect l="-2251" t="-1998" r="-97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160B0663-8F94-42AA-8EE6-55DCA49EB4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30088" y="6786563"/>
          <a:ext cx="123825" cy="14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6" name="Equation" r:id="rId6" imgW="123783" imgH="143125" progId="Equation.DSMT4">
                  <p:embed/>
                </p:oleObj>
              </mc:Choice>
              <mc:Fallback>
                <p:oleObj name="Equation" r:id="rId6" imgW="123783" imgH="143125" progId="Equation.DSMT4">
                  <p:embed/>
                  <p:pic>
                    <p:nvPicPr>
                      <p:cNvPr id="94" name="Object 93">
                        <a:extLst>
                          <a:ext uri="{FF2B5EF4-FFF2-40B4-BE49-F238E27FC236}">
                            <a16:creationId xmlns:a16="http://schemas.microsoft.com/office/drawing/2014/main" id="{160B0663-8F94-42AA-8EE6-55DCA49EB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130088" y="6786563"/>
                        <a:ext cx="123825" cy="142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90">
            <a:extLst>
              <a:ext uri="{FF2B5EF4-FFF2-40B4-BE49-F238E27FC236}">
                <a16:creationId xmlns:a16="http://schemas.microsoft.com/office/drawing/2014/main" id="{1384DC08-87A1-42F4-B84E-80764973F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B5BAF9D1-0A60-4EC4-B063-4AA8C8771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2238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Equation" r:id="rId8" imgW="126835" imgH="139518" progId="Equation.DSMT4">
                  <p:embed/>
                </p:oleObj>
              </mc:Choice>
              <mc:Fallback>
                <p:oleObj name="Equation" r:id="rId8" imgW="126835" imgH="139518" progId="Equation.DSMT4">
                  <p:embed/>
                  <p:pic>
                    <p:nvPicPr>
                      <p:cNvPr id="102" name="Object 101">
                        <a:extLst>
                          <a:ext uri="{FF2B5EF4-FFF2-40B4-BE49-F238E27FC236}">
                            <a16:creationId xmlns:a16="http://schemas.microsoft.com/office/drawing/2014/main" id="{B5BAF9D1-0A60-4EC4-B063-4AA8C87715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22238" cy="144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Rectangle 91">
            <a:extLst>
              <a:ext uri="{FF2B5EF4-FFF2-40B4-BE49-F238E27FC236}">
                <a16:creationId xmlns:a16="http://schemas.microsoft.com/office/drawing/2014/main" id="{4D321740-C960-45A6-9A88-6AEEE26BF3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163800" y="7812696"/>
            <a:ext cx="1066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6980913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3400" y="1981200"/>
                <a:ext cx="113538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Giải</a:t>
                </a:r>
                <a:endParaRPr lang="en-US" b="1" dirty="0"/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phương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1;0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dirty="0" err="1"/>
                  <a:t>Miền</a:t>
                </a:r>
                <a:r>
                  <a:rPr lang="en-US" dirty="0"/>
                  <a:t> nghiệm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</a:p>
              <a:p>
                <a:pPr marL="0" indent="0" algn="just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≤150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gốc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 (H.2.5) 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dirty="0"/>
                  <a:t>c)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1;2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tất</a:t>
                </a:r>
                <a:r>
                  <a:rPr lang="en-US" dirty="0"/>
                  <a:t> </a:t>
                </a:r>
                <a:r>
                  <a:rPr lang="en-US" dirty="0" err="1"/>
                  <a:t>cả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dirty="0" err="1"/>
                  <a:t>nó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981200"/>
                <a:ext cx="11353800" cy="11411749"/>
              </a:xfrm>
              <a:prstGeom prst="rect">
                <a:avLst/>
              </a:prstGeom>
              <a:blipFill>
                <a:blip r:embed="rId3"/>
                <a:stretch>
                  <a:fillRect l="-2414" t="-1761" r="-23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87200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1;149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cạnh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tất</a:t>
                </a:r>
                <a:r>
                  <a:rPr lang="en-US" dirty="0"/>
                  <a:t> </a:t>
                </a:r>
                <a:r>
                  <a:rPr lang="en-US" dirty="0" err="1"/>
                  <a:t>cả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dirty="0" err="1"/>
                  <a:t>nó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≤150.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914400" indent="-914400">
                  <a:buAutoNum type="alphaLcParenR"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87200" cy="11411749"/>
              </a:xfrm>
              <a:prstGeom prst="rect">
                <a:avLst/>
              </a:prstGeom>
              <a:blipFill>
                <a:blip r:embed="rId4"/>
                <a:stretch>
                  <a:fillRect l="-2254" t="-1761" r="-153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FEB057F-8BF3-42E9-8D1A-BAE8CB3A87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911" t="2096" r="-4911" b="-1634"/>
          <a:stretch/>
        </p:blipFill>
        <p:spPr>
          <a:xfrm>
            <a:off x="14859000" y="6172200"/>
            <a:ext cx="5834697" cy="689005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5692217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1112520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Ví</a:t>
                </a:r>
                <a:r>
                  <a:rPr lang="en-US" b="1" dirty="0"/>
                  <a:t> </a:t>
                </a:r>
                <a:r>
                  <a:rPr lang="en-US" b="1" dirty="0" err="1"/>
                  <a:t>dụ</a:t>
                </a:r>
                <a:r>
                  <a:rPr lang="en-US" b="1" dirty="0"/>
                  <a:t> 2.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diễn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≤2400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≤100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≥0.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3"/>
                <a:stretch>
                  <a:fillRect l="-2054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CF5061-D0F3-4C6D-AB4D-BE57D796A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848154"/>
              </p:ext>
            </p:extLst>
          </p:nvPr>
        </p:nvGraphicFramePr>
        <p:xfrm>
          <a:off x="1143000" y="2133600"/>
          <a:ext cx="10668000" cy="6806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0">
                  <a:extLst>
                    <a:ext uri="{9D8B030D-6E8A-4147-A177-3AD203B41FA5}">
                      <a16:colId xmlns:a16="http://schemas.microsoft.com/office/drawing/2014/main" val="1972838372"/>
                    </a:ext>
                  </a:extLst>
                </a:gridCol>
              </a:tblGrid>
              <a:tr h="564515"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Trong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mặt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phẳng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tọa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độ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,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tập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hợp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các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điểm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có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tọa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độ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là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nghiệm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hệ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phương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bậc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nhất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hai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ẩn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là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miền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nghiệm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hệ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phương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đó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.</a:t>
                      </a:r>
                    </a:p>
                    <a:p>
                      <a:pPr marL="342900" marR="0" lvl="0" indent="-342900" algn="just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Miền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nghiệm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hệ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là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giao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các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miền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nghiệm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các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phương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trong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hệ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.</a:t>
                      </a:r>
                      <a:endParaRPr lang="en-US" sz="4800" b="0" dirty="0">
                        <a:solidFill>
                          <a:schemeClr val="tx1"/>
                        </a:solidFill>
                        <a:effectLst/>
                        <a:latin typeface="Tomaho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111805"/>
                  </a:ext>
                </a:extLst>
              </a:tr>
            </a:tbl>
          </a:graphicData>
        </a:graphic>
      </p:graphicFrame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898664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Giải</a:t>
                </a:r>
                <a:r>
                  <a:rPr lang="en-US" b="1" dirty="0"/>
                  <a:t> </a:t>
                </a:r>
                <a:r>
                  <a:rPr lang="en-US" dirty="0"/>
                  <a:t>(H.2.6)</a:t>
                </a:r>
              </a:p>
              <a:p>
                <a:pPr marL="0" indent="0">
                  <a:buNone/>
                </a:pPr>
                <a:r>
                  <a:rPr lang="en-US" b="1" i="1" dirty="0" err="1"/>
                  <a:t>Bước</a:t>
                </a:r>
                <a:r>
                  <a:rPr lang="en-US" b="1" i="1" dirty="0"/>
                  <a:t> 1.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≤2400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gạch</a:t>
                </a:r>
                <a:r>
                  <a:rPr lang="en-US" dirty="0"/>
                  <a:t> </a:t>
                </a:r>
                <a:r>
                  <a:rPr lang="en-US" dirty="0" err="1"/>
                  <a:t>bỏ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còn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.</a:t>
                </a:r>
              </a:p>
              <a:p>
                <a:pPr marL="0" lvl="0" indent="0">
                  <a:buNone/>
                </a:pPr>
                <a:r>
                  <a:rPr lang="en-US" dirty="0"/>
                  <a:t>   </a:t>
                </a:r>
                <a:r>
                  <a:rPr lang="en-US" dirty="0" err="1"/>
                  <a:t>Vẽ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=2400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lvl="0" indent="0">
                  <a:buNone/>
                </a:pPr>
                <a:r>
                  <a:rPr lang="en-US" dirty="0"/>
                  <a:t>   </a:t>
                </a:r>
                <a:r>
                  <a:rPr lang="en-US" dirty="0" err="1"/>
                  <a:t>Vì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7⋅0+4⋅0=0&lt;2400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≤2400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   Do </a:t>
                </a:r>
                <a:r>
                  <a:rPr lang="en-US" dirty="0" err="1"/>
                  <a:t>đó</a:t>
                </a:r>
                <a:r>
                  <a:rPr lang="en-US" dirty="0"/>
                  <a:t>,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≤2400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</a:p>
              <a:p>
                <a:pPr marL="0" lv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gốc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i="1" dirty="0" err="1"/>
                  <a:t>Bước</a:t>
                </a:r>
                <a:r>
                  <a:rPr lang="en-US" b="1" i="1" dirty="0"/>
                  <a:t> 2. </a:t>
                </a:r>
                <a:r>
                  <a:rPr lang="en-US" dirty="0" err="1"/>
                  <a:t>Tương</a:t>
                </a:r>
                <a:r>
                  <a:rPr lang="en-US" dirty="0"/>
                  <a:t> </a:t>
                </a:r>
                <a:r>
                  <a:rPr lang="en-US" dirty="0" err="1"/>
                  <a:t>tự</a:t>
                </a:r>
                <a:r>
                  <a:rPr lang="en-US" dirty="0"/>
                  <a:t>,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gốc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lv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761" r="-180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dirty="0"/>
                  <a:t> </a:t>
                </a:r>
                <a:r>
                  <a:rPr lang="en-US" b="1" i="1" dirty="0" err="1"/>
                  <a:t>Bước</a:t>
                </a:r>
                <a:r>
                  <a:rPr lang="en-US" b="1" i="1" dirty="0"/>
                  <a:t> 3. </a:t>
                </a:r>
                <a:r>
                  <a:rPr lang="en-US" dirty="0" err="1"/>
                  <a:t>Tương</a:t>
                </a:r>
                <a:r>
                  <a:rPr lang="en-US" dirty="0"/>
                  <a:t> </a:t>
                </a:r>
                <a:r>
                  <a:rPr lang="en-US" dirty="0" err="1"/>
                  <a:t>tự</a:t>
                </a:r>
                <a:r>
                  <a:rPr lang="en-US" dirty="0"/>
                  <a:t>,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1;0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  Khi </a:t>
                </a:r>
                <a:r>
                  <a:rPr lang="en-US" dirty="0" err="1"/>
                  <a:t>đó</a:t>
                </a:r>
                <a:r>
                  <a:rPr lang="en-US" dirty="0"/>
                  <a:t>,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bị</a:t>
                </a:r>
                <a:r>
                  <a:rPr lang="en-US" dirty="0"/>
                  <a:t> </a:t>
                </a:r>
                <a:r>
                  <a:rPr lang="en-US" dirty="0" err="1"/>
                  <a:t>gạch</a:t>
                </a:r>
                <a:r>
                  <a:rPr lang="en-US" dirty="0"/>
                  <a:t> </a:t>
                </a:r>
                <a:r>
                  <a:rPr lang="en-US" dirty="0" err="1"/>
                  <a:t>chính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giao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. </a:t>
                </a:r>
                <a:r>
                  <a:rPr lang="en-US" dirty="0" err="1"/>
                  <a:t>Vậy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bị</a:t>
                </a:r>
                <a:r>
                  <a:rPr lang="en-US" dirty="0"/>
                  <a:t> </a:t>
                </a:r>
                <a:r>
                  <a:rPr lang="en-US" dirty="0" err="1"/>
                  <a:t>gạch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Hình</a:t>
                </a:r>
                <a:r>
                  <a:rPr lang="en-US" dirty="0"/>
                  <a:t> 2.6.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DD956C9-B98D-42CA-9A9E-B5955E4C2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53482" y="6858000"/>
            <a:ext cx="7266213" cy="6496849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2208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1112520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Chú</a:t>
                </a:r>
                <a:r>
                  <a:rPr lang="en-US" b="1" dirty="0"/>
                  <a:t> ý.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HĐ2,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thay</a:t>
                </a:r>
                <a:r>
                  <a:rPr lang="en-US" dirty="0"/>
                  <a:t> </a:t>
                </a:r>
                <a:r>
                  <a:rPr lang="en-US" dirty="0" err="1"/>
                  <a:t>bởi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&lt;150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bỏ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cạnh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3"/>
                <a:stretch>
                  <a:fillRect l="-2054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63A5C4-EE00-47F0-A1B7-60B160C94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442269"/>
              </p:ext>
            </p:extLst>
          </p:nvPr>
        </p:nvGraphicFramePr>
        <p:xfrm>
          <a:off x="1143000" y="2286000"/>
          <a:ext cx="105918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0">
                  <a:extLst>
                    <a:ext uri="{9D8B030D-6E8A-4147-A177-3AD203B41FA5}">
                      <a16:colId xmlns:a16="http://schemas.microsoft.com/office/drawing/2014/main" val="3086332958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Cách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xác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định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miền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nghiệm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một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hệ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phương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bậc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nhất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hai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ẩn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: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14787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3A0E8D8-1A2A-4EF5-9CD5-6E6CEC1D3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661691"/>
              </p:ext>
            </p:extLst>
          </p:nvPr>
        </p:nvGraphicFramePr>
        <p:xfrm>
          <a:off x="1143000" y="4048760"/>
          <a:ext cx="10591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0">
                  <a:extLst>
                    <a:ext uri="{9D8B030D-6E8A-4147-A177-3AD203B41FA5}">
                      <a16:colId xmlns:a16="http://schemas.microsoft.com/office/drawing/2014/main" val="3086332958"/>
                    </a:ext>
                  </a:extLst>
                </a:gridCol>
              </a:tblGrid>
              <a:tr h="2209800"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Trên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cùng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một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mặt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phẳng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tọa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độ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,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xác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định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miền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nghiệm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mỗi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phương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bậc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nhất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hai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ẩn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trong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hệ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và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gạch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bỏ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miền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còn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lại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.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147875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0AF722-BCA0-48DD-A5A8-D5C952217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289298"/>
              </p:ext>
            </p:extLst>
          </p:nvPr>
        </p:nvGraphicFramePr>
        <p:xfrm>
          <a:off x="1143000" y="8415909"/>
          <a:ext cx="10591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91800">
                  <a:extLst>
                    <a:ext uri="{9D8B030D-6E8A-4147-A177-3AD203B41FA5}">
                      <a16:colId xmlns:a16="http://schemas.microsoft.com/office/drawing/2014/main" val="3086332958"/>
                    </a:ext>
                  </a:extLst>
                </a:gridCol>
              </a:tblGrid>
              <a:tr h="2209800">
                <a:tc>
                  <a:txBody>
                    <a:bodyPr/>
                    <a:lstStyle/>
                    <a:p>
                      <a:pPr marL="342900" marR="0" lvl="0" indent="-34290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Miền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không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bị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gạch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là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miền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nghiệm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của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hệ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bất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phương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trình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đã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 </a:t>
                      </a:r>
                      <a:r>
                        <a:rPr lang="en-US" sz="4800" b="0" dirty="0" err="1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cho</a:t>
                      </a:r>
                      <a:r>
                        <a:rPr lang="en-US" sz="4800" b="0" dirty="0">
                          <a:solidFill>
                            <a:schemeClr val="tx1"/>
                          </a:solidFill>
                          <a:effectLst/>
                          <a:latin typeface="Tomaho"/>
                        </a:rPr>
                        <a:t>.</a:t>
                      </a:r>
                      <a:endParaRPr lang="en-US" sz="4800" b="0" dirty="0">
                        <a:solidFill>
                          <a:schemeClr val="tx1"/>
                        </a:solidFill>
                        <a:effectLst/>
                        <a:latin typeface="Tomaho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147875"/>
                  </a:ext>
                </a:extLst>
              </a:tr>
            </a:tbl>
          </a:graphicData>
        </a:graphic>
      </p:graphicFrame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225462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Luyện </a:t>
                </a:r>
                <a:r>
                  <a:rPr lang="en-US" b="1" dirty="0" err="1"/>
                  <a:t>tập</a:t>
                </a:r>
                <a:r>
                  <a:rPr lang="en-US" b="1" dirty="0"/>
                  <a:t> 2.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diễn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ẩn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≤100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&lt;120.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b="1" dirty="0" err="1"/>
                  <a:t>Giải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b="1" i="1" dirty="0" err="1"/>
                  <a:t>Bước</a:t>
                </a:r>
                <a:r>
                  <a:rPr lang="en-US" b="1" i="1" dirty="0"/>
                  <a:t> 1.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1;0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i="1" dirty="0" err="1"/>
                  <a:t>Bước</a:t>
                </a:r>
                <a:r>
                  <a:rPr lang="en-US" b="1" i="1" dirty="0"/>
                  <a:t> 2.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kể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i="1" dirty="0"/>
                  <a:t>Bước 3.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 t="-1761" b="-197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gạch</a:t>
                </a:r>
                <a:r>
                  <a:rPr lang="en-US" dirty="0"/>
                  <a:t> </a:t>
                </a:r>
                <a:r>
                  <a:rPr lang="en-US" dirty="0" err="1"/>
                  <a:t>bỏ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còn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.</a:t>
                </a:r>
              </a:p>
              <a:p>
                <a:pPr lvl="0"/>
                <a:r>
                  <a:rPr lang="en-US" dirty="0" err="1"/>
                  <a:t>Vẽ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0"/>
                <a:r>
                  <a:rPr lang="en-US" dirty="0" err="1"/>
                  <a:t>Vì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0+0=0&lt;100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Do </a:t>
                </a:r>
                <a:r>
                  <a:rPr lang="en-US" dirty="0" err="1"/>
                  <a:t>đó</a:t>
                </a:r>
                <a:r>
                  <a:rPr lang="en-US" dirty="0"/>
                  <a:t>,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gốc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i="1" dirty="0" err="1"/>
                  <a:t>Bước</a:t>
                </a:r>
                <a:r>
                  <a:rPr lang="en-US" b="1" i="1" dirty="0"/>
                  <a:t> 4. </a:t>
                </a:r>
                <a:r>
                  <a:rPr lang="en-US" dirty="0" err="1"/>
                  <a:t>Tương</a:t>
                </a:r>
                <a:r>
                  <a:rPr lang="en-US" dirty="0"/>
                  <a:t> </a:t>
                </a:r>
                <a:r>
                  <a:rPr lang="en-US" dirty="0" err="1"/>
                  <a:t>tự</a:t>
                </a:r>
                <a:r>
                  <a:rPr lang="en-US" dirty="0"/>
                  <a:t>,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&lt;120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nửa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bờ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gốc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kể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thẳng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=120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761" r="-215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6136296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1112520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Khi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gạch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. </a:t>
            </a:r>
            <a:r>
              <a:rPr lang="en-US" dirty="0" err="1"/>
              <a:t>Vậy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gạch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192000" y="1981200"/>
            <a:ext cx="1185949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D33A24-988B-4D75-83FF-D6A8FCC62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4999" y="2286000"/>
            <a:ext cx="9336779" cy="97536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763159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9939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/>
              <a:t>3. ỨNG DỤNG CỦA HỆ BẤT PHƯƠNG TRÌNH BẬC NHẤT HAI ẨN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016470"/>
                <a:ext cx="11353800" cy="1048680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HĐ3: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thuộc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 ở HĐ2.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ba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150;0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0;150</m:t>
                        </m:r>
                      </m:e>
                    </m:d>
                  </m:oMath>
                </a14:m>
                <a:r>
                  <a:rPr lang="en-US" dirty="0"/>
                  <a:t> (H.2.5).</a:t>
                </a:r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Nêu</a:t>
                </a:r>
                <a:r>
                  <a:rPr lang="en-US" dirty="0"/>
                  <a:t> </a:t>
                </a:r>
                <a:r>
                  <a:rPr lang="en-US" dirty="0" err="1"/>
                  <a:t>nhận</a:t>
                </a:r>
                <a:r>
                  <a:rPr lang="en-US" dirty="0"/>
                  <a:t>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dấu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hoành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tung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c) </a:t>
                </a:r>
                <a:r>
                  <a:rPr lang="en-US" dirty="0" err="1"/>
                  <a:t>Nêu</a:t>
                </a:r>
                <a:r>
                  <a:rPr lang="en-US" dirty="0"/>
                  <a:t> </a:t>
                </a:r>
                <a:r>
                  <a:rPr lang="en-US" dirty="0" err="1"/>
                  <a:t>nhận</a:t>
                </a:r>
                <a:r>
                  <a:rPr lang="en-US" dirty="0"/>
                  <a:t> </a:t>
                </a:r>
                <a:r>
                  <a:rPr lang="en-US" dirty="0" err="1"/>
                  <a:t>xét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.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suy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6470"/>
                <a:ext cx="11353800" cy="10486806"/>
              </a:xfrm>
              <a:prstGeom prst="rect">
                <a:avLst/>
              </a:prstGeom>
              <a:blipFill>
                <a:blip r:embed="rId4"/>
                <a:stretch>
                  <a:fillRect l="-2414" t="-1916" r="-48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253913" y="3016469"/>
                <a:ext cx="11901487" cy="104868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Giải</a:t>
                </a:r>
                <a:endParaRPr lang="en-US" b="1" dirty="0"/>
              </a:p>
              <a:p>
                <a:pPr marL="0" indent="0" algn="just">
                  <a:buNone/>
                </a:pPr>
                <a:r>
                  <a:rPr lang="en-US" dirty="0"/>
                  <a:t>a)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150;0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=300</m:t>
                    </m:r>
                  </m:oMath>
                </a14:m>
                <a:r>
                  <a:rPr lang="en-US" dirty="0"/>
                  <a:t>,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0;150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=450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. Do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dirty="0"/>
                  <a:t>c)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≤150</m:t>
                    </m:r>
                  </m:oMath>
                </a14:m>
                <a:r>
                  <a:rPr lang="en-US" dirty="0"/>
                  <a:t>. Do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tam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0;150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=450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53913" y="3016469"/>
                <a:ext cx="11901487" cy="10486800"/>
              </a:xfrm>
              <a:prstGeom prst="rect">
                <a:avLst/>
              </a:prstGeom>
              <a:blipFill>
                <a:blip r:embed="rId5"/>
                <a:stretch>
                  <a:fillRect l="-2251" t="-1916" r="-225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4" name="Object 93">
            <a:extLst>
              <a:ext uri="{FF2B5EF4-FFF2-40B4-BE49-F238E27FC236}">
                <a16:creationId xmlns:a16="http://schemas.microsoft.com/office/drawing/2014/main" id="{160B0663-8F94-42AA-8EE6-55DCA49EB4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30088" y="6786563"/>
          <a:ext cx="123825" cy="142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Equation" r:id="rId6" imgW="123783" imgH="143125" progId="Equation.DSMT4">
                  <p:embed/>
                </p:oleObj>
              </mc:Choice>
              <mc:Fallback>
                <p:oleObj name="Equation" r:id="rId6" imgW="123783" imgH="143125" progId="Equation.DSMT4">
                  <p:embed/>
                  <p:pic>
                    <p:nvPicPr>
                      <p:cNvPr id="94" name="Object 93">
                        <a:extLst>
                          <a:ext uri="{FF2B5EF4-FFF2-40B4-BE49-F238E27FC236}">
                            <a16:creationId xmlns:a16="http://schemas.microsoft.com/office/drawing/2014/main" id="{160B0663-8F94-42AA-8EE6-55DCA49EB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130088" y="6786563"/>
                        <a:ext cx="123825" cy="142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90">
            <a:extLst>
              <a:ext uri="{FF2B5EF4-FFF2-40B4-BE49-F238E27FC236}">
                <a16:creationId xmlns:a16="http://schemas.microsoft.com/office/drawing/2014/main" id="{1384DC08-87A1-42F4-B84E-80764973F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438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2" name="Object 101">
            <a:extLst>
              <a:ext uri="{FF2B5EF4-FFF2-40B4-BE49-F238E27FC236}">
                <a16:creationId xmlns:a16="http://schemas.microsoft.com/office/drawing/2014/main" id="{B5BAF9D1-0A60-4EC4-B063-4AA8C8771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122238" cy="144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quation" r:id="rId8" imgW="126835" imgH="139518" progId="Equation.DSMT4">
                  <p:embed/>
                </p:oleObj>
              </mc:Choice>
              <mc:Fallback>
                <p:oleObj name="Equation" r:id="rId8" imgW="126835" imgH="139518" progId="Equation.DSMT4">
                  <p:embed/>
                  <p:pic>
                    <p:nvPicPr>
                      <p:cNvPr id="102" name="Object 101">
                        <a:extLst>
                          <a:ext uri="{FF2B5EF4-FFF2-40B4-BE49-F238E27FC236}">
                            <a16:creationId xmlns:a16="http://schemas.microsoft.com/office/drawing/2014/main" id="{B5BAF9D1-0A60-4EC4-B063-4AA8C87715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22238" cy="144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" name="Rectangle 91">
            <a:extLst>
              <a:ext uri="{FF2B5EF4-FFF2-40B4-BE49-F238E27FC236}">
                <a16:creationId xmlns:a16="http://schemas.microsoft.com/office/drawing/2014/main" id="{4D321740-C960-45A6-9A88-6AEEE26BF3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5163800" y="7812696"/>
            <a:ext cx="10668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368427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47800"/>
                <a:ext cx="11125201" cy="122682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Nhận</a:t>
                </a:r>
                <a:r>
                  <a:rPr lang="en-US" b="1" dirty="0"/>
                  <a:t> </a:t>
                </a:r>
                <a:r>
                  <a:rPr lang="en-US" b="1" dirty="0" err="1"/>
                  <a:t>xét</a:t>
                </a:r>
                <a:r>
                  <a:rPr lang="en-US" b="1" dirty="0"/>
                  <a:t>.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quát</a:t>
                </a:r>
                <a:r>
                  <a:rPr lang="en-US" dirty="0"/>
                  <a:t>, </a:t>
                </a:r>
                <a:r>
                  <a:rPr lang="en-US" dirty="0" err="1"/>
                  <a:t>người</a:t>
                </a:r>
                <a:r>
                  <a:rPr lang="en-US" dirty="0"/>
                  <a:t> ta </a:t>
                </a:r>
                <a:r>
                  <a:rPr lang="en-US" dirty="0" err="1"/>
                  <a:t>chứng</a:t>
                </a:r>
                <a:r>
                  <a:rPr lang="en-US" dirty="0"/>
                  <a:t> </a:t>
                </a:r>
                <a:r>
                  <a:rPr lang="en-US" dirty="0" err="1"/>
                  <a:t>minh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rằng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(hay </a:t>
                </a:r>
                <a:r>
                  <a:rPr lang="en-US" dirty="0" err="1"/>
                  <a:t>nhỏ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)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𝑏𝑦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thuộc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đa</a:t>
                </a:r>
                <a:r>
                  <a:rPr lang="en-US" dirty="0"/>
                  <a:t>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...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tức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bên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hay </a:t>
                </a:r>
                <a:r>
                  <a:rPr lang="en-US" dirty="0" err="1"/>
                  <a:t>nằm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cạnh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đa</a:t>
                </a:r>
                <a:r>
                  <a:rPr lang="en-US" dirty="0"/>
                  <a:t> </a:t>
                </a:r>
                <a:r>
                  <a:rPr lang="en-US" dirty="0" err="1"/>
                  <a:t>giác</a:t>
                </a:r>
                <a:r>
                  <a:rPr lang="en-US" dirty="0"/>
                  <a:t>, </a:t>
                </a:r>
                <a:r>
                  <a:rPr lang="en-US" dirty="0" err="1"/>
                  <a:t>đạt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đa</a:t>
                </a:r>
                <a:r>
                  <a:rPr lang="en-US" dirty="0"/>
                  <a:t>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.</a:t>
                </a:r>
              </a:p>
              <a:p>
                <a:r>
                  <a:rPr lang="en-US" b="1" dirty="0" err="1"/>
                  <a:t>Ví</a:t>
                </a:r>
                <a:r>
                  <a:rPr lang="en-US" b="1" dirty="0"/>
                  <a:t> </a:t>
                </a:r>
                <a:r>
                  <a:rPr lang="en-US" b="1" dirty="0" err="1"/>
                  <a:t>dụ</a:t>
                </a:r>
                <a:r>
                  <a:rPr lang="en-US" b="1" dirty="0"/>
                  <a:t> 3. </a:t>
                </a:r>
                <a:r>
                  <a:rPr lang="en-US" dirty="0" err="1"/>
                  <a:t>Giải</a:t>
                </a:r>
                <a:r>
                  <a:rPr lang="en-US" dirty="0"/>
                  <a:t> </a:t>
                </a:r>
                <a:r>
                  <a:rPr lang="en-US" dirty="0" err="1"/>
                  <a:t>bài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ở </a:t>
                </a:r>
                <a:r>
                  <a:rPr lang="en-US" i="1" dirty="0" err="1"/>
                  <a:t>tình</a:t>
                </a:r>
                <a:r>
                  <a:rPr lang="en-US" i="1" dirty="0"/>
                  <a:t> </a:t>
                </a:r>
                <a:r>
                  <a:rPr lang="en-US" i="1" dirty="0" err="1"/>
                  <a:t>huống</a:t>
                </a:r>
                <a:r>
                  <a:rPr lang="en-US" i="1" dirty="0"/>
                  <a:t> </a:t>
                </a:r>
                <a:r>
                  <a:rPr lang="en-US" i="1" dirty="0" err="1"/>
                  <a:t>mở</a:t>
                </a:r>
                <a:r>
                  <a:rPr lang="en-US" i="1" dirty="0"/>
                  <a:t> </a:t>
                </a:r>
                <a:r>
                  <a:rPr lang="en-US" i="1" dirty="0" err="1"/>
                  <a:t>đầu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dirty="0" err="1"/>
                  <a:t>Giải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:r>
                  <a:rPr lang="en-US" dirty="0" err="1"/>
                  <a:t>Giả</a:t>
                </a:r>
                <a:r>
                  <a:rPr lang="en-US" dirty="0"/>
                  <a:t>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Khi </a:t>
                </a:r>
                <a:r>
                  <a:rPr lang="en-US" dirty="0" err="1"/>
                  <a:t>đó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Vì</a:t>
                </a:r>
                <a:r>
                  <a:rPr lang="en-US" dirty="0"/>
                  <a:t> </a:t>
                </a:r>
                <a:r>
                  <a:rPr lang="en-US" dirty="0" err="1"/>
                  <a:t>nhu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:r>
                  <a:rPr lang="en-US" dirty="0" err="1"/>
                  <a:t>trường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100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≤100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47800"/>
                <a:ext cx="11125201" cy="12268200"/>
              </a:xfrm>
              <a:prstGeom prst="rect">
                <a:avLst/>
              </a:prstGeom>
              <a:blipFill>
                <a:blip r:embed="rId3"/>
                <a:stretch>
                  <a:fillRect l="-2463" t="-1738" r="-1916" b="-278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524000"/>
                <a:ext cx="11859491" cy="121920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  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tiền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như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triệu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tiền</a:t>
                </a:r>
                <a:r>
                  <a:rPr lang="en-US" dirty="0"/>
                  <a:t> </a:t>
                </a:r>
                <a:r>
                  <a:rPr lang="en-US" dirty="0" err="1"/>
                  <a:t>tối</a:t>
                </a:r>
                <a:r>
                  <a:rPr lang="en-US" dirty="0"/>
                  <a:t> </a:t>
                </a:r>
                <a:r>
                  <a:rPr lang="en-US" dirty="0" err="1"/>
                  <a:t>đa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tư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1,2 </a:t>
                </a:r>
                <a:r>
                  <a:rPr lang="en-US" dirty="0" err="1"/>
                  <a:t>tỉ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, </a:t>
                </a:r>
                <a:r>
                  <a:rPr lang="en-US" dirty="0" err="1"/>
                  <a:t>nên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≤1200</m:t>
                    </m:r>
                  </m:oMath>
                </a14:m>
                <a:r>
                  <a:rPr lang="en-US" dirty="0"/>
                  <a:t> hay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≤120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  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ta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ẩn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≤100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≤120.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r>
                  <a:rPr lang="en-US" dirty="0" err="1"/>
                  <a:t>Lợi</a:t>
                </a:r>
                <a:r>
                  <a:rPr lang="en-US" dirty="0"/>
                  <a:t> </a:t>
                </a:r>
                <a:r>
                  <a:rPr lang="en-US" dirty="0" err="1"/>
                  <a:t>nhuận</a:t>
                </a:r>
                <a:r>
                  <a:rPr lang="en-US" dirty="0"/>
                  <a:t>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bán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=3,5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Ta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524000"/>
                <a:ext cx="11859491" cy="12192000"/>
              </a:xfrm>
              <a:prstGeom prst="rect">
                <a:avLst/>
              </a:prstGeom>
              <a:blipFill>
                <a:blip r:embed="rId4"/>
                <a:stretch>
                  <a:fillRect l="-2260" t="-1748" r="-1900" b="-79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049979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1112520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i="1" dirty="0" err="1"/>
                  <a:t>Bước</a:t>
                </a:r>
                <a:r>
                  <a:rPr lang="en-US" b="1" i="1" dirty="0"/>
                  <a:t> 1.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.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tứ</a:t>
                </a:r>
                <a:r>
                  <a:rPr lang="en-US" dirty="0"/>
                  <a:t>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0;100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20;80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60;0</m:t>
                        </m:r>
                      </m:e>
                    </m:d>
                  </m:oMath>
                </a14:m>
                <a:r>
                  <a:rPr lang="en-US" dirty="0"/>
                  <a:t> (H.2.7).</a:t>
                </a:r>
              </a:p>
              <a:p>
                <a:pPr marL="0" indent="0">
                  <a:buNone/>
                </a:pPr>
                <a:r>
                  <a:rPr lang="en-US" b="1" i="1" dirty="0" err="1"/>
                  <a:t>Bước</a:t>
                </a:r>
                <a:r>
                  <a:rPr lang="en-US" b="1" i="1" dirty="0"/>
                  <a:t> 2.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tứ</a:t>
                </a:r>
                <a:r>
                  <a:rPr lang="en-US" dirty="0"/>
                  <a:t>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0;100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20;80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=230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60;0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=210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b="1" i="1" dirty="0" err="1"/>
                  <a:t>Bước</a:t>
                </a:r>
                <a:r>
                  <a:rPr lang="en-US" b="1" i="1" dirty="0"/>
                  <a:t> 3. </a:t>
                </a:r>
                <a:r>
                  <a:rPr lang="en-US" dirty="0"/>
                  <a:t>So </a:t>
                </a:r>
                <a:r>
                  <a:rPr lang="en-US" dirty="0" err="1"/>
                  <a:t>sánh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ở </a:t>
                </a:r>
                <a:r>
                  <a:rPr lang="en-US" dirty="0" err="1"/>
                  <a:t>Bước</a:t>
                </a:r>
                <a:r>
                  <a:rPr lang="en-US" dirty="0"/>
                  <a:t> 2, ta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20;80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=230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Vậy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tư</a:t>
                </a:r>
                <a:r>
                  <a:rPr lang="en-US" dirty="0"/>
                  <a:t> </a:t>
                </a:r>
                <a:r>
                  <a:rPr lang="en-US" dirty="0" err="1"/>
                  <a:t>kinh</a:t>
                </a:r>
                <a:r>
                  <a:rPr lang="en-US" dirty="0"/>
                  <a:t> </a:t>
                </a:r>
                <a:r>
                  <a:rPr lang="en-US" dirty="0" err="1"/>
                  <a:t>doanh</a:t>
                </a:r>
                <a:r>
                  <a:rPr lang="en-US" dirty="0"/>
                  <a:t> 20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80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điều</a:t>
                </a:r>
                <a:r>
                  <a:rPr lang="en-US" dirty="0"/>
                  <a:t> </a:t>
                </a:r>
                <a:r>
                  <a:rPr lang="en-US" dirty="0" err="1"/>
                  <a:t>hòa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lợi</a:t>
                </a:r>
                <a:r>
                  <a:rPr lang="en-US" dirty="0"/>
                  <a:t> </a:t>
                </a:r>
                <a:r>
                  <a:rPr lang="en-US" dirty="0" err="1"/>
                  <a:t>nhuận</a:t>
                </a:r>
                <a:r>
                  <a:rPr lang="en-US" dirty="0"/>
                  <a:t>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3"/>
                <a:stretch>
                  <a:fillRect l="-2260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1D50DD2-7501-4C26-B1BA-B26D39B3EC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2133600"/>
            <a:ext cx="6446019" cy="4922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40991-AB1E-4447-86E8-07A5AE3EC5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399" y="7056352"/>
            <a:ext cx="6058679" cy="612624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107673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b="1" dirty="0" err="1"/>
                  <a:t>Vận</a:t>
                </a:r>
                <a:r>
                  <a:rPr lang="en-US" b="1" dirty="0"/>
                  <a:t> </a:t>
                </a:r>
                <a:r>
                  <a:rPr lang="en-US" b="1" dirty="0" err="1"/>
                  <a:t>dụng</a:t>
                </a:r>
                <a:r>
                  <a:rPr lang="en-US" b="1" dirty="0"/>
                  <a:t>.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kế</a:t>
                </a:r>
                <a:r>
                  <a:rPr lang="en-US" dirty="0"/>
                  <a:t> </a:t>
                </a:r>
                <a:r>
                  <a:rPr lang="en-US" dirty="0" err="1"/>
                  <a:t>hoạch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chiếc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lượt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10 </a:t>
                </a:r>
                <a:r>
                  <a:rPr lang="en-US" dirty="0" err="1"/>
                  <a:t>triệu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20 </a:t>
                </a:r>
                <a:r>
                  <a:rPr lang="en-US" dirty="0" err="1"/>
                  <a:t>triệu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vốn</a:t>
                </a:r>
                <a:r>
                  <a:rPr lang="en-US" dirty="0"/>
                  <a:t> ban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4 </a:t>
                </a:r>
                <a:r>
                  <a:rPr lang="en-US" dirty="0" err="1"/>
                  <a:t>tỉ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.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mang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:r>
                  <a:rPr lang="en-US" dirty="0" err="1"/>
                  <a:t>lợi</a:t>
                </a:r>
                <a:r>
                  <a:rPr lang="en-US" dirty="0"/>
                  <a:t> </a:t>
                </a:r>
                <a:r>
                  <a:rPr lang="en-US" dirty="0" err="1"/>
                  <a:t>nhuận</a:t>
                </a:r>
                <a:r>
                  <a:rPr lang="en-US" dirty="0"/>
                  <a:t> 2,5 </a:t>
                </a:r>
                <a:r>
                  <a:rPr lang="en-US" dirty="0" err="1"/>
                  <a:t>triệu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bán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mang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:r>
                  <a:rPr lang="en-US" dirty="0" err="1"/>
                  <a:t>lợi</a:t>
                </a:r>
                <a:r>
                  <a:rPr lang="en-US" dirty="0"/>
                  <a:t> </a:t>
                </a:r>
                <a:r>
                  <a:rPr lang="en-US" dirty="0" err="1"/>
                  <a:t>nhuận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4 </a:t>
                </a:r>
                <a:r>
                  <a:rPr lang="en-US" dirty="0" err="1"/>
                  <a:t>triệu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bán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.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ước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rằng</a:t>
                </a:r>
                <a:r>
                  <a:rPr lang="en-US" dirty="0"/>
                  <a:t>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nhu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tháng</a:t>
                </a:r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vượt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250 </a:t>
                </a:r>
                <a:r>
                  <a:rPr lang="en-US" dirty="0" err="1"/>
                  <a:t>máy</a:t>
                </a:r>
                <a:r>
                  <a:rPr lang="en-US" dirty="0"/>
                  <a:t>. </a:t>
                </a:r>
                <a:r>
                  <a:rPr lang="en-US" dirty="0" err="1"/>
                  <a:t>Giả</a:t>
                </a:r>
                <a:r>
                  <a:rPr lang="en-US" dirty="0"/>
                  <a:t>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tháng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244" t="-1761" r="-240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Giải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a) </a:t>
                </a:r>
                <a:r>
                  <a:rPr lang="en-US" dirty="0" err="1"/>
                  <a:t>Giả</a:t>
                </a:r>
                <a:r>
                  <a:rPr lang="en-US" dirty="0"/>
                  <a:t>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Khi </a:t>
                </a:r>
                <a:r>
                  <a:rPr lang="en-US" dirty="0" err="1"/>
                  <a:t>đó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tiền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lượng</a:t>
                </a:r>
                <a:r>
                  <a:rPr lang="en-US" dirty="0"/>
                  <a:t> </a:t>
                </a:r>
                <a:r>
                  <a:rPr lang="en-US" dirty="0" err="1"/>
                  <a:t>như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triệu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vốn</a:t>
                </a:r>
                <a:r>
                  <a:rPr lang="en-US" dirty="0"/>
                  <a:t> ban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4 </a:t>
                </a:r>
                <a:r>
                  <a:rPr lang="en-US" dirty="0" err="1"/>
                  <a:t>tỉ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, </a:t>
                </a:r>
                <a:r>
                  <a:rPr lang="en-US" dirty="0" err="1"/>
                  <a:t>nên</a:t>
                </a:r>
                <a:r>
                  <a:rPr lang="en-US" dirty="0"/>
                  <a:t> ta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+20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≤4000</m:t>
                    </m:r>
                  </m:oMath>
                </a14:m>
                <a:r>
                  <a:rPr lang="en-US" dirty="0"/>
                  <a:t> hay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≤400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  <a:r>
                  <a:rPr lang="en-US" dirty="0" err="1"/>
                  <a:t>Vì</a:t>
                </a:r>
                <a:r>
                  <a:rPr lang="en-US" dirty="0"/>
                  <a:t> </a:t>
                </a:r>
                <a:r>
                  <a:rPr lang="en-US" dirty="0" err="1"/>
                  <a:t>tổng</a:t>
                </a:r>
                <a:r>
                  <a:rPr lang="en-US" dirty="0"/>
                  <a:t> </a:t>
                </a:r>
                <a:r>
                  <a:rPr lang="en-US" dirty="0" err="1"/>
                  <a:t>nhu</a:t>
                </a:r>
                <a:r>
                  <a:rPr lang="en-US" dirty="0"/>
                  <a:t> </a:t>
                </a:r>
                <a:r>
                  <a:rPr lang="en-US" dirty="0" err="1"/>
                  <a:t>cầu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tháng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vượt</a:t>
                </a:r>
                <a:r>
                  <a:rPr lang="en-US" dirty="0"/>
                  <a:t> </a:t>
                </a:r>
                <a:r>
                  <a:rPr lang="en-US" dirty="0" err="1"/>
                  <a:t>quá</a:t>
                </a:r>
                <a:r>
                  <a:rPr lang="en-US" dirty="0"/>
                  <a:t> 250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nên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≤250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ta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bậc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hai</a:t>
                </a:r>
                <a:r>
                  <a:rPr lang="en-US" dirty="0"/>
                  <a:t> </a:t>
                </a:r>
                <a:r>
                  <a:rPr lang="en-US" dirty="0" err="1"/>
                  <a:t>ẩn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≤400</m:t>
                            </m:r>
                          </m: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≤250.</m:t>
                            </m:r>
                          </m:e>
                        </m:eqAr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761" r="-1489" b="-165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014396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tứ</a:t>
                </a:r>
                <a:r>
                  <a:rPr lang="en-US" dirty="0"/>
                  <a:t>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0;200</m:t>
                        </m:r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100;150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250;0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244" t="-176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b) </a:t>
                </a:r>
                <a:r>
                  <a:rPr lang="en-US" dirty="0" err="1"/>
                  <a:t>Gọi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triệu</a:t>
                </a:r>
                <a:r>
                  <a:rPr lang="en-US" dirty="0"/>
                  <a:t> </a:t>
                </a:r>
                <a:r>
                  <a:rPr lang="en-US" dirty="0" err="1"/>
                  <a:t>đồng</a:t>
                </a:r>
                <a:r>
                  <a:rPr lang="en-US" dirty="0"/>
                  <a:t>)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lợi</a:t>
                </a:r>
                <a:r>
                  <a:rPr lang="en-US" dirty="0"/>
                  <a:t> </a:t>
                </a:r>
                <a:r>
                  <a:rPr lang="en-US" dirty="0" err="1"/>
                  <a:t>nhuận</a:t>
                </a:r>
                <a:r>
                  <a:rPr lang="en-US" dirty="0"/>
                  <a:t>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tháng</a:t>
                </a:r>
                <a:r>
                  <a:rPr lang="en-US" dirty="0"/>
                  <a:t>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bán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 Khi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=2,5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c) Ta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thỏa</a:t>
                </a:r>
                <a:r>
                  <a:rPr lang="en-US" dirty="0"/>
                  <a:t> </a:t>
                </a:r>
                <a:r>
                  <a:rPr lang="en-US" dirty="0" err="1"/>
                  <a:t>mãn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   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thức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tứ</a:t>
                </a:r>
                <a:r>
                  <a:rPr lang="en-US" dirty="0"/>
                  <a:t> </a:t>
                </a:r>
                <a:r>
                  <a:rPr lang="en-US" dirty="0" err="1"/>
                  <a:t>giác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𝑂𝐴𝐵𝐶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0;200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=800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100;150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=850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250;0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=625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    So </a:t>
                </a:r>
                <a:r>
                  <a:rPr lang="en-US" dirty="0" err="1"/>
                  <a:t>sánh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, ta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giá</a:t>
                </a:r>
                <a:r>
                  <a:rPr lang="en-US" dirty="0"/>
                  <a:t> </a:t>
                </a:r>
                <a:r>
                  <a:rPr lang="en-US" dirty="0" err="1"/>
                  <a:t>trị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tìm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100;150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=850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 err="1"/>
                  <a:t>Vậy</a:t>
                </a:r>
                <a:r>
                  <a:rPr lang="en-US" dirty="0"/>
                  <a:t> </a:t>
                </a:r>
                <a:r>
                  <a:rPr lang="en-US" dirty="0" err="1"/>
                  <a:t>cửa</a:t>
                </a:r>
                <a:r>
                  <a:rPr lang="en-US" dirty="0"/>
                  <a:t> </a:t>
                </a:r>
                <a:r>
                  <a:rPr lang="en-US" dirty="0" err="1"/>
                  <a:t>hàng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tháng</a:t>
                </a:r>
                <a:r>
                  <a:rPr lang="en-US" dirty="0"/>
                  <a:t> </a:t>
                </a:r>
                <a:r>
                  <a:rPr lang="en-US" dirty="0" err="1"/>
                  <a:t>cần</a:t>
                </a:r>
                <a:r>
                  <a:rPr lang="en-US" dirty="0"/>
                  <a:t> </a:t>
                </a:r>
                <a:r>
                  <a:rPr lang="en-US" dirty="0" err="1"/>
                  <a:t>nhập</a:t>
                </a:r>
                <a:r>
                  <a:rPr lang="en-US" dirty="0"/>
                  <a:t> 100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và</a:t>
                </a:r>
                <a:r>
                  <a:rPr lang="en-US" dirty="0"/>
                  <a:t> 150 </a:t>
                </a:r>
                <a:r>
                  <a:rPr lang="en-US" dirty="0" err="1"/>
                  <a:t>máy</a:t>
                </a:r>
                <a:r>
                  <a:rPr lang="en-US" dirty="0"/>
                  <a:t> </a:t>
                </a:r>
                <a:r>
                  <a:rPr lang="en-US" dirty="0" err="1"/>
                  <a:t>tính</a:t>
                </a:r>
                <a:r>
                  <a:rPr lang="en-US" dirty="0"/>
                  <a:t> </a:t>
                </a:r>
                <a:r>
                  <a:rPr lang="en-US" dirty="0" err="1"/>
                  <a:t>loại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lợi</a:t>
                </a:r>
                <a:r>
                  <a:rPr lang="en-US" dirty="0"/>
                  <a:t> </a:t>
                </a:r>
                <a:r>
                  <a:rPr lang="en-US" dirty="0" err="1"/>
                  <a:t>nhuận</a:t>
                </a:r>
                <a:r>
                  <a:rPr lang="en-US" dirty="0"/>
                  <a:t> </a:t>
                </a:r>
                <a:r>
                  <a:rPr lang="en-US" dirty="0" err="1"/>
                  <a:t>thu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1981200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260" t="-1761" r="-164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AA2D5BC-2395-47F2-B88B-B562D65A5A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5105400"/>
            <a:ext cx="10490710" cy="58674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921964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bất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đây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bất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trình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bậc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ẩn</a:t>
                </a:r>
                <a:r>
                  <a:rPr lang="en-US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a)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                  </a:t>
                </a:r>
                <a:r>
                  <a:rPr lang="en-US" b="1" dirty="0"/>
                  <a:t>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c)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   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    </a:t>
                </a:r>
                <a:r>
                  <a:rPr lang="en-US" b="1" dirty="0"/>
                  <a:t>d)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81200"/>
                <a:ext cx="11125201" cy="11411749"/>
              </a:xfrm>
              <a:prstGeom prst="rect">
                <a:avLst/>
              </a:prstGeom>
              <a:blipFill>
                <a:blip r:embed="rId3"/>
                <a:stretch>
                  <a:fillRect l="-246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216115" y="1981199"/>
                <a:ext cx="11859491" cy="11411749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 err="1"/>
                  <a:t>Đáp</a:t>
                </a:r>
                <a:r>
                  <a:rPr lang="en-US" b="1" dirty="0"/>
                  <a:t> </a:t>
                </a:r>
                <a:r>
                  <a:rPr lang="en-US" b="1" dirty="0" err="1"/>
                  <a:t>án</a:t>
                </a:r>
                <a:r>
                  <a:rPr lang="en-US" b="1" dirty="0"/>
                  <a:t>: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b="1" dirty="0"/>
                  <a:t>a)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d)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16115" y="1981199"/>
                <a:ext cx="11859491" cy="11411749"/>
              </a:xfrm>
              <a:prstGeom prst="rect">
                <a:avLst/>
              </a:prstGeom>
              <a:blipFill>
                <a:blip r:embed="rId4"/>
                <a:stretch>
                  <a:fillRect l="-231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EE4BAD4-2E84-E9AE-37D9-D10A71625607}"/>
              </a:ext>
            </a:extLst>
          </p:cNvPr>
          <p:cNvGrpSpPr/>
          <p:nvPr/>
        </p:nvGrpSpPr>
        <p:grpSpPr>
          <a:xfrm>
            <a:off x="838200" y="2013857"/>
            <a:ext cx="4928555" cy="1643743"/>
            <a:chOff x="22440" y="59288"/>
            <a:chExt cx="1016364" cy="25707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B6467E1-18E8-F977-5C45-81C74C44EFF7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10" name="Arrow: Pentagon 9">
                <a:extLst>
                  <a:ext uri="{FF2B5EF4-FFF2-40B4-BE49-F238E27FC236}">
                    <a16:creationId xmlns:a16="http://schemas.microsoft.com/office/drawing/2014/main" id="{E6D4177D-9BFF-A710-D435-C7AE3B0F3A1B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17F81D3E-800A-D04E-7402-C7F1183C1366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Arrow: Chevron 11">
                <a:extLst>
                  <a:ext uri="{FF2B5EF4-FFF2-40B4-BE49-F238E27FC236}">
                    <a16:creationId xmlns:a16="http://schemas.microsoft.com/office/drawing/2014/main" id="{3B1A0E33-AE43-4BBB-7EA0-F3DAC9889281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TextBox 56">
              <a:extLst>
                <a:ext uri="{FF2B5EF4-FFF2-40B4-BE49-F238E27FC236}">
                  <a16:creationId xmlns:a16="http://schemas.microsoft.com/office/drawing/2014/main" id="{A16B3838-6547-8D4D-3AAA-F6C41AE32526}"/>
                </a:ext>
              </a:extLst>
            </p:cNvPr>
            <p:cNvSpPr txBox="1"/>
            <p:nvPr/>
          </p:nvSpPr>
          <p:spPr>
            <a:xfrm>
              <a:off x="205774" y="85911"/>
              <a:ext cx="833030" cy="230454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0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40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0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0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2.4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6919628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111" y="2362200"/>
                <a:ext cx="22415683" cy="67818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  <a:p>
                <a:pPr marL="0" indent="0">
                  <a:buNone/>
                </a:pPr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dirty="0" err="1"/>
                  <a:t>Biểu</a:t>
                </a:r>
                <a:r>
                  <a:rPr lang="en-US" dirty="0"/>
                  <a:t> </a:t>
                </a:r>
                <a:r>
                  <a:rPr lang="en-US" dirty="0" err="1"/>
                  <a:t>diễn</a:t>
                </a:r>
                <a:r>
                  <a:rPr lang="en-US" dirty="0"/>
                  <a:t> </a:t>
                </a:r>
                <a:r>
                  <a:rPr lang="en-US" dirty="0" err="1"/>
                  <a:t>miền</a:t>
                </a:r>
                <a:r>
                  <a:rPr lang="en-US" dirty="0"/>
                  <a:t> </a:t>
                </a:r>
                <a:r>
                  <a:rPr lang="en-US" dirty="0" err="1"/>
                  <a:t>nghiệm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phương</a:t>
                </a:r>
                <a:r>
                  <a:rPr lang="en-US" dirty="0"/>
                  <a:t> </a:t>
                </a:r>
                <a:r>
                  <a:rPr lang="en-US" dirty="0" err="1"/>
                  <a:t>trình</a:t>
                </a:r>
                <a:r>
                  <a:rPr lang="en-US" dirty="0"/>
                  <a:t> </a:t>
                </a:r>
                <a:r>
                  <a:rPr lang="en-US" dirty="0" err="1"/>
                  <a:t>sau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mặt</a:t>
                </a:r>
                <a:r>
                  <a:rPr lang="en-US" dirty="0"/>
                  <a:t> </a:t>
                </a:r>
                <a:r>
                  <a:rPr lang="en-US" dirty="0" err="1"/>
                  <a:t>phẳng</a:t>
                </a:r>
                <a:r>
                  <a:rPr lang="en-US" dirty="0"/>
                  <a:t> </a:t>
                </a:r>
                <a:r>
                  <a:rPr lang="en-US" dirty="0" err="1"/>
                  <a:t>tọa</a:t>
                </a:r>
                <a:r>
                  <a:rPr lang="en-US" dirty="0"/>
                  <a:t> </a:t>
                </a:r>
                <a:r>
                  <a:rPr lang="en-US" dirty="0" err="1"/>
                  <a:t>độ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    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  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                      </a:t>
                </a:r>
                <a:r>
                  <a:rPr lang="en-US" b="1" dirty="0"/>
                  <a:t>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  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  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b="1" dirty="0"/>
                  <a:t>                                 c)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  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11" y="2362200"/>
                <a:ext cx="22415683" cy="6781800"/>
              </a:xfrm>
              <a:prstGeom prst="rect">
                <a:avLst/>
              </a:prstGeom>
              <a:blipFill>
                <a:blip r:embed="rId3"/>
                <a:stretch>
                  <a:fillRect l="-122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CEE4BAD4-2E84-E9AE-37D9-D10A71625607}"/>
              </a:ext>
            </a:extLst>
          </p:cNvPr>
          <p:cNvGrpSpPr/>
          <p:nvPr/>
        </p:nvGrpSpPr>
        <p:grpSpPr>
          <a:xfrm>
            <a:off x="838200" y="2819400"/>
            <a:ext cx="4928555" cy="1643743"/>
            <a:chOff x="22440" y="59288"/>
            <a:chExt cx="1016364" cy="25707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B6467E1-18E8-F977-5C45-81C74C44EFF7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10" name="Arrow: Pentagon 9">
                <a:extLst>
                  <a:ext uri="{FF2B5EF4-FFF2-40B4-BE49-F238E27FC236}">
                    <a16:creationId xmlns:a16="http://schemas.microsoft.com/office/drawing/2014/main" id="{E6D4177D-9BFF-A710-D435-C7AE3B0F3A1B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17F81D3E-800A-D04E-7402-C7F1183C1366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Arrow: Chevron 11">
                <a:extLst>
                  <a:ext uri="{FF2B5EF4-FFF2-40B4-BE49-F238E27FC236}">
                    <a16:creationId xmlns:a16="http://schemas.microsoft.com/office/drawing/2014/main" id="{3B1A0E33-AE43-4BBB-7EA0-F3DAC9889281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TextBox 56">
              <a:extLst>
                <a:ext uri="{FF2B5EF4-FFF2-40B4-BE49-F238E27FC236}">
                  <a16:creationId xmlns:a16="http://schemas.microsoft.com/office/drawing/2014/main" id="{A16B3838-6547-8D4D-3AAA-F6C41AE32526}"/>
                </a:ext>
              </a:extLst>
            </p:cNvPr>
            <p:cNvSpPr txBox="1"/>
            <p:nvPr/>
          </p:nvSpPr>
          <p:spPr>
            <a:xfrm>
              <a:off x="205774" y="85911"/>
              <a:ext cx="833030" cy="230454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0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40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0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0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2.5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945638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E13C885-8955-C1CD-8D4E-CE03F70CE1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1" y="1524000"/>
                <a:ext cx="23926800" cy="115824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914400" indent="-914400">
                  <a:buAutoNum type="alphaLcParenR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3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36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&lt;−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mr>
                          <m:mr>
                            <m:e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    </m:t>
                              </m:r>
                            </m:e>
                          </m:mr>
                          <m:mr>
                            <m:e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3600" b="1" i="1">
                                  <a:latin typeface="Cambria Math" panose="02040503050406030204" pitchFamily="18" charset="0"/>
                                </a:rPr>
                                <m:t>  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4000" i="1">
                        <a:latin typeface="Cambria Math" panose="02040503050406030204" pitchFamily="18" charset="0"/>
                      </a:rPr>
                      <m:t>:−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−0+0=0&gt;−1</m:t>
                    </m:r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0;0</m:t>
                        </m:r>
                      </m:e>
                    </m:d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mãn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Do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14:m>
                  <m:oMath xmlns:m="http://schemas.openxmlformats.org/officeDocument/2006/math">
                    <m:r>
                      <a:rPr lang="en-US" sz="4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kể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4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en-US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4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4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1&gt;0</m:t>
                    </m:r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nên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1;0</m:t>
                        </m:r>
                      </m:e>
                    </m:d>
                  </m:oMath>
                </a14:m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Do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phương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40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𝑂𝑦</m:t>
                    </m:r>
                  </m:oMath>
                </a14:m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chứa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1;0</m:t>
                        </m:r>
                      </m:e>
                    </m:d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kể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 panose="02040503050406030204" pitchFamily="18" charset="0"/>
                      </a:rPr>
                      <m:t>𝑂𝑦</m:t>
                    </m:r>
                  </m:oMath>
                </a14:m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vi-VN" sz="4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vi-VN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3: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):y=0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-1&lt;0 nên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(0,-1)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y&lt;0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Do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y&lt;0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Ox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0;−1</m:t>
                        </m:r>
                      </m:e>
                    </m:d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không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kể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Ox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không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gạch</a:t>
                </a:r>
                <a:endParaRPr lang="vi-VN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E13C885-8955-C1CD-8D4E-CE03F70CE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1" y="1524000"/>
                <a:ext cx="23926800" cy="11582400"/>
              </a:xfrm>
              <a:prstGeom prst="rect">
                <a:avLst/>
              </a:prstGeom>
              <a:blipFill>
                <a:blip r:embed="rId2"/>
                <a:stretch>
                  <a:fillRect l="-891" t="-315" r="-840" b="-194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A87E09A8-8394-3405-69CF-67FB5052E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1524000"/>
            <a:ext cx="8061435" cy="7612812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1399544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E13C885-8955-C1CD-8D4E-CE03F70CE1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219200"/>
                <a:ext cx="24384000" cy="124968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40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  </m:t>
                              </m:r>
                            </m:e>
                          </m:mr>
                          <m:mr>
                            <m:e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  </m:t>
                              </m:r>
                            </m:e>
                          </m:mr>
                          <m:mr>
                            <m:e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vi-VN" sz="4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vi-VN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vi-VN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):x=0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1&gt;0 nên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(1;0)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x≥0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Do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x≥0</a:t>
                </a:r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Oy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x=0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(1;0).</a:t>
                </a:r>
              </a:p>
              <a:p>
                <a:pPr marL="0" indent="0">
                  <a:buNone/>
                </a:pPr>
                <a:r>
                  <a:rPr lang="vi-VN" sz="4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vi-VN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):y=0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1&gt;0 nên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(0,1)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y≥0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Do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y≥0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Ox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y=0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(0;1).</a:t>
                </a:r>
              </a:p>
              <a:p>
                <a:pPr marL="0" indent="0">
                  <a:buNone/>
                </a:pPr>
                <a:r>
                  <a:rPr lang="vi-VN" sz="4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vi-VN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3: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):2x+y=4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2.0+0=0&lt;4 nên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O(0;0)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mãn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2x+y≤4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Do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2x+y≤4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2x+y=4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O.</a:t>
                </a:r>
              </a:p>
              <a:p>
                <a:pPr marL="0" indent="0">
                  <a:buNone/>
                </a:pP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không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gạch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sz="4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E13C885-8955-C1CD-8D4E-CE03F70CE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219200"/>
                <a:ext cx="24384000" cy="12496800"/>
              </a:xfrm>
              <a:prstGeom prst="rect">
                <a:avLst/>
              </a:prstGeom>
              <a:blipFill>
                <a:blip r:embed="rId2"/>
                <a:stretch>
                  <a:fillRect l="-850" t="-341" r="-125" b="-53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0206B87-B8D1-5A99-7651-A4194CA9C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1447800"/>
            <a:ext cx="9296400" cy="9131110"/>
          </a:xfrm>
          <a:prstGeom prst="rect">
            <a:avLst/>
          </a:prstGeom>
        </p:spPr>
      </p:pic>
      <p:sp>
        <p:nvSpPr>
          <p:cNvPr id="83" name="Rounded Rectangle 82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4829711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E13C885-8955-C1CD-8D4E-CE03F70CE1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1447800"/>
                <a:ext cx="23831303" cy="121158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40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  </m:t>
                              </m:r>
                            </m:e>
                          </m:mr>
                          <m:mr>
                            <m:e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mr>
                          <m:mr>
                            <m:e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4000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vi-VN" sz="4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vi-VN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1: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):x=0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1&gt;0 nên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(1;0)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x≥0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Do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x≥0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Oy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x=0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(1;0).</a:t>
                </a:r>
              </a:p>
              <a:p>
                <a:pPr marL="0" indent="0">
                  <a:buNone/>
                </a:pPr>
                <a:r>
                  <a:rPr lang="vi-VN" sz="4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vi-VN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2: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):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x+y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=5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0+0=0&lt;5 nên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O(0;0) không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mãn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x+y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&lt;5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Do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x+y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&lt;5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4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không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gốc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 không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kể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vi-VN" sz="4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lang="vi-VN" sz="4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3: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Vẽ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):x-y=0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Vì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-1-0=-1&lt;0 nên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tọa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độ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(-1;0)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thỏa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mãn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x-y&lt;0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Do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bất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phương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x-y&lt;0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nửa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mặt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phẳng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bờ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chứa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điểm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(-1;0) không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kể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đường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thẳng</a:t>
                </a:r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nghiệm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hệ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miền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không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bị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vi-VN" sz="4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gạch</a:t>
                </a:r>
                <a:r>
                  <a:rPr lang="vi-VN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vi-VN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E13C885-8955-C1CD-8D4E-CE03F70CE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447800"/>
                <a:ext cx="23831303" cy="12115800"/>
              </a:xfrm>
              <a:prstGeom prst="rect">
                <a:avLst/>
              </a:prstGeom>
              <a:blipFill>
                <a:blip r:embed="rId2"/>
                <a:stretch>
                  <a:fillRect l="-895" t="-402" r="-230" b="-155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8A70521-4567-5949-0C6C-40660F297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7800" y="1605584"/>
            <a:ext cx="7110846" cy="7149492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2840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838200" y="1981200"/>
            <a:ext cx="1112520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900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protein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400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lipit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ăn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kilôgam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bò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800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protein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lipit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kilôgam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600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protein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400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vị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lipit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rằng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1,6 kg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bò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1,1 kg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kg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bò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250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nghìn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1 kg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160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nghìn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kilôgam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bò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kilôgam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lợn</a:t>
            </a: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216115" y="1981199"/>
            <a:ext cx="11859491" cy="11411749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phương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rồi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(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nghìn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kilôgam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bò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kilôgam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lợn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Hãy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diễn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kilôgam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thịt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đình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EE4BAD4-2E84-E9AE-37D9-D10A71625607}"/>
              </a:ext>
            </a:extLst>
          </p:cNvPr>
          <p:cNvGrpSpPr/>
          <p:nvPr/>
        </p:nvGrpSpPr>
        <p:grpSpPr>
          <a:xfrm>
            <a:off x="838200" y="2013857"/>
            <a:ext cx="5029200" cy="1491343"/>
            <a:chOff x="22440" y="59288"/>
            <a:chExt cx="1016364" cy="25707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B6467E1-18E8-F977-5C45-81C74C44EFF7}"/>
                </a:ext>
              </a:extLst>
            </p:cNvPr>
            <p:cNvGrpSpPr/>
            <p:nvPr/>
          </p:nvGrpSpPr>
          <p:grpSpPr>
            <a:xfrm>
              <a:off x="22440" y="59288"/>
              <a:ext cx="953655" cy="159667"/>
              <a:chOff x="31572" y="60276"/>
              <a:chExt cx="1341810" cy="197595"/>
            </a:xfrm>
          </p:grpSpPr>
          <p:sp>
            <p:nvSpPr>
              <p:cNvPr id="10" name="Arrow: Pentagon 9">
                <a:extLst>
                  <a:ext uri="{FF2B5EF4-FFF2-40B4-BE49-F238E27FC236}">
                    <a16:creationId xmlns:a16="http://schemas.microsoft.com/office/drawing/2014/main" id="{E6D4177D-9BFF-A710-D435-C7AE3B0F3A1B}"/>
                  </a:ext>
                </a:extLst>
              </p:cNvPr>
              <p:cNvSpPr/>
              <p:nvPr/>
            </p:nvSpPr>
            <p:spPr>
              <a:xfrm>
                <a:off x="204506" y="61809"/>
                <a:ext cx="1168876" cy="196062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Arrow: Chevron 10">
                <a:extLst>
                  <a:ext uri="{FF2B5EF4-FFF2-40B4-BE49-F238E27FC236}">
                    <a16:creationId xmlns:a16="http://schemas.microsoft.com/office/drawing/2014/main" id="{17F81D3E-800A-D04E-7402-C7F1183C1366}"/>
                  </a:ext>
                </a:extLst>
              </p:cNvPr>
              <p:cNvSpPr/>
              <p:nvPr/>
            </p:nvSpPr>
            <p:spPr>
              <a:xfrm>
                <a:off x="31572" y="60341"/>
                <a:ext cx="162630" cy="196062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Arrow: Chevron 11">
                <a:extLst>
                  <a:ext uri="{FF2B5EF4-FFF2-40B4-BE49-F238E27FC236}">
                    <a16:creationId xmlns:a16="http://schemas.microsoft.com/office/drawing/2014/main" id="{3B1A0E33-AE43-4BBB-7EA0-F3DAC9889281}"/>
                  </a:ext>
                </a:extLst>
              </p:cNvPr>
              <p:cNvSpPr/>
              <p:nvPr/>
            </p:nvSpPr>
            <p:spPr>
              <a:xfrm>
                <a:off x="116273" y="60276"/>
                <a:ext cx="176766" cy="196062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TextBox 56">
              <a:extLst>
                <a:ext uri="{FF2B5EF4-FFF2-40B4-BE49-F238E27FC236}">
                  <a16:creationId xmlns:a16="http://schemas.microsoft.com/office/drawing/2014/main" id="{A16B3838-6547-8D4D-3AAA-F6C41AE32526}"/>
                </a:ext>
              </a:extLst>
            </p:cNvPr>
            <p:cNvSpPr txBox="1"/>
            <p:nvPr/>
          </p:nvSpPr>
          <p:spPr>
            <a:xfrm>
              <a:off x="205774" y="85911"/>
              <a:ext cx="833030" cy="230454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sz="40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40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40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40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2.6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6868072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E13C885-8955-C1CD-8D4E-CE03F70CE1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886" y="1143000"/>
                <a:ext cx="24601714" cy="125730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vi-VN" sz="4000" dirty="0">
                    <a:latin typeface="+mj-lt"/>
                  </a:rPr>
                  <a:t>Đáp </a:t>
                </a:r>
                <a:r>
                  <a:rPr lang="vi-VN" sz="4000" dirty="0" err="1">
                    <a:latin typeface="+mj-lt"/>
                  </a:rPr>
                  <a:t>án</a:t>
                </a:r>
                <a:r>
                  <a:rPr lang="vi-VN" sz="4000" dirty="0">
                    <a:latin typeface="+mj-lt"/>
                  </a:rPr>
                  <a:t>: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+mj-lt"/>
                  </a:rPr>
                  <a:t>a) Gia </a:t>
                </a:r>
                <a:r>
                  <a:rPr lang="vi-VN" sz="4000" dirty="0" err="1">
                    <a:latin typeface="+mj-lt"/>
                  </a:rPr>
                  <a:t>đình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này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chỉ</a:t>
                </a:r>
                <a:r>
                  <a:rPr lang="vi-VN" sz="4000" dirty="0">
                    <a:latin typeface="+mj-lt"/>
                  </a:rPr>
                  <a:t> mua </a:t>
                </a:r>
                <a:r>
                  <a:rPr lang="vi-VN" sz="4000" dirty="0" err="1">
                    <a:latin typeface="+mj-lt"/>
                  </a:rPr>
                  <a:t>nhiều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nhất</a:t>
                </a:r>
                <a:r>
                  <a:rPr lang="vi-VN" sz="4000" dirty="0">
                    <a:latin typeface="+mj-lt"/>
                  </a:rPr>
                  <a:t> 1,6 </a:t>
                </a:r>
                <a:r>
                  <a:rPr lang="vi-VN" sz="4000" dirty="0" err="1">
                    <a:latin typeface="+mj-lt"/>
                  </a:rPr>
                  <a:t>kg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thịt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bò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và</a:t>
                </a:r>
                <a:r>
                  <a:rPr lang="vi-VN" sz="4000" dirty="0">
                    <a:latin typeface="+mj-lt"/>
                  </a:rPr>
                  <a:t> 1,1 </a:t>
                </a:r>
                <a:r>
                  <a:rPr lang="vi-VN" sz="4000" dirty="0" err="1">
                    <a:latin typeface="+mj-lt"/>
                  </a:rPr>
                  <a:t>kg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thịt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lợn</a:t>
                </a:r>
                <a:r>
                  <a:rPr lang="vi-VN" sz="4000" dirty="0">
                    <a:latin typeface="+mj-lt"/>
                  </a:rPr>
                  <a:t>. </a:t>
                </a:r>
                <a:r>
                  <a:rPr lang="vi-VN" sz="4000" dirty="0" err="1">
                    <a:latin typeface="+mj-lt"/>
                  </a:rPr>
                  <a:t>Giả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sử</a:t>
                </a:r>
                <a:r>
                  <a:rPr lang="vi-VN" sz="4000" dirty="0">
                    <a:latin typeface="+mj-lt"/>
                  </a:rPr>
                  <a:t> gia </a:t>
                </a:r>
                <a:r>
                  <a:rPr lang="vi-VN" sz="4000" dirty="0" err="1">
                    <a:latin typeface="+mj-lt"/>
                  </a:rPr>
                  <a:t>đình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này</a:t>
                </a:r>
                <a:r>
                  <a:rPr lang="vi-VN" sz="4000" dirty="0">
                    <a:latin typeface="+mj-lt"/>
                  </a:rPr>
                  <a:t> mua x </a:t>
                </a:r>
                <a:r>
                  <a:rPr lang="vi-VN" sz="4000" dirty="0" err="1">
                    <a:latin typeface="+mj-lt"/>
                  </a:rPr>
                  <a:t>kilôgam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thịt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bò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và</a:t>
                </a:r>
                <a:r>
                  <a:rPr lang="vi-VN" sz="4000" dirty="0">
                    <a:latin typeface="+mj-lt"/>
                  </a:rPr>
                  <a:t> y </a:t>
                </a:r>
                <a:r>
                  <a:rPr lang="vi-VN" sz="4000" dirty="0" err="1">
                    <a:latin typeface="+mj-lt"/>
                  </a:rPr>
                  <a:t>kilôgam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thịt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lợn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thì</a:t>
                </a:r>
                <a:r>
                  <a:rPr lang="vi-VN" sz="4000" dirty="0">
                    <a:latin typeface="+mj-lt"/>
                  </a:rPr>
                  <a:t> x </a:t>
                </a:r>
                <a:r>
                  <a:rPr lang="vi-VN" sz="4000" dirty="0" err="1">
                    <a:latin typeface="+mj-lt"/>
                  </a:rPr>
                  <a:t>và</a:t>
                </a:r>
                <a:r>
                  <a:rPr lang="vi-VN" sz="4000" dirty="0">
                    <a:latin typeface="+mj-lt"/>
                  </a:rPr>
                  <a:t> y </a:t>
                </a:r>
                <a:r>
                  <a:rPr lang="vi-VN" sz="4000" dirty="0" err="1">
                    <a:latin typeface="+mj-lt"/>
                  </a:rPr>
                  <a:t>cần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thỏa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mãn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điều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kiện</a:t>
                </a:r>
                <a:r>
                  <a:rPr lang="vi-VN" sz="4000" dirty="0">
                    <a:latin typeface="+mj-lt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4000" dirty="0">
                    <a:latin typeface="+mj-lt"/>
                  </a:rPr>
                  <a:t>      </a:t>
                </a:r>
                <a:r>
                  <a:rPr lang="vi-VN" sz="4000" dirty="0">
                    <a:latin typeface="+mj-lt"/>
                  </a:rPr>
                  <a:t>0≤x≤1,6 </a:t>
                </a:r>
                <a:r>
                  <a:rPr lang="vi-VN" sz="4000" dirty="0" err="1">
                    <a:latin typeface="+mj-lt"/>
                  </a:rPr>
                  <a:t>và</a:t>
                </a:r>
                <a:r>
                  <a:rPr lang="vi-VN" sz="4000" dirty="0">
                    <a:latin typeface="+mj-lt"/>
                  </a:rPr>
                  <a:t> 0≤y≤1,1.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+mj-lt"/>
                  </a:rPr>
                  <a:t>Gia </a:t>
                </a:r>
                <a:r>
                  <a:rPr lang="vi-VN" sz="4000" dirty="0" err="1">
                    <a:latin typeface="+mj-lt"/>
                  </a:rPr>
                  <a:t>đình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này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cần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ít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nhất</a:t>
                </a:r>
                <a:r>
                  <a:rPr lang="vi-VN" sz="4000" dirty="0">
                    <a:latin typeface="+mj-lt"/>
                  </a:rPr>
                  <a:t> 900 đơn </a:t>
                </a:r>
                <a:r>
                  <a:rPr lang="vi-VN" sz="4000" dirty="0" err="1">
                    <a:latin typeface="+mj-lt"/>
                  </a:rPr>
                  <a:t>vị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protein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và</a:t>
                </a:r>
                <a:r>
                  <a:rPr lang="vi-VN" sz="4000" dirty="0">
                    <a:latin typeface="+mj-lt"/>
                  </a:rPr>
                  <a:t> 400 đơn </a:t>
                </a:r>
                <a:r>
                  <a:rPr lang="vi-VN" sz="4000" dirty="0" err="1">
                    <a:latin typeface="+mj-lt"/>
                  </a:rPr>
                  <a:t>vị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lipit</a:t>
                </a:r>
                <a:r>
                  <a:rPr lang="vi-VN" sz="4000" dirty="0">
                    <a:latin typeface="+mj-lt"/>
                  </a:rPr>
                  <a:t> trong </a:t>
                </a:r>
                <a:r>
                  <a:rPr lang="vi-VN" sz="4000" dirty="0" err="1">
                    <a:latin typeface="+mj-lt"/>
                  </a:rPr>
                  <a:t>thức</a:t>
                </a:r>
                <a:r>
                  <a:rPr lang="vi-VN" sz="4000" dirty="0">
                    <a:latin typeface="+mj-lt"/>
                  </a:rPr>
                  <a:t> ăn </a:t>
                </a:r>
                <a:r>
                  <a:rPr lang="vi-VN" sz="4000" dirty="0" err="1">
                    <a:latin typeface="+mj-lt"/>
                  </a:rPr>
                  <a:t>mỗi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ngày</a:t>
                </a:r>
                <a:r>
                  <a:rPr lang="vi-VN" sz="4000" dirty="0">
                    <a:latin typeface="+mj-lt"/>
                  </a:rPr>
                  <a:t> nên </a:t>
                </a:r>
                <a:r>
                  <a:rPr lang="vi-VN" sz="4000" dirty="0" err="1">
                    <a:latin typeface="+mj-lt"/>
                  </a:rPr>
                  <a:t>điều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kiện</a:t>
                </a:r>
                <a:r>
                  <a:rPr lang="vi-VN" sz="4000" dirty="0">
                    <a:latin typeface="+mj-lt"/>
                  </a:rPr>
                  <a:t> tương </a:t>
                </a:r>
                <a:r>
                  <a:rPr lang="vi-VN" sz="4000" dirty="0" err="1">
                    <a:latin typeface="+mj-lt"/>
                  </a:rPr>
                  <a:t>ứng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là</a:t>
                </a:r>
                <a:r>
                  <a:rPr lang="vi-VN" sz="4000" dirty="0">
                    <a:latin typeface="+mj-lt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4000" dirty="0">
                    <a:latin typeface="+mj-lt"/>
                  </a:rPr>
                  <a:t>     </a:t>
                </a:r>
                <a:r>
                  <a:rPr lang="vi-VN" sz="4000" dirty="0">
                    <a:latin typeface="+mj-lt"/>
                  </a:rPr>
                  <a:t>800x+600y≥900</a:t>
                </a:r>
                <a:r>
                  <a:rPr lang="en-US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và</a:t>
                </a:r>
                <a:r>
                  <a:rPr lang="vi-VN" sz="4000" dirty="0">
                    <a:latin typeface="+mj-lt"/>
                  </a:rPr>
                  <a:t> 200x+400y≥400</a:t>
                </a:r>
              </a:p>
              <a:p>
                <a:pPr marL="0" indent="0">
                  <a:buNone/>
                </a:pPr>
                <a:r>
                  <a:rPr lang="en-US" sz="4000" dirty="0">
                    <a:latin typeface="+mj-lt"/>
                  </a:rPr>
                  <a:t>          </a:t>
                </a:r>
                <a:r>
                  <a:rPr lang="vi-VN" sz="4000" dirty="0">
                    <a:latin typeface="+mj-lt"/>
                  </a:rPr>
                  <a:t>Hay 8x+6y≥9 </a:t>
                </a:r>
                <a:r>
                  <a:rPr lang="vi-VN" sz="4000" dirty="0" err="1">
                    <a:latin typeface="+mj-lt"/>
                  </a:rPr>
                  <a:t>và</a:t>
                </a:r>
                <a:r>
                  <a:rPr lang="vi-VN" sz="4000" dirty="0">
                    <a:latin typeface="+mj-lt"/>
                  </a:rPr>
                  <a:t> x+2y≥2</a:t>
                </a:r>
              </a:p>
              <a:p>
                <a:pPr marL="0" indent="0">
                  <a:buNone/>
                </a:pPr>
                <a:r>
                  <a:rPr lang="vi-VN" sz="4000" dirty="0" err="1">
                    <a:latin typeface="+mj-lt"/>
                  </a:rPr>
                  <a:t>Từ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các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bất</a:t>
                </a:r>
                <a:r>
                  <a:rPr lang="vi-VN" sz="4000" dirty="0">
                    <a:latin typeface="+mj-lt"/>
                  </a:rPr>
                  <a:t> phương </a:t>
                </a:r>
                <a:r>
                  <a:rPr lang="vi-VN" sz="4000" dirty="0" err="1">
                    <a:latin typeface="+mj-lt"/>
                  </a:rPr>
                  <a:t>trình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biểu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thị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các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điều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kiện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của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bài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toán</a:t>
                </a:r>
                <a:r>
                  <a:rPr lang="vi-VN" sz="4000" dirty="0">
                    <a:latin typeface="+mj-lt"/>
                  </a:rPr>
                  <a:t>, </a:t>
                </a:r>
                <a:endParaRPr lang="en-US" sz="40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vi-VN" sz="4000" dirty="0">
                    <a:latin typeface="+mj-lt"/>
                  </a:rPr>
                  <a:t>ta </a:t>
                </a:r>
                <a:r>
                  <a:rPr lang="vi-VN" sz="4000" dirty="0" err="1">
                    <a:latin typeface="+mj-lt"/>
                  </a:rPr>
                  <a:t>có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hệ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bất</a:t>
                </a:r>
                <a:r>
                  <a:rPr lang="vi-VN" sz="4000" dirty="0">
                    <a:latin typeface="+mj-lt"/>
                  </a:rPr>
                  <a:t> phương </a:t>
                </a:r>
                <a:r>
                  <a:rPr lang="vi-VN" sz="4000" dirty="0" err="1">
                    <a:latin typeface="+mj-lt"/>
                  </a:rPr>
                  <a:t>trình</a:t>
                </a:r>
                <a:r>
                  <a:rPr lang="vi-VN" sz="4000" dirty="0">
                    <a:latin typeface="+mj-lt"/>
                  </a:rPr>
                  <a:t> sau: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000" i="1">
                            <a:latin typeface="+mj-lt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4000" i="1">
                                <a:latin typeface="+mj-lt"/>
                              </a:rPr>
                            </m:ctrlPr>
                          </m:mPr>
                          <m:mr>
                            <m:e>
                              <m:r>
                                <a:rPr lang="en-US" sz="4000" i="1">
                                  <a:latin typeface="+mj-lt"/>
                                </a:rPr>
                                <m:t>0≤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𝑥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≤1,6</m:t>
                              </m:r>
                            </m:e>
                          </m:mr>
                          <m:mr>
                            <m:e>
                              <m:r>
                                <a:rPr lang="en-US" sz="4000" i="1">
                                  <a:latin typeface="+mj-lt"/>
                                </a:rPr>
                                <m:t>0≤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𝑦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≤1,1</m:t>
                              </m:r>
                            </m:e>
                          </m:mr>
                          <m:mr>
                            <m:e>
                              <m:r>
                                <a:rPr lang="en-US" sz="4000" i="1">
                                  <a:latin typeface="+mj-lt"/>
                                </a:rPr>
                                <m:t>8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𝑥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+6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𝑦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≥9</m:t>
                              </m:r>
                            </m:e>
                          </m:mr>
                          <m:mr>
                            <m:e>
                              <m:r>
                                <a:rPr lang="en-US" sz="4000" i="1">
                                  <a:latin typeface="+mj-lt"/>
                                </a:rPr>
                                <m:t>𝑥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+2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𝑦</m:t>
                              </m:r>
                              <m:r>
                                <a:rPr lang="en-US" sz="4000" i="1">
                                  <a:latin typeface="+mj-lt"/>
                                </a:rPr>
                                <m:t>≥2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vi-VN" sz="4000" dirty="0" err="1">
                    <a:latin typeface="+mj-lt"/>
                  </a:rPr>
                  <a:t>Biểu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diễn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miền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nghiệm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của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hệ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bất</a:t>
                </a:r>
                <a:r>
                  <a:rPr lang="vi-VN" sz="4000" dirty="0">
                    <a:latin typeface="+mj-lt"/>
                  </a:rPr>
                  <a:t> phương </a:t>
                </a:r>
                <a:r>
                  <a:rPr lang="vi-VN" sz="4000" dirty="0" err="1">
                    <a:latin typeface="+mj-lt"/>
                  </a:rPr>
                  <a:t>trình</a:t>
                </a:r>
                <a:r>
                  <a:rPr lang="vi-VN" sz="4000" dirty="0">
                    <a:latin typeface="+mj-lt"/>
                  </a:rPr>
                  <a:t>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+mj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+mj-lt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+mj-lt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+mj-lt"/>
                      </a:rPr>
                      <m:t>:</m:t>
                    </m:r>
                    <m:r>
                      <a:rPr lang="en-US" i="1">
                        <a:latin typeface="+mj-lt"/>
                      </a:rPr>
                      <m:t>𝑥</m:t>
                    </m:r>
                    <m:r>
                      <a:rPr lang="en-US" i="1">
                        <a:latin typeface="+mj-lt"/>
                      </a:rPr>
                      <m:t>=1,6</m:t>
                    </m:r>
                  </m:oMath>
                </a14:m>
                <a:endParaRPr lang="en-US" i="1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+mj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+mj-lt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+mj-lt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+mj-lt"/>
                      </a:rPr>
                      <m:t>:</m:t>
                    </m:r>
                    <m:r>
                      <a:rPr lang="en-US" i="1">
                        <a:latin typeface="+mj-lt"/>
                      </a:rPr>
                      <m:t>𝑦</m:t>
                    </m:r>
                    <m:r>
                      <a:rPr lang="en-US" i="1">
                        <a:latin typeface="+mj-lt"/>
                      </a:rPr>
                      <m:t>=1,1</m:t>
                    </m:r>
                  </m:oMath>
                </a14:m>
                <a:r>
                  <a:rPr lang="en-US" dirty="0">
                    <a:latin typeface="+mj-lt"/>
                  </a:rPr>
                  <a:t>,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+mj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+mj-lt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+mj-lt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+mj-lt"/>
                      </a:rPr>
                      <m:t>:8</m:t>
                    </m:r>
                    <m:r>
                      <a:rPr lang="en-US" i="1">
                        <a:latin typeface="+mj-lt"/>
                      </a:rPr>
                      <m:t>𝑥</m:t>
                    </m:r>
                    <m:r>
                      <a:rPr lang="en-US" i="1">
                        <a:latin typeface="+mj-lt"/>
                      </a:rPr>
                      <m:t>+6</m:t>
                    </m:r>
                    <m:r>
                      <a:rPr lang="en-US" i="1">
                        <a:latin typeface="+mj-lt"/>
                      </a:rPr>
                      <m:t>𝑦</m:t>
                    </m:r>
                    <m:r>
                      <a:rPr lang="en-US" i="1">
                        <a:latin typeface="+mj-lt"/>
                      </a:rPr>
                      <m:t>=9</m:t>
                    </m:r>
                  </m:oMath>
                </a14:m>
                <a:r>
                  <a:rPr lang="en-US" dirty="0">
                    <a:latin typeface="+mj-lt"/>
                  </a:rPr>
                  <a:t>,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+mj-lt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+mj-lt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+mj-lt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+mj-lt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+mj-lt"/>
                      </a:rPr>
                      <m:t>:</m:t>
                    </m:r>
                    <m:r>
                      <a:rPr lang="en-US" i="1">
                        <a:latin typeface="+mj-lt"/>
                      </a:rPr>
                      <m:t>𝑥</m:t>
                    </m:r>
                    <m:r>
                      <a:rPr lang="en-US" i="1">
                        <a:latin typeface="+mj-lt"/>
                      </a:rPr>
                      <m:t>+2</m:t>
                    </m:r>
                    <m:r>
                      <a:rPr lang="en-US" i="1">
                        <a:latin typeface="+mj-lt"/>
                      </a:rPr>
                      <m:t>𝑦</m:t>
                    </m:r>
                    <m:r>
                      <a:rPr lang="en-US" i="1">
                        <a:latin typeface="+mj-lt"/>
                      </a:rPr>
                      <m:t>=2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vi-VN" sz="4000" dirty="0">
                    <a:latin typeface="+mj-lt"/>
                  </a:rPr>
                  <a:t>(</a:t>
                </a:r>
                <a:r>
                  <a:rPr lang="vi-VN" sz="4000" dirty="0" err="1">
                    <a:latin typeface="+mj-lt"/>
                  </a:rPr>
                  <a:t>Miền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nghiệm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của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hệ</a:t>
                </a:r>
                <a:r>
                  <a:rPr lang="vi-VN" sz="4000" dirty="0">
                    <a:latin typeface="+mj-lt"/>
                  </a:rPr>
                  <a:t> trên </a:t>
                </a:r>
                <a:r>
                  <a:rPr lang="vi-VN" sz="4000" dirty="0" err="1">
                    <a:latin typeface="+mj-lt"/>
                  </a:rPr>
                  <a:t>là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miền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tứ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giác</a:t>
                </a:r>
                <a:r>
                  <a:rPr lang="vi-VN" sz="4000" dirty="0">
                    <a:latin typeface="+mj-lt"/>
                  </a:rPr>
                  <a:t> ABCD</a:t>
                </a:r>
              </a:p>
              <a:p>
                <a:pPr marL="0" indent="0">
                  <a:buNone/>
                </a:pPr>
                <a:r>
                  <a:rPr lang="vi-VN" sz="4000" dirty="0">
                    <a:latin typeface="+mj-lt"/>
                  </a:rPr>
                  <a:t>(</a:t>
                </a:r>
                <a:r>
                  <a:rPr lang="vi-VN" sz="4000" dirty="0" err="1">
                    <a:latin typeface="+mj-lt"/>
                  </a:rPr>
                  <a:t>kể</a:t>
                </a:r>
                <a:r>
                  <a:rPr lang="vi-VN" sz="4000" dirty="0">
                    <a:latin typeface="+mj-lt"/>
                  </a:rPr>
                  <a:t> </a:t>
                </a:r>
                <a:r>
                  <a:rPr lang="vi-VN" sz="4000" dirty="0" err="1">
                    <a:latin typeface="+mj-lt"/>
                  </a:rPr>
                  <a:t>cả</a:t>
                </a:r>
                <a:r>
                  <a:rPr lang="vi-VN" sz="4000" dirty="0">
                    <a:latin typeface="+mj-lt"/>
                  </a:rPr>
                  <a:t> biên).</a:t>
                </a:r>
              </a:p>
            </p:txBody>
          </p:sp>
        </mc:Choice>
        <mc:Fallback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E13C885-8955-C1CD-8D4E-CE03F70CE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6" y="1143000"/>
                <a:ext cx="24601714" cy="12573000"/>
              </a:xfrm>
              <a:prstGeom prst="rect">
                <a:avLst/>
              </a:prstGeom>
              <a:blipFill>
                <a:blip r:embed="rId2"/>
                <a:stretch>
                  <a:fillRect l="-867" t="-130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603C3E39-8CD0-C4CF-4126-7114241D2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7377" y="4953000"/>
            <a:ext cx="8935737" cy="8458200"/>
          </a:xfrm>
          <a:prstGeom prst="rect">
            <a:avLst/>
          </a:prstGeom>
        </p:spPr>
      </p:pic>
      <p:sp>
        <p:nvSpPr>
          <p:cNvPr id="74" name="Rounded Rectangle 7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942171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4111" y="2362200"/>
                <a:ext cx="22415683" cy="97536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+160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nghìn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đạt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trị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lớn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hoặc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nhỏ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tại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một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các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đỉnh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của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tứ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giác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ABCD.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0,3;1,1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0,3;1,1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=250.0,3+160.0,1=91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nghìn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1,6;1,1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1,6;1,1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=250.1,6+160.1,1=576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nghìn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1,6;0,2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1,6;0,2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=250.1,6+160.0,2=432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nghìn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0,6;0,7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ta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có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0,6;0,7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=250.0,6+160.0,7=262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nghìn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đồng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Vậy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đình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đó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cần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0,3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kg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bò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1,1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kg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thịt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lợn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để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chi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phí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là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ít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nhất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11" y="2362200"/>
                <a:ext cx="22415683" cy="9753600"/>
              </a:xfrm>
              <a:prstGeom prst="rect">
                <a:avLst/>
              </a:prstGeom>
              <a:blipFill>
                <a:blip r:embed="rId3"/>
                <a:stretch>
                  <a:fillRect l="-1223" r="-78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II   ·   BÀI 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313395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3254</TotalTime>
  <Words>1693</Words>
  <Application>Microsoft Office PowerPoint</Application>
  <PresentationFormat>Custom</PresentationFormat>
  <Paragraphs>271</Paragraphs>
  <Slides>25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40" baseType="lpstr">
      <vt:lpstr>Yu Gothic UI Semilight</vt:lpstr>
      <vt:lpstr>Arial</vt:lpstr>
      <vt:lpstr>Bahnschrift SemiBold SemiConden</vt:lpstr>
      <vt:lpstr>Baumans</vt:lpstr>
      <vt:lpstr>Calibri</vt:lpstr>
      <vt:lpstr>Calibri Light</vt:lpstr>
      <vt:lpstr>Cambria Math</vt:lpstr>
      <vt:lpstr>Cascadia Mono</vt:lpstr>
      <vt:lpstr>Symbol</vt:lpstr>
      <vt:lpstr>Tahoma</vt:lpstr>
      <vt:lpstr>Times New Roman</vt:lpstr>
      <vt:lpstr>Tomaho</vt:lpstr>
      <vt:lpstr>Office Theme</vt:lpstr>
      <vt:lpstr>1_Office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Admin</cp:lastModifiedBy>
  <cp:revision>355</cp:revision>
  <dcterms:created xsi:type="dcterms:W3CDTF">2013-08-31T11:42:51Z</dcterms:created>
  <dcterms:modified xsi:type="dcterms:W3CDTF">2022-08-28T08:50:42Z</dcterms:modified>
  <cp:category>9Slide.vn</cp:category>
</cp:coreProperties>
</file>