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54" r:id="rId2"/>
  </p:sldMasterIdLst>
  <p:notesMasterIdLst>
    <p:notesMasterId r:id="rId45"/>
  </p:notesMasterIdLst>
  <p:sldIdLst>
    <p:sldId id="313" r:id="rId3"/>
    <p:sldId id="301" r:id="rId4"/>
    <p:sldId id="341" r:id="rId5"/>
    <p:sldId id="315" r:id="rId6"/>
    <p:sldId id="338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2" r:id="rId44"/>
  </p:sldIdLst>
  <p:sldSz cx="24384000" cy="13716000"/>
  <p:notesSz cx="6858000" cy="9144000"/>
  <p:custDataLst>
    <p:tags r:id="rId46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9602"/>
    <a:srgbClr val="2E6862"/>
    <a:srgbClr val="135F82"/>
    <a:srgbClr val="008000"/>
    <a:srgbClr val="FF0000"/>
    <a:srgbClr val="3333FF"/>
    <a:srgbClr val="E7F7FF"/>
    <a:srgbClr val="D6F7FE"/>
    <a:srgbClr val="EEF7E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882" autoAdjust="0"/>
    <p:restoredTop sz="94139" autoAdjust="0"/>
  </p:normalViewPr>
  <p:slideViewPr>
    <p:cSldViewPr>
      <p:cViewPr varScale="1">
        <p:scale>
          <a:sx n="32" d="100"/>
          <a:sy n="32" d="100"/>
        </p:scale>
        <p:origin x="96" y="300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notesMaster" Target="notesMasters/notesMaster1.xml"/><Relationship Id="rId46" Type="http://schemas.openxmlformats.org/officeDocument/2006/relationships/tags" Target="tags/tag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28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31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7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06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99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83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27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24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54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16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07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8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84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4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356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319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128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66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5" y="549288"/>
            <a:ext cx="21945602" cy="2286000"/>
          </a:xfrm>
          <a:prstGeom prst="rect">
            <a:avLst/>
          </a:prstGeom>
        </p:spPr>
        <p:txBody>
          <a:bodyPr lIns="176379" tIns="88189" rIns="176379" bIns="88189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5" y="3200418"/>
            <a:ext cx="21945602" cy="9051925"/>
          </a:xfrm>
          <a:prstGeom prst="rect">
            <a:avLst/>
          </a:prstGeom>
        </p:spPr>
        <p:txBody>
          <a:bodyPr lIns="176379" tIns="88189" rIns="176379" bIns="88189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17"/>
            <a:ext cx="5689600" cy="730250"/>
          </a:xfrm>
          <a:prstGeom prst="rect">
            <a:avLst/>
          </a:prstGeom>
        </p:spPr>
        <p:txBody>
          <a:bodyPr lIns="176379" tIns="88189" rIns="176379" bIns="88189"/>
          <a:lstStyle/>
          <a:p>
            <a:fld id="{D47BB8AF-C16A-4836-A92D-61834B5F0BA5}" type="datetime4">
              <a:rPr lang="en-US" smtClean="0"/>
              <a:pPr/>
              <a:t>August 30,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7" y="12712717"/>
            <a:ext cx="7721601" cy="730250"/>
          </a:xfrm>
          <a:prstGeom prst="rect">
            <a:avLst/>
          </a:prstGeom>
        </p:spPr>
        <p:txBody>
          <a:bodyPr lIns="176379" tIns="88189" rIns="176379" bIns="88189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17"/>
            <a:ext cx="5689600" cy="730250"/>
          </a:xfrm>
          <a:prstGeom prst="rect">
            <a:avLst/>
          </a:prstGeom>
        </p:spPr>
        <p:txBody>
          <a:bodyPr lIns="176379" tIns="88189" rIns="176379" bIns="88189"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33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p:transition spd="slow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8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82" r:id="rId12"/>
    <p:sldLayoutId id="2147483783" r:id="rId13"/>
  </p:sldLayoutIdLst>
  <p:transition spd="slow">
    <p:fade/>
  </p:transition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p:transition spd="slow">
    <p:fade/>
  </p:transition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7.wmf"/><Relationship Id="rId7" Type="http://schemas.openxmlformats.org/officeDocument/2006/relationships/image" Target="../media/image150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30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10.png"/><Relationship Id="rId3" Type="http://schemas.openxmlformats.org/officeDocument/2006/relationships/image" Target="../media/image810.png"/><Relationship Id="rId4" Type="http://schemas.openxmlformats.org/officeDocument/2006/relationships/image" Target="../media/image910.png"/><Relationship Id="rId5" Type="http://schemas.openxmlformats.org/officeDocument/2006/relationships/image" Target="../media/image1010.png"/><Relationship Id="rId6" Type="http://schemas.openxmlformats.org/officeDocument/2006/relationships/image" Target="../media/image24.png"/><Relationship Id="rId7" Type="http://schemas.openxmlformats.org/officeDocument/2006/relationships/image" Target="../media/image120.png"/><Relationship Id="rId8" Type="http://schemas.openxmlformats.org/officeDocument/2006/relationships/image" Target="../media/image130.png"/><Relationship Id="rId9" Type="http://schemas.openxmlformats.org/officeDocument/2006/relationships/image" Target="../media/image140.png"/><Relationship Id="rId10" Type="http://schemas.openxmlformats.org/officeDocument/2006/relationships/image" Target="../media/image151.png"/><Relationship Id="rId11" Type="http://schemas.openxmlformats.org/officeDocument/2006/relationships/image" Target="../media/image160.png"/><Relationship Id="rId12" Type="http://schemas.openxmlformats.org/officeDocument/2006/relationships/image" Target="../media/image170.png"/><Relationship Id="rId13" Type="http://schemas.openxmlformats.org/officeDocument/2006/relationships/image" Target="../media/image18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91.png"/><Relationship Id="rId3" Type="http://schemas.openxmlformats.org/officeDocument/2006/relationships/image" Target="../media/image201.png"/><Relationship Id="rId4" Type="http://schemas.openxmlformats.org/officeDocument/2006/relationships/image" Target="../media/image190.png"/><Relationship Id="rId5" Type="http://schemas.openxmlformats.org/officeDocument/2006/relationships/image" Target="../media/image24.png"/><Relationship Id="rId6" Type="http://schemas.openxmlformats.org/officeDocument/2006/relationships/image" Target="../media/image120.png"/><Relationship Id="rId7" Type="http://schemas.openxmlformats.org/officeDocument/2006/relationships/image" Target="../media/image200.png"/><Relationship Id="rId8" Type="http://schemas.openxmlformats.org/officeDocument/2006/relationships/image" Target="../media/image210.png"/><Relationship Id="rId9" Type="http://schemas.openxmlformats.org/officeDocument/2006/relationships/image" Target="../media/image220.png"/><Relationship Id="rId10" Type="http://schemas.openxmlformats.org/officeDocument/2006/relationships/image" Target="../media/image231.png"/><Relationship Id="rId11" Type="http://schemas.openxmlformats.org/officeDocument/2006/relationships/image" Target="../media/image241.png"/><Relationship Id="rId12" Type="http://schemas.openxmlformats.org/officeDocument/2006/relationships/image" Target="../media/image25.png"/><Relationship Id="rId13" Type="http://schemas.openxmlformats.org/officeDocument/2006/relationships/image" Target="../media/image260.png"/><Relationship Id="rId14" Type="http://schemas.openxmlformats.org/officeDocument/2006/relationships/image" Target="../media/image27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81.png"/><Relationship Id="rId3" Type="http://schemas.openxmlformats.org/officeDocument/2006/relationships/image" Target="../media/image292.png"/><Relationship Id="rId4" Type="http://schemas.openxmlformats.org/officeDocument/2006/relationships/image" Target="../media/image190.png"/><Relationship Id="rId5" Type="http://schemas.openxmlformats.org/officeDocument/2006/relationships/image" Target="../media/image24.png"/><Relationship Id="rId6" Type="http://schemas.openxmlformats.org/officeDocument/2006/relationships/image" Target="../media/image291.png"/><Relationship Id="rId7" Type="http://schemas.openxmlformats.org/officeDocument/2006/relationships/image" Target="../media/image300.png"/><Relationship Id="rId8" Type="http://schemas.openxmlformats.org/officeDocument/2006/relationships/image" Target="../media/image311.png"/><Relationship Id="rId9" Type="http://schemas.openxmlformats.org/officeDocument/2006/relationships/image" Target="../media/image321.png"/><Relationship Id="rId10" Type="http://schemas.openxmlformats.org/officeDocument/2006/relationships/image" Target="../media/image330.png"/><Relationship Id="rId11" Type="http://schemas.openxmlformats.org/officeDocument/2006/relationships/image" Target="../media/image341.png"/><Relationship Id="rId12" Type="http://schemas.openxmlformats.org/officeDocument/2006/relationships/image" Target="../media/image351.png"/><Relationship Id="rId13" Type="http://schemas.openxmlformats.org/officeDocument/2006/relationships/image" Target="../media/image36.png"/><Relationship Id="rId14" Type="http://schemas.openxmlformats.org/officeDocument/2006/relationships/image" Target="../media/image370.png"/><Relationship Id="rId15" Type="http://schemas.openxmlformats.org/officeDocument/2006/relationships/image" Target="../media/image38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91.png"/><Relationship Id="rId3" Type="http://schemas.openxmlformats.org/officeDocument/2006/relationships/image" Target="../media/image401.png"/><Relationship Id="rId4" Type="http://schemas.openxmlformats.org/officeDocument/2006/relationships/image" Target="../media/image410.png"/><Relationship Id="rId5" Type="http://schemas.openxmlformats.org/officeDocument/2006/relationships/image" Target="../media/image421.png"/><Relationship Id="rId6" Type="http://schemas.openxmlformats.org/officeDocument/2006/relationships/image" Target="../media/image4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41.png"/><Relationship Id="rId3" Type="http://schemas.openxmlformats.org/officeDocument/2006/relationships/image" Target="../media/image4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60.png"/><Relationship Id="rId3" Type="http://schemas.openxmlformats.org/officeDocument/2006/relationships/image" Target="../media/image4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40.png"/><Relationship Id="rId3" Type="http://schemas.openxmlformats.org/officeDocument/2006/relationships/image" Target="../media/image48.png"/><Relationship Id="rId4" Type="http://schemas.openxmlformats.org/officeDocument/2006/relationships/image" Target="../media/image280.png"/><Relationship Id="rId5" Type="http://schemas.openxmlformats.org/officeDocument/2006/relationships/image" Target="../media/image29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microsoft.com/office/2007/relationships/hdphoto" Target="../media/hdphoto1.wdp"/><Relationship Id="rId5" Type="http://schemas.openxmlformats.org/officeDocument/2006/relationships/image" Target="../media/image310.png"/><Relationship Id="rId6" Type="http://schemas.openxmlformats.org/officeDocument/2006/relationships/image" Target="../media/image320.png"/><Relationship Id="rId7" Type="http://schemas.openxmlformats.org/officeDocument/2006/relationships/image" Target="../media/image5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microsoft.com/office/2007/relationships/hdphoto" Target="../media/hdphoto1.wdp"/><Relationship Id="rId5" Type="http://schemas.openxmlformats.org/officeDocument/2006/relationships/image" Target="../media/image310.png"/><Relationship Id="rId6" Type="http://schemas.openxmlformats.org/officeDocument/2006/relationships/image" Target="../media/image340.png"/><Relationship Id="rId7" Type="http://schemas.openxmlformats.org/officeDocument/2006/relationships/image" Target="../media/image350.png"/><Relationship Id="rId8" Type="http://schemas.openxmlformats.org/officeDocument/2006/relationships/image" Target="../media/image36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1.png"/><Relationship Id="rId3" Type="http://schemas.openxmlformats.org/officeDocument/2006/relationships/image" Target="../media/image380.png"/><Relationship Id="rId4" Type="http://schemas.openxmlformats.org/officeDocument/2006/relationships/image" Target="../media/image390.png"/><Relationship Id="rId5" Type="http://schemas.openxmlformats.org/officeDocument/2006/relationships/image" Target="../media/image400.png"/><Relationship Id="rId6" Type="http://schemas.openxmlformats.org/officeDocument/2006/relationships/image" Target="../media/image52.png"/><Relationship Id="rId7" Type="http://schemas.openxmlformats.org/officeDocument/2006/relationships/image" Target="../media/image420.png"/><Relationship Id="rId8" Type="http://schemas.openxmlformats.org/officeDocument/2006/relationships/image" Target="../media/image430.png"/><Relationship Id="rId9" Type="http://schemas.openxmlformats.org/officeDocument/2006/relationships/image" Target="../media/image44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50.png"/><Relationship Id="rId3" Type="http://schemas.openxmlformats.org/officeDocument/2006/relationships/image" Target="../media/image53.png"/><Relationship Id="rId4" Type="http://schemas.openxmlformats.org/officeDocument/2006/relationships/image" Target="../media/image470.png"/><Relationship Id="rId5" Type="http://schemas.openxmlformats.org/officeDocument/2006/relationships/image" Target="../media/image480.png"/><Relationship Id="rId6" Type="http://schemas.openxmlformats.org/officeDocument/2006/relationships/image" Target="../media/image54.png"/><Relationship Id="rId7" Type="http://schemas.openxmlformats.org/officeDocument/2006/relationships/image" Target="../media/image500.png"/><Relationship Id="rId8" Type="http://schemas.openxmlformats.org/officeDocument/2006/relationships/image" Target="../media/image510.png"/><Relationship Id="rId9" Type="http://schemas.openxmlformats.org/officeDocument/2006/relationships/image" Target="../media/image5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50.png"/><Relationship Id="rId3" Type="http://schemas.openxmlformats.org/officeDocument/2006/relationships/image" Target="../media/image530.png"/><Relationship Id="rId4" Type="http://schemas.openxmlformats.org/officeDocument/2006/relationships/image" Target="../media/image540.png"/><Relationship Id="rId5" Type="http://schemas.openxmlformats.org/officeDocument/2006/relationships/image" Target="../media/image550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690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2" Type="http://schemas.openxmlformats.org/officeDocument/2006/relationships/image" Target="../media/image87.png"/><Relationship Id="rId13" Type="http://schemas.openxmlformats.org/officeDocument/2006/relationships/image" Target="../media/image88.png"/><Relationship Id="rId14" Type="http://schemas.openxmlformats.org/officeDocument/2006/relationships/image" Target="../media/image89.png"/><Relationship Id="rId15" Type="http://schemas.openxmlformats.org/officeDocument/2006/relationships/image" Target="../media/image90.png"/><Relationship Id="rId16" Type="http://schemas.openxmlformats.org/officeDocument/2006/relationships/image" Target="../media/image9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7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8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0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FF6797-9084-4088-B03C-F68BB0D6D29D}"/>
              </a:ext>
            </a:extLst>
          </p:cNvPr>
          <p:cNvGrpSpPr/>
          <p:nvPr/>
        </p:nvGrpSpPr>
        <p:grpSpPr>
          <a:xfrm>
            <a:off x="9589434" y="1676400"/>
            <a:ext cx="14097457" cy="11451998"/>
            <a:chOff x="9763221" y="2126503"/>
            <a:chExt cx="14097457" cy="11451998"/>
          </a:xfrm>
        </p:grpSpPr>
        <p:grpSp>
          <p:nvGrpSpPr>
            <p:cNvPr id="8" name="Group 7"/>
            <p:cNvGrpSpPr/>
            <p:nvPr/>
          </p:nvGrpSpPr>
          <p:grpSpPr>
            <a:xfrm>
              <a:off x="9916078" y="2126503"/>
              <a:ext cx="13944600" cy="11451998"/>
              <a:chOff x="1404590" y="3448230"/>
              <a:chExt cx="13944600" cy="11451998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404590" y="3448230"/>
                <a:ext cx="13944600" cy="11451998"/>
                <a:chOff x="1404590" y="3448230"/>
                <a:chExt cx="13944600" cy="11451998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1404590" y="3966547"/>
                  <a:ext cx="13944600" cy="10933681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9763221" y="2164808"/>
              <a:ext cx="14032566" cy="1890578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9916077" y="2233091"/>
              <a:ext cx="1388016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CHƯƠNG </a:t>
              </a:r>
              <a:r>
                <a:rPr lang="en-US" sz="4800" b="1" dirty="0" smtClean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</a:t>
              </a:r>
              <a:r>
                <a:rPr lang="vi-VN" sz="4800" b="1" dirty="0" smtClean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</a:t>
              </a:r>
              <a:r>
                <a:rPr lang="vi-VN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en-US" sz="4800" b="1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sz="4800" b="1" dirty="0" smtClean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PHƯƠNG PHÁP TỌA ĐỘ TRONG MẶT PHẲNG</a:t>
              </a:r>
              <a:endParaRPr lang="vi-VN" sz="4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782988"/>
            <a:ext cx="9360377" cy="11628212"/>
          </a:xfrm>
          <a:prstGeom prst="rect">
            <a:avLst/>
          </a:prstGeom>
        </p:spPr>
      </p:pic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0081924" y="3751023"/>
            <a:ext cx="13879710" cy="137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§1.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Phương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trình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đường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thẳng</a:t>
            </a:r>
            <a:endParaRPr lang="en-US" sz="4800" b="1" dirty="0">
              <a:solidFill>
                <a:srgbClr val="0000FF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endParaRPr lang="en-US" sz="4800" b="1" dirty="0">
              <a:solidFill>
                <a:srgbClr val="0000FF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10081924" y="5245179"/>
            <a:ext cx="13879710" cy="193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§</a:t>
            </a:r>
            <a:r>
              <a: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2.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Vị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trí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tương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đối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giữa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hai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đường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thẳng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Góc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và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khoảng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cách</a:t>
            </a:r>
            <a:endParaRPr lang="en-US" sz="4800" b="1" dirty="0">
              <a:solidFill>
                <a:srgbClr val="0000FF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endParaRPr lang="en-US" sz="4800" b="1" dirty="0">
              <a:solidFill>
                <a:srgbClr val="0000FF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0070223" y="9262673"/>
            <a:ext cx="13879710" cy="2616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§4. Ba </a:t>
            </a:r>
            <a:r>
              <a:rPr lang="en-US" sz="4800" b="1" dirty="0" err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đường</a:t>
            </a:r>
            <a:r>
              <a:rPr lang="en-US" sz="4800" b="1" dirty="0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conic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endParaRPr lang="en-US" sz="4800" b="1" dirty="0">
              <a:solidFill>
                <a:srgbClr val="0000FF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10132936" y="7771756"/>
            <a:ext cx="13879710" cy="1490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§3. </a:t>
            </a:r>
            <a:r>
              <a:rPr lang="en-US" sz="4800" b="1" dirty="0" err="1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Đường</a:t>
            </a:r>
            <a:r>
              <a: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tròn</a:t>
            </a:r>
            <a:r>
              <a: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trong</a:t>
            </a:r>
            <a:r>
              <a: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mặt</a:t>
            </a:r>
            <a:r>
              <a: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phẳng</a:t>
            </a:r>
            <a:r>
              <a: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tọa</a:t>
            </a:r>
            <a:r>
              <a:rPr lang="en-US" sz="4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độ</a:t>
            </a:r>
            <a:endParaRPr lang="en-US" sz="4800" b="1" dirty="0">
              <a:solidFill>
                <a:srgbClr val="0000FF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endParaRPr lang="en-US" sz="4800" b="1" dirty="0">
              <a:solidFill>
                <a:srgbClr val="0000FF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10135113" y="11136749"/>
            <a:ext cx="13879710" cy="1991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4800" b="1" smtClean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tập cuối chương VII</a:t>
            </a:r>
            <a:endParaRPr lang="en-US" sz="4800" b="1" dirty="0">
              <a:solidFill>
                <a:srgbClr val="0000FF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277117" y="1420367"/>
            <a:ext cx="22672634" cy="11850004"/>
            <a:chOff x="1460362" y="1641544"/>
            <a:chExt cx="22672634" cy="1185000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460362" y="1641544"/>
              <a:ext cx="22672634" cy="11850004"/>
              <a:chOff x="1460362" y="1641544"/>
              <a:chExt cx="22672634" cy="11850004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460362" y="1797127"/>
                <a:ext cx="22672634" cy="11694421"/>
                <a:chOff x="-3654466" y="3448230"/>
                <a:chExt cx="22672634" cy="11694421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1" name="Group 70"/>
                <p:cNvGrpSpPr/>
                <p:nvPr/>
              </p:nvGrpSpPr>
              <p:grpSpPr>
                <a:xfrm>
                  <a:off x="-3654466" y="3448230"/>
                  <a:ext cx="22672634" cy="11694421"/>
                  <a:chOff x="-3654466" y="3448230"/>
                  <a:chExt cx="22672634" cy="11694421"/>
                </a:xfrm>
              </p:grpSpPr>
              <p:sp>
                <p:nvSpPr>
                  <p:cNvPr id="72" name="Rounded Rectangle 71"/>
                  <p:cNvSpPr/>
                  <p:nvPr/>
                </p:nvSpPr>
                <p:spPr>
                  <a:xfrm>
                    <a:off x="-3654466" y="3612865"/>
                    <a:ext cx="22672634" cy="11529786"/>
                  </a:xfrm>
                  <a:prstGeom prst="roundRect">
                    <a:avLst>
                      <a:gd name="adj" fmla="val 2127"/>
                    </a:avLst>
                  </a:prstGeom>
                  <a:solidFill>
                    <a:schemeClr val="bg1"/>
                  </a:solidFill>
                  <a:ln w="28575">
                    <a:solidFill>
                      <a:srgbClr val="0999C8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18000" rIns="36000" bIns="18000" rtlCol="0" anchor="ctr"/>
                  <a:lstStyle/>
                  <a:p>
                    <a:pPr algn="ctr"/>
                    <a:endParaRPr lang="en-US" sz="4600" dirty="0">
                      <a:latin typeface="Tahoma" pitchFamily="34" charset="0"/>
                      <a:ea typeface="Tahoma" pitchFamily="34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759299" y="3448230"/>
                    <a:ext cx="3890809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5400" b="1" cap="all" dirty="0">
                        <a:ln w="0"/>
                        <a:solidFill>
                          <a:schemeClr val="bg1"/>
                        </a:solidFill>
                        <a:effectLst>
                          <a:reflection blurRad="12700" stA="50000" endPos="50000" dist="5000" dir="5400000" sy="-100000" rotWithShape="0"/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a:t>CHƯƠNG I</a:t>
                    </a:r>
                  </a:p>
                </p:txBody>
              </p:sp>
            </p:grp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4112612" y="1641544"/>
                <a:ext cx="18367703" cy="1181261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798482" y="6628125"/>
                <a:ext cx="51167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2059571" y="9368832"/>
                <a:ext cx="184730" cy="707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en-US" sz="40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1951043" y="11270142"/>
                <a:ext cx="51167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</a:t>
                </a:r>
                <a:endParaRPr lang="en-US" sz="40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3844753" y="6486123"/>
                <a:ext cx="54374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</a:t>
                </a:r>
              </a:p>
            </p:txBody>
          </p: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2472334" y="3009806"/>
              <a:ext cx="5111480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dirty="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TOÁN </a:t>
              </a:r>
              <a:r>
                <a:rPr lang="en-US" sz="6000" dirty="0" smtClean="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HÌNH HỌC  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7626782" y="2892730"/>
              <a:ext cx="1316269" cy="1323399"/>
              <a:chOff x="8087758" y="1914759"/>
              <a:chExt cx="1316269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8178940" y="1963757"/>
                <a:ext cx="1175009" cy="1143519"/>
                <a:chOff x="8178940" y="1963756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8178940" y="1963756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8200338" y="2008724"/>
                  <a:ext cx="1091111" cy="1068078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8087758" y="1914759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 dirty="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F6311BF-A4CF-4E55-85D0-0A86514BB33B}"/>
              </a:ext>
            </a:extLst>
          </p:cNvPr>
          <p:cNvGrpSpPr/>
          <p:nvPr/>
        </p:nvGrpSpPr>
        <p:grpSpPr>
          <a:xfrm>
            <a:off x="2175303" y="3784531"/>
            <a:ext cx="20967093" cy="2310294"/>
            <a:chOff x="71819" y="148683"/>
            <a:chExt cx="6395438" cy="824094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E248C2BE-8566-4C92-B9DC-0F7EBDD76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19" y="148683"/>
              <a:ext cx="6395438" cy="824094"/>
            </a:xfrm>
            <a:prstGeom prst="rect">
              <a:avLst/>
            </a:prstGeom>
          </p:spPr>
        </p:pic>
        <p:sp>
          <p:nvSpPr>
            <p:cNvPr id="114" name="TextBox 321">
              <a:extLst>
                <a:ext uri="{FF2B5EF4-FFF2-40B4-BE49-F238E27FC236}">
                  <a16:creationId xmlns:a16="http://schemas.microsoft.com/office/drawing/2014/main" id="{39A246B9-3D0B-4A2B-A2B0-AD412E909BB4}"/>
                </a:ext>
              </a:extLst>
            </p:cNvPr>
            <p:cNvSpPr txBox="1"/>
            <p:nvPr/>
          </p:nvSpPr>
          <p:spPr>
            <a:xfrm>
              <a:off x="906944" y="245792"/>
              <a:ext cx="5040506" cy="5958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400" b="1" dirty="0" smtClean="0">
                  <a:solidFill>
                    <a:srgbClr val="FCFFE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VỊ TRÍ TƯƠNG ĐỐI GIỮA HAI ĐƯỜNG THẲNG</a:t>
              </a: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400" b="1" dirty="0" smtClean="0">
                  <a:solidFill>
                    <a:srgbClr val="FCFFE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GÓC VÀ KHOẢNG CÁCH</a:t>
              </a:r>
              <a:endParaRPr lang="en-US" sz="5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321">
              <a:extLst>
                <a:ext uri="{FF2B5EF4-FFF2-40B4-BE49-F238E27FC236}">
                  <a16:creationId xmlns:a16="http://schemas.microsoft.com/office/drawing/2014/main" id="{EFE5FD9A-8DAE-41E9-BE5B-4B8636094028}"/>
                </a:ext>
              </a:extLst>
            </p:cNvPr>
            <p:cNvSpPr txBox="1"/>
            <p:nvPr/>
          </p:nvSpPr>
          <p:spPr>
            <a:xfrm>
              <a:off x="344885" y="191948"/>
              <a:ext cx="666790" cy="21459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20</a:t>
              </a:r>
              <a:endPara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960442" y="6545680"/>
            <a:ext cx="5116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97893" y="1730809"/>
            <a:ext cx="19293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CHƯƠNG </a:t>
            </a:r>
            <a:r>
              <a:rPr lang="en-US" sz="4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</a:t>
            </a:r>
            <a:r>
              <a:rPr lang="vi-VN" sz="4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vi-VN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PHÁP TỌA ĐỘ TRONG MẶT PHẲNG</a:t>
            </a:r>
            <a:endParaRPr lang="vi-VN" sz="48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601178" y="6114283"/>
            <a:ext cx="21348573" cy="5648175"/>
          </a:xfrm>
          <a:prstGeom prst="roundRect">
            <a:avLst>
              <a:gd name="adj" fmla="val 0"/>
            </a:avLst>
          </a:prstGeom>
          <a:noFill/>
          <a:ln>
            <a:solidFill>
              <a:srgbClr val="135F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5" rIns="91410" bIns="45705" rtlCol="0" anchor="ctr"/>
          <a:lstStyle/>
          <a:p>
            <a:pPr algn="ctr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64" name="Group 60"/>
          <p:cNvGrpSpPr/>
          <p:nvPr/>
        </p:nvGrpSpPr>
        <p:grpSpPr>
          <a:xfrm>
            <a:off x="1624686" y="6694124"/>
            <a:ext cx="15274473" cy="907184"/>
            <a:chOff x="7459670" y="7086600"/>
            <a:chExt cx="15276243" cy="907289"/>
          </a:xfrm>
        </p:grpSpPr>
        <p:sp>
          <p:nvSpPr>
            <p:cNvPr id="65" name="Rectangle 64"/>
            <p:cNvSpPr/>
            <p:nvPr/>
          </p:nvSpPr>
          <p:spPr>
            <a:xfrm>
              <a:off x="9092456" y="7178187"/>
              <a:ext cx="13643457" cy="8157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sz="4700" b="1" dirty="0">
                  <a:solidFill>
                    <a:srgbClr val="24245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VỊ TRÍ TƯƠNG ĐỐI CỦA HAI ĐƯỜNG THẲNG</a:t>
              </a:r>
            </a:p>
          </p:txBody>
        </p:sp>
        <p:grpSp>
          <p:nvGrpSpPr>
            <p:cNvPr id="66" name="Group 26"/>
            <p:cNvGrpSpPr/>
            <p:nvPr/>
          </p:nvGrpSpPr>
          <p:grpSpPr>
            <a:xfrm>
              <a:off x="7459670" y="7086600"/>
              <a:ext cx="1392615" cy="872846"/>
              <a:chOff x="7459669" y="7543800"/>
              <a:chExt cx="1381118" cy="872846"/>
            </a:xfrm>
          </p:grpSpPr>
          <p:sp>
            <p:nvSpPr>
              <p:cNvPr id="67" name="Isosceles Triangle 44"/>
              <p:cNvSpPr/>
              <p:nvPr/>
            </p:nvSpPr>
            <p:spPr>
              <a:xfrm rot="16200000">
                <a:off x="7469936" y="7533533"/>
                <a:ext cx="143688" cy="164221"/>
              </a:xfrm>
              <a:custGeom>
                <a:avLst/>
                <a:gdLst>
                  <a:gd name="connsiteX0" fmla="*/ 0 w 293725"/>
                  <a:gd name="connsiteY0" fmla="*/ 164224 h 164224"/>
                  <a:gd name="connsiteX1" fmla="*/ 146863 w 293725"/>
                  <a:gd name="connsiteY1" fmla="*/ 0 h 164224"/>
                  <a:gd name="connsiteX2" fmla="*/ 293725 w 293725"/>
                  <a:gd name="connsiteY2" fmla="*/ 164224 h 164224"/>
                  <a:gd name="connsiteX3" fmla="*/ 0 w 293725"/>
                  <a:gd name="connsiteY3" fmla="*/ 164224 h 164224"/>
                  <a:gd name="connsiteX0" fmla="*/ 2363 w 296088"/>
                  <a:gd name="connsiteY0" fmla="*/ 164221 h 164221"/>
                  <a:gd name="connsiteX1" fmla="*/ 0 w 296088"/>
                  <a:gd name="connsiteY1" fmla="*/ 0 h 164221"/>
                  <a:gd name="connsiteX2" fmla="*/ 296088 w 296088"/>
                  <a:gd name="connsiteY2" fmla="*/ 164221 h 164221"/>
                  <a:gd name="connsiteX3" fmla="*/ 2363 w 296088"/>
                  <a:gd name="connsiteY3" fmla="*/ 164221 h 16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088" h="164221">
                    <a:moveTo>
                      <a:pt x="2363" y="164221"/>
                    </a:moveTo>
                    <a:cubicBezTo>
                      <a:pt x="1575" y="109481"/>
                      <a:pt x="788" y="54740"/>
                      <a:pt x="0" y="0"/>
                    </a:cubicBezTo>
                    <a:lnTo>
                      <a:pt x="296088" y="164221"/>
                    </a:lnTo>
                    <a:lnTo>
                      <a:pt x="2363" y="164221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68" name="Group 28"/>
              <p:cNvGrpSpPr/>
              <p:nvPr/>
            </p:nvGrpSpPr>
            <p:grpSpPr>
              <a:xfrm>
                <a:off x="7469187" y="7685126"/>
                <a:ext cx="1371600" cy="731520"/>
                <a:chOff x="7469187" y="7685126"/>
                <a:chExt cx="1371600" cy="731520"/>
              </a:xfrm>
            </p:grpSpPr>
            <p:sp>
              <p:nvSpPr>
                <p:cNvPr id="81" name="Round Same Side Corner Rectangle 80"/>
                <p:cNvSpPr/>
                <p:nvPr/>
              </p:nvSpPr>
              <p:spPr>
                <a:xfrm rot="5400000">
                  <a:off x="7789227" y="7365086"/>
                  <a:ext cx="731520" cy="1371600"/>
                </a:xfrm>
                <a:prstGeom prst="round2SameRect">
                  <a:avLst/>
                </a:prstGeom>
                <a:solidFill>
                  <a:srgbClr val="135F82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2" name="TextBox 81"/>
                <p:cNvSpPr txBox="1"/>
                <p:nvPr/>
              </p:nvSpPr>
              <p:spPr>
                <a:xfrm>
                  <a:off x="7997762" y="7688759"/>
                  <a:ext cx="429605" cy="707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000" b="1" dirty="0" smtClean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I</a:t>
                  </a:r>
                  <a:endParaRPr lang="en-US" sz="40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</p:grpSp>
      </p:grpSp>
      <p:grpSp>
        <p:nvGrpSpPr>
          <p:cNvPr id="83" name="Group 60"/>
          <p:cNvGrpSpPr/>
          <p:nvPr/>
        </p:nvGrpSpPr>
        <p:grpSpPr>
          <a:xfrm>
            <a:off x="1601178" y="7996666"/>
            <a:ext cx="10683473" cy="907184"/>
            <a:chOff x="7459670" y="7086600"/>
            <a:chExt cx="10684711" cy="907289"/>
          </a:xfrm>
        </p:grpSpPr>
        <p:sp>
          <p:nvSpPr>
            <p:cNvPr id="84" name="Rectangle 83"/>
            <p:cNvSpPr/>
            <p:nvPr/>
          </p:nvSpPr>
          <p:spPr>
            <a:xfrm>
              <a:off x="9092456" y="7178187"/>
              <a:ext cx="9051925" cy="8157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en-US" sz="4700" b="1" spc="-150" dirty="0">
                  <a:solidFill>
                    <a:srgbClr val="24245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GÓC GIỮA HAI ĐƯỜNG THẲNG</a:t>
              </a:r>
            </a:p>
          </p:txBody>
        </p:sp>
        <p:grpSp>
          <p:nvGrpSpPr>
            <p:cNvPr id="85" name="Group 26"/>
            <p:cNvGrpSpPr/>
            <p:nvPr/>
          </p:nvGrpSpPr>
          <p:grpSpPr>
            <a:xfrm>
              <a:off x="7459670" y="7086600"/>
              <a:ext cx="1392615" cy="872846"/>
              <a:chOff x="7459669" y="7543800"/>
              <a:chExt cx="1381118" cy="872846"/>
            </a:xfrm>
          </p:grpSpPr>
          <p:sp>
            <p:nvSpPr>
              <p:cNvPr id="86" name="Isosceles Triangle 44"/>
              <p:cNvSpPr/>
              <p:nvPr/>
            </p:nvSpPr>
            <p:spPr>
              <a:xfrm rot="16200000">
                <a:off x="7469936" y="7533533"/>
                <a:ext cx="143688" cy="164221"/>
              </a:xfrm>
              <a:custGeom>
                <a:avLst/>
                <a:gdLst>
                  <a:gd name="connsiteX0" fmla="*/ 0 w 293725"/>
                  <a:gd name="connsiteY0" fmla="*/ 164224 h 164224"/>
                  <a:gd name="connsiteX1" fmla="*/ 146863 w 293725"/>
                  <a:gd name="connsiteY1" fmla="*/ 0 h 164224"/>
                  <a:gd name="connsiteX2" fmla="*/ 293725 w 293725"/>
                  <a:gd name="connsiteY2" fmla="*/ 164224 h 164224"/>
                  <a:gd name="connsiteX3" fmla="*/ 0 w 293725"/>
                  <a:gd name="connsiteY3" fmla="*/ 164224 h 164224"/>
                  <a:gd name="connsiteX0" fmla="*/ 2363 w 296088"/>
                  <a:gd name="connsiteY0" fmla="*/ 164221 h 164221"/>
                  <a:gd name="connsiteX1" fmla="*/ 0 w 296088"/>
                  <a:gd name="connsiteY1" fmla="*/ 0 h 164221"/>
                  <a:gd name="connsiteX2" fmla="*/ 296088 w 296088"/>
                  <a:gd name="connsiteY2" fmla="*/ 164221 h 164221"/>
                  <a:gd name="connsiteX3" fmla="*/ 2363 w 296088"/>
                  <a:gd name="connsiteY3" fmla="*/ 164221 h 16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088" h="164221">
                    <a:moveTo>
                      <a:pt x="2363" y="164221"/>
                    </a:moveTo>
                    <a:cubicBezTo>
                      <a:pt x="1575" y="109481"/>
                      <a:pt x="788" y="54740"/>
                      <a:pt x="0" y="0"/>
                    </a:cubicBezTo>
                    <a:lnTo>
                      <a:pt x="296088" y="164221"/>
                    </a:lnTo>
                    <a:lnTo>
                      <a:pt x="2363" y="164221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88" name="Group 28"/>
              <p:cNvGrpSpPr/>
              <p:nvPr/>
            </p:nvGrpSpPr>
            <p:grpSpPr>
              <a:xfrm>
                <a:off x="7469187" y="7685126"/>
                <a:ext cx="1371600" cy="731520"/>
                <a:chOff x="7469187" y="7685126"/>
                <a:chExt cx="1371600" cy="731520"/>
              </a:xfrm>
            </p:grpSpPr>
            <p:sp>
              <p:nvSpPr>
                <p:cNvPr id="89" name="Round Same Side Corner Rectangle 88"/>
                <p:cNvSpPr/>
                <p:nvPr/>
              </p:nvSpPr>
              <p:spPr>
                <a:xfrm rot="5400000">
                  <a:off x="7789227" y="7365086"/>
                  <a:ext cx="731520" cy="1371600"/>
                </a:xfrm>
                <a:prstGeom prst="round2SameRect">
                  <a:avLst/>
                </a:prstGeom>
                <a:solidFill>
                  <a:srgbClr val="135F82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0" name="TextBox 89"/>
                <p:cNvSpPr txBox="1"/>
                <p:nvPr/>
              </p:nvSpPr>
              <p:spPr>
                <a:xfrm>
                  <a:off x="7874541" y="7688759"/>
                  <a:ext cx="676048" cy="707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000" b="1" dirty="0" smtClean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II</a:t>
                  </a:r>
                  <a:endParaRPr lang="en-US" sz="40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</p:grpSp>
      </p:grpSp>
      <p:grpSp>
        <p:nvGrpSpPr>
          <p:cNvPr id="92" name="Group 60"/>
          <p:cNvGrpSpPr/>
          <p:nvPr/>
        </p:nvGrpSpPr>
        <p:grpSpPr>
          <a:xfrm>
            <a:off x="1634134" y="9302151"/>
            <a:ext cx="17820042" cy="907184"/>
            <a:chOff x="7459670" y="7086600"/>
            <a:chExt cx="17822107" cy="907289"/>
          </a:xfrm>
        </p:grpSpPr>
        <p:sp>
          <p:nvSpPr>
            <p:cNvPr id="93" name="Rectangle 92"/>
            <p:cNvSpPr/>
            <p:nvPr/>
          </p:nvSpPr>
          <p:spPr>
            <a:xfrm>
              <a:off x="9092456" y="7178187"/>
              <a:ext cx="16189321" cy="8157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en-US" sz="4700" b="1" spc="-150" dirty="0">
                  <a:solidFill>
                    <a:srgbClr val="24245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KHOẢNG CÁCH TỪ MỘT ĐIỂM ĐẾN MỘT ĐƯỜNG THẲNG</a:t>
              </a:r>
            </a:p>
          </p:txBody>
        </p:sp>
        <p:grpSp>
          <p:nvGrpSpPr>
            <p:cNvPr id="94" name="Group 26"/>
            <p:cNvGrpSpPr/>
            <p:nvPr/>
          </p:nvGrpSpPr>
          <p:grpSpPr>
            <a:xfrm>
              <a:off x="7459670" y="7086600"/>
              <a:ext cx="1392615" cy="872846"/>
              <a:chOff x="7459669" y="7543800"/>
              <a:chExt cx="1381118" cy="872846"/>
            </a:xfrm>
          </p:grpSpPr>
          <p:sp>
            <p:nvSpPr>
              <p:cNvPr id="95" name="Isosceles Triangle 44"/>
              <p:cNvSpPr/>
              <p:nvPr/>
            </p:nvSpPr>
            <p:spPr>
              <a:xfrm rot="16200000">
                <a:off x="7469936" y="7533533"/>
                <a:ext cx="143688" cy="164221"/>
              </a:xfrm>
              <a:custGeom>
                <a:avLst/>
                <a:gdLst>
                  <a:gd name="connsiteX0" fmla="*/ 0 w 293725"/>
                  <a:gd name="connsiteY0" fmla="*/ 164224 h 164224"/>
                  <a:gd name="connsiteX1" fmla="*/ 146863 w 293725"/>
                  <a:gd name="connsiteY1" fmla="*/ 0 h 164224"/>
                  <a:gd name="connsiteX2" fmla="*/ 293725 w 293725"/>
                  <a:gd name="connsiteY2" fmla="*/ 164224 h 164224"/>
                  <a:gd name="connsiteX3" fmla="*/ 0 w 293725"/>
                  <a:gd name="connsiteY3" fmla="*/ 164224 h 164224"/>
                  <a:gd name="connsiteX0" fmla="*/ 2363 w 296088"/>
                  <a:gd name="connsiteY0" fmla="*/ 164221 h 164221"/>
                  <a:gd name="connsiteX1" fmla="*/ 0 w 296088"/>
                  <a:gd name="connsiteY1" fmla="*/ 0 h 164221"/>
                  <a:gd name="connsiteX2" fmla="*/ 296088 w 296088"/>
                  <a:gd name="connsiteY2" fmla="*/ 164221 h 164221"/>
                  <a:gd name="connsiteX3" fmla="*/ 2363 w 296088"/>
                  <a:gd name="connsiteY3" fmla="*/ 164221 h 16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088" h="164221">
                    <a:moveTo>
                      <a:pt x="2363" y="164221"/>
                    </a:moveTo>
                    <a:cubicBezTo>
                      <a:pt x="1575" y="109481"/>
                      <a:pt x="788" y="54740"/>
                      <a:pt x="0" y="0"/>
                    </a:cubicBezTo>
                    <a:lnTo>
                      <a:pt x="296088" y="164221"/>
                    </a:lnTo>
                    <a:lnTo>
                      <a:pt x="2363" y="164221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98" name="Group 28"/>
              <p:cNvGrpSpPr/>
              <p:nvPr/>
            </p:nvGrpSpPr>
            <p:grpSpPr>
              <a:xfrm>
                <a:off x="7469187" y="7685126"/>
                <a:ext cx="1371600" cy="731520"/>
                <a:chOff x="7469187" y="7685126"/>
                <a:chExt cx="1371600" cy="731520"/>
              </a:xfrm>
            </p:grpSpPr>
            <p:sp>
              <p:nvSpPr>
                <p:cNvPr id="99" name="Round Same Side Corner Rectangle 98"/>
                <p:cNvSpPr/>
                <p:nvPr/>
              </p:nvSpPr>
              <p:spPr>
                <a:xfrm rot="5400000">
                  <a:off x="7789227" y="7365086"/>
                  <a:ext cx="731520" cy="1371600"/>
                </a:xfrm>
                <a:prstGeom prst="round2SameRect">
                  <a:avLst/>
                </a:prstGeom>
                <a:solidFill>
                  <a:srgbClr val="135F82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0" name="TextBox 99"/>
                <p:cNvSpPr txBox="1"/>
                <p:nvPr/>
              </p:nvSpPr>
              <p:spPr>
                <a:xfrm>
                  <a:off x="7751319" y="7688759"/>
                  <a:ext cx="922491" cy="707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000" b="1" dirty="0" smtClean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III</a:t>
                  </a:r>
                  <a:endParaRPr lang="en-US" sz="40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</p:grpSp>
      </p:grpSp>
      <p:sp>
        <p:nvSpPr>
          <p:cNvPr id="117" name="Rounded Rectangle 1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587985" y="1420367"/>
            <a:ext cx="20709085" cy="10336484"/>
            <a:chOff x="1771230" y="1641544"/>
            <a:chExt cx="20709085" cy="1033648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771230" y="1641544"/>
              <a:ext cx="20709085" cy="10336484"/>
              <a:chOff x="1771230" y="1641544"/>
              <a:chExt cx="20709085" cy="10336484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0874127" y="1797127"/>
                <a:ext cx="3890809" cy="923330"/>
                <a:chOff x="5759299" y="3448230"/>
                <a:chExt cx="3890809" cy="923330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4112612" y="1641544"/>
                <a:ext cx="18367703" cy="1181261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798482" y="6628125"/>
                <a:ext cx="51167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2059571" y="9368832"/>
                <a:ext cx="184730" cy="707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en-US" sz="40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1951043" y="11270142"/>
                <a:ext cx="51167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</a:t>
                </a:r>
                <a:endParaRPr lang="en-US" sz="40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3844753" y="6486123"/>
                <a:ext cx="54374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</a:t>
                </a:r>
              </a:p>
            </p:txBody>
          </p: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2472334" y="3009806"/>
              <a:ext cx="5111480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dirty="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TOÁN </a:t>
              </a:r>
              <a:r>
                <a:rPr lang="en-US" sz="6000" dirty="0" smtClean="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HÌNH HỌC  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7626782" y="2892730"/>
              <a:ext cx="1316269" cy="1323399"/>
              <a:chOff x="8087758" y="1914759"/>
              <a:chExt cx="1316269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8178940" y="1963757"/>
                <a:ext cx="1175009" cy="1143519"/>
                <a:chOff x="8178940" y="1963756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8178940" y="1963756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8200338" y="2008724"/>
                  <a:ext cx="1091111" cy="1068078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8087758" y="1914759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 dirty="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F6311BF-A4CF-4E55-85D0-0A86514BB33B}"/>
              </a:ext>
            </a:extLst>
          </p:cNvPr>
          <p:cNvGrpSpPr/>
          <p:nvPr/>
        </p:nvGrpSpPr>
        <p:grpSpPr>
          <a:xfrm>
            <a:off x="2175303" y="3784531"/>
            <a:ext cx="20967093" cy="2310294"/>
            <a:chOff x="71819" y="148683"/>
            <a:chExt cx="6395438" cy="824094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E248C2BE-8566-4C92-B9DC-0F7EBDD76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19" y="148683"/>
              <a:ext cx="6395438" cy="824094"/>
            </a:xfrm>
            <a:prstGeom prst="rect">
              <a:avLst/>
            </a:prstGeom>
          </p:spPr>
        </p:pic>
        <p:sp>
          <p:nvSpPr>
            <p:cNvPr id="114" name="TextBox 321">
              <a:extLst>
                <a:ext uri="{FF2B5EF4-FFF2-40B4-BE49-F238E27FC236}">
                  <a16:creationId xmlns:a16="http://schemas.microsoft.com/office/drawing/2014/main" id="{39A246B9-3D0B-4A2B-A2B0-AD412E909BB4}"/>
                </a:ext>
              </a:extLst>
            </p:cNvPr>
            <p:cNvSpPr txBox="1"/>
            <p:nvPr/>
          </p:nvSpPr>
          <p:spPr>
            <a:xfrm>
              <a:off x="906944" y="245792"/>
              <a:ext cx="5040506" cy="5958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400" b="1" dirty="0" smtClean="0">
                  <a:solidFill>
                    <a:srgbClr val="FCFFE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VỊ TRÍ TƯƠNG ĐỐI GIỮA HAI ĐƯỜNG THẲNG</a:t>
              </a: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400" b="1" dirty="0" smtClean="0">
                  <a:solidFill>
                    <a:srgbClr val="FCFFE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GÓC VÀ KHOẢNG CÁCH</a:t>
              </a:r>
              <a:endParaRPr lang="en-US" sz="5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321">
              <a:extLst>
                <a:ext uri="{FF2B5EF4-FFF2-40B4-BE49-F238E27FC236}">
                  <a16:creationId xmlns:a16="http://schemas.microsoft.com/office/drawing/2014/main" id="{EFE5FD9A-8DAE-41E9-BE5B-4B8636094028}"/>
                </a:ext>
              </a:extLst>
            </p:cNvPr>
            <p:cNvSpPr txBox="1"/>
            <p:nvPr/>
          </p:nvSpPr>
          <p:spPr>
            <a:xfrm>
              <a:off x="344885" y="191948"/>
              <a:ext cx="666790" cy="21459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20</a:t>
              </a:r>
              <a:endPara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960442" y="6545680"/>
            <a:ext cx="5116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97893" y="1730809"/>
            <a:ext cx="19293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CHƯƠNG </a:t>
            </a:r>
            <a:r>
              <a:rPr lang="en-US" sz="4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</a:t>
            </a:r>
            <a:r>
              <a:rPr lang="vi-VN" sz="4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vi-VN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8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PHÁP TỌA ĐỘ TRONG MẶT PHẲNG</a:t>
            </a:r>
            <a:endParaRPr lang="vi-VN" sz="48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630477" y="6367064"/>
            <a:ext cx="7129329" cy="704413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THUẬT NGỮ</a:t>
            </a:r>
          </a:p>
          <a:p>
            <a:r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Góc, khoảng cách</a:t>
            </a:r>
          </a:p>
          <a:p>
            <a:r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 trí tương đối giữa hai đường thẳng</a:t>
            </a:r>
          </a:p>
          <a:p>
            <a:pPr marL="0" indent="0" algn="ctr">
              <a:buNone/>
            </a:pPr>
            <a:endParaRPr lang="en-US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7775046" y="6367064"/>
            <a:ext cx="16304154" cy="704413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smtClean="0">
                <a:solidFill>
                  <a:srgbClr val="2E686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KIẾN THỨC, KỸ NĂNG</a:t>
            </a:r>
          </a:p>
          <a:p>
            <a:r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 biết hai đường thẳng cắt nhau, song song, trùng nhau, vuông góc.</a:t>
            </a:r>
          </a:p>
          <a:p>
            <a:r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 lập công thức tính góc giữa hai đường thẳng.</a:t>
            </a:r>
          </a:p>
          <a:p>
            <a:r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 khoảng cách từ một điểm đến một đường thẳng.</a:t>
            </a:r>
          </a:p>
          <a:p>
            <a:r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 dụng các công thức tính góc và khoảng cách để giải một số bài toán có liên quan đến thực tiễn.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7106051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132042" y="1770893"/>
            <a:ext cx="23870958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. VỊ TRÍ TƯƠNG ĐỐI GIỮA HAI ĐƯỜNG 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32042" y="7741639"/>
            <a:ext cx="23870958" cy="5481854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300" y="2672259"/>
                <a:ext cx="23888700" cy="50480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 </a:t>
                </a:r>
                <a:r>
                  <a:rPr lang="en-US" sz="4800" b="1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:r>
                  <a:rPr lang="en-US" sz="4800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b="0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b="0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48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 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48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1;2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nói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+3=0</m:t>
                            </m:r>
                          </m:e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−1=0</m:t>
                            </m:r>
                          </m:e>
                        </m:eqArr>
                      </m:e>
                    </m:d>
                  </m:oMath>
                </a14:m>
                <a:endParaRPr lang="en-US" sz="48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nghiệm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b="1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 b="1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1;2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endParaRPr lang="en-US" sz="48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1−2.2+3=0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;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3.1−2−1=0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1;2</m:t>
                        </m:r>
                      </m:e>
                    </m:d>
                  </m:oMath>
                </a14:m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thuộc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nói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2672259"/>
                <a:ext cx="23888700" cy="5048003"/>
              </a:xfrm>
              <a:prstGeom prst="rect">
                <a:avLst/>
              </a:prstGeom>
              <a:blipFill>
                <a:blip r:embed="rId3"/>
                <a:stretch>
                  <a:fillRect l="-1148" t="-4096" b="-90602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"/>
          <p:cNvGrpSpPr>
            <a:grpSpLocks/>
          </p:cNvGrpSpPr>
          <p:nvPr/>
        </p:nvGrpSpPr>
        <p:grpSpPr bwMode="auto">
          <a:xfrm>
            <a:off x="609600" y="2672259"/>
            <a:ext cx="4050893" cy="689812"/>
            <a:chOff x="-16713" y="-458"/>
            <a:chExt cx="107765" cy="11816"/>
          </a:xfrm>
        </p:grpSpPr>
        <p:sp>
          <p:nvSpPr>
            <p:cNvPr id="18" name="TextBox 321"/>
            <p:cNvSpPr txBox="1">
              <a:spLocks noChangeArrowheads="1"/>
            </p:cNvSpPr>
            <p:nvPr/>
          </p:nvSpPr>
          <p:spPr bwMode="auto">
            <a:xfrm>
              <a:off x="5167" y="-458"/>
              <a:ext cx="85885" cy="4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HĐ1: </a:t>
              </a:r>
              <a:endParaRPr kumimoji="0" lang="en-US" altLang="en-US" sz="5000" b="0" i="0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9" name="Group 18"/>
            <p:cNvGrpSpPr>
              <a:grpSpLocks/>
            </p:cNvGrpSpPr>
            <p:nvPr/>
          </p:nvGrpSpPr>
          <p:grpSpPr bwMode="auto">
            <a:xfrm>
              <a:off x="-16713" y="923"/>
              <a:ext cx="25682" cy="10435"/>
              <a:chOff x="-15336" y="923"/>
              <a:chExt cx="23567" cy="10435"/>
            </a:xfrm>
          </p:grpSpPr>
          <p:grpSp>
            <p:nvGrpSpPr>
              <p:cNvPr id="20" name="Group 19"/>
              <p:cNvGrpSpPr>
                <a:grpSpLocks/>
              </p:cNvGrpSpPr>
              <p:nvPr/>
            </p:nvGrpSpPr>
            <p:grpSpPr bwMode="auto">
              <a:xfrm>
                <a:off x="-13022" y="923"/>
                <a:ext cx="21253" cy="10435"/>
                <a:chOff x="-14584" y="923"/>
                <a:chExt cx="23802" cy="15990"/>
              </a:xfrm>
            </p:grpSpPr>
            <p:sp>
              <p:nvSpPr>
                <p:cNvPr id="23" name="Arrow: Pentagon 6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206" cy="2913"/>
                </a:xfrm>
                <a:prstGeom prst="homePlate">
                  <a:avLst>
                    <a:gd name="adj" fmla="val 50001"/>
                  </a:avLst>
                </a:prstGeom>
                <a:solidFill>
                  <a:srgbClr val="BDD6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5000" baseline="-25000"/>
                </a:p>
              </p:txBody>
            </p:sp>
            <p:sp>
              <p:nvSpPr>
                <p:cNvPr id="24" name="Arrow: Chevron 11"/>
                <p:cNvSpPr>
                  <a:spLocks noChangeArrowheads="1"/>
                </p:cNvSpPr>
                <p:nvPr/>
              </p:nvSpPr>
              <p:spPr bwMode="auto">
                <a:xfrm>
                  <a:off x="3802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FFE599"/>
                </a:solidFill>
                <a:ln w="12700">
                  <a:solidFill>
                    <a:srgbClr val="FFC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5000" baseline="-25000"/>
                </a:p>
              </p:txBody>
            </p:sp>
            <p:sp>
              <p:nvSpPr>
                <p:cNvPr id="25" name="Arrow: Chevron 12"/>
                <p:cNvSpPr>
                  <a:spLocks noChangeArrowheads="1"/>
                </p:cNvSpPr>
                <p:nvPr/>
              </p:nvSpPr>
              <p:spPr bwMode="auto">
                <a:xfrm>
                  <a:off x="-14584" y="923"/>
                  <a:ext cx="23802" cy="15990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0000CC"/>
                </a:solidFill>
                <a:ln w="12700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5000" baseline="-25000"/>
                </a:p>
              </p:txBody>
            </p:sp>
          </p:grpSp>
          <p:sp>
            <p:nvSpPr>
              <p:cNvPr id="21" name="Flowchart: Terminator 13"/>
              <p:cNvSpPr>
                <a:spLocks noChangeArrowheads="1"/>
              </p:cNvSpPr>
              <p:nvPr/>
            </p:nvSpPr>
            <p:spPr bwMode="auto">
              <a:xfrm>
                <a:off x="803" y="1376"/>
                <a:ext cx="2537" cy="1158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5000" baseline="-25000"/>
              </a:p>
            </p:txBody>
          </p:sp>
          <p:sp>
            <p:nvSpPr>
              <p:cNvPr id="22" name="Oval 14"/>
              <p:cNvSpPr>
                <a:spLocks noChangeArrowheads="1"/>
              </p:cNvSpPr>
              <p:nvPr/>
            </p:nvSpPr>
            <p:spPr bwMode="auto">
              <a:xfrm>
                <a:off x="-15336" y="4365"/>
                <a:ext cx="11674" cy="3550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5000" baseline="-25000"/>
              </a:p>
            </p:txBody>
          </p:sp>
        </p:grpSp>
      </p:grpSp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8169890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132042" y="1770893"/>
            <a:ext cx="23870958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. VỊ TRÍ TƯƠNG ĐỐI GIỮA HAI ĐƯỜNG 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" y="7371603"/>
            <a:ext cx="24333162" cy="5481854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300" y="2672259"/>
                <a:ext cx="23888700" cy="50480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 </a:t>
                </a:r>
                <a:r>
                  <a:rPr lang="en-US" sz="4800" b="1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:r>
                  <a:rPr lang="en-US" sz="4800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b="0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b="0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48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 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48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1;2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nói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+3=0</m:t>
                            </m:r>
                          </m:e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−1=0</m:t>
                            </m:r>
                          </m:e>
                        </m:eqArr>
                      </m:e>
                    </m:d>
                  </m:oMath>
                </a14:m>
                <a:endParaRPr lang="en-US" sz="48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nghiệm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b="1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 b="1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+3=0</m:t>
                            </m:r>
                          </m:e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−1=0</m:t>
                            </m:r>
                          </m:e>
                        </m:eqArr>
                      </m:e>
                    </m:d>
                    <m:r>
                      <a:rPr lang="en-US" sz="4800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=−3</m:t>
                            </m:r>
                          </m:e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eqArr>
                      </m:e>
                    </m:d>
                    <m:r>
                      <a:rPr lang="en-US" sz="4800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nghiệm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2672259"/>
                <a:ext cx="23888700" cy="5048003"/>
              </a:xfrm>
              <a:prstGeom prst="rect">
                <a:avLst/>
              </a:prstGeom>
              <a:blipFill>
                <a:blip r:embed="rId3"/>
                <a:stretch>
                  <a:fillRect l="-1148" t="-4096" r="-944" b="-83373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"/>
          <p:cNvGrpSpPr>
            <a:grpSpLocks/>
          </p:cNvGrpSpPr>
          <p:nvPr/>
        </p:nvGrpSpPr>
        <p:grpSpPr bwMode="auto">
          <a:xfrm>
            <a:off x="609600" y="2672259"/>
            <a:ext cx="4050893" cy="689812"/>
            <a:chOff x="-16713" y="-458"/>
            <a:chExt cx="107765" cy="11816"/>
          </a:xfrm>
        </p:grpSpPr>
        <p:sp>
          <p:nvSpPr>
            <p:cNvPr id="18" name="TextBox 321"/>
            <p:cNvSpPr txBox="1">
              <a:spLocks noChangeArrowheads="1"/>
            </p:cNvSpPr>
            <p:nvPr/>
          </p:nvSpPr>
          <p:spPr bwMode="auto">
            <a:xfrm>
              <a:off x="5167" y="-458"/>
              <a:ext cx="85885" cy="4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HĐ1: </a:t>
              </a:r>
              <a:endParaRPr kumimoji="0" lang="en-US" altLang="en-US" sz="5000" b="0" i="0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9" name="Group 18"/>
            <p:cNvGrpSpPr>
              <a:grpSpLocks/>
            </p:cNvGrpSpPr>
            <p:nvPr/>
          </p:nvGrpSpPr>
          <p:grpSpPr bwMode="auto">
            <a:xfrm>
              <a:off x="-16713" y="923"/>
              <a:ext cx="25682" cy="10435"/>
              <a:chOff x="-15336" y="923"/>
              <a:chExt cx="23567" cy="10435"/>
            </a:xfrm>
          </p:grpSpPr>
          <p:grpSp>
            <p:nvGrpSpPr>
              <p:cNvPr id="20" name="Group 19"/>
              <p:cNvGrpSpPr>
                <a:grpSpLocks/>
              </p:cNvGrpSpPr>
              <p:nvPr/>
            </p:nvGrpSpPr>
            <p:grpSpPr bwMode="auto">
              <a:xfrm>
                <a:off x="-13022" y="923"/>
                <a:ext cx="21253" cy="10435"/>
                <a:chOff x="-14584" y="923"/>
                <a:chExt cx="23802" cy="15990"/>
              </a:xfrm>
            </p:grpSpPr>
            <p:sp>
              <p:nvSpPr>
                <p:cNvPr id="23" name="Arrow: Pentagon 6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206" cy="2913"/>
                </a:xfrm>
                <a:prstGeom prst="homePlate">
                  <a:avLst>
                    <a:gd name="adj" fmla="val 50001"/>
                  </a:avLst>
                </a:prstGeom>
                <a:solidFill>
                  <a:srgbClr val="BDD6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5000" baseline="-25000"/>
                </a:p>
              </p:txBody>
            </p:sp>
            <p:sp>
              <p:nvSpPr>
                <p:cNvPr id="24" name="Arrow: Chevron 11"/>
                <p:cNvSpPr>
                  <a:spLocks noChangeArrowheads="1"/>
                </p:cNvSpPr>
                <p:nvPr/>
              </p:nvSpPr>
              <p:spPr bwMode="auto">
                <a:xfrm>
                  <a:off x="3802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FFE599"/>
                </a:solidFill>
                <a:ln w="12700">
                  <a:solidFill>
                    <a:srgbClr val="FFC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5000" baseline="-25000"/>
                </a:p>
              </p:txBody>
            </p:sp>
            <p:sp>
              <p:nvSpPr>
                <p:cNvPr id="25" name="Arrow: Chevron 12"/>
                <p:cNvSpPr>
                  <a:spLocks noChangeArrowheads="1"/>
                </p:cNvSpPr>
                <p:nvPr/>
              </p:nvSpPr>
              <p:spPr bwMode="auto">
                <a:xfrm>
                  <a:off x="-14584" y="923"/>
                  <a:ext cx="23802" cy="15990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0000CC"/>
                </a:solidFill>
                <a:ln w="12700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5000" baseline="-25000"/>
                </a:p>
              </p:txBody>
            </p:sp>
          </p:grpSp>
          <p:sp>
            <p:nvSpPr>
              <p:cNvPr id="21" name="Flowchart: Terminator 13"/>
              <p:cNvSpPr>
                <a:spLocks noChangeArrowheads="1"/>
              </p:cNvSpPr>
              <p:nvPr/>
            </p:nvSpPr>
            <p:spPr bwMode="auto">
              <a:xfrm>
                <a:off x="803" y="1376"/>
                <a:ext cx="2537" cy="1158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5000" baseline="-25000"/>
              </a:p>
            </p:txBody>
          </p:sp>
          <p:sp>
            <p:nvSpPr>
              <p:cNvPr id="22" name="Oval 14"/>
              <p:cNvSpPr>
                <a:spLocks noChangeArrowheads="1"/>
              </p:cNvSpPr>
              <p:nvPr/>
            </p:nvSpPr>
            <p:spPr bwMode="auto">
              <a:xfrm>
                <a:off x="-15336" y="4365"/>
                <a:ext cx="11674" cy="3550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5000" baseline="-25000"/>
              </a:p>
            </p:txBody>
          </p:sp>
        </p:grpSp>
      </p:grpSp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45524163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23164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. VỊ TRÍ TƯƠNG ĐỐI GIỮA HAI ĐƯỜNG 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2648196"/>
                <a:ext cx="23164800" cy="6800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4800" b="1" dirty="0" smtClean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sz="48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 smtClean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sz="4800" b="1" dirty="0" smtClean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về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- </a:t>
                </a:r>
                <a:r>
                  <a:rPr lang="en-US" sz="4800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b="0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b="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nghiệm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                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(*)</a:t>
                </a:r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b="1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b="1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48196"/>
                <a:ext cx="23164800" cy="6800604"/>
              </a:xfrm>
              <a:prstGeom prst="rect">
                <a:avLst/>
              </a:prstGeom>
              <a:blipFill>
                <a:blip r:embed="rId3"/>
                <a:stretch>
                  <a:fillRect l="-1157" t="-196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/>
              <p:cNvSpPr/>
              <p:nvPr/>
            </p:nvSpPr>
            <p:spPr>
              <a:xfrm>
                <a:off x="609600" y="9448800"/>
                <a:ext cx="23164800" cy="36576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cắt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(*)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nghiệm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duy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song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song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(*)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nghiệm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(*)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nghiệm</a:t>
                </a:r>
                <a:r>
                  <a:rPr lang="en-US" sz="44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/>
                <a:endParaRPr lang="en-US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ounded 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9448800"/>
                <a:ext cx="23164800" cy="36576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4897340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5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228600" y="1752600"/>
            <a:ext cx="238506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. VỊ TRÍ TƯƠNG ĐỐI GIỮA HAI ĐƯỜNG 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2624135"/>
                <a:ext cx="23850600" cy="107870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800" b="1" smtClean="0">
                    <a:solidFill>
                      <a:schemeClr val="accent4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 ý:</a:t>
                </a:r>
                <a:endParaRPr lang="en-US" sz="4800" b="1" dirty="0" smtClean="0">
                  <a:solidFill>
                    <a:schemeClr val="accent4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/>
                  <a:t>	</a:t>
                </a:r>
                <a:r>
                  <a:rPr lang="en-US" dirty="0" smtClean="0"/>
                  <a:t>				      </a:t>
                </a:r>
                <a:r>
                  <a:rPr lang="en-US" dirty="0" err="1" smtClean="0">
                    <a:solidFill>
                      <a:srgbClr val="7030A0"/>
                    </a:solidFill>
                  </a:rPr>
                  <a:t>Hình</a:t>
                </a:r>
                <a:r>
                  <a:rPr lang="en-US" dirty="0" smtClean="0">
                    <a:solidFill>
                      <a:srgbClr val="7030A0"/>
                    </a:solidFill>
                  </a:rPr>
                  <a:t> 7.5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Dựa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48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48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, ta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685800" lvl="0" indent="-6858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song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685800" lvl="0" indent="-6858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cắt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không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624135"/>
                <a:ext cx="23850600" cy="10787066"/>
              </a:xfrm>
              <a:prstGeom prst="rect">
                <a:avLst/>
              </a:prstGeom>
              <a:blipFill>
                <a:blip r:embed="rId3"/>
                <a:stretch>
                  <a:fillRect l="-1150" t="-1919" r="-690" b="-1016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0" y="4122821"/>
            <a:ext cx="8305800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868400" y="4122821"/>
            <a:ext cx="8441373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8910663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233553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. VỊ TRÍ TƯƠNG ĐỐI GIỮA HAI ĐƯỜNG 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9100" y="5583821"/>
                <a:ext cx="23545800" cy="7594233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Giải:</a:t>
                </a:r>
              </a:p>
              <a:p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+4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=0⇔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+4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=0⇔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+12=0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một, tức là chúng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Hai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1;−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;−2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song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song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dirty="0">
                  <a:solidFill>
                    <a:srgbClr val="3333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5583821"/>
                <a:ext cx="23545800" cy="7594233"/>
              </a:xfrm>
              <a:prstGeom prst="rect">
                <a:avLst/>
              </a:prstGeom>
              <a:blipFill>
                <a:blip r:embed="rId4"/>
                <a:stretch>
                  <a:fillRect l="-1165" t="-2724" b="-320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83004" y="2684293"/>
            <a:ext cx="23581896" cy="28995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endParaRPr lang="en-US" b="1" dirty="0" smtClean="0"/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838200" y="2895600"/>
            <a:ext cx="2749937" cy="560367"/>
            <a:chOff x="315" y="602"/>
            <a:chExt cx="12701" cy="2078"/>
          </a:xfrm>
        </p:grpSpPr>
        <p:sp>
          <p:nvSpPr>
            <p:cNvPr id="6" name="Arrow: Pentagon 25"/>
            <p:cNvSpPr>
              <a:spLocks noChangeArrowheads="1"/>
            </p:cNvSpPr>
            <p:nvPr/>
          </p:nvSpPr>
          <p:spPr bwMode="auto">
            <a:xfrm>
              <a:off x="2779" y="719"/>
              <a:ext cx="10237" cy="1961"/>
            </a:xfrm>
            <a:prstGeom prst="homePlate">
              <a:avLst>
                <a:gd name="adj" fmla="val 50004"/>
              </a:avLst>
            </a:prstGeom>
            <a:solidFill>
              <a:srgbClr val="FCFFEF"/>
            </a:solidFill>
            <a:ln w="12700">
              <a:solidFill>
                <a:srgbClr val="FBE4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800" b="1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Calibri" panose="020F0502020204030204" pitchFamily="34" charset="0"/>
                </a:rPr>
                <a:t> </a:t>
              </a:r>
              <a:r>
                <a:rPr lang="en-US" altLang="en-US" sz="48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Ví</a:t>
              </a:r>
              <a:r>
                <a:rPr lang="en-US" altLang="en-US" sz="48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</a:t>
              </a:r>
              <a:r>
                <a:rPr lang="en-US" altLang="en-US" sz="48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dụ</a:t>
              </a:r>
              <a:r>
                <a:rPr lang="en-US" altLang="en-US" sz="48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1</a:t>
              </a:r>
              <a:endParaRPr kumimoji="0" lang="en-US" altLang="en-US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Arrow: Chevron 26"/>
            <p:cNvSpPr>
              <a:spLocks noChangeArrowheads="1"/>
            </p:cNvSpPr>
            <p:nvPr/>
          </p:nvSpPr>
          <p:spPr bwMode="auto">
            <a:xfrm>
              <a:off x="315" y="603"/>
              <a:ext cx="1627" cy="1961"/>
            </a:xfrm>
            <a:prstGeom prst="chevron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rrow: Chevron 27"/>
            <p:cNvSpPr>
              <a:spLocks noChangeArrowheads="1"/>
            </p:cNvSpPr>
            <p:nvPr/>
          </p:nvSpPr>
          <p:spPr bwMode="auto">
            <a:xfrm>
              <a:off x="1162" y="602"/>
              <a:ext cx="1768" cy="1961"/>
            </a:xfrm>
            <a:prstGeom prst="chevron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Xét vị trí tương đối giữa đường thẳng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0" y="0"/>
          <a:ext cx="13716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0" name="Equation" r:id="rId5" imgW="1371600" imgH="241300" progId="Equation.DSMT4">
                  <p:embed/>
                </p:oleObj>
              </mc:Choice>
              <mc:Fallback>
                <p:oleObj name="Equation" r:id="rId5" imgW="1371600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71600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0" y="23812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 mỗi đường thẳng sau:</a:t>
            </a:r>
            <a:r>
              <a:rPr kumimoji="0" lang="en-US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2"/>
              <p:cNvSpPr>
                <a:spLocks noChangeArrowheads="1"/>
              </p:cNvSpPr>
              <p:nvPr/>
            </p:nvSpPr>
            <p:spPr bwMode="auto">
              <a:xfrm>
                <a:off x="579120" y="3504902"/>
                <a:ext cx="22974300" cy="850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4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 </a:t>
                </a:r>
                <a:r>
                  <a:rPr kumimoji="0" lang="en-US" altLang="en-US" sz="4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kumimoji="0" lang="en-US" altLang="en-US" sz="4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altLang="en-US" sz="4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kumimoji="0" lang="en-US" altLang="en-US" sz="4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altLang="en-US" sz="4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kumimoji="0" lang="en-US" altLang="en-US" sz="4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altLang="en-US" sz="4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đối</a:t>
                </a:r>
                <a:r>
                  <a:rPr kumimoji="0" lang="en-US" altLang="en-US" sz="4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altLang="en-US" sz="4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kumimoji="0" lang="en-US" altLang="en-US" sz="4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altLang="en-US" sz="4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kumimoji="0" lang="en-US" altLang="en-US" sz="4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altLang="en-US" sz="4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14:m>
                  <m:oMath xmlns:m="http://schemas.openxmlformats.org/officeDocument/2006/math">
                    <m:r>
                      <a:rPr lang="en-US" sz="4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b="1" i="1">
                        <a:latin typeface="Cambria Math"/>
                      </a:rPr>
                      <m:t>:</m:t>
                    </m:r>
                    <m:r>
                      <a:rPr lang="en-US" b="0" i="1">
                        <a:latin typeface="Cambria Math"/>
                      </a:rPr>
                      <m:t> </m:t>
                    </m:r>
                    <m:r>
                      <a:rPr lang="en-US" b="0" i="1">
                        <a:latin typeface="Cambria Math"/>
                      </a:rPr>
                      <m:t>𝑥</m:t>
                    </m:r>
                    <m:r>
                      <a:rPr lang="en-US" b="0" i="1">
                        <a:latin typeface="Cambria Math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b="0" i="1">
                        <a:latin typeface="Cambria Math"/>
                      </a:rPr>
                      <m:t>𝑦</m:t>
                    </m:r>
                    <m:r>
                      <a:rPr lang="en-US" b="0" i="1">
                        <a:latin typeface="Cambria Math"/>
                      </a:rPr>
                      <m:t>+4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b="0" i="1">
                        <a:latin typeface="Cambria Math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4800" dirty="0" err="1" smtClean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và</a:t>
                </a:r>
                <a:r>
                  <a:rPr lang="en-US" altLang="en-US" sz="4800" dirty="0" smtClean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4800" dirty="0" err="1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4800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4800" dirty="0" err="1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4800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4800" dirty="0" err="1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thẳng</a:t>
                </a:r>
                <a:r>
                  <a:rPr lang="en-US" altLang="en-US" sz="4800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4800" dirty="0" err="1" smtClean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sau</a:t>
                </a:r>
                <a:r>
                  <a:rPr lang="en-US" altLang="en-US" sz="4800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altLang="en-US" sz="4800" dirty="0" smtClean="0"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120" y="3504902"/>
                <a:ext cx="22974300" cy="850426"/>
              </a:xfrm>
              <a:prstGeom prst="rect">
                <a:avLst/>
              </a:prstGeom>
              <a:blipFill rotWithShape="1">
                <a:blip r:embed="rId7"/>
                <a:stretch>
                  <a:fillRect l="-1194" t="-14388" b="-381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9945262" y="4540469"/>
                <a:ext cx="4683975" cy="818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/>
                      <m:t>  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262" y="4540469"/>
                <a:ext cx="4683975" cy="818494"/>
              </a:xfrm>
              <a:prstGeom prst="rect">
                <a:avLst/>
              </a:prstGeom>
              <a:blipFill>
                <a:blip r:embed="rId8"/>
                <a:stretch>
                  <a:fillRect t="-6716" r="-4161" b="-35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200400" y="4580186"/>
                <a:ext cx="6483378" cy="8319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: 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US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US" b="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+12=0</m:t>
                      </m:r>
                      <m:r>
                        <m:rPr>
                          <m:nor/>
                        </m:rPr>
                        <a:rPr lang="en-US" dirty="0"/>
                        <m:t>;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580186"/>
                <a:ext cx="6483378" cy="83195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061140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  <p:bldP spid="16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23164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. VỊ TRÍ TƯƠNG ĐỐI GIỮA HAI ĐƯỜNG 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2624134"/>
                <a:ext cx="23164800" cy="10634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800" b="1" dirty="0" err="1">
                    <a:solidFill>
                      <a:schemeClr val="accent4">
                        <a:lumMod val="75000"/>
                      </a:schemeClr>
                    </a:solidFill>
                  </a:rPr>
                  <a:t>Nhận</a:t>
                </a:r>
                <a:r>
                  <a:rPr lang="en-US" sz="4800" b="1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r>
                  <a:rPr lang="en-US" sz="4800" b="1" dirty="0" err="1" smtClean="0">
                    <a:solidFill>
                      <a:schemeClr val="accent4">
                        <a:lumMod val="75000"/>
                      </a:schemeClr>
                    </a:solidFill>
                  </a:rPr>
                  <a:t>xét</a:t>
                </a:r>
                <a:r>
                  <a:rPr lang="en-US" sz="4800" b="1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: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sz="48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sz="4800" dirty="0" err="1"/>
                  <a:t>Giả</a:t>
                </a:r>
                <a:r>
                  <a:rPr lang="en-US" sz="4800" dirty="0"/>
                  <a:t> </a:t>
                </a:r>
                <a:r>
                  <a:rPr lang="en-US" sz="4800" dirty="0" err="1"/>
                  <a:t>sử</a:t>
                </a:r>
                <a:r>
                  <a:rPr lang="en-US" sz="4800" dirty="0"/>
                  <a:t> </a:t>
                </a:r>
                <a:r>
                  <a:rPr lang="en-US" sz="4800" dirty="0" err="1"/>
                  <a:t>hai</a:t>
                </a:r>
                <a:r>
                  <a:rPr lang="en-US" sz="4800" dirty="0"/>
                  <a:t> </a:t>
                </a:r>
                <a:r>
                  <a:rPr lang="en-US" sz="4800" dirty="0" err="1"/>
                  <a:t>đường</a:t>
                </a:r>
                <a:r>
                  <a:rPr lang="en-US" sz="4800" dirty="0"/>
                  <a:t> </a:t>
                </a:r>
                <a:r>
                  <a:rPr lang="en-US" sz="4800" dirty="0" err="1"/>
                  <a:t>thẳng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/>
                  <a:t> </a:t>
                </a:r>
                <a:r>
                  <a:rPr lang="en-US" sz="4800" dirty="0" err="1"/>
                  <a:t>có</a:t>
                </a:r>
                <a:r>
                  <a:rPr lang="en-US" sz="4800" dirty="0"/>
                  <a:t> </a:t>
                </a:r>
                <a:r>
                  <a:rPr lang="en-US" sz="4800" dirty="0" err="1"/>
                  <a:t>hai</a:t>
                </a:r>
                <a:r>
                  <a:rPr lang="en-US" sz="4800" dirty="0"/>
                  <a:t> </a:t>
                </a:r>
                <a:r>
                  <a:rPr lang="en-US" sz="4800" dirty="0" err="1"/>
                  <a:t>vectơ</a:t>
                </a:r>
                <a:r>
                  <a:rPr lang="en-US" sz="4800" dirty="0"/>
                  <a:t> </a:t>
                </a:r>
                <a:r>
                  <a:rPr lang="en-US" sz="4800" dirty="0" err="1"/>
                  <a:t>chỉ</a:t>
                </a:r>
                <a:r>
                  <a:rPr lang="en-US" sz="4800" dirty="0"/>
                  <a:t> </a:t>
                </a:r>
                <a:r>
                  <a:rPr lang="en-US" sz="4800" dirty="0" err="1"/>
                  <a:t>phương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48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/>
                  <a:t> ( hay </a:t>
                </a:r>
                <a:r>
                  <a:rPr lang="en-US" sz="4800" dirty="0" err="1"/>
                  <a:t>hai</a:t>
                </a:r>
                <a:r>
                  <a:rPr lang="en-US" sz="4800" dirty="0"/>
                  <a:t> </a:t>
                </a:r>
                <a:r>
                  <a:rPr lang="en-US" sz="4800" dirty="0" err="1"/>
                  <a:t>vectơ</a:t>
                </a:r>
                <a:r>
                  <a:rPr lang="en-US" sz="4800" dirty="0"/>
                  <a:t> </a:t>
                </a:r>
                <a:r>
                  <a:rPr lang="en-US" sz="4800" dirty="0" err="1"/>
                  <a:t>pháp</a:t>
                </a:r>
                <a:r>
                  <a:rPr lang="en-US" sz="4800" dirty="0"/>
                  <a:t> </a:t>
                </a:r>
                <a:r>
                  <a:rPr lang="en-US" sz="4800" dirty="0" err="1"/>
                  <a:t>tuyến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48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/>
                  <a:t>) </a:t>
                </a:r>
                <a:r>
                  <a:rPr lang="en-US" sz="4800" dirty="0" err="1"/>
                  <a:t>cùng</a:t>
                </a:r>
                <a:r>
                  <a:rPr lang="en-US" sz="4800" dirty="0"/>
                  <a:t> </a:t>
                </a:r>
                <a:r>
                  <a:rPr lang="en-US" sz="4800" dirty="0" err="1"/>
                  <a:t>phương</a:t>
                </a:r>
                <a:r>
                  <a:rPr lang="en-US" sz="4800" dirty="0"/>
                  <a:t>. </a:t>
                </a:r>
                <a:r>
                  <a:rPr lang="en-US" sz="4800" dirty="0" err="1"/>
                  <a:t>Khi</a:t>
                </a:r>
                <a:r>
                  <a:rPr lang="en-US" sz="4800" dirty="0"/>
                  <a:t> </a:t>
                </a:r>
                <a:r>
                  <a:rPr lang="en-US" sz="4800" dirty="0" err="1"/>
                  <a:t>đó</a:t>
                </a:r>
                <a:r>
                  <a:rPr lang="en-US" sz="4800" dirty="0"/>
                  <a:t>:</a:t>
                </a:r>
              </a:p>
              <a:p>
                <a:pPr marL="685800" lvl="0" indent="-6858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sz="4800" smtClean="0"/>
                  <a:t>Nếu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/>
                  <a:t> </a:t>
                </a:r>
                <a:r>
                  <a:rPr lang="en-US" sz="4800" dirty="0" err="1"/>
                  <a:t>và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/>
                  <a:t> </a:t>
                </a:r>
                <a:r>
                  <a:rPr lang="en-US" sz="4800" dirty="0" err="1"/>
                  <a:t>có</a:t>
                </a:r>
                <a:r>
                  <a:rPr lang="en-US" sz="4800" dirty="0"/>
                  <a:t> </a:t>
                </a:r>
                <a:r>
                  <a:rPr lang="en-US" sz="4800" dirty="0" err="1"/>
                  <a:t>điểm</a:t>
                </a:r>
                <a:r>
                  <a:rPr lang="en-US" sz="4800" dirty="0"/>
                  <a:t> </a:t>
                </a:r>
                <a:r>
                  <a:rPr lang="en-US" sz="4800" dirty="0" err="1"/>
                  <a:t>chung</a:t>
                </a:r>
                <a:r>
                  <a:rPr lang="en-US" sz="4800" dirty="0"/>
                  <a:t> </a:t>
                </a:r>
                <a:r>
                  <a:rPr lang="en-US" sz="4800" dirty="0" err="1"/>
                  <a:t>thì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/>
                  <a:t> </a:t>
                </a:r>
                <a:r>
                  <a:rPr lang="en-US" sz="4800" dirty="0" err="1"/>
                  <a:t>trùng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/>
                  <a:t>;</a:t>
                </a:r>
              </a:p>
              <a:p>
                <a:pPr marL="685800" lvl="0" indent="-6858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sz="4800" smtClean="0"/>
                  <a:t>Nếu </a:t>
                </a:r>
                <a:r>
                  <a:rPr lang="en-US" sz="4800" dirty="0" err="1"/>
                  <a:t>tồn</a:t>
                </a:r>
                <a:r>
                  <a:rPr lang="en-US" sz="4800" dirty="0"/>
                  <a:t> </a:t>
                </a:r>
                <a:r>
                  <a:rPr lang="en-US" sz="4800" dirty="0" err="1"/>
                  <a:t>tại</a:t>
                </a:r>
                <a:r>
                  <a:rPr lang="en-US" sz="4800" dirty="0"/>
                  <a:t> </a:t>
                </a:r>
                <a:r>
                  <a:rPr lang="en-US" sz="4800" dirty="0" err="1"/>
                  <a:t>điểm</a:t>
                </a:r>
                <a:r>
                  <a:rPr lang="en-US" sz="4800" dirty="0"/>
                  <a:t> </a:t>
                </a:r>
                <a:r>
                  <a:rPr lang="en-US" sz="4800" dirty="0" err="1"/>
                  <a:t>thuộc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/>
                  <a:t> </a:t>
                </a:r>
                <a:r>
                  <a:rPr lang="en-US" sz="4800" dirty="0" err="1"/>
                  <a:t>nhưng</a:t>
                </a:r>
                <a:r>
                  <a:rPr lang="en-US" sz="4800" dirty="0"/>
                  <a:t> </a:t>
                </a:r>
                <a:r>
                  <a:rPr lang="en-US" sz="4800" dirty="0" err="1"/>
                  <a:t>không</a:t>
                </a:r>
                <a:r>
                  <a:rPr lang="en-US" sz="4800" dirty="0"/>
                  <a:t> </a:t>
                </a:r>
                <a:r>
                  <a:rPr lang="en-US" sz="4800" dirty="0" err="1"/>
                  <a:t>thuộc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/>
                  <a:t> </a:t>
                </a:r>
                <a:r>
                  <a:rPr lang="en-US" sz="4800" dirty="0" err="1"/>
                  <a:t>thì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/>
                  <a:t> song </a:t>
                </a:r>
                <a:r>
                  <a:rPr lang="en-US" sz="4800" dirty="0" err="1"/>
                  <a:t>song</a:t>
                </a:r>
                <a:r>
                  <a:rPr lang="en-US" sz="4800" dirty="0"/>
                  <a:t> </a:t>
                </a:r>
                <a:r>
                  <a:rPr lang="en-US" sz="4800" dirty="0" err="1"/>
                  <a:t>với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/>
                  <a:t>.</a:t>
                </a:r>
              </a:p>
              <a:p>
                <a:pPr>
                  <a:lnSpc>
                    <a:spcPct val="130000"/>
                  </a:lnSpc>
                </a:pPr>
                <a:endParaRPr lang="en-US" sz="4800" dirty="0" smtClean="0"/>
              </a:p>
              <a:p>
                <a:endParaRPr lang="en-US" sz="4800" dirty="0"/>
              </a:p>
              <a:p>
                <a:endParaRPr lang="en-US" sz="4800" dirty="0" smtClean="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4800" dirty="0"/>
              </a:p>
              <a:p>
                <a:endParaRPr lang="en-US" sz="4800" dirty="0" smtClean="0"/>
              </a:p>
              <a:p>
                <a:endParaRPr lang="en-US" sz="4800" dirty="0"/>
              </a:p>
              <a:p>
                <a:endParaRPr lang="en-US" sz="4800" dirty="0" smtClean="0"/>
              </a:p>
              <a:p>
                <a:r>
                  <a:rPr lang="en-US" sz="4800" dirty="0"/>
                  <a:t>	</a:t>
                </a:r>
                <a:r>
                  <a:rPr lang="en-US" sz="4800" dirty="0" smtClean="0"/>
                  <a:t>				</a:t>
                </a:r>
                <a:endParaRPr lang="en-US" sz="4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24134"/>
                <a:ext cx="23164800" cy="10634665"/>
              </a:xfrm>
              <a:prstGeom prst="rect">
                <a:avLst/>
              </a:prstGeom>
              <a:blipFill>
                <a:blip r:embed="rId3"/>
                <a:stretch>
                  <a:fillRect l="-1157" t="-2003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11703956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419100" y="1752600"/>
            <a:ext cx="23545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. VỊ TRÍ TƯƠNG ĐỐI GIỮA HAI ĐƯỜNG 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9100" y="5583821"/>
                <a:ext cx="23545800" cy="813217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Giải:</a:t>
                </a:r>
                <a:endParaRPr lang="en-US" b="1" dirty="0" smtClean="0">
                  <a:solidFill>
                    <a:srgbClr val="3333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Hai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1;4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1;−4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cắt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Hai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1;2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2;4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en-U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song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song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1" dirty="0" smtClean="0">
                  <a:solidFill>
                    <a:srgbClr val="3333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5583821"/>
                <a:ext cx="23545800" cy="8132179"/>
              </a:xfrm>
              <a:prstGeom prst="rect">
                <a:avLst/>
              </a:prstGeom>
              <a:blipFill>
                <a:blip r:embed="rId3"/>
                <a:stretch>
                  <a:fillRect l="-1165" t="-973" b="-164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9100" y="2624135"/>
                <a:ext cx="23545800" cy="289952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sz="4800" dirty="0" smtClean="0"/>
                  <a:t>	a</a:t>
                </a:r>
                <a:r>
                  <a:rPr lang="en-US" sz="4800" dirty="0"/>
                  <a:t>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−3=0</m:t>
                    </m:r>
                  </m:oMath>
                </a14:m>
                <a:r>
                  <a:rPr lang="en-US" sz="4800" dirty="0"/>
                  <a:t> </a:t>
                </a:r>
                <a:r>
                  <a:rPr lang="en-US" sz="4800" dirty="0" err="1"/>
                  <a:t>và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−3=0</m:t>
                    </m:r>
                  </m:oMath>
                </a14:m>
                <a:r>
                  <a:rPr lang="en-US" sz="4800" dirty="0"/>
                  <a:t>;</a:t>
                </a:r>
              </a:p>
              <a:p>
                <a:r>
                  <a:rPr lang="en-US" sz="4800" dirty="0" smtClean="0"/>
                  <a:t>	b</a:t>
                </a:r>
                <a:r>
                  <a:rPr lang="en-US" sz="4800" dirty="0"/>
                  <a:t>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US" sz="4800" i="1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4800" dirty="0"/>
                  <a:t> </a:t>
                </a:r>
                <a:r>
                  <a:rPr lang="en-US" sz="4800" dirty="0" err="1"/>
                  <a:t>và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:2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−3</m:t>
                    </m:r>
                    <m:rad>
                      <m:radPr>
                        <m:degHide m:val="on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US" sz="4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4800" dirty="0"/>
                  <a:t>.</a:t>
                </a: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2624135"/>
                <a:ext cx="23545800" cy="2899528"/>
              </a:xfrm>
              <a:prstGeom prst="rect">
                <a:avLst/>
              </a:prstGeom>
              <a:blipFill>
                <a:blip r:embed="rId4"/>
                <a:stretch>
                  <a:fillRect b="-12762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838200" y="2839642"/>
            <a:ext cx="4620525" cy="600070"/>
            <a:chOff x="315" y="602"/>
            <a:chExt cx="16473" cy="2078"/>
          </a:xfrm>
        </p:grpSpPr>
        <p:sp>
          <p:nvSpPr>
            <p:cNvPr id="6" name="Arrow: Pentagon 25"/>
            <p:cNvSpPr>
              <a:spLocks noChangeArrowheads="1"/>
            </p:cNvSpPr>
            <p:nvPr/>
          </p:nvSpPr>
          <p:spPr bwMode="auto">
            <a:xfrm>
              <a:off x="2779" y="676"/>
              <a:ext cx="14009" cy="2004"/>
            </a:xfrm>
            <a:prstGeom prst="homePlate">
              <a:avLst>
                <a:gd name="adj" fmla="val 50004"/>
              </a:avLst>
            </a:prstGeom>
            <a:solidFill>
              <a:srgbClr val="FCFFEF"/>
            </a:solidFill>
            <a:ln w="12700">
              <a:solidFill>
                <a:srgbClr val="FBE4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1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Luyện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tập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 1</a:t>
              </a:r>
              <a:endParaRPr kumimoji="0" lang="en-US" altLang="en-US" sz="5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Arrow: Chevron 26"/>
            <p:cNvSpPr>
              <a:spLocks noChangeArrowheads="1"/>
            </p:cNvSpPr>
            <p:nvPr/>
          </p:nvSpPr>
          <p:spPr bwMode="auto">
            <a:xfrm>
              <a:off x="315" y="603"/>
              <a:ext cx="1627" cy="1961"/>
            </a:xfrm>
            <a:prstGeom prst="chevron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rrow: Chevron 27"/>
            <p:cNvSpPr>
              <a:spLocks noChangeArrowheads="1"/>
            </p:cNvSpPr>
            <p:nvPr/>
          </p:nvSpPr>
          <p:spPr bwMode="auto">
            <a:xfrm>
              <a:off x="1162" y="602"/>
              <a:ext cx="1768" cy="1961"/>
            </a:xfrm>
            <a:prstGeom prst="chevron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5458725" y="2707285"/>
            <a:ext cx="1393201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Xét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tương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đối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cặp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thẳng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177469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577516" y="1716427"/>
            <a:ext cx="23164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. GÓC 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GIỮA HAI ĐƯỜNG 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692416" y="6982689"/>
            <a:ext cx="23234384" cy="6276111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b="1" dirty="0" err="1" smtClean="0">
                <a:solidFill>
                  <a:srgbClr val="3333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r>
              <a:rPr lang="en-US" b="1" dirty="0" smtClean="0">
                <a:solidFill>
                  <a:srgbClr val="3333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bốn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tạo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cặp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tương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ứng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dirty="0" smtClean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thẳng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cắt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tạo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bốn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tù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gọi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(hay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đơn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giản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thẳng</a:t>
            </a:r>
            <a:r>
              <a:rPr lang="en-US" dirty="0" smtClean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dirty="0" err="1" smtClean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dirty="0" smtClean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thẳng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song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song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hoặc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trùng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endParaRPr lang="en-US" dirty="0"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b="1" dirty="0">
              <a:solidFill>
                <a:srgbClr val="3333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2648196"/>
            <a:ext cx="23164800" cy="4362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endParaRPr lang="en-US" b="1" smtClean="0"/>
          </a:p>
          <a:p>
            <a:endParaRPr lang="en-US" sz="4800" dirty="0"/>
          </a:p>
        </p:txBody>
      </p:sp>
      <p:grpSp>
        <p:nvGrpSpPr>
          <p:cNvPr id="14" name="Group 1"/>
          <p:cNvGrpSpPr>
            <a:grpSpLocks/>
          </p:cNvGrpSpPr>
          <p:nvPr/>
        </p:nvGrpSpPr>
        <p:grpSpPr bwMode="auto">
          <a:xfrm>
            <a:off x="987896" y="2778375"/>
            <a:ext cx="4050893" cy="689812"/>
            <a:chOff x="-16713" y="-458"/>
            <a:chExt cx="107765" cy="11816"/>
          </a:xfrm>
        </p:grpSpPr>
        <p:sp>
          <p:nvSpPr>
            <p:cNvPr id="15" name="TextBox 321"/>
            <p:cNvSpPr txBox="1">
              <a:spLocks noChangeArrowheads="1"/>
            </p:cNvSpPr>
            <p:nvPr/>
          </p:nvSpPr>
          <p:spPr bwMode="auto">
            <a:xfrm>
              <a:off x="5167" y="-458"/>
              <a:ext cx="85885" cy="4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800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altLang="en-US" sz="5200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HĐ2: </a:t>
              </a:r>
              <a:endParaRPr kumimoji="0" lang="en-US" altLang="en-US" sz="5200" b="0" i="0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6" name="Group 15"/>
            <p:cNvGrpSpPr>
              <a:grpSpLocks/>
            </p:cNvGrpSpPr>
            <p:nvPr/>
          </p:nvGrpSpPr>
          <p:grpSpPr bwMode="auto">
            <a:xfrm>
              <a:off x="-16713" y="923"/>
              <a:ext cx="25682" cy="10435"/>
              <a:chOff x="-15336" y="923"/>
              <a:chExt cx="23567" cy="10435"/>
            </a:xfrm>
          </p:grpSpPr>
          <p:grpSp>
            <p:nvGrpSpPr>
              <p:cNvPr id="17" name="Group 16"/>
              <p:cNvGrpSpPr>
                <a:grpSpLocks/>
              </p:cNvGrpSpPr>
              <p:nvPr/>
            </p:nvGrpSpPr>
            <p:grpSpPr bwMode="auto">
              <a:xfrm>
                <a:off x="-13022" y="923"/>
                <a:ext cx="21253" cy="10435"/>
                <a:chOff x="-14584" y="923"/>
                <a:chExt cx="23802" cy="15990"/>
              </a:xfrm>
            </p:grpSpPr>
            <p:sp>
              <p:nvSpPr>
                <p:cNvPr id="20" name="Arrow: Pentagon 6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206" cy="2913"/>
                </a:xfrm>
                <a:prstGeom prst="homePlate">
                  <a:avLst>
                    <a:gd name="adj" fmla="val 50001"/>
                  </a:avLst>
                </a:prstGeom>
                <a:solidFill>
                  <a:srgbClr val="BDD6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800" baseline="-25000"/>
                </a:p>
              </p:txBody>
            </p:sp>
            <p:sp>
              <p:nvSpPr>
                <p:cNvPr id="21" name="Arrow: Chevron 11"/>
                <p:cNvSpPr>
                  <a:spLocks noChangeArrowheads="1"/>
                </p:cNvSpPr>
                <p:nvPr/>
              </p:nvSpPr>
              <p:spPr bwMode="auto">
                <a:xfrm>
                  <a:off x="3802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FFE599"/>
                </a:solidFill>
                <a:ln w="12700">
                  <a:solidFill>
                    <a:srgbClr val="FFC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800" baseline="-25000"/>
                </a:p>
              </p:txBody>
            </p:sp>
            <p:sp>
              <p:nvSpPr>
                <p:cNvPr id="22" name="Arrow: Chevron 12"/>
                <p:cNvSpPr>
                  <a:spLocks noChangeArrowheads="1"/>
                </p:cNvSpPr>
                <p:nvPr/>
              </p:nvSpPr>
              <p:spPr bwMode="auto">
                <a:xfrm>
                  <a:off x="-14584" y="923"/>
                  <a:ext cx="23802" cy="15990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0000CC"/>
                </a:solidFill>
                <a:ln w="12700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800" baseline="-25000"/>
                </a:p>
              </p:txBody>
            </p:sp>
          </p:grpSp>
          <p:sp>
            <p:nvSpPr>
              <p:cNvPr id="18" name="Flowchart: Terminator 13"/>
              <p:cNvSpPr>
                <a:spLocks noChangeArrowheads="1"/>
              </p:cNvSpPr>
              <p:nvPr/>
            </p:nvSpPr>
            <p:spPr bwMode="auto">
              <a:xfrm>
                <a:off x="803" y="1376"/>
                <a:ext cx="2537" cy="1158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4800" baseline="-25000"/>
              </a:p>
            </p:txBody>
          </p:sp>
          <p:sp>
            <p:nvSpPr>
              <p:cNvPr id="19" name="Oval 14"/>
              <p:cNvSpPr>
                <a:spLocks noChangeArrowheads="1"/>
              </p:cNvSpPr>
              <p:nvPr/>
            </p:nvSpPr>
            <p:spPr bwMode="auto">
              <a:xfrm>
                <a:off x="-15336" y="4365"/>
                <a:ext cx="11674" cy="3550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4800" baseline="-2500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>
                <a:spLocks noChangeArrowheads="1"/>
              </p:cNvSpPr>
              <p:nvPr/>
            </p:nvSpPr>
            <p:spPr bwMode="auto">
              <a:xfrm>
                <a:off x="1269721" y="4013570"/>
                <a:ext cx="12462008" cy="2308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4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 </a:t>
                </a:r>
                <a:r>
                  <a:rPr kumimoji="0" lang="en-US" altLang="en-US" sz="4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kumimoji="0" lang="en-US" altLang="en-US" sz="4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altLang="en-US" sz="4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en-US" sz="4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kumimoji="0" lang="en-US" altLang="en-US" sz="48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en-US" sz="4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alt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cắt nhau tạo thành bốn góc (H.7.6). Các số đo của bốn góc đó có mối quan hệ  gì với nhau?</a:t>
                </a:r>
                <a:endParaRPr kumimoji="0" lang="en-US" altLang="en-US" sz="4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9721" y="4013570"/>
                <a:ext cx="12462008" cy="2308324"/>
              </a:xfrm>
              <a:prstGeom prst="rect">
                <a:avLst/>
              </a:prstGeom>
              <a:blipFill>
                <a:blip r:embed="rId3"/>
                <a:stretch>
                  <a:fillRect l="-2200" t="-5805" r="-2152" b="-1345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884129" y="2648197"/>
            <a:ext cx="8274329" cy="353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32"/>
          <p:cNvSpPr/>
          <p:nvPr/>
        </p:nvSpPr>
        <p:spPr>
          <a:xfrm>
            <a:off x="16687800" y="6363747"/>
            <a:ext cx="2056973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Hình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smtClean="0">
                <a:solidFill>
                  <a:srgbClr val="7030A0"/>
                </a:solidFill>
              </a:rPr>
              <a:t>7.6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846286" y="10299301"/>
            <a:ext cx="478208" cy="4164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846286" y="12039600"/>
            <a:ext cx="478208" cy="4164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487629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  <p:bldP spid="28" grpId="0"/>
      <p:bldP spid="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577516" y="1716427"/>
            <a:ext cx="23164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. GÓC 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GIỮA HAI ĐƯỜNG 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434" y="10185522"/>
                <a:ext cx="23234384" cy="3588084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 err="1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	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bù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b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đối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b="1" dirty="0">
                  <a:solidFill>
                    <a:srgbClr val="3333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34" y="10185522"/>
                <a:ext cx="23234384" cy="3588084"/>
              </a:xfrm>
              <a:prstGeom prst="rect">
                <a:avLst/>
              </a:prstGeom>
              <a:blipFill>
                <a:blip r:embed="rId3"/>
                <a:stretch>
                  <a:fillRect l="-1180" t="-220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2648196"/>
            <a:ext cx="23164800" cy="7537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endParaRPr lang="en-US" b="1" smtClean="0"/>
          </a:p>
          <a:p>
            <a:endParaRPr lang="en-US" sz="4800" dirty="0"/>
          </a:p>
        </p:txBody>
      </p:sp>
      <p:grpSp>
        <p:nvGrpSpPr>
          <p:cNvPr id="14" name="Group 1"/>
          <p:cNvGrpSpPr>
            <a:grpSpLocks/>
          </p:cNvGrpSpPr>
          <p:nvPr/>
        </p:nvGrpSpPr>
        <p:grpSpPr bwMode="auto">
          <a:xfrm>
            <a:off x="846286" y="2725115"/>
            <a:ext cx="4050893" cy="689812"/>
            <a:chOff x="-16713" y="-458"/>
            <a:chExt cx="107765" cy="11816"/>
          </a:xfrm>
        </p:grpSpPr>
        <p:sp>
          <p:nvSpPr>
            <p:cNvPr id="15" name="TextBox 321"/>
            <p:cNvSpPr txBox="1">
              <a:spLocks noChangeArrowheads="1"/>
            </p:cNvSpPr>
            <p:nvPr/>
          </p:nvSpPr>
          <p:spPr bwMode="auto">
            <a:xfrm>
              <a:off x="5167" y="-458"/>
              <a:ext cx="85885" cy="4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800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altLang="en-US" sz="5200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HĐ3: </a:t>
              </a:r>
              <a:endParaRPr kumimoji="0" lang="en-US" altLang="en-US" sz="5200" b="0" i="0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6" name="Group 15"/>
            <p:cNvGrpSpPr>
              <a:grpSpLocks/>
            </p:cNvGrpSpPr>
            <p:nvPr/>
          </p:nvGrpSpPr>
          <p:grpSpPr bwMode="auto">
            <a:xfrm>
              <a:off x="-16713" y="923"/>
              <a:ext cx="25682" cy="10435"/>
              <a:chOff x="-15336" y="923"/>
              <a:chExt cx="23567" cy="10435"/>
            </a:xfrm>
          </p:grpSpPr>
          <p:grpSp>
            <p:nvGrpSpPr>
              <p:cNvPr id="17" name="Group 16"/>
              <p:cNvGrpSpPr>
                <a:grpSpLocks/>
              </p:cNvGrpSpPr>
              <p:nvPr/>
            </p:nvGrpSpPr>
            <p:grpSpPr bwMode="auto">
              <a:xfrm>
                <a:off x="-13022" y="923"/>
                <a:ext cx="21253" cy="10435"/>
                <a:chOff x="-14584" y="923"/>
                <a:chExt cx="23802" cy="15990"/>
              </a:xfrm>
            </p:grpSpPr>
            <p:sp>
              <p:nvSpPr>
                <p:cNvPr id="20" name="Arrow: Pentagon 6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206" cy="2913"/>
                </a:xfrm>
                <a:prstGeom prst="homePlate">
                  <a:avLst>
                    <a:gd name="adj" fmla="val 50001"/>
                  </a:avLst>
                </a:prstGeom>
                <a:solidFill>
                  <a:srgbClr val="BDD6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800" baseline="-25000"/>
                </a:p>
              </p:txBody>
            </p:sp>
            <p:sp>
              <p:nvSpPr>
                <p:cNvPr id="21" name="Arrow: Chevron 11"/>
                <p:cNvSpPr>
                  <a:spLocks noChangeArrowheads="1"/>
                </p:cNvSpPr>
                <p:nvPr/>
              </p:nvSpPr>
              <p:spPr bwMode="auto">
                <a:xfrm>
                  <a:off x="3802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FFE599"/>
                </a:solidFill>
                <a:ln w="12700">
                  <a:solidFill>
                    <a:srgbClr val="FFC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800" baseline="-25000"/>
                </a:p>
              </p:txBody>
            </p:sp>
            <p:sp>
              <p:nvSpPr>
                <p:cNvPr id="22" name="Arrow: Chevron 12"/>
                <p:cNvSpPr>
                  <a:spLocks noChangeArrowheads="1"/>
                </p:cNvSpPr>
                <p:nvPr/>
              </p:nvSpPr>
              <p:spPr bwMode="auto">
                <a:xfrm>
                  <a:off x="-14584" y="923"/>
                  <a:ext cx="23802" cy="15990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0000CC"/>
                </a:solidFill>
                <a:ln w="12700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800" baseline="-25000"/>
                </a:p>
              </p:txBody>
            </p:sp>
          </p:grpSp>
          <p:sp>
            <p:nvSpPr>
              <p:cNvPr id="18" name="Flowchart: Terminator 13"/>
              <p:cNvSpPr>
                <a:spLocks noChangeArrowheads="1"/>
              </p:cNvSpPr>
              <p:nvPr/>
            </p:nvSpPr>
            <p:spPr bwMode="auto">
              <a:xfrm>
                <a:off x="803" y="1376"/>
                <a:ext cx="2537" cy="1158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4800" baseline="-25000"/>
              </a:p>
            </p:txBody>
          </p:sp>
          <p:sp>
            <p:nvSpPr>
              <p:cNvPr id="19" name="Oval 14"/>
              <p:cNvSpPr>
                <a:spLocks noChangeArrowheads="1"/>
              </p:cNvSpPr>
              <p:nvPr/>
            </p:nvSpPr>
            <p:spPr bwMode="auto">
              <a:xfrm>
                <a:off x="-15336" y="4365"/>
                <a:ext cx="11674" cy="3550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4800" baseline="-2500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>
                <a:spLocks noChangeArrowheads="1"/>
              </p:cNvSpPr>
              <p:nvPr/>
            </p:nvSpPr>
            <p:spPr bwMode="auto">
              <a:xfrm>
                <a:off x="982682" y="3502747"/>
                <a:ext cx="22299587" cy="28623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cắt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5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45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5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5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(H.7.7).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5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5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sz="45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en-US" sz="4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</m:oMath>
                </a14:m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sz="4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sz="45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sz="45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func>
                  </m:oMath>
                </a14:m>
                <a:endParaRPr kumimoji="0" lang="en-US" altLang="en-US" sz="45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2682" y="3502747"/>
                <a:ext cx="22299587" cy="2862322"/>
              </a:xfrm>
              <a:prstGeom prst="rect">
                <a:avLst/>
              </a:prstGeom>
              <a:blipFill>
                <a:blip r:embed="rId4"/>
                <a:stretch>
                  <a:fillRect l="-1148" t="-4478" b="-95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13598754" y="9431469"/>
            <a:ext cx="2056973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Hình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smtClean="0">
                <a:solidFill>
                  <a:srgbClr val="7030A0"/>
                </a:solidFill>
              </a:rPr>
              <a:t>7.7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24" name="Picture 23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67131" y="5883336"/>
            <a:ext cx="6631623" cy="386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967069" y="5940914"/>
            <a:ext cx="7315200" cy="3902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47317267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  <p:bldP spid="28" grpId="0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577516" y="1716427"/>
            <a:ext cx="23164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. GÓC 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GIỮA HAI ĐƯỜNG </a:t>
            </a:r>
            <a:r>
              <a:rPr lang="en-US" sz="4800" b="1" dirty="0" smtClean="0">
                <a:solidFill>
                  <a:schemeClr val="accent6">
                    <a:lumMod val="75000"/>
                  </a:schemeClr>
                </a:solidFill>
              </a:rPr>
              <a:t>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2648196"/>
            <a:ext cx="23164800" cy="10839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endParaRPr lang="en-US" b="1" smtClean="0"/>
          </a:p>
          <a:p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>
                <a:spLocks noChangeArrowheads="1"/>
              </p:cNvSpPr>
              <p:nvPr/>
            </p:nvSpPr>
            <p:spPr bwMode="auto">
              <a:xfrm>
                <a:off x="609600" y="2908311"/>
                <a:ext cx="22299587" cy="11182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4800" b="0" i="0" smtClean="0">
                        <a:latin typeface="Cambria Math"/>
                      </a:rPr>
                      <m:t> .</m:t>
                    </m:r>
                  </m:oMath>
                </a14:m>
                <a:endParaRPr lang="en-US" sz="48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</a:t>
                </a:r>
                <a:r>
                  <a:rPr lang="en-US" sz="480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ới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yến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en-US" sz="4800" dirty="0" smtClean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800" dirty="0" err="1" smtClean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800" dirty="0" smtClean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endParaRPr lang="en-US" sz="4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800" dirty="0" smtClean="0"/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den>
                    </m:f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b="1" dirty="0" err="1">
                    <a:solidFill>
                      <a:srgbClr val="008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</a:t>
                </a:r>
                <a:r>
                  <a:rPr lang="en-US" sz="4800" b="1" dirty="0">
                    <a:solidFill>
                      <a:srgbClr val="008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smtClean="0">
                    <a:solidFill>
                      <a:srgbClr val="008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ý:</a:t>
                </a:r>
                <a:endParaRPr lang="en-US" sz="4800" dirty="0">
                  <a:solidFill>
                    <a:srgbClr val="008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685800" lvl="0" indent="-6858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⊥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4800" i="1">
                        <a:latin typeface="Cambria Math" panose="02040503050406030204" pitchFamily="18" charset="0"/>
                      </a:rPr>
                      <m:t>⊥</m:t>
                    </m:r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4800" i="1"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685800" lvl="0" indent="-6858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48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cũng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4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kumimoji="0" lang="en-US" altLang="en-US" sz="4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2908311"/>
                <a:ext cx="22299587" cy="11182870"/>
              </a:xfrm>
              <a:prstGeom prst="rect">
                <a:avLst/>
              </a:prstGeom>
              <a:blipFill>
                <a:blip r:embed="rId3"/>
                <a:stretch>
                  <a:fillRect l="-12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31538439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419100" y="1752600"/>
            <a:ext cx="23545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2. GÓC GIỮA HAI ĐƯỜNG 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9100" y="5583821"/>
                <a:ext cx="23545800" cy="7594233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;−1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1;−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.1+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=30°.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dirty="0">
                  <a:solidFill>
                    <a:srgbClr val="3333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5583821"/>
                <a:ext cx="23545800" cy="7594233"/>
              </a:xfrm>
              <a:prstGeom prst="rect">
                <a:avLst/>
              </a:prstGeom>
              <a:blipFill>
                <a:blip r:embed="rId3"/>
                <a:stretch>
                  <a:fillRect l="-1165" t="-272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83004" y="2684293"/>
            <a:ext cx="23581896" cy="28995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endParaRPr lang="en-US" b="1" dirty="0" smtClean="0"/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838200" y="2895600"/>
            <a:ext cx="2749937" cy="560367"/>
            <a:chOff x="315" y="602"/>
            <a:chExt cx="12701" cy="2078"/>
          </a:xfrm>
        </p:grpSpPr>
        <p:sp>
          <p:nvSpPr>
            <p:cNvPr id="6" name="Arrow: Pentagon 25"/>
            <p:cNvSpPr>
              <a:spLocks noChangeArrowheads="1"/>
            </p:cNvSpPr>
            <p:nvPr/>
          </p:nvSpPr>
          <p:spPr bwMode="auto">
            <a:xfrm>
              <a:off x="2779" y="719"/>
              <a:ext cx="10237" cy="1961"/>
            </a:xfrm>
            <a:prstGeom prst="homePlate">
              <a:avLst>
                <a:gd name="adj" fmla="val 50004"/>
              </a:avLst>
            </a:prstGeom>
            <a:solidFill>
              <a:srgbClr val="FCFFEF"/>
            </a:solidFill>
            <a:ln w="12700">
              <a:solidFill>
                <a:srgbClr val="FBE4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800" b="1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Calibri" panose="020F0502020204030204" pitchFamily="34" charset="0"/>
                </a:rPr>
                <a:t> </a:t>
              </a:r>
              <a:r>
                <a:rPr lang="en-US" altLang="en-US" sz="48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Ví</a:t>
              </a:r>
              <a:r>
                <a:rPr lang="en-US" altLang="en-US" sz="48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</a:t>
              </a:r>
              <a:r>
                <a:rPr lang="en-US" altLang="en-US" sz="48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dụ</a:t>
              </a:r>
              <a:r>
                <a:rPr lang="en-US" altLang="en-US" sz="48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2</a:t>
              </a:r>
              <a:endParaRPr kumimoji="0" lang="en-US" altLang="en-US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Arrow: Chevron 26"/>
            <p:cNvSpPr>
              <a:spLocks noChangeArrowheads="1"/>
            </p:cNvSpPr>
            <p:nvPr/>
          </p:nvSpPr>
          <p:spPr bwMode="auto">
            <a:xfrm>
              <a:off x="315" y="603"/>
              <a:ext cx="1627" cy="1961"/>
            </a:xfrm>
            <a:prstGeom prst="chevron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rrow: Chevron 27"/>
            <p:cNvSpPr>
              <a:spLocks noChangeArrowheads="1"/>
            </p:cNvSpPr>
            <p:nvPr/>
          </p:nvSpPr>
          <p:spPr bwMode="auto">
            <a:xfrm>
              <a:off x="1162" y="602"/>
              <a:ext cx="1768" cy="1961"/>
            </a:xfrm>
            <a:prstGeom prst="chevron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2"/>
              <p:cNvSpPr>
                <a:spLocks noChangeArrowheads="1"/>
              </p:cNvSpPr>
              <p:nvPr/>
            </p:nvSpPr>
            <p:spPr bwMode="auto">
              <a:xfrm>
                <a:off x="3769359" y="2624135"/>
                <a:ext cx="19121121" cy="22462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+2=0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−2=0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9359" y="2624135"/>
                <a:ext cx="19121121" cy="2246256"/>
              </a:xfrm>
              <a:prstGeom prst="rect">
                <a:avLst/>
              </a:prstGeom>
              <a:blipFill>
                <a:blip r:embed="rId4"/>
                <a:stretch>
                  <a:fillRect l="-1434" b="-100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2837081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23164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2. GÓC GIỮA HAI ĐƯỜNG 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5246" y="5428846"/>
                <a:ext cx="23164800" cy="7982354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 err="1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b="1" dirty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1;3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3;−1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1.3+3.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=90°.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46" y="5428846"/>
                <a:ext cx="23164800" cy="7982354"/>
              </a:xfrm>
              <a:prstGeom prst="rect">
                <a:avLst/>
              </a:prstGeom>
              <a:blipFill>
                <a:blip r:embed="rId3"/>
                <a:stretch>
                  <a:fillRect l="-1157" t="-99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5246" y="2446168"/>
                <a:ext cx="23164800" cy="289952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sz="4800" dirty="0" smtClean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+2=0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sz="4800" dirty="0" smtClean="0"/>
                  <a:t>	</a:t>
                </a:r>
                <a:endParaRPr lang="en-US" sz="4800" dirty="0"/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46" y="2446168"/>
                <a:ext cx="23164800" cy="28995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838200" y="2839642"/>
            <a:ext cx="4620525" cy="600070"/>
            <a:chOff x="315" y="602"/>
            <a:chExt cx="16473" cy="2078"/>
          </a:xfrm>
        </p:grpSpPr>
        <p:sp>
          <p:nvSpPr>
            <p:cNvPr id="6" name="Arrow: Pentagon 25"/>
            <p:cNvSpPr>
              <a:spLocks noChangeArrowheads="1"/>
            </p:cNvSpPr>
            <p:nvPr/>
          </p:nvSpPr>
          <p:spPr bwMode="auto">
            <a:xfrm>
              <a:off x="2779" y="676"/>
              <a:ext cx="14009" cy="2004"/>
            </a:xfrm>
            <a:prstGeom prst="homePlate">
              <a:avLst>
                <a:gd name="adj" fmla="val 50004"/>
              </a:avLst>
            </a:prstGeom>
            <a:solidFill>
              <a:srgbClr val="FCFFEF"/>
            </a:solidFill>
            <a:ln w="12700">
              <a:solidFill>
                <a:srgbClr val="FBE4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1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Luyện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tập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2</a:t>
              </a:r>
              <a:endParaRPr kumimoji="0" lang="en-US" altLang="en-US" sz="5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Arrow: Chevron 26"/>
            <p:cNvSpPr>
              <a:spLocks noChangeArrowheads="1"/>
            </p:cNvSpPr>
            <p:nvPr/>
          </p:nvSpPr>
          <p:spPr bwMode="auto">
            <a:xfrm>
              <a:off x="315" y="603"/>
              <a:ext cx="1627" cy="1961"/>
            </a:xfrm>
            <a:prstGeom prst="chevron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rrow: Chevron 27"/>
            <p:cNvSpPr>
              <a:spLocks noChangeArrowheads="1"/>
            </p:cNvSpPr>
            <p:nvPr/>
          </p:nvSpPr>
          <p:spPr bwMode="auto">
            <a:xfrm>
              <a:off x="1162" y="602"/>
              <a:ext cx="1768" cy="1961"/>
            </a:xfrm>
            <a:prstGeom prst="chevron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5291235" y="2707285"/>
            <a:ext cx="142050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thẳng</a:t>
            </a:r>
            <a:r>
              <a:rPr lang="en-US" sz="4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0779106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23164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2. GÓC GIỮA HAI ĐƯỜNG 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4517571"/>
                <a:ext cx="23164799" cy="889362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 err="1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−3=0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−1;1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véctơ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endParaRPr lang="en-U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1;1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1.1+0.1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=45°.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517571"/>
                <a:ext cx="23164799" cy="8893629"/>
              </a:xfrm>
              <a:prstGeom prst="rect">
                <a:avLst/>
              </a:prstGeom>
              <a:blipFill>
                <a:blip r:embed="rId3"/>
                <a:stretch>
                  <a:fillRect l="-1157" t="-232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2684293"/>
            <a:ext cx="23164799" cy="181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endParaRPr lang="en-US" b="1" dirty="0" smtClean="0"/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838200" y="2895600"/>
            <a:ext cx="2749937" cy="560367"/>
            <a:chOff x="315" y="602"/>
            <a:chExt cx="12701" cy="2078"/>
          </a:xfrm>
        </p:grpSpPr>
        <p:sp>
          <p:nvSpPr>
            <p:cNvPr id="6" name="Arrow: Pentagon 25"/>
            <p:cNvSpPr>
              <a:spLocks noChangeArrowheads="1"/>
            </p:cNvSpPr>
            <p:nvPr/>
          </p:nvSpPr>
          <p:spPr bwMode="auto">
            <a:xfrm>
              <a:off x="2779" y="719"/>
              <a:ext cx="10237" cy="1961"/>
            </a:xfrm>
            <a:prstGeom prst="homePlate">
              <a:avLst>
                <a:gd name="adj" fmla="val 50004"/>
              </a:avLst>
            </a:prstGeom>
            <a:solidFill>
              <a:srgbClr val="FCFFEF"/>
            </a:solidFill>
            <a:ln w="12700">
              <a:solidFill>
                <a:srgbClr val="FBE4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800" b="1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Calibri" panose="020F0502020204030204" pitchFamily="34" charset="0"/>
                </a:rPr>
                <a:t> </a:t>
              </a:r>
              <a:r>
                <a:rPr lang="en-US" altLang="en-US" sz="48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Ví</a:t>
              </a:r>
              <a:r>
                <a:rPr lang="en-US" altLang="en-US" sz="48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</a:t>
              </a:r>
              <a:r>
                <a:rPr lang="en-US" altLang="en-US" sz="48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dụ</a:t>
              </a:r>
              <a:r>
                <a:rPr lang="en-US" altLang="en-US" sz="48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</a:t>
              </a:r>
              <a:r>
                <a:rPr lang="en-US" altLang="en-US" sz="4800" b="1" dirty="0">
                  <a:solidFill>
                    <a:srgbClr val="0000CC"/>
                  </a:solidFill>
                  <a:latin typeface="Calibri" panose="020F0502020204030204" pitchFamily="34" charset="0"/>
                </a:rPr>
                <a:t>3</a:t>
              </a:r>
              <a:endParaRPr kumimoji="0" lang="en-US" altLang="en-US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Arrow: Chevron 26"/>
            <p:cNvSpPr>
              <a:spLocks noChangeArrowheads="1"/>
            </p:cNvSpPr>
            <p:nvPr/>
          </p:nvSpPr>
          <p:spPr bwMode="auto">
            <a:xfrm>
              <a:off x="315" y="603"/>
              <a:ext cx="1627" cy="1961"/>
            </a:xfrm>
            <a:prstGeom prst="chevron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rrow: Chevron 27"/>
            <p:cNvSpPr>
              <a:spLocks noChangeArrowheads="1"/>
            </p:cNvSpPr>
            <p:nvPr/>
          </p:nvSpPr>
          <p:spPr bwMode="auto">
            <a:xfrm>
              <a:off x="1162" y="602"/>
              <a:ext cx="1768" cy="1961"/>
            </a:xfrm>
            <a:prstGeom prst="chevron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2"/>
              <p:cNvSpPr>
                <a:spLocks noChangeArrowheads="1"/>
              </p:cNvSpPr>
              <p:nvPr/>
            </p:nvSpPr>
            <p:spPr bwMode="auto">
              <a:xfrm>
                <a:off x="3568543" y="1777175"/>
                <a:ext cx="19121121" cy="23579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=3 </m:t>
                    </m:r>
                  </m:oMath>
                </a14:m>
                <a:r>
                  <a:rPr lang="en-US" sz="4800" dirty="0"/>
                  <a:t> </a:t>
                </a:r>
                <a:r>
                  <a:rPr lang="en-US" sz="4800" dirty="0" err="1"/>
                  <a:t>và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=2−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=3+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4800" dirty="0" smtClean="0"/>
                  <a:t>.</a:t>
                </a:r>
                <a:endParaRPr lang="en-US" sz="5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8543" y="1777175"/>
                <a:ext cx="19121121" cy="2357953"/>
              </a:xfrm>
              <a:prstGeom prst="rect">
                <a:avLst/>
              </a:prstGeom>
              <a:blipFill>
                <a:blip r:embed="rId4"/>
                <a:stretch>
                  <a:fillRect l="-14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90237901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23164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2. GÓC GIỮA HAI ĐƯỜNG 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5246" y="4634638"/>
                <a:ext cx="23164800" cy="877656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 err="1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TCP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1;−2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2;1</m:t>
                        </m:r>
                      </m:e>
                    </m:d>
                  </m:oMath>
                </a14:m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VTCP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1;3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tuyến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3;−1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en-U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2.3+1.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=45°.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46" y="4634638"/>
                <a:ext cx="23164800" cy="8776562"/>
              </a:xfrm>
              <a:prstGeom prst="rect">
                <a:avLst/>
              </a:prstGeom>
              <a:blipFill>
                <a:blip r:embed="rId3"/>
                <a:stretch>
                  <a:fillRect l="-1157" t="-90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5246" y="2446168"/>
            <a:ext cx="23164800" cy="21671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endParaRPr lang="en-US" dirty="0" smtClean="0"/>
          </a:p>
          <a:p>
            <a:endParaRPr lang="en-US" dirty="0"/>
          </a:p>
          <a:p>
            <a:r>
              <a:rPr lang="en-US" sz="4800" dirty="0" smtClean="0"/>
              <a:t>		</a:t>
            </a:r>
            <a:endParaRPr lang="en-US" sz="4800" dirty="0"/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838200" y="2839642"/>
            <a:ext cx="4620525" cy="600070"/>
            <a:chOff x="315" y="602"/>
            <a:chExt cx="16473" cy="2078"/>
          </a:xfrm>
        </p:grpSpPr>
        <p:sp>
          <p:nvSpPr>
            <p:cNvPr id="6" name="Arrow: Pentagon 25"/>
            <p:cNvSpPr>
              <a:spLocks noChangeArrowheads="1"/>
            </p:cNvSpPr>
            <p:nvPr/>
          </p:nvSpPr>
          <p:spPr bwMode="auto">
            <a:xfrm>
              <a:off x="2779" y="676"/>
              <a:ext cx="14009" cy="2004"/>
            </a:xfrm>
            <a:prstGeom prst="homePlate">
              <a:avLst>
                <a:gd name="adj" fmla="val 50004"/>
              </a:avLst>
            </a:prstGeom>
            <a:solidFill>
              <a:srgbClr val="FCFFEF"/>
            </a:solidFill>
            <a:ln w="12700">
              <a:solidFill>
                <a:srgbClr val="FBE4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1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Luyện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tập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3</a:t>
              </a:r>
              <a:endParaRPr kumimoji="0" lang="en-US" altLang="en-US" sz="5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Arrow: Chevron 26"/>
            <p:cNvSpPr>
              <a:spLocks noChangeArrowheads="1"/>
            </p:cNvSpPr>
            <p:nvPr/>
          </p:nvSpPr>
          <p:spPr bwMode="auto">
            <a:xfrm>
              <a:off x="315" y="603"/>
              <a:ext cx="1627" cy="1961"/>
            </a:xfrm>
            <a:prstGeom prst="chevron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rrow: Chevron 27"/>
            <p:cNvSpPr>
              <a:spLocks noChangeArrowheads="1"/>
            </p:cNvSpPr>
            <p:nvPr/>
          </p:nvSpPr>
          <p:spPr bwMode="auto">
            <a:xfrm>
              <a:off x="1162" y="602"/>
              <a:ext cx="1768" cy="1961"/>
            </a:xfrm>
            <a:prstGeom prst="chevron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2"/>
              <p:cNvSpPr>
                <a:spLocks noChangeArrowheads="1"/>
              </p:cNvSpPr>
              <p:nvPr/>
            </p:nvSpPr>
            <p:spPr bwMode="auto">
              <a:xfrm>
                <a:off x="5333425" y="2280347"/>
                <a:ext cx="19591217" cy="17400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=2+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=1−2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eqArr>
                      </m:e>
                    </m:d>
                    <m:r>
                      <a:rPr lang="en-US" sz="4800" i="1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=1+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=5+3</m:t>
                            </m:r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3425" y="2280347"/>
                <a:ext cx="19591217" cy="1740028"/>
              </a:xfrm>
              <a:prstGeom prst="rect">
                <a:avLst/>
              </a:prstGeom>
              <a:blipFill>
                <a:blip r:embed="rId4"/>
                <a:stretch>
                  <a:fillRect l="-143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7392708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23164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2. GÓC GIỮA HAI ĐƯỜNG 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2624135"/>
                <a:ext cx="23164800" cy="1078706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bất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cắt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chia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𝐴𝑧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nằm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phía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𝑥𝐴𝑧</m:t>
                        </m:r>
                      </m:e>
                    </m:acc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(H.7.8). Qua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luyện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sẽ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thấy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ý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24135"/>
                <a:ext cx="23164800" cy="10787065"/>
              </a:xfrm>
              <a:prstGeom prst="rect">
                <a:avLst/>
              </a:prstGeom>
              <a:blipFill>
                <a:blip r:embed="rId3"/>
                <a:stretch>
                  <a:fillRect l="-1157" t="-226" r="-13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34400" y="5715000"/>
            <a:ext cx="11049000" cy="678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13258800" y="12594390"/>
            <a:ext cx="2056973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Hình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smtClean="0">
                <a:solidFill>
                  <a:srgbClr val="7030A0"/>
                </a:solidFill>
              </a:rPr>
              <a:t>7.8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9907371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23545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2. GÓC GIỮA HAI ĐƯỜNG 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8229600"/>
                <a:ext cx="24155400" cy="54864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 err="1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cắt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229600"/>
                <a:ext cx="24155400" cy="5486400"/>
              </a:xfrm>
              <a:prstGeom prst="rect">
                <a:avLst/>
              </a:prstGeom>
              <a:blipFill>
                <a:blip r:embed="rId3"/>
                <a:stretch>
                  <a:fillRect l="-1110" t="-144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446168"/>
                <a:ext cx="24155400" cy="57834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   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46168"/>
                <a:ext cx="24155400" cy="5783432"/>
              </a:xfrm>
              <a:prstGeom prst="rect">
                <a:avLst/>
              </a:prstGeom>
              <a:blipFill>
                <a:blip r:embed="rId4"/>
                <a:stretch>
                  <a:fillRect t="-2419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945160" y="2689539"/>
            <a:ext cx="4662879" cy="603824"/>
            <a:chOff x="315" y="473"/>
            <a:chExt cx="16624" cy="2091"/>
          </a:xfrm>
        </p:grpSpPr>
        <p:sp>
          <p:nvSpPr>
            <p:cNvPr id="6" name="Arrow: Pentagon 25"/>
            <p:cNvSpPr>
              <a:spLocks noChangeArrowheads="1"/>
            </p:cNvSpPr>
            <p:nvPr/>
          </p:nvSpPr>
          <p:spPr bwMode="auto">
            <a:xfrm>
              <a:off x="2930" y="473"/>
              <a:ext cx="14009" cy="2004"/>
            </a:xfrm>
            <a:prstGeom prst="homePlate">
              <a:avLst>
                <a:gd name="adj" fmla="val 50004"/>
              </a:avLst>
            </a:prstGeom>
            <a:solidFill>
              <a:srgbClr val="FCFFEF"/>
            </a:solidFill>
            <a:ln w="12700">
              <a:solidFill>
                <a:srgbClr val="FBE4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1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Luyện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tập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4</a:t>
              </a:r>
              <a:endParaRPr kumimoji="0" lang="en-US" altLang="en-US" sz="5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Arrow: Chevron 26"/>
            <p:cNvSpPr>
              <a:spLocks noChangeArrowheads="1"/>
            </p:cNvSpPr>
            <p:nvPr/>
          </p:nvSpPr>
          <p:spPr bwMode="auto">
            <a:xfrm>
              <a:off x="315" y="603"/>
              <a:ext cx="1627" cy="1961"/>
            </a:xfrm>
            <a:prstGeom prst="chevron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rrow: Chevron 27"/>
            <p:cNvSpPr>
              <a:spLocks noChangeArrowheads="1"/>
            </p:cNvSpPr>
            <p:nvPr/>
          </p:nvSpPr>
          <p:spPr bwMode="auto">
            <a:xfrm>
              <a:off x="1162" y="602"/>
              <a:ext cx="1768" cy="1961"/>
            </a:xfrm>
            <a:prstGeom prst="chevron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2"/>
              <p:cNvSpPr>
                <a:spLocks noChangeArrowheads="1"/>
              </p:cNvSpPr>
              <p:nvPr/>
            </p:nvSpPr>
            <p:spPr bwMode="auto">
              <a:xfrm>
                <a:off x="596537" y="3615159"/>
                <a:ext cx="23393400" cy="38520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480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 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minh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cắt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song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𝑡𝑎𝑛</m:t>
                        </m:r>
                      </m:fName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sub>
                        </m:sSub>
                      </m:e>
                    </m:func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537" y="3615159"/>
                <a:ext cx="23393400" cy="3852017"/>
              </a:xfrm>
              <a:prstGeom prst="rect">
                <a:avLst/>
              </a:prstGeom>
              <a:blipFill>
                <a:blip r:embed="rId5"/>
                <a:stretch>
                  <a:fillRect l="-1199" t="-3323" r="-625" b="-77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60653495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235458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2. GÓC GIỮA HAI ĐƯỜNG 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8027456"/>
                <a:ext cx="24155400" cy="5688544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Giải: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song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027456"/>
                <a:ext cx="24155400" cy="5688544"/>
              </a:xfrm>
              <a:prstGeom prst="rect">
                <a:avLst/>
              </a:prstGeom>
              <a:blipFill>
                <a:blip r:embed="rId3"/>
                <a:stretch>
                  <a:fillRect l="-1110" t="-139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3766" y="2548823"/>
                <a:ext cx="24155400" cy="547863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   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66" y="2548823"/>
                <a:ext cx="24155400" cy="5478633"/>
              </a:xfrm>
              <a:prstGeom prst="rect">
                <a:avLst/>
              </a:prstGeom>
              <a:blipFill>
                <a:blip r:embed="rId4"/>
                <a:stretch>
                  <a:fillRect t="-2553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945160" y="2581249"/>
            <a:ext cx="4662879" cy="712114"/>
            <a:chOff x="315" y="98"/>
            <a:chExt cx="16624" cy="2466"/>
          </a:xfrm>
        </p:grpSpPr>
        <p:sp>
          <p:nvSpPr>
            <p:cNvPr id="6" name="Arrow: Pentagon 25"/>
            <p:cNvSpPr>
              <a:spLocks noChangeArrowheads="1"/>
            </p:cNvSpPr>
            <p:nvPr/>
          </p:nvSpPr>
          <p:spPr bwMode="auto">
            <a:xfrm>
              <a:off x="2930" y="98"/>
              <a:ext cx="14009" cy="2004"/>
            </a:xfrm>
            <a:prstGeom prst="homePlate">
              <a:avLst>
                <a:gd name="adj" fmla="val 50004"/>
              </a:avLst>
            </a:prstGeom>
            <a:solidFill>
              <a:srgbClr val="FCFFEF"/>
            </a:solidFill>
            <a:ln w="12700">
              <a:solidFill>
                <a:srgbClr val="FBE4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1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Luyện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tập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4</a:t>
              </a:r>
              <a:endParaRPr kumimoji="0" lang="en-US" altLang="en-US" sz="5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Arrow: Chevron 26"/>
            <p:cNvSpPr>
              <a:spLocks noChangeArrowheads="1"/>
            </p:cNvSpPr>
            <p:nvPr/>
          </p:nvSpPr>
          <p:spPr bwMode="auto">
            <a:xfrm>
              <a:off x="315" y="603"/>
              <a:ext cx="1627" cy="1961"/>
            </a:xfrm>
            <a:prstGeom prst="chevron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rrow: Chevron 27"/>
            <p:cNvSpPr>
              <a:spLocks noChangeArrowheads="1"/>
            </p:cNvSpPr>
            <p:nvPr/>
          </p:nvSpPr>
          <p:spPr bwMode="auto">
            <a:xfrm>
              <a:off x="1162" y="602"/>
              <a:ext cx="1768" cy="1961"/>
            </a:xfrm>
            <a:prstGeom prst="chevron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2"/>
              <p:cNvSpPr>
                <a:spLocks noChangeArrowheads="1"/>
              </p:cNvSpPr>
              <p:nvPr/>
            </p:nvSpPr>
            <p:spPr bwMode="auto">
              <a:xfrm>
                <a:off x="685800" y="3526175"/>
                <a:ext cx="23393400" cy="38520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cắt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song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𝑡𝑎𝑛</m:t>
                        </m:r>
                      </m:fName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sub>
                        </m:sSub>
                      </m:e>
                    </m:func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3526175"/>
                <a:ext cx="23393400" cy="3852017"/>
              </a:xfrm>
              <a:prstGeom prst="rect">
                <a:avLst/>
              </a:prstGeom>
              <a:blipFill>
                <a:blip r:embed="rId5"/>
                <a:stretch>
                  <a:fillRect l="-1199" t="-3323" r="-573" b="-77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20477433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0" y="1752600"/>
            <a:ext cx="24155400" cy="87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2. GÓC GIỮA HAI ĐƯỜNG THẲNG</a:t>
            </a:r>
            <a:endParaRPr lang="en-US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7788972"/>
                <a:ext cx="24155400" cy="5927028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 smtClean="0">
                    <a:solidFill>
                      <a:srgbClr val="3333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Giải: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788972"/>
                <a:ext cx="24155400" cy="5927028"/>
              </a:xfrm>
              <a:prstGeom prst="rect">
                <a:avLst/>
              </a:prstGeom>
              <a:blipFill>
                <a:blip r:embed="rId3"/>
                <a:stretch>
                  <a:fillRect l="-1110" t="-133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446168"/>
                <a:ext cx="24155400" cy="60120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   </a:t>
                </a:r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46168"/>
                <a:ext cx="24155400" cy="6012032"/>
              </a:xfrm>
              <a:prstGeom prst="rect">
                <a:avLst/>
              </a:prstGeom>
              <a:blipFill>
                <a:blip r:embed="rId4"/>
                <a:stretch>
                  <a:fillRect t="-2326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945160" y="2714373"/>
            <a:ext cx="4662879" cy="578990"/>
            <a:chOff x="315" y="559"/>
            <a:chExt cx="16624" cy="2005"/>
          </a:xfrm>
        </p:grpSpPr>
        <p:sp>
          <p:nvSpPr>
            <p:cNvPr id="6" name="Arrow: Pentagon 25"/>
            <p:cNvSpPr>
              <a:spLocks noChangeArrowheads="1"/>
            </p:cNvSpPr>
            <p:nvPr/>
          </p:nvSpPr>
          <p:spPr bwMode="auto">
            <a:xfrm>
              <a:off x="2930" y="559"/>
              <a:ext cx="14009" cy="2004"/>
            </a:xfrm>
            <a:prstGeom prst="homePlate">
              <a:avLst>
                <a:gd name="adj" fmla="val 50004"/>
              </a:avLst>
            </a:prstGeom>
            <a:solidFill>
              <a:srgbClr val="FCFFEF"/>
            </a:solidFill>
            <a:ln w="12700">
              <a:solidFill>
                <a:srgbClr val="FBE4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1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Luyện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</a:t>
              </a:r>
              <a:r>
                <a:rPr lang="en-US" altLang="en-US" sz="5000" b="1" dirty="0" err="1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tập</a:t>
              </a:r>
              <a:r>
                <a:rPr lang="en-US" altLang="en-US" sz="5000" b="1" dirty="0" smtClean="0">
                  <a:solidFill>
                    <a:srgbClr val="0000CC"/>
                  </a:solidFill>
                  <a:latin typeface="Calibri" panose="020F0502020204030204" pitchFamily="34" charset="0"/>
                </a:rPr>
                <a:t> 4</a:t>
              </a:r>
              <a:endParaRPr kumimoji="0" lang="en-US" altLang="en-US" sz="5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Arrow: Chevron 26"/>
            <p:cNvSpPr>
              <a:spLocks noChangeArrowheads="1"/>
            </p:cNvSpPr>
            <p:nvPr/>
          </p:nvSpPr>
          <p:spPr bwMode="auto">
            <a:xfrm>
              <a:off x="315" y="603"/>
              <a:ext cx="1627" cy="1961"/>
            </a:xfrm>
            <a:prstGeom prst="chevron">
              <a:avLst>
                <a:gd name="adj" fmla="val 50000"/>
              </a:avLst>
            </a:pr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rrow: Chevron 27"/>
            <p:cNvSpPr>
              <a:spLocks noChangeArrowheads="1"/>
            </p:cNvSpPr>
            <p:nvPr/>
          </p:nvSpPr>
          <p:spPr bwMode="auto">
            <a:xfrm>
              <a:off x="1162" y="602"/>
              <a:ext cx="1768" cy="1961"/>
            </a:xfrm>
            <a:prstGeom prst="chevron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2"/>
              <p:cNvSpPr>
                <a:spLocks noChangeArrowheads="1"/>
              </p:cNvSpPr>
              <p:nvPr/>
            </p:nvSpPr>
            <p:spPr bwMode="auto">
              <a:xfrm>
                <a:off x="757365" y="3615159"/>
                <a:ext cx="23545799" cy="38520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48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cắt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qua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song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𝑡𝑎𝑛</m:t>
                        </m:r>
                      </m:fName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sub>
                        </m:sSub>
                      </m:e>
                    </m:func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7365" y="3615159"/>
                <a:ext cx="23545799" cy="3852017"/>
              </a:xfrm>
              <a:prstGeom prst="rect">
                <a:avLst/>
              </a:prstGeom>
              <a:blipFill>
                <a:blip r:embed="rId5"/>
                <a:stretch>
                  <a:fillRect l="-1165" t="-3323" b="-77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518492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  <p:bldP spid="5" grpId="0" animBg="1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533400" y="1874984"/>
            <a:ext cx="20269200" cy="939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rgbClr val="0066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3. KHOẢNG CÁCH TỪ MỘT ĐIỂM ĐẾN MỘT ĐƯỜNG THẲNG</a:t>
            </a:r>
            <a:endParaRPr lang="en-US" b="1" dirty="0">
              <a:solidFill>
                <a:srgbClr val="0066CC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02587" y="2997309"/>
            <a:ext cx="5410898" cy="840139"/>
            <a:chOff x="0" y="92326"/>
            <a:chExt cx="2210515" cy="213298"/>
          </a:xfrm>
        </p:grpSpPr>
        <p:sp>
          <p:nvSpPr>
            <p:cNvPr id="4" name="TextBox 321"/>
            <p:cNvSpPr txBox="1"/>
            <p:nvPr/>
          </p:nvSpPr>
          <p:spPr>
            <a:xfrm>
              <a:off x="627012" y="129899"/>
              <a:ext cx="1583503" cy="1757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400" b="1" kern="1200" dirty="0" err="1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Hoạt</a:t>
              </a: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kern="1200" dirty="0" err="1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động</a:t>
              </a: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4:</a:t>
              </a:r>
              <a:endParaRPr lang="vi-VN" sz="4400" dirty="0"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9" name="Arrow: Pentagon 6"/>
                <p:cNvSpPr/>
                <p:nvPr/>
              </p:nvSpPr>
              <p:spPr>
                <a:xfrm>
                  <a:off x="0" y="103807"/>
                  <a:ext cx="464972" cy="291356"/>
                </a:xfrm>
                <a:prstGeom prst="homePlat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vi-VN" sz="4400"/>
                </a:p>
              </p:txBody>
            </p:sp>
            <p:sp>
              <p:nvSpPr>
                <p:cNvPr id="10" name="Arrow: Chevron 11"/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vi-VN" sz="4400"/>
                </a:p>
              </p:txBody>
            </p:sp>
            <p:sp>
              <p:nvSpPr>
                <p:cNvPr id="11" name="Arrow: Chevron 12"/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571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vi-VN" sz="4400"/>
                </a:p>
              </p:txBody>
            </p:sp>
          </p:grpSp>
          <p:sp>
            <p:nvSpPr>
              <p:cNvPr id="7" name="Flowchart: Terminator 6"/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211660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56901" y="4077920"/>
                <a:ext cx="23414887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Cho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  <m:r>
                      <a:rPr lang="en-US" b="1" i="1">
                        <a:latin typeface="Cambria Math"/>
                      </a:rPr>
                      <m:t>:</m:t>
                    </m:r>
                    <m:r>
                      <a:rPr lang="en-US" b="1" i="1">
                        <a:latin typeface="Cambria Math"/>
                      </a:rPr>
                      <m:t>𝒂𝒙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𝒃𝒚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𝒄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𝒏</m:t>
                        </m:r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𝒂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01" y="4077920"/>
                <a:ext cx="23414887" cy="754053"/>
              </a:xfrm>
              <a:prstGeom prst="rect">
                <a:avLst/>
              </a:prstGeom>
              <a:blipFill>
                <a:blip r:embed="rId2"/>
                <a:stretch>
                  <a:fillRect l="-1041" t="-16935" b="-36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90460" y="4966689"/>
                <a:ext cx="1739001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Gọi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𝑯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chiếu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vuông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𝑯</m:t>
                        </m:r>
                        <m:r>
                          <a:rPr lang="en-US" b="1" i="1"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latin typeface="Cambria Math"/>
                          </a:rPr>
                          <m:t>𝟕</m:t>
                        </m:r>
                        <m:r>
                          <a:rPr lang="en-US" b="1" i="1">
                            <a:latin typeface="Cambria Math"/>
                          </a:rPr>
                          <m:t>.</m:t>
                        </m:r>
                        <m:r>
                          <a:rPr lang="en-US" b="1" i="1">
                            <a:latin typeface="Cambria Math"/>
                          </a:rPr>
                          <m:t>𝟗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60" y="4966689"/>
                <a:ext cx="17390011" cy="769441"/>
              </a:xfrm>
              <a:prstGeom prst="rect">
                <a:avLst/>
              </a:prstGeom>
              <a:blipFill>
                <a:blip r:embed="rId3"/>
                <a:stretch>
                  <a:fillRect l="-1403" t="-16667" b="-34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90460" y="5734240"/>
                <a:ext cx="14700190" cy="97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 </a:t>
                </a:r>
                <a:r>
                  <a:rPr lang="en-US" b="1" dirty="0" err="1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Chứng</a:t>
                </a:r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minh </a:t>
                </a:r>
                <a:r>
                  <a:rPr lang="en-US" b="1" dirty="0" err="1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rằng</a:t>
                </a:r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vi-VN" b="1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F00FF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acc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vi-VN" b="1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F00FF"/>
                                </a:solidFill>
                                <a:latin typeface="Cambria Math"/>
                              </a:rPr>
                              <m:t>𝑯𝑴</m:t>
                            </m:r>
                          </m:e>
                        </m:acc>
                      </m:e>
                    </m:d>
                    <m:r>
                      <a:rPr lang="en-US" b="1" i="1">
                        <a:solidFill>
                          <a:srgbClr val="FF00FF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vi-VN" b="1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FF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FF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vi-VN" b="1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FF"/>
                                </a:solidFill>
                                <a:latin typeface="Cambria Math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FF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b="1" i="1">
                        <a:solidFill>
                          <a:srgbClr val="FF00FF"/>
                        </a:solidFill>
                        <a:latin typeface="Cambria Math"/>
                      </a:rPr>
                      <m:t>.</m:t>
                    </m:r>
                    <m:r>
                      <a:rPr lang="en-US" b="1" i="1">
                        <a:solidFill>
                          <a:srgbClr val="FF00FF"/>
                        </a:solidFill>
                        <a:latin typeface="Cambria Math"/>
                      </a:rPr>
                      <m:t>𝑯𝑴</m:t>
                    </m:r>
                  </m:oMath>
                </a14:m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solidFill>
                    <a:srgbClr val="FF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60" y="5734240"/>
                <a:ext cx="14700190" cy="973472"/>
              </a:xfrm>
              <a:prstGeom prst="rect">
                <a:avLst/>
              </a:prstGeom>
              <a:blipFill rotWithShape="1">
                <a:blip r:embed="rId4"/>
                <a:stretch>
                  <a:fillRect l="-1659" b="-2327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790460" y="6762293"/>
            <a:ext cx="315115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33400" y="7674700"/>
                <a:ext cx="5580085" cy="887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 Ta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</m:acc>
                        <m:r>
                          <a:rPr lang="en-US" b="1" i="1">
                            <a:latin typeface="Cambria Math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/>
                              </a:rPr>
                              <m:t>𝑯𝑴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/>
                      </a:rPr>
                      <m:t>=</m:t>
                    </m:r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7674700"/>
                <a:ext cx="5580085" cy="887487"/>
              </a:xfrm>
              <a:prstGeom prst="rect">
                <a:avLst/>
              </a:prstGeom>
              <a:blipFill rotWithShape="1">
                <a:blip r:embed="rId5"/>
                <a:stretch>
                  <a:fillRect l="-4372" t="-5479" b="-246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15697200" y="5257800"/>
            <a:ext cx="7467600" cy="7484026"/>
            <a:chOff x="15697200" y="5257800"/>
            <a:chExt cx="7467600" cy="7484026"/>
          </a:xfrm>
        </p:grpSpPr>
        <p:sp>
          <p:nvSpPr>
            <p:cNvPr id="15" name="Text Box 77"/>
            <p:cNvSpPr txBox="1"/>
            <p:nvPr/>
          </p:nvSpPr>
          <p:spPr>
            <a:xfrm>
              <a:off x="18440400" y="12056026"/>
              <a:ext cx="2648189" cy="6858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bg1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000" b="1" dirty="0" err="1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Hình</a:t>
              </a:r>
              <a:r>
                <a:rPr lang="en-US" sz="4000" b="1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7.9</a:t>
              </a:r>
              <a:endParaRPr lang="vi-VN" sz="4000" dirty="0">
                <a:solidFill>
                  <a:srgbClr val="FF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5697200" y="5257800"/>
              <a:ext cx="7467600" cy="6290858"/>
              <a:chOff x="15697200" y="5257800"/>
              <a:chExt cx="7467600" cy="6290858"/>
            </a:xfrm>
          </p:grpSpPr>
          <p:pic>
            <p:nvPicPr>
              <p:cNvPr id="14" name="Picture 13"/>
              <p:cNvPicPr/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97200" y="5257800"/>
                <a:ext cx="7467600" cy="6290858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16916400" y="8317508"/>
                    <a:ext cx="1225979" cy="75405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vi-VN" b="1" i="1" dirty="0" smtClean="0">
                              <a:latin typeface="Cambria Math"/>
                            </a:rPr>
                            <m:t>𝑯</m:t>
                          </m:r>
                        </m:oMath>
                      </m:oMathPara>
                    </a14:m>
                    <a:endParaRPr lang="vi-VN" b="1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16400" y="8317508"/>
                    <a:ext cx="1225979" cy="754053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vi-V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728855" y="7589746"/>
                <a:ext cx="5986062" cy="1077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𝒏</m:t>
                                </m:r>
                              </m:e>
                            </m:acc>
                          </m:e>
                        </m:d>
                        <m:r>
                          <a:rPr lang="en-US" b="1" i="1">
                            <a:latin typeface="Cambria Math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𝑯𝑴</m:t>
                                </m:r>
                              </m:e>
                            </m:acc>
                          </m:e>
                        </m:d>
                        <m:r>
                          <a:rPr lang="en-US" b="1" i="1">
                            <a:latin typeface="Cambria Math"/>
                          </a:rPr>
                          <m:t>.</m:t>
                        </m:r>
                        <m:r>
                          <a:rPr lang="en-US" b="1" i="1">
                            <a:latin typeface="Cambria Math"/>
                          </a:rPr>
                          <m:t>𝒄𝒐𝒔</m:t>
                        </m:r>
                        <m:d>
                          <m:d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𝒏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𝑯𝑴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855" y="7589746"/>
                <a:ext cx="5986062" cy="1077796"/>
              </a:xfrm>
              <a:prstGeom prst="rect">
                <a:avLst/>
              </a:prstGeom>
              <a:blipFill rotWithShape="1">
                <a:blip r:embed="rId8"/>
                <a:stretch>
                  <a:fillRect r="-2953" b="-904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930654" y="8505145"/>
                <a:ext cx="12861546" cy="959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𝑯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chiếu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vuông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trên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nên </a:t>
                </a:r>
                <a:endParaRPr lang="vi-VN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54" y="8505145"/>
                <a:ext cx="12861546" cy="959943"/>
              </a:xfrm>
              <a:prstGeom prst="rect">
                <a:avLst/>
              </a:prstGeom>
              <a:blipFill>
                <a:blip r:embed="rId9"/>
                <a:stretch>
                  <a:fillRect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958364" y="9377113"/>
                <a:ext cx="9737345" cy="1049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𝑴𝑯</m:t>
                    </m:r>
                    <m:r>
                      <a:rPr lang="en-US" b="1" i="1">
                        <a:latin typeface="Cambria Math"/>
                      </a:rPr>
                      <m:t>⊥</m:t>
                    </m:r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hay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𝒏</m:t>
                        </m:r>
                      </m:e>
                    </m:acc>
                    <m:r>
                      <a:rPr lang="en-US" b="1" i="1">
                        <a:latin typeface="Cambria Math"/>
                      </a:rPr>
                      <m:t>, </m:t>
                    </m:r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𝑯𝑴</m:t>
                        </m:r>
                      </m:e>
                    </m:acc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cùng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64" y="9377113"/>
                <a:ext cx="9737345" cy="1049775"/>
              </a:xfrm>
              <a:prstGeom prst="rect">
                <a:avLst/>
              </a:prstGeom>
              <a:blipFill>
                <a:blip r:embed="rId10"/>
                <a:stretch>
                  <a:fillRect b="-26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583186" y="10369139"/>
                <a:ext cx="6391750" cy="12850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Do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𝒄𝒐𝒔</m:t>
                        </m:r>
                        <m:d>
                          <m:d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𝒏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𝑯𝑴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𝟏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186" y="10369139"/>
                <a:ext cx="6391750" cy="1285095"/>
              </a:xfrm>
              <a:prstGeom prst="rect">
                <a:avLst/>
              </a:prstGeom>
              <a:blipFill rotWithShape="1">
                <a:blip r:embed="rId11"/>
                <a:stretch>
                  <a:fillRect l="-3817" r="-2767" b="-710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30654" y="11542625"/>
                <a:ext cx="7052059" cy="157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Vậy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</m:acc>
                        <m:r>
                          <a:rPr lang="en-US" b="1" i="1">
                            <a:latin typeface="Cambria Math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/>
                              </a:rPr>
                              <m:t>𝑯𝑴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𝒏</m:t>
                                </m:r>
                              </m:e>
                            </m:acc>
                          </m:e>
                        </m:d>
                        <m:r>
                          <a:rPr lang="en-US" b="1" i="1">
                            <a:latin typeface="Cambria Math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𝑯𝑴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b="1" i="1">
                        <a:latin typeface="Cambria Math"/>
                      </a:rPr>
                      <m:t>=</m:t>
                    </m:r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54" y="11542625"/>
                <a:ext cx="7052059" cy="1570558"/>
              </a:xfrm>
              <a:prstGeom prst="rect">
                <a:avLst/>
              </a:prstGeom>
              <a:blipFill rotWithShape="1">
                <a:blip r:embed="rId12"/>
                <a:stretch>
                  <a:fillRect l="-345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7996568" y="11660637"/>
                <a:ext cx="3772571" cy="13345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b="1" i="1">
                        <a:latin typeface="Cambria Math"/>
                      </a:rPr>
                      <m:t>.</m:t>
                    </m:r>
                    <m:r>
                      <a:rPr lang="en-US" b="1" i="1">
                        <a:latin typeface="Cambria Math"/>
                      </a:rPr>
                      <m:t>𝑯𝑴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568" y="11660637"/>
                <a:ext cx="3772571" cy="1334533"/>
              </a:xfrm>
              <a:prstGeom prst="rect">
                <a:avLst/>
              </a:prstGeom>
              <a:blipFill rotWithShape="1">
                <a:blip r:embed="rId13"/>
                <a:stretch>
                  <a:fillRect r="-5331" b="-593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2192000" y="12021900"/>
            <a:ext cx="25908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đpcm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endParaRPr lang="vi-VN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71498717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  <p:bldP spid="16" grpId="0"/>
      <p:bldP spid="20" grpId="0"/>
      <p:bldP spid="21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533400" y="1874984"/>
            <a:ext cx="20269200" cy="939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rgbClr val="0066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3. KHOẢNG CÁCH TỪ MỘT ĐIỂM ĐẾN MỘT ĐƯỜNG THẲNG</a:t>
            </a:r>
            <a:endParaRPr lang="en-US" b="1" dirty="0">
              <a:solidFill>
                <a:srgbClr val="0066CC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02587" y="2997309"/>
            <a:ext cx="5410898" cy="840139"/>
            <a:chOff x="0" y="92326"/>
            <a:chExt cx="2210515" cy="213298"/>
          </a:xfrm>
        </p:grpSpPr>
        <p:sp>
          <p:nvSpPr>
            <p:cNvPr id="4" name="TextBox 321"/>
            <p:cNvSpPr txBox="1"/>
            <p:nvPr/>
          </p:nvSpPr>
          <p:spPr>
            <a:xfrm>
              <a:off x="627012" y="129899"/>
              <a:ext cx="1583503" cy="1757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400" b="1" kern="1200" dirty="0" err="1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Hoạt</a:t>
              </a: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kern="1200" dirty="0" err="1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động</a:t>
              </a: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4:</a:t>
              </a:r>
              <a:endParaRPr lang="vi-VN" sz="4400" dirty="0"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9" name="Arrow: Pentagon 6"/>
                <p:cNvSpPr/>
                <p:nvPr/>
              </p:nvSpPr>
              <p:spPr>
                <a:xfrm>
                  <a:off x="0" y="103807"/>
                  <a:ext cx="464972" cy="291356"/>
                </a:xfrm>
                <a:prstGeom prst="homePlat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vi-VN" sz="4400"/>
                </a:p>
              </p:txBody>
            </p:sp>
            <p:sp>
              <p:nvSpPr>
                <p:cNvPr id="10" name="Arrow: Chevron 11"/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vi-VN" sz="4400"/>
                </a:p>
              </p:txBody>
            </p:sp>
            <p:sp>
              <p:nvSpPr>
                <p:cNvPr id="11" name="Arrow: Chevron 12"/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571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vi-VN" sz="4400"/>
                </a:p>
              </p:txBody>
            </p:sp>
          </p:grpSp>
          <p:sp>
            <p:nvSpPr>
              <p:cNvPr id="7" name="Flowchart: Terminator 6"/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211660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56901" y="4077920"/>
                <a:ext cx="23414887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Cho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  <m:r>
                      <a:rPr lang="en-US" b="1" i="1">
                        <a:latin typeface="Cambria Math"/>
                      </a:rPr>
                      <m:t>:</m:t>
                    </m:r>
                    <m:r>
                      <a:rPr lang="en-US" b="1" i="1">
                        <a:latin typeface="Cambria Math"/>
                      </a:rPr>
                      <m:t>𝒂𝒙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𝒃𝒚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𝒄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𝒏</m:t>
                        </m:r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𝒂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01" y="4077920"/>
                <a:ext cx="23414887" cy="754053"/>
              </a:xfrm>
              <a:prstGeom prst="rect">
                <a:avLst/>
              </a:prstGeom>
              <a:blipFill>
                <a:blip r:embed="rId2"/>
                <a:stretch>
                  <a:fillRect l="-1041" t="-16935" b="-36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90460" y="4966689"/>
                <a:ext cx="1739001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Gọi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𝑯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chiếu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vuông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𝑯</m:t>
                        </m:r>
                        <m:r>
                          <a:rPr lang="en-US" b="1" i="1"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latin typeface="Cambria Math"/>
                          </a:rPr>
                          <m:t>𝟕</m:t>
                        </m:r>
                        <m:r>
                          <a:rPr lang="en-US" b="1" i="1">
                            <a:latin typeface="Cambria Math"/>
                          </a:rPr>
                          <m:t>.</m:t>
                        </m:r>
                        <m:r>
                          <a:rPr lang="en-US" b="1" i="1">
                            <a:latin typeface="Cambria Math"/>
                          </a:rPr>
                          <m:t>𝟗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60" y="4966689"/>
                <a:ext cx="17390011" cy="769441"/>
              </a:xfrm>
              <a:prstGeom prst="rect">
                <a:avLst/>
              </a:prstGeom>
              <a:blipFill>
                <a:blip r:embed="rId3"/>
                <a:stretch>
                  <a:fillRect l="-1403" t="-16667" b="-34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90460" y="5734240"/>
                <a:ext cx="14700190" cy="97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Chứng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minh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rằng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acc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𝑯𝑴</m:t>
                            </m:r>
                          </m:e>
                        </m:acc>
                      </m:e>
                    </m: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𝑯𝑴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60" y="5734240"/>
                <a:ext cx="14700190" cy="973472"/>
              </a:xfrm>
              <a:prstGeom prst="rect">
                <a:avLst/>
              </a:prstGeom>
              <a:blipFill rotWithShape="1">
                <a:blip r:embed="rId4"/>
                <a:stretch>
                  <a:fillRect l="-1659" b="-2327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856901" y="9149508"/>
            <a:ext cx="315115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5697200" y="5257800"/>
            <a:ext cx="7467600" cy="7483642"/>
            <a:chOff x="15697200" y="5257800"/>
            <a:chExt cx="7467600" cy="7483642"/>
          </a:xfrm>
        </p:grpSpPr>
        <p:sp>
          <p:nvSpPr>
            <p:cNvPr id="15" name="Text Box 77"/>
            <p:cNvSpPr txBox="1"/>
            <p:nvPr/>
          </p:nvSpPr>
          <p:spPr>
            <a:xfrm>
              <a:off x="18154411" y="12055642"/>
              <a:ext cx="2648189" cy="6858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bg1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000" b="1" dirty="0" err="1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Hình</a:t>
              </a:r>
              <a:r>
                <a:rPr lang="en-US" sz="4000" b="1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7.9</a:t>
              </a:r>
              <a:endParaRPr lang="vi-VN" sz="4000" dirty="0">
                <a:solidFill>
                  <a:srgbClr val="FF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5697200" y="5257800"/>
              <a:ext cx="7467600" cy="6290858"/>
              <a:chOff x="15697200" y="5257800"/>
              <a:chExt cx="7467600" cy="6290858"/>
            </a:xfrm>
          </p:grpSpPr>
          <p:pic>
            <p:nvPicPr>
              <p:cNvPr id="14" name="Picture 13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97200" y="5257800"/>
                <a:ext cx="7467600" cy="6290858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16916400" y="8317508"/>
                    <a:ext cx="1225979" cy="75405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vi-VN" b="1" i="1" dirty="0" smtClean="0">
                              <a:latin typeface="Cambria Math"/>
                            </a:rPr>
                            <m:t>𝑯</m:t>
                          </m:r>
                        </m:oMath>
                      </m:oMathPara>
                    </a14:m>
                    <a:endParaRPr lang="vi-VN" b="1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16400" y="8317508"/>
                    <a:ext cx="1225979" cy="754053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vi-V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87004" y="6988568"/>
                <a:ext cx="13637400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</a:t>
                </a:r>
                <a:r>
                  <a:rPr lang="en-US" b="1" dirty="0" err="1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Giả</a:t>
                </a:r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sử</a:t>
                </a:r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FF"/>
                        </a:solidFill>
                        <a:latin typeface="Cambria Math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vi-VN" b="1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FF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vi-VN" b="1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FF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r>
                  <a:rPr lang="en-US" b="1" dirty="0" err="1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Chứng</a:t>
                </a:r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minh </a:t>
                </a:r>
                <a:r>
                  <a:rPr lang="en-US" b="1" dirty="0" err="1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rằng</a:t>
                </a:r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vi-VN" b="1" dirty="0">
                  <a:solidFill>
                    <a:srgbClr val="FF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004" y="6988568"/>
                <a:ext cx="13637400" cy="754053"/>
              </a:xfrm>
              <a:prstGeom prst="rect">
                <a:avLst/>
              </a:prstGeom>
              <a:blipFill rotWithShape="1">
                <a:blip r:embed="rId7"/>
                <a:stretch>
                  <a:fillRect l="-1743" t="-16935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52950" y="8059779"/>
                <a:ext cx="14105508" cy="8344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vi-VN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</m:acc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vi-VN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/>
                            </a:rPr>
                            <m:t>𝑯𝑴</m:t>
                          </m:r>
                        </m:e>
                      </m:acc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/>
                        </a:rPr>
                        <m:t>𝒂</m:t>
                      </m:r>
                      <m:d>
                        <m:dPr>
                          <m:ctrlPr>
                            <a:rPr lang="vi-VN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vi-VN" b="1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vi-VN" b="1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/>
                        </a:rPr>
                        <m:t>𝒃</m:t>
                      </m:r>
                      <m:d>
                        <m:dPr>
                          <m:ctrlPr>
                            <a:rPr lang="vi-VN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vi-VN" b="1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vi-VN" b="1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/>
                        </a:rPr>
                        <m:t>𝒂</m:t>
                      </m:r>
                      <m:sSub>
                        <m:sSubPr>
                          <m:ctrlPr>
                            <a:rPr lang="vi-VN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/>
                        </a:rPr>
                        <m:t>𝒃</m:t>
                      </m:r>
                      <m:sSub>
                        <m:sSubPr>
                          <m:ctrlPr>
                            <a:rPr lang="vi-VN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/>
                        </a:rPr>
                        <m:t>𝒄</m:t>
                      </m:r>
                    </m:oMath>
                  </m:oMathPara>
                </a14:m>
                <a:endParaRPr lang="vi-VN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50" y="8059779"/>
                <a:ext cx="14105508" cy="83445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02588" y="10130714"/>
                <a:ext cx="4982706" cy="834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 Ta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𝑯𝑴</m:t>
                        </m:r>
                        <m:r>
                          <a:rPr lang="en-US" b="1" i="1" smtClean="0">
                            <a:latin typeface="Cambria Math"/>
                          </a:rPr>
                          <m:t> </m:t>
                        </m:r>
                      </m:e>
                    </m:acc>
                    <m:r>
                      <a:rPr lang="vi-VN" b="1" i="1" smtClean="0">
                        <a:latin typeface="Cambria Math"/>
                      </a:rPr>
                      <m:t>=</m:t>
                    </m:r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88" y="10130714"/>
                <a:ext cx="4982706" cy="834459"/>
              </a:xfrm>
              <a:prstGeom prst="rect">
                <a:avLst/>
              </a:prstGeom>
              <a:blipFill rotWithShape="1">
                <a:blip r:embed="rId9"/>
                <a:stretch>
                  <a:fillRect l="-4768" t="-5839" b="-328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909873" y="11405268"/>
                <a:ext cx="5196685" cy="8344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Vậy </a:t>
                </a:r>
                <a:r>
                  <a:rPr lang="vi-VN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𝒏</m:t>
                        </m:r>
                      </m:e>
                    </m:acc>
                    <m:r>
                      <a:rPr lang="en-US" b="1" i="1">
                        <a:latin typeface="Cambria Math"/>
                      </a:rPr>
                      <m:t>.</m:t>
                    </m:r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𝑯𝑴</m:t>
                        </m:r>
                      </m:e>
                    </m:acc>
                    <m:r>
                      <a:rPr lang="en-US" b="1" i="1">
                        <a:latin typeface="Cambria Math"/>
                      </a:rPr>
                      <m:t>=</m:t>
                    </m:r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73" y="11405268"/>
                <a:ext cx="5196685" cy="834459"/>
              </a:xfrm>
              <a:prstGeom prst="rect">
                <a:avLst/>
              </a:prstGeom>
              <a:blipFill rotWithShape="1">
                <a:blip r:embed="rId10"/>
                <a:stretch>
                  <a:fillRect l="-4572" t="-5839" b="-328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549824" y="11445470"/>
                <a:ext cx="6270947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𝒂</m:t>
                      </m:r>
                      <m:d>
                        <m:d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b="1" i="1">
                          <a:latin typeface="Cambria Math"/>
                        </a:rPr>
                        <m:t>+</m:t>
                      </m:r>
                      <m:r>
                        <a:rPr lang="en-US" b="1" i="1">
                          <a:latin typeface="Cambria Math"/>
                        </a:rPr>
                        <m:t>𝒃</m:t>
                      </m:r>
                      <m:d>
                        <m:d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824" y="11445470"/>
                <a:ext cx="6270947" cy="754053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0739269" y="11506328"/>
                <a:ext cx="4349076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𝒂</m:t>
                      </m:r>
                      <m:sSub>
                        <m:sSub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latin typeface="Cambria Math"/>
                        </a:rPr>
                        <m:t>+</m:t>
                      </m:r>
                      <m:r>
                        <a:rPr lang="en-US" b="1" i="1">
                          <a:latin typeface="Cambria Math"/>
                        </a:rPr>
                        <m:t>𝒃</m:t>
                      </m:r>
                      <m:sSub>
                        <m:sSub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latin typeface="Cambria Math"/>
                        </a:rPr>
                        <m:t>+</m:t>
                      </m:r>
                      <m:r>
                        <a:rPr lang="en-US" b="1" i="1">
                          <a:latin typeface="Cambria Math"/>
                        </a:rPr>
                        <m:t>𝒄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9269" y="11506328"/>
                <a:ext cx="4349076" cy="754053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12564344" y="12398542"/>
            <a:ext cx="25908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đpcm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endParaRPr lang="vi-VN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10091390" y="10211120"/>
                <a:ext cx="2888676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𝒏</m:t>
                        </m:r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𝒂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1390" y="10211120"/>
                <a:ext cx="2888676" cy="754053"/>
              </a:xfrm>
              <a:prstGeom prst="rect">
                <a:avLst/>
              </a:prstGeom>
              <a:blipFill rotWithShape="1">
                <a:blip r:embed="rId13"/>
                <a:stretch>
                  <a:fillRect l="-8228" t="-16935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336962" y="10170916"/>
                <a:ext cx="4696670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>
                              <a:latin typeface="Cambria Math"/>
                            </a:rPr>
                            <m:t>;</m:t>
                          </m:r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962" y="10170916"/>
                <a:ext cx="4696670" cy="754053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ounded Rectangle 5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8979890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2" grpId="0"/>
      <p:bldP spid="33" grpId="0"/>
      <p:bldP spid="17" grpId="0"/>
      <p:bldP spid="18" grpId="0"/>
      <p:bldP spid="19" grpId="0"/>
      <p:bldP spid="35" grpId="0"/>
      <p:bldP spid="36" grpId="0"/>
      <p:bldP spid="3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533400" y="1874984"/>
            <a:ext cx="20269200" cy="939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rgbClr val="0066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3. KHOẢNG CÁCH TỪ MỘT ĐIỂM ĐẾN MỘT ĐƯỜNG THẲNG</a:t>
            </a:r>
            <a:endParaRPr lang="en-US" b="1" dirty="0">
              <a:solidFill>
                <a:srgbClr val="0066CC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02587" y="2997309"/>
            <a:ext cx="5424752" cy="778556"/>
            <a:chOff x="0" y="92326"/>
            <a:chExt cx="2216175" cy="197663"/>
          </a:xfrm>
        </p:grpSpPr>
        <p:sp>
          <p:nvSpPr>
            <p:cNvPr id="4" name="TextBox 321"/>
            <p:cNvSpPr txBox="1"/>
            <p:nvPr/>
          </p:nvSpPr>
          <p:spPr>
            <a:xfrm>
              <a:off x="632672" y="106976"/>
              <a:ext cx="1583503" cy="1757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400" b="1" kern="1200" dirty="0" err="1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Hoạt</a:t>
              </a: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kern="1200" dirty="0" err="1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động</a:t>
              </a:r>
              <a:r>
                <a:rPr lang="en-US" sz="4400" b="1" kern="1200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4:</a:t>
              </a:r>
              <a:endParaRPr lang="vi-VN" sz="4400" dirty="0"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9" name="Arrow: Pentagon 6"/>
                <p:cNvSpPr/>
                <p:nvPr/>
              </p:nvSpPr>
              <p:spPr>
                <a:xfrm>
                  <a:off x="0" y="103807"/>
                  <a:ext cx="464972" cy="291356"/>
                </a:xfrm>
                <a:prstGeom prst="homePlat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vi-VN" sz="4400"/>
                </a:p>
              </p:txBody>
            </p:sp>
            <p:sp>
              <p:nvSpPr>
                <p:cNvPr id="10" name="Arrow: Chevron 11"/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vi-VN" sz="4400"/>
                </a:p>
              </p:txBody>
            </p:sp>
            <p:sp>
              <p:nvSpPr>
                <p:cNvPr id="11" name="Arrow: Chevron 12"/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571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vi-VN" sz="4400"/>
                </a:p>
              </p:txBody>
            </p:sp>
          </p:grpSp>
          <p:sp>
            <p:nvSpPr>
              <p:cNvPr id="7" name="Flowchart: Terminator 6"/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211660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65443" y="3820371"/>
                <a:ext cx="23414887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Cho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thẳng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  <m:r>
                      <a:rPr lang="en-US" b="1" i="1">
                        <a:latin typeface="Cambria Math"/>
                      </a:rPr>
                      <m:t>:</m:t>
                    </m:r>
                    <m:r>
                      <a:rPr lang="en-US" b="1" i="1">
                        <a:latin typeface="Cambria Math"/>
                      </a:rPr>
                      <m:t>𝒂𝒙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𝒃𝒚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𝒄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𝒏</m:t>
                        </m:r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𝒂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3" y="3820371"/>
                <a:ext cx="23414887" cy="754053"/>
              </a:xfrm>
              <a:prstGeom prst="rect">
                <a:avLst/>
              </a:prstGeom>
              <a:blipFill>
                <a:blip r:embed="rId2"/>
                <a:stretch>
                  <a:fillRect l="-1041" t="-17073" b="-37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90460" y="4966689"/>
                <a:ext cx="1739001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Gọi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𝑯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chiếu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vuông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trên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𝑯</m:t>
                        </m:r>
                        <m:r>
                          <a:rPr lang="en-US" b="1" i="1"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latin typeface="Cambria Math"/>
                          </a:rPr>
                          <m:t>𝟕</m:t>
                        </m:r>
                        <m:r>
                          <a:rPr lang="en-US" b="1" i="1">
                            <a:latin typeface="Cambria Math"/>
                          </a:rPr>
                          <m:t>.</m:t>
                        </m:r>
                        <m:r>
                          <a:rPr lang="en-US" b="1" i="1">
                            <a:latin typeface="Cambria Math"/>
                          </a:rPr>
                          <m:t>𝟗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60" y="4966689"/>
                <a:ext cx="17390011" cy="769441"/>
              </a:xfrm>
              <a:prstGeom prst="rect">
                <a:avLst/>
              </a:prstGeom>
              <a:blipFill>
                <a:blip r:embed="rId3"/>
                <a:stretch>
                  <a:fillRect l="-1403" t="-16667" b="-34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90460" y="5734240"/>
                <a:ext cx="14700190" cy="97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Chứng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minh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rằng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acc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𝑯𝑴</m:t>
                            </m:r>
                          </m:e>
                        </m:acc>
                      </m:e>
                    </m: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𝑯𝑴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60" y="5734240"/>
                <a:ext cx="14700190" cy="973472"/>
              </a:xfrm>
              <a:prstGeom prst="rect">
                <a:avLst/>
              </a:prstGeom>
              <a:blipFill rotWithShape="1">
                <a:blip r:embed="rId4"/>
                <a:stretch>
                  <a:fillRect l="-1659" b="-2327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653325" y="10008011"/>
            <a:ext cx="315115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6057975" y="4550041"/>
            <a:ext cx="7718953" cy="7100189"/>
            <a:chOff x="15697200" y="5257800"/>
            <a:chExt cx="7718953" cy="7100189"/>
          </a:xfrm>
        </p:grpSpPr>
        <p:sp>
          <p:nvSpPr>
            <p:cNvPr id="15" name="Text Box 77"/>
            <p:cNvSpPr txBox="1"/>
            <p:nvPr/>
          </p:nvSpPr>
          <p:spPr>
            <a:xfrm>
              <a:off x="20767964" y="11672189"/>
              <a:ext cx="2648189" cy="6858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bg1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000" b="1" dirty="0" err="1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Hình</a:t>
              </a:r>
              <a:r>
                <a:rPr lang="en-US" sz="4000" b="1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7.9</a:t>
              </a:r>
              <a:endParaRPr lang="vi-VN" sz="4000" dirty="0">
                <a:solidFill>
                  <a:srgbClr val="FF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5697200" y="5257800"/>
              <a:ext cx="7467600" cy="6290858"/>
              <a:chOff x="15697200" y="5257800"/>
              <a:chExt cx="7467600" cy="6290858"/>
            </a:xfrm>
          </p:grpSpPr>
          <p:pic>
            <p:nvPicPr>
              <p:cNvPr id="14" name="Picture 13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97200" y="5257800"/>
                <a:ext cx="7467600" cy="6290858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16916400" y="8317508"/>
                    <a:ext cx="1225979" cy="75405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vi-VN" b="1" i="1" dirty="0" smtClean="0">
                              <a:latin typeface="Cambria Math"/>
                            </a:rPr>
                            <m:t>𝑯</m:t>
                          </m:r>
                        </m:oMath>
                      </m:oMathPara>
                    </a14:m>
                    <a:endParaRPr lang="vi-VN" b="1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16400" y="8317508"/>
                    <a:ext cx="1225979" cy="754053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vi-V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87004" y="6707712"/>
                <a:ext cx="13637400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Giả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sử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Chứng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minh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rằng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vi-VN" b="1" dirty="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004" y="6707712"/>
                <a:ext cx="13637400" cy="754053"/>
              </a:xfrm>
              <a:prstGeom prst="rect">
                <a:avLst/>
              </a:prstGeom>
              <a:blipFill rotWithShape="1">
                <a:blip r:embed="rId7"/>
                <a:stretch>
                  <a:fillRect l="-1743" t="-16935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1345583" y="7602092"/>
                <a:ext cx="7321791" cy="8344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vi-V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</m:acc>
                      <m:r>
                        <a:rPr lang="en-US" b="1" i="1">
                          <a:solidFill>
                            <a:schemeClr val="tx1"/>
                          </a:solidFill>
                          <a:latin typeface="Cambria Math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vi-V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𝑯𝑴</m:t>
                          </m:r>
                        </m:e>
                      </m:acc>
                      <m:r>
                        <a:rPr lang="en-US" b="1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/>
                        </a:rPr>
                        <m:t>𝒂</m:t>
                      </m:r>
                      <m:sSub>
                        <m:sSubPr>
                          <m:ctrlPr>
                            <a:rPr lang="vi-V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/>
                        </a:rPr>
                        <m:t>𝒃</m:t>
                      </m:r>
                      <m:sSub>
                        <m:sSubPr>
                          <m:ctrlPr>
                            <a:rPr lang="vi-V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/>
                        </a:rPr>
                        <m:t>𝒄</m:t>
                      </m:r>
                    </m:oMath>
                  </m:oMathPara>
                </a14:m>
                <a:endParaRPr lang="vi-V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583" y="7602092"/>
                <a:ext cx="7321791" cy="83445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20337513" y="12074538"/>
            <a:ext cx="25908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đpcm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endParaRPr lang="vi-VN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53325" y="8829991"/>
                <a:ext cx="6038420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c) </a:t>
                </a:r>
                <a:r>
                  <a:rPr lang="en-US" b="1" dirty="0" err="1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Chứng</a:t>
                </a:r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minh </a:t>
                </a:r>
                <a:r>
                  <a:rPr lang="en-US" b="1" dirty="0" err="1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rằng</a:t>
                </a:r>
                <a:r>
                  <a:rPr lang="en-US" b="1" dirty="0">
                    <a:solidFill>
                      <a:srgbClr val="FF00FF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FF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vi-VN" b="1" dirty="0">
                  <a:solidFill>
                    <a:srgbClr val="FF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25" y="8829991"/>
                <a:ext cx="6038420" cy="754053"/>
              </a:xfrm>
              <a:prstGeom prst="rect">
                <a:avLst/>
              </a:prstGeom>
              <a:blipFill rotWithShape="1">
                <a:blip r:embed="rId9"/>
                <a:stretch>
                  <a:fillRect l="-3935" t="-16935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3222792" y="10016866"/>
            <a:ext cx="11195694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c)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Từ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chứng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minh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câu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 a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và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câu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b ta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có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:</a:t>
            </a:r>
            <a:endParaRPr lang="vi-VN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077345" y="10961160"/>
                <a:ext cx="13455052" cy="973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</m:acc>
                        <m:r>
                          <a:rPr lang="en-US" b="1" i="1">
                            <a:latin typeface="Cambria Math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/>
                              </a:rPr>
                              <m:t>𝑯𝑴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b="1" i="1">
                        <a:latin typeface="Cambria Math"/>
                      </a:rPr>
                      <m:t>.</m:t>
                    </m:r>
                    <m:r>
                      <a:rPr lang="en-US" b="1" i="1">
                        <a:latin typeface="Cambria Math"/>
                      </a:rPr>
                      <m:t>𝑯𝑴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𝒏</m:t>
                        </m:r>
                      </m:e>
                    </m:acc>
                    <m:r>
                      <a:rPr lang="en-US" b="1" i="1">
                        <a:latin typeface="Cambria Math"/>
                      </a:rPr>
                      <m:t>.</m:t>
                    </m:r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𝑯𝑴</m:t>
                        </m:r>
                      </m:e>
                    </m:acc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𝒂</m:t>
                    </m:r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𝒃</m:t>
                    </m:r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𝒄</m:t>
                    </m:r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345" y="10961160"/>
                <a:ext cx="13455052" cy="973472"/>
              </a:xfrm>
              <a:prstGeom prst="rect">
                <a:avLst/>
              </a:prstGeom>
              <a:blipFill rotWithShape="1">
                <a:blip r:embed="rId10"/>
                <a:stretch>
                  <a:fillRect b="-225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025486" y="12074538"/>
                <a:ext cx="7872348" cy="9204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suy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𝑯𝑴</m:t>
                    </m:r>
                    <m:r>
                      <a:rPr lang="en-US" b="1" i="1">
                        <a:latin typeface="Cambria Math"/>
                      </a:rPr>
                      <m:t>.</m:t>
                    </m:r>
                    <m:rad>
                      <m:radPr>
                        <m:degHide m:val="on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/>
                              </a:rPr>
                              <m:t>𝒃</m:t>
                            </m:r>
                          </m:e>
                          <m:sup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b="1" i="1">
                        <a:latin typeface="Cambria Math"/>
                      </a:rPr>
                      <m:t>=</m:t>
                    </m:r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486" y="12074538"/>
                <a:ext cx="7872348" cy="920445"/>
              </a:xfrm>
              <a:prstGeom prst="rect">
                <a:avLst/>
              </a:prstGeom>
              <a:blipFill rotWithShape="1">
                <a:blip r:embed="rId11"/>
                <a:stretch>
                  <a:fillRect l="-3019" b="-2980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3139291" y="12122356"/>
                <a:ext cx="2918684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Hay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𝑯𝑴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9291" y="12122356"/>
                <a:ext cx="2918684" cy="754053"/>
              </a:xfrm>
              <a:prstGeom prst="rect">
                <a:avLst/>
              </a:prstGeom>
              <a:blipFill rotWithShape="1">
                <a:blip r:embed="rId12"/>
                <a:stretch>
                  <a:fillRect l="-8142" t="-17073" b="-3739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8897834" y="12157733"/>
                <a:ext cx="4132863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𝒂</m:t>
                          </m:r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latin typeface="Cambria Math"/>
                            </a:rPr>
                            <m:t>+</m:t>
                          </m:r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latin typeface="Cambria Math"/>
                            </a:rPr>
                            <m:t>+</m:t>
                          </m:r>
                          <m:r>
                            <a:rPr lang="en-US" b="1" i="1">
                              <a:latin typeface="Cambria Math"/>
                            </a:rPr>
                            <m:t>𝒄</m:t>
                          </m:r>
                        </m:e>
                      </m:d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834" y="12157733"/>
                <a:ext cx="4132863" cy="754053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6204650" y="11710046"/>
                <a:ext cx="4132863" cy="16494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𝒂</m:t>
                              </m:r>
                              <m:sSub>
                                <m:sSub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𝒃</m:t>
                              </m:r>
                              <m:sSub>
                                <m:sSub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𝒄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50" y="11710046"/>
                <a:ext cx="4132863" cy="1649426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6444959" y="8436551"/>
                <a:ext cx="5398081" cy="15409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4000" b="1" i="1" smtClean="0">
                          <a:solidFill>
                            <a:srgbClr val="FF00FF"/>
                          </a:solidFill>
                          <a:latin typeface="Cambria Math"/>
                        </a:rPr>
                        <m:t>𝑯𝑴</m:t>
                      </m:r>
                      <m:r>
                        <a:rPr lang="vi-VN" sz="4000" b="1" i="1" smtClean="0">
                          <a:solidFill>
                            <a:srgbClr val="FF00FF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vi-VN" sz="4000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vi-VN" sz="4000" b="1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𝒂</m:t>
                              </m:r>
                              <m:sSub>
                                <m:sSubPr>
                                  <m:ctrlPr>
                                    <a:rPr lang="vi-VN" sz="4000" b="1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1" i="1">
                                      <a:solidFill>
                                        <a:srgbClr val="FF00FF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4000" b="1" i="1">
                                      <a:solidFill>
                                        <a:srgbClr val="FF00FF"/>
                                      </a:solidFill>
                                      <a:latin typeface="Cambria Math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4000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4000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𝒃</m:t>
                              </m:r>
                              <m:sSub>
                                <m:sSubPr>
                                  <m:ctrlPr>
                                    <a:rPr lang="vi-VN" sz="4000" b="1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1" i="1">
                                      <a:solidFill>
                                        <a:srgbClr val="FF00FF"/>
                                      </a:solidFill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4000" b="1" i="1">
                                      <a:solidFill>
                                        <a:srgbClr val="FF00FF"/>
                                      </a:solidFill>
                                      <a:latin typeface="Cambria Math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4000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4000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𝒄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vi-VN" sz="4000" b="1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sz="4000" b="1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1" i="1">
                                      <a:solidFill>
                                        <a:srgbClr val="FF00FF"/>
                                      </a:solidFill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4000" b="1" i="1">
                                      <a:solidFill>
                                        <a:srgbClr val="FF00FF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4000" b="1" i="1">
                                  <a:solidFill>
                                    <a:srgbClr val="FF00FF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vi-VN" sz="4000" b="1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1" i="1">
                                      <a:solidFill>
                                        <a:srgbClr val="FF00FF"/>
                                      </a:solidFill>
                                      <a:latin typeface="Cambria Math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sz="4000" b="1" i="1">
                                      <a:solidFill>
                                        <a:srgbClr val="FF00FF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vi-VN" sz="40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959" y="8436551"/>
                <a:ext cx="5398081" cy="1540935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ounded Rectangle 5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4829611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5" grpId="0"/>
      <p:bldP spid="30" grpId="0"/>
      <p:bldP spid="21" grpId="0"/>
      <p:bldP spid="25" grpId="0"/>
      <p:bldP spid="26" grpId="0"/>
      <p:bldP spid="27" grpId="0"/>
      <p:bldP spid="28" grpId="0"/>
      <p:bldP spid="29" grpId="0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/>
          <p:cNvGrpSpPr/>
          <p:nvPr/>
        </p:nvGrpSpPr>
        <p:grpSpPr>
          <a:xfrm>
            <a:off x="124691" y="2688577"/>
            <a:ext cx="23595333" cy="4104777"/>
            <a:chOff x="302832" y="2289148"/>
            <a:chExt cx="23595333" cy="4104777"/>
          </a:xfrm>
        </p:grpSpPr>
        <p:sp>
          <p:nvSpPr>
            <p:cNvPr id="4" name="Rounded Rectangle 38">
              <a:extLst>
                <a:ext uri="{FF2B5EF4-FFF2-40B4-BE49-F238E27FC236}">
                  <a16:creationId xmlns:a16="http://schemas.microsoft.com/office/drawing/2014/main" id="{A6CDAC1F-B641-42AA-861D-669C2EF8F3AD}"/>
                </a:ext>
              </a:extLst>
            </p:cNvPr>
            <p:cNvSpPr/>
            <p:nvPr/>
          </p:nvSpPr>
          <p:spPr>
            <a:xfrm>
              <a:off x="743985" y="2770902"/>
              <a:ext cx="23154180" cy="3623023"/>
            </a:xfrm>
            <a:prstGeom prst="roundRect">
              <a:avLst>
                <a:gd name="adj" fmla="val 411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rgbClr val="0999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9440" tIns="34720" rIns="69440" bIns="34720" rtlCol="0" anchor="ctr"/>
            <a:lstStyle/>
            <a:p>
              <a:pPr algn="ctr"/>
              <a:endParaRPr lang="en-US" sz="4600"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grpSp>
          <p:nvGrpSpPr>
            <p:cNvPr id="6" name="Group 65">
              <a:extLst>
                <a:ext uri="{FF2B5EF4-FFF2-40B4-BE49-F238E27FC236}">
                  <a16:creationId xmlns:a16="http://schemas.microsoft.com/office/drawing/2014/main" id="{1AD06EBE-ECB0-40A5-9A8C-86E6ACF23DB5}"/>
                </a:ext>
              </a:extLst>
            </p:cNvPr>
            <p:cNvGrpSpPr/>
            <p:nvPr/>
          </p:nvGrpSpPr>
          <p:grpSpPr>
            <a:xfrm>
              <a:off x="302832" y="2289148"/>
              <a:ext cx="4410998" cy="824979"/>
              <a:chOff x="166396" y="8712046"/>
              <a:chExt cx="4411573" cy="824978"/>
            </a:xfrm>
          </p:grpSpPr>
          <p:sp>
            <p:nvSpPr>
              <p:cNvPr id="7" name="Freeform 20">
                <a:extLst>
                  <a:ext uri="{FF2B5EF4-FFF2-40B4-BE49-F238E27FC236}">
                    <a16:creationId xmlns:a16="http://schemas.microsoft.com/office/drawing/2014/main" id="{776D5D35-8B10-4137-802F-9CC66FD1C1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522" y="8755081"/>
                <a:ext cx="4193447" cy="781943"/>
              </a:xfrm>
              <a:prstGeom prst="roundRect">
                <a:avLst/>
              </a:prstGeom>
              <a:solidFill>
                <a:srgbClr val="0072B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6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591698F-F11F-4EE8-A205-14DEF0C12221}"/>
                  </a:ext>
                </a:extLst>
              </p:cNvPr>
              <p:cNvGrpSpPr/>
              <p:nvPr/>
            </p:nvGrpSpPr>
            <p:grpSpPr>
              <a:xfrm>
                <a:off x="166396" y="8780577"/>
                <a:ext cx="702538" cy="572229"/>
                <a:chOff x="-145995" y="8633545"/>
                <a:chExt cx="787401" cy="641352"/>
              </a:xfrm>
            </p:grpSpPr>
            <p:sp>
              <p:nvSpPr>
                <p:cNvPr id="10" name="Freeform 45">
                  <a:extLst>
                    <a:ext uri="{FF2B5EF4-FFF2-40B4-BE49-F238E27FC236}">
                      <a16:creationId xmlns:a16="http://schemas.microsoft.com/office/drawing/2014/main" id="{B9C06798-175A-46A4-9195-25EBD98356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5643" y="9062171"/>
                  <a:ext cx="363538" cy="88900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1" name="Freeform 46">
                  <a:extLst>
                    <a:ext uri="{FF2B5EF4-FFF2-40B4-BE49-F238E27FC236}">
                      <a16:creationId xmlns:a16="http://schemas.microsoft.com/office/drawing/2014/main" id="{E0260A3A-7918-4372-96BA-DF7D57505A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33418" y="9039946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0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0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2" name="Freeform 47">
                  <a:extLst>
                    <a:ext uri="{FF2B5EF4-FFF2-40B4-BE49-F238E27FC236}">
                      <a16:creationId xmlns:a16="http://schemas.microsoft.com/office/drawing/2014/main" id="{4973408C-A2C5-44AB-BD35-5F38677D3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5643" y="9136784"/>
                  <a:ext cx="363538" cy="90488"/>
                </a:xfrm>
                <a:custGeom>
                  <a:avLst/>
                  <a:gdLst>
                    <a:gd name="T0" fmla="*/ 6 w 97"/>
                    <a:gd name="T1" fmla="*/ 24 h 24"/>
                    <a:gd name="T2" fmla="*/ 0 w 97"/>
                    <a:gd name="T3" fmla="*/ 18 h 24"/>
                    <a:gd name="T4" fmla="*/ 0 w 97"/>
                    <a:gd name="T5" fmla="*/ 6 h 24"/>
                    <a:gd name="T6" fmla="*/ 6 w 97"/>
                    <a:gd name="T7" fmla="*/ 0 h 24"/>
                    <a:gd name="T8" fmla="*/ 91 w 97"/>
                    <a:gd name="T9" fmla="*/ 0 h 24"/>
                    <a:gd name="T10" fmla="*/ 97 w 97"/>
                    <a:gd name="T11" fmla="*/ 6 h 24"/>
                    <a:gd name="T12" fmla="*/ 97 w 97"/>
                    <a:gd name="T13" fmla="*/ 18 h 24"/>
                    <a:gd name="T14" fmla="*/ 91 w 97"/>
                    <a:gd name="T15" fmla="*/ 24 h 24"/>
                    <a:gd name="T16" fmla="*/ 6 w 97"/>
                    <a:gd name="T1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4">
                      <a:moveTo>
                        <a:pt x="6" y="24"/>
                      </a:moveTo>
                      <a:cubicBezTo>
                        <a:pt x="3" y="24"/>
                        <a:pt x="0" y="21"/>
                        <a:pt x="0" y="18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5" y="0"/>
                        <a:pt x="97" y="3"/>
                        <a:pt x="97" y="6"/>
                      </a:cubicBezTo>
                      <a:cubicBezTo>
                        <a:pt x="97" y="18"/>
                        <a:pt x="97" y="18"/>
                        <a:pt x="97" y="18"/>
                      </a:cubicBezTo>
                      <a:cubicBezTo>
                        <a:pt x="97" y="21"/>
                        <a:pt x="95" y="24"/>
                        <a:pt x="91" y="24"/>
                      </a:cubicBezTo>
                      <a:lnTo>
                        <a:pt x="6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3" name="Freeform 48">
                  <a:extLst>
                    <a:ext uri="{FF2B5EF4-FFF2-40B4-BE49-F238E27FC236}">
                      <a16:creationId xmlns:a16="http://schemas.microsoft.com/office/drawing/2014/main" id="{CAFB4F06-094F-468A-A7B2-C105CF3B00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33418" y="9114559"/>
                  <a:ext cx="407988" cy="134938"/>
                </a:xfrm>
                <a:custGeom>
                  <a:avLst/>
                  <a:gdLst>
                    <a:gd name="T0" fmla="*/ 97 w 109"/>
                    <a:gd name="T1" fmla="*/ 12 h 36"/>
                    <a:gd name="T2" fmla="*/ 97 w 109"/>
                    <a:gd name="T3" fmla="*/ 24 h 36"/>
                    <a:gd name="T4" fmla="*/ 12 w 109"/>
                    <a:gd name="T5" fmla="*/ 24 h 36"/>
                    <a:gd name="T6" fmla="*/ 12 w 109"/>
                    <a:gd name="T7" fmla="*/ 12 h 36"/>
                    <a:gd name="T8" fmla="*/ 97 w 109"/>
                    <a:gd name="T9" fmla="*/ 12 h 36"/>
                    <a:gd name="T10" fmla="*/ 97 w 109"/>
                    <a:gd name="T11" fmla="*/ 0 h 36"/>
                    <a:gd name="T12" fmla="*/ 12 w 109"/>
                    <a:gd name="T13" fmla="*/ 0 h 36"/>
                    <a:gd name="T14" fmla="*/ 0 w 109"/>
                    <a:gd name="T15" fmla="*/ 12 h 36"/>
                    <a:gd name="T16" fmla="*/ 0 w 109"/>
                    <a:gd name="T17" fmla="*/ 24 h 36"/>
                    <a:gd name="T18" fmla="*/ 12 w 109"/>
                    <a:gd name="T19" fmla="*/ 36 h 36"/>
                    <a:gd name="T20" fmla="*/ 97 w 109"/>
                    <a:gd name="T21" fmla="*/ 36 h 36"/>
                    <a:gd name="T22" fmla="*/ 109 w 109"/>
                    <a:gd name="T23" fmla="*/ 24 h 36"/>
                    <a:gd name="T24" fmla="*/ 109 w 109"/>
                    <a:gd name="T25" fmla="*/ 12 h 36"/>
                    <a:gd name="T26" fmla="*/ 97 w 109"/>
                    <a:gd name="T27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9" h="36">
                      <a:moveTo>
                        <a:pt x="97" y="12"/>
                      </a:moveTo>
                      <a:cubicBezTo>
                        <a:pt x="97" y="24"/>
                        <a:pt x="97" y="24"/>
                        <a:pt x="97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7" y="12"/>
                        <a:pt x="97" y="12"/>
                        <a:pt x="97" y="12"/>
                      </a:cubicBezTo>
                      <a:moveTo>
                        <a:pt x="9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6"/>
                        <a:pt x="0" y="1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31"/>
                        <a:pt x="5" y="36"/>
                        <a:pt x="12" y="36"/>
                      </a:cubicBezTo>
                      <a:cubicBezTo>
                        <a:pt x="97" y="36"/>
                        <a:pt x="97" y="36"/>
                        <a:pt x="97" y="36"/>
                      </a:cubicBezTo>
                      <a:cubicBezTo>
                        <a:pt x="104" y="36"/>
                        <a:pt x="109" y="31"/>
                        <a:pt x="109" y="24"/>
                      </a:cubicBezTo>
                      <a:cubicBezTo>
                        <a:pt x="109" y="12"/>
                        <a:pt x="109" y="12"/>
                        <a:pt x="109" y="12"/>
                      </a:cubicBezTo>
                      <a:cubicBezTo>
                        <a:pt x="109" y="6"/>
                        <a:pt x="104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Freeform 49">
                  <a:extLst>
                    <a:ext uri="{FF2B5EF4-FFF2-40B4-BE49-F238E27FC236}">
                      <a16:creationId xmlns:a16="http://schemas.microsoft.com/office/drawing/2014/main" id="{BE4B2DE9-4374-4350-B2F1-E63F2496FA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543" y="8657358"/>
                  <a:ext cx="263525" cy="254000"/>
                </a:xfrm>
                <a:custGeom>
                  <a:avLst/>
                  <a:gdLst>
                    <a:gd name="T0" fmla="*/ 50 w 70"/>
                    <a:gd name="T1" fmla="*/ 68 h 68"/>
                    <a:gd name="T2" fmla="*/ 45 w 70"/>
                    <a:gd name="T3" fmla="*/ 67 h 68"/>
                    <a:gd name="T4" fmla="*/ 2 w 70"/>
                    <a:gd name="T5" fmla="*/ 23 h 68"/>
                    <a:gd name="T6" fmla="*/ 2 w 70"/>
                    <a:gd name="T7" fmla="*/ 15 h 68"/>
                    <a:gd name="T8" fmla="*/ 14 w 70"/>
                    <a:gd name="T9" fmla="*/ 3 h 68"/>
                    <a:gd name="T10" fmla="*/ 22 w 70"/>
                    <a:gd name="T11" fmla="*/ 0 h 68"/>
                    <a:gd name="T12" fmla="*/ 31 w 70"/>
                    <a:gd name="T13" fmla="*/ 3 h 68"/>
                    <a:gd name="T14" fmla="*/ 65 w 70"/>
                    <a:gd name="T15" fmla="*/ 38 h 68"/>
                    <a:gd name="T16" fmla="*/ 65 w 70"/>
                    <a:gd name="T17" fmla="*/ 55 h 68"/>
                    <a:gd name="T18" fmla="*/ 54 w 70"/>
                    <a:gd name="T19" fmla="*/ 67 h 68"/>
                    <a:gd name="T20" fmla="*/ 50 w 70"/>
                    <a:gd name="T21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0" h="68">
                      <a:moveTo>
                        <a:pt x="50" y="68"/>
                      </a:moveTo>
                      <a:cubicBezTo>
                        <a:pt x="48" y="68"/>
                        <a:pt x="47" y="68"/>
                        <a:pt x="45" y="67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0" y="21"/>
                        <a:pt x="0" y="17"/>
                        <a:pt x="2" y="1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6" y="1"/>
                        <a:pt x="19" y="0"/>
                        <a:pt x="22" y="0"/>
                      </a:cubicBezTo>
                      <a:cubicBezTo>
                        <a:pt x="26" y="0"/>
                        <a:pt x="29" y="1"/>
                        <a:pt x="31" y="3"/>
                      </a:cubicBezTo>
                      <a:cubicBezTo>
                        <a:pt x="65" y="38"/>
                        <a:pt x="65" y="38"/>
                        <a:pt x="65" y="38"/>
                      </a:cubicBezTo>
                      <a:cubicBezTo>
                        <a:pt x="70" y="42"/>
                        <a:pt x="70" y="50"/>
                        <a:pt x="65" y="55"/>
                      </a:cubicBezTo>
                      <a:cubicBezTo>
                        <a:pt x="54" y="67"/>
                        <a:pt x="54" y="67"/>
                        <a:pt x="54" y="67"/>
                      </a:cubicBezTo>
                      <a:cubicBezTo>
                        <a:pt x="53" y="68"/>
                        <a:pt x="51" y="68"/>
                        <a:pt x="50" y="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5" name="Freeform 50">
                  <a:extLst>
                    <a:ext uri="{FF2B5EF4-FFF2-40B4-BE49-F238E27FC236}">
                      <a16:creationId xmlns:a16="http://schemas.microsoft.com/office/drawing/2014/main" id="{2C25F284-5FFE-458D-AD4A-4FE2472845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92143" y="8633545"/>
                  <a:ext cx="314325" cy="300038"/>
                </a:xfrm>
                <a:custGeom>
                  <a:avLst/>
                  <a:gdLst>
                    <a:gd name="T0" fmla="*/ 29 w 84"/>
                    <a:gd name="T1" fmla="*/ 12 h 80"/>
                    <a:gd name="T2" fmla="*/ 34 w 84"/>
                    <a:gd name="T3" fmla="*/ 13 h 80"/>
                    <a:gd name="T4" fmla="*/ 68 w 84"/>
                    <a:gd name="T5" fmla="*/ 48 h 80"/>
                    <a:gd name="T6" fmla="*/ 68 w 84"/>
                    <a:gd name="T7" fmla="*/ 57 h 80"/>
                    <a:gd name="T8" fmla="*/ 57 w 84"/>
                    <a:gd name="T9" fmla="*/ 68 h 80"/>
                    <a:gd name="T10" fmla="*/ 13 w 84"/>
                    <a:gd name="T11" fmla="*/ 25 h 80"/>
                    <a:gd name="T12" fmla="*/ 25 w 84"/>
                    <a:gd name="T13" fmla="*/ 13 h 80"/>
                    <a:gd name="T14" fmla="*/ 29 w 84"/>
                    <a:gd name="T15" fmla="*/ 12 h 80"/>
                    <a:gd name="T16" fmla="*/ 29 w 84"/>
                    <a:gd name="T17" fmla="*/ 0 h 80"/>
                    <a:gd name="T18" fmla="*/ 16 w 84"/>
                    <a:gd name="T19" fmla="*/ 5 h 80"/>
                    <a:gd name="T20" fmla="*/ 5 w 84"/>
                    <a:gd name="T21" fmla="*/ 16 h 80"/>
                    <a:gd name="T22" fmla="*/ 5 w 84"/>
                    <a:gd name="T23" fmla="*/ 33 h 80"/>
                    <a:gd name="T24" fmla="*/ 48 w 84"/>
                    <a:gd name="T25" fmla="*/ 77 h 80"/>
                    <a:gd name="T26" fmla="*/ 57 w 84"/>
                    <a:gd name="T27" fmla="*/ 80 h 80"/>
                    <a:gd name="T28" fmla="*/ 57 w 84"/>
                    <a:gd name="T29" fmla="*/ 80 h 80"/>
                    <a:gd name="T30" fmla="*/ 65 w 84"/>
                    <a:gd name="T31" fmla="*/ 77 h 80"/>
                    <a:gd name="T32" fmla="*/ 77 w 84"/>
                    <a:gd name="T33" fmla="*/ 65 h 80"/>
                    <a:gd name="T34" fmla="*/ 77 w 84"/>
                    <a:gd name="T35" fmla="*/ 39 h 80"/>
                    <a:gd name="T36" fmla="*/ 42 w 84"/>
                    <a:gd name="T37" fmla="*/ 5 h 80"/>
                    <a:gd name="T38" fmla="*/ 29 w 84"/>
                    <a:gd name="T39" fmla="*/ 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4" h="80">
                      <a:moveTo>
                        <a:pt x="29" y="12"/>
                      </a:moveTo>
                      <a:cubicBezTo>
                        <a:pt x="31" y="12"/>
                        <a:pt x="33" y="12"/>
                        <a:pt x="34" y="13"/>
                      </a:cubicBezTo>
                      <a:cubicBezTo>
                        <a:pt x="34" y="13"/>
                        <a:pt x="34" y="13"/>
                        <a:pt x="68" y="48"/>
                      </a:cubicBezTo>
                      <a:cubicBezTo>
                        <a:pt x="71" y="50"/>
                        <a:pt x="71" y="54"/>
                        <a:pt x="68" y="57"/>
                      </a:cubicBezTo>
                      <a:cubicBezTo>
                        <a:pt x="68" y="57"/>
                        <a:pt x="68" y="57"/>
                        <a:pt x="57" y="68"/>
                      </a:cubicBezTo>
                      <a:cubicBezTo>
                        <a:pt x="57" y="68"/>
                        <a:pt x="57" y="68"/>
                        <a:pt x="13" y="25"/>
                      </a:cubicBezTo>
                      <a:cubicBezTo>
                        <a:pt x="13" y="25"/>
                        <a:pt x="13" y="25"/>
                        <a:pt x="25" y="13"/>
                      </a:cubicBezTo>
                      <a:cubicBezTo>
                        <a:pt x="26" y="12"/>
                        <a:pt x="28" y="12"/>
                        <a:pt x="29" y="12"/>
                      </a:cubicBezTo>
                      <a:moveTo>
                        <a:pt x="29" y="0"/>
                      </a:moveTo>
                      <a:cubicBezTo>
                        <a:pt x="24" y="0"/>
                        <a:pt x="20" y="2"/>
                        <a:pt x="16" y="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0" y="21"/>
                        <a:pt x="0" y="29"/>
                        <a:pt x="5" y="33"/>
                      </a:cubicBezTo>
                      <a:cubicBezTo>
                        <a:pt x="48" y="77"/>
                        <a:pt x="48" y="77"/>
                        <a:pt x="48" y="77"/>
                      </a:cubicBezTo>
                      <a:cubicBezTo>
                        <a:pt x="50" y="79"/>
                        <a:pt x="53" y="80"/>
                        <a:pt x="57" y="80"/>
                      </a:cubicBezTo>
                      <a:cubicBezTo>
                        <a:pt x="57" y="80"/>
                        <a:pt x="57" y="80"/>
                        <a:pt x="57" y="80"/>
                      </a:cubicBezTo>
                      <a:cubicBezTo>
                        <a:pt x="60" y="80"/>
                        <a:pt x="63" y="79"/>
                        <a:pt x="65" y="77"/>
                      </a:cubicBezTo>
                      <a:cubicBezTo>
                        <a:pt x="77" y="65"/>
                        <a:pt x="77" y="65"/>
                        <a:pt x="77" y="65"/>
                      </a:cubicBezTo>
                      <a:cubicBezTo>
                        <a:pt x="84" y="58"/>
                        <a:pt x="84" y="47"/>
                        <a:pt x="77" y="39"/>
                      </a:cubicBezTo>
                      <a:cubicBezTo>
                        <a:pt x="42" y="5"/>
                        <a:pt x="42" y="5"/>
                        <a:pt x="42" y="5"/>
                      </a:cubicBezTo>
                      <a:cubicBezTo>
                        <a:pt x="39" y="2"/>
                        <a:pt x="34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6" name="Freeform 51">
                  <a:extLst>
                    <a:ext uri="{FF2B5EF4-FFF2-40B4-BE49-F238E27FC236}">
                      <a16:creationId xmlns:a16="http://schemas.microsoft.com/office/drawing/2014/main" id="{4BF66910-337F-49B7-A3F9-407BD50A61E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-123770" y="8724033"/>
                  <a:ext cx="742950" cy="528639"/>
                </a:xfrm>
                <a:custGeom>
                  <a:avLst/>
                  <a:gdLst>
                    <a:gd name="T0" fmla="*/ 12 w 198"/>
                    <a:gd name="T1" fmla="*/ 141 h 141"/>
                    <a:gd name="T2" fmla="*/ 8 w 198"/>
                    <a:gd name="T3" fmla="*/ 140 h 141"/>
                    <a:gd name="T4" fmla="*/ 3 w 198"/>
                    <a:gd name="T5" fmla="*/ 134 h 141"/>
                    <a:gd name="T6" fmla="*/ 1 w 198"/>
                    <a:gd name="T7" fmla="*/ 128 h 141"/>
                    <a:gd name="T8" fmla="*/ 14 w 198"/>
                    <a:gd name="T9" fmla="*/ 77 h 141"/>
                    <a:gd name="T10" fmla="*/ 15 w 198"/>
                    <a:gd name="T11" fmla="*/ 75 h 141"/>
                    <a:gd name="T12" fmla="*/ 88 w 198"/>
                    <a:gd name="T13" fmla="*/ 1 h 141"/>
                    <a:gd name="T14" fmla="*/ 92 w 198"/>
                    <a:gd name="T15" fmla="*/ 0 h 141"/>
                    <a:gd name="T16" fmla="*/ 92 w 198"/>
                    <a:gd name="T17" fmla="*/ 0 h 141"/>
                    <a:gd name="T18" fmla="*/ 97 w 198"/>
                    <a:gd name="T19" fmla="*/ 1 h 141"/>
                    <a:gd name="T20" fmla="*/ 103 w 198"/>
                    <a:gd name="T21" fmla="*/ 8 h 141"/>
                    <a:gd name="T22" fmla="*/ 105 w 198"/>
                    <a:gd name="T23" fmla="*/ 12 h 141"/>
                    <a:gd name="T24" fmla="*/ 109 w 198"/>
                    <a:gd name="T25" fmla="*/ 13 h 141"/>
                    <a:gd name="T26" fmla="*/ 116 w 198"/>
                    <a:gd name="T27" fmla="*/ 21 h 141"/>
                    <a:gd name="T28" fmla="*/ 117 w 198"/>
                    <a:gd name="T29" fmla="*/ 24 h 141"/>
                    <a:gd name="T30" fmla="*/ 121 w 198"/>
                    <a:gd name="T31" fmla="*/ 26 h 141"/>
                    <a:gd name="T32" fmla="*/ 128 w 198"/>
                    <a:gd name="T33" fmla="*/ 33 h 141"/>
                    <a:gd name="T34" fmla="*/ 130 w 198"/>
                    <a:gd name="T35" fmla="*/ 37 h 141"/>
                    <a:gd name="T36" fmla="*/ 133 w 198"/>
                    <a:gd name="T37" fmla="*/ 38 h 141"/>
                    <a:gd name="T38" fmla="*/ 140 w 198"/>
                    <a:gd name="T39" fmla="*/ 45 h 141"/>
                    <a:gd name="T40" fmla="*/ 142 w 198"/>
                    <a:gd name="T41" fmla="*/ 49 h 141"/>
                    <a:gd name="T42" fmla="*/ 140 w 198"/>
                    <a:gd name="T43" fmla="*/ 53 h 141"/>
                    <a:gd name="T44" fmla="*/ 124 w 198"/>
                    <a:gd name="T45" fmla="*/ 70 h 141"/>
                    <a:gd name="T46" fmla="*/ 192 w 198"/>
                    <a:gd name="T47" fmla="*/ 70 h 141"/>
                    <a:gd name="T48" fmla="*/ 198 w 198"/>
                    <a:gd name="T49" fmla="*/ 76 h 141"/>
                    <a:gd name="T50" fmla="*/ 198 w 198"/>
                    <a:gd name="T51" fmla="*/ 87 h 141"/>
                    <a:gd name="T52" fmla="*/ 192 w 198"/>
                    <a:gd name="T53" fmla="*/ 93 h 141"/>
                    <a:gd name="T54" fmla="*/ 107 w 198"/>
                    <a:gd name="T55" fmla="*/ 93 h 141"/>
                    <a:gd name="T56" fmla="*/ 103 w 198"/>
                    <a:gd name="T57" fmla="*/ 91 h 141"/>
                    <a:gd name="T58" fmla="*/ 67 w 198"/>
                    <a:gd name="T59" fmla="*/ 127 h 141"/>
                    <a:gd name="T60" fmla="*/ 64 w 198"/>
                    <a:gd name="T61" fmla="*/ 128 h 141"/>
                    <a:gd name="T62" fmla="*/ 14 w 198"/>
                    <a:gd name="T63" fmla="*/ 141 h 141"/>
                    <a:gd name="T64" fmla="*/ 12 w 198"/>
                    <a:gd name="T65" fmla="*/ 141 h 141"/>
                    <a:gd name="T66" fmla="*/ 23 w 198"/>
                    <a:gd name="T67" fmla="*/ 119 h 141"/>
                    <a:gd name="T68" fmla="*/ 45 w 198"/>
                    <a:gd name="T69" fmla="*/ 113 h 141"/>
                    <a:gd name="T70" fmla="*/ 29 w 198"/>
                    <a:gd name="T71" fmla="*/ 97 h 141"/>
                    <a:gd name="T72" fmla="*/ 23 w 198"/>
                    <a:gd name="T73" fmla="*/ 119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8" h="141">
                      <a:moveTo>
                        <a:pt x="12" y="141"/>
                      </a:moveTo>
                      <a:cubicBezTo>
                        <a:pt x="11" y="141"/>
                        <a:pt x="9" y="141"/>
                        <a:pt x="8" y="140"/>
                      </a:cubicBezTo>
                      <a:cubicBezTo>
                        <a:pt x="3" y="134"/>
                        <a:pt x="3" y="134"/>
                        <a:pt x="3" y="134"/>
                      </a:cubicBezTo>
                      <a:cubicBezTo>
                        <a:pt x="1" y="133"/>
                        <a:pt x="0" y="131"/>
                        <a:pt x="1" y="128"/>
                      </a:cubicBezTo>
                      <a:cubicBezTo>
                        <a:pt x="14" y="77"/>
                        <a:pt x="14" y="77"/>
                        <a:pt x="14" y="77"/>
                      </a:cubicBezTo>
                      <a:cubicBezTo>
                        <a:pt x="14" y="76"/>
                        <a:pt x="15" y="75"/>
                        <a:pt x="15" y="75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9" y="0"/>
                        <a:pt x="91" y="0"/>
                        <a:pt x="92" y="0"/>
                      </a:cubicBezTo>
                      <a:cubicBezTo>
                        <a:pt x="92" y="0"/>
                        <a:pt x="92" y="0"/>
                        <a:pt x="92" y="0"/>
                      </a:cubicBezTo>
                      <a:cubicBezTo>
                        <a:pt x="94" y="0"/>
                        <a:pt x="96" y="0"/>
                        <a:pt x="97" y="1"/>
                      </a:cubicBezTo>
                      <a:cubicBezTo>
                        <a:pt x="103" y="8"/>
                        <a:pt x="103" y="8"/>
                        <a:pt x="103" y="8"/>
                      </a:cubicBezTo>
                      <a:cubicBezTo>
                        <a:pt x="104" y="9"/>
                        <a:pt x="105" y="10"/>
                        <a:pt x="105" y="12"/>
                      </a:cubicBezTo>
                      <a:cubicBezTo>
                        <a:pt x="106" y="12"/>
                        <a:pt x="108" y="12"/>
                        <a:pt x="109" y="13"/>
                      </a:cubicBezTo>
                      <a:cubicBezTo>
                        <a:pt x="116" y="21"/>
                        <a:pt x="116" y="21"/>
                        <a:pt x="116" y="21"/>
                      </a:cubicBezTo>
                      <a:cubicBezTo>
                        <a:pt x="117" y="22"/>
                        <a:pt x="117" y="23"/>
                        <a:pt x="117" y="24"/>
                      </a:cubicBezTo>
                      <a:cubicBezTo>
                        <a:pt x="119" y="24"/>
                        <a:pt x="120" y="25"/>
                        <a:pt x="121" y="26"/>
                      </a:cubicBezTo>
                      <a:cubicBezTo>
                        <a:pt x="128" y="33"/>
                        <a:pt x="128" y="33"/>
                        <a:pt x="128" y="33"/>
                      </a:cubicBezTo>
                      <a:cubicBezTo>
                        <a:pt x="129" y="34"/>
                        <a:pt x="130" y="35"/>
                        <a:pt x="130" y="37"/>
                      </a:cubicBezTo>
                      <a:cubicBezTo>
                        <a:pt x="131" y="37"/>
                        <a:pt x="132" y="37"/>
                        <a:pt x="133" y="38"/>
                      </a:cubicBezTo>
                      <a:cubicBezTo>
                        <a:pt x="140" y="45"/>
                        <a:pt x="140" y="45"/>
                        <a:pt x="140" y="45"/>
                      </a:cubicBezTo>
                      <a:cubicBezTo>
                        <a:pt x="141" y="46"/>
                        <a:pt x="142" y="47"/>
                        <a:pt x="142" y="49"/>
                      </a:cubicBezTo>
                      <a:cubicBezTo>
                        <a:pt x="142" y="51"/>
                        <a:pt x="141" y="52"/>
                        <a:pt x="140" y="53"/>
                      </a:cubicBezTo>
                      <a:cubicBezTo>
                        <a:pt x="124" y="70"/>
                        <a:pt x="124" y="70"/>
                        <a:pt x="124" y="70"/>
                      </a:cubicBezTo>
                      <a:cubicBezTo>
                        <a:pt x="192" y="70"/>
                        <a:pt x="192" y="70"/>
                        <a:pt x="192" y="70"/>
                      </a:cubicBezTo>
                      <a:cubicBezTo>
                        <a:pt x="196" y="70"/>
                        <a:pt x="198" y="72"/>
                        <a:pt x="198" y="76"/>
                      </a:cubicBezTo>
                      <a:cubicBezTo>
                        <a:pt x="198" y="87"/>
                        <a:pt x="198" y="87"/>
                        <a:pt x="198" y="87"/>
                      </a:cubicBezTo>
                      <a:cubicBezTo>
                        <a:pt x="198" y="91"/>
                        <a:pt x="196" y="93"/>
                        <a:pt x="192" y="93"/>
                      </a:cubicBezTo>
                      <a:cubicBezTo>
                        <a:pt x="107" y="93"/>
                        <a:pt x="107" y="93"/>
                        <a:pt x="107" y="93"/>
                      </a:cubicBezTo>
                      <a:cubicBezTo>
                        <a:pt x="105" y="93"/>
                        <a:pt x="104" y="92"/>
                        <a:pt x="103" y="91"/>
                      </a:cubicBezTo>
                      <a:cubicBezTo>
                        <a:pt x="67" y="127"/>
                        <a:pt x="67" y="127"/>
                        <a:pt x="67" y="127"/>
                      </a:cubicBezTo>
                      <a:cubicBezTo>
                        <a:pt x="66" y="127"/>
                        <a:pt x="65" y="128"/>
                        <a:pt x="64" y="128"/>
                      </a:cubicBezTo>
                      <a:cubicBezTo>
                        <a:pt x="14" y="141"/>
                        <a:pt x="14" y="141"/>
                        <a:pt x="14" y="141"/>
                      </a:cubicBezTo>
                      <a:cubicBezTo>
                        <a:pt x="13" y="141"/>
                        <a:pt x="13" y="141"/>
                        <a:pt x="12" y="141"/>
                      </a:cubicBezTo>
                      <a:close/>
                      <a:moveTo>
                        <a:pt x="23" y="119"/>
                      </a:moveTo>
                      <a:cubicBezTo>
                        <a:pt x="45" y="113"/>
                        <a:pt x="45" y="113"/>
                        <a:pt x="45" y="113"/>
                      </a:cubicBezTo>
                      <a:cubicBezTo>
                        <a:pt x="29" y="97"/>
                        <a:pt x="29" y="97"/>
                        <a:pt x="29" y="97"/>
                      </a:cubicBezTo>
                      <a:lnTo>
                        <a:pt x="23" y="1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7" name="Freeform 52">
                  <a:extLst>
                    <a:ext uri="{FF2B5EF4-FFF2-40B4-BE49-F238E27FC236}">
                      <a16:creationId xmlns:a16="http://schemas.microsoft.com/office/drawing/2014/main" id="{649182BA-B436-4199-B941-13F27B6A599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-145995" y="8701808"/>
                  <a:ext cx="787400" cy="573089"/>
                </a:xfrm>
                <a:custGeom>
                  <a:avLst/>
                  <a:gdLst>
                    <a:gd name="T0" fmla="*/ 98 w 210"/>
                    <a:gd name="T1" fmla="*/ 12 h 153"/>
                    <a:gd name="T2" fmla="*/ 105 w 210"/>
                    <a:gd name="T3" fmla="*/ 18 h 153"/>
                    <a:gd name="T4" fmla="*/ 37 w 210"/>
                    <a:gd name="T5" fmla="*/ 86 h 153"/>
                    <a:gd name="T6" fmla="*/ 43 w 210"/>
                    <a:gd name="T7" fmla="*/ 92 h 153"/>
                    <a:gd name="T8" fmla="*/ 110 w 210"/>
                    <a:gd name="T9" fmla="*/ 24 h 153"/>
                    <a:gd name="T10" fmla="*/ 118 w 210"/>
                    <a:gd name="T11" fmla="*/ 31 h 153"/>
                    <a:gd name="T12" fmla="*/ 50 w 210"/>
                    <a:gd name="T13" fmla="*/ 99 h 153"/>
                    <a:gd name="T14" fmla="*/ 55 w 210"/>
                    <a:gd name="T15" fmla="*/ 104 h 153"/>
                    <a:gd name="T16" fmla="*/ 123 w 210"/>
                    <a:gd name="T17" fmla="*/ 36 h 153"/>
                    <a:gd name="T18" fmla="*/ 130 w 210"/>
                    <a:gd name="T19" fmla="*/ 43 h 153"/>
                    <a:gd name="T20" fmla="*/ 62 w 210"/>
                    <a:gd name="T21" fmla="*/ 111 h 153"/>
                    <a:gd name="T22" fmla="*/ 68 w 210"/>
                    <a:gd name="T23" fmla="*/ 116 h 153"/>
                    <a:gd name="T24" fmla="*/ 135 w 210"/>
                    <a:gd name="T25" fmla="*/ 49 h 153"/>
                    <a:gd name="T26" fmla="*/ 142 w 210"/>
                    <a:gd name="T27" fmla="*/ 55 h 153"/>
                    <a:gd name="T28" fmla="*/ 115 w 210"/>
                    <a:gd name="T29" fmla="*/ 82 h 153"/>
                    <a:gd name="T30" fmla="*/ 198 w 210"/>
                    <a:gd name="T31" fmla="*/ 82 h 153"/>
                    <a:gd name="T32" fmla="*/ 198 w 210"/>
                    <a:gd name="T33" fmla="*/ 93 h 153"/>
                    <a:gd name="T34" fmla="*/ 113 w 210"/>
                    <a:gd name="T35" fmla="*/ 93 h 153"/>
                    <a:gd name="T36" fmla="*/ 113 w 210"/>
                    <a:gd name="T37" fmla="*/ 84 h 153"/>
                    <a:gd name="T38" fmla="*/ 69 w 210"/>
                    <a:gd name="T39" fmla="*/ 128 h 153"/>
                    <a:gd name="T40" fmla="*/ 18 w 210"/>
                    <a:gd name="T41" fmla="*/ 141 h 153"/>
                    <a:gd name="T42" fmla="*/ 13 w 210"/>
                    <a:gd name="T43" fmla="*/ 136 h 153"/>
                    <a:gd name="T44" fmla="*/ 26 w 210"/>
                    <a:gd name="T45" fmla="*/ 85 h 153"/>
                    <a:gd name="T46" fmla="*/ 98 w 210"/>
                    <a:gd name="T47" fmla="*/ 12 h 153"/>
                    <a:gd name="T48" fmla="*/ 21 w 210"/>
                    <a:gd name="T49" fmla="*/ 133 h 153"/>
                    <a:gd name="T50" fmla="*/ 62 w 210"/>
                    <a:gd name="T51" fmla="*/ 122 h 153"/>
                    <a:gd name="T52" fmla="*/ 32 w 210"/>
                    <a:gd name="T53" fmla="*/ 91 h 153"/>
                    <a:gd name="T54" fmla="*/ 21 w 210"/>
                    <a:gd name="T55" fmla="*/ 133 h 153"/>
                    <a:gd name="T56" fmla="*/ 98 w 210"/>
                    <a:gd name="T57" fmla="*/ 0 h 153"/>
                    <a:gd name="T58" fmla="*/ 98 w 210"/>
                    <a:gd name="T59" fmla="*/ 0 h 153"/>
                    <a:gd name="T60" fmla="*/ 90 w 210"/>
                    <a:gd name="T61" fmla="*/ 3 h 153"/>
                    <a:gd name="T62" fmla="*/ 17 w 210"/>
                    <a:gd name="T63" fmla="*/ 76 h 153"/>
                    <a:gd name="T64" fmla="*/ 14 w 210"/>
                    <a:gd name="T65" fmla="*/ 82 h 153"/>
                    <a:gd name="T66" fmla="*/ 1 w 210"/>
                    <a:gd name="T67" fmla="*/ 133 h 153"/>
                    <a:gd name="T68" fmla="*/ 4 w 210"/>
                    <a:gd name="T69" fmla="*/ 145 h 153"/>
                    <a:gd name="T70" fmla="*/ 10 w 210"/>
                    <a:gd name="T71" fmla="*/ 150 h 153"/>
                    <a:gd name="T72" fmla="*/ 18 w 210"/>
                    <a:gd name="T73" fmla="*/ 153 h 153"/>
                    <a:gd name="T74" fmla="*/ 21 w 210"/>
                    <a:gd name="T75" fmla="*/ 153 h 153"/>
                    <a:gd name="T76" fmla="*/ 72 w 210"/>
                    <a:gd name="T77" fmla="*/ 140 h 153"/>
                    <a:gd name="T78" fmla="*/ 77 w 210"/>
                    <a:gd name="T79" fmla="*/ 137 h 153"/>
                    <a:gd name="T80" fmla="*/ 109 w 210"/>
                    <a:gd name="T81" fmla="*/ 105 h 153"/>
                    <a:gd name="T82" fmla="*/ 113 w 210"/>
                    <a:gd name="T83" fmla="*/ 105 h 153"/>
                    <a:gd name="T84" fmla="*/ 198 w 210"/>
                    <a:gd name="T85" fmla="*/ 105 h 153"/>
                    <a:gd name="T86" fmla="*/ 210 w 210"/>
                    <a:gd name="T87" fmla="*/ 93 h 153"/>
                    <a:gd name="T88" fmla="*/ 210 w 210"/>
                    <a:gd name="T89" fmla="*/ 82 h 153"/>
                    <a:gd name="T90" fmla="*/ 198 w 210"/>
                    <a:gd name="T91" fmla="*/ 70 h 153"/>
                    <a:gd name="T92" fmla="*/ 144 w 210"/>
                    <a:gd name="T93" fmla="*/ 70 h 153"/>
                    <a:gd name="T94" fmla="*/ 150 w 210"/>
                    <a:gd name="T95" fmla="*/ 64 h 153"/>
                    <a:gd name="T96" fmla="*/ 154 w 210"/>
                    <a:gd name="T97" fmla="*/ 55 h 153"/>
                    <a:gd name="T98" fmla="*/ 150 w 210"/>
                    <a:gd name="T99" fmla="*/ 47 h 153"/>
                    <a:gd name="T100" fmla="*/ 144 w 210"/>
                    <a:gd name="T101" fmla="*/ 40 h 153"/>
                    <a:gd name="T102" fmla="*/ 140 w 210"/>
                    <a:gd name="T103" fmla="*/ 38 h 153"/>
                    <a:gd name="T104" fmla="*/ 138 w 210"/>
                    <a:gd name="T105" fmla="*/ 35 h 153"/>
                    <a:gd name="T106" fmla="*/ 131 w 210"/>
                    <a:gd name="T107" fmla="*/ 28 h 153"/>
                    <a:gd name="T108" fmla="*/ 128 w 210"/>
                    <a:gd name="T109" fmla="*/ 25 h 153"/>
                    <a:gd name="T110" fmla="*/ 126 w 210"/>
                    <a:gd name="T111" fmla="*/ 22 h 153"/>
                    <a:gd name="T112" fmla="*/ 119 w 210"/>
                    <a:gd name="T113" fmla="*/ 15 h 153"/>
                    <a:gd name="T114" fmla="*/ 116 w 210"/>
                    <a:gd name="T115" fmla="*/ 13 h 153"/>
                    <a:gd name="T116" fmla="*/ 113 w 210"/>
                    <a:gd name="T117" fmla="*/ 10 h 153"/>
                    <a:gd name="T118" fmla="*/ 107 w 210"/>
                    <a:gd name="T119" fmla="*/ 3 h 153"/>
                    <a:gd name="T120" fmla="*/ 98 w 210"/>
                    <a:gd name="T121" fmla="*/ 0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210" h="153">
                      <a:moveTo>
                        <a:pt x="98" y="12"/>
                      </a:moveTo>
                      <a:cubicBezTo>
                        <a:pt x="105" y="18"/>
                        <a:pt x="105" y="18"/>
                        <a:pt x="105" y="18"/>
                      </a:cubicBezTo>
                      <a:cubicBezTo>
                        <a:pt x="37" y="86"/>
                        <a:pt x="37" y="86"/>
                        <a:pt x="37" y="86"/>
                      </a:cubicBezTo>
                      <a:cubicBezTo>
                        <a:pt x="43" y="92"/>
                        <a:pt x="43" y="92"/>
                        <a:pt x="43" y="92"/>
                      </a:cubicBezTo>
                      <a:cubicBezTo>
                        <a:pt x="110" y="24"/>
                        <a:pt x="110" y="24"/>
                        <a:pt x="110" y="24"/>
                      </a:cubicBezTo>
                      <a:cubicBezTo>
                        <a:pt x="118" y="31"/>
                        <a:pt x="118" y="31"/>
                        <a:pt x="118" y="31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55" y="104"/>
                        <a:pt x="55" y="104"/>
                        <a:pt x="55" y="104"/>
                      </a:cubicBezTo>
                      <a:cubicBezTo>
                        <a:pt x="123" y="36"/>
                        <a:pt x="123" y="36"/>
                        <a:pt x="123" y="36"/>
                      </a:cubicBezTo>
                      <a:cubicBezTo>
                        <a:pt x="130" y="43"/>
                        <a:pt x="130" y="43"/>
                        <a:pt x="130" y="43"/>
                      </a:cubicBezTo>
                      <a:cubicBezTo>
                        <a:pt x="62" y="111"/>
                        <a:pt x="62" y="111"/>
                        <a:pt x="62" y="111"/>
                      </a:cubicBezTo>
                      <a:cubicBezTo>
                        <a:pt x="68" y="116"/>
                        <a:pt x="68" y="116"/>
                        <a:pt x="68" y="116"/>
                      </a:cubicBezTo>
                      <a:cubicBezTo>
                        <a:pt x="135" y="49"/>
                        <a:pt x="135" y="49"/>
                        <a:pt x="135" y="49"/>
                      </a:cubicBezTo>
                      <a:cubicBezTo>
                        <a:pt x="142" y="55"/>
                        <a:pt x="142" y="55"/>
                        <a:pt x="142" y="55"/>
                      </a:cubicBezTo>
                      <a:cubicBezTo>
                        <a:pt x="115" y="82"/>
                        <a:pt x="115" y="82"/>
                        <a:pt x="115" y="82"/>
                      </a:cubicBezTo>
                      <a:cubicBezTo>
                        <a:pt x="198" y="82"/>
                        <a:pt x="198" y="82"/>
                        <a:pt x="198" y="82"/>
                      </a:cubicBezTo>
                      <a:cubicBezTo>
                        <a:pt x="198" y="93"/>
                        <a:pt x="198" y="93"/>
                        <a:pt x="198" y="93"/>
                      </a:cubicBezTo>
                      <a:cubicBezTo>
                        <a:pt x="113" y="93"/>
                        <a:pt x="113" y="93"/>
                        <a:pt x="113" y="93"/>
                      </a:cubicBezTo>
                      <a:cubicBezTo>
                        <a:pt x="113" y="84"/>
                        <a:pt x="113" y="84"/>
                        <a:pt x="113" y="84"/>
                      </a:cubicBezTo>
                      <a:cubicBezTo>
                        <a:pt x="69" y="128"/>
                        <a:pt x="69" y="128"/>
                        <a:pt x="69" y="128"/>
                      </a:cubicBezTo>
                      <a:cubicBezTo>
                        <a:pt x="18" y="141"/>
                        <a:pt x="18" y="141"/>
                        <a:pt x="18" y="141"/>
                      </a:cubicBezTo>
                      <a:cubicBezTo>
                        <a:pt x="13" y="136"/>
                        <a:pt x="13" y="136"/>
                        <a:pt x="13" y="136"/>
                      </a:cubicBezTo>
                      <a:cubicBezTo>
                        <a:pt x="26" y="85"/>
                        <a:pt x="26" y="85"/>
                        <a:pt x="26" y="85"/>
                      </a:cubicBezTo>
                      <a:cubicBezTo>
                        <a:pt x="98" y="12"/>
                        <a:pt x="98" y="12"/>
                        <a:pt x="98" y="12"/>
                      </a:cubicBezTo>
                      <a:moveTo>
                        <a:pt x="21" y="133"/>
                      </a:moveTo>
                      <a:cubicBezTo>
                        <a:pt x="62" y="122"/>
                        <a:pt x="62" y="122"/>
                        <a:pt x="62" y="122"/>
                      </a:cubicBezTo>
                      <a:cubicBezTo>
                        <a:pt x="32" y="91"/>
                        <a:pt x="32" y="91"/>
                        <a:pt x="32" y="91"/>
                      </a:cubicBezTo>
                      <a:cubicBezTo>
                        <a:pt x="21" y="133"/>
                        <a:pt x="21" y="133"/>
                        <a:pt x="21" y="133"/>
                      </a:cubicBezTo>
                      <a:moveTo>
                        <a:pt x="98" y="0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5" y="0"/>
                        <a:pt x="92" y="1"/>
                        <a:pt x="90" y="3"/>
                      </a:cubicBezTo>
                      <a:cubicBezTo>
                        <a:pt x="17" y="76"/>
                        <a:pt x="17" y="76"/>
                        <a:pt x="17" y="76"/>
                      </a:cubicBezTo>
                      <a:cubicBezTo>
                        <a:pt x="16" y="78"/>
                        <a:pt x="15" y="80"/>
                        <a:pt x="14" y="82"/>
                      </a:cubicBezTo>
                      <a:cubicBezTo>
                        <a:pt x="1" y="133"/>
                        <a:pt x="1" y="133"/>
                        <a:pt x="1" y="133"/>
                      </a:cubicBezTo>
                      <a:cubicBezTo>
                        <a:pt x="0" y="137"/>
                        <a:pt x="1" y="142"/>
                        <a:pt x="4" y="145"/>
                      </a:cubicBezTo>
                      <a:cubicBezTo>
                        <a:pt x="10" y="150"/>
                        <a:pt x="10" y="150"/>
                        <a:pt x="10" y="150"/>
                      </a:cubicBezTo>
                      <a:cubicBezTo>
                        <a:pt x="12" y="152"/>
                        <a:pt x="15" y="153"/>
                        <a:pt x="18" y="153"/>
                      </a:cubicBezTo>
                      <a:cubicBezTo>
                        <a:pt x="19" y="153"/>
                        <a:pt x="20" y="153"/>
                        <a:pt x="21" y="153"/>
                      </a:cubicBezTo>
                      <a:cubicBezTo>
                        <a:pt x="72" y="140"/>
                        <a:pt x="72" y="140"/>
                        <a:pt x="72" y="140"/>
                      </a:cubicBezTo>
                      <a:cubicBezTo>
                        <a:pt x="74" y="140"/>
                        <a:pt x="76" y="138"/>
                        <a:pt x="77" y="137"/>
                      </a:cubicBezTo>
                      <a:cubicBezTo>
                        <a:pt x="109" y="105"/>
                        <a:pt x="109" y="105"/>
                        <a:pt x="109" y="105"/>
                      </a:cubicBezTo>
                      <a:cubicBezTo>
                        <a:pt x="111" y="105"/>
                        <a:pt x="112" y="105"/>
                        <a:pt x="113" y="105"/>
                      </a:cubicBezTo>
                      <a:cubicBezTo>
                        <a:pt x="198" y="105"/>
                        <a:pt x="198" y="105"/>
                        <a:pt x="198" y="105"/>
                      </a:cubicBezTo>
                      <a:cubicBezTo>
                        <a:pt x="205" y="105"/>
                        <a:pt x="210" y="100"/>
                        <a:pt x="210" y="93"/>
                      </a:cubicBezTo>
                      <a:cubicBezTo>
                        <a:pt x="210" y="82"/>
                        <a:pt x="210" y="82"/>
                        <a:pt x="210" y="82"/>
                      </a:cubicBezTo>
                      <a:cubicBezTo>
                        <a:pt x="210" y="75"/>
                        <a:pt x="205" y="70"/>
                        <a:pt x="198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50" y="64"/>
                        <a:pt x="150" y="64"/>
                        <a:pt x="150" y="64"/>
                      </a:cubicBezTo>
                      <a:cubicBezTo>
                        <a:pt x="153" y="61"/>
                        <a:pt x="154" y="58"/>
                        <a:pt x="154" y="55"/>
                      </a:cubicBezTo>
                      <a:cubicBezTo>
                        <a:pt x="154" y="52"/>
                        <a:pt x="152" y="49"/>
                        <a:pt x="150" y="47"/>
                      </a:cubicBezTo>
                      <a:cubicBezTo>
                        <a:pt x="144" y="40"/>
                        <a:pt x="144" y="40"/>
                        <a:pt x="144" y="40"/>
                      </a:cubicBezTo>
                      <a:cubicBezTo>
                        <a:pt x="143" y="39"/>
                        <a:pt x="142" y="39"/>
                        <a:pt x="140" y="38"/>
                      </a:cubicBezTo>
                      <a:cubicBezTo>
                        <a:pt x="140" y="37"/>
                        <a:pt x="139" y="36"/>
                        <a:pt x="138" y="35"/>
                      </a:cubicBezTo>
                      <a:cubicBezTo>
                        <a:pt x="131" y="28"/>
                        <a:pt x="131" y="28"/>
                        <a:pt x="131" y="28"/>
                      </a:cubicBezTo>
                      <a:cubicBezTo>
                        <a:pt x="131" y="27"/>
                        <a:pt x="129" y="26"/>
                        <a:pt x="128" y="25"/>
                      </a:cubicBezTo>
                      <a:cubicBezTo>
                        <a:pt x="128" y="24"/>
                        <a:pt x="127" y="23"/>
                        <a:pt x="126" y="22"/>
                      </a:cubicBezTo>
                      <a:cubicBezTo>
                        <a:pt x="119" y="15"/>
                        <a:pt x="119" y="15"/>
                        <a:pt x="119" y="15"/>
                      </a:cubicBezTo>
                      <a:cubicBezTo>
                        <a:pt x="118" y="14"/>
                        <a:pt x="117" y="13"/>
                        <a:pt x="116" y="13"/>
                      </a:cubicBezTo>
                      <a:cubicBezTo>
                        <a:pt x="115" y="12"/>
                        <a:pt x="114" y="10"/>
                        <a:pt x="113" y="10"/>
                      </a:cubicBezTo>
                      <a:cubicBezTo>
                        <a:pt x="107" y="3"/>
                        <a:pt x="107" y="3"/>
                        <a:pt x="107" y="3"/>
                      </a:cubicBezTo>
                      <a:cubicBezTo>
                        <a:pt x="105" y="1"/>
                        <a:pt x="102" y="0"/>
                        <a:pt x="98" y="0"/>
                      </a:cubicBezTo>
                      <a:close/>
                    </a:path>
                  </a:pathLst>
                </a:custGeom>
                <a:solidFill>
                  <a:srgbClr val="0072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8" name="Rectangle 53">
                  <a:extLst>
                    <a:ext uri="{FF2B5EF4-FFF2-40B4-BE49-F238E27FC236}">
                      <a16:creationId xmlns:a16="http://schemas.microsoft.com/office/drawing/2014/main" id="{9E1484E5-C671-4C11-A0A5-CBD5FB86D5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7868" y="9084396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9" name="Rectangle 54">
                  <a:extLst>
                    <a:ext uri="{FF2B5EF4-FFF2-40B4-BE49-F238E27FC236}">
                      <a16:creationId xmlns:a16="http://schemas.microsoft.com/office/drawing/2014/main" id="{ED5D5841-21E0-4E2A-9F3E-7E189E0D75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7868" y="9159009"/>
                  <a:ext cx="319088" cy="444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0" name="Freeform 55">
                  <a:extLst>
                    <a:ext uri="{FF2B5EF4-FFF2-40B4-BE49-F238E27FC236}">
                      <a16:creationId xmlns:a16="http://schemas.microsoft.com/office/drawing/2014/main" id="{9ECBAF2B-0715-43F6-976B-56F2C2FDB8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9768" y="8674820"/>
                  <a:ext cx="217488" cy="214313"/>
                </a:xfrm>
                <a:custGeom>
                  <a:avLst/>
                  <a:gdLst>
                    <a:gd name="T0" fmla="*/ 55 w 58"/>
                    <a:gd name="T1" fmla="*/ 46 h 57"/>
                    <a:gd name="T2" fmla="*/ 55 w 58"/>
                    <a:gd name="T3" fmla="*/ 37 h 57"/>
                    <a:gd name="T4" fmla="*/ 21 w 58"/>
                    <a:gd name="T5" fmla="*/ 2 h 57"/>
                    <a:gd name="T6" fmla="*/ 12 w 58"/>
                    <a:gd name="T7" fmla="*/ 2 h 57"/>
                    <a:gd name="T8" fmla="*/ 0 w 58"/>
                    <a:gd name="T9" fmla="*/ 14 h 57"/>
                    <a:gd name="T10" fmla="*/ 44 w 58"/>
                    <a:gd name="T11" fmla="*/ 57 h 57"/>
                    <a:gd name="T12" fmla="*/ 55 w 58"/>
                    <a:gd name="T13" fmla="*/ 46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8" h="57">
                      <a:moveTo>
                        <a:pt x="55" y="46"/>
                      </a:moveTo>
                      <a:cubicBezTo>
                        <a:pt x="58" y="43"/>
                        <a:pt x="58" y="39"/>
                        <a:pt x="55" y="37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18" y="0"/>
                        <a:pt x="14" y="0"/>
                        <a:pt x="12" y="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5" y="46"/>
                        <a:pt x="55" y="46"/>
                        <a:pt x="55" y="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1" name="Freeform 56">
                  <a:extLst>
                    <a:ext uri="{FF2B5EF4-FFF2-40B4-BE49-F238E27FC236}">
                      <a16:creationId xmlns:a16="http://schemas.microsoft.com/office/drawing/2014/main" id="{492ADF39-B109-4A90-9FF1-DDE02BF57B9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-96782" y="8746258"/>
                  <a:ext cx="693738" cy="484189"/>
                </a:xfrm>
                <a:custGeom>
                  <a:avLst/>
                  <a:gdLst>
                    <a:gd name="T0" fmla="*/ 241 w 437"/>
                    <a:gd name="T1" fmla="*/ 166 h 305"/>
                    <a:gd name="T2" fmla="*/ 305 w 437"/>
                    <a:gd name="T3" fmla="*/ 102 h 305"/>
                    <a:gd name="T4" fmla="*/ 288 w 437"/>
                    <a:gd name="T5" fmla="*/ 88 h 305"/>
                    <a:gd name="T6" fmla="*/ 130 w 437"/>
                    <a:gd name="T7" fmla="*/ 246 h 305"/>
                    <a:gd name="T8" fmla="*/ 116 w 437"/>
                    <a:gd name="T9" fmla="*/ 234 h 305"/>
                    <a:gd name="T10" fmla="*/ 276 w 437"/>
                    <a:gd name="T11" fmla="*/ 74 h 305"/>
                    <a:gd name="T12" fmla="*/ 260 w 437"/>
                    <a:gd name="T13" fmla="*/ 57 h 305"/>
                    <a:gd name="T14" fmla="*/ 99 w 437"/>
                    <a:gd name="T15" fmla="*/ 218 h 305"/>
                    <a:gd name="T16" fmla="*/ 87 w 437"/>
                    <a:gd name="T17" fmla="*/ 206 h 305"/>
                    <a:gd name="T18" fmla="*/ 248 w 437"/>
                    <a:gd name="T19" fmla="*/ 45 h 305"/>
                    <a:gd name="T20" fmla="*/ 229 w 437"/>
                    <a:gd name="T21" fmla="*/ 29 h 305"/>
                    <a:gd name="T22" fmla="*/ 71 w 437"/>
                    <a:gd name="T23" fmla="*/ 189 h 305"/>
                    <a:gd name="T24" fmla="*/ 56 w 437"/>
                    <a:gd name="T25" fmla="*/ 175 h 305"/>
                    <a:gd name="T26" fmla="*/ 217 w 437"/>
                    <a:gd name="T27" fmla="*/ 14 h 305"/>
                    <a:gd name="T28" fmla="*/ 201 w 437"/>
                    <a:gd name="T29" fmla="*/ 0 h 305"/>
                    <a:gd name="T30" fmla="*/ 30 w 437"/>
                    <a:gd name="T31" fmla="*/ 173 h 305"/>
                    <a:gd name="T32" fmla="*/ 0 w 437"/>
                    <a:gd name="T33" fmla="*/ 293 h 305"/>
                    <a:gd name="T34" fmla="*/ 12 w 437"/>
                    <a:gd name="T35" fmla="*/ 305 h 305"/>
                    <a:gd name="T36" fmla="*/ 132 w 437"/>
                    <a:gd name="T37" fmla="*/ 274 h 305"/>
                    <a:gd name="T38" fmla="*/ 236 w 437"/>
                    <a:gd name="T39" fmla="*/ 170 h 305"/>
                    <a:gd name="T40" fmla="*/ 236 w 437"/>
                    <a:gd name="T41" fmla="*/ 192 h 305"/>
                    <a:gd name="T42" fmla="*/ 437 w 437"/>
                    <a:gd name="T43" fmla="*/ 192 h 305"/>
                    <a:gd name="T44" fmla="*/ 437 w 437"/>
                    <a:gd name="T45" fmla="*/ 166 h 305"/>
                    <a:gd name="T46" fmla="*/ 241 w 437"/>
                    <a:gd name="T47" fmla="*/ 166 h 305"/>
                    <a:gd name="T48" fmla="*/ 19 w 437"/>
                    <a:gd name="T49" fmla="*/ 286 h 305"/>
                    <a:gd name="T50" fmla="*/ 45 w 437"/>
                    <a:gd name="T51" fmla="*/ 187 h 305"/>
                    <a:gd name="T52" fmla="*/ 116 w 437"/>
                    <a:gd name="T53" fmla="*/ 260 h 305"/>
                    <a:gd name="T54" fmla="*/ 19 w 437"/>
                    <a:gd name="T55" fmla="*/ 286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37" h="305">
                      <a:moveTo>
                        <a:pt x="241" y="166"/>
                      </a:moveTo>
                      <a:lnTo>
                        <a:pt x="305" y="102"/>
                      </a:lnTo>
                      <a:lnTo>
                        <a:pt x="288" y="88"/>
                      </a:lnTo>
                      <a:lnTo>
                        <a:pt x="130" y="246"/>
                      </a:lnTo>
                      <a:lnTo>
                        <a:pt x="116" y="234"/>
                      </a:lnTo>
                      <a:lnTo>
                        <a:pt x="276" y="74"/>
                      </a:lnTo>
                      <a:lnTo>
                        <a:pt x="260" y="57"/>
                      </a:lnTo>
                      <a:lnTo>
                        <a:pt x="99" y="218"/>
                      </a:lnTo>
                      <a:lnTo>
                        <a:pt x="87" y="206"/>
                      </a:lnTo>
                      <a:lnTo>
                        <a:pt x="248" y="45"/>
                      </a:lnTo>
                      <a:lnTo>
                        <a:pt x="229" y="29"/>
                      </a:lnTo>
                      <a:lnTo>
                        <a:pt x="71" y="189"/>
                      </a:lnTo>
                      <a:lnTo>
                        <a:pt x="56" y="175"/>
                      </a:lnTo>
                      <a:lnTo>
                        <a:pt x="217" y="14"/>
                      </a:lnTo>
                      <a:lnTo>
                        <a:pt x="201" y="0"/>
                      </a:lnTo>
                      <a:lnTo>
                        <a:pt x="30" y="173"/>
                      </a:lnTo>
                      <a:lnTo>
                        <a:pt x="0" y="293"/>
                      </a:lnTo>
                      <a:lnTo>
                        <a:pt x="12" y="305"/>
                      </a:lnTo>
                      <a:lnTo>
                        <a:pt x="132" y="274"/>
                      </a:lnTo>
                      <a:lnTo>
                        <a:pt x="236" y="170"/>
                      </a:lnTo>
                      <a:lnTo>
                        <a:pt x="236" y="192"/>
                      </a:lnTo>
                      <a:lnTo>
                        <a:pt x="437" y="192"/>
                      </a:lnTo>
                      <a:lnTo>
                        <a:pt x="437" y="166"/>
                      </a:lnTo>
                      <a:lnTo>
                        <a:pt x="241" y="166"/>
                      </a:lnTo>
                      <a:close/>
                      <a:moveTo>
                        <a:pt x="19" y="286"/>
                      </a:moveTo>
                      <a:lnTo>
                        <a:pt x="45" y="187"/>
                      </a:lnTo>
                      <a:lnTo>
                        <a:pt x="116" y="260"/>
                      </a:lnTo>
                      <a:lnTo>
                        <a:pt x="19" y="2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86AE78-274B-46C8-BB25-9DB60F3DB24E}"/>
                  </a:ext>
                </a:extLst>
              </p:cNvPr>
              <p:cNvSpPr txBox="1"/>
              <p:nvPr/>
            </p:nvSpPr>
            <p:spPr>
              <a:xfrm>
                <a:off x="932119" y="8712046"/>
                <a:ext cx="2613557" cy="800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vi-VN" sz="46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Định </a:t>
                </a:r>
                <a:r>
                  <a:rPr lang="en-US" sz="4600" b="1" dirty="0" err="1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lý</a:t>
                </a:r>
                <a:r>
                  <a:rPr lang="en-US" sz="46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17259" y="3513556"/>
                <a:ext cx="22326600" cy="3246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Cho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𝐌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400" b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sz="4400" b="1">
                            <a:latin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400" b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400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thẳng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𝚫</m:t>
                    </m:r>
                    <m:r>
                      <a:rPr lang="en-US" sz="4400" b="1">
                        <a:latin typeface="Cambria Math"/>
                      </a:rPr>
                      <m:t>:</m:t>
                    </m:r>
                    <m:r>
                      <a:rPr lang="en-US" sz="4400" b="1" i="1">
                        <a:latin typeface="Cambria Math"/>
                      </a:rPr>
                      <m:t>𝐚𝐱</m:t>
                    </m:r>
                    <m:r>
                      <a:rPr lang="en-US" sz="4400" b="1">
                        <a:latin typeface="Cambria Math"/>
                      </a:rPr>
                      <m:t>+</m:t>
                    </m:r>
                    <m:r>
                      <a:rPr lang="en-US" sz="4400" b="1" i="1">
                        <a:latin typeface="Cambria Math"/>
                      </a:rPr>
                      <m:t>𝐛𝐲</m:t>
                    </m:r>
                    <m:r>
                      <a:rPr lang="en-US" sz="4400" b="1">
                        <a:latin typeface="Cambria Math"/>
                      </a:rPr>
                      <m:t>+</m:t>
                    </m:r>
                    <m:r>
                      <a:rPr lang="en-US" sz="4400" b="1" i="1">
                        <a:latin typeface="Cambria Math"/>
                      </a:rPr>
                      <m:t>𝐜</m:t>
                    </m:r>
                    <m:r>
                      <a:rPr lang="en-US" sz="4400" b="1">
                        <a:latin typeface="Cambria Math"/>
                      </a:rPr>
                      <m:t>=</m:t>
                    </m:r>
                    <m:r>
                      <a:rPr lang="en-US" sz="4400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sz="4400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điểm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𝐌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𝚫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kí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hiệu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𝒅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𝑴</m:t>
                        </m:r>
                        <m:r>
                          <a:rPr lang="en-US" sz="4400" b="1">
                            <a:latin typeface="Cambria Math"/>
                          </a:rPr>
                          <m:t>,</m:t>
                        </m:r>
                        <m:r>
                          <a:rPr lang="en-US" sz="4400" b="1" i="0">
                            <a:latin typeface="Cambria Math"/>
                          </a:rPr>
                          <m:t>𝚫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được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bởi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công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thức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>
                          <a:latin typeface="Cambria Math"/>
                        </a:rPr>
                        <m:t>𝒅</m:t>
                      </m:r>
                      <m:d>
                        <m:dPr>
                          <m:ctrlPr>
                            <a:rPr lang="vi-VN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latin typeface="Cambria Math"/>
                            </a:rPr>
                            <m:t>𝑴</m:t>
                          </m:r>
                          <m:r>
                            <a:rPr lang="en-US" sz="4400" b="1">
                              <a:latin typeface="Cambria Math"/>
                            </a:rPr>
                            <m:t>,</m:t>
                          </m:r>
                          <m:r>
                            <a:rPr lang="en-US" sz="4400" b="1" i="0">
                              <a:latin typeface="Cambria Math"/>
                            </a:rPr>
                            <m:t>𝚫</m:t>
                          </m:r>
                        </m:e>
                      </m:d>
                      <m:r>
                        <a:rPr lang="en-US" sz="4400" b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vi-VN" sz="4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vi-VN" sz="4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1" i="1">
                                  <a:latin typeface="Cambria Math"/>
                                </a:rPr>
                                <m:t>𝐚</m:t>
                              </m:r>
                              <m:sSub>
                                <m:sSubPr>
                                  <m:ctrlPr>
                                    <a:rPr lang="vi-VN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4400" b="1">
                                      <a:latin typeface="Cambria Math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4400" b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𝐛</m:t>
                              </m:r>
                              <m:sSub>
                                <m:sSubPr>
                                  <m:ctrlPr>
                                    <a:rPr lang="vi-VN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4400" b="1">
                                      <a:latin typeface="Cambria Math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4400" b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𝒄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vi-VN" sz="4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400" b="1" i="1">
                                      <a:latin typeface="Cambria Math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sz="4400" b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4400" b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vi-VN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400" b="1" i="1">
                                      <a:latin typeface="Cambria Math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sz="4400" b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59" y="3513556"/>
                <a:ext cx="22326600" cy="3246081"/>
              </a:xfrm>
              <a:prstGeom prst="rect">
                <a:avLst/>
              </a:prstGeom>
              <a:blipFill>
                <a:blip r:embed="rId2"/>
                <a:stretch>
                  <a:fillRect l="-1092" t="-4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289977" y="7362532"/>
            <a:ext cx="3646813" cy="781490"/>
            <a:chOff x="22440" y="59287"/>
            <a:chExt cx="904259" cy="162247"/>
          </a:xfrm>
        </p:grpSpPr>
        <p:grpSp>
          <p:nvGrpSpPr>
            <p:cNvPr id="24" name="Group 23"/>
            <p:cNvGrpSpPr/>
            <p:nvPr/>
          </p:nvGrpSpPr>
          <p:grpSpPr>
            <a:xfrm>
              <a:off x="22440" y="59287"/>
              <a:ext cx="904259" cy="159855"/>
              <a:chOff x="31572" y="60276"/>
              <a:chExt cx="1272308" cy="197828"/>
            </a:xfrm>
          </p:grpSpPr>
          <p:sp>
            <p:nvSpPr>
              <p:cNvPr id="26" name="Arrow: Pentagon 25"/>
              <p:cNvSpPr/>
              <p:nvPr/>
            </p:nvSpPr>
            <p:spPr>
              <a:xfrm>
                <a:off x="280265" y="62042"/>
                <a:ext cx="1023615" cy="196062"/>
              </a:xfrm>
              <a:prstGeom prst="homePlat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vi-VN" sz="4400" b="1" kern="1200">
                    <a:solidFill>
                      <a:srgbClr val="0000CC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vi-VN" sz="4400">
                  <a:effectLst/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27" name="Arrow: Chevron 26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28" name="Arrow: Chevron 27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sp>
          <p:nvSpPr>
            <p:cNvPr id="25" name="TextBox 56"/>
            <p:cNvSpPr txBox="1"/>
            <p:nvPr/>
          </p:nvSpPr>
          <p:spPr>
            <a:xfrm>
              <a:off x="248025" y="60714"/>
              <a:ext cx="629840" cy="1608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400" b="1" kern="1200" dirty="0" err="1">
                  <a:solidFill>
                    <a:schemeClr val="bg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Ví</a:t>
              </a:r>
              <a:r>
                <a:rPr lang="en-US" sz="4400" b="1" kern="1200" dirty="0">
                  <a:solidFill>
                    <a:schemeClr val="bg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kern="1200" dirty="0" err="1">
                  <a:solidFill>
                    <a:schemeClr val="bg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dụ</a:t>
              </a:r>
              <a:r>
                <a:rPr lang="en-US" sz="4400" b="1" kern="1200" dirty="0">
                  <a:solidFill>
                    <a:schemeClr val="bg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4</a:t>
              </a:r>
              <a:endParaRPr lang="vi-VN" sz="4400" dirty="0">
                <a:solidFill>
                  <a:schemeClr val="bg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4038182" y="7374581"/>
                <a:ext cx="20879217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𝑴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𝟐</m:t>
                        </m:r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r>
                          <a:rPr lang="en-US" sz="4400" b="1" i="1">
                            <a:latin typeface="Cambria Math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400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thẳng </a:t>
                </a:r>
                <a14:m>
                  <m:oMath xmlns:m="http://schemas.openxmlformats.org/officeDocument/2006/math">
                    <m:r>
                      <a:rPr lang="en-US" sz="4400" b="1" i="0">
                        <a:latin typeface="Cambria Math"/>
                      </a:rPr>
                      <m:t>𝚫</m:t>
                    </m:r>
                    <m:r>
                      <a:rPr lang="en-US" sz="4400" b="1" i="1">
                        <a:latin typeface="Cambria Math"/>
                      </a:rPr>
                      <m:t>:</m:t>
                    </m:r>
                    <m:r>
                      <a:rPr lang="en-US" sz="4400" b="1" i="1">
                        <a:latin typeface="Cambria Math"/>
                      </a:rPr>
                      <m:t>𝟑</m:t>
                    </m:r>
                    <m:r>
                      <a:rPr lang="en-US" sz="4400" b="1" i="1">
                        <a:latin typeface="Cambria Math"/>
                      </a:rPr>
                      <m:t>𝒙</m:t>
                    </m:r>
                    <m:r>
                      <a:rPr lang="en-US" sz="4400" b="1" i="1">
                        <a:latin typeface="Cambria Math"/>
                      </a:rPr>
                      <m:t>+</m:t>
                    </m:r>
                    <m:r>
                      <a:rPr lang="en-US" sz="4400" b="1" i="1">
                        <a:latin typeface="Cambria Math"/>
                      </a:rPr>
                      <m:t>𝟒</m:t>
                    </m:r>
                    <m:r>
                      <a:rPr lang="en-US" sz="4400" b="1" i="1">
                        <a:latin typeface="Cambria Math"/>
                      </a:rPr>
                      <m:t>𝒚</m:t>
                    </m:r>
                    <m:r>
                      <a:rPr lang="en-US" sz="4400" b="1" i="1">
                        <a:latin typeface="Cambria Math"/>
                      </a:rPr>
                      <m:t>−</m:t>
                    </m:r>
                    <m:r>
                      <a:rPr lang="en-US" sz="4400" b="1" i="1">
                        <a:latin typeface="Cambria Math"/>
                      </a:rPr>
                      <m:t>𝟏𝟐</m:t>
                    </m:r>
                    <m:r>
                      <a:rPr lang="en-US" sz="4400" b="1" i="1">
                        <a:latin typeface="Cambria Math"/>
                      </a:rPr>
                      <m:t>=</m:t>
                    </m:r>
                    <m:r>
                      <a:rPr lang="en-US" sz="4400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182" y="7374581"/>
                <a:ext cx="20879217" cy="769441"/>
              </a:xfrm>
              <a:prstGeom prst="rect">
                <a:avLst/>
              </a:prstGeom>
              <a:blipFill>
                <a:blip r:embed="rId3"/>
                <a:stretch>
                  <a:fillRect l="-1168" t="-17460" b="-36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632D72AE-CF12-4132-8748-575DDDBFDE31}"/>
              </a:ext>
            </a:extLst>
          </p:cNvPr>
          <p:cNvSpPr txBox="1"/>
          <p:nvPr/>
        </p:nvSpPr>
        <p:spPr>
          <a:xfrm>
            <a:off x="945571" y="8667015"/>
            <a:ext cx="26484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 giải:</a:t>
            </a:r>
            <a:endParaRPr lang="en-US" sz="4400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6553200" y="10411326"/>
                <a:ext cx="9049626" cy="12422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𝒅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𝑴</m:t>
                        </m:r>
                        <m:r>
                          <a:rPr lang="en-US" sz="4400" b="1" i="1">
                            <a:latin typeface="Cambria Math"/>
                          </a:rPr>
                          <m:t>,</m:t>
                        </m:r>
                        <m:r>
                          <a:rPr lang="en-US" sz="4400" b="1" i="0">
                            <a:latin typeface="Cambria Math"/>
                          </a:rPr>
                          <m:t>𝚫</m:t>
                        </m:r>
                      </m:e>
                    </m:d>
                    <m:r>
                      <a:rPr lang="en-US" sz="4400" b="1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1" i="1">
                                <a:latin typeface="Cambria Math"/>
                              </a:rPr>
                              <m:t>𝟑</m:t>
                            </m:r>
                            <m:r>
                              <a:rPr lang="en-US" sz="4400" b="1" i="1">
                                <a:latin typeface="Cambria Math"/>
                              </a:rPr>
                              <m:t>.</m:t>
                            </m:r>
                            <m:r>
                              <a:rPr lang="en-US" sz="4400" b="1" i="1">
                                <a:latin typeface="Cambria Math"/>
                              </a:rPr>
                              <m:t>𝟐</m:t>
                            </m:r>
                            <m:r>
                              <a:rPr lang="en-US" sz="4400" b="1" i="1">
                                <a:latin typeface="Cambria Math"/>
                              </a:rPr>
                              <m:t>+</m:t>
                            </m:r>
                            <m:r>
                              <a:rPr lang="en-US" sz="4400" b="1" i="1">
                                <a:latin typeface="Cambria Math"/>
                              </a:rPr>
                              <m:t>𝟒</m:t>
                            </m:r>
                            <m:r>
                              <a:rPr lang="en-US" sz="4400" b="1" i="1">
                                <a:latin typeface="Cambria Math"/>
                              </a:rPr>
                              <m:t>.</m:t>
                            </m:r>
                            <m:r>
                              <a:rPr lang="en-US" sz="4400" b="1" i="1">
                                <a:latin typeface="Cambria Math"/>
                              </a:rPr>
                              <m:t>𝟒</m:t>
                            </m:r>
                            <m:r>
                              <a:rPr lang="en-US" sz="4400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4400" b="1" i="1">
                                <a:latin typeface="Cambria Math"/>
                              </a:rPr>
                              <m:t>𝟏𝟐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vi-VN" sz="4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1" i="1">
                                    <a:latin typeface="Cambria Math"/>
                                  </a:rPr>
                                  <m:t>𝟑</m:t>
                                </m:r>
                              </m:e>
                              <m:sup>
                                <m:r>
                                  <a:rPr lang="en-US" sz="4400" b="1" i="1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4400" b="1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vi-VN" sz="4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1" i="1">
                                    <a:latin typeface="Cambria Math"/>
                                  </a:rPr>
                                  <m:t>𝟒</m:t>
                                </m:r>
                              </m:e>
                              <m:sup>
                                <m:r>
                                  <a:rPr lang="en-US" sz="4400" b="1" i="1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4400" b="1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/>
                          </a:rPr>
                          <m:t>𝟏𝟎</m:t>
                        </m:r>
                      </m:num>
                      <m:den>
                        <m:r>
                          <a:rPr lang="en-US" sz="4400" b="1" i="1">
                            <a:latin typeface="Cambria Math"/>
                          </a:rPr>
                          <m:t>𝟓</m:t>
                        </m:r>
                      </m:den>
                    </m:f>
                    <m:r>
                      <a:rPr lang="en-US" sz="4400" b="1" i="1">
                        <a:latin typeface="Cambria Math"/>
                      </a:rPr>
                      <m:t>=</m:t>
                    </m:r>
                    <m:r>
                      <a:rPr lang="en-US" sz="4400" b="1" i="1">
                        <a:latin typeface="Cambria Math"/>
                      </a:rPr>
                      <m:t>𝟐</m:t>
                    </m:r>
                  </m:oMath>
                </a14:m>
                <a:r>
                  <a:rPr lang="en-US" sz="4400" dirty="0"/>
                  <a:t>.</a:t>
                </a:r>
                <a:endParaRPr lang="vi-VN" sz="44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10411326"/>
                <a:ext cx="9049626" cy="12422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848036" y="9388558"/>
                <a:ext cx="20773964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Áp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dụng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thức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ta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036" y="9388558"/>
                <a:ext cx="20773964" cy="754053"/>
              </a:xfrm>
              <a:prstGeom prst="rect">
                <a:avLst/>
              </a:prstGeom>
              <a:blipFill>
                <a:blip r:embed="rId5"/>
                <a:stretch>
                  <a:fillRect l="-1144" t="-16935" b="-36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2914210" y="12055930"/>
                <a:ext cx="15084579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Vậy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sz="4400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điểm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𝑴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𝟐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210" y="12055930"/>
                <a:ext cx="15084579" cy="769441"/>
              </a:xfrm>
              <a:prstGeom prst="rect">
                <a:avLst/>
              </a:prstGeom>
              <a:blipFill>
                <a:blip r:embed="rId6"/>
                <a:stretch>
                  <a:fillRect l="-1616" t="-17460" b="-36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19566"/>
            <a:ext cx="20269200" cy="939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rgbClr val="0066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3. KHOẢNG CÁCH TỪ MỘT ĐIỂM ĐẾN MỘT ĐƯỜNG THẲNG</a:t>
            </a:r>
            <a:endParaRPr lang="en-US" b="1" dirty="0">
              <a:solidFill>
                <a:srgbClr val="0066CC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5953869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5" grpId="0"/>
      <p:bldP spid="36" grpId="0"/>
      <p:bldP spid="3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/>
          <p:cNvGrpSpPr/>
          <p:nvPr/>
        </p:nvGrpSpPr>
        <p:grpSpPr>
          <a:xfrm>
            <a:off x="979752" y="2286166"/>
            <a:ext cx="4981737" cy="782039"/>
            <a:chOff x="22440" y="59287"/>
            <a:chExt cx="993338" cy="162361"/>
          </a:xfrm>
        </p:grpSpPr>
        <p:grpSp>
          <p:nvGrpSpPr>
            <p:cNvPr id="5" name="Group 4"/>
            <p:cNvGrpSpPr/>
            <p:nvPr/>
          </p:nvGrpSpPr>
          <p:grpSpPr>
            <a:xfrm>
              <a:off x="22440" y="59287"/>
              <a:ext cx="993338" cy="159855"/>
              <a:chOff x="31572" y="60276"/>
              <a:chExt cx="1397644" cy="197828"/>
            </a:xfrm>
          </p:grpSpPr>
          <p:sp>
            <p:nvSpPr>
              <p:cNvPr id="7" name="Arrow: Pentagon 25"/>
              <p:cNvSpPr/>
              <p:nvPr/>
            </p:nvSpPr>
            <p:spPr>
              <a:xfrm>
                <a:off x="280265" y="62042"/>
                <a:ext cx="1148951" cy="196062"/>
              </a:xfrm>
              <a:prstGeom prst="homePlat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vi-VN" sz="4400" b="1" kern="1200">
                    <a:solidFill>
                      <a:srgbClr val="0000CC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vi-VN" sz="4400">
                  <a:effectLst/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8" name="Arrow: Chevron 26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9" name="Arrow: Chevron 27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sp>
          <p:nvSpPr>
            <p:cNvPr id="6" name="TextBox 56"/>
            <p:cNvSpPr txBox="1"/>
            <p:nvPr/>
          </p:nvSpPr>
          <p:spPr>
            <a:xfrm>
              <a:off x="216011" y="60828"/>
              <a:ext cx="782947" cy="1608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400" b="1" kern="1200" dirty="0" err="1">
                  <a:solidFill>
                    <a:schemeClr val="bg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Trải</a:t>
              </a:r>
              <a:r>
                <a:rPr lang="en-US" sz="4400" b="1" kern="1200" dirty="0">
                  <a:solidFill>
                    <a:schemeClr val="bg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kern="1200" dirty="0" err="1">
                  <a:solidFill>
                    <a:schemeClr val="bg1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nghiệm</a:t>
              </a:r>
              <a:endParaRPr lang="vi-VN" sz="4400" dirty="0">
                <a:solidFill>
                  <a:schemeClr val="bg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85800" y="3352800"/>
                <a:ext cx="23057179" cy="19425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Đo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trực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tiếp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𝑯</m:t>
                        </m:r>
                        <m:r>
                          <a:rPr lang="en-US" b="1" i="1"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latin typeface="Cambria Math"/>
                          </a:rPr>
                          <m:t>𝟕</m:t>
                        </m:r>
                        <m:r>
                          <a:rPr lang="en-US" b="1" i="1">
                            <a:latin typeface="Cambria Math"/>
                          </a:rPr>
                          <m:t>.</m:t>
                        </m:r>
                        <m:r>
                          <a:rPr lang="en-US" b="1" i="1">
                            <a:latin typeface="Cambria Math"/>
                          </a:rPr>
                          <m:t>𝟏𝟎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giải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thích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vì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sao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kết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quả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đo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đạc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phù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hợp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kết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quả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toán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trong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lời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giải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Ví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dụ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4.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352800"/>
                <a:ext cx="23057179" cy="1942583"/>
              </a:xfrm>
              <a:prstGeom prst="rect">
                <a:avLst/>
              </a:prstGeom>
              <a:blipFill>
                <a:blip r:embed="rId2"/>
                <a:stretch>
                  <a:fillRect l="-105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8181109" y="5719676"/>
            <a:ext cx="9144000" cy="6858000"/>
          </a:xfrm>
          <a:prstGeom prst="rect">
            <a:avLst/>
          </a:prstGeom>
        </p:spPr>
      </p:pic>
      <p:sp>
        <p:nvSpPr>
          <p:cNvPr id="12" name="Text Box 76"/>
          <p:cNvSpPr txBox="1"/>
          <p:nvPr/>
        </p:nvSpPr>
        <p:spPr>
          <a:xfrm rot="10800000" flipV="1">
            <a:off x="10668000" y="12368734"/>
            <a:ext cx="3581399" cy="1012508"/>
          </a:xfrm>
          <a:prstGeom prst="rect">
            <a:avLst/>
          </a:prstGeom>
          <a:solidFill>
            <a:schemeClr val="lt1"/>
          </a:solidFill>
          <a:ln w="6350">
            <a:solidFill>
              <a:schemeClr val="bg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Hình</a:t>
            </a:r>
            <a:r>
              <a:rPr lang="en-US" sz="4400" b="1" dirty="0">
                <a:solidFill>
                  <a:srgbClr val="FF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7.10</a:t>
            </a:r>
            <a:endParaRPr lang="vi-VN" sz="44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16665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/>
          <p:cNvGrpSpPr/>
          <p:nvPr/>
        </p:nvGrpSpPr>
        <p:grpSpPr>
          <a:xfrm>
            <a:off x="958970" y="2305110"/>
            <a:ext cx="4981737" cy="782039"/>
            <a:chOff x="22440" y="59287"/>
            <a:chExt cx="993338" cy="162361"/>
          </a:xfrm>
        </p:grpSpPr>
        <p:grpSp>
          <p:nvGrpSpPr>
            <p:cNvPr id="5" name="Group 4"/>
            <p:cNvGrpSpPr/>
            <p:nvPr/>
          </p:nvGrpSpPr>
          <p:grpSpPr>
            <a:xfrm>
              <a:off x="22440" y="59287"/>
              <a:ext cx="993338" cy="159855"/>
              <a:chOff x="31572" y="60276"/>
              <a:chExt cx="1397644" cy="197828"/>
            </a:xfrm>
          </p:grpSpPr>
          <p:sp>
            <p:nvSpPr>
              <p:cNvPr id="7" name="Arrow: Pentagon 25"/>
              <p:cNvSpPr/>
              <p:nvPr/>
            </p:nvSpPr>
            <p:spPr>
              <a:xfrm>
                <a:off x="280265" y="62042"/>
                <a:ext cx="1148951" cy="196062"/>
              </a:xfrm>
              <a:prstGeom prst="homePlat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vi-VN" sz="4400" b="1" kern="1200">
                    <a:solidFill>
                      <a:srgbClr val="0000CC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vi-VN" sz="4400">
                  <a:effectLst/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8" name="Arrow: Chevron 26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9" name="Arrow: Chevron 27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sp>
          <p:nvSpPr>
            <p:cNvPr id="6" name="TextBox 56"/>
            <p:cNvSpPr txBox="1"/>
            <p:nvPr/>
          </p:nvSpPr>
          <p:spPr>
            <a:xfrm>
              <a:off x="216011" y="60828"/>
              <a:ext cx="782947" cy="1608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 err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Luyện</a:t>
              </a:r>
              <a:r>
                <a:rPr lang="en-US" sz="4400" b="1" dirty="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dirty="0" err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tập</a:t>
              </a:r>
              <a:r>
                <a:rPr lang="en-US" sz="4400" b="1" dirty="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5</a:t>
              </a:r>
              <a:endParaRPr lang="vi-VN" sz="4400" dirty="0">
                <a:solidFill>
                  <a:schemeClr val="bg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966991" y="3352800"/>
                <a:ext cx="22098000" cy="160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𝑴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𝟏</m:t>
                        </m:r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r>
                          <a:rPr lang="en-US" sz="4400" b="1" i="1">
                            <a:latin typeface="Cambria Math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𝜟</m:t>
                    </m:r>
                    <m:r>
                      <a:rPr lang="en-US" sz="4400" b="1" i="1">
                        <a:latin typeface="Cambria Math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44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𝒕</m:t>
                              </m:r>
                              <m:r>
                                <a:rPr lang="en-US" sz="4400" b="1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mr>
                          <m:mr>
                            <m:e>
                              <m:r>
                                <a:rPr lang="en-US" sz="44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=−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𝟒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91" y="3352800"/>
                <a:ext cx="22098000" cy="1602683"/>
              </a:xfrm>
              <a:prstGeom prst="rect">
                <a:avLst/>
              </a:prstGeom>
              <a:blipFill>
                <a:blip r:embed="rId2"/>
                <a:stretch>
                  <a:fillRect l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32D72AE-CF12-4132-8748-575DDDBFDE31}"/>
              </a:ext>
            </a:extLst>
          </p:cNvPr>
          <p:cNvSpPr txBox="1"/>
          <p:nvPr/>
        </p:nvSpPr>
        <p:spPr>
          <a:xfrm>
            <a:off x="871856" y="4728303"/>
            <a:ext cx="2483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giải:</a:t>
            </a:r>
            <a:endParaRPr lang="en-US" sz="4400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35760" y="5678903"/>
                <a:ext cx="22786239" cy="7733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𝜟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chỉ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𝒖</m:t>
                        </m:r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𝒏</m:t>
                        </m:r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𝟒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tổng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quát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</a:rPr>
                      <m:t>               </m:t>
                    </m:r>
                  </m:oMath>
                </a14:m>
                <a:endParaRPr lang="en-US" b="1" i="0" dirty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                         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𝟒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𝒙</m:t>
                        </m:r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𝟑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𝒚</m:t>
                        </m:r>
                        <m:r>
                          <a:rPr lang="en-US" b="1" i="1">
                            <a:latin typeface="Cambria Math"/>
                          </a:rPr>
                          <m:t>+</m:t>
                        </m:r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  <m:r>
                      <a:rPr lang="en-US" b="1" i="1">
                        <a:latin typeface="Cambria Math"/>
                      </a:rPr>
                      <m:t>⇔</m:t>
                    </m:r>
                    <m:r>
                      <a:rPr lang="en-US" b="1" i="1">
                        <a:latin typeface="Cambria Math"/>
                      </a:rPr>
                      <m:t>𝟒</m:t>
                    </m:r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𝟑</m:t>
                    </m:r>
                    <m:r>
                      <a:rPr lang="en-US" b="1" i="1">
                        <a:latin typeface="Cambria Math"/>
                      </a:rPr>
                      <m:t>𝒚</m:t>
                    </m:r>
                    <m:r>
                      <a:rPr lang="en-US" b="1" i="1">
                        <a:latin typeface="Cambria Math"/>
                      </a:rPr>
                      <m:t>−</m:t>
                    </m:r>
                    <m:r>
                      <a:rPr lang="en-US" b="1" i="1">
                        <a:latin typeface="Cambria Math"/>
                      </a:rPr>
                      <m:t>𝟓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dụng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thức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điểm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ta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                                       </m:t>
                    </m:r>
                    <m:r>
                      <a:rPr lang="en-US" b="1" i="1">
                        <a:latin typeface="Cambria Math"/>
                      </a:rPr>
                      <m:t>𝒅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𝑴</m:t>
                        </m:r>
                        <m:r>
                          <a:rPr lang="en-US" b="1" i="1">
                            <a:latin typeface="Cambria Math"/>
                          </a:rPr>
                          <m:t>,</m:t>
                        </m:r>
                        <m:r>
                          <a:rPr lang="en-US" b="1" i="0">
                            <a:latin typeface="Cambria Math"/>
                          </a:rPr>
                          <m:t>𝚫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/>
                              </a:rPr>
                              <m:t>𝟒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.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.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𝟓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𝟒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𝟑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b="1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</m:num>
                      <m:den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</m:den>
                    </m:f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𝟏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Vậy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điểm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𝟏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60" y="5678903"/>
                <a:ext cx="22786239" cy="7733271"/>
              </a:xfrm>
              <a:prstGeom prst="rect">
                <a:avLst/>
              </a:prstGeo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ounded Rectangle 4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15499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/>
          <p:cNvGrpSpPr/>
          <p:nvPr/>
        </p:nvGrpSpPr>
        <p:grpSpPr>
          <a:xfrm>
            <a:off x="860512" y="2021646"/>
            <a:ext cx="4981737" cy="782039"/>
            <a:chOff x="22440" y="59287"/>
            <a:chExt cx="993338" cy="162361"/>
          </a:xfrm>
        </p:grpSpPr>
        <p:grpSp>
          <p:nvGrpSpPr>
            <p:cNvPr id="5" name="Group 4"/>
            <p:cNvGrpSpPr/>
            <p:nvPr/>
          </p:nvGrpSpPr>
          <p:grpSpPr>
            <a:xfrm>
              <a:off x="22440" y="59287"/>
              <a:ext cx="993338" cy="159855"/>
              <a:chOff x="31572" y="60276"/>
              <a:chExt cx="1397644" cy="197828"/>
            </a:xfrm>
          </p:grpSpPr>
          <p:sp>
            <p:nvSpPr>
              <p:cNvPr id="7" name="Arrow: Pentagon 25"/>
              <p:cNvSpPr/>
              <p:nvPr/>
            </p:nvSpPr>
            <p:spPr>
              <a:xfrm>
                <a:off x="280265" y="62042"/>
                <a:ext cx="1148951" cy="196062"/>
              </a:xfrm>
              <a:prstGeom prst="homePlat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vi-VN" sz="4400" b="1" kern="1200">
                    <a:solidFill>
                      <a:srgbClr val="0000CC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vi-VN" sz="4400">
                  <a:effectLst/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8" name="Arrow: Chevron 26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9" name="Arrow: Chevron 27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sp>
          <p:nvSpPr>
            <p:cNvPr id="6" name="TextBox 56"/>
            <p:cNvSpPr txBox="1"/>
            <p:nvPr/>
          </p:nvSpPr>
          <p:spPr>
            <a:xfrm>
              <a:off x="216011" y="60828"/>
              <a:ext cx="693986" cy="1608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dirty="0" err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Vận</a:t>
              </a:r>
              <a:r>
                <a:rPr lang="en-US" sz="4400" b="1" dirty="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dirty="0" err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dụng</a:t>
              </a:r>
              <a:endParaRPr lang="vi-VN" sz="4400" dirty="0">
                <a:solidFill>
                  <a:schemeClr val="bg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39730" y="3075710"/>
                <a:ext cx="23317200" cy="207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Nhân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dịp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nghỉ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hè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Nam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về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quê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ở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ông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nội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Nhà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ông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nội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một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ao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dạng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hình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chữ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nhật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𝑨𝑩𝑪𝑫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chiều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dài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𝑨𝑫</m:t>
                    </m:r>
                    <m:r>
                      <a:rPr lang="en-US" sz="4200" b="1" i="1">
                        <a:latin typeface="Cambria Math"/>
                      </a:rPr>
                      <m:t>=</m:t>
                    </m:r>
                    <m:r>
                      <a:rPr lang="en-US" sz="4200" b="1" i="1">
                        <a:latin typeface="Cambria Math"/>
                      </a:rPr>
                      <m:t>𝟏𝟓</m:t>
                    </m:r>
                    <m:r>
                      <a:rPr lang="en-US" sz="4200" b="1" i="1">
                        <a:latin typeface="Cambria Math"/>
                      </a:rPr>
                      <m:t> </m:t>
                    </m:r>
                    <m:r>
                      <a:rPr lang="en-US" sz="4200" b="1" i="1">
                        <a:latin typeface="Cambria Math"/>
                      </a:rPr>
                      <m:t>𝒎</m:t>
                    </m:r>
                    <m:r>
                      <a:rPr lang="en-US" sz="4200" b="1" i="1">
                        <a:latin typeface="Cambria Math"/>
                      </a:rPr>
                      <m:t>,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chiều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rộng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𝑨𝑩</m:t>
                    </m:r>
                    <m:r>
                      <a:rPr lang="en-US" sz="4200" b="1" i="1">
                        <a:latin typeface="Cambria Math"/>
                      </a:rPr>
                      <m:t>=</m:t>
                    </m:r>
                    <m:r>
                      <a:rPr lang="en-US" sz="4200" b="1" i="1">
                        <a:latin typeface="Cambria Math"/>
                      </a:rPr>
                      <m:t>𝟏𝟐</m:t>
                    </m:r>
                    <m:r>
                      <a:rPr lang="en-US" sz="4200" b="1" i="1">
                        <a:latin typeface="Cambria Math"/>
                      </a:rPr>
                      <m:t> </m:t>
                    </m:r>
                    <m:r>
                      <a:rPr lang="en-US" sz="4200" b="1" i="1">
                        <a:latin typeface="Cambria Math"/>
                      </a:rPr>
                      <m:t>𝒎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Phần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tam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giác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 dirty="0" smtClean="0">
                        <a:latin typeface="Cambria Math"/>
                        <a:ea typeface="Tahoma" pitchFamily="34" charset="0"/>
                        <a:cs typeface="Tahoma" pitchFamily="34" charset="0"/>
                      </a:rPr>
                      <m:t>𝑫𝑬𝑭</m:t>
                    </m:r>
                    <m:r>
                      <a:rPr lang="en-US" sz="4200" b="1" i="1" dirty="0" smtClean="0">
                        <a:latin typeface="Cambria Math"/>
                        <a:ea typeface="Tahoma" pitchFamily="34" charset="0"/>
                        <a:cs typeface="Tahoma" pitchFamily="34" charset="0"/>
                      </a:rPr>
                      <m:t>  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nơi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ông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nuôi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vịt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𝑨𝑬</m:t>
                    </m:r>
                    <m:r>
                      <a:rPr lang="en-US" sz="4200" b="1" i="1">
                        <a:latin typeface="Cambria Math"/>
                      </a:rPr>
                      <m:t>=</m:t>
                    </m:r>
                    <m:r>
                      <a:rPr lang="en-US" sz="4200" b="1" i="1">
                        <a:latin typeface="Cambria Math"/>
                      </a:rPr>
                      <m:t>𝟓</m:t>
                    </m:r>
                    <m:r>
                      <a:rPr lang="en-US" sz="4200" b="1" i="1">
                        <a:latin typeface="Cambria Math"/>
                      </a:rPr>
                      <m:t> </m:t>
                    </m:r>
                    <m:r>
                      <a:rPr lang="en-US" sz="4200" b="1" i="1">
                        <a:latin typeface="Cambria Math"/>
                      </a:rPr>
                      <m:t>𝒎</m:t>
                    </m:r>
                    <m:r>
                      <a:rPr lang="en-US" sz="4200" b="1" i="1">
                        <a:latin typeface="Cambria Math"/>
                      </a:rPr>
                      <m:t>,</m:t>
                    </m:r>
                    <m:r>
                      <a:rPr lang="en-US" sz="4200" b="1" i="1">
                        <a:latin typeface="Cambria Math"/>
                      </a:rPr>
                      <m:t>𝑪𝑭</m:t>
                    </m:r>
                    <m:r>
                      <a:rPr lang="en-US" sz="4200" b="1" i="1">
                        <a:latin typeface="Cambria Math"/>
                      </a:rPr>
                      <m:t>=</m:t>
                    </m:r>
                    <m:r>
                      <a:rPr lang="en-US" sz="4200" b="1" i="1">
                        <a:latin typeface="Cambria Math"/>
                      </a:rPr>
                      <m:t>𝟔</m:t>
                    </m:r>
                    <m:r>
                      <a:rPr lang="en-US" sz="4200" b="1" i="1">
                        <a:latin typeface="Cambria Math"/>
                      </a:rPr>
                      <m:t> </m:t>
                    </m:r>
                    <m:r>
                      <a:rPr lang="en-US" sz="4200" b="1" i="1">
                        <a:latin typeface="Cambria Math"/>
                      </a:rPr>
                      <m:t>𝒎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sz="4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200" b="1" i="1">
                            <a:latin typeface="Cambria Math"/>
                          </a:rPr>
                          <m:t>𝑯</m:t>
                        </m:r>
                        <m:r>
                          <a:rPr lang="en-US" sz="4200" b="1" i="1">
                            <a:latin typeface="Cambria Math"/>
                          </a:rPr>
                          <m:t> </m:t>
                        </m:r>
                        <m:r>
                          <a:rPr lang="en-US" sz="4200" b="1" i="1">
                            <a:latin typeface="Cambria Math"/>
                          </a:rPr>
                          <m:t>𝟕</m:t>
                        </m:r>
                        <m:r>
                          <a:rPr lang="en-US" sz="4200" b="1" i="1">
                            <a:latin typeface="Cambria Math"/>
                          </a:rPr>
                          <m:t>.</m:t>
                        </m:r>
                        <m:r>
                          <a:rPr lang="en-US" sz="4200" b="1" i="1">
                            <a:latin typeface="Cambria Math"/>
                          </a:rPr>
                          <m:t>𝟏𝟏</m:t>
                        </m:r>
                      </m:e>
                    </m:d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2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30" y="3075710"/>
                <a:ext cx="23317200" cy="2077492"/>
              </a:xfrm>
              <a:prstGeom prst="rect">
                <a:avLst/>
              </a:prstGeom>
              <a:blipFill rotWithShape="1">
                <a:blip r:embed="rId2"/>
                <a:stretch>
                  <a:fillRect l="-1020" t="-5882" b="-1029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1701589" y="5153202"/>
            <a:ext cx="12647775" cy="6914108"/>
          </a:xfrm>
          <a:prstGeom prst="rect">
            <a:avLst/>
          </a:prstGeom>
        </p:spPr>
      </p:pic>
      <p:sp>
        <p:nvSpPr>
          <p:cNvPr id="12" name="Text Box 78"/>
          <p:cNvSpPr txBox="1"/>
          <p:nvPr/>
        </p:nvSpPr>
        <p:spPr>
          <a:xfrm>
            <a:off x="16780042" y="12268200"/>
            <a:ext cx="3352799" cy="892492"/>
          </a:xfrm>
          <a:prstGeom prst="rect">
            <a:avLst/>
          </a:prstGeom>
          <a:solidFill>
            <a:schemeClr val="lt1"/>
          </a:solidFill>
          <a:ln w="6350">
            <a:solidFill>
              <a:schemeClr val="bg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Hình</a:t>
            </a:r>
            <a:r>
              <a:rPr lang="en-US" sz="4400" b="1" dirty="0">
                <a:solidFill>
                  <a:srgbClr val="FF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7.11</a:t>
            </a:r>
            <a:endParaRPr lang="vi-VN" sz="4400" dirty="0"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14021" y="5486399"/>
                <a:ext cx="11056456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Chọn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hệ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trục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𝑶𝒙𝒚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𝑶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trùng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𝑩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tia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𝑶𝒙</m:t>
                    </m:r>
                    <m:r>
                      <a:rPr lang="en-US" sz="4200" b="1" i="1">
                        <a:latin typeface="Cambria Math"/>
                      </a:rPr>
                      <m:t>, </m:t>
                    </m:r>
                    <m:r>
                      <a:rPr lang="en-US" sz="4200" b="1" i="1">
                        <a:latin typeface="Cambria Math"/>
                      </a:rPr>
                      <m:t>𝑶𝒚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tương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ứng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trùng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tia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𝑩𝑪</m:t>
                    </m:r>
                    <m:r>
                      <a:rPr lang="en-US" sz="4200" b="1" i="1">
                        <a:latin typeface="Cambria Math"/>
                      </a:rPr>
                      <m:t>, </m:t>
                    </m:r>
                    <m:r>
                      <a:rPr lang="en-US" sz="4200" b="1" i="1">
                        <a:latin typeface="Cambria Math"/>
                      </a:rPr>
                      <m:t>𝑩𝑨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Chọn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1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đơn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dài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trên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mặt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phẳng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tương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ứng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𝟏</m:t>
                    </m:r>
                    <m:r>
                      <a:rPr lang="en-US" sz="4200" b="1" i="1">
                        <a:latin typeface="Cambria Math"/>
                      </a:rPr>
                      <m:t> </m:t>
                    </m:r>
                    <m:r>
                      <a:rPr lang="en-US" sz="4200" b="1" i="1">
                        <a:latin typeface="Cambria Math"/>
                      </a:rPr>
                      <m:t>𝒎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trong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thực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tế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Hãy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xác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định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𝑨</m:t>
                    </m:r>
                    <m:r>
                      <a:rPr lang="en-US" sz="4200" b="1" i="1">
                        <a:latin typeface="Cambria Math"/>
                      </a:rPr>
                      <m:t>, </m:t>
                    </m:r>
                    <m:r>
                      <a:rPr lang="en-US" sz="4200" b="1" i="1">
                        <a:latin typeface="Cambria Math"/>
                      </a:rPr>
                      <m:t>𝑩</m:t>
                    </m:r>
                    <m:r>
                      <a:rPr lang="en-US" sz="4200" b="1" i="1">
                        <a:latin typeface="Cambria Math"/>
                      </a:rPr>
                      <m:t>, </m:t>
                    </m:r>
                    <m:r>
                      <a:rPr lang="en-US" sz="4200" b="1" i="1">
                        <a:latin typeface="Cambria Math"/>
                      </a:rPr>
                      <m:t>𝑪</m:t>
                    </m:r>
                    <m:r>
                      <a:rPr lang="en-US" sz="4200" b="1" i="1">
                        <a:latin typeface="Cambria Math"/>
                      </a:rPr>
                      <m:t>, </m:t>
                    </m:r>
                    <m:r>
                      <a:rPr lang="en-US" sz="4200" b="1" i="1">
                        <a:latin typeface="Cambria Math"/>
                      </a:rPr>
                      <m:t>𝑫</m:t>
                    </m:r>
                    <m:r>
                      <a:rPr lang="en-US" sz="4200" b="1" i="1">
                        <a:latin typeface="Cambria Math"/>
                      </a:rPr>
                      <m:t>, </m:t>
                    </m:r>
                    <m:r>
                      <a:rPr lang="en-US" sz="4200" b="1" i="1">
                        <a:latin typeface="Cambria Math"/>
                      </a:rPr>
                      <m:t>𝑬</m:t>
                    </m:r>
                    <m:r>
                      <a:rPr lang="en-US" sz="4200" b="1" i="1">
                        <a:latin typeface="Cambria Math"/>
                      </a:rPr>
                      <m:t>, </m:t>
                    </m:r>
                    <m:r>
                      <a:rPr lang="en-US" sz="4200" b="1" i="1">
                        <a:latin typeface="Cambria Math"/>
                      </a:rPr>
                      <m:t>𝑭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viết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𝑬𝑭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2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algn="just"/>
                <a:endParaRPr lang="vi-VN" sz="42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21" y="5486399"/>
                <a:ext cx="11056456" cy="5262979"/>
              </a:xfrm>
              <a:prstGeom prst="rect">
                <a:avLst/>
              </a:prstGeom>
              <a:blipFill rotWithShape="1">
                <a:blip r:embed="rId4"/>
                <a:stretch>
                  <a:fillRect l="-2151" t="-2433" r="-215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4021" y="10421481"/>
                <a:ext cx="11304571" cy="2739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Nam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đứng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ở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trí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𝑩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câu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thể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quăng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lưỡi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câu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xa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200" b="1" i="1">
                        <a:latin typeface="Cambria Math"/>
                      </a:rPr>
                      <m:t>𝟏𝟎</m:t>
                    </m:r>
                    <m:r>
                      <a:rPr lang="en-US" sz="4200" b="1" i="1">
                        <a:latin typeface="Cambria Math"/>
                      </a:rPr>
                      <m:t>,</m:t>
                    </m:r>
                    <m:r>
                      <a:rPr lang="en-US" sz="4200" b="1" i="1">
                        <a:latin typeface="Cambria Math"/>
                      </a:rPr>
                      <m:t>𝟕</m:t>
                    </m:r>
                    <m:r>
                      <a:rPr lang="en-US" sz="4200" b="1" i="1">
                        <a:latin typeface="Cambria Math"/>
                      </a:rPr>
                      <m:t> </m:t>
                    </m:r>
                    <m:r>
                      <a:rPr lang="en-US" sz="4200" b="1" i="1">
                        <a:latin typeface="Cambria Math"/>
                      </a:rPr>
                      <m:t>𝒎</m:t>
                    </m:r>
                  </m:oMath>
                </a14:m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Hỏi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lưỡi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câu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thể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rơi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vào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nơi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nuôi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vịt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hay </a:t>
                </a:r>
                <a:r>
                  <a:rPr lang="en-US" sz="42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không</a:t>
                </a:r>
                <a:r>
                  <a:rPr lang="en-US" sz="4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?</a:t>
                </a:r>
                <a:endParaRPr lang="vi-VN" sz="42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algn="just"/>
                <a:endParaRPr lang="vi-VN" sz="42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21" y="10421481"/>
                <a:ext cx="11304571" cy="2739211"/>
              </a:xfrm>
              <a:prstGeom prst="rect">
                <a:avLst/>
              </a:prstGeom>
              <a:blipFill rotWithShape="1">
                <a:blip r:embed="rId5"/>
                <a:stretch>
                  <a:fillRect l="-2104" t="-4677" r="-205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ounded Rectangle 3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5432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3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502558" y="1814000"/>
            <a:ext cx="4981737" cy="782039"/>
            <a:chOff x="22440" y="59287"/>
            <a:chExt cx="993338" cy="162361"/>
          </a:xfrm>
        </p:grpSpPr>
        <p:grpSp>
          <p:nvGrpSpPr>
            <p:cNvPr id="14" name="Group 13"/>
            <p:cNvGrpSpPr/>
            <p:nvPr/>
          </p:nvGrpSpPr>
          <p:grpSpPr>
            <a:xfrm>
              <a:off x="22440" y="59287"/>
              <a:ext cx="993338" cy="159855"/>
              <a:chOff x="31572" y="60276"/>
              <a:chExt cx="1397644" cy="197828"/>
            </a:xfrm>
          </p:grpSpPr>
          <p:sp>
            <p:nvSpPr>
              <p:cNvPr id="16" name="Arrow: Pentagon 25"/>
              <p:cNvSpPr/>
              <p:nvPr/>
            </p:nvSpPr>
            <p:spPr>
              <a:xfrm>
                <a:off x="280265" y="62042"/>
                <a:ext cx="1148951" cy="196062"/>
              </a:xfrm>
              <a:prstGeom prst="homePlat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vi-VN" sz="4400" b="1" kern="1200">
                    <a:solidFill>
                      <a:srgbClr val="0000CC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vi-VN" sz="4400">
                  <a:effectLst/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17" name="Arrow: Chevron 26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18" name="Arrow: Chevron 27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sp>
          <p:nvSpPr>
            <p:cNvPr id="15" name="TextBox 56"/>
            <p:cNvSpPr txBox="1"/>
            <p:nvPr/>
          </p:nvSpPr>
          <p:spPr>
            <a:xfrm>
              <a:off x="216011" y="60828"/>
              <a:ext cx="693986" cy="1608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dirty="0" err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Vận</a:t>
              </a:r>
              <a:r>
                <a:rPr lang="en-US" sz="4400" b="1" dirty="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dirty="0" err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dụng</a:t>
              </a:r>
              <a:endParaRPr lang="vi-VN" sz="4400" dirty="0">
                <a:solidFill>
                  <a:schemeClr val="bg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9303327" y="1600200"/>
            <a:ext cx="16909473" cy="777705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>
            <a:clrChange>
              <a:clrFrom>
                <a:srgbClr val="E8FFFF"/>
              </a:clrFrom>
              <a:clrTo>
                <a:srgbClr val="E8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018817" y="2195547"/>
            <a:ext cx="11907983" cy="62732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2D72AE-CF12-4132-8748-575DDDBFDE31}"/>
              </a:ext>
            </a:extLst>
          </p:cNvPr>
          <p:cNvSpPr txBox="1"/>
          <p:nvPr/>
        </p:nvSpPr>
        <p:spPr>
          <a:xfrm>
            <a:off x="1434527" y="2785765"/>
            <a:ext cx="26484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400" b="1" u="sng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 giải:</a:t>
            </a:r>
            <a:endParaRPr lang="en-US" sz="4400" b="1" u="sng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2558" y="3575487"/>
                <a:ext cx="11143718" cy="3190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lnSpc>
                    <a:spcPct val="150000"/>
                  </a:lnSpc>
                  <a:buAutoNum type="alphaLcParenR"/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𝟏𝟐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 </m:t>
                    </m:r>
                    <m:r>
                      <a:rPr lang="en-US" b="1" i="1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 </m:t>
                    </m:r>
                    <m:r>
                      <a:rPr lang="en-US" b="1" i="1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𝟏𝟓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 </m:t>
                    </m:r>
                  </m:oMath>
                </a14:m>
                <a:endParaRPr lang="en-US" b="1" i="1" dirty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   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𝟏𝟓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𝟏𝟐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 </m:t>
                    </m:r>
                    <m:r>
                      <a:rPr lang="en-US" b="1" i="1" smtClean="0">
                        <a:latin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𝟏𝟐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</m:t>
                    </m:r>
                    <m:r>
                      <a:rPr lang="en-US" b="1" i="1" smtClean="0">
                        <a:latin typeface="Cambria Math"/>
                      </a:rPr>
                      <m:t>  </m:t>
                    </m:r>
                    <m:r>
                      <a:rPr lang="en-US" b="1" i="1">
                        <a:latin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𝑭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𝟏𝟓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𝟔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𝑬𝑭</m:t>
                        </m:r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𝟏𝟎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𝟔</m:t>
                        </m:r>
                      </m:e>
                    </m:d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58" y="3575487"/>
                <a:ext cx="11143718" cy="3190682"/>
              </a:xfrm>
              <a:prstGeom prst="rect">
                <a:avLst/>
              </a:prstGeom>
              <a:blipFill rotWithShape="1">
                <a:blip r:embed="rId5"/>
                <a:stretch>
                  <a:fillRect l="-21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9485" y="6899130"/>
                <a:ext cx="11834915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4400" b="1" i="1" dirty="0" smtClean="0">
                        <a:latin typeface="Cambria Math"/>
                        <a:ea typeface="Tahoma" pitchFamily="34" charset="0"/>
                        <a:cs typeface="Tahoma" pitchFamily="34" charset="0"/>
                      </a:rPr>
                      <m:t>𝑬𝑭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một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chỉ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/>
                          </a:rPr>
                          <m:t>𝒖</m:t>
                        </m:r>
                      </m:e>
                    </m:acc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𝟓</m:t>
                        </m:r>
                        <m:r>
                          <a:rPr lang="en-US" sz="4400" b="1" i="1">
                            <a:latin typeface="Cambria Math"/>
                          </a:rPr>
                          <m:t>;−</m:t>
                        </m:r>
                        <m:r>
                          <a:rPr lang="en-US" sz="4400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một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/>
                          </a:rPr>
                          <m:t>𝒏</m:t>
                        </m:r>
                      </m:e>
                    </m:acc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𝟑</m:t>
                        </m:r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r>
                          <a:rPr lang="en-US" sz="4400" b="1" i="1">
                            <a:latin typeface="Cambria Math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𝟓</m:t>
                        </m:r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r>
                          <a:rPr lang="en-US" sz="4400" b="1" i="1">
                            <a:latin typeface="Cambria Math"/>
                          </a:rPr>
                          <m:t>𝟏𝟐</m:t>
                        </m:r>
                      </m:e>
                    </m:d>
                  </m:oMath>
                </a14:m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85" y="6899130"/>
                <a:ext cx="11834915" cy="3139321"/>
              </a:xfrm>
              <a:prstGeom prst="rect">
                <a:avLst/>
              </a:prstGeom>
              <a:blipFill rotWithShape="1">
                <a:blip r:embed="rId6"/>
                <a:stretch>
                  <a:fillRect l="-2112" b="-40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23340" y="10363200"/>
                <a:ext cx="15417846" cy="263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Suy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tổng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quát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/>
                        <a:ea typeface="Tahoma" pitchFamily="34" charset="0"/>
                        <a:cs typeface="Tahoma" pitchFamily="34" charset="0"/>
                      </a:rPr>
                      <m:t>  </m:t>
                    </m:r>
                    <m:r>
                      <a:rPr lang="en-US" b="1" i="1" dirty="0">
                        <a:latin typeface="Cambria Math"/>
                        <a:ea typeface="Tahoma" pitchFamily="34" charset="0"/>
                        <a:cs typeface="Tahoma" pitchFamily="34" charset="0"/>
                      </a:rPr>
                      <m:t>𝑬𝑭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 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/>
                        </a:rPr>
                        <m:t>            </m:t>
                      </m:r>
                      <m:r>
                        <a:rPr lang="en-US" sz="4400" b="1" i="1">
                          <a:latin typeface="Cambria Math"/>
                        </a:rPr>
                        <m:t>𝟑</m:t>
                      </m:r>
                      <m:d>
                        <m:dPr>
                          <m:ctrlPr>
                            <a:rPr lang="vi-VN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latin typeface="Cambria Math"/>
                            </a:rPr>
                            <m:t>𝒙</m:t>
                          </m:r>
                          <m:r>
                            <a:rPr lang="en-US" sz="4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4400" b="1" i="1">
                              <a:latin typeface="Cambria Math"/>
                            </a:rPr>
                            <m:t>𝟓</m:t>
                          </m:r>
                        </m:e>
                      </m:d>
                      <m:r>
                        <a:rPr lang="en-US" sz="4400" b="1" i="1">
                          <a:latin typeface="Cambria Math"/>
                        </a:rPr>
                        <m:t>+</m:t>
                      </m:r>
                      <m:r>
                        <a:rPr lang="en-US" sz="4400" b="1" i="1">
                          <a:latin typeface="Cambria Math"/>
                        </a:rPr>
                        <m:t>𝟓</m:t>
                      </m:r>
                      <m:d>
                        <m:dPr>
                          <m:ctrlPr>
                            <a:rPr lang="vi-VN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latin typeface="Cambria Math"/>
                            </a:rPr>
                            <m:t>𝒚</m:t>
                          </m:r>
                          <m:r>
                            <a:rPr lang="en-US" sz="4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4400" b="1" i="1">
                              <a:latin typeface="Cambria Math"/>
                            </a:rPr>
                            <m:t>𝟏𝟐</m:t>
                          </m:r>
                        </m:e>
                      </m:d>
                      <m:r>
                        <a:rPr lang="en-US" sz="4400" b="1" i="1">
                          <a:latin typeface="Cambria Math"/>
                        </a:rPr>
                        <m:t>=</m:t>
                      </m:r>
                      <m:r>
                        <a:rPr lang="en-US" sz="4400" b="1" i="1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4400" b="1" i="1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4400" b="1" i="1" smtClean="0">
                        <a:latin typeface="Cambria Math"/>
                      </a:rPr>
                      <m:t>                                          </m:t>
                    </m:r>
                    <m:r>
                      <a:rPr lang="en-US" sz="4400" b="1" i="1">
                        <a:latin typeface="Cambria Math"/>
                      </a:rPr>
                      <m:t>⇔</m:t>
                    </m:r>
                    <m:r>
                      <a:rPr lang="en-US" sz="4400" b="1" i="1">
                        <a:latin typeface="Cambria Math"/>
                      </a:rPr>
                      <m:t>𝟑</m:t>
                    </m:r>
                    <m:r>
                      <a:rPr lang="en-US" sz="4400" b="1" i="1">
                        <a:latin typeface="Cambria Math"/>
                      </a:rPr>
                      <m:t>𝒙</m:t>
                    </m:r>
                    <m:r>
                      <a:rPr lang="en-US" sz="4400" b="1" i="1">
                        <a:latin typeface="Cambria Math"/>
                      </a:rPr>
                      <m:t>+</m:t>
                    </m:r>
                    <m:r>
                      <a:rPr lang="en-US" sz="4400" b="1" i="1">
                        <a:latin typeface="Cambria Math"/>
                      </a:rPr>
                      <m:t>𝟓</m:t>
                    </m:r>
                    <m:r>
                      <a:rPr lang="en-US" sz="4400" b="1" i="1">
                        <a:latin typeface="Cambria Math"/>
                      </a:rPr>
                      <m:t>𝒚</m:t>
                    </m:r>
                    <m:r>
                      <a:rPr lang="en-US" sz="4400" b="1" i="1">
                        <a:latin typeface="Cambria Math"/>
                      </a:rPr>
                      <m:t>−</m:t>
                    </m:r>
                    <m:r>
                      <a:rPr lang="en-US" sz="4400" b="1" i="1">
                        <a:latin typeface="Cambria Math"/>
                      </a:rPr>
                      <m:t>𝟕𝟓</m:t>
                    </m:r>
                    <m:r>
                      <a:rPr lang="en-US" sz="4400" b="1" i="1">
                        <a:latin typeface="Cambria Math"/>
                      </a:rPr>
                      <m:t>=</m:t>
                    </m:r>
                    <m:r>
                      <a:rPr lang="en-US" sz="4400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0" y="10363200"/>
                <a:ext cx="15417846" cy="2637260"/>
              </a:xfrm>
              <a:prstGeom prst="rect">
                <a:avLst/>
              </a:prstGeom>
              <a:blipFill>
                <a:blip r:embed="rId7"/>
                <a:stretch>
                  <a:fillRect l="-1582" t="-4850" b="-9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ounded Rectangle 5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06429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/>
          <p:cNvPicPr/>
          <p:nvPr/>
        </p:nvPicPr>
        <p:blipFill>
          <a:blip r:embed="rId2"/>
          <a:stretch>
            <a:fillRect/>
          </a:stretch>
        </p:blipFill>
        <p:spPr>
          <a:xfrm>
            <a:off x="9303327" y="1600200"/>
            <a:ext cx="16909473" cy="777705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502558" y="1814000"/>
            <a:ext cx="4981737" cy="782039"/>
            <a:chOff x="22440" y="59287"/>
            <a:chExt cx="993338" cy="162361"/>
          </a:xfrm>
        </p:grpSpPr>
        <p:grpSp>
          <p:nvGrpSpPr>
            <p:cNvPr id="14" name="Group 13"/>
            <p:cNvGrpSpPr/>
            <p:nvPr/>
          </p:nvGrpSpPr>
          <p:grpSpPr>
            <a:xfrm>
              <a:off x="22440" y="59287"/>
              <a:ext cx="993338" cy="159855"/>
              <a:chOff x="31572" y="60276"/>
              <a:chExt cx="1397644" cy="197828"/>
            </a:xfrm>
          </p:grpSpPr>
          <p:sp>
            <p:nvSpPr>
              <p:cNvPr id="16" name="Arrow: Pentagon 25"/>
              <p:cNvSpPr/>
              <p:nvPr/>
            </p:nvSpPr>
            <p:spPr>
              <a:xfrm>
                <a:off x="280265" y="62042"/>
                <a:ext cx="1148951" cy="196062"/>
              </a:xfrm>
              <a:prstGeom prst="homePlat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vi-VN" sz="4400" b="1" kern="1200">
                    <a:solidFill>
                      <a:srgbClr val="0000CC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vi-VN" sz="4400">
                  <a:effectLst/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17" name="Arrow: Chevron 26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18" name="Arrow: Chevron 27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vi-VN" sz="440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sp>
          <p:nvSpPr>
            <p:cNvPr id="15" name="TextBox 56"/>
            <p:cNvSpPr txBox="1"/>
            <p:nvPr/>
          </p:nvSpPr>
          <p:spPr>
            <a:xfrm>
              <a:off x="216011" y="60828"/>
              <a:ext cx="693986" cy="1608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dirty="0" err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Vận</a:t>
              </a:r>
              <a:r>
                <a:rPr lang="en-US" sz="4400" b="1" dirty="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400" b="1" dirty="0" err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dụng</a:t>
              </a:r>
              <a:endParaRPr lang="vi-VN" sz="4400" dirty="0">
                <a:solidFill>
                  <a:schemeClr val="bg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  <p:pic>
        <p:nvPicPr>
          <p:cNvPr id="7" name="Picture 6"/>
          <p:cNvPicPr/>
          <p:nvPr/>
        </p:nvPicPr>
        <p:blipFill>
          <a:blip r:embed="rId3">
            <a:clrChange>
              <a:clrFrom>
                <a:srgbClr val="E8FFFF"/>
              </a:clrFrom>
              <a:clrTo>
                <a:srgbClr val="E8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018817" y="2195547"/>
            <a:ext cx="11907983" cy="62732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2D72AE-CF12-4132-8748-575DDDBFDE31}"/>
              </a:ext>
            </a:extLst>
          </p:cNvPr>
          <p:cNvSpPr txBox="1"/>
          <p:nvPr/>
        </p:nvSpPr>
        <p:spPr>
          <a:xfrm>
            <a:off x="1434527" y="2785765"/>
            <a:ext cx="26484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400" b="1" u="sng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 giải:</a:t>
            </a:r>
            <a:endParaRPr lang="en-US" sz="4400" b="1" u="sng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2558" y="3575487"/>
                <a:ext cx="11143718" cy="3190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lnSpc>
                    <a:spcPct val="150000"/>
                  </a:lnSpc>
                  <a:buAutoNum type="alphaLcParenR"/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𝟏𝟐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 </m:t>
                    </m:r>
                    <m:r>
                      <a:rPr lang="en-US" b="1" i="1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 </m:t>
                    </m:r>
                    <m:r>
                      <a:rPr lang="en-US" b="1" i="1">
                        <a:latin typeface="Cambria Math"/>
                      </a:rPr>
                      <m:t>𝑪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𝟏𝟓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 </m:t>
                    </m:r>
                  </m:oMath>
                </a14:m>
                <a:endParaRPr lang="en-US" b="1" i="1" dirty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   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𝟏𝟓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𝟏𝟐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 </m:t>
                    </m:r>
                    <m:r>
                      <a:rPr lang="en-US" b="1" i="1" smtClean="0">
                        <a:latin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𝟏𝟐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</m:t>
                    </m:r>
                    <m:r>
                      <a:rPr lang="en-US" b="1" i="1" smtClean="0">
                        <a:latin typeface="Cambria Math"/>
                      </a:rPr>
                      <m:t>  </m:t>
                    </m:r>
                    <m:r>
                      <a:rPr lang="en-US" b="1" i="1">
                        <a:latin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𝑭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𝟏𝟓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𝟔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𝑬𝑭</m:t>
                        </m:r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𝟏𝟎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𝟔</m:t>
                        </m:r>
                      </m:e>
                    </m:d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58" y="3575487"/>
                <a:ext cx="11143718" cy="3190682"/>
              </a:xfrm>
              <a:prstGeom prst="rect">
                <a:avLst/>
              </a:prstGeom>
              <a:blipFill rotWithShape="1">
                <a:blip r:embed="rId5"/>
                <a:stretch>
                  <a:fillRect l="-21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02558" y="6766169"/>
                <a:ext cx="12018817" cy="207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/>
                        <a:ea typeface="Tahoma" pitchFamily="34" charset="0"/>
                        <a:cs typeface="Tahoma" pitchFamily="34" charset="0"/>
                      </a:rPr>
                      <m:t>  </m:t>
                    </m:r>
                    <m:r>
                      <a:rPr lang="en-US" b="1" i="1" dirty="0">
                        <a:latin typeface="Cambria Math"/>
                        <a:ea typeface="Tahoma" pitchFamily="34" charset="0"/>
                        <a:cs typeface="Tahoma" pitchFamily="34" charset="0"/>
                      </a:rPr>
                      <m:t>𝑬𝑭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 </m:t>
                    </m:r>
                    <m:r>
                      <a:rPr lang="en-US" sz="4400" b="1" i="1" smtClean="0">
                        <a:latin typeface="Cambria Math"/>
                      </a:rPr>
                      <m:t>               </m:t>
                    </m:r>
                    <m:r>
                      <a:rPr lang="en-US" sz="4400" b="1" i="1">
                        <a:latin typeface="Cambria Math"/>
                      </a:rPr>
                      <m:t>𝟑</m:t>
                    </m:r>
                    <m:r>
                      <a:rPr lang="en-US" sz="4400" b="1" i="1">
                        <a:latin typeface="Cambria Math"/>
                      </a:rPr>
                      <m:t>𝒙</m:t>
                    </m:r>
                    <m:r>
                      <a:rPr lang="en-US" sz="4400" b="1" i="1">
                        <a:latin typeface="Cambria Math"/>
                      </a:rPr>
                      <m:t>+</m:t>
                    </m:r>
                    <m:r>
                      <a:rPr lang="en-US" sz="4400" b="1" i="1">
                        <a:latin typeface="Cambria Math"/>
                      </a:rPr>
                      <m:t>𝟓</m:t>
                    </m:r>
                    <m:r>
                      <a:rPr lang="en-US" sz="4400" b="1" i="1">
                        <a:latin typeface="Cambria Math"/>
                      </a:rPr>
                      <m:t>𝒚</m:t>
                    </m:r>
                    <m:r>
                      <a:rPr lang="en-US" sz="4400" b="1" i="1">
                        <a:latin typeface="Cambria Math"/>
                      </a:rPr>
                      <m:t>−</m:t>
                    </m:r>
                    <m:r>
                      <a:rPr lang="en-US" sz="4400" b="1" i="1">
                        <a:latin typeface="Cambria Math"/>
                      </a:rPr>
                      <m:t>𝟕𝟓</m:t>
                    </m:r>
                    <m:r>
                      <a:rPr lang="en-US" sz="4400" b="1" i="1">
                        <a:latin typeface="Cambria Math"/>
                      </a:rPr>
                      <m:t>=</m:t>
                    </m:r>
                    <m:r>
                      <a:rPr lang="en-US" sz="4400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58" y="6766169"/>
                <a:ext cx="12018817" cy="2077492"/>
              </a:xfrm>
              <a:prstGeom prst="rect">
                <a:avLst/>
              </a:prstGeom>
              <a:blipFill rotWithShape="1">
                <a:blip r:embed="rId6"/>
                <a:stretch>
                  <a:fillRect l="-1978" b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74373" y="9220200"/>
                <a:ext cx="22971427" cy="34881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𝑩</m:t>
                    </m:r>
                    <m:r>
                      <a:rPr lang="en-US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Tahoma" pitchFamily="34" charset="0"/>
                        <a:cs typeface="Tahoma" pitchFamily="34" charset="0"/>
                      </a:rPr>
                      <m:t>𝑬𝑭</m:t>
                    </m:r>
                    <m:r>
                      <a:rPr lang="en-US" b="1" i="1" smtClean="0">
                        <a:latin typeface="Cambria Math"/>
                        <a:ea typeface="Tahoma" pitchFamily="34" charset="0"/>
                        <a:cs typeface="Tahoma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𝒅</m:t>
                      </m:r>
                      <m:d>
                        <m:d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𝑩</m:t>
                          </m:r>
                          <m:r>
                            <a:rPr lang="en-US" b="1" i="1">
                              <a:latin typeface="Cambria Math"/>
                            </a:rPr>
                            <m:t>,</m:t>
                          </m:r>
                          <m:r>
                            <a:rPr lang="en-US" b="1" i="1">
                              <a:latin typeface="Cambria Math"/>
                              <a:ea typeface="Tahoma" pitchFamily="34" charset="0"/>
                              <a:cs typeface="Tahoma" pitchFamily="34" charset="0"/>
                            </a:rPr>
                            <m:t>𝑬𝑭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𝟕𝟓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𝟓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/>
                            </a:rPr>
                            <m:t>𝟕𝟓</m:t>
                          </m:r>
                          <m:rad>
                            <m:radPr>
                              <m:degHide m:val="on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𝟑𝟒</m:t>
                              </m:r>
                            </m:e>
                          </m:rad>
                        </m:num>
                        <m:den>
                          <m:r>
                            <a:rPr lang="en-US" b="1" i="1">
                              <a:latin typeface="Cambria Math"/>
                            </a:rPr>
                            <m:t>𝟑𝟒</m:t>
                          </m:r>
                        </m:den>
                      </m:f>
                      <m:r>
                        <a:rPr lang="en-US" b="1" i="1">
                          <a:latin typeface="Cambria Math"/>
                        </a:rPr>
                        <m:t>≈</m:t>
                      </m:r>
                      <m:r>
                        <a:rPr lang="en-US" b="1" i="1">
                          <a:latin typeface="Cambria Math"/>
                        </a:rPr>
                        <m:t>𝟏𝟐</m:t>
                      </m:r>
                      <m:r>
                        <a:rPr lang="en-US" b="1" i="1">
                          <a:latin typeface="Cambria Math"/>
                        </a:rPr>
                        <m:t>,</m:t>
                      </m:r>
                      <m:r>
                        <a:rPr lang="en-US" b="1" i="1">
                          <a:latin typeface="Cambria Math"/>
                        </a:rPr>
                        <m:t>𝟖𝟔</m:t>
                      </m:r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Vì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vi-VN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𝟕𝟓</m:t>
                        </m:r>
                        <m:rad>
                          <m:radPr>
                            <m:degHide m:val="on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/>
                              </a:rPr>
                              <m:t>𝟑𝟒</m:t>
                            </m:r>
                          </m:e>
                        </m:rad>
                      </m:num>
                      <m:den>
                        <m:r>
                          <a:rPr lang="en-US" b="1" i="1">
                            <a:latin typeface="Cambria Math"/>
                          </a:rPr>
                          <m:t>𝟑𝟒</m:t>
                        </m:r>
                      </m:den>
                    </m:f>
                    <m:r>
                      <a:rPr lang="en-US" b="1" i="1">
                        <a:latin typeface="Cambria Math"/>
                      </a:rPr>
                      <m:t>&gt;</m:t>
                    </m:r>
                    <m:r>
                      <a:rPr lang="en-US" b="1" i="1">
                        <a:latin typeface="Cambria Math"/>
                      </a:rPr>
                      <m:t>𝟏𝟎</m:t>
                    </m:r>
                    <m:r>
                      <a:rPr lang="en-US" b="1" i="1">
                        <a:latin typeface="Cambria Math"/>
                      </a:rPr>
                      <m:t>,</m:t>
                    </m:r>
                    <m:r>
                      <a:rPr lang="en-US" b="1" i="1">
                        <a:latin typeface="Cambria Math"/>
                      </a:rPr>
                      <m:t>𝟕</m:t>
                    </m:r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73" y="9220200"/>
                <a:ext cx="22971427" cy="3488134"/>
              </a:xfrm>
              <a:prstGeom prst="rect">
                <a:avLst/>
              </a:prstGeom>
              <a:blipFill rotWithShape="1">
                <a:blip r:embed="rId7"/>
                <a:stretch>
                  <a:fillRect l="-1035" t="-3671" b="-244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671331" y="11738017"/>
                <a:ext cx="18669000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 Nam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đứng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ở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trí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𝑩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thì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lưỡi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câu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thể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rơi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vào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nơi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nuôi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31" y="11738017"/>
                <a:ext cx="18669000" cy="754053"/>
              </a:xfrm>
              <a:prstGeom prst="rect">
                <a:avLst/>
              </a:prstGeom>
              <a:blipFill rotWithShape="1">
                <a:blip r:embed="rId8"/>
                <a:stretch>
                  <a:fillRect l="-1273" t="-17073" b="-3739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8873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A6CDAC1F-B641-42AA-861D-669C2EF8F3AD}"/>
              </a:ext>
            </a:extLst>
          </p:cNvPr>
          <p:cNvSpPr/>
          <p:nvPr/>
        </p:nvSpPr>
        <p:spPr>
          <a:xfrm>
            <a:off x="318655" y="2313677"/>
            <a:ext cx="23609007" cy="3052320"/>
          </a:xfrm>
          <a:prstGeom prst="roundRect">
            <a:avLst>
              <a:gd name="adj" fmla="val 411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999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440" tIns="34720" rIns="69440" bIns="34720" rtlCol="0" anchor="ctr"/>
          <a:lstStyle/>
          <a:p>
            <a:pPr algn="ctr"/>
            <a:endParaRPr lang="en-US" sz="460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26805" y="2377601"/>
                <a:ext cx="22992705" cy="2865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7.7 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Xét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trí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tương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đối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giữa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cặp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sau</a:t>
                </a:r>
                <a:endParaRPr lang="vi-VN" b="1" dirty="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                           a)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chemeClr val="tx1"/>
                            </a:solidFill>
                            <a:latin typeface="Cambria Math"/>
                          </a:rPr>
                          <m:t>𝚫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𝟑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và </a:t>
                </a:r>
                <a:r>
                  <a:rPr lang="vi-VN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chemeClr val="tx1"/>
                            </a:solidFill>
                            <a:latin typeface="Cambria Math"/>
                          </a:rPr>
                          <m:t>𝚫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𝟔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𝟐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𝟔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                           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𝟐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  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𝟑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𝟐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                           c)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𝟐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𝟏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 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  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𝟑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𝟐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05" y="2377601"/>
                <a:ext cx="22992705" cy="2865913"/>
              </a:xfrm>
              <a:prstGeom prst="rect">
                <a:avLst/>
              </a:prstGeom>
              <a:blipFill>
                <a:blip r:embed="rId2"/>
                <a:stretch>
                  <a:fillRect l="-1060" t="-4255" b="-8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98087" y="6149502"/>
                <a:ext cx="12980515" cy="16277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Xét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hệ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/>
                              </a:rPr>
                              <m:t>𝟑</m:t>
                            </m:r>
                            <m:rad>
                              <m:radPr>
                                <m:degHide m:val="on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𝟐</m:t>
                                </m:r>
                              </m:e>
                            </m:rad>
                            <m:r>
                              <a:rPr lang="en-US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𝟐</m:t>
                                </m:r>
                              </m:e>
                            </m:rad>
                            <m:r>
                              <a:rPr lang="en-US" b="1" i="1">
                                <a:latin typeface="Cambria Math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𝟑</m:t>
                                </m:r>
                              </m:e>
                            </m:rad>
                            <m:r>
                              <a:rPr lang="en-US" b="1" i="1">
                                <a:latin typeface="Cambria Math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r>
                              <a:rPr lang="en-US" b="1" i="1">
                                <a:latin typeface="Cambria Math"/>
                              </a:rPr>
                              <m:t>𝟔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𝟔</m:t>
                                </m:r>
                              </m:e>
                            </m:rad>
                            <m:r>
                              <a:rPr lang="en-US" b="1" i="1">
                                <a:latin typeface="Cambria Math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87" y="6149502"/>
                <a:ext cx="12980515" cy="1627753"/>
              </a:xfrm>
              <a:prstGeom prst="rect">
                <a:avLst/>
              </a:prstGeom>
              <a:blipFill rotWithShape="1">
                <a:blip r:embed="rId3"/>
                <a:stretch>
                  <a:fillRect l="-18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56"/>
          <p:cNvSpPr txBox="1"/>
          <p:nvPr/>
        </p:nvSpPr>
        <p:spPr>
          <a:xfrm>
            <a:off x="9535815" y="1590255"/>
            <a:ext cx="3480442" cy="7458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/>
            <a:r>
              <a:rPr lang="en-US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TẬP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vi-VN" sz="44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401782" y="8229600"/>
                <a:ext cx="12001500" cy="16255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Xét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hệ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𝟑</m:t>
                                </m:r>
                              </m:e>
                            </m:rad>
                            <m:r>
                              <a:rPr lang="en-US" b="1" i="1">
                                <a:latin typeface="Cambria Math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r>
                              <a:rPr lang="vi-VN" b="1" i="1" smtClean="0">
                                <a:latin typeface="Cambria Math"/>
                              </a:rPr>
                              <m:t> </m:t>
                            </m:r>
                            <m:rad>
                              <m:radPr>
                                <m:degHide m:val="on"/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𝟑</m:t>
                                </m:r>
                              </m:e>
                            </m:rad>
                            <m:r>
                              <a:rPr lang="en-US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82" y="8229600"/>
                <a:ext cx="12001500" cy="1625573"/>
              </a:xfrm>
              <a:prstGeom prst="rect">
                <a:avLst/>
              </a:prstGeom>
              <a:blipFill rotWithShape="1">
                <a:blip r:embed="rId4"/>
                <a:stretch>
                  <a:fillRect l="-20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381000" y="10494784"/>
                <a:ext cx="11125200" cy="13279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Xét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hệ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r>
                              <a:rPr lang="en-US" b="1" i="1"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0494784"/>
                <a:ext cx="11125200" cy="1327928"/>
              </a:xfrm>
              <a:prstGeom prst="rect">
                <a:avLst/>
              </a:prstGeom>
              <a:blipFill rotWithShape="1">
                <a:blip r:embed="rId5"/>
                <a:stretch>
                  <a:fillRect l="-219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/>
          <p:cNvSpPr/>
          <p:nvPr/>
        </p:nvSpPr>
        <p:spPr>
          <a:xfrm>
            <a:off x="12403282" y="6627451"/>
            <a:ext cx="5152373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có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vô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số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nghiệm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. </a:t>
            </a:r>
            <a:endParaRPr lang="vi-VN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17505956" y="6660138"/>
                <a:ext cx="6857262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Vậy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/>
                          </a:rPr>
                          <m:t>𝚫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/>
                          </a:rPr>
                          <m:t>𝚫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trùng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nhau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5956" y="6660138"/>
                <a:ext cx="6857262" cy="754053"/>
              </a:xfrm>
              <a:prstGeom prst="rect">
                <a:avLst/>
              </a:prstGeom>
              <a:blipFill>
                <a:blip r:embed="rId6"/>
                <a:stretch>
                  <a:fillRect l="-3556" t="-17073" r="-2578" b="-37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/>
          <p:cNvSpPr/>
          <p:nvPr/>
        </p:nvSpPr>
        <p:spPr>
          <a:xfrm>
            <a:off x="934957" y="5477076"/>
            <a:ext cx="2433680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2067221" y="8725728"/>
            <a:ext cx="4060727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vô 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nghiệm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.   </a:t>
            </a:r>
            <a:endParaRPr lang="vi-VN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15697200" y="8765974"/>
                <a:ext cx="6881307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Vậy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vi-VN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song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song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7200" y="8765974"/>
                <a:ext cx="6881307" cy="754053"/>
              </a:xfrm>
              <a:prstGeom prst="rect">
                <a:avLst/>
              </a:prstGeom>
              <a:blipFill rotWithShape="1">
                <a:blip r:embed="rId7"/>
                <a:stretch>
                  <a:fillRect l="-3454" t="-16935" r="-2569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10736986" y="10056298"/>
                <a:ext cx="3548328" cy="22048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/>
                              </a:rPr>
                              <m:t>𝒙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/>
                                  </a:rPr>
                                  <m:t>𝟕</m:t>
                                </m:r>
                              </m:den>
                            </m:f>
                          </m:e>
                          <m:e>
                            <m:r>
                              <a:rPr lang="en-US" b="1" i="1">
                                <a:latin typeface="Cambria Math"/>
                              </a:rPr>
                              <m:t>𝒚</m:t>
                            </m:r>
                            <m:r>
                              <a:rPr lang="en-US" b="1" i="1">
                                <a:latin typeface="Cambria Math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/>
                                  </a:rPr>
                                  <m:t>𝟓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/>
                                  </a:rPr>
                                  <m:t>𝟕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.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6986" y="10056298"/>
                <a:ext cx="3548328" cy="22048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/>
          <p:cNvSpPr/>
          <p:nvPr/>
        </p:nvSpPr>
        <p:spPr>
          <a:xfrm>
            <a:off x="13646378" y="10781722"/>
            <a:ext cx="10543271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Hệ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phương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trình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có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nghiệm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duy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nhất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vi-VN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902169" y="12233488"/>
                <a:ext cx="9643666" cy="10826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Vậy </a:t>
                </a:r>
                <a:r>
                  <a:rPr lang="vi-VN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cắt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nhau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tại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/>
                              </a:rPr>
                              <m:t>𝟑</m:t>
                            </m:r>
                          </m:num>
                          <m:den>
                            <m:r>
                              <a:rPr lang="en-US" b="1" i="1">
                                <a:latin typeface="Cambria Math"/>
                              </a:rPr>
                              <m:t>𝟕</m:t>
                            </m:r>
                          </m:den>
                        </m:f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f>
                          <m:f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/>
                              </a:rPr>
                              <m:t>𝟓</m:t>
                            </m:r>
                          </m:num>
                          <m:den>
                            <m:r>
                              <a:rPr lang="en-US" b="1" i="1">
                                <a:latin typeface="Cambria Math"/>
                              </a:rPr>
                              <m:t>𝟕</m:t>
                            </m:r>
                          </m:den>
                        </m:f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169" y="12233488"/>
                <a:ext cx="9643666" cy="1082669"/>
              </a:xfrm>
              <a:prstGeom prst="rect">
                <a:avLst/>
              </a:prstGeom>
              <a:blipFill rotWithShape="1">
                <a:blip r:embed="rId9"/>
                <a:stretch>
                  <a:fillRect l="-2528" r="-1517" b="-960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ounded Rectangle 8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39935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11" grpId="0"/>
      <p:bldP spid="41" grpId="0"/>
      <p:bldP spid="42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A6CDAC1F-B641-42AA-861D-669C2EF8F3AD}"/>
              </a:ext>
            </a:extLst>
          </p:cNvPr>
          <p:cNvSpPr/>
          <p:nvPr/>
        </p:nvSpPr>
        <p:spPr>
          <a:xfrm>
            <a:off x="318655" y="2313677"/>
            <a:ext cx="23609007" cy="3052320"/>
          </a:xfrm>
          <a:prstGeom prst="roundRect">
            <a:avLst>
              <a:gd name="adj" fmla="val 411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999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440" tIns="34720" rIns="69440" bIns="34720" rtlCol="0" anchor="ctr"/>
          <a:lstStyle/>
          <a:p>
            <a:pPr algn="ctr"/>
            <a:endParaRPr lang="en-US" sz="460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Box 56"/>
          <p:cNvSpPr txBox="1"/>
          <p:nvPr/>
        </p:nvSpPr>
        <p:spPr>
          <a:xfrm>
            <a:off x="9570451" y="1545674"/>
            <a:ext cx="3480442" cy="7458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/>
            <a:r>
              <a:rPr lang="en-US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TẬP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vi-VN" sz="44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415769" y="5480880"/>
            <a:ext cx="2433680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52224" y="2458209"/>
                <a:ext cx="23529826" cy="26325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7.8.  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giữa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cặp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sau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</a:t>
                </a:r>
                <a:endParaRPr lang="vi-VN" b="1" dirty="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/>
                      </a:rPr>
                      <m:t>  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/>
                      </a:rPr>
                      <m:t>𝒂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/>
                      </a:rPr>
                      <m:t>) </m:t>
                    </m:r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𝟒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𝟑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  </a:t>
                </a:r>
                <a:r>
                  <a:rPr lang="vi-VN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b="1" i="0" smtClean="0">
                        <a:solidFill>
                          <a:schemeClr val="tx1"/>
                        </a:solidFill>
                        <a:latin typeface="Cambria Math"/>
                      </a:rPr>
                      <m:t>𝐛</m:t>
                    </m:r>
                    <m:r>
                      <a:rPr lang="vi-VN" b="1" i="0" smtClean="0">
                        <a:solidFill>
                          <a:schemeClr val="tx1"/>
                        </a:solidFill>
                        <a:latin typeface="Cambria Math"/>
                      </a:rPr>
                      <m:t>) </m:t>
                    </m:r>
                    <m:sSub>
                      <m:sSubPr>
                        <m:ctrlPr>
                          <a:rPr lang="vi-V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=−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𝟒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</a:p>
              <a:p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                                                                                        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𝒕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là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tham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số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).</a:t>
                </a:r>
                <a:endParaRPr lang="vi-VN" b="1" dirty="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4" y="2458209"/>
                <a:ext cx="23529826" cy="2632516"/>
              </a:xfrm>
              <a:prstGeom prst="rect">
                <a:avLst/>
              </a:prstGeom>
              <a:blipFill rotWithShape="1">
                <a:blip r:embed="rId2"/>
                <a:stretch>
                  <a:fillRect l="-1036" t="-4630" b="-97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59566" y="6234933"/>
                <a:ext cx="20802600" cy="64851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 </a:t>
                </a:r>
                <a:r>
                  <a:rPr lang="en-US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thẳng</a:t>
                </a:r>
                <a:r>
                  <a:rPr lang="vi-VN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/>
                          </a:rPr>
                          <m:t>𝚫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vi-VN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/>
                              </a:rPr>
                              <m:t>𝟑</m:t>
                            </m:r>
                          </m:e>
                        </m:rad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/>
                          </a:rPr>
                          <m:t>𝚫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  <m:r>
                          <a:rPr lang="en-US" b="1" i="1" smtClean="0">
                            <a:latin typeface="Cambria Math"/>
                          </a:rPr>
                          <m:t>    </m:t>
                        </m:r>
                      </m:sub>
                    </m:sSub>
                  </m:oMath>
                </a14:m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ad>
                          <m:radPr>
                            <m:degHide m:val="on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/>
                              </a:rPr>
                              <m:t>𝟑</m:t>
                            </m:r>
                          </m:e>
                        </m:rad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Gọi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𝜶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giữa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2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/>
                          </a:rPr>
                          <m:t>𝚫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/>
                          </a:rPr>
                          <m:t>𝚫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Ta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ó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                                    </m:t>
                    </m:r>
                  </m:oMath>
                </a14:m>
                <a:endParaRPr lang="en-US" b="1" i="1" dirty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       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566" y="6234933"/>
                <a:ext cx="20802600" cy="6485173"/>
              </a:xfrm>
              <a:prstGeom prst="rect">
                <a:avLst/>
              </a:prstGeom>
              <a:blipFill>
                <a:blip r:embed="rId3"/>
                <a:stretch>
                  <a:fillRect l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888633" y="10199062"/>
                <a:ext cx="4039311" cy="1084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/>
                            </a:rPr>
                            <m:t>𝐜𝐨𝐬</m:t>
                          </m:r>
                          <m:d>
                            <m:d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1" i="1">
                                  <a:latin typeface="Cambria Math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633" y="10199062"/>
                <a:ext cx="4039311" cy="108491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927944" y="10083179"/>
                <a:ext cx="3048912" cy="15187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1" i="1">
                                  <a:latin typeface="Cambria Math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b="1" i="1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944" y="10083179"/>
                <a:ext cx="3048912" cy="151874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1763288" y="9060375"/>
                <a:ext cx="6847516" cy="31885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sz="4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vi-VN" sz="4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vi-VN" sz="4000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1" i="1">
                                      <a:latin typeface="Cambria Math"/>
                                    </a:rPr>
                                    <m:t>𝟑</m:t>
                                  </m:r>
                                </m:e>
                              </m:rad>
                              <m:r>
                                <a:rPr lang="en-US" sz="4000" b="1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sz="4000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4000" b="1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4000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4000" b="1" i="1">
                                  <a:latin typeface="Cambria Math"/>
                                </a:rPr>
                                <m:t>.</m:t>
                              </m:r>
                              <m:rad>
                                <m:radPr>
                                  <m:degHide m:val="on"/>
                                  <m:ctrlPr>
                                    <a:rPr lang="vi-VN" sz="4000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1" i="1">
                                      <a:latin typeface="Cambria Math"/>
                                    </a:rPr>
                                    <m:t>𝟑</m:t>
                                  </m:r>
                                </m:e>
                              </m:rad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vi-VN" sz="40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sz="4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vi-VN" sz="4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vi-VN" sz="4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4000" b="1" i="1">
                                              <a:latin typeface="Cambria Math"/>
                                            </a:rPr>
                                            <m:t>𝟑</m:t>
                                          </m:r>
                                        </m:e>
                                      </m:rad>
                                    </m:e>
                                  </m:d>
                                </m:e>
                                <m:sup>
                                  <m:r>
                                    <a:rPr lang="en-US" sz="4000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4000" b="1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vi-VN" sz="4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1" i="1"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US" sz="4000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4000" b="1" i="1">
                              <a:latin typeface="Cambria Math"/>
                            </a:rPr>
                            <m:t>.</m:t>
                          </m:r>
                          <m:rad>
                            <m:radPr>
                              <m:degHide m:val="on"/>
                              <m:ctrlPr>
                                <a:rPr lang="vi-VN" sz="40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sz="4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1" i="1"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US" sz="4000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4000" b="1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vi-VN" sz="4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vi-VN" sz="4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vi-VN" sz="4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4000" b="1" i="1">
                                              <a:latin typeface="Cambria Math"/>
                                            </a:rPr>
                                            <m:t>𝟑</m:t>
                                          </m:r>
                                        </m:e>
                                      </m:rad>
                                    </m:e>
                                  </m:d>
                                </m:e>
                                <m:sup>
                                  <m:r>
                                    <a:rPr lang="en-US" sz="4000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sz="4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sz="40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3288" y="9060375"/>
                <a:ext cx="6847516" cy="31885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8796662" y="9428063"/>
                <a:ext cx="1038939" cy="21738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US" b="1" i="1"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6662" y="9428063"/>
                <a:ext cx="1038939" cy="21738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775630" y="10465528"/>
                <a:ext cx="2147639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>
                          <a:latin typeface="Cambria Math"/>
                        </a:rPr>
                        <m:t>𝐜𝐨𝐬</m:t>
                      </m:r>
                      <m:r>
                        <a:rPr lang="en-US" b="1" i="1">
                          <a:latin typeface="Cambria Math"/>
                        </a:rPr>
                        <m:t>𝜶</m:t>
                      </m:r>
                      <m:r>
                        <a:rPr lang="en-US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630" y="10465528"/>
                <a:ext cx="2147639" cy="754053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713624" y="12387015"/>
                <a:ext cx="16060432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Vậy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giữa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2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/>
                          </a:rPr>
                          <m:t>𝚫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/>
                          </a:rPr>
                          <m:t>𝚫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𝜶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𝟑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𝐨</m:t>
                        </m:r>
                      </m:sup>
                    </m:sSup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624" y="12387015"/>
                <a:ext cx="16060432" cy="754053"/>
              </a:xfrm>
              <a:prstGeom prst="rect">
                <a:avLst/>
              </a:prstGeom>
              <a:blipFill>
                <a:blip r:embed="rId9"/>
                <a:stretch>
                  <a:fillRect l="-1480" t="-17742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ounded Rectangle 8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5843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73" grpId="0"/>
      <p:bldP spid="5" grpId="0"/>
      <p:bldP spid="6" grpId="0"/>
      <p:bldP spid="8" grpId="0"/>
      <p:bldP spid="9" grpId="0"/>
      <p:bldP spid="10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A6CDAC1F-B641-42AA-861D-669C2EF8F3AD}"/>
              </a:ext>
            </a:extLst>
          </p:cNvPr>
          <p:cNvSpPr/>
          <p:nvPr/>
        </p:nvSpPr>
        <p:spPr>
          <a:xfrm>
            <a:off x="318655" y="2313677"/>
            <a:ext cx="23609007" cy="3052320"/>
          </a:xfrm>
          <a:prstGeom prst="roundRect">
            <a:avLst>
              <a:gd name="adj" fmla="val 411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999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440" tIns="34720" rIns="69440" bIns="34720" rtlCol="0" anchor="ctr"/>
          <a:lstStyle/>
          <a:p>
            <a:pPr algn="ctr"/>
            <a:endParaRPr lang="en-US" sz="460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Box 56"/>
          <p:cNvSpPr txBox="1"/>
          <p:nvPr/>
        </p:nvSpPr>
        <p:spPr>
          <a:xfrm>
            <a:off x="9570451" y="1545674"/>
            <a:ext cx="3480442" cy="7458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/>
            <a:r>
              <a:rPr lang="en-US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TẬP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vi-VN" sz="44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52224" y="5480880"/>
            <a:ext cx="2433680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52224" y="2458209"/>
                <a:ext cx="23529826" cy="26325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7.8.  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giữa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cặp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sau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</a:t>
                </a:r>
                <a:endParaRPr lang="vi-VN" b="1" dirty="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/>
                      </a:rPr>
                      <m:t>  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/>
                      </a:rPr>
                      <m:t>𝒂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/>
                      </a:rPr>
                      <m:t>) </m:t>
                    </m:r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𝟒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𝜟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ad>
                      <m:radPr>
                        <m:degHide m:val="on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</m:e>
                    </m:rad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𝟑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  </a:t>
                </a:r>
                <a:r>
                  <a:rPr lang="vi-VN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b="1" i="0" smtClean="0">
                        <a:solidFill>
                          <a:schemeClr val="tx1"/>
                        </a:solidFill>
                        <a:latin typeface="Cambria Math"/>
                      </a:rPr>
                      <m:t>𝐛</m:t>
                    </m:r>
                    <m:r>
                      <a:rPr lang="vi-VN" b="1" i="0" smtClean="0">
                        <a:solidFill>
                          <a:schemeClr val="tx1"/>
                        </a:solidFill>
                        <a:latin typeface="Cambria Math"/>
                      </a:rPr>
                      <m:t>) </m:t>
                    </m:r>
                    <m:sSub>
                      <m:sSubPr>
                        <m:ctrlPr>
                          <a:rPr lang="vi-V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=−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𝟒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vi-V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</a:p>
              <a:p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                                                                                        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𝒕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là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tham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số</a:t>
                </a:r>
                <a:r>
                  <a:rPr lang="en-US" b="1" dirty="0">
                    <a:solidFill>
                      <a:schemeClr val="tx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).</a:t>
                </a:r>
                <a:endParaRPr lang="vi-VN" b="1" dirty="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4" y="2458209"/>
                <a:ext cx="23529826" cy="2632516"/>
              </a:xfrm>
              <a:prstGeom prst="rect">
                <a:avLst/>
              </a:prstGeom>
              <a:blipFill rotWithShape="1">
                <a:blip r:embed="rId2"/>
                <a:stretch>
                  <a:fillRect l="-1036" t="-4630" b="-97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82446" y="6234933"/>
                <a:ext cx="23324434" cy="60478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chỉ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𝒖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chỉ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𝒖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Gọi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𝝋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giữa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2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Ta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                             </m:t>
                      </m:r>
                    </m:oMath>
                  </m:oMathPara>
                </a14:m>
                <a:endParaRPr lang="en-US" b="1" i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46" y="6234933"/>
                <a:ext cx="23324434" cy="6047809"/>
              </a:xfrm>
              <a:prstGeom prst="rect">
                <a:avLst/>
              </a:prstGeom>
              <a:blipFill rotWithShape="1">
                <a:blip r:embed="rId3"/>
                <a:stretch>
                  <a:fillRect l="-1045" r="-34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888633" y="9972539"/>
                <a:ext cx="4039311" cy="1084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/>
                            </a:rPr>
                            <m:t>𝐜𝐨𝐬</m:t>
                          </m:r>
                          <m:d>
                            <m:d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1" i="1">
                                  <a:latin typeface="Cambria Math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633" y="9972539"/>
                <a:ext cx="4039311" cy="108491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927944" y="9856656"/>
                <a:ext cx="3048912" cy="15187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1" i="1">
                                  <a:latin typeface="Cambria Math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b="1" i="1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944" y="9856656"/>
                <a:ext cx="3048912" cy="151874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1914511" y="8875762"/>
                <a:ext cx="6498767" cy="32531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𝟏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  <m:r>
                            <a:rPr lang="en-US" b="1" i="1">
                              <a:latin typeface="Cambria Math"/>
                            </a:rPr>
                            <m:t>.</m:t>
                          </m:r>
                          <m:rad>
                            <m:radPr>
                              <m:degHide m:val="on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4511" y="8875762"/>
                <a:ext cx="6498767" cy="325313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8413278" y="9157587"/>
                <a:ext cx="1934312" cy="216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/>
                            </a:rPr>
                            <m:t>𝟓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𝟓𝟎</m:t>
                              </m:r>
                            </m:e>
                          </m:rad>
                        </m:den>
                      </m:f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3278" y="9157587"/>
                <a:ext cx="1934312" cy="216283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775630" y="10239005"/>
                <a:ext cx="2194126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>
                          <a:latin typeface="Cambria Math"/>
                        </a:rPr>
                        <m:t>𝐜𝐨𝐬</m:t>
                      </m:r>
                      <m:r>
                        <a:rPr lang="en-US" b="1" i="1">
                          <a:latin typeface="Cambria Math"/>
                        </a:rPr>
                        <m:t>𝝋</m:t>
                      </m:r>
                      <m:r>
                        <a:rPr lang="en-US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630" y="10239005"/>
                <a:ext cx="2194126" cy="754053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713624" y="12031278"/>
                <a:ext cx="16060432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Vậy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giữa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2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là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𝝋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/>
                          </a:rPr>
                          <m:t>𝟒𝟓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𝐨</m:t>
                        </m:r>
                      </m:sup>
                    </m:sSup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624" y="12031278"/>
                <a:ext cx="16060432" cy="754053"/>
              </a:xfrm>
              <a:prstGeom prst="rect">
                <a:avLst/>
              </a:prstGeom>
              <a:blipFill>
                <a:blip r:embed="rId9"/>
                <a:stretch>
                  <a:fillRect l="-1480" t="-17073" b="-37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211157" y="9104724"/>
                <a:ext cx="1038939" cy="21738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US" b="1" i="1"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1157" y="9104724"/>
                <a:ext cx="1038939" cy="21738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ounded Rectangle 8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3357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2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A6CDAC1F-B641-42AA-861D-669C2EF8F3AD}"/>
              </a:ext>
            </a:extLst>
          </p:cNvPr>
          <p:cNvSpPr/>
          <p:nvPr/>
        </p:nvSpPr>
        <p:spPr>
          <a:xfrm>
            <a:off x="318655" y="2477552"/>
            <a:ext cx="23609007" cy="4468123"/>
          </a:xfrm>
          <a:prstGeom prst="roundRect">
            <a:avLst>
              <a:gd name="adj" fmla="val 411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999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440" tIns="34720" rIns="69440" bIns="34720" rtlCol="0" anchor="ctr"/>
          <a:lstStyle/>
          <a:p>
            <a:pPr algn="ctr"/>
            <a:endParaRPr lang="en-US" sz="460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Box 56"/>
          <p:cNvSpPr txBox="1"/>
          <p:nvPr/>
        </p:nvSpPr>
        <p:spPr>
          <a:xfrm>
            <a:off x="9570451" y="1545674"/>
            <a:ext cx="3480442" cy="7458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/>
            <a:r>
              <a:rPr lang="en-US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TẬP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vi-VN" sz="44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52224" y="7248949"/>
            <a:ext cx="2433680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52224" y="2458209"/>
                <a:ext cx="23529826" cy="40626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solidFill>
                      <a:srgbClr val="FF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7.9.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Trong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mặt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𝑶𝒙𝒚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cho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:r>
                  <a:rPr lang="en-US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thẳng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  <m:r>
                      <a:rPr lang="en-US" b="1" i="1">
                        <a:latin typeface="Cambria Math"/>
                      </a:rPr>
                      <m:t>:</m:t>
                    </m:r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𝒚</m:t>
                    </m:r>
                    <m:r>
                      <a:rPr lang="en-US" b="1" i="1">
                        <a:latin typeface="Cambria Math"/>
                      </a:rPr>
                      <m:t>−</m:t>
                    </m:r>
                    <m:r>
                      <a:rPr lang="en-US" b="1" i="1">
                        <a:latin typeface="Cambria Math"/>
                      </a:rPr>
                      <m:t>𝟒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điểm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Viết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𝒂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song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song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Viết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𝒃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vuông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4" y="2458209"/>
                <a:ext cx="23529826" cy="4062651"/>
              </a:xfrm>
              <a:prstGeom prst="rect">
                <a:avLst/>
              </a:prstGeom>
              <a:blipFill>
                <a:blip r:embed="rId2"/>
                <a:stretch>
                  <a:fillRect l="-1036" b="-2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338886" y="8262402"/>
                <a:ext cx="21444914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dụng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thức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ta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886" y="8262402"/>
                <a:ext cx="21444914" cy="754053"/>
              </a:xfrm>
              <a:prstGeom prst="rect">
                <a:avLst/>
              </a:prstGeom>
              <a:blipFill>
                <a:blip r:embed="rId3"/>
                <a:stretch>
                  <a:fillRect l="-1137" t="-16935" b="-36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9144000" y="8820360"/>
                <a:ext cx="3644652" cy="24822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sz="4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vi-VN" sz="4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1" i="1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4400" b="1" i="1">
                                  <a:latin typeface="Cambria Math"/>
                                </a:rPr>
                                <m:t>𝟒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vi-VN" sz="4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400" b="1" i="1"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US" sz="4400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4400" b="1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vi-VN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400" b="1" i="1"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US" sz="4400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sz="4400" b="1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0" y="8820360"/>
                <a:ext cx="3644652" cy="248221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2788652" y="9665013"/>
                <a:ext cx="1396793" cy="12274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>
                          <a:latin typeface="Cambria Math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vi-VN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4400" b="1" i="1">
                              <a:latin typeface="Cambria Math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8652" y="9665013"/>
                <a:ext cx="1396793" cy="122745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540235" y="11925678"/>
                <a:ext cx="16060432" cy="8352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Vậy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sz="4400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điểm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𝟑</m:t>
                    </m:r>
                    <m:rad>
                      <m:radPr>
                        <m:degHide m:val="on"/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>
                            <a:latin typeface="Cambria Math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35" y="11925678"/>
                <a:ext cx="16060432" cy="835293"/>
              </a:xfrm>
              <a:prstGeom prst="rect">
                <a:avLst/>
              </a:prstGeom>
              <a:blipFill>
                <a:blip r:embed="rId6"/>
                <a:stretch>
                  <a:fillRect l="-1557" t="-8029" b="-32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511365" y="9881195"/>
                <a:ext cx="2716769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>
                          <a:latin typeface="Cambria Math"/>
                        </a:rPr>
                        <m:t>𝒅</m:t>
                      </m:r>
                      <m:d>
                        <m:dPr>
                          <m:ctrlPr>
                            <a:rPr lang="vi-VN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latin typeface="Cambria Math"/>
                            </a:rPr>
                            <m:t>𝑨</m:t>
                          </m:r>
                          <m:r>
                            <a:rPr lang="en-US" sz="4400" b="1" i="1">
                              <a:latin typeface="Cambria Math"/>
                            </a:rPr>
                            <m:t>,</m:t>
                          </m:r>
                          <m:r>
                            <a:rPr lang="en-US" sz="4400" b="1" i="0">
                              <a:latin typeface="Cambria Math"/>
                            </a:rPr>
                            <m:t>𝚫</m:t>
                          </m:r>
                        </m:e>
                      </m:d>
                      <m:r>
                        <a:rPr lang="en-US" sz="44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sz="4400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365" y="9881195"/>
                <a:ext cx="2716769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ounded Rectangle 8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4396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73" grpId="0"/>
      <p:bldP spid="5" grpId="0"/>
      <p:bldP spid="9" grpId="0"/>
      <p:bldP spid="12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A6CDAC1F-B641-42AA-861D-669C2EF8F3AD}"/>
              </a:ext>
            </a:extLst>
          </p:cNvPr>
          <p:cNvSpPr/>
          <p:nvPr/>
        </p:nvSpPr>
        <p:spPr>
          <a:xfrm>
            <a:off x="318655" y="2477553"/>
            <a:ext cx="23609007" cy="4043308"/>
          </a:xfrm>
          <a:prstGeom prst="roundRect">
            <a:avLst>
              <a:gd name="adj" fmla="val 411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999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440" tIns="34720" rIns="69440" bIns="34720" rtlCol="0" anchor="ctr"/>
          <a:lstStyle/>
          <a:p>
            <a:pPr algn="ctr"/>
            <a:endParaRPr lang="en-US" sz="460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Box 56"/>
          <p:cNvSpPr txBox="1"/>
          <p:nvPr/>
        </p:nvSpPr>
        <p:spPr>
          <a:xfrm>
            <a:off x="9570451" y="1545674"/>
            <a:ext cx="3480442" cy="7458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/>
            <a:r>
              <a:rPr lang="en-US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TẬP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vi-VN" sz="44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61520" y="6927406"/>
            <a:ext cx="2433680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52224" y="2458209"/>
                <a:ext cx="23529826" cy="40626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solidFill>
                      <a:srgbClr val="FF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7.9.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Trong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mặt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𝑶𝒙𝒚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cho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𝜟</m:t>
                    </m:r>
                    <m:r>
                      <a:rPr lang="en-US" b="1" i="1">
                        <a:latin typeface="Cambria Math"/>
                      </a:rPr>
                      <m:t>:</m:t>
                    </m:r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𝒚</m:t>
                    </m:r>
                    <m:r>
                      <a:rPr lang="en-US" b="1" i="1">
                        <a:latin typeface="Cambria Math"/>
                      </a:rPr>
                      <m:t>−</m:t>
                    </m:r>
                    <m:r>
                      <a:rPr lang="en-US" b="1" i="1">
                        <a:latin typeface="Cambria Math"/>
                      </a:rPr>
                      <m:t>𝟒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điểm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Viết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𝒂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song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song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Viết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𝒃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vuông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4" y="2458209"/>
                <a:ext cx="23529826" cy="4062651"/>
              </a:xfrm>
              <a:prstGeom prst="rect">
                <a:avLst/>
              </a:prstGeom>
              <a:blipFill>
                <a:blip r:embed="rId2"/>
                <a:stretch>
                  <a:fillRect l="-1036" r="-155" b="-2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10011" y="8160635"/>
                <a:ext cx="21444914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  <m:r>
                      <a:rPr lang="en-US" b="1" i="1">
                        <a:latin typeface="Cambria Math"/>
                      </a:rPr>
                      <m:t>:</m:t>
                    </m:r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𝒚</m:t>
                    </m:r>
                    <m:r>
                      <a:rPr lang="en-US" b="1" i="1">
                        <a:latin typeface="Cambria Math"/>
                      </a:rPr>
                      <m:t>−</m:t>
                    </m:r>
                    <m:r>
                      <a:rPr lang="en-US" b="1" i="1">
                        <a:latin typeface="Cambria Math"/>
                      </a:rPr>
                      <m:t>𝟒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𝜟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11" y="8160635"/>
                <a:ext cx="21444914" cy="754053"/>
              </a:xfrm>
              <a:prstGeom prst="rect">
                <a:avLst/>
              </a:prstGeom>
              <a:blipFill>
                <a:blip r:embed="rId3"/>
                <a:stretch>
                  <a:fillRect l="-1137" t="-17073" b="-37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27880" y="9139556"/>
                <a:ext cx="22390556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Vì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𝒂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song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song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𝒂</m:t>
                            </m:r>
                          </m:sub>
                        </m:sSub>
                      </m:e>
                    </m:acc>
                    <m:r>
                      <a:rPr lang="en-US" b="1" i="1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𝜟</m:t>
                            </m:r>
                          </m:sub>
                        </m:sSub>
                      </m:e>
                    </m:acc>
                    <m:r>
                      <a:rPr lang="en-US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𝒂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880" y="9139556"/>
                <a:ext cx="22390556" cy="754053"/>
              </a:xfrm>
              <a:prstGeom prst="rect">
                <a:avLst/>
              </a:prstGeom>
              <a:blipFill>
                <a:blip r:embed="rId4"/>
                <a:stretch>
                  <a:fillRect l="-1062" t="-16935" b="-36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89229" y="10195200"/>
                <a:ext cx="22181876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Lại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𝒂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tổng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quát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𝒂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229" y="10195200"/>
                <a:ext cx="22181876" cy="754053"/>
              </a:xfrm>
              <a:prstGeom prst="rect">
                <a:avLst/>
              </a:prstGeom>
              <a:blipFill rotWithShape="1">
                <a:blip r:embed="rId5"/>
                <a:stretch>
                  <a:fillRect l="-1072" t="-16935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24200" y="11420212"/>
                <a:ext cx="704633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𝟏</m:t>
                    </m:r>
                    <m:r>
                      <a:rPr lang="en-US" sz="4400" b="1" i="1">
                        <a:latin typeface="Cambria Math"/>
                      </a:rPr>
                      <m:t>.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𝒙</m:t>
                        </m:r>
                        <m:r>
                          <a:rPr lang="en-US" sz="4400" b="1" i="1">
                            <a:latin typeface="Cambria Math"/>
                          </a:rPr>
                          <m:t>+</m:t>
                        </m:r>
                        <m:r>
                          <a:rPr lang="en-US" sz="4400" b="1" i="1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sz="4400" b="1" i="1">
                        <a:latin typeface="Cambria Math"/>
                      </a:rPr>
                      <m:t>+</m:t>
                    </m:r>
                    <m:r>
                      <a:rPr lang="en-US" sz="4400" b="1" i="1">
                        <a:latin typeface="Cambria Math"/>
                      </a:rPr>
                      <m:t>𝟏</m:t>
                    </m:r>
                    <m:r>
                      <a:rPr lang="en-US" sz="4400" b="1" i="1">
                        <a:latin typeface="Cambria Math"/>
                      </a:rPr>
                      <m:t>.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𝒚</m:t>
                        </m:r>
                        <m:r>
                          <a:rPr lang="en-US" sz="4400" b="1" i="1">
                            <a:latin typeface="Cambria Math"/>
                          </a:rPr>
                          <m:t>−</m:t>
                        </m:r>
                        <m:r>
                          <a:rPr lang="en-US" sz="4400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sz="4400" b="1" i="1">
                        <a:latin typeface="Cambria Math"/>
                      </a:rPr>
                      <m:t>=</m:t>
                    </m:r>
                    <m:r>
                      <a:rPr lang="en-US" sz="4400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sz="4400" b="1" dirty="0"/>
                  <a:t> </a:t>
                </a:r>
                <a:endParaRPr lang="vi-VN" sz="44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11420212"/>
                <a:ext cx="7046336" cy="76944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0170536" y="11420212"/>
                <a:ext cx="4860433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hay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𝒚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𝟏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536" y="11420212"/>
                <a:ext cx="4860433" cy="754053"/>
              </a:xfrm>
              <a:prstGeom prst="rect">
                <a:avLst/>
              </a:prstGeom>
              <a:blipFill rotWithShape="1">
                <a:blip r:embed="rId7"/>
                <a:stretch>
                  <a:fillRect l="-4887" t="-16935" r="-4010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ounded Rectangle 8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93057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A6CDAC1F-B641-42AA-861D-669C2EF8F3AD}"/>
              </a:ext>
            </a:extLst>
          </p:cNvPr>
          <p:cNvSpPr/>
          <p:nvPr/>
        </p:nvSpPr>
        <p:spPr>
          <a:xfrm>
            <a:off x="318655" y="2477553"/>
            <a:ext cx="23609007" cy="4043308"/>
          </a:xfrm>
          <a:prstGeom prst="roundRect">
            <a:avLst>
              <a:gd name="adj" fmla="val 411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999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440" tIns="34720" rIns="69440" bIns="34720" rtlCol="0" anchor="ctr"/>
          <a:lstStyle/>
          <a:p>
            <a:pPr algn="ctr"/>
            <a:endParaRPr lang="en-US" sz="460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Box 56"/>
          <p:cNvSpPr txBox="1"/>
          <p:nvPr/>
        </p:nvSpPr>
        <p:spPr>
          <a:xfrm>
            <a:off x="9570451" y="1545674"/>
            <a:ext cx="3480442" cy="7458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/>
            <a:r>
              <a:rPr lang="en-US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TẬP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vi-VN" sz="44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61520" y="6927406"/>
            <a:ext cx="2433680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52224" y="2458209"/>
                <a:ext cx="23529826" cy="40626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solidFill>
                      <a:srgbClr val="FF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7.9.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Trong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mặt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𝑶𝒙𝒚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cho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  <m:r>
                      <a:rPr lang="en-US" b="1" i="1">
                        <a:latin typeface="Cambria Math"/>
                      </a:rPr>
                      <m:t>:</m:t>
                    </m:r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𝒚</m:t>
                    </m:r>
                    <m:r>
                      <a:rPr lang="en-US" b="1" i="1">
                        <a:latin typeface="Cambria Math"/>
                      </a:rPr>
                      <m:t>−</m:t>
                    </m:r>
                    <m:r>
                      <a:rPr lang="en-US" b="1" i="1">
                        <a:latin typeface="Cambria Math"/>
                      </a:rPr>
                      <m:t>𝟒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b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điểm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Viết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𝒂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𝑴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song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song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Viết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𝒃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vuông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4" y="2458209"/>
                <a:ext cx="23529826" cy="4062651"/>
              </a:xfrm>
              <a:prstGeom prst="rect">
                <a:avLst/>
              </a:prstGeom>
              <a:blipFill>
                <a:blip r:embed="rId2"/>
                <a:stretch>
                  <a:fillRect l="-1036" b="-2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10011" y="8160634"/>
                <a:ext cx="21444914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c)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  <m:r>
                      <a:rPr lang="en-US" b="1" i="1">
                        <a:latin typeface="Cambria Math"/>
                      </a:rPr>
                      <m:t>:</m:t>
                    </m:r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𝒚</m:t>
                    </m:r>
                    <m:r>
                      <a:rPr lang="en-US" b="1" i="1">
                        <a:latin typeface="Cambria Math"/>
                      </a:rPr>
                      <m:t>−</m:t>
                    </m:r>
                    <m:r>
                      <a:rPr lang="en-US" b="1" i="1">
                        <a:latin typeface="Cambria Math"/>
                      </a:rPr>
                      <m:t>𝟒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𝜟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11" y="8160634"/>
                <a:ext cx="21444914" cy="754053"/>
              </a:xfrm>
              <a:prstGeom prst="rect">
                <a:avLst/>
              </a:prstGeom>
              <a:blipFill>
                <a:blip r:embed="rId3"/>
                <a:stretch>
                  <a:fillRect l="-1137" t="-17073" b="-37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405474" y="9139556"/>
                <a:ext cx="22390556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Vì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𝒃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vuông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/>
                      </a:rPr>
                      <m:t>𝚫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nên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𝒃</m:t>
                            </m:r>
                          </m:sub>
                        </m:sSub>
                      </m:e>
                    </m:acc>
                    <m:r>
                      <a:rPr lang="en-US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𝒃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474" y="9139556"/>
                <a:ext cx="22390556" cy="754053"/>
              </a:xfrm>
              <a:prstGeom prst="rect">
                <a:avLst/>
              </a:prstGeom>
              <a:blipFill>
                <a:blip r:embed="rId4"/>
                <a:stretch>
                  <a:fillRect l="-1089" t="-16935" b="-36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326199" y="10195200"/>
                <a:ext cx="22181876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Lại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𝒃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tổng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quát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𝒃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199" y="10195200"/>
                <a:ext cx="22181876" cy="754053"/>
              </a:xfrm>
              <a:prstGeom prst="rect">
                <a:avLst/>
              </a:prstGeom>
              <a:blipFill rotWithShape="1">
                <a:blip r:embed="rId5"/>
                <a:stretch>
                  <a:fillRect l="-1100" t="-16935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24200" y="11420212"/>
                <a:ext cx="704633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𝟏</m:t>
                    </m:r>
                    <m:r>
                      <a:rPr lang="en-US" sz="4400" b="1" i="1">
                        <a:latin typeface="Cambria Math"/>
                      </a:rPr>
                      <m:t>.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𝒙</m:t>
                        </m:r>
                        <m:r>
                          <a:rPr lang="en-US" sz="4400" b="1" i="1">
                            <a:latin typeface="Cambria Math"/>
                          </a:rPr>
                          <m:t>−</m:t>
                        </m:r>
                        <m:r>
                          <a:rPr lang="en-US" sz="4400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sz="4400" b="1" i="1">
                        <a:latin typeface="Cambria Math"/>
                      </a:rPr>
                      <m:t>−</m:t>
                    </m:r>
                    <m:r>
                      <a:rPr lang="en-US" sz="4400" b="1" i="1">
                        <a:latin typeface="Cambria Math"/>
                      </a:rPr>
                      <m:t>𝟏</m:t>
                    </m:r>
                    <m:r>
                      <a:rPr lang="en-US" sz="4400" b="1" i="1">
                        <a:latin typeface="Cambria Math"/>
                      </a:rPr>
                      <m:t>.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𝒚</m:t>
                        </m:r>
                        <m:r>
                          <a:rPr lang="en-US" sz="4400" b="1" i="1">
                            <a:latin typeface="Cambria Math"/>
                          </a:rPr>
                          <m:t>−</m:t>
                        </m:r>
                        <m:r>
                          <a:rPr lang="en-US" sz="4400" b="1" i="1">
                            <a:latin typeface="Cambria Math"/>
                          </a:rPr>
                          <m:t>𝟑</m:t>
                        </m:r>
                      </m:e>
                    </m:d>
                    <m:r>
                      <a:rPr lang="en-US" sz="4400" b="1" i="1">
                        <a:latin typeface="Cambria Math"/>
                      </a:rPr>
                      <m:t>=</m:t>
                    </m:r>
                    <m:r>
                      <a:rPr lang="en-US" sz="4400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sz="4400" b="1" dirty="0"/>
                  <a:t> </a:t>
                </a:r>
                <a:endParaRPr lang="vi-VN" sz="44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11420212"/>
                <a:ext cx="7046336" cy="76944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0170536" y="11420212"/>
                <a:ext cx="4942187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hay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</a:rPr>
                      <m:t>  </m:t>
                    </m:r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−</m:t>
                    </m:r>
                    <m:r>
                      <a:rPr lang="en-US" b="1" i="1">
                        <a:latin typeface="Cambria Math"/>
                      </a:rPr>
                      <m:t>𝒚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𝟑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536" y="11420212"/>
                <a:ext cx="4942187" cy="754053"/>
              </a:xfrm>
              <a:prstGeom prst="rect">
                <a:avLst/>
              </a:prstGeom>
              <a:blipFill rotWithShape="1">
                <a:blip r:embed="rId7"/>
                <a:stretch>
                  <a:fillRect l="-4809" t="-16935" r="-4069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ounded Rectangle 8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55700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A6CDAC1F-B641-42AA-861D-669C2EF8F3AD}"/>
              </a:ext>
            </a:extLst>
          </p:cNvPr>
          <p:cNvSpPr/>
          <p:nvPr/>
        </p:nvSpPr>
        <p:spPr>
          <a:xfrm>
            <a:off x="318655" y="2477553"/>
            <a:ext cx="23609007" cy="3119977"/>
          </a:xfrm>
          <a:prstGeom prst="roundRect">
            <a:avLst>
              <a:gd name="adj" fmla="val 411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999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440" tIns="34720" rIns="69440" bIns="34720" rtlCol="0" anchor="ctr"/>
          <a:lstStyle/>
          <a:p>
            <a:pPr algn="ctr"/>
            <a:endParaRPr lang="en-US" sz="460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Box 56"/>
          <p:cNvSpPr txBox="1"/>
          <p:nvPr/>
        </p:nvSpPr>
        <p:spPr>
          <a:xfrm>
            <a:off x="9570451" y="1545674"/>
            <a:ext cx="3480442" cy="7458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/>
            <a:r>
              <a:rPr lang="en-US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TẬP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vi-VN" sz="44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5297" y="5704145"/>
            <a:ext cx="2433680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52224" y="2458209"/>
                <a:ext cx="23529826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400" b="1" dirty="0">
                    <a:solidFill>
                      <a:srgbClr val="FF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7.10.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Trong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mặt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phẳng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cho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tam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giác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𝟏</m:t>
                        </m:r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r>
                          <a:rPr lang="en-US" sz="4400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sz="4400" b="1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sz="4400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B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𝟑</m:t>
                        </m:r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r>
                          <a:rPr lang="en-US" sz="4400" b="1" i="1">
                            <a:latin typeface="Cambria Math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400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C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−</m:t>
                        </m:r>
                        <m:r>
                          <a:rPr lang="en-US" sz="4400" b="1" i="1">
                            <a:latin typeface="Cambria Math"/>
                          </a:rPr>
                          <m:t>𝟐</m:t>
                        </m:r>
                        <m:r>
                          <a:rPr lang="en-US" sz="4400" b="1" i="1">
                            <a:latin typeface="Cambria Math"/>
                          </a:rPr>
                          <m:t>;−</m:t>
                        </m:r>
                        <m:r>
                          <a:rPr lang="en-US" sz="4400" b="1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a)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dài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cao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kẻ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đỉnh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tam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giác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b)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diện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tích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tam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giác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4" y="2458209"/>
                <a:ext cx="23529826" cy="3139321"/>
              </a:xfrm>
              <a:prstGeom prst="rect">
                <a:avLst/>
              </a:prstGeom>
              <a:blipFill rotWithShape="1">
                <a:blip r:embed="rId2"/>
                <a:stretch>
                  <a:fillRect l="-1062" b="-40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27256" y="6514257"/>
                <a:ext cx="6573193" cy="8387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a)Ta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𝑩𝑪</m:t>
                        </m:r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56" y="6514257"/>
                <a:ext cx="6573193" cy="838756"/>
              </a:xfrm>
              <a:prstGeom prst="rect">
                <a:avLst/>
              </a:prstGeom>
              <a:blipFill rotWithShape="1">
                <a:blip r:embed="rId3"/>
                <a:stretch>
                  <a:fillRect l="-3618" t="-5839" b="-328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2123158" y="11024782"/>
                <a:ext cx="4740079" cy="33191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3158" y="11024782"/>
                <a:ext cx="4740079" cy="331911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6856310" y="11129248"/>
                <a:ext cx="1944507" cy="2223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sz="4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 smtClean="0">
                              <a:latin typeface="Cambria Math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vi-VN" sz="4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400" b="1" i="1">
                                  <a:latin typeface="Cambria Math"/>
                                </a:rPr>
                                <m:t>𝟑𝟒</m:t>
                              </m:r>
                            </m:e>
                          </m:rad>
                        </m:num>
                        <m:den>
                          <m:r>
                            <a:rPr lang="en-US" sz="4400" b="1" i="1">
                              <a:latin typeface="Cambria Math"/>
                            </a:rPr>
                            <m:t>𝟏𝟕</m:t>
                          </m:r>
                        </m:den>
                      </m:f>
                      <m:r>
                        <a:rPr lang="en-US" sz="4400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6310" y="11129248"/>
                <a:ext cx="1944507" cy="222349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635528" y="12092973"/>
                <a:ext cx="4650825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/>
                        </a:rPr>
                        <m:t>𝑨𝑯</m:t>
                      </m:r>
                      <m:r>
                        <a:rPr lang="en-US" sz="4400" b="1" i="1" smtClean="0">
                          <a:latin typeface="Cambria Math"/>
                        </a:rPr>
                        <m:t>=</m:t>
                      </m:r>
                      <m:r>
                        <a:rPr lang="en-US" sz="4400" b="1" i="1" smtClean="0">
                          <a:latin typeface="Cambria Math"/>
                        </a:rPr>
                        <m:t>𝒅</m:t>
                      </m:r>
                      <m:d>
                        <m:dPr>
                          <m:ctrlPr>
                            <a:rPr lang="vi-VN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latin typeface="Cambria Math"/>
                            </a:rPr>
                            <m:t>𝑨</m:t>
                          </m:r>
                          <m:r>
                            <a:rPr lang="en-US" sz="4400" b="1" i="1">
                              <a:latin typeface="Cambria Math"/>
                            </a:rPr>
                            <m:t>,</m:t>
                          </m:r>
                          <m:r>
                            <a:rPr lang="en-US" sz="4400" b="1" i="1">
                              <a:latin typeface="Cambria Math"/>
                            </a:rPr>
                            <m:t>𝑩𝑪</m:t>
                          </m:r>
                        </m:e>
                      </m:d>
                      <m:r>
                        <a:rPr lang="en-US" sz="4400" b="1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sz="4400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528" y="12092973"/>
                <a:ext cx="4650825" cy="76944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13401" y="7314447"/>
                <a:ext cx="12877011" cy="1211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𝑩𝑪</m:t>
                    </m:r>
                    <m:r>
                      <a:rPr lang="en-US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chỉ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latin typeface="Cambria Math"/>
                          </a:rPr>
                          <m:t>𝑩𝑪</m:t>
                        </m:r>
                      </m:e>
                    </m:acc>
                    <m:r>
                      <a:rPr lang="en-US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01" y="7314447"/>
                <a:ext cx="12877011" cy="1211998"/>
              </a:xfrm>
              <a:prstGeom prst="rect">
                <a:avLst/>
              </a:prstGeom>
              <a:blipFill rotWithShape="1">
                <a:blip r:embed="rId7"/>
                <a:stretch>
                  <a:fillRect b="-904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262672" y="8619413"/>
                <a:ext cx="6096000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e>
                    </m:d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672" y="8619413"/>
                <a:ext cx="6096000" cy="754053"/>
              </a:xfrm>
              <a:prstGeom prst="rect">
                <a:avLst/>
              </a:prstGeom>
              <a:blipFill rotWithShape="1">
                <a:blip r:embed="rId8"/>
                <a:stretch>
                  <a:fillRect l="-3900" t="-16935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856700" y="9590735"/>
                <a:ext cx="10737235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tổng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quát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𝑩𝑪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00" y="9590735"/>
                <a:ext cx="10737235" cy="754053"/>
              </a:xfrm>
              <a:prstGeom prst="rect">
                <a:avLst/>
              </a:prstGeom>
              <a:blipFill rotWithShape="1">
                <a:blip r:embed="rId9"/>
                <a:stretch>
                  <a:fillRect l="-2271" t="-16935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15011400" y="5597530"/>
            <a:ext cx="8960291" cy="3912698"/>
            <a:chOff x="14793380" y="4108112"/>
            <a:chExt cx="8960291" cy="4725353"/>
          </a:xfrm>
        </p:grpSpPr>
        <p:sp>
          <p:nvSpPr>
            <p:cNvPr id="13" name="Rectangle 12"/>
            <p:cNvSpPr/>
            <p:nvPr/>
          </p:nvSpPr>
          <p:spPr>
            <a:xfrm>
              <a:off x="17089635" y="4353513"/>
              <a:ext cx="5203298" cy="14890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11" name="Picture 10"/>
            <p:cNvPicPr/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6">
                  <a:lumMod val="20000"/>
                  <a:lumOff val="8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93380" y="4108112"/>
              <a:ext cx="8960291" cy="472535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1520562" y="9594144"/>
                <a:ext cx="6242093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𝟑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𝒙</m:t>
                        </m:r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−</m:t>
                    </m:r>
                    <m:r>
                      <a:rPr lang="en-US" b="1" i="1">
                        <a:latin typeface="Cambria Math"/>
                      </a:rPr>
                      <m:t>𝟓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𝒚</m:t>
                        </m:r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endParaRPr lang="vi-VN" b="1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0562" y="9594144"/>
                <a:ext cx="6242093" cy="7540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7828563" y="9566239"/>
                <a:ext cx="5520870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hay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𝟑</m:t>
                    </m:r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−</m:t>
                    </m:r>
                    <m:r>
                      <a:rPr lang="en-US" b="1" i="1">
                        <a:latin typeface="Cambria Math"/>
                      </a:rPr>
                      <m:t>𝟓</m:t>
                    </m:r>
                    <m:r>
                      <a:rPr lang="en-US" b="1" i="1">
                        <a:latin typeface="Cambria Math"/>
                      </a:rPr>
                      <m:t>𝒚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𝟏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563" y="9566239"/>
                <a:ext cx="5520870" cy="754053"/>
              </a:xfrm>
              <a:prstGeom prst="rect">
                <a:avLst/>
              </a:prstGeom>
              <a:blipFill>
                <a:blip r:embed="rId12"/>
                <a:stretch>
                  <a:fillRect l="-4420" t="-16935" r="-3425" b="-36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838988" y="10501382"/>
                <a:ext cx="9291839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Gọi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𝑯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hình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chiếu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𝑩𝑪</m:t>
                    </m:r>
                    <m:r>
                      <a:rPr lang="en-US" b="1" i="1" smtClean="0">
                        <a:latin typeface="Cambria Math"/>
                      </a:rPr>
                      <m:t>.</m:t>
                    </m:r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88" y="10501382"/>
                <a:ext cx="9291839" cy="754053"/>
              </a:xfrm>
              <a:prstGeom prst="rect">
                <a:avLst/>
              </a:prstGeom>
              <a:blipFill rotWithShape="1">
                <a:blip r:embed="rId13"/>
                <a:stretch>
                  <a:fillRect l="-2625" t="-17073" b="-3739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0137754" y="10501382"/>
                <a:ext cx="14322575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dài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cao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kẻ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đỉnh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tam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giác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7754" y="10501382"/>
                <a:ext cx="14322575" cy="754053"/>
              </a:xfrm>
              <a:prstGeom prst="rect">
                <a:avLst/>
              </a:prstGeom>
              <a:blipFill rotWithShape="1">
                <a:blip r:embed="rId14"/>
                <a:stretch>
                  <a:fillRect l="-1660" t="-17073" b="-3739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927256" y="11486942"/>
                <a:ext cx="6740948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𝑨𝑩𝑪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chính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dài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𝑨𝑯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56" y="11486942"/>
                <a:ext cx="6740948" cy="754053"/>
              </a:xfrm>
              <a:prstGeom prst="rect">
                <a:avLst/>
              </a:prstGeom>
              <a:blipFill rotWithShape="1">
                <a:blip r:embed="rId15"/>
                <a:stretch>
                  <a:fillRect t="-16935" r="-2622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997798" y="8555097"/>
                <a:ext cx="7264874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𝒏</m:t>
                        </m:r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</m:e>
                    </m:d>
                  </m:oMath>
                </a14:m>
                <a:endParaRPr lang="vi-VN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98" y="8555097"/>
                <a:ext cx="7264874" cy="754053"/>
              </a:xfrm>
              <a:prstGeom prst="rect">
                <a:avLst/>
              </a:prstGeom>
              <a:blipFill rotWithShape="1">
                <a:blip r:embed="rId16"/>
                <a:stretch>
                  <a:fillRect l="-3359" t="-17742" b="-354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ounded Rectangle 9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24721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73" grpId="0"/>
      <p:bldP spid="5" grpId="0"/>
      <p:bldP spid="9" grpId="0"/>
      <p:bldP spid="4" grpId="0"/>
      <p:bldP spid="8" grpId="0"/>
      <p:bldP spid="10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A6CDAC1F-B641-42AA-861D-669C2EF8F3AD}"/>
              </a:ext>
            </a:extLst>
          </p:cNvPr>
          <p:cNvSpPr/>
          <p:nvPr/>
        </p:nvSpPr>
        <p:spPr>
          <a:xfrm>
            <a:off x="318655" y="2477553"/>
            <a:ext cx="23609007" cy="3119977"/>
          </a:xfrm>
          <a:prstGeom prst="roundRect">
            <a:avLst>
              <a:gd name="adj" fmla="val 411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999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440" tIns="34720" rIns="69440" bIns="34720" rtlCol="0" anchor="ctr"/>
          <a:lstStyle/>
          <a:p>
            <a:pPr algn="ctr"/>
            <a:endParaRPr lang="en-US" sz="460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Box 56"/>
          <p:cNvSpPr txBox="1"/>
          <p:nvPr/>
        </p:nvSpPr>
        <p:spPr>
          <a:xfrm>
            <a:off x="9570451" y="1545674"/>
            <a:ext cx="3480442" cy="7458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/>
            <a:r>
              <a:rPr lang="en-US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TẬP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vi-VN" sz="44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5297" y="5704145"/>
            <a:ext cx="2433680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52224" y="2458209"/>
                <a:ext cx="23529826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400" b="1" dirty="0">
                    <a:solidFill>
                      <a:srgbClr val="FF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7.10.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Trong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mặt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phẳng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cho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tam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giác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𝟏</m:t>
                        </m:r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r>
                          <a:rPr lang="en-US" sz="4400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sz="4400" b="1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sz="4400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B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𝟑</m:t>
                        </m:r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r>
                          <a:rPr lang="en-US" sz="4400" b="1" i="1">
                            <a:latin typeface="Cambria Math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400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C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−</m:t>
                        </m:r>
                        <m:r>
                          <a:rPr lang="en-US" sz="4400" b="1" i="1">
                            <a:latin typeface="Cambria Math"/>
                          </a:rPr>
                          <m:t>𝟐</m:t>
                        </m:r>
                        <m:r>
                          <a:rPr lang="en-US" sz="4400" b="1" i="1">
                            <a:latin typeface="Cambria Math"/>
                          </a:rPr>
                          <m:t>;−</m:t>
                        </m:r>
                        <m:r>
                          <a:rPr lang="en-US" sz="4400" b="1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a)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dài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cao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kẻ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đỉnh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tam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giác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b)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diện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tích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tam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giác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4" y="2458209"/>
                <a:ext cx="23529826" cy="3139321"/>
              </a:xfrm>
              <a:prstGeom prst="rect">
                <a:avLst/>
              </a:prstGeom>
              <a:blipFill rotWithShape="1">
                <a:blip r:embed="rId2"/>
                <a:stretch>
                  <a:fillRect l="-1062" b="-40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27256" y="6514257"/>
                <a:ext cx="6573193" cy="8387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a)</a:t>
                </a:r>
                <a:r>
                  <a:rPr lang="vi-VN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</a:rPr>
                          <m:t>𝑩𝑪</m:t>
                        </m:r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latin typeface="Cambria Math"/>
                          </a:rPr>
                          <m:t>𝟓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56" y="6514257"/>
                <a:ext cx="6573193" cy="838756"/>
              </a:xfrm>
              <a:prstGeom prst="rect">
                <a:avLst/>
              </a:prstGeom>
              <a:blipFill rotWithShape="1">
                <a:blip r:embed="rId3"/>
                <a:stretch>
                  <a:fillRect l="-3618" t="-5839" b="-328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55613" y="6815301"/>
                <a:ext cx="4740079" cy="33191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vi-V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613" y="6815301"/>
                <a:ext cx="4740079" cy="331911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0601729" y="6941207"/>
                <a:ext cx="1944507" cy="2223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vi-VN" sz="4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1" i="1" smtClean="0">
                              <a:latin typeface="Cambria Math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vi-VN" sz="4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400" b="1" i="1">
                                  <a:latin typeface="Cambria Math"/>
                                </a:rPr>
                                <m:t>𝟑𝟒</m:t>
                              </m:r>
                            </m:e>
                          </m:rad>
                        </m:num>
                        <m:den>
                          <m:r>
                            <a:rPr lang="en-US" sz="4400" b="1" i="1">
                              <a:latin typeface="Cambria Math"/>
                            </a:rPr>
                            <m:t>𝟏𝟕</m:t>
                          </m:r>
                        </m:den>
                      </m:f>
                      <m:r>
                        <a:rPr lang="en-US" sz="4400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1729" y="6941207"/>
                <a:ext cx="1944507" cy="222349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567983" y="7911201"/>
                <a:ext cx="4650825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/>
                        </a:rPr>
                        <m:t>𝑨𝑯</m:t>
                      </m:r>
                      <m:r>
                        <a:rPr lang="en-US" sz="4400" b="1" i="1" smtClean="0">
                          <a:latin typeface="Cambria Math"/>
                        </a:rPr>
                        <m:t>=</m:t>
                      </m:r>
                      <m:r>
                        <a:rPr lang="en-US" sz="4400" b="1" i="1" smtClean="0">
                          <a:latin typeface="Cambria Math"/>
                        </a:rPr>
                        <m:t>𝒅</m:t>
                      </m:r>
                      <m:d>
                        <m:dPr>
                          <m:ctrlPr>
                            <a:rPr lang="vi-VN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latin typeface="Cambria Math"/>
                            </a:rPr>
                            <m:t>𝑨</m:t>
                          </m:r>
                          <m:r>
                            <a:rPr lang="en-US" sz="4400" b="1" i="1">
                              <a:latin typeface="Cambria Math"/>
                            </a:rPr>
                            <m:t>,</m:t>
                          </m:r>
                          <m:r>
                            <a:rPr lang="en-US" sz="4400" b="1" i="1">
                              <a:latin typeface="Cambria Math"/>
                            </a:rPr>
                            <m:t>𝑩𝑪</m:t>
                          </m:r>
                        </m:e>
                      </m:d>
                      <m:r>
                        <a:rPr lang="en-US" sz="4400" b="1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vi-VN" sz="4400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983" y="7911201"/>
                <a:ext cx="4650825" cy="76944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/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4200" y="6019800"/>
            <a:ext cx="8960291" cy="4419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27256" y="9992578"/>
                <a:ext cx="12380409" cy="893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Ta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𝑩𝑪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/>
                                  </a:rPr>
                                  <m:t>𝟓</m:t>
                                </m:r>
                              </m:e>
                            </m:d>
                          </m:e>
                          <m:sup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/>
                                  </a:rPr>
                                  <m:t>𝟑</m:t>
                                </m:r>
                              </m:e>
                            </m:d>
                          </m:e>
                          <m:sup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b="1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/>
                          </a:rPr>
                          <m:t>𝟑𝟒</m:t>
                        </m:r>
                      </m:e>
                    </m:ra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56" y="9992578"/>
                <a:ext cx="12380409" cy="893643"/>
              </a:xfrm>
              <a:prstGeom prst="rect">
                <a:avLst/>
              </a:prstGeom>
              <a:blipFill rotWithShape="1">
                <a:blip r:embed="rId8"/>
                <a:stretch>
                  <a:fillRect l="-1920" t="-680" b="-2857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27256" y="11759302"/>
                <a:ext cx="8643195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Diện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tích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tam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giác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56" y="11759302"/>
                <a:ext cx="8643195" cy="769441"/>
              </a:xfrm>
              <a:prstGeom prst="rect">
                <a:avLst/>
              </a:prstGeom>
              <a:blipFill rotWithShape="1">
                <a:blip r:embed="rId9"/>
                <a:stretch>
                  <a:fillRect l="-2821" t="-16667" b="-3650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8642894" y="11603938"/>
                <a:ext cx="9329542" cy="1178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4400" b="1" i="1">
                            <a:latin typeface="Cambria Math"/>
                          </a:rPr>
                          <m:t>𝑨𝑩𝑪</m:t>
                        </m:r>
                      </m:sub>
                    </m:sSub>
                    <m:r>
                      <a:rPr lang="en-US" sz="4400" b="1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sz="4400" b="1" i="1">
                        <a:latin typeface="Cambria Math"/>
                      </a:rPr>
                      <m:t>.</m:t>
                    </m:r>
                    <m:r>
                      <a:rPr lang="en-US" sz="4400" b="1" i="1">
                        <a:latin typeface="Cambria Math"/>
                      </a:rPr>
                      <m:t>𝑨𝑯</m:t>
                    </m:r>
                    <m:r>
                      <a:rPr lang="en-US" sz="4400" b="1" i="1">
                        <a:latin typeface="Cambria Math"/>
                      </a:rPr>
                      <m:t>.</m:t>
                    </m:r>
                    <m:r>
                      <a:rPr lang="en-US" sz="4400" b="1" i="1">
                        <a:latin typeface="Cambria Math"/>
                      </a:rPr>
                      <m:t>𝑩𝑪</m:t>
                    </m:r>
                    <m:r>
                      <a:rPr lang="en-US" sz="4400" b="1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sz="4400" b="1" i="1">
                        <a:latin typeface="Cambria Math"/>
                      </a:rPr>
                      <m:t>.</m:t>
                    </m:r>
                    <m:f>
                      <m:f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/>
                              </a:rPr>
                              <m:t>𝟑𝟒</m:t>
                            </m:r>
                          </m:e>
                        </m:rad>
                      </m:num>
                      <m:den>
                        <m:r>
                          <a:rPr lang="en-US" sz="4400" b="1" i="1">
                            <a:latin typeface="Cambria Math"/>
                          </a:rPr>
                          <m:t>𝟏𝟕</m:t>
                        </m:r>
                      </m:den>
                    </m:f>
                    <m:r>
                      <a:rPr lang="en-US" sz="4400" b="1" i="1">
                        <a:latin typeface="Cambria Math"/>
                      </a:rPr>
                      <m:t>.</m:t>
                    </m:r>
                    <m:rad>
                      <m:radPr>
                        <m:degHide m:val="on"/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>
                            <a:latin typeface="Cambria Math"/>
                          </a:rPr>
                          <m:t>𝟑𝟒</m:t>
                        </m:r>
                      </m:e>
                    </m:rad>
                    <m:r>
                      <a:rPr lang="en-US" sz="4400" b="1" i="1">
                        <a:latin typeface="Cambria Math"/>
                      </a:rPr>
                      <m:t>=</m:t>
                    </m:r>
                    <m:r>
                      <a:rPr lang="en-US" sz="4400" b="1" i="1">
                        <a:latin typeface="Cambria Math"/>
                      </a:rPr>
                      <m:t>𝟐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894" y="11603938"/>
                <a:ext cx="9329542" cy="1178912"/>
              </a:xfrm>
              <a:prstGeom prst="rect">
                <a:avLst/>
              </a:prstGeom>
              <a:blipFill rotWithShape="1">
                <a:blip r:embed="rId10"/>
                <a:stretch>
                  <a:fillRect r="-1699" b="-984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ounded Rectangle 8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3224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A6CDAC1F-B641-42AA-861D-669C2EF8F3AD}"/>
              </a:ext>
            </a:extLst>
          </p:cNvPr>
          <p:cNvSpPr/>
          <p:nvPr/>
        </p:nvSpPr>
        <p:spPr>
          <a:xfrm>
            <a:off x="318655" y="2477553"/>
            <a:ext cx="23609007" cy="2627847"/>
          </a:xfrm>
          <a:prstGeom prst="roundRect">
            <a:avLst>
              <a:gd name="adj" fmla="val 411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999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440" tIns="34720" rIns="69440" bIns="34720" rtlCol="0" anchor="ctr"/>
          <a:lstStyle/>
          <a:p>
            <a:pPr algn="ctr"/>
            <a:endParaRPr lang="en-US" sz="460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Box 56"/>
          <p:cNvSpPr txBox="1"/>
          <p:nvPr/>
        </p:nvSpPr>
        <p:spPr>
          <a:xfrm>
            <a:off x="9570451" y="1545674"/>
            <a:ext cx="3480442" cy="7458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/>
            <a:r>
              <a:rPr lang="en-US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TẬP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vi-VN" sz="44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42340" y="5492306"/>
            <a:ext cx="2433680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93849" y="2667000"/>
                <a:ext cx="23027496" cy="19933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400" b="1" dirty="0">
                    <a:solidFill>
                      <a:srgbClr val="FF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7.11. 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Chứng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minh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rằng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hai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𝒅</m:t>
                    </m:r>
                    <m:r>
                      <a:rPr lang="en-US" sz="4400" b="1" i="1">
                        <a:latin typeface="Cambria Math"/>
                      </a:rPr>
                      <m:t>:</m:t>
                    </m:r>
                    <m:r>
                      <a:rPr lang="en-US" sz="4400" b="1" i="1">
                        <a:latin typeface="Cambria Math"/>
                      </a:rPr>
                      <m:t>𝒚</m:t>
                    </m:r>
                    <m:r>
                      <a:rPr lang="en-US" sz="4400" b="1" i="1">
                        <a:latin typeface="Cambria Math"/>
                      </a:rPr>
                      <m:t>=</m:t>
                    </m:r>
                    <m:r>
                      <a:rPr lang="en-US" sz="4400" b="1" i="1">
                        <a:latin typeface="Cambria Math"/>
                      </a:rPr>
                      <m:t>𝒂𝒙</m:t>
                    </m:r>
                    <m:r>
                      <a:rPr lang="en-US" sz="4400" b="1" i="1">
                        <a:latin typeface="Cambria Math"/>
                      </a:rPr>
                      <m:t>+</m:t>
                    </m:r>
                    <m:r>
                      <a:rPr lang="en-US" sz="4400" b="1" i="1">
                        <a:latin typeface="Cambria Math"/>
                      </a:rPr>
                      <m:t>𝒃</m:t>
                    </m:r>
                    <m:r>
                      <a:rPr lang="en-US" sz="4400" b="1" i="1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𝒂</m:t>
                        </m:r>
                        <m:r>
                          <a:rPr lang="en-US" sz="4400" b="1" i="1">
                            <a:latin typeface="Cambria Math"/>
                          </a:rPr>
                          <m:t>≠</m:t>
                        </m:r>
                        <m:r>
                          <a:rPr lang="en-US" sz="4400" b="1" i="1">
                            <a:latin typeface="Cambria Math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0" smtClean="0">
                            <a:latin typeface="Cambria Math"/>
                          </a:rPr>
                          <m:t>𝐝</m:t>
                        </m:r>
                      </m:e>
                      <m:sup>
                        <m:r>
                          <a:rPr lang="en-US" sz="4400" b="1" i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4400" b="1" i="1">
                        <a:latin typeface="Cambria Math"/>
                      </a:rPr>
                      <m:t>:</m:t>
                    </m:r>
                    <m:r>
                      <a:rPr lang="en-US" sz="4400" b="1" i="1">
                        <a:latin typeface="Cambria Math"/>
                      </a:rPr>
                      <m:t>𝒚</m:t>
                    </m:r>
                    <m:r>
                      <a:rPr lang="en-US" sz="4400" b="1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 smtClean="0">
                            <a:latin typeface="Cambria Math"/>
                          </a:rPr>
                          <m:t>𝒂</m:t>
                        </m:r>
                      </m:e>
                      <m:sup>
                        <m:r>
                          <a:rPr lang="en-US" sz="4400" b="1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4400" b="1" i="1" smtClean="0">
                        <a:latin typeface="Cambria Math"/>
                      </a:rPr>
                      <m:t>𝒙</m:t>
                    </m:r>
                    <m:r>
                      <a:rPr lang="en-US" sz="4400" b="1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 smtClean="0">
                            <a:latin typeface="Cambria Math"/>
                          </a:rPr>
                          <m:t>𝒃</m:t>
                        </m:r>
                      </m:e>
                      <m:sup>
                        <m:r>
                          <a:rPr lang="en-US" sz="4400" b="1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4400" b="1" i="1" smtClean="0">
                        <a:latin typeface="Cambria Math"/>
                      </a:rPr>
                      <m:t> (</m:t>
                    </m:r>
                    <m:sSup>
                      <m:sSup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 smtClean="0">
                            <a:latin typeface="Cambria Math"/>
                          </a:rPr>
                          <m:t>𝒂</m:t>
                        </m:r>
                      </m:e>
                      <m:sup>
                        <m:r>
                          <a:rPr lang="en-US" sz="4400" b="1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4400" b="1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4400" b="1" i="1" smtClean="0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sz="44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vuông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góc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với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nhau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khi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chỉ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khi</a:t>
                </a:r>
                <a14:m>
                  <m:oMath xmlns:m="http://schemas.openxmlformats.org/officeDocument/2006/math">
                    <m:r>
                      <a:rPr lang="en-US" sz="4400" b="1" i="0" smtClean="0">
                        <a:latin typeface="Cambria Math"/>
                      </a:rPr>
                      <m:t>  </m:t>
                    </m:r>
                    <m:r>
                      <a:rPr lang="en-US" sz="4400" b="1" i="1">
                        <a:latin typeface="Cambria Math"/>
                      </a:rPr>
                      <m:t>𝒂</m:t>
                    </m:r>
                    <m:r>
                      <a:rPr lang="en-US" sz="4400" b="1" i="1">
                        <a:latin typeface="Cambria Math"/>
                      </a:rPr>
                      <m:t>.</m:t>
                    </m:r>
                    <m:r>
                      <a:rPr lang="en-US" sz="4400" b="1" i="1">
                        <a:latin typeface="Cambria Math"/>
                      </a:rPr>
                      <m:t>𝒂</m:t>
                    </m:r>
                    <m:r>
                      <a:rPr lang="en-US" sz="4400" b="1" i="1">
                        <a:latin typeface="Cambria Math"/>
                      </a:rPr>
                      <m:t>′=−</m:t>
                    </m:r>
                    <m:r>
                      <a:rPr lang="en-US" sz="4400" b="1" i="1">
                        <a:latin typeface="Cambria Math"/>
                      </a:rPr>
                      <m:t>𝟏</m:t>
                    </m:r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49" y="2667000"/>
                <a:ext cx="23027496" cy="1993366"/>
              </a:xfrm>
              <a:prstGeom prst="rect">
                <a:avLst/>
              </a:prstGeom>
              <a:blipFill rotWithShape="1">
                <a:blip r:embed="rId2"/>
                <a:stretch>
                  <a:fillRect l="-1059" b="-1349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045325" y="6558667"/>
            <a:ext cx="2300273" cy="75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Ta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có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52415" y="7585236"/>
                <a:ext cx="11507130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  <a:sym typeface="Symbol"/>
                  </a:rPr>
                  <a:t>+)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𝒅</m:t>
                    </m:r>
                    <m:r>
                      <a:rPr lang="en-US" b="1" i="1">
                        <a:latin typeface="Cambria Math"/>
                      </a:rPr>
                      <m:t>:</m:t>
                    </m:r>
                    <m:r>
                      <a:rPr lang="en-US" b="1" i="1">
                        <a:latin typeface="Cambria Math"/>
                      </a:rPr>
                      <m:t>𝒚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𝒂𝒙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𝒃</m:t>
                    </m:r>
                    <m:r>
                      <a:rPr lang="en-US" b="1" i="1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𝒂</m:t>
                        </m:r>
                        <m:r>
                          <a:rPr lang="en-US" b="1" i="1">
                            <a:latin typeface="Cambria Math"/>
                          </a:rPr>
                          <m:t>≠</m:t>
                        </m:r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⇔</m:t>
                    </m:r>
                    <m:r>
                      <a:rPr lang="en-US" b="1" i="1">
                        <a:latin typeface="Cambria Math"/>
                      </a:rPr>
                      <m:t>𝒂𝒙</m:t>
                    </m:r>
                    <m:r>
                      <a:rPr lang="en-US" b="1" i="1">
                        <a:latin typeface="Cambria Math"/>
                      </a:rPr>
                      <m:t>−</m:t>
                    </m:r>
                    <m:r>
                      <a:rPr lang="en-US" b="1" i="1">
                        <a:latin typeface="Cambria Math"/>
                      </a:rPr>
                      <m:t>𝒚</m:t>
                    </m:r>
                    <m:r>
                      <a:rPr lang="en-US" b="1" i="1">
                        <a:latin typeface="Cambria Math"/>
                      </a:rPr>
                      <m:t>+</m:t>
                    </m:r>
                    <m:r>
                      <a:rPr lang="en-US" b="1" i="1">
                        <a:latin typeface="Cambria Math"/>
                      </a:rPr>
                      <m:t>𝒃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415" y="7585236"/>
                <a:ext cx="11507130" cy="754053"/>
              </a:xfrm>
              <a:prstGeom prst="rect">
                <a:avLst/>
              </a:prstGeom>
              <a:blipFill rotWithShape="1">
                <a:blip r:embed="rId3"/>
                <a:stretch>
                  <a:fillRect l="-2066" t="-16935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660571" y="9403287"/>
                <a:ext cx="12108123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4400" b="1" dirty="0">
                    <a:latin typeface="Tahoma" pitchFamily="34" charset="0"/>
                    <a:ea typeface="Tahoma" pitchFamily="34" charset="0"/>
                    <a:cs typeface="Tahoma" pitchFamily="34" charset="0"/>
                    <a:sym typeface="Symbol"/>
                  </a:rPr>
                  <a:t>+)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  <a:sym typeface="Symbo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/>
                          </a:rPr>
                          <m:t>𝒅</m:t>
                        </m:r>
                      </m:e>
                      <m:sup>
                        <m:r>
                          <a:rPr lang="en-US" sz="4400" b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4400" b="1" i="1">
                        <a:latin typeface="Cambria Math"/>
                      </a:rPr>
                      <m:t>:</m:t>
                    </m:r>
                    <m:r>
                      <a:rPr lang="en-US" sz="4400" b="1" i="1">
                        <a:latin typeface="Cambria Math"/>
                      </a:rPr>
                      <m:t>𝒚</m:t>
                    </m:r>
                    <m:r>
                      <a:rPr lang="en-US" sz="4400" b="1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/>
                          </a:rPr>
                          <m:t>𝒂</m:t>
                        </m:r>
                      </m:e>
                      <m:sup>
                        <m:r>
                          <a:rPr lang="en-US" sz="4400" b="1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4400" b="1" i="1">
                        <a:latin typeface="Cambria Math"/>
                      </a:rPr>
                      <m:t>𝒙</m:t>
                    </m:r>
                    <m:r>
                      <a:rPr lang="en-US" sz="4400" b="1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/>
                          </a:rPr>
                          <m:t>𝒃</m:t>
                        </m:r>
                      </m:e>
                      <m:sup>
                        <m:r>
                          <a:rPr lang="en-US" sz="4400" b="1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4400" b="1" i="1">
                        <a:latin typeface="Cambria Math"/>
                      </a:rPr>
                      <m:t> (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/>
                          </a:rPr>
                          <m:t>𝒂</m:t>
                        </m:r>
                      </m:e>
                      <m:sup>
                        <m:r>
                          <a:rPr lang="en-US" sz="4400" b="1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4400" b="1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4400" b="1" i="1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sz="4400" b="1" i="1">
                        <a:latin typeface="Cambria Math"/>
                        <a:ea typeface="Cambria Math"/>
                      </a:rPr>
                      <m:t>)⇔</m:t>
                    </m:r>
                    <m:sSup>
                      <m:sSupPr>
                        <m:ctrlPr>
                          <a:rPr lang="vi-VN" sz="4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4400" b="1" i="1" smtClean="0">
                            <a:latin typeface="Cambria Math"/>
                          </a:rPr>
                          <m:t>𝒂</m:t>
                        </m:r>
                      </m:e>
                      <m:sup>
                        <m:r>
                          <a:rPr lang="vi-VN" sz="4400" b="1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vi-VN" sz="4400" b="1" i="1" smtClean="0">
                        <a:latin typeface="Cambria Math"/>
                      </a:rPr>
                      <m:t>𝒙</m:t>
                    </m:r>
                    <m:r>
                      <a:rPr lang="vi-VN" sz="4400" b="1" i="1" smtClean="0">
                        <a:latin typeface="Cambria Math"/>
                      </a:rPr>
                      <m:t>−</m:t>
                    </m:r>
                    <m:r>
                      <a:rPr lang="vi-VN" sz="4400" b="1" i="1" smtClean="0">
                        <a:latin typeface="Cambria Math"/>
                      </a:rPr>
                      <m:t>𝒚</m:t>
                    </m:r>
                    <m:r>
                      <a:rPr lang="vi-VN" sz="4400" b="1" i="1" smtClean="0">
                        <a:latin typeface="Cambria Math"/>
                      </a:rPr>
                      <m:t>+</m:t>
                    </m:r>
                    <m:r>
                      <a:rPr lang="vi-VN" sz="4400" b="1" i="1" smtClean="0">
                        <a:latin typeface="Cambria Math"/>
                      </a:rPr>
                      <m:t>𝒃</m:t>
                    </m:r>
                    <m:r>
                      <a:rPr lang="vi-VN" sz="4400" b="1" i="1" smtClean="0">
                        <a:latin typeface="Cambria Math"/>
                      </a:rPr>
                      <m:t>′=</m:t>
                    </m:r>
                    <m:r>
                      <a:rPr lang="en-US" sz="4400" b="1" i="1">
                        <a:latin typeface="Cambria Math"/>
                      </a:rPr>
                      <m:t>𝟎</m:t>
                    </m:r>
                  </m:oMath>
                </a14:m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571" y="9403287"/>
                <a:ext cx="12108123" cy="769441"/>
              </a:xfrm>
              <a:prstGeom prst="rect">
                <a:avLst/>
              </a:prstGeom>
              <a:blipFill>
                <a:blip r:embed="rId4"/>
                <a:stretch>
                  <a:fillRect l="-2013" t="-17460" b="-36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715322" y="10373962"/>
                <a:ext cx="14084946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Tahoma" pitchFamily="34" charset="0"/>
                            <a:cs typeface="Tahoma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/>
                            <a:ea typeface="Tahoma" pitchFamily="34" charset="0"/>
                            <a:cs typeface="Tahoma" pitchFamily="34" charset="0"/>
                          </a:rPr>
                          <m:t>𝒅</m:t>
                        </m:r>
                      </m:e>
                      <m:sup>
                        <m:r>
                          <a:rPr lang="en-US" b="1" i="1" smtClean="0">
                            <a:latin typeface="Cambria Math"/>
                            <a:ea typeface="Tahoma" pitchFamily="34" charset="0"/>
                            <a:cs typeface="Tahoma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</a:rPr>
                          <m:t>𝒂</m:t>
                        </m:r>
                        <m:r>
                          <a:rPr lang="en-US" b="1" i="1" smtClean="0">
                            <a:latin typeface="Cambria Math"/>
                          </a:rPr>
                          <m:t>′;−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322" y="10373962"/>
                <a:ext cx="14084946" cy="754053"/>
              </a:xfrm>
              <a:prstGeom prst="rect">
                <a:avLst/>
              </a:prstGeom>
              <a:blipFill rotWithShape="1">
                <a:blip r:embed="rId5"/>
                <a:stretch>
                  <a:fillRect l="-1732" t="-17073" r="-736" b="-3739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267071" y="11618539"/>
                <a:ext cx="8477129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Ta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lại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𝒅</m:t>
                    </m:r>
                    <m:r>
                      <a:rPr lang="en-US" b="1" i="1">
                        <a:latin typeface="Cambria Math"/>
                      </a:rPr>
                      <m:t>⊥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/>
                          </a:rPr>
                          <m:t>𝒅</m:t>
                        </m:r>
                      </m:e>
                      <m:sup>
                        <m:r>
                          <a:rPr lang="en-US" b="1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1" i="1">
                        <a:latin typeface="Cambria Math"/>
                      </a:rPr>
                      <m:t>⇔</m:t>
                    </m:r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𝟎</m:t>
                    </m:r>
                    <m:r>
                      <a:rPr lang="en-US" b="1" i="1">
                        <a:latin typeface="Cambria Math"/>
                      </a:rPr>
                      <m:t>⇔</m:t>
                    </m:r>
                  </m:oMath>
                </a14:m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071" y="11618539"/>
                <a:ext cx="8477129" cy="754053"/>
              </a:xfrm>
              <a:prstGeom prst="rect">
                <a:avLst/>
              </a:prstGeom>
              <a:blipFill>
                <a:blip r:embed="rId6"/>
                <a:stretch>
                  <a:fillRect l="-2876" t="-16935" b="-36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0772722" y="11603151"/>
                <a:ext cx="6854846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/>
                        </a:rPr>
                        <m:t>𝒂</m:t>
                      </m:r>
                      <m:r>
                        <a:rPr lang="en-US" sz="4400" b="1" i="1" smtClean="0"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r>
                            <a:rPr lang="en-US" sz="4400" b="1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4400" b="1" i="1">
                          <a:latin typeface="Cambria Math"/>
                        </a:rPr>
                        <m:t>+</m:t>
                      </m:r>
                      <m:r>
                        <a:rPr lang="en-US" sz="4400" b="1" i="1">
                          <a:latin typeface="Cambria Math"/>
                        </a:rPr>
                        <m:t>𝟏</m:t>
                      </m:r>
                      <m:r>
                        <a:rPr lang="en-US" sz="4400" b="1" i="1">
                          <a:latin typeface="Cambria Math"/>
                        </a:rPr>
                        <m:t>=</m:t>
                      </m:r>
                      <m:r>
                        <a:rPr lang="en-US" sz="4400" b="1" i="1">
                          <a:latin typeface="Cambria Math"/>
                        </a:rPr>
                        <m:t>𝟎</m:t>
                      </m:r>
                      <m:r>
                        <a:rPr lang="en-US" sz="4400" b="1" i="1">
                          <a:latin typeface="Cambria Math"/>
                        </a:rPr>
                        <m:t>⇔</m:t>
                      </m:r>
                      <m:r>
                        <a:rPr lang="en-US" sz="4400" b="1" i="1" smtClean="0">
                          <a:latin typeface="Cambria Math"/>
                        </a:rPr>
                        <m:t>𝒂</m:t>
                      </m:r>
                      <m:r>
                        <a:rPr lang="en-US" sz="4400" b="1" i="1" smtClean="0">
                          <a:latin typeface="Cambria Math"/>
                        </a:rPr>
                        <m:t>.</m:t>
                      </m:r>
                      <m:r>
                        <a:rPr lang="en-US" sz="4400" b="1" i="1" smtClean="0">
                          <a:latin typeface="Cambria Math"/>
                        </a:rPr>
                        <m:t>𝒂</m:t>
                      </m:r>
                      <m:r>
                        <a:rPr lang="en-US" sz="4400" b="1" i="1" smtClean="0">
                          <a:latin typeface="Cambria Math"/>
                        </a:rPr>
                        <m:t>′=−</m:t>
                      </m:r>
                      <m:r>
                        <a:rPr lang="en-US" sz="4400" b="1" i="1">
                          <a:latin typeface="Cambria Math"/>
                        </a:rPr>
                        <m:t>𝟏</m:t>
                      </m:r>
                      <m:r>
                        <a:rPr lang="en-US" sz="4400" b="1" i="1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vi-VN" sz="4400" b="1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2722" y="11603151"/>
                <a:ext cx="6854846" cy="76944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8715322" y="8534635"/>
                <a:ext cx="13775118" cy="75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𝒅</m:t>
                    </m:r>
                    <m:r>
                      <a:rPr lang="en-US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vectơ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tuyến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𝒂</m:t>
                        </m:r>
                        <m:r>
                          <a:rPr lang="en-US" b="1" i="1">
                            <a:latin typeface="Cambria Math"/>
                          </a:rPr>
                          <m:t>;−</m:t>
                        </m:r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322" y="8534635"/>
                <a:ext cx="13775118" cy="754053"/>
              </a:xfrm>
              <a:prstGeom prst="rect">
                <a:avLst/>
              </a:prstGeom>
              <a:blipFill rotWithShape="1">
                <a:blip r:embed="rId8"/>
                <a:stretch>
                  <a:fillRect l="-1771" t="-16935" r="-1638" b="-362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7662204" y="11618539"/>
            <a:ext cx="25908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đpcm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endParaRPr lang="vi-VN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36874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73" grpId="0"/>
      <p:bldP spid="10" grpId="0"/>
      <p:bldP spid="16" grpId="0"/>
      <p:bldP spid="17" grpId="0"/>
      <p:bldP spid="18" grpId="0"/>
      <p:bldP spid="20" grpId="0"/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38">
            <a:extLst>
              <a:ext uri="{FF2B5EF4-FFF2-40B4-BE49-F238E27FC236}">
                <a16:creationId xmlns:a16="http://schemas.microsoft.com/office/drawing/2014/main" id="{A6CDAC1F-B641-42AA-861D-669C2EF8F3AD}"/>
              </a:ext>
            </a:extLst>
          </p:cNvPr>
          <p:cNvSpPr/>
          <p:nvPr/>
        </p:nvSpPr>
        <p:spPr>
          <a:xfrm>
            <a:off x="318655" y="2477553"/>
            <a:ext cx="23609007" cy="3090830"/>
          </a:xfrm>
          <a:prstGeom prst="roundRect">
            <a:avLst>
              <a:gd name="adj" fmla="val 411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999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440" tIns="34720" rIns="69440" bIns="34720" rtlCol="0" anchor="ctr"/>
          <a:lstStyle/>
          <a:p>
            <a:pPr algn="ctr"/>
            <a:endParaRPr lang="en-US" sz="460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Box 56"/>
          <p:cNvSpPr txBox="1"/>
          <p:nvPr/>
        </p:nvSpPr>
        <p:spPr>
          <a:xfrm>
            <a:off x="9570451" y="1545674"/>
            <a:ext cx="3480442" cy="7458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/>
            <a:r>
              <a:rPr lang="en-US" sz="4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TẬP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vi-VN" sz="44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10989" y="5755282"/>
            <a:ext cx="2433680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giải</a:t>
            </a:r>
            <a:r>
              <a:rPr lang="en-US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b="1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86311" y="2429062"/>
                <a:ext cx="23027496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400" b="1" dirty="0">
                    <a:solidFill>
                      <a:srgbClr val="FF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7.12.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Trong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mặt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phẳng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một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hiệu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âm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thanh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một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trí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được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ba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thiết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bị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ghi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hiệu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đặt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tại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ba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trí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𝟎</m:t>
                        </m:r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r>
                          <a:rPr lang="en-US" sz="4400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sz="4400" b="1" i="1">
                        <a:latin typeface="Cambria Math"/>
                      </a:rPr>
                      <m:t>, </m:t>
                    </m:r>
                    <m:r>
                      <a:rPr lang="en-US" sz="4400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𝟏</m:t>
                        </m:r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r>
                          <a:rPr lang="en-US" sz="4400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sz="4400" b="1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sz="4400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B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/>
                          </a:rPr>
                          <m:t>𝟏</m:t>
                        </m:r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r>
                          <a:rPr lang="en-US" sz="4400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nhận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được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cùng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một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thời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Hãy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xác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định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trí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hiệu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âm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thanh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311" y="2429062"/>
                <a:ext cx="23027496" cy="3139321"/>
              </a:xfrm>
              <a:prstGeom prst="rect">
                <a:avLst/>
              </a:prstGeom>
              <a:blipFill rotWithShape="1">
                <a:blip r:embed="rId2"/>
                <a:stretch>
                  <a:fillRect l="-1059" r="-582" b="-40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8527" y="5621731"/>
            <a:ext cx="6393873" cy="58680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91073" y="6400353"/>
                <a:ext cx="15454247" cy="3070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trí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hiệu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âm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thanh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thiết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bị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ghi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hiệu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đặt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tại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trí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 </m:t>
                    </m:r>
                    <m:r>
                      <a:rPr lang="en-US" b="1" i="1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1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B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nhận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được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cùng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một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thời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thì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trí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phải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đều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3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𝑶</m:t>
                    </m:r>
                    <m:r>
                      <a:rPr lang="en-US" b="1" i="1">
                        <a:latin typeface="Cambria Math"/>
                      </a:rPr>
                      <m:t>,</m:t>
                    </m:r>
                    <m:r>
                      <a:rPr lang="en-US" b="1" i="1">
                        <a:latin typeface="Cambria Math"/>
                      </a:rPr>
                      <m:t>𝑨</m:t>
                    </m:r>
                    <m:r>
                      <a:rPr lang="en-US" b="1" i="1">
                        <a:latin typeface="Cambria Math"/>
                      </a:rPr>
                      <m:t>,</m:t>
                    </m:r>
                    <m:r>
                      <a:rPr lang="en-US" b="1" i="1">
                        <a:latin typeface="Cambria Math"/>
                      </a:rPr>
                      <m:t>𝑩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73" y="6400353"/>
                <a:ext cx="15454247" cy="3070071"/>
              </a:xfrm>
              <a:prstGeom prst="rect">
                <a:avLst/>
              </a:prstGeom>
              <a:blipFill rotWithShape="1">
                <a:blip r:embed="rId4"/>
                <a:stretch>
                  <a:fillRect l="-1538" b="-396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91072" y="9412249"/>
                <a:ext cx="15454247" cy="20774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Gọi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𝑰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trí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hiệu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âm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thanh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đó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𝑰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tâm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tròn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ngoại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tiếp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tam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giác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𝑶𝑨𝑩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72" y="9412249"/>
                <a:ext cx="15454247" cy="2077492"/>
              </a:xfrm>
              <a:prstGeom prst="rect">
                <a:avLst/>
              </a:prstGeom>
              <a:blipFill rotWithShape="1">
                <a:blip r:embed="rId5"/>
                <a:stretch>
                  <a:fillRect l="-1538" b="-64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91072" y="11489741"/>
                <a:ext cx="23559744" cy="754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Nhận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xét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𝜟</m:t>
                    </m:r>
                    <m:r>
                      <a:rPr lang="en-US" b="1" i="1">
                        <a:latin typeface="Cambria Math"/>
                      </a:rPr>
                      <m:t>𝑶𝑨𝑩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vuông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tại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𝑰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(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biểu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diễn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hệ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tục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),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nên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𝑰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trung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𝑶𝑩</m:t>
                    </m:r>
                  </m:oMath>
                </a14:m>
                <a:r>
                  <a:rPr lang="en-US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72" y="11489741"/>
                <a:ext cx="23559744" cy="754053"/>
              </a:xfrm>
              <a:prstGeom prst="rect">
                <a:avLst/>
              </a:prstGeom>
              <a:blipFill rotWithShape="1">
                <a:blip r:embed="rId6"/>
                <a:stretch>
                  <a:fillRect l="-1009" t="-17073" r="-569" b="-3739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91073" y="12440198"/>
                <a:ext cx="12080808" cy="11056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Vậy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vị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trí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phát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hiệu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âm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thanh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4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𝑰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1" i="1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4400" b="1" i="1">
                                <a:latin typeface="Cambria Math"/>
                              </a:rPr>
                              <m:t>𝟐</m:t>
                            </m:r>
                          </m:den>
                        </m:f>
                        <m:r>
                          <a:rPr lang="en-US" sz="4400" b="1" i="1">
                            <a:latin typeface="Cambria Math"/>
                          </a:rPr>
                          <m:t>;</m:t>
                        </m:r>
                        <m:f>
                          <m:f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1" i="1">
                                <a:latin typeface="Cambria Math"/>
                              </a:rPr>
                              <m:t>𝟑</m:t>
                            </m:r>
                          </m:num>
                          <m:den>
                            <m:r>
                              <a:rPr lang="en-US" sz="4400" b="1" i="1"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44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73" y="12440198"/>
                <a:ext cx="12080808" cy="1105687"/>
              </a:xfrm>
              <a:prstGeom prst="rect">
                <a:avLst/>
              </a:prstGeom>
              <a:blipFill rotWithShape="1">
                <a:blip r:embed="rId7"/>
                <a:stretch>
                  <a:fillRect l="-2018" r="-1110" b="-884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ounded Rectangle 8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51735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73" grpId="0"/>
      <p:bldP spid="5" grpId="0"/>
      <p:bldP spid="8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: Rounded Corners 66"/>
          <p:cNvSpPr/>
          <p:nvPr/>
        </p:nvSpPr>
        <p:spPr>
          <a:xfrm>
            <a:off x="609600" y="1828800"/>
            <a:ext cx="23469600" cy="11506200"/>
          </a:xfrm>
          <a:prstGeom prst="roundRect">
            <a:avLst>
              <a:gd name="adj" fmla="val 5555"/>
            </a:avLst>
          </a:prstGeom>
          <a:solidFill>
            <a:schemeClr val="bg1"/>
          </a:solidFill>
          <a:ln w="130175">
            <a:solidFill>
              <a:srgbClr val="04E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 </a:t>
            </a:r>
            <a:endParaRPr lang="vi-VN" dirty="0"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 </a:t>
            </a:r>
            <a:endParaRPr lang="vi-VN" dirty="0"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latin typeface="Times New Roman"/>
                <a:ea typeface="Calibri"/>
                <a:cs typeface="Times New Roman"/>
              </a:rPr>
              <a:t> </a:t>
            </a:r>
            <a:endParaRPr lang="vi-VN" sz="1200" dirty="0">
              <a:effectLst/>
              <a:latin typeface="Times New Roman"/>
              <a:ea typeface="Calibri"/>
              <a:cs typeface="Times New Roman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latin typeface="Times New Roman"/>
                <a:ea typeface="Calibri"/>
                <a:cs typeface="Times New Roman"/>
              </a:rPr>
              <a:t> </a:t>
            </a:r>
            <a:endParaRPr lang="vi-VN" sz="1200" dirty="0">
              <a:effectLst/>
              <a:latin typeface="Times New Roman"/>
              <a:ea typeface="Calibri"/>
              <a:cs typeface="Times New Roman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latin typeface="Times New Roman"/>
                <a:ea typeface="Calibri"/>
                <a:cs typeface="Times New Roman"/>
              </a:rPr>
              <a:t> </a:t>
            </a:r>
            <a:endParaRPr lang="vi-VN" sz="1200" dirty="0">
              <a:effectLst/>
              <a:latin typeface="Times New Roman"/>
              <a:ea typeface="Calibri"/>
              <a:cs typeface="Times New Roman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latin typeface="Times New Roman"/>
                <a:ea typeface="Calibri"/>
                <a:cs typeface="Times New Roman"/>
              </a:rPr>
              <a:t> </a:t>
            </a:r>
            <a:endParaRPr lang="vi-VN" sz="1200" dirty="0">
              <a:effectLst/>
              <a:latin typeface="Times New Roman"/>
              <a:ea typeface="Calibri"/>
              <a:cs typeface="Times New Roman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Times New Roman"/>
                <a:ea typeface="Calibri"/>
                <a:cs typeface="Times New Roman"/>
              </a:rPr>
              <a:t> </a:t>
            </a:r>
            <a:endParaRPr lang="vi-VN" sz="1200" dirty="0">
              <a:effectLst/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25545" y="1494652"/>
            <a:ext cx="4107027" cy="829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dirty="0" err="1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Em</a:t>
            </a:r>
            <a:r>
              <a:rPr lang="en-US" sz="4400" b="1" dirty="0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có</a:t>
            </a:r>
            <a:r>
              <a:rPr lang="en-US" sz="4400" b="1" dirty="0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biết</a:t>
            </a:r>
            <a:r>
              <a:rPr lang="en-US" sz="4400" b="1" dirty="0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?</a:t>
            </a:r>
            <a:endParaRPr lang="vi-VN" sz="4400" dirty="0"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7932572" y="1627183"/>
            <a:ext cx="304800" cy="448448"/>
          </a:xfrm>
          <a:prstGeom prst="ellipse">
            <a:avLst/>
          </a:prstGeom>
          <a:solidFill>
            <a:srgbClr val="04CEC9"/>
          </a:solidFill>
          <a:ln w="130175">
            <a:solidFill>
              <a:srgbClr val="04E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vi-VN"/>
          </a:p>
        </p:txBody>
      </p:sp>
      <p:sp>
        <p:nvSpPr>
          <p:cNvPr id="6" name="Oval 5"/>
          <p:cNvSpPr/>
          <p:nvPr/>
        </p:nvSpPr>
        <p:spPr>
          <a:xfrm>
            <a:off x="3505200" y="1685152"/>
            <a:ext cx="320345" cy="448448"/>
          </a:xfrm>
          <a:prstGeom prst="ellipse">
            <a:avLst/>
          </a:prstGeom>
          <a:solidFill>
            <a:srgbClr val="04CEC9"/>
          </a:solidFill>
          <a:ln w="130175">
            <a:solidFill>
              <a:srgbClr val="04E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vi-VN"/>
          </a:p>
        </p:txBody>
      </p:sp>
      <p:sp>
        <p:nvSpPr>
          <p:cNvPr id="8" name="Rectangle 7"/>
          <p:cNvSpPr/>
          <p:nvPr/>
        </p:nvSpPr>
        <p:spPr>
          <a:xfrm>
            <a:off x="1143000" y="2324100"/>
            <a:ext cx="18669000" cy="800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Cơ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sở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toán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học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cho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các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tính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toán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trong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mềm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GeoGebra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vi-VN" b="1" dirty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5974773" y="4246418"/>
            <a:ext cx="17526000" cy="8763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52500" y="3300925"/>
            <a:ext cx="22555200" cy="1409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Hình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7.12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được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chụp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lại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từ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một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màn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hình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máy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tính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đang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sử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dụng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mềm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vẽ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hình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GeoGebra</a:t>
            </a:r>
            <a:r>
              <a:rPr lang="en-US" sz="4000" b="1" dirty="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vi-VN" sz="40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2" name="Text Box 77"/>
          <p:cNvSpPr txBox="1"/>
          <p:nvPr/>
        </p:nvSpPr>
        <p:spPr>
          <a:xfrm>
            <a:off x="2201887" y="12051814"/>
            <a:ext cx="3381495" cy="685800"/>
          </a:xfrm>
          <a:prstGeom prst="rect">
            <a:avLst/>
          </a:prstGeom>
          <a:solidFill>
            <a:schemeClr val="lt1"/>
          </a:solidFill>
          <a:ln w="6350">
            <a:solidFill>
              <a:schemeClr val="bg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 err="1">
                <a:solidFill>
                  <a:srgbClr val="FF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Hình</a:t>
            </a:r>
            <a:r>
              <a:rPr lang="en-US" sz="4000" b="1" dirty="0">
                <a:solidFill>
                  <a:srgbClr val="FF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7.12</a:t>
            </a:r>
            <a:endParaRPr lang="vi-VN" sz="4000" dirty="0">
              <a:solidFill>
                <a:srgbClr val="FF00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2927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: Rounded Corners 66"/>
          <p:cNvSpPr/>
          <p:nvPr/>
        </p:nvSpPr>
        <p:spPr>
          <a:xfrm>
            <a:off x="609600" y="1828799"/>
            <a:ext cx="23545800" cy="11611233"/>
          </a:xfrm>
          <a:prstGeom prst="roundRect">
            <a:avLst>
              <a:gd name="adj" fmla="val 5555"/>
            </a:avLst>
          </a:prstGeom>
          <a:solidFill>
            <a:schemeClr val="bg1"/>
          </a:solidFill>
          <a:ln w="130175">
            <a:solidFill>
              <a:srgbClr val="04E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 </a:t>
            </a:r>
            <a:endParaRPr lang="vi-VN" dirty="0"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 </a:t>
            </a:r>
            <a:endParaRPr lang="vi-VN" dirty="0"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latin typeface="Times New Roman"/>
                <a:ea typeface="Calibri"/>
                <a:cs typeface="Times New Roman"/>
              </a:rPr>
              <a:t> </a:t>
            </a:r>
            <a:endParaRPr lang="vi-VN" sz="1200" dirty="0">
              <a:effectLst/>
              <a:latin typeface="Times New Roman"/>
              <a:ea typeface="Calibri"/>
              <a:cs typeface="Times New Roman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latin typeface="Times New Roman"/>
                <a:ea typeface="Calibri"/>
                <a:cs typeface="Times New Roman"/>
              </a:rPr>
              <a:t> </a:t>
            </a:r>
            <a:endParaRPr lang="vi-VN" sz="1200" dirty="0">
              <a:effectLst/>
              <a:latin typeface="Times New Roman"/>
              <a:ea typeface="Calibri"/>
              <a:cs typeface="Times New Roman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latin typeface="Times New Roman"/>
                <a:ea typeface="Calibri"/>
                <a:cs typeface="Times New Roman"/>
              </a:rPr>
              <a:t> </a:t>
            </a:r>
            <a:endParaRPr lang="vi-VN" sz="1200" dirty="0">
              <a:effectLst/>
              <a:latin typeface="Times New Roman"/>
              <a:ea typeface="Calibri"/>
              <a:cs typeface="Times New Roman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latin typeface="Times New Roman"/>
                <a:ea typeface="Calibri"/>
                <a:cs typeface="Times New Roman"/>
              </a:rPr>
              <a:t> </a:t>
            </a:r>
            <a:endParaRPr lang="vi-VN" sz="1200" dirty="0">
              <a:effectLst/>
              <a:latin typeface="Times New Roman"/>
              <a:ea typeface="Calibri"/>
              <a:cs typeface="Times New Roman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Times New Roman"/>
                <a:ea typeface="Calibri"/>
                <a:cs typeface="Times New Roman"/>
              </a:rPr>
              <a:t> </a:t>
            </a:r>
            <a:endParaRPr lang="vi-VN" sz="1200" dirty="0">
              <a:effectLst/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25545" y="1494652"/>
            <a:ext cx="4107027" cy="829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dirty="0" err="1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Em</a:t>
            </a:r>
            <a:r>
              <a:rPr lang="en-US" sz="4400" b="1" dirty="0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có</a:t>
            </a:r>
            <a:r>
              <a:rPr lang="en-US" sz="4400" b="1" dirty="0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biết</a:t>
            </a:r>
            <a:r>
              <a:rPr lang="en-US" sz="4400" b="1" dirty="0">
                <a:solidFill>
                  <a:srgbClr val="C000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?</a:t>
            </a:r>
            <a:endParaRPr lang="vi-VN" sz="4400" dirty="0"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7932572" y="1627183"/>
            <a:ext cx="304800" cy="448448"/>
          </a:xfrm>
          <a:prstGeom prst="ellipse">
            <a:avLst/>
          </a:prstGeom>
          <a:solidFill>
            <a:srgbClr val="04CEC9"/>
          </a:solidFill>
          <a:ln w="130175">
            <a:solidFill>
              <a:srgbClr val="04E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vi-VN"/>
          </a:p>
        </p:txBody>
      </p:sp>
      <p:sp>
        <p:nvSpPr>
          <p:cNvPr id="6" name="Oval 5"/>
          <p:cNvSpPr/>
          <p:nvPr/>
        </p:nvSpPr>
        <p:spPr>
          <a:xfrm>
            <a:off x="3505200" y="1685152"/>
            <a:ext cx="320345" cy="448448"/>
          </a:xfrm>
          <a:prstGeom prst="ellipse">
            <a:avLst/>
          </a:prstGeom>
          <a:solidFill>
            <a:srgbClr val="04CEC9"/>
          </a:solidFill>
          <a:ln w="130175">
            <a:solidFill>
              <a:srgbClr val="04E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vi-VN"/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3750636" y="1909376"/>
            <a:ext cx="9696450" cy="51483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58091" y="6781800"/>
                <a:ext cx="23227146" cy="65326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60045" marR="0" indent="-17970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Chọn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chức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năng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vẽ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0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𝚫</m:t>
                    </m:r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hai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sau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đó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nháy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vào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hai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𝑨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, 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𝑩</m:t>
                    </m:r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được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0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𝚫</m:t>
                    </m:r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qua 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hai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𝑨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, 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𝑩</m:t>
                    </m:r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;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phần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mềm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tự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xác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định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được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𝒙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−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𝟐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𝒚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+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𝟔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=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𝟎</m:t>
                    </m:r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0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marL="360045" marR="0" indent="-17970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Chọn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chức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năng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sau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đó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nháy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vào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𝑪</m:t>
                    </m:r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0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𝚫</m:t>
                    </m:r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phần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mềm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sẽ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tự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cho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khoảng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cách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từ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𝑪</m:t>
                    </m:r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đến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đường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thẳng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0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𝚫</m:t>
                    </m:r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𝟓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,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𝟖𝟏</m:t>
                    </m:r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0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Cơ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sở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toán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học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để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phần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mềm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được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tính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toán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nói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trên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công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thức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đã</a:t>
                </a:r>
                <a:r>
                  <a:rPr lang="en-US" sz="4000" b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được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nêu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ra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trong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học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này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0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91" y="6781800"/>
                <a:ext cx="23227146" cy="6532686"/>
              </a:xfrm>
              <a:prstGeom prst="rect">
                <a:avLst/>
              </a:prstGeom>
              <a:blipFill>
                <a:blip r:embed="rId3"/>
                <a:stretch>
                  <a:fillRect r="-919" b="-2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936914" y="2219211"/>
            <a:ext cx="13182600" cy="1409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Cơ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sở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toán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học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cho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các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tính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toán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trong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mềm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GeoGebra</a:t>
            </a:r>
            <a:r>
              <a:rPr lang="en-US" sz="40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vi-VN" sz="4000" b="1" dirty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88818" y="3333439"/>
                <a:ext cx="12600709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60045" marR="0" indent="-17970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Chọn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chức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năng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vẽ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sau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đó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nháy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chuột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vào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ba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𝑨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, 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𝑩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, </m:t>
                    </m:r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𝑪</m:t>
                    </m:r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trên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cửa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sổ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màn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hình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phần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mềm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tự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động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xác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định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toạ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độ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ba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điểm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đó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000" b="1" dirty="0" err="1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𝑨</m:t>
                    </m:r>
                    <m:d>
                      <m:dPr>
                        <m:ctrlPr>
                          <a:rPr lang="vi-VN" sz="4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/>
                          </a:rPr>
                        </m:ctrlPr>
                      </m:dPr>
                      <m:e>
                        <m:r>
                          <a:rPr lang="en-US" sz="4000" b="1" i="1">
                            <a:solidFill>
                              <a:srgbClr val="000000"/>
                            </a:solidFill>
                            <a:latin typeface="Cambria Math"/>
                            <a:ea typeface="Calibri"/>
                          </a:rPr>
                          <m:t>𝟐</m:t>
                        </m:r>
                        <m:r>
                          <a:rPr lang="en-US" sz="4000" b="1" i="1">
                            <a:solidFill>
                              <a:srgbClr val="000000"/>
                            </a:solidFill>
                            <a:latin typeface="Cambria Math"/>
                            <a:ea typeface="Calibri"/>
                          </a:rPr>
                          <m:t>;</m:t>
                        </m:r>
                        <m:r>
                          <a:rPr lang="en-US" sz="4000" b="1" i="1">
                            <a:solidFill>
                              <a:srgbClr val="000000"/>
                            </a:solidFill>
                            <a:latin typeface="Cambria Math"/>
                            <a:ea typeface="Calibri"/>
                          </a:rPr>
                          <m:t>𝟒</m:t>
                        </m:r>
                      </m:e>
                    </m:d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,</m:t>
                    </m:r>
                    <m:r>
                      <m:rPr>
                        <m:nor/>
                      </m:rPr>
                      <a:rPr lang="en-US" sz="4000" b="1">
                        <a:solidFill>
                          <a:srgbClr val="00000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4000" b="1">
                        <a:solidFill>
                          <a:srgbClr val="00000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B</m:t>
                    </m:r>
                    <m:d>
                      <m:dPr>
                        <m:ctrlPr>
                          <a:rPr lang="vi-VN" sz="4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/>
                          </a:rPr>
                        </m:ctrlPr>
                      </m:dPr>
                      <m:e>
                        <m:r>
                          <a:rPr lang="en-US" sz="4000" b="1" i="1">
                            <a:solidFill>
                              <a:srgbClr val="000000"/>
                            </a:solidFill>
                            <a:latin typeface="Cambria Math"/>
                            <a:ea typeface="Calibri"/>
                          </a:rPr>
                          <m:t>−</m:t>
                        </m:r>
                        <m:r>
                          <a:rPr lang="en-US" sz="4000" b="1" i="1">
                            <a:solidFill>
                              <a:srgbClr val="000000"/>
                            </a:solidFill>
                            <a:latin typeface="Cambria Math"/>
                            <a:ea typeface="Calibri"/>
                          </a:rPr>
                          <m:t>𝟒</m:t>
                        </m:r>
                        <m:r>
                          <a:rPr lang="en-US" sz="4000" b="1" i="1">
                            <a:solidFill>
                              <a:srgbClr val="000000"/>
                            </a:solidFill>
                            <a:latin typeface="Cambria Math"/>
                            <a:ea typeface="Calibri"/>
                          </a:rPr>
                          <m:t>;</m:t>
                        </m:r>
                        <m:r>
                          <a:rPr lang="en-US" sz="4000" b="1" i="1">
                            <a:solidFill>
                              <a:srgbClr val="000000"/>
                            </a:solidFill>
                            <a:latin typeface="Cambria Math"/>
                            <a:ea typeface="Calibri"/>
                          </a:rPr>
                          <m:t>𝟏</m:t>
                        </m:r>
                      </m:e>
                    </m:d>
                    <m:r>
                      <a:rPr lang="en-US" sz="4000" b="1" i="1">
                        <a:solidFill>
                          <a:srgbClr val="000000"/>
                        </a:solidFill>
                        <a:latin typeface="Cambria Math"/>
                        <a:ea typeface="Calibri"/>
                      </a:rPr>
                      <m:t>,</m:t>
                    </m:r>
                    <m:r>
                      <m:rPr>
                        <m:nor/>
                      </m:rPr>
                      <a:rPr lang="en-US" sz="4000" b="1">
                        <a:solidFill>
                          <a:srgbClr val="00000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4000" b="1">
                        <a:solidFill>
                          <a:srgbClr val="00000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m:t>C</m:t>
                    </m:r>
                    <m:d>
                      <m:dPr>
                        <m:ctrlPr>
                          <a:rPr lang="vi-VN" sz="4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/>
                          </a:rPr>
                        </m:ctrlPr>
                      </m:dPr>
                      <m:e>
                        <m:r>
                          <a:rPr lang="en-US" sz="4000" b="1" i="1">
                            <a:solidFill>
                              <a:srgbClr val="000000"/>
                            </a:solidFill>
                            <a:latin typeface="Cambria Math"/>
                            <a:ea typeface="Calibri"/>
                          </a:rPr>
                          <m:t>𝟑</m:t>
                        </m:r>
                        <m:r>
                          <a:rPr lang="en-US" sz="4000" b="1" i="1">
                            <a:solidFill>
                              <a:srgbClr val="000000"/>
                            </a:solidFill>
                            <a:latin typeface="Cambria Math"/>
                            <a:ea typeface="Calibri"/>
                          </a:rPr>
                          <m:t>;−</m:t>
                        </m:r>
                        <m:r>
                          <a:rPr lang="en-US" sz="4000" b="1" i="1">
                            <a:solidFill>
                              <a:srgbClr val="000000"/>
                            </a:solidFill>
                            <a:latin typeface="Cambria Math"/>
                            <a:ea typeface="Calibri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sz="4000" b="1" dirty="0">
                    <a:solidFill>
                      <a:srgbClr val="00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vi-VN" sz="40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" y="3333439"/>
                <a:ext cx="12600709" cy="3785652"/>
              </a:xfrm>
              <a:prstGeom prst="rect">
                <a:avLst/>
              </a:prstGeom>
              <a:blipFill rotWithShape="1">
                <a:blip r:embed="rId4"/>
                <a:stretch>
                  <a:fillRect r="-1693" b="-273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2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VII   ·   BÀI 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8192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3584</TotalTime>
  <Words>2299</Words>
  <Application>Microsoft Office PowerPoint</Application>
  <PresentationFormat>Custom</PresentationFormat>
  <Paragraphs>509</Paragraphs>
  <Slides>42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6" baseType="lpstr">
      <vt:lpstr>Yu Gothic UI Semilight</vt:lpstr>
      <vt:lpstr>Arial</vt:lpstr>
      <vt:lpstr>Bahnschrift SemiBold SemiConden</vt:lpstr>
      <vt:lpstr>Baumans</vt:lpstr>
      <vt:lpstr>Calibri</vt:lpstr>
      <vt:lpstr>Calibri Light</vt:lpstr>
      <vt:lpstr>Cambria Math</vt:lpstr>
      <vt:lpstr>Symbol</vt:lpstr>
      <vt:lpstr>Tahoma</vt:lpstr>
      <vt:lpstr>Times New Roman</vt:lpstr>
      <vt:lpstr>Tomaho</vt:lpstr>
      <vt:lpstr>Office Theme</vt:lpstr>
      <vt:lpstr>1_Office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Admin</cp:lastModifiedBy>
  <cp:revision>432</cp:revision>
  <dcterms:created xsi:type="dcterms:W3CDTF">2013-08-31T11:42:51Z</dcterms:created>
  <dcterms:modified xsi:type="dcterms:W3CDTF">2022-08-30T02:06:25Z</dcterms:modified>
  <cp:category>9Slide.vn</cp:category>
</cp:coreProperties>
</file>