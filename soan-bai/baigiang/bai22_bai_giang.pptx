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drawings/vmlDrawing10.vml" ContentType="application/vnd.openxmlformats-officedocument.vmlDrawing"/>
  <Override PartName="/ppt/drawings/vmlDrawing11.vml" ContentType="application/vnd.openxmlformats-officedocument.vmlDrawing"/>
  <Override PartName="/ppt/drawings/vmlDrawing12.vml" ContentType="application/vnd.openxmlformats-officedocument.vmlDrawing"/>
  <Override PartName="/ppt/drawings/vmlDrawing13.vml" ContentType="application/vnd.openxmlformats-officedocument.vmlDrawing"/>
  <Override PartName="/ppt/drawings/vmlDrawing14.vml" ContentType="application/vnd.openxmlformats-officedocument.vmlDrawing"/>
  <Override PartName="/ppt/drawings/vmlDrawing15.vml" ContentType="application/vnd.openxmlformats-officedocument.vmlDrawing"/>
  <Override PartName="/ppt/drawings/vmlDrawing16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drawings/vmlDrawing7.vml" ContentType="application/vnd.openxmlformats-officedocument.vmlDrawing"/>
  <Override PartName="/ppt/drawings/vmlDrawing8.vml" ContentType="application/vnd.openxmlformats-officedocument.vmlDrawing"/>
  <Override PartName="/ppt/drawings/vmlDrawing9.vml" ContentType="application/vnd.openxmlformats-officedocument.vmlDrawing"/>
  <Override PartName="/ppt/embeddings/Microsoft_Word_Document.docx" ContentType="application/vnd.openxmlformats-officedocument.wordprocessingml.document"/>
  <Override PartName="/ppt/embeddings/Microsoft_Word_Document1.docx" ContentType="application/vnd.openxmlformats-officedocument.wordprocessingml.document"/>
  <Override PartName="/ppt/embeddings/Microsoft_Word_Document10.docx" ContentType="application/vnd.openxmlformats-officedocument.wordprocessingml.document"/>
  <Override PartName="/ppt/embeddings/Microsoft_Word_Document11.docx" ContentType="application/vnd.openxmlformats-officedocument.wordprocessingml.document"/>
  <Override PartName="/ppt/embeddings/Microsoft_Word_Document12.docx" ContentType="application/vnd.openxmlformats-officedocument.wordprocessingml.document"/>
  <Override PartName="/ppt/embeddings/Microsoft_Word_Document13.docx" ContentType="application/vnd.openxmlformats-officedocument.wordprocessingml.document"/>
  <Override PartName="/ppt/embeddings/Microsoft_Word_Document14.docx" ContentType="application/vnd.openxmlformats-officedocument.wordprocessingml.document"/>
  <Override PartName="/ppt/embeddings/Microsoft_Word_Document15.docx" ContentType="application/vnd.openxmlformats-officedocument.wordprocessingml.document"/>
  <Override PartName="/ppt/embeddings/Microsoft_Word_Document16.docx" ContentType="application/vnd.openxmlformats-officedocument.wordprocessingml.document"/>
  <Override PartName="/ppt/embeddings/Microsoft_Word_Document17.docx" ContentType="application/vnd.openxmlformats-officedocument.wordprocessingml.document"/>
  <Override PartName="/ppt/embeddings/Microsoft_Word_Document18.docx" ContentType="application/vnd.openxmlformats-officedocument.wordprocessingml.document"/>
  <Override PartName="/ppt/embeddings/Microsoft_Word_Document19.docx" ContentType="application/vnd.openxmlformats-officedocument.wordprocessingml.document"/>
  <Override PartName="/ppt/embeddings/Microsoft_Word_Document2.docx" ContentType="application/vnd.openxmlformats-officedocument.wordprocessingml.document"/>
  <Override PartName="/ppt/embeddings/Microsoft_Word_Document20.docx" ContentType="application/vnd.openxmlformats-officedocument.wordprocessingml.document"/>
  <Override PartName="/ppt/embeddings/Microsoft_Word_Document21.docx" ContentType="application/vnd.openxmlformats-officedocument.wordprocessingml.document"/>
  <Override PartName="/ppt/embeddings/Microsoft_Word_Document22.docx" ContentType="application/vnd.openxmlformats-officedocument.wordprocessingml.document"/>
  <Override PartName="/ppt/embeddings/Microsoft_Word_Document23.docx" ContentType="application/vnd.openxmlformats-officedocument.wordprocessingml.document"/>
  <Override PartName="/ppt/embeddings/Microsoft_Word_Document24.docx" ContentType="application/vnd.openxmlformats-officedocument.wordprocessingml.document"/>
  <Override PartName="/ppt/embeddings/Microsoft_Word_Document25.docx" ContentType="application/vnd.openxmlformats-officedocument.wordprocessingml.document"/>
  <Override PartName="/ppt/embeddings/Microsoft_Word_Document26.docx" ContentType="application/vnd.openxmlformats-officedocument.wordprocessingml.document"/>
  <Override PartName="/ppt/embeddings/Microsoft_Word_Document27.docx" ContentType="application/vnd.openxmlformats-officedocument.wordprocessingml.document"/>
  <Override PartName="/ppt/embeddings/Microsoft_Word_Document28.docx" ContentType="application/vnd.openxmlformats-officedocument.wordprocessingml.document"/>
  <Override PartName="/ppt/embeddings/Microsoft_Word_Document29.docx" ContentType="application/vnd.openxmlformats-officedocument.wordprocessingml.document"/>
  <Override PartName="/ppt/embeddings/Microsoft_Word_Document3.docx" ContentType="application/vnd.openxmlformats-officedocument.wordprocessingml.document"/>
  <Override PartName="/ppt/embeddings/Microsoft_Word_Document30.docx" ContentType="application/vnd.openxmlformats-officedocument.wordprocessingml.document"/>
  <Override PartName="/ppt/embeddings/Microsoft_Word_Document31.docx" ContentType="application/vnd.openxmlformats-officedocument.wordprocessingml.document"/>
  <Override PartName="/ppt/embeddings/Microsoft_Word_Document32.docx" ContentType="application/vnd.openxmlformats-officedocument.wordprocessingml.document"/>
  <Override PartName="/ppt/embeddings/Microsoft_Word_Document4.docx" ContentType="application/vnd.openxmlformats-officedocument.wordprocessingml.document"/>
  <Override PartName="/ppt/embeddings/Microsoft_Word_Document5.docx" ContentType="application/vnd.openxmlformats-officedocument.wordprocessingml.document"/>
  <Override PartName="/ppt/embeddings/Microsoft_Word_Document6.docx" ContentType="application/vnd.openxmlformats-officedocument.wordprocessingml.document"/>
  <Override PartName="/ppt/embeddings/Microsoft_Word_Document7.docx" ContentType="application/vnd.openxmlformats-officedocument.wordprocessingml.document"/>
  <Override PartName="/ppt/embeddings/Microsoft_Word_Document8.docx" ContentType="application/vnd.openxmlformats-officedocument.wordprocessingml.document"/>
  <Override PartName="/ppt/embeddings/Microsoft_Word_Document9.docx" ContentType="application/vnd.openxmlformats-officedocument.wordprocessingml.document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  <p:sldMasterId id="2147483754" r:id="rId2"/>
  </p:sldMasterIdLst>
  <p:notesMasterIdLst>
    <p:notesMasterId r:id="rId50"/>
  </p:notesMasterIdLst>
  <p:sldIdLst>
    <p:sldId id="313" r:id="rId3"/>
    <p:sldId id="301" r:id="rId4"/>
    <p:sldId id="318" r:id="rId5"/>
    <p:sldId id="315" r:id="rId6"/>
    <p:sldId id="319" r:id="rId7"/>
    <p:sldId id="320" r:id="rId8"/>
    <p:sldId id="316" r:id="rId9"/>
    <p:sldId id="321" r:id="rId10"/>
    <p:sldId id="323" r:id="rId11"/>
    <p:sldId id="324" r:id="rId12"/>
    <p:sldId id="325" r:id="rId13"/>
    <p:sldId id="326" r:id="rId14"/>
    <p:sldId id="328" r:id="rId15"/>
    <p:sldId id="329" r:id="rId16"/>
    <p:sldId id="330" r:id="rId17"/>
    <p:sldId id="331" r:id="rId18"/>
    <p:sldId id="333" r:id="rId19"/>
    <p:sldId id="334" r:id="rId20"/>
    <p:sldId id="335" r:id="rId21"/>
    <p:sldId id="336" r:id="rId22"/>
    <p:sldId id="337" r:id="rId23"/>
    <p:sldId id="338" r:id="rId24"/>
    <p:sldId id="339" r:id="rId25"/>
    <p:sldId id="340" r:id="rId26"/>
    <p:sldId id="341" r:id="rId27"/>
    <p:sldId id="342" r:id="rId28"/>
    <p:sldId id="343" r:id="rId29"/>
    <p:sldId id="344" r:id="rId30"/>
    <p:sldId id="345" r:id="rId31"/>
    <p:sldId id="346" r:id="rId32"/>
    <p:sldId id="347" r:id="rId33"/>
    <p:sldId id="348" r:id="rId34"/>
    <p:sldId id="349" r:id="rId35"/>
    <p:sldId id="350" r:id="rId36"/>
    <p:sldId id="351" r:id="rId37"/>
    <p:sldId id="352" r:id="rId38"/>
    <p:sldId id="353" r:id="rId39"/>
    <p:sldId id="354" r:id="rId40"/>
    <p:sldId id="355" r:id="rId41"/>
    <p:sldId id="356" r:id="rId42"/>
    <p:sldId id="357" r:id="rId43"/>
    <p:sldId id="358" r:id="rId44"/>
    <p:sldId id="359" r:id="rId45"/>
    <p:sldId id="360" r:id="rId46"/>
    <p:sldId id="361" r:id="rId47"/>
    <p:sldId id="362" r:id="rId48"/>
    <p:sldId id="363" r:id="rId49"/>
  </p:sldIdLst>
  <p:sldSz cx="24384000" cy="13716000"/>
  <p:notesSz cx="6858000" cy="9144000"/>
  <p:custDataLst>
    <p:tags r:id="rId51"/>
  </p:custDataLst>
  <p:defaultTextStyle>
    <a:defPPr>
      <a:defRPr lang="en-US"/>
    </a:defPPr>
    <a:lvl1pPr marL="0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1pPr>
    <a:lvl2pPr marL="1088639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2pPr>
    <a:lvl3pPr marL="2177278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3pPr>
    <a:lvl4pPr marL="3265917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4pPr>
    <a:lvl5pPr marL="4354556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5pPr>
    <a:lvl6pPr marL="5443195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6pPr>
    <a:lvl7pPr marL="6531834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7pPr>
    <a:lvl8pPr marL="7620472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8pPr>
    <a:lvl9pPr marL="8709111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8000"/>
    <a:srgbClr val="135F82"/>
    <a:srgbClr val="D60093"/>
    <a:srgbClr val="E7F7FF"/>
    <a:srgbClr val="D6F7FE"/>
    <a:srgbClr val="EEF7E9"/>
    <a:srgbClr val="FFFFFF"/>
    <a:srgbClr val="242452"/>
    <a:srgbClr val="270F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698" autoAdjust="0"/>
    <p:restoredTop sz="96085" autoAdjust="0"/>
  </p:normalViewPr>
  <p:slideViewPr>
    <p:cSldViewPr>
      <p:cViewPr varScale="1">
        <p:scale>
          <a:sx n="31" d="100"/>
          <a:sy n="31" d="100"/>
        </p:scale>
        <p:origin x="138" y="252"/>
      </p:cViewPr>
      <p:guideLst>
        <p:guide orient="horz" pos="4320"/>
        <p:guide pos="76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notesMaster" Target="notesMasters/notesMaster1.xml"/><Relationship Id="rId51" Type="http://schemas.openxmlformats.org/officeDocument/2006/relationships/tags" Target="tags/tag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36.emf"/><Relationship Id="rId2" Type="http://schemas.openxmlformats.org/officeDocument/2006/relationships/image" Target="../media/image37.emf"/><Relationship Id="rId3" Type="http://schemas.openxmlformats.org/officeDocument/2006/relationships/image" Target="../media/image38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39.emf"/><Relationship Id="rId2" Type="http://schemas.openxmlformats.org/officeDocument/2006/relationships/image" Target="../media/image40.emf"/><Relationship Id="rId3" Type="http://schemas.openxmlformats.org/officeDocument/2006/relationships/image" Target="../media/image41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42.emf"/><Relationship Id="rId2" Type="http://schemas.openxmlformats.org/officeDocument/2006/relationships/image" Target="../media/image43.emf"/><Relationship Id="rId3" Type="http://schemas.openxmlformats.org/officeDocument/2006/relationships/image" Target="../media/image44.emf"/><Relationship Id="rId4" Type="http://schemas.openxmlformats.org/officeDocument/2006/relationships/image" Target="../media/image45.png"/><Relationship Id="rId5" Type="http://schemas.openxmlformats.org/officeDocument/2006/relationships/image" Target="../media/image46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47.png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43.emf"/><Relationship Id="rId2" Type="http://schemas.openxmlformats.org/officeDocument/2006/relationships/image" Target="../media/image48.emf"/><Relationship Id="rId3" Type="http://schemas.openxmlformats.org/officeDocument/2006/relationships/image" Target="../media/image49.png"/><Relationship Id="rId4" Type="http://schemas.openxmlformats.org/officeDocument/2006/relationships/image" Target="../media/image50.emf"/><Relationship Id="rId5" Type="http://schemas.openxmlformats.org/officeDocument/2006/relationships/image" Target="../media/image51.e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52.png"/></Relationships>
</file>

<file path=ppt/drawings/_rels/vmlDrawing7.vml.rels><?xml version='1.0' encoding='UTF-8' standalone='yes'?>
<Relationships xmlns="http://schemas.openxmlformats.org/package/2006/relationships"><Relationship Id="rId1" Type="http://schemas.openxmlformats.org/officeDocument/2006/relationships/image" Target="../media/image53.emf"/><Relationship Id="rId2" Type="http://schemas.openxmlformats.org/officeDocument/2006/relationships/image" Target="../media/image54.emf"/><Relationship Id="rId3" Type="http://schemas.openxmlformats.org/officeDocument/2006/relationships/image" Target="../media/image55.emf"/></Relationships>
</file>

<file path=ppt/drawings/_rels/vmlDrawing8.vml.rels><?xml version='1.0' encoding='UTF-8' standalone='yes'?>
<Relationships xmlns="http://schemas.openxmlformats.org/package/2006/relationships"><Relationship Id="rId1" Type="http://schemas.openxmlformats.org/officeDocument/2006/relationships/image" Target="../media/image56.emf"/><Relationship Id="rId2" Type="http://schemas.openxmlformats.org/officeDocument/2006/relationships/image" Target="../media/image57.emf"/><Relationship Id="rId3" Type="http://schemas.openxmlformats.org/officeDocument/2006/relationships/image" Target="../media/image58.emf"/></Relationships>
</file>

<file path=ppt/drawings/_rels/vmlDrawing9.vml.rels><?xml version='1.0' encoding='UTF-8' standalone='yes'?>
<Relationships xmlns="http://schemas.openxmlformats.org/package/2006/relationships"><Relationship Id="rId1" Type="http://schemas.openxmlformats.org/officeDocument/2006/relationships/image" Target="../media/image60.emf"/><Relationship Id="rId2" Type="http://schemas.openxmlformats.org/officeDocument/2006/relationships/image" Target="../media/image61.emf"/><Relationship Id="rId3" Type="http://schemas.openxmlformats.org/officeDocument/2006/relationships/image" Target="../media/image62.emf"/></Relationships>
</file>

<file path=ppt/drawings/_rels/vmlDrawing10.vml.rels><?xml version='1.0' encoding='UTF-8' standalone='yes'?>
<Relationships xmlns="http://schemas.openxmlformats.org/package/2006/relationships"><Relationship Id="rId1" Type="http://schemas.openxmlformats.org/officeDocument/2006/relationships/image" Target="../media/image64.emf"/></Relationships>
</file>

<file path=ppt/drawings/_rels/vmlDrawing11.vml.rels><?xml version='1.0' encoding='UTF-8' standalone='yes'?>
<Relationships xmlns="http://schemas.openxmlformats.org/package/2006/relationships"><Relationship Id="rId1" Type="http://schemas.openxmlformats.org/officeDocument/2006/relationships/image" Target="../media/image66.emf"/></Relationships>
</file>

<file path=ppt/drawings/_rels/vmlDrawing12.vml.rels><?xml version='1.0' encoding='UTF-8' standalone='yes'?>
<Relationships xmlns="http://schemas.openxmlformats.org/package/2006/relationships"><Relationship Id="rId1" Type="http://schemas.openxmlformats.org/officeDocument/2006/relationships/image" Target="../media/image67.emf"/></Relationships>
</file>

<file path=ppt/drawings/_rels/vmlDrawing13.vml.rels><?xml version='1.0' encoding='UTF-8' standalone='yes'?>
<Relationships xmlns="http://schemas.openxmlformats.org/package/2006/relationships"><Relationship Id="rId1" Type="http://schemas.openxmlformats.org/officeDocument/2006/relationships/image" Target="../media/image69.emf"/></Relationships>
</file>

<file path=ppt/drawings/_rels/vmlDrawing14.vml.rels><?xml version='1.0' encoding='UTF-8' standalone='yes'?>
<Relationships xmlns="http://schemas.openxmlformats.org/package/2006/relationships"><Relationship Id="rId1" Type="http://schemas.openxmlformats.org/officeDocument/2006/relationships/image" Target="../media/image71.emf"/></Relationships>
</file>

<file path=ppt/drawings/_rels/vmlDrawing15.vml.rels><?xml version='1.0' encoding='UTF-8' standalone='yes'?>
<Relationships xmlns="http://schemas.openxmlformats.org/package/2006/relationships"><Relationship Id="rId1" Type="http://schemas.openxmlformats.org/officeDocument/2006/relationships/image" Target="../media/image72.png"/></Relationships>
</file>

<file path=ppt/drawings/_rels/vmlDrawing16.vml.rels><?xml version='1.0' encoding='UTF-8' standalone='yes'?>
<Relationships xmlns="http://schemas.openxmlformats.org/package/2006/relationships"><Relationship Id="rId1" Type="http://schemas.openxmlformats.org/officeDocument/2006/relationships/image" Target="../media/image78.w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BB293-0719-4B19-A181-EE36FD0623AD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EA8B73-FCCD-4D4C-BC4E-0CE5120A1B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6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1pPr>
    <a:lvl2pPr marL="1088639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2pPr>
    <a:lvl3pPr marL="2177278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3pPr>
    <a:lvl4pPr marL="3265917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4pPr>
    <a:lvl5pPr marL="4354556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5pPr>
    <a:lvl6pPr marL="5443195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6pPr>
    <a:lvl7pPr marL="6531834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7pPr>
    <a:lvl8pPr marL="7620472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8pPr>
    <a:lvl9pPr marL="8709111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64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8658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8658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3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8658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8658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3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3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8658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8658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8658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3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557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7800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56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730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4396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0059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5934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4794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1873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8649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0443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4263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25175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481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85465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9727" y="1781954"/>
            <a:ext cx="21031200" cy="2651126"/>
          </a:xfrm>
          <a:prstGeom prst="rect">
            <a:avLst/>
          </a:prstGeom>
        </p:spPr>
        <p:txBody>
          <a:bodyPr/>
          <a:lstStyle>
            <a:lvl1pPr algn="l">
              <a:defRPr sz="5400">
                <a:latin typeface="Tomaho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9727" y="4702953"/>
            <a:ext cx="10363200" cy="8702676"/>
          </a:xfrm>
          <a:prstGeom prst="rect">
            <a:avLst/>
          </a:prstGeom>
        </p:spPr>
        <p:txBody>
          <a:bodyPr/>
          <a:lstStyle>
            <a:lvl1pPr algn="l">
              <a:defRPr sz="4800">
                <a:latin typeface="Tomaho"/>
              </a:defRPr>
            </a:lvl1pPr>
            <a:lvl2pPr algn="l">
              <a:defRPr sz="4800">
                <a:latin typeface="Tomaho"/>
              </a:defRPr>
            </a:lvl2pPr>
            <a:lvl3pPr algn="l">
              <a:defRPr sz="4800">
                <a:latin typeface="Tomaho"/>
              </a:defRPr>
            </a:lvl3pPr>
            <a:lvl4pPr algn="l">
              <a:defRPr sz="4800">
                <a:latin typeface="Tomaho"/>
              </a:defRPr>
            </a:lvl4pPr>
            <a:lvl5pPr algn="l">
              <a:defRPr sz="4800">
                <a:latin typeface="Tomah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67727" y="4702953"/>
            <a:ext cx="10363200" cy="8702676"/>
          </a:xfrm>
          <a:prstGeom prst="rect">
            <a:avLst/>
          </a:prstGeom>
        </p:spPr>
        <p:txBody>
          <a:bodyPr/>
          <a:lstStyle>
            <a:lvl1pPr algn="l">
              <a:defRPr sz="4800">
                <a:latin typeface="Tomaho"/>
              </a:defRPr>
            </a:lvl1pPr>
            <a:lvl2pPr algn="l">
              <a:defRPr sz="4800">
                <a:latin typeface="Tomaho"/>
              </a:defRPr>
            </a:lvl2pPr>
            <a:lvl3pPr algn="l">
              <a:defRPr sz="4800">
                <a:latin typeface="Tomaho"/>
              </a:defRPr>
            </a:lvl3pPr>
            <a:lvl4pPr algn="l">
              <a:defRPr sz="4800">
                <a:latin typeface="Tomaho"/>
              </a:defRPr>
            </a:lvl4pPr>
            <a:lvl5pPr algn="l">
              <a:defRPr sz="4800">
                <a:latin typeface="Tomah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20733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08065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51046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938197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41930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589881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655814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8361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8558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33076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5683611"/>
      </p:ext>
    </p:extLst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959766"/>
      </p:ext>
    </p:extLst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8770"/>
      </p:ext>
    </p:extLst>
  </p:cSld>
  <p:clrMapOvr>
    <a:masterClrMapping/>
  </p:clrMapOvr>
  <p:transition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615295"/>
      </p:ext>
    </p:extLst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94460"/>
      </p:ext>
    </p:extLst>
  </p:cSld>
  <p:clrMapOvr>
    <a:masterClrMapping/>
  </p:clrMapOvr>
  <p:transition spd="slow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83300"/>
      </p:ext>
    </p:extLst>
  </p:cSld>
  <p:clrMapOvr>
    <a:masterClrMapping/>
  </p:clrMapOvr>
  <p:transition spd="slow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778250"/>
      </p:ext>
    </p:extLst>
  </p:cSld>
  <p:clrMapOvr>
    <a:masterClrMapping/>
  </p:clrMapOvr>
  <p:transition spd="slow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510540"/>
      </p:ext>
    </p:extLst>
  </p:cSld>
  <p:clrMapOvr>
    <a:masterClrMapping/>
  </p:clrMapOvr>
  <p:transition spd="slow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246283"/>
      </p:ext>
    </p:extLst>
  </p:cSld>
  <p:clrMapOvr>
    <a:masterClrMapping/>
  </p:clrMapOvr>
  <p:transition spd="slow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81129"/>
      </p:ext>
    </p:extLst>
  </p:cSld>
  <p:clrMapOvr>
    <a:masterClrMapping/>
  </p:clrMapOvr>
  <p:transition spd="slow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707362"/>
      </p:ext>
    </p:extLst>
  </p:cSld>
  <p:clrMapOvr>
    <a:masterClrMapping/>
  </p:clrMapOvr>
  <p:transition spd="slow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30660"/>
      </p:ext>
    </p:extLst>
  </p:cSld>
  <p:clrMapOvr>
    <a:masterClrMapping/>
  </p:clrMapOvr>
  <p:transition spd="slow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48505"/>
      </p:ext>
    </p:extLst>
  </p:cSld>
  <p:clrMapOvr>
    <a:masterClrMapping/>
  </p:clrMapOvr>
  <p:transition spd="slow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0" y="12712706"/>
            <a:ext cx="5689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fld id="{D15044BE-B3F3-4258-B55D-9238C2EBFDF1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5" y="12712706"/>
            <a:ext cx="7721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4" y="12712706"/>
            <a:ext cx="5689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62067"/>
      </p:ext>
    </p:extLst>
  </p:cSld>
  <p:clrMapOvr>
    <a:masterClrMapping/>
  </p:clrMapOvr>
  <p:transition spd="slow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2" y="12712702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2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1" y="12712702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64471"/>
      </p:ext>
    </p:extLst>
  </p:cSld>
  <p:clrMapOvr>
    <a:masterClrMapping/>
  </p:clrMapOvr>
  <p:transition spd="slow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1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1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0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6085"/>
      </p:ext>
    </p:extLst>
  </p:cSld>
  <p:clrMapOvr>
    <a:masterClrMapping/>
  </p:clrMapOvr>
  <p:transition spd="slow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1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1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0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813515"/>
      </p:ext>
    </p:extLst>
  </p:cSld>
  <p:clrMapOvr>
    <a:masterClrMapping/>
  </p:clrMapOvr>
  <p:transition spd="slow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gi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7.xml"/><Relationship Id="rId16" Type="http://schemas.openxmlformats.org/officeDocument/2006/relationships/theme" Target="../theme/theme2.xml"/><Relationship Id="rId17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3140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0" r:id="rId3"/>
    <p:sldLayoutId id="2147483741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82" r:id="rId12"/>
  </p:sldLayoutIdLst>
  <p:transition spd="slow">
    <p:fade/>
  </p:transition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1094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</p:sldLayoutIdLst>
  <p:transition spd="slow">
    <p:fade/>
  </p:transition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emf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6.jpg"/><Relationship Id="rId6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1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7.jpg"/><Relationship Id="rId6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Relationship Id="rId4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3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1.xml"/><Relationship Id="rId3" Type="http://schemas.openxmlformats.org/officeDocument/2006/relationships/package" Target="../embeddings/Microsoft_Word_Document.docx"/><Relationship Id="rId4" Type="http://schemas.openxmlformats.org/officeDocument/2006/relationships/image" Target="../media/image36.emf"/><Relationship Id="rId5" Type="http://schemas.openxmlformats.org/officeDocument/2006/relationships/package" Target="../embeddings/Microsoft_Word_Document1.docx"/><Relationship Id="rId6" Type="http://schemas.openxmlformats.org/officeDocument/2006/relationships/image" Target="../media/image37.emf"/><Relationship Id="rId7" Type="http://schemas.openxmlformats.org/officeDocument/2006/relationships/package" Target="../embeddings/Microsoft_Word_Document2.docx"/><Relationship Id="rId8" Type="http://schemas.openxmlformats.org/officeDocument/2006/relationships/image" Target="../media/image38.e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11.xml"/><Relationship Id="rId3" Type="http://schemas.openxmlformats.org/officeDocument/2006/relationships/package" Target="../embeddings/Microsoft_Word_Document3.docx"/><Relationship Id="rId4" Type="http://schemas.openxmlformats.org/officeDocument/2006/relationships/image" Target="../media/image39.emf"/><Relationship Id="rId5" Type="http://schemas.openxmlformats.org/officeDocument/2006/relationships/package" Target="../embeddings/Microsoft_Word_Document4.docx"/><Relationship Id="rId6" Type="http://schemas.openxmlformats.org/officeDocument/2006/relationships/image" Target="../media/image40.emf"/><Relationship Id="rId7" Type="http://schemas.openxmlformats.org/officeDocument/2006/relationships/package" Target="../embeddings/Microsoft_Word_Document5.docx"/><Relationship Id="rId8" Type="http://schemas.openxmlformats.org/officeDocument/2006/relationships/image" Target="../media/image41.e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11.xml"/><Relationship Id="rId3" Type="http://schemas.openxmlformats.org/officeDocument/2006/relationships/package" Target="../embeddings/Microsoft_Word_Document6.docx"/><Relationship Id="rId4" Type="http://schemas.openxmlformats.org/officeDocument/2006/relationships/image" Target="../media/image42.emf"/><Relationship Id="rId5" Type="http://schemas.openxmlformats.org/officeDocument/2006/relationships/package" Target="../embeddings/Microsoft_Word_Document7.docx"/><Relationship Id="rId6" Type="http://schemas.openxmlformats.org/officeDocument/2006/relationships/image" Target="../media/image43.emf"/><Relationship Id="rId7" Type="http://schemas.openxmlformats.org/officeDocument/2006/relationships/package" Target="../embeddings/Microsoft_Word_Document8.docx"/><Relationship Id="rId8" Type="http://schemas.openxmlformats.org/officeDocument/2006/relationships/image" Target="../media/image44.emf"/><Relationship Id="rId9" Type="http://schemas.openxmlformats.org/officeDocument/2006/relationships/package" Target="../embeddings/Microsoft_Word_Document9.docx"/><Relationship Id="rId10" Type="http://schemas.openxmlformats.org/officeDocument/2006/relationships/image" Target="../media/image45.png"/><Relationship Id="rId11" Type="http://schemas.openxmlformats.org/officeDocument/2006/relationships/package" Target="../embeddings/Microsoft_Word_Document10.docx"/><Relationship Id="rId12" Type="http://schemas.openxmlformats.org/officeDocument/2006/relationships/image" Target="../media/image46.emf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11.xml"/><Relationship Id="rId3" Type="http://schemas.openxmlformats.org/officeDocument/2006/relationships/package" Target="../embeddings/Microsoft_Word_Document11.docx"/><Relationship Id="rId4" Type="http://schemas.openxmlformats.org/officeDocument/2006/relationships/image" Target="../media/image4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11.xml"/><Relationship Id="rId3" Type="http://schemas.openxmlformats.org/officeDocument/2006/relationships/package" Target="../embeddings/Microsoft_Word_Document12.docx"/><Relationship Id="rId4" Type="http://schemas.openxmlformats.org/officeDocument/2006/relationships/image" Target="../media/image43.emf"/><Relationship Id="rId5" Type="http://schemas.openxmlformats.org/officeDocument/2006/relationships/package" Target="../embeddings/Microsoft_Word_Document13.docx"/><Relationship Id="rId6" Type="http://schemas.openxmlformats.org/officeDocument/2006/relationships/image" Target="../media/image48.emf"/><Relationship Id="rId7" Type="http://schemas.openxmlformats.org/officeDocument/2006/relationships/package" Target="../embeddings/Microsoft_Word_Document14.docx"/><Relationship Id="rId8" Type="http://schemas.openxmlformats.org/officeDocument/2006/relationships/image" Target="../media/image49.png"/><Relationship Id="rId9" Type="http://schemas.openxmlformats.org/officeDocument/2006/relationships/package" Target="../embeddings/Microsoft_Word_Document15.docx"/><Relationship Id="rId10" Type="http://schemas.openxmlformats.org/officeDocument/2006/relationships/image" Target="../media/image50.emf"/><Relationship Id="rId11" Type="http://schemas.openxmlformats.org/officeDocument/2006/relationships/package" Target="../embeddings/Microsoft_Word_Document16.docx"/><Relationship Id="rId12" Type="http://schemas.openxmlformats.org/officeDocument/2006/relationships/image" Target="../media/image51.emf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11.xml"/><Relationship Id="rId3" Type="http://schemas.openxmlformats.org/officeDocument/2006/relationships/package" Target="../embeddings/Microsoft_Word_Document17.docx"/><Relationship Id="rId4" Type="http://schemas.openxmlformats.org/officeDocument/2006/relationships/image" Target="../media/image5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11.xml"/><Relationship Id="rId3" Type="http://schemas.openxmlformats.org/officeDocument/2006/relationships/package" Target="../embeddings/Microsoft_Word_Document18.docx"/><Relationship Id="rId4" Type="http://schemas.openxmlformats.org/officeDocument/2006/relationships/image" Target="../media/image53.emf"/><Relationship Id="rId5" Type="http://schemas.openxmlformats.org/officeDocument/2006/relationships/package" Target="../embeddings/Microsoft_Word_Document19.docx"/><Relationship Id="rId6" Type="http://schemas.openxmlformats.org/officeDocument/2006/relationships/image" Target="../media/image54.emf"/><Relationship Id="rId7" Type="http://schemas.openxmlformats.org/officeDocument/2006/relationships/package" Target="../embeddings/Microsoft_Word_Document20.docx"/><Relationship Id="rId8" Type="http://schemas.openxmlformats.org/officeDocument/2006/relationships/image" Target="../media/image55.e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11.xml"/><Relationship Id="rId3" Type="http://schemas.openxmlformats.org/officeDocument/2006/relationships/package" Target="../embeddings/Microsoft_Word_Document21.docx"/><Relationship Id="rId4" Type="http://schemas.openxmlformats.org/officeDocument/2006/relationships/image" Target="../media/image56.emf"/><Relationship Id="rId5" Type="http://schemas.openxmlformats.org/officeDocument/2006/relationships/image" Target="../media/image59.png"/><Relationship Id="rId6" Type="http://schemas.openxmlformats.org/officeDocument/2006/relationships/package" Target="../embeddings/Microsoft_Word_Document22.docx"/><Relationship Id="rId7" Type="http://schemas.openxmlformats.org/officeDocument/2006/relationships/image" Target="../media/image57.emf"/><Relationship Id="rId8" Type="http://schemas.openxmlformats.org/officeDocument/2006/relationships/package" Target="../embeddings/Microsoft_Word_Document23.docx"/><Relationship Id="rId9" Type="http://schemas.openxmlformats.org/officeDocument/2006/relationships/image" Target="../media/image58.em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11.xml"/><Relationship Id="rId3" Type="http://schemas.openxmlformats.org/officeDocument/2006/relationships/package" Target="../embeddings/Microsoft_Word_Document24.docx"/><Relationship Id="rId4" Type="http://schemas.openxmlformats.org/officeDocument/2006/relationships/image" Target="../media/image60.emf"/><Relationship Id="rId5" Type="http://schemas.openxmlformats.org/officeDocument/2006/relationships/package" Target="../embeddings/Microsoft_Word_Document25.docx"/><Relationship Id="rId6" Type="http://schemas.openxmlformats.org/officeDocument/2006/relationships/image" Target="../media/image61.emf"/><Relationship Id="rId7" Type="http://schemas.openxmlformats.org/officeDocument/2006/relationships/package" Target="../embeddings/Microsoft_Word_Document26.docx"/><Relationship Id="rId8" Type="http://schemas.openxmlformats.org/officeDocument/2006/relationships/image" Target="../media/image62.emf"/><Relationship Id="rId9" Type="http://schemas.openxmlformats.org/officeDocument/2006/relationships/image" Target="../media/image6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0.vml"/><Relationship Id="rId2" Type="http://schemas.openxmlformats.org/officeDocument/2006/relationships/slideLayout" Target="../slideLayouts/slideLayout11.xml"/><Relationship Id="rId3" Type="http://schemas.openxmlformats.org/officeDocument/2006/relationships/package" Target="../embeddings/Microsoft_Word_Document27.docx"/><Relationship Id="rId4" Type="http://schemas.openxmlformats.org/officeDocument/2006/relationships/image" Target="../media/image64.emf"/><Relationship Id="rId5" Type="http://schemas.openxmlformats.org/officeDocument/2006/relationships/image" Target="../media/image6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1.vml"/><Relationship Id="rId2" Type="http://schemas.openxmlformats.org/officeDocument/2006/relationships/slideLayout" Target="../slideLayouts/slideLayout11.xml"/><Relationship Id="rId3" Type="http://schemas.openxmlformats.org/officeDocument/2006/relationships/package" Target="../embeddings/Microsoft_Word_Document28.docx"/><Relationship Id="rId4" Type="http://schemas.openxmlformats.org/officeDocument/2006/relationships/image" Target="../media/image66.emf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2.vml"/><Relationship Id="rId2" Type="http://schemas.openxmlformats.org/officeDocument/2006/relationships/slideLayout" Target="../slideLayouts/slideLayout11.xml"/><Relationship Id="rId3" Type="http://schemas.openxmlformats.org/officeDocument/2006/relationships/package" Target="../embeddings/Microsoft_Word_Document29.docx"/><Relationship Id="rId4" Type="http://schemas.openxmlformats.org/officeDocument/2006/relationships/image" Target="../media/image67.emf"/><Relationship Id="rId5" Type="http://schemas.openxmlformats.org/officeDocument/2006/relationships/image" Target="../media/image6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3.vml"/><Relationship Id="rId2" Type="http://schemas.openxmlformats.org/officeDocument/2006/relationships/slideLayout" Target="../slideLayouts/slideLayout11.xml"/><Relationship Id="rId3" Type="http://schemas.openxmlformats.org/officeDocument/2006/relationships/package" Target="../embeddings/Microsoft_Word_Document30.docx"/><Relationship Id="rId4" Type="http://schemas.openxmlformats.org/officeDocument/2006/relationships/image" Target="../media/image69.emf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4.vml"/><Relationship Id="rId2" Type="http://schemas.openxmlformats.org/officeDocument/2006/relationships/slideLayout" Target="../slideLayouts/slideLayout11.xml"/><Relationship Id="rId3" Type="http://schemas.openxmlformats.org/officeDocument/2006/relationships/package" Target="../embeddings/Microsoft_Word_Document31.docx"/><Relationship Id="rId4" Type="http://schemas.openxmlformats.org/officeDocument/2006/relationships/image" Target="../media/image71.emf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5.vml"/><Relationship Id="rId2" Type="http://schemas.openxmlformats.org/officeDocument/2006/relationships/slideLayout" Target="../slideLayouts/slideLayout11.xml"/><Relationship Id="rId3" Type="http://schemas.openxmlformats.org/officeDocument/2006/relationships/package" Target="../embeddings/Microsoft_Word_Document32.docx"/><Relationship Id="rId4" Type="http://schemas.openxmlformats.org/officeDocument/2006/relationships/image" Target="../media/image7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3.jpe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0.png"/><Relationship Id="rId4" Type="http://schemas.openxmlformats.org/officeDocument/2006/relationships/image" Target="../media/image90.png"/><Relationship Id="rId5" Type="http://schemas.openxmlformats.org/officeDocument/2006/relationships/image" Target="../media/image74.jpe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0.png"/><Relationship Id="rId4" Type="http://schemas.openxmlformats.org/officeDocument/2006/relationships/image" Target="../media/image12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0.png"/><Relationship Id="rId4" Type="http://schemas.openxmlformats.org/officeDocument/2006/relationships/image" Target="../media/image14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0.png"/><Relationship Id="rId4" Type="http://schemas.openxmlformats.org/officeDocument/2006/relationships/image" Target="../media/image16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0.png"/><Relationship Id="rId4" Type="http://schemas.openxmlformats.org/officeDocument/2006/relationships/image" Target="../media/image18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0.png"/><Relationship Id="rId4" Type="http://schemas.openxmlformats.org/officeDocument/2006/relationships/image" Target="../media/image7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5.png"/><Relationship Id="rId4" Type="http://schemas.openxmlformats.org/officeDocument/2006/relationships/image" Target="../media/image22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5.png"/><Relationship Id="rId4" Type="http://schemas.openxmlformats.org/officeDocument/2006/relationships/image" Target="../media/image23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6.png"/><Relationship Id="rId4" Type="http://schemas.openxmlformats.org/officeDocument/2006/relationships/image" Target="../media/image77.jpe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6.vml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28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78.wmf"/><Relationship Id="rId6" Type="http://schemas.openxmlformats.org/officeDocument/2006/relationships/oleObject" Target="../embeddings/oleObject2.bin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0.png"/><Relationship Id="rId4" Type="http://schemas.openxmlformats.org/officeDocument/2006/relationships/image" Target="../media/image7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3FF6797-9084-4088-B03C-F68BB0D6D29D}"/>
              </a:ext>
            </a:extLst>
          </p:cNvPr>
          <p:cNvGrpSpPr/>
          <p:nvPr/>
        </p:nvGrpSpPr>
        <p:grpSpPr>
          <a:xfrm>
            <a:off x="9677400" y="1676400"/>
            <a:ext cx="13944600" cy="11395346"/>
            <a:chOff x="9851187" y="2126503"/>
            <a:chExt cx="13944600" cy="11395346"/>
          </a:xfrm>
        </p:grpSpPr>
        <p:grpSp>
          <p:nvGrpSpPr>
            <p:cNvPr id="8" name="Group 7"/>
            <p:cNvGrpSpPr/>
            <p:nvPr/>
          </p:nvGrpSpPr>
          <p:grpSpPr>
            <a:xfrm>
              <a:off x="9851187" y="2126503"/>
              <a:ext cx="13944600" cy="11395346"/>
              <a:chOff x="1339699" y="3448230"/>
              <a:chExt cx="13944600" cy="11395346"/>
            </a:xfrm>
          </p:grpSpPr>
          <p:sp>
            <p:nvSpPr>
              <p:cNvPr id="10" name="Right Triangle 9"/>
              <p:cNvSpPr/>
              <p:nvPr/>
            </p:nvSpPr>
            <p:spPr>
              <a:xfrm flipH="1">
                <a:off x="8958821" y="3486542"/>
                <a:ext cx="193377" cy="212342"/>
              </a:xfrm>
              <a:prstGeom prst="rtTriangle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" name="Group 10"/>
              <p:cNvGrpSpPr/>
              <p:nvPr/>
            </p:nvGrpSpPr>
            <p:grpSpPr>
              <a:xfrm>
                <a:off x="1339699" y="3448230"/>
                <a:ext cx="13944600" cy="11395346"/>
                <a:chOff x="1339699" y="3448230"/>
                <a:chExt cx="13944600" cy="11395346"/>
              </a:xfrm>
            </p:grpSpPr>
            <p:sp>
              <p:nvSpPr>
                <p:cNvPr id="12" name="Rounded Rectangle 11"/>
                <p:cNvSpPr/>
                <p:nvPr/>
              </p:nvSpPr>
              <p:spPr>
                <a:xfrm>
                  <a:off x="1339699" y="3909895"/>
                  <a:ext cx="13944600" cy="10933681"/>
                </a:xfrm>
                <a:prstGeom prst="roundRect">
                  <a:avLst>
                    <a:gd name="adj" fmla="val 2374"/>
                  </a:avLst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28575">
                  <a:solidFill>
                    <a:srgbClr val="0999C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18000" rIns="36000" bIns="18000" rtlCol="0" anchor="ctr"/>
                <a:lstStyle/>
                <a:p>
                  <a:pPr algn="ctr"/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5759299" y="3448230"/>
                  <a:ext cx="3890809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fontAlgn="auto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r>
                    <a:rPr lang="en-US" sz="5400" b="1" cap="all" dirty="0">
                      <a:ln w="0"/>
                      <a:solidFill>
                        <a:schemeClr val="bg1"/>
                      </a:solidFill>
                      <a:effectLst>
                        <a:reflection blurRad="12700" stA="50000" endPos="50000" dist="5000" dir="5400000" sy="-100000" rotWithShape="0"/>
                      </a:effectLst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CHƯƠNG I</a:t>
                  </a:r>
                </a:p>
              </p:txBody>
            </p:sp>
          </p:grpSp>
        </p:grpSp>
        <p:sp>
          <p:nvSpPr>
            <p:cNvPr id="15" name="Right Triangle 14"/>
            <p:cNvSpPr/>
            <p:nvPr/>
          </p:nvSpPr>
          <p:spPr>
            <a:xfrm flipH="1">
              <a:off x="11477625" y="2164818"/>
              <a:ext cx="193377" cy="212342"/>
            </a:xfrm>
            <a:prstGeom prst="rtTriangl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ound Same Side Corner Rectangle 15"/>
            <p:cNvSpPr/>
            <p:nvPr/>
          </p:nvSpPr>
          <p:spPr>
            <a:xfrm flipV="1">
              <a:off x="11671001" y="2164810"/>
              <a:ext cx="11134186" cy="1833212"/>
            </a:xfrm>
            <a:prstGeom prst="round2Same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10536987" y="5555503"/>
              <a:ext cx="13030200" cy="48383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48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§19. </a:t>
              </a:r>
              <a:r>
                <a:rPr lang="en-US" sz="48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Phương</a:t>
              </a:r>
              <a:r>
                <a:rPr lang="en-US" sz="48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8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trình</a:t>
              </a:r>
              <a:r>
                <a:rPr lang="en-US" sz="48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8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đường</a:t>
              </a:r>
              <a:r>
                <a:rPr lang="en-US" sz="48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8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thẳng</a:t>
              </a:r>
              <a:endParaRPr lang="en-US" sz="48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pPr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4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§20. </a:t>
              </a:r>
              <a:r>
                <a:rPr lang="en-US" sz="48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Vị</a:t>
              </a:r>
              <a:r>
                <a:rPr lang="en-US" sz="48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8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trí</a:t>
              </a:r>
              <a:r>
                <a:rPr lang="en-US" sz="48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8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tương</a:t>
              </a:r>
              <a:r>
                <a:rPr lang="en-US" sz="48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8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đối</a:t>
              </a:r>
              <a:r>
                <a:rPr lang="en-US" sz="48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8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giữa</a:t>
              </a:r>
              <a:r>
                <a:rPr lang="en-US" sz="48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8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hai</a:t>
              </a:r>
              <a:r>
                <a:rPr lang="en-US" sz="48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8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đường</a:t>
              </a:r>
              <a:r>
                <a:rPr lang="en-US" sz="48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8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thẳng</a:t>
              </a:r>
              <a:r>
                <a:rPr lang="en-US" sz="48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  <a:r>
                <a:rPr lang="en-US" sz="48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Góc</a:t>
              </a:r>
              <a:r>
                <a:rPr lang="en-US" sz="48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8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và</a:t>
              </a:r>
              <a:r>
                <a:rPr lang="en-US" sz="48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8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khoảng</a:t>
              </a:r>
              <a:r>
                <a:rPr lang="en-US" sz="48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8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cách</a:t>
              </a:r>
              <a:endParaRPr lang="en-US" sz="48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pPr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4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§21. </a:t>
              </a:r>
              <a:r>
                <a:rPr lang="en-US" sz="48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Đường</a:t>
              </a:r>
              <a:r>
                <a:rPr lang="en-US" sz="48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8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tròn</a:t>
              </a:r>
              <a:r>
                <a:rPr lang="en-US" sz="48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8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trong</a:t>
              </a:r>
              <a:r>
                <a:rPr lang="en-US" sz="48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8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mặt</a:t>
              </a:r>
              <a:r>
                <a:rPr lang="en-US" sz="48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8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phẳng</a:t>
              </a:r>
              <a:r>
                <a:rPr lang="en-US" sz="48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8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tọa</a:t>
              </a:r>
              <a:r>
                <a:rPr lang="en-US" sz="48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8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độ</a:t>
              </a:r>
              <a:endParaRPr lang="en-US" sz="48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pPr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4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§22. Ba </a:t>
              </a:r>
              <a:r>
                <a:rPr lang="en-US" sz="48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đường</a:t>
              </a:r>
              <a:r>
                <a:rPr lang="en-US" sz="48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conic</a:t>
              </a:r>
            </a:p>
            <a:p>
              <a:pPr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48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Bài</a:t>
              </a:r>
              <a:r>
                <a:rPr lang="en-US" sz="48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8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tập</a:t>
              </a:r>
              <a:r>
                <a:rPr lang="en-US" sz="48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8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cuối</a:t>
              </a:r>
              <a:r>
                <a:rPr lang="en-US" sz="48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8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chương</a:t>
              </a:r>
              <a:r>
                <a:rPr lang="en-US" sz="48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VII</a:t>
              </a:r>
            </a:p>
            <a:p>
              <a:pPr>
                <a:lnSpc>
                  <a:spcPct val="150000"/>
                </a:lnSpc>
                <a:spcBef>
                  <a:spcPct val="20000"/>
                </a:spcBef>
                <a:defRPr/>
              </a:pPr>
              <a:endParaRPr lang="en-US" sz="4800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11912450" y="2428363"/>
              <a:ext cx="1032510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4800" b="1" dirty="0">
                  <a:solidFill>
                    <a:schemeClr val="bg1"/>
                  </a:solidFill>
                  <a:latin typeface="Tomaho"/>
                </a:rPr>
                <a:t>CHƯƠNG </a:t>
              </a:r>
              <a:r>
                <a:rPr lang="en-US" sz="4800" b="1" dirty="0">
                  <a:solidFill>
                    <a:schemeClr val="bg1"/>
                  </a:solidFill>
                  <a:latin typeface="Tomaho"/>
                  <a:cs typeface="Times New Roman" panose="02020603050405020304" pitchFamily="18" charset="0"/>
                </a:rPr>
                <a:t>VII</a:t>
              </a:r>
              <a:r>
                <a:rPr lang="vi-VN" sz="4800" b="1" dirty="0">
                  <a:solidFill>
                    <a:schemeClr val="bg1"/>
                  </a:solidFill>
                  <a:latin typeface="Tomaho"/>
                  <a:cs typeface="Times New Roman" panose="02020603050405020304" pitchFamily="18" charset="0"/>
                </a:rPr>
                <a:t>. </a:t>
              </a:r>
              <a:r>
                <a:rPr lang="en-US" sz="4800" b="1" dirty="0">
                  <a:solidFill>
                    <a:schemeClr val="bg1"/>
                  </a:solidFill>
                  <a:latin typeface="Tomaho"/>
                  <a:cs typeface="Times New Roman" panose="02020603050405020304" pitchFamily="18" charset="0"/>
                </a:rPr>
                <a:t>PHƯƠNG PHÁP TỌA ĐỘ TRONG MẶT PHẲNG</a:t>
              </a:r>
              <a:endParaRPr lang="vi-VN" sz="4800" b="1" dirty="0">
                <a:solidFill>
                  <a:schemeClr val="bg1"/>
                </a:solidFill>
                <a:latin typeface="Tomaho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AutoShape 2" descr="Trọn bộ sách giáo khoa Toán 10 tập 1,2 (Kết nối tri thức với cuộ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061450"/>
            <a:ext cx="8221316" cy="11010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Rounded Rectangle 1031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3" name="Rectangle 1032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Rectangle 1033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TextBox 1034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036" name="TextBox 1035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51405188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15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08C62C3-3138-4092-86C2-85A1567C6E78}"/>
              </a:ext>
            </a:extLst>
          </p:cNvPr>
          <p:cNvGrpSpPr/>
          <p:nvPr/>
        </p:nvGrpSpPr>
        <p:grpSpPr>
          <a:xfrm>
            <a:off x="990599" y="1809815"/>
            <a:ext cx="22808129" cy="11677585"/>
            <a:chOff x="1447798" y="1793811"/>
            <a:chExt cx="22808129" cy="1167758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17C9077-2F0E-4830-9CBB-2CF87E745444}"/>
                </a:ext>
              </a:extLst>
            </p:cNvPr>
            <p:cNvGrpSpPr/>
            <p:nvPr/>
          </p:nvGrpSpPr>
          <p:grpSpPr>
            <a:xfrm>
              <a:off x="1447798" y="1793811"/>
              <a:ext cx="22808129" cy="11677585"/>
              <a:chOff x="1447798" y="1793811"/>
              <a:chExt cx="22808129" cy="11677585"/>
            </a:xfrm>
          </p:grpSpPr>
          <p:grpSp>
            <p:nvGrpSpPr>
              <p:cNvPr id="69" name="Group 68"/>
              <p:cNvGrpSpPr/>
              <p:nvPr/>
            </p:nvGrpSpPr>
            <p:grpSpPr>
              <a:xfrm>
                <a:off x="1575873" y="1797127"/>
                <a:ext cx="22680054" cy="11674269"/>
                <a:chOff x="-3538955" y="3448230"/>
                <a:chExt cx="22680054" cy="11674269"/>
              </a:xfrm>
            </p:grpSpPr>
            <p:sp>
              <p:nvSpPr>
                <p:cNvPr id="70" name="Right Triangle 69"/>
                <p:cNvSpPr/>
                <p:nvPr/>
              </p:nvSpPr>
              <p:spPr>
                <a:xfrm flipH="1">
                  <a:off x="8958821" y="3486542"/>
                  <a:ext cx="193377" cy="212342"/>
                </a:xfrm>
                <a:prstGeom prst="rtTriangle">
                  <a:avLst/>
                </a:prstGeom>
                <a:solidFill>
                  <a:schemeClr val="accent5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71" name="Group 70"/>
                <p:cNvGrpSpPr/>
                <p:nvPr/>
              </p:nvGrpSpPr>
              <p:grpSpPr>
                <a:xfrm>
                  <a:off x="-3538955" y="3448230"/>
                  <a:ext cx="22680054" cy="11674269"/>
                  <a:chOff x="-3538955" y="3448230"/>
                  <a:chExt cx="22680054" cy="11674269"/>
                </a:xfrm>
              </p:grpSpPr>
              <p:sp>
                <p:nvSpPr>
                  <p:cNvPr id="72" name="Rounded Rectangle 71"/>
                  <p:cNvSpPr/>
                  <p:nvPr/>
                </p:nvSpPr>
                <p:spPr>
                  <a:xfrm>
                    <a:off x="-3538955" y="3592713"/>
                    <a:ext cx="22680054" cy="11529786"/>
                  </a:xfrm>
                  <a:prstGeom prst="roundRect">
                    <a:avLst>
                      <a:gd name="adj" fmla="val 2127"/>
                    </a:avLst>
                  </a:prstGeom>
                  <a:solidFill>
                    <a:schemeClr val="bg1"/>
                  </a:solidFill>
                  <a:ln w="28575">
                    <a:solidFill>
                      <a:srgbClr val="0999C8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36000" tIns="18000" rIns="36000" bIns="18000" rtlCol="0" anchor="ctr"/>
                  <a:lstStyle/>
                  <a:p>
                    <a:pPr algn="ctr"/>
                    <a:endParaRPr lang="en-US" sz="4600" dirty="0">
                      <a:latin typeface="Tahoma" pitchFamily="34" charset="0"/>
                      <a:ea typeface="Tahoma" pitchFamily="34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73" name="TextBox 72"/>
                  <p:cNvSpPr txBox="1"/>
                  <p:nvPr/>
                </p:nvSpPr>
                <p:spPr>
                  <a:xfrm>
                    <a:off x="5759299" y="3448230"/>
                    <a:ext cx="3890809" cy="92333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fontAlgn="auto">
                      <a:spcBef>
                        <a:spcPct val="5000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5400" b="1" cap="all" dirty="0">
                        <a:ln w="0"/>
                        <a:solidFill>
                          <a:schemeClr val="bg1"/>
                        </a:solidFill>
                        <a:effectLst>
                          <a:reflection blurRad="12700" stA="50000" endPos="50000" dist="5000" dir="5400000" sy="-100000" rotWithShape="0"/>
                        </a:effectLst>
                        <a:latin typeface="Tahoma" pitchFamily="34" charset="0"/>
                        <a:ea typeface="Tahoma" pitchFamily="34" charset="0"/>
                        <a:cs typeface="Tahoma" pitchFamily="34" charset="0"/>
                      </a:rPr>
                      <a:t>CHƯƠNG I</a:t>
                    </a:r>
                  </a:p>
                </p:txBody>
              </p:sp>
            </p:grpSp>
          </p:grpSp>
          <p:sp>
            <p:nvSpPr>
              <p:cNvPr id="74" name="Right Triangle 73"/>
              <p:cNvSpPr/>
              <p:nvPr/>
            </p:nvSpPr>
            <p:spPr>
              <a:xfrm flipH="1">
                <a:off x="7921388" y="1793819"/>
                <a:ext cx="193377" cy="212342"/>
              </a:xfrm>
              <a:prstGeom prst="rtTriangle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ound Same Side Corner Rectangle 95"/>
              <p:cNvSpPr/>
              <p:nvPr/>
            </p:nvSpPr>
            <p:spPr>
              <a:xfrm flipV="1">
                <a:off x="8114764" y="1793811"/>
                <a:ext cx="11163835" cy="1537243"/>
              </a:xfrm>
              <a:prstGeom prst="round2SameRect">
                <a:avLst>
                  <a:gd name="adj1" fmla="val 6458"/>
                  <a:gd name="adj2" fmla="val 0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8597663" y="1953929"/>
                <a:ext cx="1032510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4800" b="1" dirty="0">
                    <a:solidFill>
                      <a:srgbClr val="C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CHƯƠNG </a:t>
                </a:r>
                <a:r>
                  <a:rPr lang="en-US" sz="4800" b="1" dirty="0">
                    <a:solidFill>
                      <a:srgbClr val="C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VII</a:t>
                </a:r>
                <a:r>
                  <a:rPr lang="vi-VN" sz="4800" b="1" dirty="0">
                    <a:solidFill>
                      <a:srgbClr val="C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800" b="1" dirty="0">
                    <a:solidFill>
                      <a:srgbClr val="C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 PHÁP TỌA ĐỘ TRONG MẶT PHẲNG</a:t>
                </a:r>
                <a:endParaRPr lang="vi-VN" sz="4800" b="1" dirty="0">
                  <a:solidFill>
                    <a:srgbClr val="C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pic>
            <p:nvPicPr>
              <p:cNvPr id="104" name="Picture 53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71230" y="2975075"/>
                <a:ext cx="1495424" cy="14954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7" name="Rectangle 16"/>
              <p:cNvSpPr/>
              <p:nvPr/>
            </p:nvSpPr>
            <p:spPr>
              <a:xfrm>
                <a:off x="7467544" y="4114018"/>
                <a:ext cx="13632086" cy="83322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0" tIns="45705" rIns="91410" bIns="45705" rtlCol="0" anchor="ctr"/>
              <a:lstStyle/>
              <a:p>
                <a:pPr algn="ctr"/>
                <a:endParaRPr lang="en-US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grpSp>
            <p:nvGrpSpPr>
              <p:cNvPr id="56" name="Group 60"/>
              <p:cNvGrpSpPr/>
              <p:nvPr/>
            </p:nvGrpSpPr>
            <p:grpSpPr>
              <a:xfrm>
                <a:off x="1447799" y="5264645"/>
                <a:ext cx="3250347" cy="922573"/>
                <a:chOff x="7459670" y="7086600"/>
                <a:chExt cx="3250724" cy="922680"/>
              </a:xfrm>
            </p:grpSpPr>
            <p:sp>
              <p:nvSpPr>
                <p:cNvPr id="57" name="Rectangle 56"/>
                <p:cNvSpPr/>
                <p:nvPr/>
              </p:nvSpPr>
              <p:spPr>
                <a:xfrm>
                  <a:off x="9092456" y="7178187"/>
                  <a:ext cx="1617938" cy="83109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  <a:defRPr/>
                  </a:pPr>
                  <a:r>
                    <a:rPr lang="en-US" sz="4800" b="1" dirty="0">
                      <a:solidFill>
                        <a:srgbClr val="242452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ELIP</a:t>
                  </a:r>
                </a:p>
              </p:txBody>
            </p:sp>
            <p:grpSp>
              <p:nvGrpSpPr>
                <p:cNvPr id="58" name="Group 26"/>
                <p:cNvGrpSpPr/>
                <p:nvPr/>
              </p:nvGrpSpPr>
              <p:grpSpPr>
                <a:xfrm>
                  <a:off x="7459670" y="7086600"/>
                  <a:ext cx="1392615" cy="872846"/>
                  <a:chOff x="7459669" y="7543800"/>
                  <a:chExt cx="1381118" cy="872846"/>
                </a:xfrm>
              </p:grpSpPr>
              <p:sp>
                <p:nvSpPr>
                  <p:cNvPr id="59" name="Isosceles Triangle 44"/>
                  <p:cNvSpPr/>
                  <p:nvPr/>
                </p:nvSpPr>
                <p:spPr>
                  <a:xfrm rot="16200000">
                    <a:off x="7469936" y="7533533"/>
                    <a:ext cx="143688" cy="164221"/>
                  </a:xfrm>
                  <a:custGeom>
                    <a:avLst/>
                    <a:gdLst>
                      <a:gd name="connsiteX0" fmla="*/ 0 w 293725"/>
                      <a:gd name="connsiteY0" fmla="*/ 164224 h 164224"/>
                      <a:gd name="connsiteX1" fmla="*/ 146863 w 293725"/>
                      <a:gd name="connsiteY1" fmla="*/ 0 h 164224"/>
                      <a:gd name="connsiteX2" fmla="*/ 293725 w 293725"/>
                      <a:gd name="connsiteY2" fmla="*/ 164224 h 164224"/>
                      <a:gd name="connsiteX3" fmla="*/ 0 w 293725"/>
                      <a:gd name="connsiteY3" fmla="*/ 164224 h 164224"/>
                      <a:gd name="connsiteX0" fmla="*/ 2363 w 296088"/>
                      <a:gd name="connsiteY0" fmla="*/ 164221 h 164221"/>
                      <a:gd name="connsiteX1" fmla="*/ 0 w 296088"/>
                      <a:gd name="connsiteY1" fmla="*/ 0 h 164221"/>
                      <a:gd name="connsiteX2" fmla="*/ 296088 w 296088"/>
                      <a:gd name="connsiteY2" fmla="*/ 164221 h 164221"/>
                      <a:gd name="connsiteX3" fmla="*/ 2363 w 296088"/>
                      <a:gd name="connsiteY3" fmla="*/ 164221 h 164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96088" h="164221">
                        <a:moveTo>
                          <a:pt x="2363" y="164221"/>
                        </a:moveTo>
                        <a:cubicBezTo>
                          <a:pt x="1575" y="109481"/>
                          <a:pt x="788" y="54740"/>
                          <a:pt x="0" y="0"/>
                        </a:cubicBezTo>
                        <a:lnTo>
                          <a:pt x="296088" y="164221"/>
                        </a:lnTo>
                        <a:lnTo>
                          <a:pt x="2363" y="164221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grpSp>
                <p:nvGrpSpPr>
                  <p:cNvPr id="60" name="Group 28"/>
                  <p:cNvGrpSpPr/>
                  <p:nvPr/>
                </p:nvGrpSpPr>
                <p:grpSpPr>
                  <a:xfrm>
                    <a:off x="7469187" y="7685126"/>
                    <a:ext cx="1371600" cy="731520"/>
                    <a:chOff x="7469187" y="7685126"/>
                    <a:chExt cx="1371600" cy="731520"/>
                  </a:xfrm>
                </p:grpSpPr>
                <p:sp>
                  <p:nvSpPr>
                    <p:cNvPr id="61" name="Round Same Side Corner Rectangle 60"/>
                    <p:cNvSpPr/>
                    <p:nvPr/>
                  </p:nvSpPr>
                  <p:spPr>
                    <a:xfrm rot="5400000">
                      <a:off x="7789227" y="7365086"/>
                      <a:ext cx="731520" cy="1371600"/>
                    </a:xfrm>
                    <a:prstGeom prst="round2SameRect">
                      <a:avLst/>
                    </a:prstGeom>
                    <a:solidFill>
                      <a:srgbClr val="135F82"/>
                    </a:solidFill>
                    <a:ln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320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62" name="TextBox 61"/>
                    <p:cNvSpPr txBox="1"/>
                    <p:nvPr/>
                  </p:nvSpPr>
                  <p:spPr>
                    <a:xfrm>
                      <a:off x="7958807" y="7688759"/>
                      <a:ext cx="507514" cy="70796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4000" b="1">
                          <a:solidFill>
                            <a:prstClr val="whit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US" sz="4000" b="1" dirty="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</p:grpSp>
          </p:grpSp>
          <p:grpSp>
            <p:nvGrpSpPr>
              <p:cNvPr id="63" name="Group 67"/>
              <p:cNvGrpSpPr/>
              <p:nvPr/>
            </p:nvGrpSpPr>
            <p:grpSpPr>
              <a:xfrm>
                <a:off x="1447806" y="6384795"/>
                <a:ext cx="4595269" cy="945163"/>
                <a:chOff x="7459670" y="6094978"/>
                <a:chExt cx="4595797" cy="945272"/>
              </a:xfrm>
            </p:grpSpPr>
            <p:sp>
              <p:nvSpPr>
                <p:cNvPr id="75" name="Rectangle 74"/>
                <p:cNvSpPr/>
                <p:nvPr/>
              </p:nvSpPr>
              <p:spPr>
                <a:xfrm>
                  <a:off x="9092456" y="6209157"/>
                  <a:ext cx="2963011" cy="83109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None/>
                    <a:defRPr/>
                  </a:pPr>
                  <a:r>
                    <a:rPr lang="en-US" sz="4800" b="1" spc="-150" dirty="0">
                      <a:solidFill>
                        <a:srgbClr val="242452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HYPEBOL</a:t>
                  </a:r>
                </a:p>
              </p:txBody>
            </p:sp>
            <p:grpSp>
              <p:nvGrpSpPr>
                <p:cNvPr id="76" name="Group 32"/>
                <p:cNvGrpSpPr/>
                <p:nvPr/>
              </p:nvGrpSpPr>
              <p:grpSpPr>
                <a:xfrm>
                  <a:off x="7459670" y="6094978"/>
                  <a:ext cx="1392615" cy="872845"/>
                  <a:chOff x="7459669" y="5114283"/>
                  <a:chExt cx="1381118" cy="872845"/>
                </a:xfrm>
              </p:grpSpPr>
              <p:sp>
                <p:nvSpPr>
                  <p:cNvPr id="77" name="Isosceles Triangle 44"/>
                  <p:cNvSpPr/>
                  <p:nvPr/>
                </p:nvSpPr>
                <p:spPr>
                  <a:xfrm rot="16200000">
                    <a:off x="7469936" y="5104016"/>
                    <a:ext cx="143688" cy="164221"/>
                  </a:xfrm>
                  <a:custGeom>
                    <a:avLst/>
                    <a:gdLst>
                      <a:gd name="connsiteX0" fmla="*/ 0 w 293725"/>
                      <a:gd name="connsiteY0" fmla="*/ 164224 h 164224"/>
                      <a:gd name="connsiteX1" fmla="*/ 146863 w 293725"/>
                      <a:gd name="connsiteY1" fmla="*/ 0 h 164224"/>
                      <a:gd name="connsiteX2" fmla="*/ 293725 w 293725"/>
                      <a:gd name="connsiteY2" fmla="*/ 164224 h 164224"/>
                      <a:gd name="connsiteX3" fmla="*/ 0 w 293725"/>
                      <a:gd name="connsiteY3" fmla="*/ 164224 h 164224"/>
                      <a:gd name="connsiteX0" fmla="*/ 2363 w 296088"/>
                      <a:gd name="connsiteY0" fmla="*/ 164221 h 164221"/>
                      <a:gd name="connsiteX1" fmla="*/ 0 w 296088"/>
                      <a:gd name="connsiteY1" fmla="*/ 0 h 164221"/>
                      <a:gd name="connsiteX2" fmla="*/ 296088 w 296088"/>
                      <a:gd name="connsiteY2" fmla="*/ 164221 h 164221"/>
                      <a:gd name="connsiteX3" fmla="*/ 2363 w 296088"/>
                      <a:gd name="connsiteY3" fmla="*/ 164221 h 164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96088" h="164221">
                        <a:moveTo>
                          <a:pt x="2363" y="164221"/>
                        </a:moveTo>
                        <a:cubicBezTo>
                          <a:pt x="1575" y="109481"/>
                          <a:pt x="788" y="54740"/>
                          <a:pt x="0" y="0"/>
                        </a:cubicBezTo>
                        <a:lnTo>
                          <a:pt x="296088" y="164221"/>
                        </a:lnTo>
                        <a:lnTo>
                          <a:pt x="2363" y="164221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grpSp>
                <p:nvGrpSpPr>
                  <p:cNvPr id="78" name="Group 41"/>
                  <p:cNvGrpSpPr/>
                  <p:nvPr/>
                </p:nvGrpSpPr>
                <p:grpSpPr>
                  <a:xfrm>
                    <a:off x="7469187" y="5255608"/>
                    <a:ext cx="1371600" cy="731520"/>
                    <a:chOff x="7469187" y="5255608"/>
                    <a:chExt cx="1371600" cy="731520"/>
                  </a:xfrm>
                </p:grpSpPr>
                <p:sp>
                  <p:nvSpPr>
                    <p:cNvPr id="79" name="Round Same Side Corner Rectangle 78"/>
                    <p:cNvSpPr/>
                    <p:nvPr/>
                  </p:nvSpPr>
                  <p:spPr>
                    <a:xfrm rot="5400000">
                      <a:off x="7789227" y="4935568"/>
                      <a:ext cx="731520" cy="1371600"/>
                    </a:xfrm>
                    <a:prstGeom prst="round2SameRect">
                      <a:avLst/>
                    </a:prstGeom>
                    <a:solidFill>
                      <a:srgbClr val="135F82"/>
                    </a:solidFill>
                    <a:ln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320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80" name="TextBox 79"/>
                    <p:cNvSpPr txBox="1"/>
                    <p:nvPr/>
                  </p:nvSpPr>
                  <p:spPr>
                    <a:xfrm>
                      <a:off x="7958806" y="5259273"/>
                      <a:ext cx="507513" cy="70796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4000" b="1" dirty="0">
                          <a:solidFill>
                            <a:prstClr val="whit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p:txBody>
                </p:sp>
              </p:grpSp>
            </p:grpSp>
          </p:grpSp>
          <p:grpSp>
            <p:nvGrpSpPr>
              <p:cNvPr id="81" name="Group 74"/>
              <p:cNvGrpSpPr/>
              <p:nvPr/>
            </p:nvGrpSpPr>
            <p:grpSpPr>
              <a:xfrm>
                <a:off x="1447801" y="8746994"/>
                <a:ext cx="15220427" cy="930251"/>
                <a:chOff x="7459670" y="7603729"/>
                <a:chExt cx="15222191" cy="930359"/>
              </a:xfrm>
            </p:grpSpPr>
            <p:sp>
              <p:nvSpPr>
                <p:cNvPr id="82" name="Rectangle 81"/>
                <p:cNvSpPr/>
                <p:nvPr/>
              </p:nvSpPr>
              <p:spPr>
                <a:xfrm>
                  <a:off x="8900530" y="7702995"/>
                  <a:ext cx="13781331" cy="83109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  <a:defRPr/>
                  </a:pPr>
                  <a:r>
                    <a:rPr lang="en-US" sz="4800" b="1" dirty="0">
                      <a:solidFill>
                        <a:srgbClr val="242452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MỘT SỐ ỨNG DỤNG CỦA BA ĐƯỜNG CONIC</a:t>
                  </a:r>
                </a:p>
              </p:txBody>
            </p:sp>
            <p:grpSp>
              <p:nvGrpSpPr>
                <p:cNvPr id="83" name="Group 44"/>
                <p:cNvGrpSpPr/>
                <p:nvPr/>
              </p:nvGrpSpPr>
              <p:grpSpPr>
                <a:xfrm>
                  <a:off x="7459670" y="7603729"/>
                  <a:ext cx="1392615" cy="872845"/>
                  <a:chOff x="7459669" y="5165329"/>
                  <a:chExt cx="1381118" cy="872845"/>
                </a:xfrm>
              </p:grpSpPr>
              <p:sp>
                <p:nvSpPr>
                  <p:cNvPr id="84" name="Isosceles Triangle 44"/>
                  <p:cNvSpPr/>
                  <p:nvPr/>
                </p:nvSpPr>
                <p:spPr>
                  <a:xfrm rot="16200000">
                    <a:off x="7469936" y="5155062"/>
                    <a:ext cx="143688" cy="164221"/>
                  </a:xfrm>
                  <a:custGeom>
                    <a:avLst/>
                    <a:gdLst>
                      <a:gd name="connsiteX0" fmla="*/ 0 w 293725"/>
                      <a:gd name="connsiteY0" fmla="*/ 164224 h 164224"/>
                      <a:gd name="connsiteX1" fmla="*/ 146863 w 293725"/>
                      <a:gd name="connsiteY1" fmla="*/ 0 h 164224"/>
                      <a:gd name="connsiteX2" fmla="*/ 293725 w 293725"/>
                      <a:gd name="connsiteY2" fmla="*/ 164224 h 164224"/>
                      <a:gd name="connsiteX3" fmla="*/ 0 w 293725"/>
                      <a:gd name="connsiteY3" fmla="*/ 164224 h 164224"/>
                      <a:gd name="connsiteX0" fmla="*/ 2363 w 296088"/>
                      <a:gd name="connsiteY0" fmla="*/ 164221 h 164221"/>
                      <a:gd name="connsiteX1" fmla="*/ 0 w 296088"/>
                      <a:gd name="connsiteY1" fmla="*/ 0 h 164221"/>
                      <a:gd name="connsiteX2" fmla="*/ 296088 w 296088"/>
                      <a:gd name="connsiteY2" fmla="*/ 164221 h 164221"/>
                      <a:gd name="connsiteX3" fmla="*/ 2363 w 296088"/>
                      <a:gd name="connsiteY3" fmla="*/ 164221 h 164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96088" h="164221">
                        <a:moveTo>
                          <a:pt x="2363" y="164221"/>
                        </a:moveTo>
                        <a:cubicBezTo>
                          <a:pt x="1575" y="109481"/>
                          <a:pt x="788" y="54740"/>
                          <a:pt x="0" y="0"/>
                        </a:cubicBezTo>
                        <a:lnTo>
                          <a:pt x="296088" y="164221"/>
                        </a:lnTo>
                        <a:lnTo>
                          <a:pt x="2363" y="164221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grpSp>
                <p:nvGrpSpPr>
                  <p:cNvPr id="85" name="Group 46"/>
                  <p:cNvGrpSpPr/>
                  <p:nvPr/>
                </p:nvGrpSpPr>
                <p:grpSpPr>
                  <a:xfrm>
                    <a:off x="7469187" y="5306654"/>
                    <a:ext cx="1371600" cy="731520"/>
                    <a:chOff x="7469187" y="5306654"/>
                    <a:chExt cx="1371600" cy="731520"/>
                  </a:xfrm>
                </p:grpSpPr>
                <p:sp>
                  <p:nvSpPr>
                    <p:cNvPr id="86" name="Round Same Side Corner Rectangle 85"/>
                    <p:cNvSpPr/>
                    <p:nvPr/>
                  </p:nvSpPr>
                  <p:spPr>
                    <a:xfrm rot="5400000">
                      <a:off x="7789227" y="4986614"/>
                      <a:ext cx="731520" cy="1371600"/>
                    </a:xfrm>
                    <a:prstGeom prst="round2SameRect">
                      <a:avLst/>
                    </a:prstGeom>
                    <a:solidFill>
                      <a:srgbClr val="135F82"/>
                    </a:solidFill>
                    <a:ln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320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87" name="TextBox 86"/>
                    <p:cNvSpPr txBox="1"/>
                    <p:nvPr/>
                  </p:nvSpPr>
                  <p:spPr>
                    <a:xfrm>
                      <a:off x="7958808" y="5310322"/>
                      <a:ext cx="507513" cy="70796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4000" b="1" dirty="0">
                          <a:solidFill>
                            <a:prstClr val="whit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p:txBody>
                </p:sp>
              </p:grpSp>
            </p:grpSp>
          </p:grpSp>
          <p:grpSp>
            <p:nvGrpSpPr>
              <p:cNvPr id="47" name="Group 67"/>
              <p:cNvGrpSpPr/>
              <p:nvPr/>
            </p:nvGrpSpPr>
            <p:grpSpPr>
              <a:xfrm>
                <a:off x="1447798" y="7527795"/>
                <a:ext cx="4594349" cy="972276"/>
                <a:chOff x="7459670" y="6069808"/>
                <a:chExt cx="5940117" cy="972388"/>
              </a:xfrm>
            </p:grpSpPr>
            <p:sp>
              <p:nvSpPr>
                <p:cNvPr id="48" name="Rectangle 47"/>
                <p:cNvSpPr/>
                <p:nvPr/>
              </p:nvSpPr>
              <p:spPr>
                <a:xfrm>
                  <a:off x="9529919" y="6211103"/>
                  <a:ext cx="3869868" cy="83109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None/>
                    <a:defRPr/>
                  </a:pPr>
                  <a:r>
                    <a:rPr lang="en-US" sz="4800" b="1" spc="-150" dirty="0">
                      <a:solidFill>
                        <a:srgbClr val="242452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PARABOL</a:t>
                  </a:r>
                </a:p>
              </p:txBody>
            </p:sp>
            <p:grpSp>
              <p:nvGrpSpPr>
                <p:cNvPr id="49" name="Group 32"/>
                <p:cNvGrpSpPr/>
                <p:nvPr/>
              </p:nvGrpSpPr>
              <p:grpSpPr>
                <a:xfrm>
                  <a:off x="7459670" y="6069808"/>
                  <a:ext cx="1800333" cy="929852"/>
                  <a:chOff x="7459669" y="5089113"/>
                  <a:chExt cx="1785470" cy="929852"/>
                </a:xfrm>
              </p:grpSpPr>
              <p:sp>
                <p:nvSpPr>
                  <p:cNvPr id="50" name="Isosceles Triangle 44"/>
                  <p:cNvSpPr/>
                  <p:nvPr/>
                </p:nvSpPr>
                <p:spPr>
                  <a:xfrm rot="16200000">
                    <a:off x="7469936" y="5078846"/>
                    <a:ext cx="143688" cy="164221"/>
                  </a:xfrm>
                  <a:custGeom>
                    <a:avLst/>
                    <a:gdLst>
                      <a:gd name="connsiteX0" fmla="*/ 0 w 293725"/>
                      <a:gd name="connsiteY0" fmla="*/ 164224 h 164224"/>
                      <a:gd name="connsiteX1" fmla="*/ 146863 w 293725"/>
                      <a:gd name="connsiteY1" fmla="*/ 0 h 164224"/>
                      <a:gd name="connsiteX2" fmla="*/ 293725 w 293725"/>
                      <a:gd name="connsiteY2" fmla="*/ 164224 h 164224"/>
                      <a:gd name="connsiteX3" fmla="*/ 0 w 293725"/>
                      <a:gd name="connsiteY3" fmla="*/ 164224 h 164224"/>
                      <a:gd name="connsiteX0" fmla="*/ 2363 w 296088"/>
                      <a:gd name="connsiteY0" fmla="*/ 164221 h 164221"/>
                      <a:gd name="connsiteX1" fmla="*/ 0 w 296088"/>
                      <a:gd name="connsiteY1" fmla="*/ 0 h 164221"/>
                      <a:gd name="connsiteX2" fmla="*/ 296088 w 296088"/>
                      <a:gd name="connsiteY2" fmla="*/ 164221 h 164221"/>
                      <a:gd name="connsiteX3" fmla="*/ 2363 w 296088"/>
                      <a:gd name="connsiteY3" fmla="*/ 164221 h 164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96088" h="164221">
                        <a:moveTo>
                          <a:pt x="2363" y="164221"/>
                        </a:moveTo>
                        <a:cubicBezTo>
                          <a:pt x="1575" y="109481"/>
                          <a:pt x="788" y="54740"/>
                          <a:pt x="0" y="0"/>
                        </a:cubicBezTo>
                        <a:lnTo>
                          <a:pt x="296088" y="164221"/>
                        </a:lnTo>
                        <a:lnTo>
                          <a:pt x="2363" y="164221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grpSp>
                <p:nvGrpSpPr>
                  <p:cNvPr id="51" name="Group 41"/>
                  <p:cNvGrpSpPr/>
                  <p:nvPr/>
                </p:nvGrpSpPr>
                <p:grpSpPr>
                  <a:xfrm>
                    <a:off x="7469193" y="5230408"/>
                    <a:ext cx="1775946" cy="788557"/>
                    <a:chOff x="7469193" y="5230408"/>
                    <a:chExt cx="1775946" cy="788557"/>
                  </a:xfrm>
                </p:grpSpPr>
                <p:sp>
                  <p:nvSpPr>
                    <p:cNvPr id="52" name="Round Same Side Corner Rectangle 51"/>
                    <p:cNvSpPr/>
                    <p:nvPr/>
                  </p:nvSpPr>
                  <p:spPr>
                    <a:xfrm rot="5400000">
                      <a:off x="7962887" y="4736714"/>
                      <a:ext cx="788557" cy="1775946"/>
                    </a:xfrm>
                    <a:prstGeom prst="round2SameRect">
                      <a:avLst/>
                    </a:prstGeom>
                    <a:solidFill>
                      <a:srgbClr val="135F82"/>
                    </a:solidFill>
                    <a:ln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320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53" name="TextBox 52"/>
                    <p:cNvSpPr txBox="1"/>
                    <p:nvPr/>
                  </p:nvSpPr>
                  <p:spPr>
                    <a:xfrm>
                      <a:off x="8104943" y="5270702"/>
                      <a:ext cx="656096" cy="70796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4000" b="1" dirty="0">
                          <a:solidFill>
                            <a:prstClr val="whit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p:txBody>
                </p:sp>
              </p:grpSp>
            </p:grpSp>
          </p:grpSp>
        </p:grpSp>
        <p:sp>
          <p:nvSpPr>
            <p:cNvPr id="103" name="Google Shape;122;p14">
              <a:extLst>
                <a:ext uri="{FF2B5EF4-FFF2-40B4-BE49-F238E27FC236}">
                  <a16:creationId xmlns:a16="http://schemas.microsoft.com/office/drawing/2014/main" id="{FAF7E6E7-D68E-4774-9801-54F6529B128E}"/>
                </a:ext>
              </a:extLst>
            </p:cNvPr>
            <p:cNvSpPr/>
            <p:nvPr/>
          </p:nvSpPr>
          <p:spPr>
            <a:xfrm>
              <a:off x="2891151" y="3040589"/>
              <a:ext cx="4418523" cy="882637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17500" dir="5400000" sx="90000" sy="-19000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  <a:scene3d>
                <a:camera prst="orthographicFront"/>
                <a:lightRig rig="threePt" dir="t"/>
              </a:scene3d>
              <a:sp3d prstMaterial="metal"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 dirty="0">
                  <a:solidFill>
                    <a:srgbClr val="FF0000"/>
                  </a:solidFill>
                  <a:effectLst>
                    <a:glow rad="76200">
                      <a:srgbClr val="FFFF00">
                        <a:alpha val="47000"/>
                      </a:srgbClr>
                    </a:glow>
                    <a:outerShdw blurRad="50800" dist="38100" dir="18900000" algn="bl" rotWithShape="0">
                      <a:srgbClr val="0000CC">
                        <a:alpha val="40000"/>
                      </a:srgbClr>
                    </a:outerShdw>
                  </a:effectLst>
                  <a:latin typeface="Tomaho"/>
                  <a:sym typeface="Baumans"/>
                </a:rPr>
                <a:t>TOÁN   </a:t>
              </a:r>
              <a:endParaRPr sz="6000" dirty="0">
                <a:solidFill>
                  <a:srgbClr val="FF0000"/>
                </a:solidFill>
                <a:effectLst>
                  <a:glow rad="76200">
                    <a:srgbClr val="FFFF00">
                      <a:alpha val="47000"/>
                    </a:srgbClr>
                  </a:glow>
                  <a:outerShdw blurRad="50800" dist="38100" dir="18900000" algn="bl" rotWithShape="0">
                    <a:srgbClr val="0000CC">
                      <a:alpha val="40000"/>
                    </a:srgbClr>
                  </a:outerShdw>
                </a:effectLst>
                <a:latin typeface="Tomaho"/>
              </a:endParaRPr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7EC462C3-097E-478F-9154-33220765427C}"/>
                </a:ext>
              </a:extLst>
            </p:cNvPr>
            <p:cNvGrpSpPr/>
            <p:nvPr/>
          </p:nvGrpSpPr>
          <p:grpSpPr>
            <a:xfrm>
              <a:off x="4441592" y="3900043"/>
              <a:ext cx="1316269" cy="1323399"/>
              <a:chOff x="4902568" y="2922072"/>
              <a:chExt cx="1316269" cy="1323399"/>
            </a:xfrm>
          </p:grpSpPr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392A2278-170A-49E8-B48D-301797CCDF5E}"/>
                  </a:ext>
                </a:extLst>
              </p:cNvPr>
              <p:cNvGrpSpPr/>
              <p:nvPr/>
            </p:nvGrpSpPr>
            <p:grpSpPr>
              <a:xfrm>
                <a:off x="5015148" y="2971696"/>
                <a:ext cx="1175009" cy="1143519"/>
                <a:chOff x="5015148" y="2971695"/>
                <a:chExt cx="1175009" cy="1143520"/>
              </a:xfrm>
            </p:grpSpPr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4E1041DC-D475-450B-91E9-794165D6DE77}"/>
                    </a:ext>
                  </a:extLst>
                </p:cNvPr>
                <p:cNvSpPr/>
                <p:nvPr/>
              </p:nvSpPr>
              <p:spPr>
                <a:xfrm>
                  <a:off x="5015148" y="2971695"/>
                  <a:ext cx="1175009" cy="1143520"/>
                </a:xfrm>
                <a:prstGeom prst="ellipse">
                  <a:avLst/>
                </a:prstGeom>
                <a:solidFill>
                  <a:srgbClr val="FFFF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1BBB2B80-ECD5-421E-A4F7-BBA59D5C9CDF}"/>
                    </a:ext>
                  </a:extLst>
                </p:cNvPr>
                <p:cNvSpPr/>
                <p:nvPr/>
              </p:nvSpPr>
              <p:spPr>
                <a:xfrm>
                  <a:off x="5015148" y="2993775"/>
                  <a:ext cx="1091111" cy="1121440"/>
                </a:xfrm>
                <a:prstGeom prst="ellipse">
                  <a:avLst/>
                </a:prstGeom>
                <a:solidFill>
                  <a:srgbClr val="3333FF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7" name="Google Shape;123;p14">
                <a:extLst>
                  <a:ext uri="{FF2B5EF4-FFF2-40B4-BE49-F238E27FC236}">
                    <a16:creationId xmlns:a16="http://schemas.microsoft.com/office/drawing/2014/main" id="{F38EB064-8955-4FC1-9AF5-C49985002268}"/>
                  </a:ext>
                </a:extLst>
              </p:cNvPr>
              <p:cNvSpPr txBox="1"/>
              <p:nvPr/>
            </p:nvSpPr>
            <p:spPr>
              <a:xfrm>
                <a:off x="4902568" y="2922072"/>
                <a:ext cx="1316269" cy="1323399"/>
              </a:xfrm>
              <a:prstGeom prst="rect">
                <a:avLst/>
              </a:prstGeom>
              <a:noFill/>
              <a:ln>
                <a:noFill/>
              </a:ln>
              <a:effectLst>
                <a:innerShdw blurRad="63500" dist="50800">
                  <a:prstClr val="black">
                    <a:alpha val="50000"/>
                  </a:prstClr>
                </a:innerShdw>
              </a:effectLst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0">
                    <a:solidFill>
                      <a:schemeClr val="bg1"/>
                    </a:solidFill>
                    <a:latin typeface="Yu Gothic UI Semilight" panose="020B0400000000000000" pitchFamily="34" charset="-128"/>
                    <a:ea typeface="Yu Gothic UI Semilight" panose="020B0400000000000000" pitchFamily="34" charset="-128"/>
                  </a:rPr>
                  <a:t>➉</a:t>
                </a:r>
                <a:endParaRPr sz="80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1F6311BF-A4CF-4E55-85D0-0A86514BB33B}"/>
              </a:ext>
            </a:extLst>
          </p:cNvPr>
          <p:cNvGrpSpPr/>
          <p:nvPr/>
        </p:nvGrpSpPr>
        <p:grpSpPr>
          <a:xfrm>
            <a:off x="7279296" y="3347058"/>
            <a:ext cx="11110068" cy="1275969"/>
            <a:chOff x="71819" y="108751"/>
            <a:chExt cx="6395438" cy="872484"/>
          </a:xfrm>
        </p:grpSpPr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E248C2BE-8566-4C92-B9DC-0F7EBDD76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819" y="148683"/>
              <a:ext cx="6395438" cy="824094"/>
            </a:xfrm>
            <a:prstGeom prst="rect">
              <a:avLst/>
            </a:prstGeom>
          </p:spPr>
        </p:pic>
        <p:sp>
          <p:nvSpPr>
            <p:cNvPr id="114" name="TextBox 321">
              <a:extLst>
                <a:ext uri="{FF2B5EF4-FFF2-40B4-BE49-F238E27FC236}">
                  <a16:creationId xmlns:a16="http://schemas.microsoft.com/office/drawing/2014/main" id="{39A246B9-3D0B-4A2B-A2B0-AD412E909BB4}"/>
                </a:ext>
              </a:extLst>
            </p:cNvPr>
            <p:cNvSpPr txBox="1"/>
            <p:nvPr/>
          </p:nvSpPr>
          <p:spPr>
            <a:xfrm>
              <a:off x="1236809" y="245789"/>
              <a:ext cx="4239341" cy="59589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4800" b="1" dirty="0">
                  <a:solidFill>
                    <a:srgbClr val="FCFFE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 ĐƯỜNG CONIC</a:t>
              </a:r>
              <a:endPara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5" name="TextBox 321">
              <a:extLst>
                <a:ext uri="{FF2B5EF4-FFF2-40B4-BE49-F238E27FC236}">
                  <a16:creationId xmlns:a16="http://schemas.microsoft.com/office/drawing/2014/main" id="{EFE5FD9A-8DAE-41E9-BE5B-4B8636094028}"/>
                </a:ext>
              </a:extLst>
            </p:cNvPr>
            <p:cNvSpPr txBox="1"/>
            <p:nvPr/>
          </p:nvSpPr>
          <p:spPr>
            <a:xfrm>
              <a:off x="521486" y="108751"/>
              <a:ext cx="715323" cy="87248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4800" b="1" dirty="0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22</a:t>
              </a:r>
              <a:endPara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17" name="Rounded Rectangle 116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21842548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/>
          <p:cNvPicPr/>
          <p:nvPr/>
        </p:nvPicPr>
        <p:blipFill rotWithShape="1">
          <a:blip r:embed="rId3"/>
          <a:srcRect l="1008" r="73120"/>
          <a:stretch/>
        </p:blipFill>
        <p:spPr bwMode="auto">
          <a:xfrm>
            <a:off x="1219200" y="6745329"/>
            <a:ext cx="5486400" cy="5334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5" name="Picture 14"/>
          <p:cNvPicPr/>
          <p:nvPr/>
        </p:nvPicPr>
        <p:blipFill rotWithShape="1">
          <a:blip r:embed="rId3"/>
          <a:srcRect l="29232" t="27358" r="30447"/>
          <a:stretch/>
        </p:blipFill>
        <p:spPr bwMode="auto">
          <a:xfrm>
            <a:off x="8229600" y="6745328"/>
            <a:ext cx="6629400" cy="533400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6" name="Picture 15"/>
          <p:cNvPicPr/>
          <p:nvPr/>
        </p:nvPicPr>
        <p:blipFill rotWithShape="1">
          <a:blip r:embed="rId3"/>
          <a:srcRect l="72577"/>
          <a:stretch/>
        </p:blipFill>
        <p:spPr bwMode="auto">
          <a:xfrm>
            <a:off x="16789400" y="6709571"/>
            <a:ext cx="5334000" cy="5334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ctangle 2"/>
          <p:cNvSpPr/>
          <p:nvPr/>
        </p:nvSpPr>
        <p:spPr>
          <a:xfrm>
            <a:off x="381000" y="1676400"/>
            <a:ext cx="23622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thực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tế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thể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bắt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gặp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nhiều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hình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ảnh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ứng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với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elip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(ellipse),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hypebol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(hyperbola),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parabol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(parabola),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gọi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chung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conic.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phát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hiện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nghiên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cứu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từ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thời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Hy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Lạp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cổ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đại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nhưng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ứng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phong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phú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trọng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conic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chỉ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phát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hiện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những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thế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kỉ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gần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đây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khởi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đầu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định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luật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nổi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Kepler (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Johnnes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Kepler, 1571 – 1630) 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về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quỹ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đạo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hành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tinh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hệ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Mặt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Trời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Để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thể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tiếp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tục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câu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chuyện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thú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này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ta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cần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tìm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hiểu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kĩ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hơn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đặc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biệt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tìm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trình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đại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mô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ta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conic.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124200" y="11971346"/>
            <a:ext cx="213360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omaho"/>
              </a:rPr>
              <a:t>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4050" y="12002386"/>
            <a:ext cx="129540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omaho"/>
              </a:rPr>
              <a:t>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961100" y="12079329"/>
            <a:ext cx="99060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omaho"/>
              </a:rPr>
              <a:t>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66250" y="12833382"/>
            <a:ext cx="502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err="1">
                <a:latin typeface="Tomaho"/>
              </a:rPr>
              <a:t>Hình</a:t>
            </a:r>
            <a:r>
              <a:rPr lang="en-US" sz="4800" dirty="0">
                <a:latin typeface="Tomaho"/>
              </a:rPr>
              <a:t> 7.17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99659098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4" grpId="0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8709" y="4716464"/>
                <a:ext cx="13154891" cy="8786812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:r>
                  <a:rPr lang="en-US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HĐ1: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Đính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đầu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sợi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dây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đàn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hồi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vào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trí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cố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bàn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dài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sợi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dây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lớn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hơn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khoảng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).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Kéo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căng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sợi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dây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M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bởi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đầu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bút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dạ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hoặc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phấn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). Di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chuyển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đầu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bút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dạ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để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vẽ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bàn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khép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(H.7.18).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vừa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nhận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ảnh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nào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ở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7.17?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quá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đầu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bút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di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chuyển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để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vẽ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nói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tổng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khoảng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từ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tới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trí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thay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đổi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sao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</a:t>
                </a:r>
              </a:p>
              <a:p>
                <a:pPr marL="0" indent="0"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709" y="4716464"/>
                <a:ext cx="13154891" cy="8786812"/>
              </a:xfrm>
              <a:prstGeom prst="rect">
                <a:avLst/>
              </a:prstGeom>
              <a:blipFill>
                <a:blip r:embed="rId3"/>
                <a:stretch>
                  <a:fillRect l="-2037" t="-2356" r="-2083" b="-277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563600" y="4716464"/>
                <a:ext cx="10411691" cy="870267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vừa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nhận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ảnh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b ở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7.17.</a:t>
                </a:r>
              </a:p>
              <a:p>
                <a:pPr marL="0" indent="0"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quá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đầu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bút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di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chuyển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để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vẽ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nói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tổng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khoảng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từ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tới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trí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thay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đổi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dài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sợi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dây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đổi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63600" y="4716464"/>
                <a:ext cx="10411691" cy="8702676"/>
              </a:xfrm>
              <a:prstGeom prst="rect">
                <a:avLst/>
              </a:prstGeom>
              <a:blipFill>
                <a:blip r:embed="rId4"/>
                <a:stretch>
                  <a:fillRect l="-2573" t="-2379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1879600"/>
            <a:ext cx="23164800" cy="27685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8000"/>
                </a:solidFill>
              </a:rPr>
              <a:t>1. ELIP</a:t>
            </a:r>
            <a:endParaRPr lang="en-US" dirty="0">
              <a:solidFill>
                <a:srgbClr val="008000"/>
              </a:solidFill>
            </a:endParaRPr>
          </a:p>
        </p:txBody>
      </p:sp>
      <p:pic>
        <p:nvPicPr>
          <p:cNvPr id="16" name="Picture 15"/>
          <p:cNvPicPr/>
          <p:nvPr/>
        </p:nvPicPr>
        <p:blipFill rotWithShape="1">
          <a:blip r:embed="rId5"/>
          <a:srcRect l="64990" r="5297"/>
          <a:stretch/>
        </p:blipFill>
        <p:spPr bwMode="auto">
          <a:xfrm>
            <a:off x="3530600" y="1700138"/>
            <a:ext cx="4572000" cy="286226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/>
          <p:cNvPicPr/>
          <p:nvPr/>
        </p:nvPicPr>
        <p:blipFill rotWithShape="1">
          <a:blip r:embed="rId6"/>
          <a:srcRect l="1008" r="73120"/>
          <a:stretch/>
        </p:blipFill>
        <p:spPr bwMode="auto">
          <a:xfrm>
            <a:off x="8813800" y="1447801"/>
            <a:ext cx="4216400" cy="320039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8102600" y="2531277"/>
            <a:ext cx="96520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omaho"/>
              </a:rPr>
              <a:t>a)</a:t>
            </a:r>
          </a:p>
        </p:txBody>
      </p:sp>
      <p:pic>
        <p:nvPicPr>
          <p:cNvPr id="9" name="Picture 8"/>
          <p:cNvPicPr/>
          <p:nvPr/>
        </p:nvPicPr>
        <p:blipFill rotWithShape="1">
          <a:blip r:embed="rId6"/>
          <a:srcRect l="29232" t="27358" r="30447"/>
          <a:stretch/>
        </p:blipFill>
        <p:spPr bwMode="auto">
          <a:xfrm>
            <a:off x="14369948" y="1447801"/>
            <a:ext cx="3962838" cy="255071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3563600" y="2509846"/>
            <a:ext cx="774347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omaho"/>
              </a:rPr>
              <a:t>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48221" y="3998516"/>
            <a:ext cx="30062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latin typeface="Tomaho"/>
              </a:rPr>
              <a:t>Hình</a:t>
            </a:r>
            <a:r>
              <a:rPr lang="en-US" sz="4400" dirty="0">
                <a:latin typeface="Tomaho"/>
              </a:rPr>
              <a:t> 7.17</a:t>
            </a:r>
          </a:p>
        </p:txBody>
      </p:sp>
      <p:pic>
        <p:nvPicPr>
          <p:cNvPr id="12" name="Picture 11"/>
          <p:cNvPicPr/>
          <p:nvPr/>
        </p:nvPicPr>
        <p:blipFill rotWithShape="1">
          <a:blip r:embed="rId6"/>
          <a:srcRect l="72577"/>
          <a:stretch/>
        </p:blipFill>
        <p:spPr bwMode="auto">
          <a:xfrm>
            <a:off x="19964400" y="1447801"/>
            <a:ext cx="3562014" cy="311460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18961100" y="2531276"/>
            <a:ext cx="99060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omaho"/>
              </a:rPr>
              <a:t>c)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78169890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  <p:bldP spid="8" grpId="0"/>
      <p:bldP spid="8" grpId="1"/>
      <p:bldP spid="10" grpId="0"/>
      <p:bldP spid="11" grpId="0"/>
      <p:bldP spid="13" grpId="0"/>
      <p:bldP spid="1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838200" y="4716464"/>
            <a:ext cx="11353800" cy="8702676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Ví</a:t>
            </a:r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</a:t>
            </a:r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1: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lục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đều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ABCDEF.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Chứng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minh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rằng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bốn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điểm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B, C, E, F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cùng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thuộc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elip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tiêu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điểm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44400" y="4716464"/>
                <a:ext cx="11630891" cy="870267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Giải:</a:t>
                </a:r>
              </a:p>
              <a:p>
                <a:pPr marL="0" indent="0"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Lục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𝐴𝐵𝐶𝐷𝐸𝐹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cạnh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đo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(H.7.19). Do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tam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𝐴𝐵𝐶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𝐵𝐶𝐷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𝐷𝐸𝐹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𝐸𝐹𝐴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c.g.c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). </a:t>
                </a:r>
              </a:p>
              <a:p>
                <a:pPr marL="0" indent="0"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Suy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𝐴𝐶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𝐵𝐷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𝐷𝐹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𝐴𝐸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 </a:t>
                </a:r>
              </a:p>
              <a:p>
                <a:pPr marL="0" indent="0"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Từ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𝐵𝐴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𝐵𝐷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𝐶𝐴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𝐶𝐷</m:t>
                    </m:r>
                  </m:oMath>
                </a14:m>
                <a:endParaRPr lang="en-US" i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𝐸𝐴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𝐸𝐷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𝐹𝐴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𝐹𝐷</m:t>
                    </m:r>
                    <m:r>
                      <a:rPr lang="en-US" i="1">
                        <a:latin typeface="Cambria Math"/>
                      </a:rPr>
                      <m:t>&gt;</m:t>
                    </m:r>
                    <m:r>
                      <a:rPr lang="en-US" i="1">
                        <a:latin typeface="Cambria Math"/>
                      </a:rPr>
                      <m:t>𝐴𝐷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B, C, E, F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A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D.</a:t>
                </a:r>
              </a:p>
              <a:p>
                <a:pPr marL="0" indent="0"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4400" y="4716464"/>
                <a:ext cx="11630891" cy="8702676"/>
              </a:xfrm>
              <a:prstGeom prst="rect">
                <a:avLst/>
              </a:prstGeom>
              <a:blipFill>
                <a:blip r:embed="rId3"/>
                <a:stretch>
                  <a:fillRect l="-2304" t="-2379" r="-2199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79600"/>
                <a:ext cx="23164800" cy="276859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r>
                  <a:rPr lang="en-US" sz="4800" b="1" dirty="0" err="1">
                    <a:solidFill>
                      <a:srgbClr val="D60093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sz="4800" b="1" dirty="0">
                    <a:solidFill>
                      <a:srgbClr val="D60093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D60093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nghĩa</a:t>
                </a:r>
                <a:r>
                  <a:rPr lang="en-US" sz="4800" b="1" dirty="0">
                    <a:solidFill>
                      <a:srgbClr val="D60093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cố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phân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biệt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Đặt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4800" i="1">
                        <a:latin typeface="Cambria Math"/>
                      </a:rPr>
                      <m:t>=2</m:t>
                    </m:r>
                    <m:r>
                      <a:rPr lang="en-US" sz="4800" i="1">
                        <a:latin typeface="Cambria Math"/>
                      </a:rPr>
                      <m:t>𝑐</m:t>
                    </m:r>
                    <m:r>
                      <a:rPr lang="en-US" sz="4800" i="1">
                        <a:latin typeface="Cambria Math"/>
                      </a:rPr>
                      <m:t>&gt;0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Cho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thực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𝑎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lớn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hơn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𝑐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𝑀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sao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𝑀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4800" i="1">
                        <a:latin typeface="Cambria Math"/>
                      </a:rPr>
                      <m:t>+</m:t>
                    </m:r>
                    <m:r>
                      <a:rPr lang="en-US" sz="4800" i="1">
                        <a:latin typeface="Cambria Math"/>
                      </a:rPr>
                      <m:t>𝑀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4800" i="1">
                        <a:latin typeface="Cambria Math"/>
                      </a:rPr>
                      <m:t>=2</m:t>
                    </m:r>
                    <m:r>
                      <a:rPr lang="en-US" sz="4800" i="1">
                        <a:latin typeface="Cambria Math"/>
                      </a:rPr>
                      <m:t>𝑎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800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(hay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). Hai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4800" i="1">
                        <a:latin typeface="Cambria Math"/>
                      </a:rPr>
                      <m:t>=2</m:t>
                    </m:r>
                    <m:r>
                      <a:rPr lang="en-US" sz="4800" i="1">
                        <a:latin typeface="Cambria Math"/>
                      </a:rPr>
                      <m:t>𝑐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cự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sz="4800" dirty="0">
                  <a:solidFill>
                    <a:srgbClr val="D60093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0"/>
                <a:ext cx="23164800" cy="2768599"/>
              </a:xfrm>
              <a:prstGeom prst="rect">
                <a:avLst/>
              </a:prstGeom>
              <a:blipFill>
                <a:blip r:embed="rId4"/>
                <a:stretch>
                  <a:fillRect l="-1184" t="-7675" b="-9868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753600" y="4968699"/>
                <a:ext cx="137922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sao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nghĩa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cần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điều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kiện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𝑎</m:t>
                    </m:r>
                    <m:r>
                      <a:rPr lang="en-US" sz="4800" i="1" smtClean="0">
                        <a:latin typeface="Cambria Math"/>
                      </a:rPr>
                      <m:t>&gt;</m:t>
                    </m:r>
                    <m:r>
                      <a:rPr lang="en-US" sz="4800" i="1" smtClean="0">
                        <a:latin typeface="Cambria Math"/>
                      </a:rPr>
                      <m:t>𝑐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600" y="4968699"/>
                <a:ext cx="13792200" cy="830997"/>
              </a:xfrm>
              <a:prstGeom prst="rect">
                <a:avLst/>
              </a:prstGeom>
              <a:blipFill>
                <a:blip r:embed="rId5"/>
                <a:stretch>
                  <a:fillRect l="-1989" t="-17647" r="-398" b="-3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/>
          <p:cNvPicPr/>
          <p:nvPr/>
        </p:nvPicPr>
        <p:blipFill rotWithShape="1">
          <a:blip r:embed="rId6"/>
          <a:srcRect l="1393" t="83097" r="92834" b="3296"/>
          <a:stretch/>
        </p:blipFill>
        <p:spPr bwMode="auto">
          <a:xfrm>
            <a:off x="7649686" y="4716464"/>
            <a:ext cx="1481773" cy="166800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Picture 11"/>
          <p:cNvPicPr/>
          <p:nvPr/>
        </p:nvPicPr>
        <p:blipFill rotWithShape="1">
          <a:blip r:embed="rId7"/>
          <a:srcRect l="66110" t="3012" b="14373"/>
          <a:stretch/>
        </p:blipFill>
        <p:spPr bwMode="auto">
          <a:xfrm>
            <a:off x="4060032" y="6883640"/>
            <a:ext cx="6074568" cy="53845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1" name="Rounded Rectangle 100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10165736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  <p:bldP spid="97" grpId="0" animBg="1"/>
      <p:bldP spid="5" grpId="0"/>
      <p:bldP spid="5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02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838200" y="1981200"/>
            <a:ext cx="11125201" cy="11411749"/>
          </a:xfrm>
          <a:prstGeom prst="rect">
            <a:avLst/>
          </a:prstGeom>
          <a:solidFill>
            <a:srgbClr val="E7F7FF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Luyện</a:t>
            </a:r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tập</a:t>
            </a:r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1.</a:t>
            </a:r>
            <a:endParaRPr lang="en-US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Trên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bida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hình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elip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lỗ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bi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tại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tiêu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điểm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(H.7.20).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Nếu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gậy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chơi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tác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đủ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mạnh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vào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bi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đặt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tại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tiêu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điểm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còn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lại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thì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vào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bi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sẽ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bật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lại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chạy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về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lỗ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bỏ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qua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tác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phụ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Hỏi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dài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quãng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bi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lăn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từ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điểm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xuất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tới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lỗ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phụ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thuộc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vào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bi hay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không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Vì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sao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  <a:endParaRPr lang="en-US" sz="5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2192000" y="1981200"/>
            <a:ext cx="11859491" cy="11411749"/>
          </a:xfrm>
          <a:prstGeom prst="rect">
            <a:avLst/>
          </a:prstGeom>
          <a:solidFill>
            <a:srgbClr val="E7F7FF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Giải</a:t>
            </a:r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marL="0" indent="0">
              <a:buNone/>
            </a:pP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dài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quãng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bi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lăn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từ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điểm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xuất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tới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lỗ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không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phụ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thuộc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vào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bi.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Vì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tổng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khoảng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từ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điểm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bi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vào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đến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tiêu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điểm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không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đổi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5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8915400"/>
            <a:ext cx="4876800" cy="4022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ounded Rectangle 1027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Rectangle 102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Rectangle 102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1" name="TextBox 1030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943309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2509" y="1981200"/>
                <a:ext cx="11630893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HĐ2.</a:t>
                </a:r>
                <a:r>
                  <a:rPr lang="en-US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Xét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như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nghĩa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Chọn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trục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𝑂𝑥𝑦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gốc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𝑂𝑥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trùng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𝑂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(H.7.21)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thích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sao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chỉ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endParaRPr lang="en-US" i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𝑦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i="1">
                        <a:latin typeface="Cambria Math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𝑦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i="1">
                        <a:latin typeface="Cambria Math"/>
                      </a:rPr>
                      <m:t>=2</m:t>
                    </m:r>
                    <m:r>
                      <a:rPr lang="en-US" i="1">
                        <a:latin typeface="Cambria Math"/>
                      </a:rPr>
                      <m:t>𝑎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1</m:t>
                        </m:r>
                      </m:e>
                    </m:d>
                  </m:oMath>
                </a14:m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509" y="1981200"/>
                <a:ext cx="11630893" cy="11411749"/>
              </a:xfrm>
              <a:prstGeom prst="rect">
                <a:avLst/>
              </a:prstGeom>
              <a:blipFill>
                <a:blip r:embed="rId3"/>
                <a:stretch>
                  <a:fillRect l="-2356" t="-1868" r="-1099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Giải: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&gt;0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=(−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;0)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=(0;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Ta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)∈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b="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⟺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endParaRPr lang="en-US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b="1" dirty="0">
                  <a:solidFill>
                    <a:srgbClr val="FFC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Chú</a:t>
                </a:r>
                <a:r>
                  <a:rPr lang="en-US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ý:</a:t>
                </a:r>
                <a:r>
                  <a:rPr lang="en-US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Người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thể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biến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đổi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về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dạng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blipFill>
                <a:blip r:embed="rId4"/>
                <a:stretch>
                  <a:fillRect l="-2260" t="-1814" r="-1027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700" y="8813834"/>
            <a:ext cx="5410200" cy="4579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Rounded Rectangle 2051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3" name="Rectangle 2052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4" name="Rectangle 2053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5" name="TextBox 2054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2056" name="TextBox 2055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15866508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7010400"/>
                <a:ext cx="11353800" cy="649287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Ví</a:t>
                </a:r>
                <a:r>
                  <a:rPr lang="en-US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dụ</a:t>
                </a:r>
                <a:r>
                  <a:rPr lang="en-US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2: 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chính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tắc</a:t>
                </a: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 algn="ctr"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cự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tổng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khoảng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từ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mỗi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tới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7010400"/>
                <a:ext cx="11353800" cy="6492876"/>
              </a:xfrm>
              <a:prstGeom prst="rect">
                <a:avLst/>
              </a:prstGeom>
              <a:blipFill>
                <a:blip r:embed="rId3"/>
                <a:stretch>
                  <a:fillRect l="-2414" t="-3187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44400" y="7010400"/>
                <a:ext cx="11630891" cy="640874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=25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=16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Do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i="1">
                        <a:latin typeface="Cambria Math"/>
                      </a:rPr>
                      <m:t>=3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−3;0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3;0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cự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=2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a:rPr lang="en-US" i="1">
                        <a:latin typeface="Cambria Math"/>
                      </a:rPr>
                      <m:t>=6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𝑎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/>
                          </a:rPr>
                          <m:t>25</m:t>
                        </m:r>
                      </m:e>
                    </m:rad>
                    <m:r>
                      <a:rPr lang="en-US" i="1">
                        <a:latin typeface="Cambria Math"/>
                      </a:rPr>
                      <m:t>=5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tổng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khoảng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từ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mỗi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tới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2</m:t>
                    </m:r>
                    <m:r>
                      <a:rPr lang="en-US" i="1">
                        <a:latin typeface="Cambria Math"/>
                      </a:rPr>
                      <m:t>𝑎</m:t>
                    </m:r>
                    <m:r>
                      <a:rPr lang="en-US" i="1">
                        <a:latin typeface="Cambria Math"/>
                      </a:rPr>
                      <m:t>=10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4400" y="7010400"/>
                <a:ext cx="11630891" cy="6408740"/>
              </a:xfrm>
              <a:prstGeom prst="rect">
                <a:avLst/>
              </a:prstGeom>
              <a:blipFill>
                <a:blip r:embed="rId4"/>
                <a:stretch>
                  <a:fillRect l="-2304" t="-3229" r="-52" b="-6743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79600"/>
                <a:ext cx="23164800" cy="4902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phẳng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𝑂𝑥𝑦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trục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hoành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sao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đọan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nối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thì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48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48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Ngược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lại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mỗi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dạng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4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4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;0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4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4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;0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,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cự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=2</m:t>
                    </m:r>
                    <m:rad>
                      <m:radPr>
                        <m:degHide m:val="on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tổng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khoảng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từ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mỗi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tới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sz="4800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chính</a:t>
                </a:r>
                <a:r>
                  <a:rPr lang="en-US" sz="4800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tắc</a:t>
                </a:r>
                <a:r>
                  <a:rPr lang="en-US" sz="4800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elip</a:t>
                </a:r>
                <a:r>
                  <a:rPr lang="en-US" sz="4800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tương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ứng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sz="4800" dirty="0">
                  <a:solidFill>
                    <a:srgbClr val="D60093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0"/>
                <a:ext cx="23164800" cy="4902200"/>
              </a:xfrm>
              <a:prstGeom prst="rect">
                <a:avLst/>
              </a:prstGeom>
              <a:blipFill>
                <a:blip r:embed="rId5"/>
                <a:stretch>
                  <a:fillRect l="-1184" t="-4337" r="-79" b="-13011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22071703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  <p:bldP spid="9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Luyện</a:t>
                </a:r>
                <a:r>
                  <a:rPr lang="en-US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2.</a:t>
                </a:r>
                <a:endParaRPr lang="en-US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Elip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chính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tắc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5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5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5400" i="1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sz="5400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5400" i="1">
                            <a:latin typeface="Cambria Math"/>
                          </a:rPr>
                          <m:t>100</m:t>
                        </m:r>
                      </m:den>
                    </m:f>
                    <m:r>
                      <a:rPr lang="en-US" sz="5400" i="1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US" sz="5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5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5400" i="1">
                                <a:latin typeface="Cambria Math"/>
                              </a:rPr>
                              <m:t>𝑦</m:t>
                            </m:r>
                          </m:e>
                          <m:sup>
                            <m:r>
                              <a:rPr lang="en-US" sz="5400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5400" i="1">
                            <a:latin typeface="Cambria Math"/>
                          </a:rPr>
                          <m:t>64</m:t>
                        </m:r>
                      </m:den>
                    </m:f>
                    <m:r>
                      <a:rPr lang="en-US" sz="5400" i="1">
                        <a:latin typeface="Cambria Math"/>
                      </a:rPr>
                      <m:t>=1</m:t>
                    </m:r>
                  </m:oMath>
                </a14:m>
                <a:r>
                  <a:rPr lang="en-US" sz="5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cự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elip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blipFill>
                <a:blip r:embed="rId3"/>
                <a:stretch>
                  <a:fillRect l="-2463" t="-181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=100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=64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Do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i="1">
                        <a:latin typeface="Cambria Math"/>
                      </a:rPr>
                      <m:t>=6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−6;0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6;0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cự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=2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a:rPr lang="en-US" i="1">
                        <a:latin typeface="Cambria Math"/>
                      </a:rPr>
                      <m:t>=12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blipFill>
                <a:blip r:embed="rId4"/>
                <a:stretch>
                  <a:fillRect l="-2260" t="-181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52709249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 err="1">
                    <a:solidFill>
                      <a:srgbClr val="008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Vận</a:t>
                </a:r>
                <a:r>
                  <a:rPr lang="en-US" b="1" dirty="0">
                    <a:solidFill>
                      <a:srgbClr val="008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solidFill>
                      <a:srgbClr val="008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dụng</a:t>
                </a:r>
                <a:r>
                  <a:rPr lang="en-US" b="1" dirty="0">
                    <a:solidFill>
                      <a:srgbClr val="008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1.</a:t>
                </a:r>
                <a:endParaRPr lang="en-US" dirty="0">
                  <a:solidFill>
                    <a:srgbClr val="008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bản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vẽ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thiết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kế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vòm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ô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thoáng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7.22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nửa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nằm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phía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trục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hoành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elip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/>
                          </a:rPr>
                          <m:t>16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𝑦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=1</m:t>
                    </m:r>
                  </m:oMath>
                </a14:m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Biết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rằng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1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đơn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phẳng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bản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vẽ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thiết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kế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ứng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30 cm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thực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tế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chiều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cao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h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ô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thoáng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tại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cách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chính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đế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ô </a:t>
                </a:r>
                <a:r>
                  <a:rPr lang="en-US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thoáng</a:t>
                </a:r>
                <a:r>
                  <a:rPr lang="en-US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75 cm. </a:t>
                </a: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blipFill>
                <a:blip r:embed="rId3"/>
                <a:stretch>
                  <a:fillRect l="-2463" t="-1814" r="-2299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>
                    <a:solidFill>
                      <a:srgbClr val="008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Giải: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=16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=4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endParaRPr lang="en-US" i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      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i="1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/>
                          </a:rPr>
                          <m:t>16−4</m:t>
                        </m:r>
                      </m:e>
                    </m:rad>
                    <m:r>
                      <a:rPr lang="en-US" i="1">
                        <a:latin typeface="Cambria Math"/>
                      </a:rPr>
                      <m:t>=2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𝑎</m:t>
                    </m:r>
                    <m:r>
                      <a:rPr lang="en-US" i="1">
                        <a:latin typeface="Cambria Math"/>
                      </a:rPr>
                      <m:t>=4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khoảng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từ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O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đến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trí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ngoài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4.30=120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cm.</a:t>
                </a:r>
              </a:p>
              <a:p>
                <a:pPr marL="0" indent="0"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𝑏</m:t>
                    </m:r>
                    <m:r>
                      <a:rPr lang="en-US" i="1">
                        <a:latin typeface="Cambria Math"/>
                      </a:rPr>
                      <m:t>=2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khoảng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từ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O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đến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trí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đỉnh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phía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2.30=60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cm.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tỉ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lệ</a:t>
                </a: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h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60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120−75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75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⇔</m:t>
                    </m:r>
                    <m:r>
                      <a:rPr lang="en-US" i="1">
                        <a:latin typeface="Cambria Math"/>
                      </a:rPr>
                      <m:t>h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45.60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75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=36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cm.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blipFill>
                <a:blip r:embed="rId4"/>
                <a:stretch>
                  <a:fillRect l="-2260" t="-181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/>
          <p:nvPr/>
        </p:nvPicPr>
        <p:blipFill rotWithShape="1">
          <a:blip r:embed="rId5"/>
          <a:srcRect l="55068" b="51826"/>
          <a:stretch/>
        </p:blipFill>
        <p:spPr bwMode="auto">
          <a:xfrm>
            <a:off x="2362200" y="9982199"/>
            <a:ext cx="9296400" cy="34107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1" name="Rounded Rectangle 100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52709249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6781800"/>
                <a:ext cx="11353800" cy="672147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4400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HĐ3: </a:t>
                </a:r>
                <a:r>
                  <a:rPr lang="en-US" sz="44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</a:t>
                </a:r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sử</a:t>
                </a:r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thiết</a:t>
                </a:r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bị</a:t>
                </a:r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tại</a:t>
                </a:r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nhận</a:t>
                </a:r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</a:t>
                </a:r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hiệu</a:t>
                </a:r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âm</a:t>
                </a:r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thanh</a:t>
                </a:r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sớm</a:t>
                </a:r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hơn</a:t>
                </a:r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thiết</a:t>
                </a:r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bị</a:t>
                </a:r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tại</a:t>
                </a:r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2 </a:t>
                </a:r>
                <a:r>
                  <a:rPr lang="en-US" sz="44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giây</a:t>
                </a:r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vận</a:t>
                </a:r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tốc</a:t>
                </a:r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âm</a:t>
                </a:r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thanh</a:t>
                </a:r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i="1">
                        <a:latin typeface="Cambria Math"/>
                      </a:rPr>
                      <m:t>343</m:t>
                    </m:r>
                    <m:r>
                      <m:rPr>
                        <m:nor/>
                      </m:rPr>
                      <a:rPr lang="en-US" sz="44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44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m</m:t>
                    </m:r>
                    <m:r>
                      <m:rPr>
                        <m:nor/>
                      </m:rPr>
                      <a:rPr lang="en-US" sz="44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/</m:t>
                    </m:r>
                    <m:r>
                      <m:rPr>
                        <m:nor/>
                      </m:rPr>
                      <a:rPr lang="en-US" sz="44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s</m:t>
                    </m:r>
                  </m:oMath>
                </a14:m>
                <a:r>
                  <a:rPr lang="en-US" sz="44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mối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liên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khoảng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cách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từ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nơi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phát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ra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hiệu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âm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thanh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tới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Việc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giới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hạn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khu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vực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kiếm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nơi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phát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ra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hiệu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âm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thanh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thể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liên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quan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đến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bài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toán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những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i="1">
                        <a:latin typeface="Cambria Math"/>
                      </a:rPr>
                      <m:t>𝑀</m:t>
                    </m:r>
                  </m:oMath>
                </a14:m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thỏa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mãn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i="1">
                        <a:latin typeface="Cambria Math"/>
                      </a:rPr>
                      <m:t>𝑀</m:t>
                    </m:r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4400" i="1">
                        <a:latin typeface="Cambria Math"/>
                      </a:rPr>
                      <m:t>−</m:t>
                    </m:r>
                    <m:r>
                      <a:rPr lang="en-US" sz="4400" i="1">
                        <a:latin typeface="Cambria Math"/>
                      </a:rPr>
                      <m:t>𝑀</m:t>
                    </m:r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4400" i="1">
                        <a:latin typeface="Cambria Math"/>
                      </a:rPr>
                      <m:t>=686 </m:t>
                    </m:r>
                    <m:d>
                      <m:d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i="1">
                            <a:latin typeface="Cambria Math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hay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</a:t>
                </a:r>
              </a:p>
              <a:p>
                <a:pPr marL="0" indent="0">
                  <a:buNone/>
                </a:pPr>
                <a:endParaRPr lang="en-US" sz="4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6781800"/>
                <a:ext cx="11353800" cy="6721476"/>
              </a:xfrm>
              <a:prstGeom prst="rect">
                <a:avLst/>
              </a:prstGeom>
              <a:blipFill>
                <a:blip r:embed="rId3"/>
                <a:stretch>
                  <a:fillRect l="-2146" t="-2899" r="-182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44400" y="6781800"/>
                <a:ext cx="11630891" cy="672147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4400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sz="4400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phát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ra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hiệu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âm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thanh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Đặt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i="1">
                        <a:latin typeface="Cambria Math"/>
                      </a:rPr>
                      <m:t>𝑀</m:t>
                    </m:r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4400" i="1">
                        <a:latin typeface="Cambria Math"/>
                      </a:rPr>
                      <m:t>=</m:t>
                    </m:r>
                    <m:r>
                      <a:rPr lang="en-US" sz="4400" i="1">
                        <a:latin typeface="Cambria Math"/>
                      </a:rPr>
                      <m:t>𝑥</m:t>
                    </m:r>
                    <m:d>
                      <m:d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i="1">
                            <a:latin typeface="Cambria Math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thì</a:t>
                </a:r>
              </a:p>
              <a:p>
                <a:pPr marL="0" indent="0">
                  <a:buNone/>
                </a:pP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4400" i="1">
                        <a:latin typeface="Cambria Math"/>
                      </a:rPr>
                      <m:t>𝑀</m:t>
                    </m:r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4400" i="1">
                        <a:latin typeface="Cambria Math"/>
                      </a:rPr>
                      <m:t>=</m:t>
                    </m:r>
                    <m:r>
                      <a:rPr lang="en-US" sz="4400" i="1">
                        <a:latin typeface="Cambria Math"/>
                      </a:rPr>
                      <m:t>𝑥</m:t>
                    </m:r>
                    <m:r>
                      <a:rPr lang="en-US" sz="4400" i="1">
                        <a:latin typeface="Cambria Math"/>
                      </a:rPr>
                      <m:t>+2.343=</m:t>
                    </m:r>
                    <m:r>
                      <a:rPr lang="en-US" sz="4400" i="1">
                        <a:latin typeface="Cambria Math"/>
                      </a:rPr>
                      <m:t>𝑥</m:t>
                    </m:r>
                    <m:r>
                      <a:rPr lang="en-US" sz="4400" i="1">
                        <a:latin typeface="Cambria Math"/>
                      </a:rPr>
                      <m:t>+686</m:t>
                    </m:r>
                    <m:d>
                      <m:d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i="1">
                            <a:latin typeface="Cambria Math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ta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4400" i="1">
                        <a:latin typeface="Cambria Math"/>
                      </a:rPr>
                      <m:t>𝑀</m:t>
                    </m:r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4400" i="1">
                        <a:latin typeface="Cambria Math"/>
                      </a:rPr>
                      <m:t>−</m:t>
                    </m:r>
                    <m:r>
                      <a:rPr lang="en-US" sz="4400" i="1">
                        <a:latin typeface="Cambria Math"/>
                      </a:rPr>
                      <m:t>𝑀</m:t>
                    </m:r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4400" i="1">
                        <a:latin typeface="Cambria Math"/>
                      </a:rPr>
                      <m:t>=686 </m:t>
                    </m:r>
                    <m:d>
                      <m:d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i="1">
                            <a:latin typeface="Cambria Math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Việc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giới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hạn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khu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vực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kiếm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nơi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phát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ra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hiệu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âm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thanh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thể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liên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quan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đến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bài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toán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những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i="1">
                        <a:latin typeface="Cambria Math"/>
                      </a:rPr>
                      <m:t>𝑀</m:t>
                    </m:r>
                  </m:oMath>
                </a14:m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thỏa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mãn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i="1">
                        <a:latin typeface="Cambria Math"/>
                      </a:rPr>
                      <m:t>𝑀</m:t>
                    </m:r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4400" i="1">
                        <a:latin typeface="Cambria Math"/>
                      </a:rPr>
                      <m:t>−</m:t>
                    </m:r>
                    <m:r>
                      <a:rPr lang="en-US" sz="4400" i="1">
                        <a:latin typeface="Cambria Math"/>
                      </a:rPr>
                      <m:t>𝑀</m:t>
                    </m:r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4400" i="1">
                        <a:latin typeface="Cambria Math"/>
                      </a:rPr>
                      <m:t>=686 </m:t>
                    </m:r>
                    <m:d>
                      <m:d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i="1">
                            <a:latin typeface="Cambria Math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.</a:t>
                </a:r>
              </a:p>
              <a:p>
                <a:pPr marL="0" indent="0">
                  <a:buNone/>
                </a:pP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4400" y="6781800"/>
                <a:ext cx="11630891" cy="6721476"/>
              </a:xfrm>
              <a:prstGeom prst="rect">
                <a:avLst/>
              </a:prstGeom>
              <a:blipFill>
                <a:blip r:embed="rId4"/>
                <a:stretch>
                  <a:fillRect l="-2042" t="-2808" b="-1802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79600"/>
                <a:ext cx="17830800" cy="4673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r>
                  <a:rPr lang="en-US" sz="4800" b="1" dirty="0">
                    <a:solidFill>
                      <a:srgbClr val="008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2. HYPEBOL</a:t>
                </a:r>
              </a:p>
              <a:p>
                <a:pPr algn="just"/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phẳng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nếu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thiết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bị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đặt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trí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nhận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âm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thanh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lúc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thì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trí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phát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do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nằm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trực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đoạn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Nếu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thiết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bị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nhận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tin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lúc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thì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để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giới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hạn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vực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kiếm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nơi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phát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ta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cần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biết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đối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tượng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toán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học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hypebol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endParaRPr lang="en-US" sz="4800" dirty="0">
                  <a:solidFill>
                    <a:srgbClr val="D60093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0"/>
                <a:ext cx="17830800" cy="4673600"/>
              </a:xfrm>
              <a:prstGeom prst="rect">
                <a:avLst/>
              </a:prstGeom>
              <a:blipFill>
                <a:blip r:embed="rId5"/>
                <a:stretch>
                  <a:fillRect l="-1537" t="-4421" r="-1503" b="-7282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/>
          <p:nvPr/>
        </p:nvPicPr>
        <p:blipFill rotWithShape="1">
          <a:blip r:embed="rId6"/>
          <a:srcRect l="66788" r="5179" b="32669"/>
          <a:stretch/>
        </p:blipFill>
        <p:spPr bwMode="auto">
          <a:xfrm>
            <a:off x="19050000" y="1879600"/>
            <a:ext cx="4648200" cy="4673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1" name="Rounded Rectangle 100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98162961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79600"/>
                <a:ext cx="23164800" cy="55118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r>
                  <a:rPr lang="en-US" sz="4800" b="1" dirty="0" err="1">
                    <a:solidFill>
                      <a:srgbClr val="D60093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sz="4800" b="1" dirty="0">
                    <a:solidFill>
                      <a:srgbClr val="D60093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D60093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nghĩa</a:t>
                </a:r>
                <a:r>
                  <a:rPr lang="en-US" sz="4800" b="1" dirty="0">
                    <a:solidFill>
                      <a:srgbClr val="D60093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2: 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phân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biệt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cố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Đặt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4800" i="1">
                        <a:latin typeface="Cambria Math"/>
                      </a:rPr>
                      <m:t>=2</m:t>
                    </m:r>
                    <m:r>
                      <a:rPr lang="en-US" sz="4800" i="1">
                        <a:latin typeface="Cambria Math"/>
                      </a:rPr>
                      <m:t>𝑐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Cho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thực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dương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𝑎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nhỏ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hơn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𝑐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𝑀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sao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i="1">
                            <a:latin typeface="Cambria Math"/>
                          </a:rPr>
                          <m:t>𝑀</m:t>
                        </m:r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/>
                              </a:rPr>
                              <m:t>𝐹</m:t>
                            </m:r>
                          </m:e>
                          <m:sub>
                            <m:r>
                              <a:rPr lang="en-US" sz="4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4800" i="1">
                            <a:latin typeface="Cambria Math"/>
                          </a:rPr>
                          <m:t>−</m:t>
                        </m:r>
                        <m:r>
                          <a:rPr lang="en-US" sz="4800" i="1">
                            <a:latin typeface="Cambria Math"/>
                          </a:rPr>
                          <m:t>𝑀</m:t>
                        </m:r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/>
                              </a:rPr>
                              <m:t>𝐹</m:t>
                            </m:r>
                          </m:e>
                          <m:sub>
                            <m:r>
                              <a:rPr lang="en-US" sz="48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4800" i="1">
                        <a:latin typeface="Cambria Math"/>
                      </a:rPr>
                      <m:t>=2</m:t>
                    </m:r>
                    <m:r>
                      <a:rPr lang="en-US" sz="4800" i="1">
                        <a:latin typeface="Cambria Math"/>
                      </a:rPr>
                      <m:t>𝑎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800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hypebol</a:t>
                </a:r>
                <a:r>
                  <a:rPr lang="en-US" sz="4800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(hay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hypebol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). Hai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i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sz="48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i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4800" i="1">
                        <a:latin typeface="Cambria Math"/>
                      </a:rPr>
                      <m:t>=2</m:t>
                    </m:r>
                    <m:r>
                      <a:rPr lang="en-US" sz="4800" i="1">
                        <a:latin typeface="Cambria Math"/>
                      </a:rPr>
                      <m:t>𝑐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i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sz="48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i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cự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hypebol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sz="4800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Chú</a:t>
                </a:r>
                <a:r>
                  <a:rPr lang="en-US" sz="4800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ý.</a:t>
                </a:r>
                <a:r>
                  <a:rPr lang="en-US" sz="4800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Hypebol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nhánh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(H.7.23),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nhánh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gồm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những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𝑀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thỏa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mãn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𝑀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4800" i="1">
                        <a:latin typeface="Cambria Math"/>
                      </a:rPr>
                      <m:t>−</m:t>
                    </m:r>
                    <m:r>
                      <a:rPr lang="en-US" sz="4800" i="1">
                        <a:latin typeface="Cambria Math"/>
                      </a:rPr>
                      <m:t>𝑀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4800" i="1">
                        <a:latin typeface="Cambria Math"/>
                      </a:rPr>
                      <m:t>=2</m:t>
                    </m:r>
                    <m:r>
                      <a:rPr lang="en-US" sz="4800" i="1">
                        <a:latin typeface="Cambria Math"/>
                      </a:rPr>
                      <m:t>𝑎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nhánh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còn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lại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gồm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những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𝑀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thỏa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mãn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𝑀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4800" i="1">
                        <a:latin typeface="Cambria Math"/>
                      </a:rPr>
                      <m:t>−</m:t>
                    </m:r>
                    <m:r>
                      <a:rPr lang="en-US" sz="4800" i="1">
                        <a:latin typeface="Cambria Math"/>
                      </a:rPr>
                      <m:t>𝑀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4800" i="1">
                        <a:latin typeface="Cambria Math"/>
                      </a:rPr>
                      <m:t>=−2</m:t>
                    </m:r>
                    <m:r>
                      <a:rPr lang="en-US" sz="4800" i="1">
                        <a:latin typeface="Cambria Math"/>
                      </a:rPr>
                      <m:t>𝑎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(hay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𝑀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4800" i="1">
                        <a:latin typeface="Cambria Math"/>
                      </a:rPr>
                      <m:t>−</m:t>
                    </m:r>
                    <m:r>
                      <a:rPr lang="en-US" sz="4800" i="1">
                        <a:latin typeface="Cambria Math"/>
                      </a:rPr>
                      <m:t>𝑀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4800" i="1">
                        <a:latin typeface="Cambria Math"/>
                      </a:rPr>
                      <m:t>=2</m:t>
                    </m:r>
                    <m:r>
                      <a:rPr lang="en-US" sz="4800" i="1">
                        <a:latin typeface="Cambria Math"/>
                      </a:rPr>
                      <m:t>𝑎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).</a:t>
                </a:r>
              </a:p>
              <a:p>
                <a:endParaRPr lang="en-US" sz="4800" dirty="0">
                  <a:solidFill>
                    <a:srgbClr val="D60093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0"/>
                <a:ext cx="23164800" cy="5511800"/>
              </a:xfrm>
              <a:prstGeom prst="rect">
                <a:avLst/>
              </a:prstGeom>
              <a:blipFill>
                <a:blip r:embed="rId3"/>
                <a:stretch>
                  <a:fillRect l="-1184" t="-3859" b="-2756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086600" y="8140446"/>
                <a:ext cx="1257300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Tại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sao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nghĩa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hypebol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cần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điều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kiện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𝑎</m:t>
                    </m:r>
                    <m:r>
                      <a:rPr lang="en-US" sz="4800" b="0" i="1" smtClean="0">
                        <a:latin typeface="Cambria Math"/>
                      </a:rPr>
                      <m:t>&lt;</m:t>
                    </m:r>
                    <m:r>
                      <a:rPr lang="en-US" sz="4800" i="1" smtClean="0">
                        <a:latin typeface="Cambria Math"/>
                      </a:rPr>
                      <m:t>𝑐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600" y="8140446"/>
                <a:ext cx="12573000" cy="1569660"/>
              </a:xfrm>
              <a:prstGeom prst="rect">
                <a:avLst/>
              </a:prstGeom>
              <a:blipFill>
                <a:blip r:embed="rId4"/>
                <a:stretch>
                  <a:fillRect l="-2231" t="-8915" b="-189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/>
          <p:cNvPicPr/>
          <p:nvPr/>
        </p:nvPicPr>
        <p:blipFill rotWithShape="1">
          <a:blip r:embed="rId5"/>
          <a:srcRect l="1393" t="83097" r="92834" b="3296"/>
          <a:stretch/>
        </p:blipFill>
        <p:spPr bwMode="auto">
          <a:xfrm>
            <a:off x="5105400" y="8001000"/>
            <a:ext cx="1481773" cy="166800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/>
          <p:cNvPicPr/>
          <p:nvPr/>
        </p:nvPicPr>
        <p:blipFill rotWithShape="1">
          <a:blip r:embed="rId6"/>
          <a:srcRect l="66788" r="5179" b="32669"/>
          <a:stretch/>
        </p:blipFill>
        <p:spPr bwMode="auto">
          <a:xfrm>
            <a:off x="9296400" y="7391400"/>
            <a:ext cx="5715000" cy="525779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9" name="Rounded Rectangle 98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416857968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5" grpId="0"/>
      <p:bldP spid="5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838200" y="1981200"/>
            <a:ext cx="11125201" cy="11411749"/>
          </a:xfrm>
          <a:prstGeom prst="rect">
            <a:avLst/>
          </a:prstGeom>
          <a:solidFill>
            <a:srgbClr val="E7F7FF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Ví</a:t>
            </a:r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</a:t>
            </a:r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3: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Trên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biển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đảo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tròn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với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bán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kính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khác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nhau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Tại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vùng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biển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giữa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đảo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đó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người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ta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xác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định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ranh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giới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đều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đảo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tức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mà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khoảng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từ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mỗi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trí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trên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đó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đến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đảo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bằng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nhau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Hỏi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ranh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giới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đó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thuộc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nhánh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hypebol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hay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không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</a:p>
          <a:p>
            <a:pPr marL="0" indent="0" algn="just">
              <a:buNone/>
            </a:pPr>
            <a:r>
              <a:rPr lang="en-US" b="1" dirty="0" err="1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Chú</a:t>
            </a:r>
            <a:r>
              <a:rPr lang="en-US" b="1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ý.</a:t>
            </a:r>
            <a:r>
              <a:rPr lang="en-US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Khoảng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từ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trí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trên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biển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đến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đảo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hình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tròn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bằng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khoảng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từ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trí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đó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đến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tâm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đảo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bán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kính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đảo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Giải:</a:t>
                </a:r>
              </a:p>
              <a:p>
                <a:pPr marL="0" indent="0"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sử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đảo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nhất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𝑂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đảo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𝑂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(H.7.24). Do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i="1">
                                <a:latin typeface="Cambria Math"/>
                              </a:rPr>
                              <m:t>𝑂</m:t>
                            </m:r>
                          </m:e>
                          <m:sub>
                            <m:r>
                              <a:rPr lang="en-US" sz="44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44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sz="44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i="1">
                                <a:latin typeface="Cambria Math"/>
                              </a:rPr>
                              <m:t>𝑂</m:t>
                            </m:r>
                          </m:e>
                          <m:sub>
                            <m:r>
                              <a:rPr lang="en-US" sz="44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44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sz="44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nằm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ngoài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𝑂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𝑂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4400" i="1"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44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i="1">
                        <a:latin typeface="Cambria Math"/>
                      </a:rPr>
                      <m:t>𝑀</m:t>
                    </m:r>
                  </m:oMath>
                </a14:m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bất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kì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ranh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giới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M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cách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đều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đảo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endParaRPr lang="en-US" sz="4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sz="4400" i="1">
                        <a:latin typeface="Cambria Math"/>
                      </a:rPr>
                      <m:t>𝑀</m:t>
                    </m:r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𝑂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4400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4400" i="1">
                        <a:latin typeface="Cambria Math"/>
                      </a:rPr>
                      <m:t>=</m:t>
                    </m:r>
                    <m:r>
                      <a:rPr lang="en-US" sz="4400" i="1">
                        <a:latin typeface="Cambria Math"/>
                      </a:rPr>
                      <m:t>𝑀</m:t>
                    </m:r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𝑂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4400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4400" i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/>
                      </a:rPr>
                      <m:t>        </m:t>
                    </m:r>
                    <m:r>
                      <a:rPr lang="en-US" sz="4400" i="1">
                        <a:latin typeface="Cambria Math"/>
                      </a:rPr>
                      <m:t>⇔</m:t>
                    </m:r>
                    <m:r>
                      <a:rPr lang="en-US" sz="4400" i="1">
                        <a:latin typeface="Cambria Math"/>
                      </a:rPr>
                      <m:t>𝑀</m:t>
                    </m:r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𝑂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4400" i="1">
                        <a:latin typeface="Cambria Math"/>
                      </a:rPr>
                      <m:t>−</m:t>
                    </m:r>
                    <m:r>
                      <a:rPr lang="en-US" sz="4400" i="1">
                        <a:latin typeface="Cambria Math"/>
                      </a:rPr>
                      <m:t>𝑀</m:t>
                    </m:r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𝑂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44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4400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ranh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giới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nhánh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hypebol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trùng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𝑂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trùng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𝑂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4400" i="1">
                        <a:latin typeface="Cambria Math"/>
                      </a:rPr>
                      <m:t>2</m:t>
                    </m:r>
                    <m:r>
                      <a:rPr lang="en-US" sz="4400" i="1">
                        <a:latin typeface="Cambria Math"/>
                      </a:rPr>
                      <m:t>𝑐</m:t>
                    </m:r>
                    <m:r>
                      <a:rPr lang="en-US" sz="44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𝑂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𝑂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4400" i="1">
                        <a:latin typeface="Cambria Math"/>
                      </a:rPr>
                      <m:t>2</m:t>
                    </m:r>
                    <m:r>
                      <a:rPr lang="en-US" sz="4400" i="1">
                        <a:latin typeface="Cambria Math"/>
                      </a:rPr>
                      <m:t>𝑎</m:t>
                    </m:r>
                    <m:r>
                      <a:rPr lang="en-US" sz="4400" i="1"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sz="44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4400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sz="44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blipFill>
                <a:blip r:embed="rId3"/>
                <a:stretch>
                  <a:fillRect l="-2260" t="-1814" r="-2928" b="-229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/>
          <p:nvPr/>
        </p:nvPicPr>
        <p:blipFill rotWithShape="1">
          <a:blip r:embed="rId4"/>
          <a:srcRect l="67003" t="6909" r="2169" b="12982"/>
          <a:stretch/>
        </p:blipFill>
        <p:spPr bwMode="auto">
          <a:xfrm>
            <a:off x="16306800" y="1981200"/>
            <a:ext cx="5638800" cy="3733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1" name="Rounded Rectangle 100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8320736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2510" y="1981200"/>
                <a:ext cx="11630892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Luyện</a:t>
                </a:r>
                <a:r>
                  <a:rPr lang="en-US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3.</a:t>
                </a:r>
                <a:endParaRPr lang="en-US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 algn="just"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chữ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nhật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𝐴𝐵𝐶𝐷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𝑀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𝑁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tương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ứng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cạnh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𝐴𝐵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𝐶𝐷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(H.7.25).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Chứng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minh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rằng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bốn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𝐶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𝐷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hypebol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M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N.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510" y="1981200"/>
                <a:ext cx="11630892" cy="11411749"/>
              </a:xfrm>
              <a:prstGeom prst="rect">
                <a:avLst/>
              </a:prstGeom>
              <a:blipFill>
                <a:blip r:embed="rId3"/>
                <a:stretch>
                  <a:fillRect l="-2356" t="-1814" r="-230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𝐵𝑀</m:t>
                        </m:r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r>
                          <a:rPr lang="en-US" i="1">
                            <a:latin typeface="Cambria Math"/>
                          </a:rPr>
                          <m:t>𝐵𝑁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𝐶𝑀</m:t>
                        </m:r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r>
                          <a:rPr lang="en-US" i="1">
                            <a:latin typeface="Cambria Math"/>
                          </a:rPr>
                          <m:t>𝐶𝑁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𝐷𝑀</m:t>
                        </m:r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r>
                          <a:rPr lang="en-US" i="1">
                            <a:latin typeface="Cambria Math"/>
                          </a:rPr>
                          <m:t>𝐷𝑁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𝐴𝑀</m:t>
                        </m:r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r>
                          <a:rPr lang="en-US" i="1">
                            <a:latin typeface="Cambria Math"/>
                          </a:rPr>
                          <m:t>𝐴𝑁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=2</m:t>
                    </m:r>
                    <m:r>
                      <a:rPr lang="en-US" i="1">
                        <a:latin typeface="Cambria Math"/>
                      </a:rPr>
                      <m:t>𝑎</m:t>
                    </m:r>
                    <m:r>
                      <a:rPr lang="en-US" i="1">
                        <a:latin typeface="Cambria Math"/>
                      </a:rPr>
                      <m:t>&lt;</m:t>
                    </m:r>
                    <m:r>
                      <a:rPr lang="en-US" i="1">
                        <a:latin typeface="Cambria Math"/>
                      </a:rPr>
                      <m:t>𝑀𝑁</m:t>
                    </m:r>
                    <m:r>
                      <a:rPr lang="en-US" i="1">
                        <a:latin typeface="Cambria Math"/>
                      </a:rPr>
                      <m:t>=2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bốn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𝐶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𝐷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hypebol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blipFill>
                <a:blip r:embed="rId4"/>
                <a:stretch>
                  <a:fillRect l="-2260" t="-181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/>
          <p:nvPr/>
        </p:nvPicPr>
        <p:blipFill rotWithShape="1">
          <a:blip r:embed="rId5"/>
          <a:srcRect l="63522" r="2578" b="40067"/>
          <a:stretch/>
        </p:blipFill>
        <p:spPr bwMode="auto">
          <a:xfrm>
            <a:off x="2895600" y="7162800"/>
            <a:ext cx="6553200" cy="441959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1" name="Rounded Rectangle 100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22452601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2510" y="1981200"/>
                <a:ext cx="11630892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:r>
                  <a:rPr lang="en-US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HĐ4.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Xét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hypebol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(H)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hiệu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như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nghĩa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Chọn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trục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Oxy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gốc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O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tia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i="1">
                        <a:latin typeface="Cambria Math"/>
                      </a:rPr>
                      <m:t>𝑂𝑥</m:t>
                    </m:r>
                  </m:oMath>
                </a14:m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trùng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tia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i="1">
                        <a:latin typeface="Cambria Math"/>
                      </a:rPr>
                      <m:t>𝑂</m:t>
                    </m:r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(H.7.26).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Nêu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Giải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thích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sao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i="1">
                        <a:latin typeface="Cambria Math"/>
                      </a:rPr>
                      <m:t>𝑀</m:t>
                    </m:r>
                    <m:d>
                      <m:d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i="1">
                            <a:latin typeface="Cambria Math"/>
                          </a:rPr>
                          <m:t>𝑥</m:t>
                        </m:r>
                        <m:r>
                          <a:rPr lang="en-US" sz="4400" i="1">
                            <a:latin typeface="Cambria Math"/>
                          </a:rPr>
                          <m:t>;</m:t>
                        </m:r>
                        <m:r>
                          <a:rPr lang="en-US" sz="4400" i="1">
                            <a:latin typeface="Cambria Math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(H)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chỉ</a:t>
                </a: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endParaRPr lang="en-US" sz="4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 algn="just">
                  <a:buNone/>
                </a:pPr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4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4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4400" i="1">
                                        <a:latin typeface="Cambria Math"/>
                                      </a:rPr>
                                      <m:t>𝑥</m:t>
                                    </m:r>
                                    <m:r>
                                      <a:rPr lang="en-US" sz="4400" i="1">
                                        <a:latin typeface="Cambria Math"/>
                                      </a:rPr>
                                      <m:t>+</m:t>
                                    </m:r>
                                    <m:r>
                                      <a:rPr lang="en-US" sz="4400" i="1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4400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4400" i="1">
                                <a:latin typeface="Cambria Math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4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400" i="1">
                                    <a:latin typeface="Cambria Math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4400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sz="4400" i="1">
                            <a:latin typeface="Cambria Math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4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4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4400" i="1">
                                        <a:latin typeface="Cambria Math"/>
                                      </a:rPr>
                                      <m:t>𝑥</m:t>
                                    </m:r>
                                    <m:r>
                                      <a:rPr lang="en-US" sz="4400" i="1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sz="4400" i="1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4400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4400" i="1">
                                <a:latin typeface="Cambria Math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4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400" i="1">
                                    <a:latin typeface="Cambria Math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4400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a:rPr lang="en-US" sz="4400" i="1">
                        <a:latin typeface="Cambria Math"/>
                      </a:rPr>
                      <m:t>=2</m:t>
                    </m:r>
                    <m:r>
                      <a:rPr lang="en-US" sz="4400" i="1">
                        <a:latin typeface="Cambria Math"/>
                      </a:rPr>
                      <m:t>𝑎</m:t>
                    </m:r>
                  </m:oMath>
                </a14:m>
                <a:r>
                  <a:rPr lang="en-US" sz="4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(3)</a:t>
                </a:r>
              </a:p>
              <a:p>
                <a:pPr marL="0" indent="0"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510" y="1981200"/>
                <a:ext cx="11630892" cy="11411749"/>
              </a:xfrm>
              <a:prstGeom prst="rect">
                <a:avLst/>
              </a:prstGeom>
              <a:blipFill>
                <a:blip r:embed="rId3"/>
                <a:stretch>
                  <a:fillRect l="-2356" t="-1814" r="-2042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Giải:</a:t>
                </a:r>
              </a:p>
              <a:p>
                <a:pPr marL="0" indent="0"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sử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𝑀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  <m:r>
                          <a:rPr lang="en-US" i="1">
                            <a:latin typeface="Cambria Math"/>
                          </a:rPr>
                          <m:t>;</m:t>
                        </m:r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𝐻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ta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r>
                          <a:rPr lang="en-US" i="1">
                            <a:latin typeface="Cambria Math"/>
                          </a:rPr>
                          <m:t>𝑐</m:t>
                        </m:r>
                        <m:r>
                          <a:rPr lang="en-US" i="1">
                            <a:latin typeface="Cambria Math"/>
                          </a:rPr>
                          <m:t>;0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𝑐</m:t>
                        </m:r>
                        <m:r>
                          <a:rPr lang="en-US" i="1">
                            <a:latin typeface="Cambria Math"/>
                          </a:rPr>
                          <m:t>;0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𝑀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𝑦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, </a:t>
                </a:r>
                <a:endParaRPr lang="en-US" i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𝑀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𝑦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𝑀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  <m:r>
                          <a:rPr lang="en-US" i="1">
                            <a:latin typeface="Cambria Math"/>
                          </a:rPr>
                          <m:t>;</m:t>
                        </m:r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𝐻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𝑀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r>
                          <a:rPr lang="en-US" i="1">
                            <a:latin typeface="Cambria Math"/>
                          </a:rPr>
                          <m:t>𝑀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/>
                      </a:rPr>
                      <m:t>=2</m:t>
                    </m:r>
                    <m:r>
                      <a:rPr lang="en-US" i="1">
                        <a:latin typeface="Cambria Math"/>
                      </a:rPr>
                      <m:t>𝑎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hay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𝑥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+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𝑥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a:rPr lang="en-US" i="1">
                        <a:latin typeface="Cambria Math"/>
                      </a:rPr>
                      <m:t>=2</m:t>
                    </m:r>
                    <m:r>
                      <a:rPr lang="en-US" i="1">
                        <a:latin typeface="Cambria Math"/>
                      </a:rPr>
                      <m:t>𝑎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Chú</a:t>
                </a:r>
                <a:r>
                  <a:rPr lang="en-US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ý.</a:t>
                </a:r>
                <a:r>
                  <a:rPr lang="en-US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Người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thể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biến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đổi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(3)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về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dạng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5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5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5400" i="1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sz="5400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5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5400" i="1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US" sz="5400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5400" i="1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US" sz="5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5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5400" i="1">
                                <a:latin typeface="Cambria Math"/>
                              </a:rPr>
                              <m:t>𝑦</m:t>
                            </m:r>
                          </m:e>
                          <m:sup>
                            <m:r>
                              <a:rPr lang="en-US" sz="5400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5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5400" i="1">
                                <a:latin typeface="Cambria Math"/>
                              </a:rPr>
                              <m:t>𝑏</m:t>
                            </m:r>
                          </m:e>
                          <m:sup>
                            <m:r>
                              <a:rPr lang="en-US" sz="5400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5400" i="1">
                        <a:latin typeface="Cambria Math"/>
                      </a:rPr>
                      <m:t>=1</m:t>
                    </m:r>
                  </m:oMath>
                </a14:m>
                <a:r>
                  <a:rPr lang="en-US" sz="5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𝑏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𝑐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blipFill>
                <a:blip r:embed="rId4"/>
                <a:stretch>
                  <a:fillRect l="-2260" t="-181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/>
          <p:nvPr/>
        </p:nvPicPr>
        <p:blipFill rotWithShape="1">
          <a:blip r:embed="rId5"/>
          <a:srcRect l="65492" r="5280"/>
          <a:stretch/>
        </p:blipFill>
        <p:spPr bwMode="auto">
          <a:xfrm>
            <a:off x="3352800" y="7661674"/>
            <a:ext cx="6781800" cy="4419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1" name="Rounded Rectangle 100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11704992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1879600"/>
                <a:ext cx="23137091" cy="5664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phẳng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Oxy,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hypebol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trục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hoành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sao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O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đoạn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nối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thì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ctr"/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800" i="1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sz="4800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800" i="1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US" sz="4800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4800" i="1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800" i="1">
                                <a:latin typeface="Cambria Math"/>
                              </a:rPr>
                              <m:t>𝑦</m:t>
                            </m:r>
                          </m:e>
                          <m:sup>
                            <m:r>
                              <a:rPr lang="en-US" sz="4800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800" i="1">
                                <a:latin typeface="Cambria Math"/>
                              </a:rPr>
                              <m:t>𝑏</m:t>
                            </m:r>
                          </m:e>
                          <m:sup>
                            <m:r>
                              <a:rPr lang="en-US" sz="4800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4800" i="1">
                        <a:latin typeface="Cambria Math"/>
                      </a:rPr>
                      <m:t>=1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𝑎</m:t>
                    </m:r>
                    <m:r>
                      <a:rPr lang="en-US" sz="4800" i="1">
                        <a:latin typeface="Cambria Math"/>
                      </a:rPr>
                      <m:t>,</m:t>
                    </m:r>
                    <m:r>
                      <a:rPr lang="en-US" sz="4800" i="1">
                        <a:latin typeface="Cambria Math"/>
                      </a:rPr>
                      <m:t>𝑏</m:t>
                    </m:r>
                    <m:r>
                      <a:rPr lang="en-US" sz="4800" i="1">
                        <a:latin typeface="Cambria Math"/>
                      </a:rPr>
                      <m:t>&gt;0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	(4) </a:t>
                </a:r>
              </a:p>
              <a:p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Ngược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lại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mỗi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dạng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i="1">
                            <a:latin typeface="Cambria Math"/>
                          </a:rPr>
                          <m:t>4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hypebol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i="1">
                            <a:latin typeface="Cambria Math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4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800" i="1">
                                    <a:latin typeface="Cambria Math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4800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4800" i="1">
                                <a:latin typeface="Cambria Math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4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800" i="1">
                                    <a:latin typeface="Cambria Math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sz="4800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sz="4800" i="1">
                            <a:latin typeface="Cambria Math"/>
                          </a:rPr>
                          <m:t>;0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4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800" i="1">
                                    <a:latin typeface="Cambria Math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4800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4800" i="1">
                                <a:latin typeface="Cambria Math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4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800" i="1">
                                    <a:latin typeface="Cambria Math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sz="4800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sz="4800" i="1">
                            <a:latin typeface="Cambria Math"/>
                          </a:rPr>
                          <m:t>;0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cự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2</m:t>
                    </m:r>
                    <m:r>
                      <a:rPr lang="en-US" sz="4800" b="0" i="1" smtClean="0">
                        <a:latin typeface="Cambria Math"/>
                      </a:rPr>
                      <m:t>𝑐</m:t>
                    </m:r>
                    <m:r>
                      <a:rPr lang="en-US" sz="4800" i="1">
                        <a:latin typeface="Cambria Math"/>
                      </a:rPr>
                      <m:t>=2</m:t>
                    </m:r>
                    <m:rad>
                      <m:radPr>
                        <m:degHide m:val="on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800" i="1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US" sz="4800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sz="4800" i="1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800" i="1">
                                <a:latin typeface="Cambria Math"/>
                              </a:rPr>
                              <m:t>𝑏</m:t>
                            </m:r>
                          </m:e>
                          <m:sup>
                            <m:r>
                              <a:rPr lang="en-US" sz="4800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trị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tuyệt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đối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khoảng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từ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mỗi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hypebol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đến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2</m:t>
                    </m:r>
                    <m:r>
                      <a:rPr lang="en-US" sz="4800" i="1">
                        <a:latin typeface="Cambria Math"/>
                      </a:rPr>
                      <m:t>𝑎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(4)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sz="4800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chính</a:t>
                </a:r>
                <a:r>
                  <a:rPr lang="en-US" sz="4800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tắc</a:t>
                </a:r>
                <a:r>
                  <a:rPr lang="en-US" sz="4800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hypebol</a:t>
                </a:r>
                <a:r>
                  <a:rPr lang="en-US" sz="4800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tương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ứng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sz="4800" dirty="0">
                  <a:solidFill>
                    <a:srgbClr val="D60093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879600"/>
                <a:ext cx="23137091" cy="5664200"/>
              </a:xfrm>
              <a:prstGeom prst="rect">
                <a:avLst/>
              </a:prstGeom>
              <a:blipFill>
                <a:blip r:embed="rId3"/>
                <a:stretch>
                  <a:fillRect l="-1159" t="-3648" r="-869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Rounded Rectangle 98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38487421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5889168"/>
              </p:ext>
            </p:extLst>
          </p:nvPr>
        </p:nvGraphicFramePr>
        <p:xfrm>
          <a:off x="152400" y="1600200"/>
          <a:ext cx="24003000" cy="990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Document" r:id="rId3" imgW="16287665" imgH="10849530" progId="Word.Document.12">
                  <p:embed/>
                </p:oleObj>
              </mc:Choice>
              <mc:Fallback>
                <p:oleObj name="Document" r:id="rId3" imgW="16287665" imgH="10849530" progId="Word.Document.12">
                  <p:embed/>
                  <p:pic>
                    <p:nvPicPr>
                      <p:cNvPr id="11" name="Object 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400" y="1600200"/>
                        <a:ext cx="24003000" cy="990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0560713"/>
              </p:ext>
            </p:extLst>
          </p:nvPr>
        </p:nvGraphicFramePr>
        <p:xfrm>
          <a:off x="1311564" y="3276600"/>
          <a:ext cx="21640800" cy="708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Document" r:id="rId5" imgW="14462613" imgH="5081950" progId="Word.Document.12">
                  <p:embed/>
                </p:oleObj>
              </mc:Choice>
              <mc:Fallback>
                <p:oleObj name="Document" r:id="rId5" imgW="14462613" imgH="5081950" progId="Word.Document.12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1564" y="3276600"/>
                        <a:ext cx="21640800" cy="708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311564" y="6307826"/>
            <a:ext cx="2775531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/>
          </p:nvPr>
        </p:nvGraphicFramePr>
        <p:xfrm>
          <a:off x="1268413" y="7232651"/>
          <a:ext cx="22151975" cy="671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Document" r:id="rId7" imgW="12332095" imgH="3763398" progId="Word.Document.12">
                  <p:embed/>
                </p:oleObj>
              </mc:Choice>
              <mc:Fallback>
                <p:oleObj name="Document" r:id="rId7" imgW="12332095" imgH="3763398" progId="Word.Document.12">
                  <p:embed/>
                  <p:pic>
                    <p:nvPicPr>
                      <p:cNvPr id="15" name="Object 1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68413" y="7232651"/>
                        <a:ext cx="22151975" cy="671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01165215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/>
          </p:nvPr>
        </p:nvGraphicFramePr>
        <p:xfrm>
          <a:off x="415635" y="1891146"/>
          <a:ext cx="8497219" cy="3442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Document" r:id="rId3" imgW="7933402" imgH="3225821" progId="Word.Document.12">
                  <p:embed/>
                </p:oleObj>
              </mc:Choice>
              <mc:Fallback>
                <p:oleObj name="Document" r:id="rId3" imgW="7933402" imgH="3225821" progId="Word.Document.12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5635" y="1891146"/>
                        <a:ext cx="8497219" cy="34428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/>
          </p:nvPr>
        </p:nvGraphicFramePr>
        <p:xfrm>
          <a:off x="5362286" y="1973696"/>
          <a:ext cx="17040225" cy="257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Document" r:id="rId5" imgW="15611421" imgH="2365194" progId="Word.Document.12">
                  <p:embed/>
                </p:oleObj>
              </mc:Choice>
              <mc:Fallback>
                <p:oleObj name="Document" r:id="rId5" imgW="15611421" imgH="2365194" progId="Word.Document.12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62286" y="1973696"/>
                        <a:ext cx="17040225" cy="2578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1703387" y="3865563"/>
          <a:ext cx="20699123" cy="4662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Document" r:id="rId7" imgW="12484240" imgH="2674142" progId="Word.Document.12">
                  <p:embed/>
                </p:oleObj>
              </mc:Choice>
              <mc:Fallback>
                <p:oleObj name="Document" r:id="rId7" imgW="12484240" imgH="2674142" progId="Word.Document.12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03387" y="3865563"/>
                        <a:ext cx="20699123" cy="46620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27521296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/>
          </p:nvPr>
        </p:nvGraphicFramePr>
        <p:xfrm>
          <a:off x="374650" y="2160588"/>
          <a:ext cx="11574463" cy="222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Document" r:id="rId3" imgW="11834639" imgH="2267125" progId="Word.Document.12">
                  <p:embed/>
                </p:oleObj>
              </mc:Choice>
              <mc:Fallback>
                <p:oleObj name="Document" r:id="rId3" imgW="11834639" imgH="2267125" progId="Word.Document.12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4650" y="2160588"/>
                        <a:ext cx="11574463" cy="2224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/>
          </p:nvPr>
        </p:nvGraphicFramePr>
        <p:xfrm>
          <a:off x="304800" y="2971800"/>
          <a:ext cx="4384675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Document" r:id="rId5" imgW="4501857" imgH="2938104" progId="Word.Document.12">
                  <p:embed/>
                </p:oleObj>
              </mc:Choice>
              <mc:Fallback>
                <p:oleObj name="Document" r:id="rId5" imgW="4501857" imgH="2938104" progId="Word.Document.12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4800" y="2971800"/>
                        <a:ext cx="4384675" cy="297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3048000" y="2881313"/>
          <a:ext cx="19888200" cy="767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Document" r:id="rId7" imgW="11078022" imgH="4185050" progId="Word.Document.12">
                  <p:embed/>
                </p:oleObj>
              </mc:Choice>
              <mc:Fallback>
                <p:oleObj name="Document" r:id="rId7" imgW="11078022" imgH="4185050" progId="Word.Document.12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48000" y="2881313"/>
                        <a:ext cx="19888200" cy="7675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/>
          </p:nvPr>
        </p:nvGraphicFramePr>
        <p:xfrm>
          <a:off x="15149513" y="7294563"/>
          <a:ext cx="8874125" cy="594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Document" r:id="rId9" imgW="9072911" imgH="6061890" progId="Word.Document.12">
                  <p:embed/>
                </p:oleObj>
              </mc:Choice>
              <mc:Fallback>
                <p:oleObj name="Document" r:id="rId9" imgW="9072911" imgH="6061890" progId="Word.Document.12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149513" y="7294563"/>
                        <a:ext cx="8874125" cy="594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/>
          </p:nvPr>
        </p:nvGraphicFramePr>
        <p:xfrm>
          <a:off x="3217861" y="8197849"/>
          <a:ext cx="14430695" cy="504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Document" r:id="rId11" imgW="12756533" imgH="4132238" progId="Word.Document.12">
                  <p:embed/>
                </p:oleObj>
              </mc:Choice>
              <mc:Fallback>
                <p:oleObj name="Document" r:id="rId11" imgW="12756533" imgH="4132238" progId="Word.Document.12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17861" y="8197849"/>
                        <a:ext cx="14430695" cy="5040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89495563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-311150" y="1974850"/>
          <a:ext cx="24126825" cy="1616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Document" r:id="rId3" imgW="12732799" imgH="7924530" progId="Word.Document.12">
                  <p:embed/>
                </p:oleObj>
              </mc:Choice>
              <mc:Fallback>
                <p:oleObj name="Document" r:id="rId3" imgW="12732799" imgH="7924530" progId="Word.Document.12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311150" y="1974850"/>
                        <a:ext cx="24126825" cy="16167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16220580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/>
          </p:nvPr>
        </p:nvGraphicFramePr>
        <p:xfrm>
          <a:off x="228600" y="2133600"/>
          <a:ext cx="3775075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name="Document" r:id="rId3" imgW="4501857" imgH="2938104" progId="Word.Document.12">
                  <p:embed/>
                </p:oleObj>
              </mc:Choice>
              <mc:Fallback>
                <p:oleObj name="Document" r:id="rId3" imgW="4501857" imgH="2938104" progId="Word.Document.12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133600"/>
                        <a:ext cx="3775075" cy="297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/>
          </p:nvPr>
        </p:nvGraphicFramePr>
        <p:xfrm>
          <a:off x="2362200" y="1828800"/>
          <a:ext cx="20574000" cy="798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" name="Document" r:id="rId5" imgW="11947799" imgH="4577354" progId="Word.Document.12">
                  <p:embed/>
                </p:oleObj>
              </mc:Choice>
              <mc:Fallback>
                <p:oleObj name="Document" r:id="rId5" imgW="11947799" imgH="4577354" progId="Word.Document.12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62200" y="1828800"/>
                        <a:ext cx="20574000" cy="7980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16230600" y="4191000"/>
          <a:ext cx="9269412" cy="6567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" name="Document" r:id="rId7" imgW="11320636" imgH="8062931" progId="Word.Document.12">
                  <p:embed/>
                </p:oleObj>
              </mc:Choice>
              <mc:Fallback>
                <p:oleObj name="Document" r:id="rId7" imgW="11320636" imgH="8062931" progId="Word.Document.12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230600" y="4191000"/>
                        <a:ext cx="9269412" cy="6567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/>
          </p:nvPr>
        </p:nvGraphicFramePr>
        <p:xfrm>
          <a:off x="1143000" y="7162800"/>
          <a:ext cx="17102138" cy="626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" name="Document" r:id="rId9" imgW="17907705" imgH="6497071" progId="Word.Document.12">
                  <p:embed/>
                </p:oleObj>
              </mc:Choice>
              <mc:Fallback>
                <p:oleObj name="Document" r:id="rId9" imgW="17907705" imgH="6497071" progId="Word.Document.12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43000" y="7162800"/>
                        <a:ext cx="17102138" cy="6269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/>
          </p:nvPr>
        </p:nvGraphicFramePr>
        <p:xfrm>
          <a:off x="996950" y="11555413"/>
          <a:ext cx="22639338" cy="252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" name="Document" r:id="rId11" imgW="11977020" imgH="1321955" progId="Word.Document.12">
                  <p:embed/>
                </p:oleObj>
              </mc:Choice>
              <mc:Fallback>
                <p:oleObj name="Document" r:id="rId11" imgW="11977020" imgH="1321955" progId="Word.Document.12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96950" y="11555413"/>
                        <a:ext cx="22639338" cy="2520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63158046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/>
          </p:nvPr>
        </p:nvGraphicFramePr>
        <p:xfrm>
          <a:off x="539750" y="2057400"/>
          <a:ext cx="22839363" cy="2096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Document" r:id="rId3" imgW="13361898" imgH="10852850" progId="Word.Document.12">
                  <p:embed/>
                </p:oleObj>
              </mc:Choice>
              <mc:Fallback>
                <p:oleObj name="Document" r:id="rId3" imgW="13361898" imgH="10852850" progId="Word.Document.12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9750" y="2057400"/>
                        <a:ext cx="22839363" cy="20969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55704688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/>
          </p:nvPr>
        </p:nvGraphicFramePr>
        <p:xfrm>
          <a:off x="457200" y="1981200"/>
          <a:ext cx="19286538" cy="1774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Document" r:id="rId3" imgW="16239806" imgH="10868714" progId="Word.Document.12">
                  <p:embed/>
                </p:oleObj>
              </mc:Choice>
              <mc:Fallback>
                <p:oleObj name="Document" r:id="rId3" imgW="16239806" imgH="10868714" progId="Word.Document.12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981200"/>
                        <a:ext cx="19286538" cy="1774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/>
          </p:nvPr>
        </p:nvGraphicFramePr>
        <p:xfrm>
          <a:off x="4446588" y="2432050"/>
          <a:ext cx="14797087" cy="409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name="Document" r:id="rId5" imgW="11827085" imgH="3267645" progId="Word.Document.12">
                  <p:embed/>
                </p:oleObj>
              </mc:Choice>
              <mc:Fallback>
                <p:oleObj name="Document" r:id="rId5" imgW="11827085" imgH="3267645" progId="Word.Document.12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46588" y="2432050"/>
                        <a:ext cx="14797087" cy="4094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914401" y="4953000"/>
          <a:ext cx="22859999" cy="11350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Document" r:id="rId7" imgW="12804732" imgH="6868436" progId="Word.Document.12">
                  <p:embed/>
                </p:oleObj>
              </mc:Choice>
              <mc:Fallback>
                <p:oleObj name="Document" r:id="rId7" imgW="12804732" imgH="6868436" progId="Word.Document.12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14401" y="4953000"/>
                        <a:ext cx="22859999" cy="113500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97266142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/>
          </p:nvPr>
        </p:nvGraphicFramePr>
        <p:xfrm>
          <a:off x="665163" y="2098675"/>
          <a:ext cx="17040225" cy="552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Document" r:id="rId3" imgW="10078974" imgH="3289638" progId="Word.Document.12">
                  <p:embed/>
                </p:oleObj>
              </mc:Choice>
              <mc:Fallback>
                <p:oleObj name="Document" r:id="rId3" imgW="10078974" imgH="3289638" progId="Word.Document.12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5163" y="2098675"/>
                        <a:ext cx="17040225" cy="5527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1800" y="1905000"/>
            <a:ext cx="5791200" cy="6248400"/>
          </a:xfrm>
          <a:prstGeom prst="rect">
            <a:avLst/>
          </a:prstGeom>
        </p:spPr>
      </p:pic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539750" y="5383213"/>
          <a:ext cx="17824450" cy="712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Document" r:id="rId6" imgW="11973774" imgH="4945543" progId="Word.Document.12">
                  <p:embed/>
                </p:oleObj>
              </mc:Choice>
              <mc:Fallback>
                <p:oleObj name="Document" r:id="rId6" imgW="11973774" imgH="4945543" progId="Word.Document.12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9750" y="5383213"/>
                        <a:ext cx="17824450" cy="7127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6269230"/>
              </p:ext>
            </p:extLst>
          </p:nvPr>
        </p:nvGraphicFramePr>
        <p:xfrm>
          <a:off x="545005" y="8584324"/>
          <a:ext cx="20421600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Document" r:id="rId8" imgW="16978257" imgH="4212641" progId="Word.Document.12">
                  <p:embed/>
                </p:oleObj>
              </mc:Choice>
              <mc:Fallback>
                <p:oleObj name="Document" r:id="rId8" imgW="16978257" imgH="4212641" progId="Word.Document.12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45005" y="8584324"/>
                        <a:ext cx="20421600" cy="5105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88982697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/>
          </p:nvPr>
        </p:nvGraphicFramePr>
        <p:xfrm>
          <a:off x="914400" y="2057400"/>
          <a:ext cx="21156613" cy="492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Document" r:id="rId3" imgW="15500995" imgH="3617016" progId="Word.Document.12">
                  <p:embed/>
                </p:oleObj>
              </mc:Choice>
              <mc:Fallback>
                <p:oleObj name="Document" r:id="rId3" imgW="15500995" imgH="3617016" progId="Word.Document.12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2057400"/>
                        <a:ext cx="21156613" cy="4926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/>
          </p:nvPr>
        </p:nvGraphicFramePr>
        <p:xfrm>
          <a:off x="838200" y="1267546"/>
          <a:ext cx="22194838" cy="843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Document" r:id="rId5" imgW="11787159" imgH="4491344" progId="Word.Document.12">
                  <p:embed/>
                </p:oleObj>
              </mc:Choice>
              <mc:Fallback>
                <p:oleObj name="Document" r:id="rId5" imgW="11787159" imgH="4491344" progId="Word.Document.12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8200" y="1267546"/>
                        <a:ext cx="22194838" cy="8437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/>
          </p:nvPr>
        </p:nvGraphicFramePr>
        <p:xfrm>
          <a:off x="457200" y="3581400"/>
          <a:ext cx="22194838" cy="845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Document" r:id="rId7" imgW="11756585" imgH="4501079" progId="Word.Document.12">
                  <p:embed/>
                </p:oleObj>
              </mc:Choice>
              <mc:Fallback>
                <p:oleObj name="Document" r:id="rId7" imgW="11756585" imgH="4501079" progId="Word.Document.12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7200" y="3581400"/>
                        <a:ext cx="22194838" cy="845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/>
          <p:nvPr/>
        </p:nvPicPr>
        <p:blipFill>
          <a:blip r:embed="rId9"/>
          <a:stretch>
            <a:fillRect/>
          </a:stretch>
        </p:blipFill>
        <p:spPr>
          <a:xfrm>
            <a:off x="2022764" y="9296400"/>
            <a:ext cx="20269200" cy="4038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87156972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/>
          </p:nvPr>
        </p:nvGraphicFramePr>
        <p:xfrm>
          <a:off x="539750" y="2203450"/>
          <a:ext cx="22860000" cy="729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Document" r:id="rId3" imgW="11823128" imgH="3772412" progId="Word.Document.12">
                  <p:embed/>
                </p:oleObj>
              </mc:Choice>
              <mc:Fallback>
                <p:oleObj name="Document" r:id="rId3" imgW="11823128" imgH="3772412" progId="Word.Document.12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9750" y="2203450"/>
                        <a:ext cx="22860000" cy="7294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/>
          <p:cNvPicPr/>
          <p:nvPr/>
        </p:nvPicPr>
        <p:blipFill>
          <a:blip r:embed="rId5"/>
          <a:stretch>
            <a:fillRect/>
          </a:stretch>
        </p:blipFill>
        <p:spPr>
          <a:xfrm>
            <a:off x="1143000" y="5834062"/>
            <a:ext cx="21869399" cy="696753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3938651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/>
          </p:nvPr>
        </p:nvGraphicFramePr>
        <p:xfrm>
          <a:off x="311150" y="1911350"/>
          <a:ext cx="23615650" cy="791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Document" r:id="rId3" imgW="12088942" imgH="4952845" progId="Word.Document.12">
                  <p:embed/>
                </p:oleObj>
              </mc:Choice>
              <mc:Fallback>
                <p:oleObj name="Document" r:id="rId3" imgW="12088942" imgH="4952845" progId="Word.Document.12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1150" y="1911350"/>
                        <a:ext cx="23615650" cy="7918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75980921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/>
          </p:nvPr>
        </p:nvGraphicFramePr>
        <p:xfrm>
          <a:off x="380999" y="2133600"/>
          <a:ext cx="22820243" cy="624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Document" r:id="rId3" imgW="16803086" imgH="3708595" progId="Word.Document.12">
                  <p:embed/>
                </p:oleObj>
              </mc:Choice>
              <mc:Fallback>
                <p:oleObj name="Document" r:id="rId3" imgW="16803086" imgH="3708595" progId="Word.Document.12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0999" y="2133600"/>
                        <a:ext cx="22820243" cy="6248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/>
          <p:cNvPicPr/>
          <p:nvPr/>
        </p:nvPicPr>
        <p:blipFill>
          <a:blip r:embed="rId5"/>
          <a:stretch>
            <a:fillRect/>
          </a:stretch>
        </p:blipFill>
        <p:spPr>
          <a:xfrm>
            <a:off x="838200" y="3345873"/>
            <a:ext cx="22783800" cy="8077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39684183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/>
          </p:nvPr>
        </p:nvGraphicFramePr>
        <p:xfrm>
          <a:off x="831850" y="2368550"/>
          <a:ext cx="22693313" cy="910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Document" r:id="rId3" imgW="11877802" imgH="6015019" progId="Word.Document.12">
                  <p:embed/>
                </p:oleObj>
              </mc:Choice>
              <mc:Fallback>
                <p:oleObj name="Document" r:id="rId3" imgW="11877802" imgH="6015019" progId="Word.Document.12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1850" y="2368550"/>
                        <a:ext cx="22693313" cy="9102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88180044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447800" y="1981200"/>
            <a:ext cx="22021800" cy="10591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43820054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/>
          </p:nvPr>
        </p:nvGraphicFramePr>
        <p:xfrm>
          <a:off x="457200" y="2139950"/>
          <a:ext cx="23240999" cy="1198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Document" r:id="rId3" imgW="16985811" imgH="6364390" progId="Word.Document.12">
                  <p:embed/>
                </p:oleObj>
              </mc:Choice>
              <mc:Fallback>
                <p:oleObj name="Document" r:id="rId3" imgW="16985811" imgH="6364390" progId="Word.Document.12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" y="2139950"/>
                        <a:ext cx="23240999" cy="11984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72927442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/>
          </p:nvPr>
        </p:nvGraphicFramePr>
        <p:xfrm>
          <a:off x="457200" y="1828800"/>
          <a:ext cx="23317200" cy="1859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name="Document" r:id="rId3" imgW="11758384" imgH="9888809" progId="Word.Document.12">
                  <p:embed/>
                </p:oleObj>
              </mc:Choice>
              <mc:Fallback>
                <p:oleObj name="Document" r:id="rId3" imgW="11758384" imgH="9888809" progId="Word.Document.12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" y="1828800"/>
                        <a:ext cx="23317200" cy="18599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90181527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02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496300" y="3474857"/>
            <a:ext cx="7696200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 SỐ ỨNG DỤNG</a:t>
            </a:r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838200" y="4716464"/>
            <a:ext cx="11353800" cy="8786812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8640" indent="-548640" algn="just">
              <a:lnSpc>
                <a:spcPct val="150000"/>
              </a:lnSpc>
            </a:pP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Bằng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sát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phân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tích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thiên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văn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Johannes Kepler (1571 - 1630)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đã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ra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định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luật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nói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rằng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hành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tinh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hệ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Mặt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Trời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chuyển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động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theo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quỹ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đạo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elip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nhận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tâm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Mặt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Trời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tiêu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điểm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914400" lvl="1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2344400" y="4716464"/>
            <a:ext cx="11630891" cy="8702676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7A84627-81D2-4E54-8464-F582D315B05E}"/>
              </a:ext>
            </a:extLst>
          </p:cNvPr>
          <p:cNvGrpSpPr/>
          <p:nvPr/>
        </p:nvGrpSpPr>
        <p:grpSpPr>
          <a:xfrm>
            <a:off x="838200" y="1905000"/>
            <a:ext cx="21430873" cy="860967"/>
            <a:chOff x="-288924" y="1892299"/>
            <a:chExt cx="21434750" cy="860966"/>
          </a:xfrm>
        </p:grpSpPr>
        <p:sp>
          <p:nvSpPr>
            <p:cNvPr id="9" name="Rounded Rectangle 96">
              <a:extLst>
                <a:ext uri="{FF2B5EF4-FFF2-40B4-BE49-F238E27FC236}">
                  <a16:creationId xmlns:a16="http://schemas.microsoft.com/office/drawing/2014/main" id="{8BCBA28D-BEAE-488B-BC83-147B9A6BC002}"/>
                </a:ext>
              </a:extLst>
            </p:cNvPr>
            <p:cNvSpPr/>
            <p:nvPr/>
          </p:nvSpPr>
          <p:spPr>
            <a:xfrm>
              <a:off x="-288924" y="1905000"/>
              <a:ext cx="2362200" cy="804672"/>
            </a:xfrm>
            <a:prstGeom prst="roundRect">
              <a:avLst/>
            </a:prstGeom>
            <a:solidFill>
              <a:srgbClr val="145F8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6E9F144-26B4-4A1E-9F50-39B6DFC742B3}"/>
                </a:ext>
              </a:extLst>
            </p:cNvPr>
            <p:cNvSpPr txBox="1"/>
            <p:nvPr/>
          </p:nvSpPr>
          <p:spPr>
            <a:xfrm>
              <a:off x="1082675" y="1922269"/>
              <a:ext cx="577506" cy="830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b="1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4</a:t>
              </a:r>
              <a:endParaRPr lang="en-US" sz="4800" b="1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38F6D87-6F2B-4FC1-8CEF-454A7D38C152}"/>
                </a:ext>
              </a:extLst>
            </p:cNvPr>
            <p:cNvSpPr txBox="1"/>
            <p:nvPr/>
          </p:nvSpPr>
          <p:spPr>
            <a:xfrm>
              <a:off x="2087561" y="1892299"/>
              <a:ext cx="19058265" cy="830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b="1">
                  <a:solidFill>
                    <a:srgbClr val="145F82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MỘT SỐ ỨNG DỤNG CỦA BA ĐƯỜNG CONIC</a:t>
              </a:r>
              <a:endParaRPr lang="en-US" sz="4800" b="1" dirty="0">
                <a:solidFill>
                  <a:srgbClr val="145F82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</p:grpSp>
      <p:pic>
        <p:nvPicPr>
          <p:cNvPr id="1026" name="Picture 2" descr="Hành tinh nào trong hệ Mặt Trời được ví như địa ngục? - VnExpress">
            <a:extLst>
              <a:ext uri="{FF2B5EF4-FFF2-40B4-BE49-F238E27FC236}">
                <a16:creationId xmlns:a16="http://schemas.microsoft.com/office/drawing/2014/main" id="{4B59A221-C370-4EA5-8D4B-D19BB1BB3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20600" y="4914902"/>
            <a:ext cx="11620410" cy="8389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8" name="Rounded Rectangle 1027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Rectangle 102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Rectangle 102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1" name="TextBox 1030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25288292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2312" y="2755800"/>
                <a:ext cx="12801688" cy="5014669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0000"/>
                  </a:lnSpc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Gương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elip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máy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tán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sỏi</a:t>
                </a:r>
                <a:r>
                  <a:rPr lang="en-US" sz="4400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thận</a:t>
                </a:r>
                <a:r>
                  <a:rPr lang="en-US" sz="4400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(H.7.33)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ứng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elip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chính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tắc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vi-VN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𝟒𝟎𝟎𝟎</m:t>
                        </m:r>
                      </m:den>
                    </m:f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𝟕𝟔</m:t>
                        </m:r>
                      </m:den>
                    </m:f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(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đơn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cm</a:t>
                </a:r>
                <a:r>
                  <a:rPr lang="vi-VN" sz="4400" b="1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).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khoảng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cách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từ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trí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đầu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phát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sóng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máy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đến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trí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sỏi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thận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cần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tán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312" y="2755800"/>
                <a:ext cx="12801688" cy="5014669"/>
              </a:xfrm>
              <a:prstGeom prst="rect">
                <a:avLst/>
              </a:prstGeom>
              <a:blipFill>
                <a:blip r:embed="rId3"/>
                <a:stretch>
                  <a:fillRect l="-1903" t="-2303" r="-476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C9447D0B-3E98-4957-80C5-7401505C9BBF}"/>
              </a:ext>
            </a:extLst>
          </p:cNvPr>
          <p:cNvGrpSpPr/>
          <p:nvPr/>
        </p:nvGrpSpPr>
        <p:grpSpPr>
          <a:xfrm>
            <a:off x="7772400" y="1552521"/>
            <a:ext cx="6934199" cy="1081690"/>
            <a:chOff x="22440" y="59287"/>
            <a:chExt cx="976347" cy="19425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81350E8-1393-4074-8452-4D7CD0028AE3}"/>
                </a:ext>
              </a:extLst>
            </p:cNvPr>
            <p:cNvGrpSpPr/>
            <p:nvPr/>
          </p:nvGrpSpPr>
          <p:grpSpPr>
            <a:xfrm>
              <a:off x="22440" y="59287"/>
              <a:ext cx="850471" cy="194251"/>
              <a:chOff x="31572" y="60276"/>
              <a:chExt cx="1196628" cy="240395"/>
            </a:xfrm>
          </p:grpSpPr>
          <p:sp>
            <p:nvSpPr>
              <p:cNvPr id="9" name="Arrow: Pentagon 8">
                <a:extLst>
                  <a:ext uri="{FF2B5EF4-FFF2-40B4-BE49-F238E27FC236}">
                    <a16:creationId xmlns:a16="http://schemas.microsoft.com/office/drawing/2014/main" id="{6C245C17-29FB-4995-A56B-325520F4FD87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Arrow: Chevron 9">
                <a:extLst>
                  <a:ext uri="{FF2B5EF4-FFF2-40B4-BE49-F238E27FC236}">
                    <a16:creationId xmlns:a16="http://schemas.microsoft.com/office/drawing/2014/main" id="{53353DB4-19B7-4AE2-88F3-C49194E80086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24033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11" name="Arrow: Chevron 10">
                <a:extLst>
                  <a:ext uri="{FF2B5EF4-FFF2-40B4-BE49-F238E27FC236}">
                    <a16:creationId xmlns:a16="http://schemas.microsoft.com/office/drawing/2014/main" id="{3089DF85-C94D-40A4-AFAE-DDB4B6C75A3D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240330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p:grpSp>
        <p:sp>
          <p:nvSpPr>
            <p:cNvPr id="8" name="TextBox 56">
              <a:extLst>
                <a:ext uri="{FF2B5EF4-FFF2-40B4-BE49-F238E27FC236}">
                  <a16:creationId xmlns:a16="http://schemas.microsoft.com/office/drawing/2014/main" id="{8FAEBBC0-1A0F-40F3-88B8-DB6BB2714B2A}"/>
                </a:ext>
              </a:extLst>
            </p:cNvPr>
            <p:cNvSpPr txBox="1"/>
            <p:nvPr/>
          </p:nvSpPr>
          <p:spPr>
            <a:xfrm>
              <a:off x="271036" y="83816"/>
              <a:ext cx="727751" cy="15842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 kern="120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Vận dụng 3</a:t>
              </a:r>
              <a:endParaRPr lang="en-US" sz="440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2C7FA5FA-1A7B-45E2-8139-24E761A40B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2312" y="7954949"/>
                <a:ext cx="23926888" cy="5456252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b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endParaRPr lang="en-US" b="1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𝟒𝟎𝟎𝟎</m:t>
                        </m:r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𝟕𝟔</m:t>
                        </m:r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{"/>
                        <m:endChr m:val="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𝟒𝟎𝟎𝟎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𝟕𝟔</m:t>
                            </m:r>
                          </m:e>
                        </m:eqArr>
                      </m:e>
                    </m:d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khác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𝟒𝟎𝟎𝟎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𝟕𝟔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𝟑𝟗𝟐𝟒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𝟔</m:t>
                    </m:r>
                    <m:rad>
                      <m:radPr>
                        <m:degHide m:val="on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𝟏𝟎𝟗</m:t>
                        </m:r>
                      </m:e>
                    </m:ra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trí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vi-VN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đầ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u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phát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sóng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máy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đến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trí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sỏi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thận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cần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tán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ứng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cự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elip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khoảng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𝟏𝟐</m:t>
                    </m:r>
                    <m:rad>
                      <m:radPr>
                        <m:degHide m:val="on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𝟏𝟎𝟗</m:t>
                        </m:r>
                      </m:e>
                    </m:ra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(cm)</a:t>
                </a: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2C7FA5FA-1A7B-45E2-8139-24E761A40B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312" y="7954949"/>
                <a:ext cx="23926888" cy="5456252"/>
              </a:xfrm>
              <a:prstGeom prst="rect">
                <a:avLst/>
              </a:prstGeom>
              <a:blipFill>
                <a:blip r:embed="rId4"/>
                <a:stretch>
                  <a:fillRect l="-1044" t="-3790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Shape 483" descr="Diagram&#10;&#10;Description automatically generated">
            <a:extLst>
              <a:ext uri="{FF2B5EF4-FFF2-40B4-BE49-F238E27FC236}">
                <a16:creationId xmlns:a16="http://schemas.microsoft.com/office/drawing/2014/main" id="{DDA2D540-EAD0-409A-9599-6D644AE4C525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13258800" y="2755800"/>
            <a:ext cx="10620895" cy="5014669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7358033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1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2971800"/>
                <a:ext cx="23545800" cy="167639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marL="457200" lvl="1"/>
                <a:r>
                  <a:rPr lang="en-US" sz="4800" b="1" dirty="0">
                    <a:solidFill>
                      <a:srgbClr val="FFC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7.19. 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elip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𝟑𝟔</m:t>
                        </m:r>
                      </m:den>
                    </m:f>
                    <m:r>
                      <a:rPr lang="en-US" sz="48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  <m:r>
                      <a:rPr lang="en-US" sz="4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cự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elip</a:t>
                </a:r>
                <a:endParaRPr lang="en-US" sz="48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971800"/>
                <a:ext cx="23545800" cy="1676399"/>
              </a:xfrm>
              <a:prstGeom prst="rect">
                <a:avLst/>
              </a:prstGeom>
              <a:blipFill>
                <a:blip r:embed="rId3"/>
                <a:stretch>
                  <a:fillRect r="-259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" y="5638800"/>
                <a:ext cx="23164800" cy="602773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6000" b="1" dirty="0" err="1">
                    <a:solidFill>
                      <a:srgbClr val="FF0066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endParaRPr lang="en-US" sz="6000" b="1" dirty="0">
                  <a:solidFill>
                    <a:srgbClr val="FF0066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𝟑𝟔</m:t>
                        </m:r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{"/>
                        <m:endChr m:val="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𝟑𝟔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𝟗</m:t>
                            </m:r>
                          </m:e>
                        </m:eqArr>
                      </m:e>
                    </m:d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khác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𝟐𝟕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𝟑</m:t>
                    </m:r>
                    <m:rad>
                      <m:radPr>
                        <m:degHide m:val="on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elip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vi-VN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ad>
                          <m:radPr>
                            <m:degHide m:val="on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rad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ad>
                          <m:radPr>
                            <m:degHide m:val="on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rad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</a:t>
                </a:r>
              </a:p>
              <a:p>
                <a:pPr marL="0" indent="0">
                  <a:buNone/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cự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𝟔</m:t>
                    </m:r>
                    <m:rad>
                      <m:radPr>
                        <m:degHide m:val="on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638800"/>
                <a:ext cx="23164800" cy="6027736"/>
              </a:xfrm>
              <a:prstGeom prst="rect">
                <a:avLst/>
              </a:prstGeom>
              <a:blipFill>
                <a:blip r:embed="rId4"/>
                <a:stretch>
                  <a:fillRect l="-1157" t="-4440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C5EBDE18-F9CD-4FEA-8471-E18C7DBD2D39}"/>
              </a:ext>
            </a:extLst>
          </p:cNvPr>
          <p:cNvGrpSpPr/>
          <p:nvPr/>
        </p:nvGrpSpPr>
        <p:grpSpPr>
          <a:xfrm>
            <a:off x="7772401" y="1552521"/>
            <a:ext cx="5715000" cy="1081690"/>
            <a:chOff x="22440" y="59287"/>
            <a:chExt cx="976347" cy="19425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F0E9F2E-BCAA-4B78-9DAE-A52B2771E363}"/>
                </a:ext>
              </a:extLst>
            </p:cNvPr>
            <p:cNvGrpSpPr/>
            <p:nvPr/>
          </p:nvGrpSpPr>
          <p:grpSpPr>
            <a:xfrm>
              <a:off x="22440" y="59287"/>
              <a:ext cx="850471" cy="194251"/>
              <a:chOff x="31572" y="60276"/>
              <a:chExt cx="1196628" cy="240395"/>
            </a:xfrm>
          </p:grpSpPr>
          <p:sp>
            <p:nvSpPr>
              <p:cNvPr id="9" name="Arrow: Pentagon 8">
                <a:extLst>
                  <a:ext uri="{FF2B5EF4-FFF2-40B4-BE49-F238E27FC236}">
                    <a16:creationId xmlns:a16="http://schemas.microsoft.com/office/drawing/2014/main" id="{B8596493-2224-4712-8A6C-20C5F8414787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Arrow: Chevron 9">
                <a:extLst>
                  <a:ext uri="{FF2B5EF4-FFF2-40B4-BE49-F238E27FC236}">
                    <a16:creationId xmlns:a16="http://schemas.microsoft.com/office/drawing/2014/main" id="{87301ED1-CAC4-4F82-A4CB-203607300CFF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24033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11" name="Arrow: Chevron 10">
                <a:extLst>
                  <a:ext uri="{FF2B5EF4-FFF2-40B4-BE49-F238E27FC236}">
                    <a16:creationId xmlns:a16="http://schemas.microsoft.com/office/drawing/2014/main" id="{87EE6C7B-32EA-46DF-AC0F-E55CD4C12DFF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240330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p:grpSp>
        <p:sp>
          <p:nvSpPr>
            <p:cNvPr id="8" name="TextBox 56">
              <a:extLst>
                <a:ext uri="{FF2B5EF4-FFF2-40B4-BE49-F238E27FC236}">
                  <a16:creationId xmlns:a16="http://schemas.microsoft.com/office/drawing/2014/main" id="{023F66BC-ECEC-43C9-9D71-FAC24B5AF0B1}"/>
                </a:ext>
              </a:extLst>
            </p:cNvPr>
            <p:cNvSpPr txBox="1"/>
            <p:nvPr/>
          </p:nvSpPr>
          <p:spPr>
            <a:xfrm>
              <a:off x="271036" y="83816"/>
              <a:ext cx="727751" cy="15842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>
                  <a:solidFill>
                    <a:srgbClr val="FF0066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BÀI TẬP</a:t>
              </a:r>
              <a:endParaRPr lang="en-US" sz="4400">
                <a:solidFill>
                  <a:srgbClr val="FF0066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01" name="Rounded Rectangle 100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01013947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52600" y="3183629"/>
                <a:ext cx="20878800" cy="204869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lvl="1"/>
                <a:r>
                  <a:rPr lang="en-US" sz="4800" b="1" dirty="0">
                    <a:solidFill>
                      <a:srgbClr val="FFC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7.20. 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hypebol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𝟕</m:t>
                        </m:r>
                      </m:den>
                    </m:f>
                    <m:r>
                      <a:rPr lang="en-US" sz="4800" b="1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  <m:r>
                      <a:rPr lang="en-US" sz="4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lvl="1"/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vi-VN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cự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hypebol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3183629"/>
                <a:ext cx="20878800" cy="2048691"/>
              </a:xfrm>
              <a:prstGeom prst="rect">
                <a:avLst/>
              </a:prstGeom>
              <a:blipFill>
                <a:blip r:embed="rId3"/>
                <a:stretch>
                  <a:fillRect b="-12722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C5EBDE18-F9CD-4FEA-8471-E18C7DBD2D39}"/>
              </a:ext>
            </a:extLst>
          </p:cNvPr>
          <p:cNvGrpSpPr/>
          <p:nvPr/>
        </p:nvGrpSpPr>
        <p:grpSpPr>
          <a:xfrm>
            <a:off x="7772401" y="1552521"/>
            <a:ext cx="5715000" cy="1081690"/>
            <a:chOff x="22440" y="59287"/>
            <a:chExt cx="976347" cy="19425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F0E9F2E-BCAA-4B78-9DAE-A52B2771E363}"/>
                </a:ext>
              </a:extLst>
            </p:cNvPr>
            <p:cNvGrpSpPr/>
            <p:nvPr/>
          </p:nvGrpSpPr>
          <p:grpSpPr>
            <a:xfrm>
              <a:off x="22440" y="59287"/>
              <a:ext cx="850471" cy="194251"/>
              <a:chOff x="31572" y="60276"/>
              <a:chExt cx="1196628" cy="240395"/>
            </a:xfrm>
          </p:grpSpPr>
          <p:sp>
            <p:nvSpPr>
              <p:cNvPr id="9" name="Arrow: Pentagon 8">
                <a:extLst>
                  <a:ext uri="{FF2B5EF4-FFF2-40B4-BE49-F238E27FC236}">
                    <a16:creationId xmlns:a16="http://schemas.microsoft.com/office/drawing/2014/main" id="{B8596493-2224-4712-8A6C-20C5F8414787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Arrow: Chevron 9">
                <a:extLst>
                  <a:ext uri="{FF2B5EF4-FFF2-40B4-BE49-F238E27FC236}">
                    <a16:creationId xmlns:a16="http://schemas.microsoft.com/office/drawing/2014/main" id="{87301ED1-CAC4-4F82-A4CB-203607300CFF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24033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11" name="Arrow: Chevron 10">
                <a:extLst>
                  <a:ext uri="{FF2B5EF4-FFF2-40B4-BE49-F238E27FC236}">
                    <a16:creationId xmlns:a16="http://schemas.microsoft.com/office/drawing/2014/main" id="{87EE6C7B-32EA-46DF-AC0F-E55CD4C12DFF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240330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p:grpSp>
        <p:sp>
          <p:nvSpPr>
            <p:cNvPr id="8" name="TextBox 56">
              <a:extLst>
                <a:ext uri="{FF2B5EF4-FFF2-40B4-BE49-F238E27FC236}">
                  <a16:creationId xmlns:a16="http://schemas.microsoft.com/office/drawing/2014/main" id="{023F66BC-ECEC-43C9-9D71-FAC24B5AF0B1}"/>
                </a:ext>
              </a:extLst>
            </p:cNvPr>
            <p:cNvSpPr txBox="1"/>
            <p:nvPr/>
          </p:nvSpPr>
          <p:spPr>
            <a:xfrm>
              <a:off x="271036" y="83816"/>
              <a:ext cx="727751" cy="15842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>
                  <a:solidFill>
                    <a:srgbClr val="FF0066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BÀI TẬP</a:t>
              </a:r>
              <a:endParaRPr lang="en-US" sz="4400">
                <a:solidFill>
                  <a:srgbClr val="FF0066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DD247956-DAFA-41E9-8CA3-C2EBCB0411F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52600" y="5719432"/>
                <a:ext cx="20878800" cy="7207203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25000"/>
                  </a:lnSpc>
                  <a:buNone/>
                </a:pPr>
                <a:r>
                  <a:rPr lang="en-US" b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endParaRPr lang="en-US" b="1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25000"/>
                  </a:lnSpc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𝟕</m:t>
                        </m:r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{"/>
                        <m:endChr m:val="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𝟕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𝟗</m:t>
                            </m:r>
                          </m:e>
                        </m:eqArr>
                      </m:e>
                    </m:d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25000"/>
                  </a:lnSpc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khác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>
                  <a:lnSpc>
                    <a:spcPct val="125000"/>
                  </a:lnSpc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hypebol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 </a:t>
                </a: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cự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DD247956-DAFA-41E9-8CA3-C2EBCB041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5719432"/>
                <a:ext cx="20878800" cy="7207203"/>
              </a:xfrm>
              <a:prstGeom prst="rect">
                <a:avLst/>
              </a:prstGeom>
              <a:blipFill>
                <a:blip r:embed="rId4"/>
                <a:stretch>
                  <a:fillRect l="-1196" t="-67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Rounded Rectangle 98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30605950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1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52600" y="3183629"/>
                <a:ext cx="20878800" cy="204869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lvl="1"/>
                <a:r>
                  <a:rPr lang="en-US" sz="4800" b="1" dirty="0">
                    <a:solidFill>
                      <a:srgbClr val="FFC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7.21. 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parabol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4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vi-VN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chuẩn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parabol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3183629"/>
                <a:ext cx="20878800" cy="2048691"/>
              </a:xfrm>
              <a:prstGeom prst="rect">
                <a:avLst/>
              </a:prstGeom>
              <a:blipFill>
                <a:blip r:embed="rId3"/>
                <a:stretch>
                  <a:fillRect t="-5917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C5EBDE18-F9CD-4FEA-8471-E18C7DBD2D39}"/>
              </a:ext>
            </a:extLst>
          </p:cNvPr>
          <p:cNvGrpSpPr/>
          <p:nvPr/>
        </p:nvGrpSpPr>
        <p:grpSpPr>
          <a:xfrm>
            <a:off x="7772401" y="1552521"/>
            <a:ext cx="5715000" cy="1081690"/>
            <a:chOff x="22440" y="59287"/>
            <a:chExt cx="976347" cy="19425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F0E9F2E-BCAA-4B78-9DAE-A52B2771E363}"/>
                </a:ext>
              </a:extLst>
            </p:cNvPr>
            <p:cNvGrpSpPr/>
            <p:nvPr/>
          </p:nvGrpSpPr>
          <p:grpSpPr>
            <a:xfrm>
              <a:off x="22440" y="59287"/>
              <a:ext cx="850471" cy="194251"/>
              <a:chOff x="31572" y="60276"/>
              <a:chExt cx="1196628" cy="240395"/>
            </a:xfrm>
          </p:grpSpPr>
          <p:sp>
            <p:nvSpPr>
              <p:cNvPr id="9" name="Arrow: Pentagon 8">
                <a:extLst>
                  <a:ext uri="{FF2B5EF4-FFF2-40B4-BE49-F238E27FC236}">
                    <a16:creationId xmlns:a16="http://schemas.microsoft.com/office/drawing/2014/main" id="{B8596493-2224-4712-8A6C-20C5F8414787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Arrow: Chevron 9">
                <a:extLst>
                  <a:ext uri="{FF2B5EF4-FFF2-40B4-BE49-F238E27FC236}">
                    <a16:creationId xmlns:a16="http://schemas.microsoft.com/office/drawing/2014/main" id="{87301ED1-CAC4-4F82-A4CB-203607300CFF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24033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11" name="Arrow: Chevron 10">
                <a:extLst>
                  <a:ext uri="{FF2B5EF4-FFF2-40B4-BE49-F238E27FC236}">
                    <a16:creationId xmlns:a16="http://schemas.microsoft.com/office/drawing/2014/main" id="{87EE6C7B-32EA-46DF-AC0F-E55CD4C12DFF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240330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p:grpSp>
        <p:sp>
          <p:nvSpPr>
            <p:cNvPr id="8" name="TextBox 56">
              <a:extLst>
                <a:ext uri="{FF2B5EF4-FFF2-40B4-BE49-F238E27FC236}">
                  <a16:creationId xmlns:a16="http://schemas.microsoft.com/office/drawing/2014/main" id="{023F66BC-ECEC-43C9-9D71-FAC24B5AF0B1}"/>
                </a:ext>
              </a:extLst>
            </p:cNvPr>
            <p:cNvSpPr txBox="1"/>
            <p:nvPr/>
          </p:nvSpPr>
          <p:spPr>
            <a:xfrm>
              <a:off x="271036" y="83816"/>
              <a:ext cx="727751" cy="15842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>
                  <a:solidFill>
                    <a:srgbClr val="FF0066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BÀI TẬP</a:t>
              </a:r>
              <a:endParaRPr lang="en-US" sz="4400">
                <a:solidFill>
                  <a:srgbClr val="FF0066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ECEC26DB-CA8D-4C43-86C1-0327D3AAA5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21796" y="5867400"/>
                <a:ext cx="20878800" cy="4505262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b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endParaRPr lang="en-US" b="1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fr-FR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fr-FR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fr-FR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 : </a:t>
                </a:r>
                <a14:m>
                  <m:oMath xmlns:m="http://schemas.openxmlformats.org/officeDocument/2006/math">
                    <m:r>
                      <a:rPr lang="fr-FR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𝒑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𝟖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⇔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𝒑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fr-FR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endParaRPr lang="vi-VN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vi-VN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parabol có</a:t>
                </a:r>
                <a:r>
                  <a:rPr lang="fr-FR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fr-FR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vi-VN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là</a:t>
                </a:r>
                <a:r>
                  <a:rPr lang="fr-FR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𝒑</m:t>
                            </m:r>
                          </m:num>
                          <m:den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fr-FR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fr-FR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fr-FR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chuẩn</a:t>
                </a:r>
                <a:r>
                  <a:rPr lang="fr-FR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fr-FR" b="1" i="1">
                        <a:latin typeface="Cambria Math" panose="02040503050406030204" pitchFamily="18" charset="0"/>
                      </a:rPr>
                      <m:t>𝜟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𝒑</m:t>
                        </m:r>
                      </m:num>
                      <m:den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fr-FR" b="1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fr-FR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fr-FR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ECEC26DB-CA8D-4C43-86C1-0327D3AAA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1796" y="5867400"/>
                <a:ext cx="20878800" cy="4505262"/>
              </a:xfrm>
              <a:prstGeom prst="rect">
                <a:avLst/>
              </a:prstGeom>
              <a:blipFill>
                <a:blip r:embed="rId4"/>
                <a:stretch>
                  <a:fillRect l="-1284" t="-458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Rounded Rectangle 98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52598075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1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00100" y="3206092"/>
            <a:ext cx="22898100" cy="20486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pPr lvl="1">
              <a:lnSpc>
                <a:spcPct val="125000"/>
              </a:lnSpc>
            </a:pPr>
            <a:r>
              <a:rPr lang="en-US" sz="4800" b="1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7.22.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Lập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trình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chính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tắc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elip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qua </a:t>
            </a:r>
            <a:r>
              <a:rPr lang="vi-VN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điể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 A(5; 0)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tiêu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điể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</a:t>
            </a:r>
            <a:r>
              <a:rPr lang="en-US" sz="4800" b="1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(3; 0).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5EBDE18-F9CD-4FEA-8471-E18C7DBD2D39}"/>
              </a:ext>
            </a:extLst>
          </p:cNvPr>
          <p:cNvGrpSpPr/>
          <p:nvPr/>
        </p:nvGrpSpPr>
        <p:grpSpPr>
          <a:xfrm>
            <a:off x="7772401" y="1552521"/>
            <a:ext cx="5715000" cy="1081690"/>
            <a:chOff x="22440" y="59287"/>
            <a:chExt cx="976347" cy="19425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F0E9F2E-BCAA-4B78-9DAE-A52B2771E363}"/>
                </a:ext>
              </a:extLst>
            </p:cNvPr>
            <p:cNvGrpSpPr/>
            <p:nvPr/>
          </p:nvGrpSpPr>
          <p:grpSpPr>
            <a:xfrm>
              <a:off x="22440" y="59287"/>
              <a:ext cx="850471" cy="194251"/>
              <a:chOff x="31572" y="60276"/>
              <a:chExt cx="1196628" cy="240395"/>
            </a:xfrm>
          </p:grpSpPr>
          <p:sp>
            <p:nvSpPr>
              <p:cNvPr id="9" name="Arrow: Pentagon 8">
                <a:extLst>
                  <a:ext uri="{FF2B5EF4-FFF2-40B4-BE49-F238E27FC236}">
                    <a16:creationId xmlns:a16="http://schemas.microsoft.com/office/drawing/2014/main" id="{B8596493-2224-4712-8A6C-20C5F8414787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Arrow: Chevron 9">
                <a:extLst>
                  <a:ext uri="{FF2B5EF4-FFF2-40B4-BE49-F238E27FC236}">
                    <a16:creationId xmlns:a16="http://schemas.microsoft.com/office/drawing/2014/main" id="{87301ED1-CAC4-4F82-A4CB-203607300CFF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24033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11" name="Arrow: Chevron 10">
                <a:extLst>
                  <a:ext uri="{FF2B5EF4-FFF2-40B4-BE49-F238E27FC236}">
                    <a16:creationId xmlns:a16="http://schemas.microsoft.com/office/drawing/2014/main" id="{87EE6C7B-32EA-46DF-AC0F-E55CD4C12DFF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240330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p:grpSp>
        <p:sp>
          <p:nvSpPr>
            <p:cNvPr id="8" name="TextBox 56">
              <a:extLst>
                <a:ext uri="{FF2B5EF4-FFF2-40B4-BE49-F238E27FC236}">
                  <a16:creationId xmlns:a16="http://schemas.microsoft.com/office/drawing/2014/main" id="{023F66BC-ECEC-43C9-9D71-FAC24B5AF0B1}"/>
                </a:ext>
              </a:extLst>
            </p:cNvPr>
            <p:cNvSpPr txBox="1"/>
            <p:nvPr/>
          </p:nvSpPr>
          <p:spPr>
            <a:xfrm>
              <a:off x="271036" y="83816"/>
              <a:ext cx="727751" cy="15842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>
                  <a:solidFill>
                    <a:srgbClr val="FF0066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BÀI TẬP</a:t>
              </a:r>
              <a:endParaRPr lang="en-US" sz="4400">
                <a:solidFill>
                  <a:srgbClr val="FF0066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127668AD-817B-471A-912A-E68900964E6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5889555"/>
                <a:ext cx="22860000" cy="714064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25000"/>
                  </a:lnSpc>
                  <a:buNone/>
                </a:pPr>
                <a:r>
                  <a:rPr lang="en-US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</a:p>
              <a:p>
                <a:pPr>
                  <a:lnSpc>
                    <a:spcPct val="125000"/>
                  </a:lnSpc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elip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dạng</a:t>
                </a:r>
                <a:r>
                  <a:rPr lang="vi-VN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):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25000"/>
                  </a:lnSpc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Do (E)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qua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vi-VN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𝟐𝟓</m:t>
                        </m:r>
                      </m:num>
                      <m:den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num>
                      <m:den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𝟐𝟓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			      </a:t>
                </a:r>
                <a:r>
                  <a:rPr lang="vi-VN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(1)</a:t>
                </a:r>
              </a:p>
              <a:p>
                <a:pPr>
                  <a:lnSpc>
                    <a:spcPct val="125000"/>
                  </a:lnSpc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khác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(E) </a:t>
                </a:r>
                <a:r>
                  <a:rPr lang="vi-VN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tiêu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vi-VN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</a:t>
                </a:r>
                <a:r>
                  <a:rPr lang="vi-VN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(2)</a:t>
                </a:r>
              </a:p>
              <a:p>
                <a:pPr>
                  <a:lnSpc>
                    <a:spcPct val="125000"/>
                  </a:lnSpc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Từ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(1)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(2)</a:t>
                </a:r>
                <a:r>
                  <a:rPr lang="en-US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𝟏𝟔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):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𝟐𝟓</m:t>
                        </m:r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𝟏𝟔</m:t>
                        </m:r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127668AD-817B-471A-912A-E68900964E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889555"/>
                <a:ext cx="22860000" cy="7140646"/>
              </a:xfrm>
              <a:prstGeom prst="rect">
                <a:avLst/>
              </a:prstGeom>
              <a:blipFill>
                <a:blip r:embed="rId3"/>
                <a:stretch>
                  <a:fillRect l="-1093" t="-681" b="-170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Rounded Rectangle 98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97233289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1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52600" y="3206092"/>
                <a:ext cx="20878800" cy="204869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lvl="1"/>
                <a:r>
                  <a:rPr lang="en-US" sz="4800" b="1" dirty="0">
                    <a:solidFill>
                      <a:srgbClr val="FFC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7.23.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Lập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chính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tắc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parabol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qua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48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3206092"/>
                <a:ext cx="20878800" cy="2048691"/>
              </a:xfrm>
              <a:prstGeom prst="rect">
                <a:avLst/>
              </a:prstGeom>
              <a:blipFill>
                <a:blip r:embed="rId3"/>
                <a:stretch>
                  <a:fillRect t="-6509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C5EBDE18-F9CD-4FEA-8471-E18C7DBD2D39}"/>
              </a:ext>
            </a:extLst>
          </p:cNvPr>
          <p:cNvGrpSpPr/>
          <p:nvPr/>
        </p:nvGrpSpPr>
        <p:grpSpPr>
          <a:xfrm>
            <a:off x="7772401" y="1552521"/>
            <a:ext cx="5715000" cy="1081690"/>
            <a:chOff x="22440" y="59287"/>
            <a:chExt cx="976347" cy="19425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F0E9F2E-BCAA-4B78-9DAE-A52B2771E363}"/>
                </a:ext>
              </a:extLst>
            </p:cNvPr>
            <p:cNvGrpSpPr/>
            <p:nvPr/>
          </p:nvGrpSpPr>
          <p:grpSpPr>
            <a:xfrm>
              <a:off x="22440" y="59287"/>
              <a:ext cx="850471" cy="194251"/>
              <a:chOff x="31572" y="60276"/>
              <a:chExt cx="1196628" cy="240395"/>
            </a:xfrm>
          </p:grpSpPr>
          <p:sp>
            <p:nvSpPr>
              <p:cNvPr id="9" name="Arrow: Pentagon 8">
                <a:extLst>
                  <a:ext uri="{FF2B5EF4-FFF2-40B4-BE49-F238E27FC236}">
                    <a16:creationId xmlns:a16="http://schemas.microsoft.com/office/drawing/2014/main" id="{B8596493-2224-4712-8A6C-20C5F8414787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Arrow: Chevron 9">
                <a:extLst>
                  <a:ext uri="{FF2B5EF4-FFF2-40B4-BE49-F238E27FC236}">
                    <a16:creationId xmlns:a16="http://schemas.microsoft.com/office/drawing/2014/main" id="{87301ED1-CAC4-4F82-A4CB-203607300CFF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24033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11" name="Arrow: Chevron 10">
                <a:extLst>
                  <a:ext uri="{FF2B5EF4-FFF2-40B4-BE49-F238E27FC236}">
                    <a16:creationId xmlns:a16="http://schemas.microsoft.com/office/drawing/2014/main" id="{87EE6C7B-32EA-46DF-AC0F-E55CD4C12DFF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240330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p:grpSp>
        <p:sp>
          <p:nvSpPr>
            <p:cNvPr id="8" name="TextBox 56">
              <a:extLst>
                <a:ext uri="{FF2B5EF4-FFF2-40B4-BE49-F238E27FC236}">
                  <a16:creationId xmlns:a16="http://schemas.microsoft.com/office/drawing/2014/main" id="{023F66BC-ECEC-43C9-9D71-FAC24B5AF0B1}"/>
                </a:ext>
              </a:extLst>
            </p:cNvPr>
            <p:cNvSpPr txBox="1"/>
            <p:nvPr/>
          </p:nvSpPr>
          <p:spPr>
            <a:xfrm>
              <a:off x="271036" y="83816"/>
              <a:ext cx="727751" cy="15842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>
                  <a:solidFill>
                    <a:srgbClr val="FF0066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BÀI TẬP</a:t>
              </a:r>
              <a:endParaRPr lang="en-US" sz="4400">
                <a:solidFill>
                  <a:srgbClr val="FF0066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D9BFEC7F-809F-4C42-8063-BE7747F1C7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52600" y="6203451"/>
                <a:ext cx="20878800" cy="4921749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25000"/>
                  </a:lnSpc>
                  <a:buNone/>
                </a:pPr>
                <a:r>
                  <a:rPr lang="en-US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</a:p>
              <a:p>
                <a:pPr>
                  <a:lnSpc>
                    <a:spcPct val="125000"/>
                  </a:lnSpc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sử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(P):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fr-F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𝒑𝒙</m:t>
                    </m:r>
                    <m:r>
                      <a:rPr lang="vi-VN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𝒑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25000"/>
                  </a:lnSpc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(P)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qua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vi-VN" b="1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 </a:t>
                </a:r>
                <a14:m>
                  <m:oMath xmlns:m="http://schemas.openxmlformats.org/officeDocument/2006/math">
                    <m:r>
                      <a:rPr lang="fr-FR" b="1" i="1">
                        <a:latin typeface="Cambria Math" panose="02040503050406030204" pitchFamily="18" charset="0"/>
                      </a:rPr>
                      <m:t>𝟏𝟔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𝒑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𝒑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>
                  <a:lnSpc>
                    <a:spcPct val="125000"/>
                  </a:lnSpc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fr-F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𝟖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vi-VN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D9BFEC7F-809F-4C42-8063-BE7747F1C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6203451"/>
                <a:ext cx="20878800" cy="4921749"/>
              </a:xfrm>
              <a:prstGeom prst="rect">
                <a:avLst/>
              </a:prstGeom>
              <a:blipFill>
                <a:blip r:embed="rId4"/>
                <a:stretch>
                  <a:fillRect l="-1196" t="-989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Rounded Rectangle 98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03839383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1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381000" y="1828800"/>
            <a:ext cx="23583900" cy="42318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pPr marL="731520" lvl="1" algn="just">
              <a:lnSpc>
                <a:spcPct val="120000"/>
              </a:lnSpc>
            </a:pPr>
            <a:r>
              <a:rPr lang="en-US" sz="4800" b="1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7.24.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trạm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hiệu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vô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tuyến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đặt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tại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trí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A, B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cách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nhau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300 km.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Tại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cùng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thời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điểm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trạm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cùng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hiệu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với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vận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tốc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292 000 km/s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để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tàu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thuỷ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đo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lệch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thời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hiệu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từ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đến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sớm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hơn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hiệu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từ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0,0005</a:t>
            </a:r>
            <a:r>
              <a:rPr lang="vi-V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s.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Từ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thông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tin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trên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ta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thể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xác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định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tàu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thuỷ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thuộc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hypebol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nào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Viết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trình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chính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tắc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hypebol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đó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theo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đơn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kilômét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731520" lvl="1" algn="just"/>
            <a:r>
              <a:rPr lang="en-US" sz="4800" b="1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US" sz="4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D9BFEC7F-809F-4C42-8063-BE7747F1C7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2291" y="6324600"/>
                <a:ext cx="23583900" cy="716280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1200"/>
                  </a:spcBef>
                  <a:buNone/>
                </a:pPr>
                <a:r>
                  <a:rPr lang="en-US" sz="4600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Do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hiệu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A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đến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sớm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hơn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hiệu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từ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B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tàu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thuỷ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hepebol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nhánh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A.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trí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tàu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thuỷ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M. 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hyperbol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dạng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46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):</m:t>
                    </m:r>
                    <m:f>
                      <m:fPr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46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6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4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46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6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sz="4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sz="4600" b="1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46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6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sz="4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46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600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US" sz="4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sz="4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𝑴𝑨</m:t>
                        </m:r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𝑴𝑩</m:t>
                        </m:r>
                      </m:e>
                    </m:d>
                    <m:r>
                      <a:rPr lang="en-US" sz="4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𝟐𝟗𝟐𝟎𝟎𝟎</m:t>
                    </m:r>
                    <m:r>
                      <a:rPr lang="en-US" sz="4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𝟎𝟎𝟎𝟓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𝟏𝟒𝟔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𝒌𝒎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𝟕𝟑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𝒌𝒎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46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4600" b="1" i="1">
                        <a:latin typeface="Cambria Math" panose="02040503050406030204" pitchFamily="18" charset="0"/>
                      </a:rPr>
                      <m:t>𝑨𝑩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𝟑𝟎𝟎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𝒌𝒎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𝟏𝟓𝟎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𝒌𝒎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46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</a:t>
                </a:r>
                <a:r>
                  <a:rPr lang="vi-VN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 có 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4600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4600" b="1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4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𝟏𝟕𝟏𝟕𝟏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𝒌𝒎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46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hyperbol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6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):</m:t>
                    </m:r>
                    <m:f>
                      <m:fPr>
                        <m:ctrlPr>
                          <a:rPr lang="en-US" sz="4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4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4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sz="4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𝟓𝟑𝟐𝟗</m:t>
                        </m:r>
                      </m:den>
                    </m:f>
                    <m:r>
                      <a:rPr lang="en-US" sz="4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4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4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sz="4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sz="4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𝟏𝟕𝟏𝟕</m:t>
                        </m:r>
                        <m:r>
                          <a:rPr lang="en-US" sz="4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den>
                    </m:f>
                    <m:r>
                      <a:rPr lang="en-US" sz="4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4600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endParaRPr lang="en-US" sz="46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D9BFEC7F-809F-4C42-8063-BE7747F1C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291" y="6324600"/>
                <a:ext cx="23583900" cy="7162800"/>
              </a:xfrm>
              <a:prstGeom prst="rect">
                <a:avLst/>
              </a:prstGeom>
              <a:blipFill>
                <a:blip r:embed="rId3"/>
                <a:stretch>
                  <a:fillRect l="-982" t="-2719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Rounded Rectangle 98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83569072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1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3400" y="3426154"/>
                <a:ext cx="18592800" cy="7696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marL="457200" lvl="1" algn="just">
                  <a:lnSpc>
                    <a:spcPct val="125000"/>
                  </a:lnSpc>
                </a:pPr>
                <a:r>
                  <a:rPr lang="en-US" sz="4800" b="1" dirty="0">
                    <a:solidFill>
                      <a:srgbClr val="FFC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7.25.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Khúc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cua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con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dạng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parabol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vi-VN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đầ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u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vào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khúc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cua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A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cuối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B,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khoảng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cách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4800" b="1" i="1">
                        <a:latin typeface="Cambria Math" panose="02040503050406030204" pitchFamily="18" charset="0"/>
                      </a:rPr>
                      <m:t>𝑨𝑩</m:t>
                    </m:r>
                    <m:r>
                      <a:rPr lang="fr-FR" sz="4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4800" b="1" i="1">
                        <a:latin typeface="Cambria Math" panose="02040503050406030204" pitchFamily="18" charset="0"/>
                      </a:rPr>
                      <m:t>𝟒𝟎𝟎</m:t>
                    </m:r>
                    <m:r>
                      <a:rPr lang="fr-FR" sz="4800" b="1" i="1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Đỉnh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parabol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(P)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khúc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cua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cách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4800" b="1" i="1">
                        <a:latin typeface="Cambria Math" panose="02040503050406030204" pitchFamily="18" charset="0"/>
                      </a:rPr>
                      <m:t>𝑨𝑩</m:t>
                    </m:r>
                  </m:oMath>
                </a14:m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khoảng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20 m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cách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đều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A, B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(H.7.34).</a:t>
                </a:r>
              </a:p>
              <a:p>
                <a:pPr marL="457200" algn="just">
                  <a:lnSpc>
                    <a:spcPct val="125000"/>
                  </a:lnSpc>
                </a:pP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Lập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chính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tắc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(P),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1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đơn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đo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phẳng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toạ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tương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ứng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1 m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thực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tế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457200" algn="just">
                  <a:lnSpc>
                    <a:spcPct val="125000"/>
                  </a:lnSpc>
                </a:pP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Lập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chính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tắc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cùa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(P),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1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đơn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đo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phẳng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toạ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tương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ứng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1 km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thực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tế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457200" lvl="1" algn="just">
                  <a:lnSpc>
                    <a:spcPct val="125000"/>
                  </a:lnSpc>
                </a:pPr>
                <a:r>
                  <a:rPr lang="en-US" sz="4800" b="1" dirty="0">
                    <a:solidFill>
                      <a:srgbClr val="FFC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endParaRPr lang="en-US" sz="48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3426154"/>
                <a:ext cx="18592800" cy="7696200"/>
              </a:xfrm>
              <a:prstGeom prst="rect">
                <a:avLst/>
              </a:prstGeom>
              <a:blipFill>
                <a:blip r:embed="rId3"/>
                <a:stretch>
                  <a:fillRect t="-632" r="-1442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C5EBDE18-F9CD-4FEA-8471-E18C7DBD2D39}"/>
              </a:ext>
            </a:extLst>
          </p:cNvPr>
          <p:cNvGrpSpPr/>
          <p:nvPr/>
        </p:nvGrpSpPr>
        <p:grpSpPr>
          <a:xfrm>
            <a:off x="7772401" y="1552521"/>
            <a:ext cx="5715000" cy="1081690"/>
            <a:chOff x="22440" y="59287"/>
            <a:chExt cx="976347" cy="19425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F0E9F2E-BCAA-4B78-9DAE-A52B2771E363}"/>
                </a:ext>
              </a:extLst>
            </p:cNvPr>
            <p:cNvGrpSpPr/>
            <p:nvPr/>
          </p:nvGrpSpPr>
          <p:grpSpPr>
            <a:xfrm>
              <a:off x="22440" y="59287"/>
              <a:ext cx="850471" cy="194251"/>
              <a:chOff x="31572" y="60276"/>
              <a:chExt cx="1196628" cy="240395"/>
            </a:xfrm>
          </p:grpSpPr>
          <p:sp>
            <p:nvSpPr>
              <p:cNvPr id="9" name="Arrow: Pentagon 8">
                <a:extLst>
                  <a:ext uri="{FF2B5EF4-FFF2-40B4-BE49-F238E27FC236}">
                    <a16:creationId xmlns:a16="http://schemas.microsoft.com/office/drawing/2014/main" id="{B8596493-2224-4712-8A6C-20C5F8414787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Arrow: Chevron 9">
                <a:extLst>
                  <a:ext uri="{FF2B5EF4-FFF2-40B4-BE49-F238E27FC236}">
                    <a16:creationId xmlns:a16="http://schemas.microsoft.com/office/drawing/2014/main" id="{87301ED1-CAC4-4F82-A4CB-203607300CFF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24033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11" name="Arrow: Chevron 10">
                <a:extLst>
                  <a:ext uri="{FF2B5EF4-FFF2-40B4-BE49-F238E27FC236}">
                    <a16:creationId xmlns:a16="http://schemas.microsoft.com/office/drawing/2014/main" id="{87EE6C7B-32EA-46DF-AC0F-E55CD4C12DFF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240330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p:grpSp>
        <p:sp>
          <p:nvSpPr>
            <p:cNvPr id="8" name="TextBox 56">
              <a:extLst>
                <a:ext uri="{FF2B5EF4-FFF2-40B4-BE49-F238E27FC236}">
                  <a16:creationId xmlns:a16="http://schemas.microsoft.com/office/drawing/2014/main" id="{023F66BC-ECEC-43C9-9D71-FAC24B5AF0B1}"/>
                </a:ext>
              </a:extLst>
            </p:cNvPr>
            <p:cNvSpPr txBox="1"/>
            <p:nvPr/>
          </p:nvSpPr>
          <p:spPr>
            <a:xfrm>
              <a:off x="271036" y="83816"/>
              <a:ext cx="727751" cy="15842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>
                  <a:solidFill>
                    <a:srgbClr val="FF0066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BÀI TẬP</a:t>
              </a:r>
              <a:endParaRPr lang="en-US" sz="4400">
                <a:solidFill>
                  <a:srgbClr val="FF0066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8161733-706E-4CDA-B68E-97595DBA9E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10547" y="2057400"/>
            <a:ext cx="3649839" cy="10433708"/>
          </a:xfrm>
          <a:prstGeom prst="rect">
            <a:avLst/>
          </a:prstGeom>
        </p:spPr>
      </p:pic>
      <p:sp>
        <p:nvSpPr>
          <p:cNvPr id="99" name="Rounded Rectangle 98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55069975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533400" y="2773449"/>
            <a:ext cx="18592800" cy="1907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pPr marL="457200" lvl="1" algn="just">
              <a:lnSpc>
                <a:spcPct val="125000"/>
              </a:lnSpc>
            </a:pPr>
            <a:r>
              <a:rPr lang="en-US" sz="4800" b="1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7.25. </a:t>
            </a:r>
            <a:r>
              <a:rPr lang="en-US" sz="4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a)Lập phương trình chính tắc của (P), với 1 đơn vị đo trong mặt phẳng toạ độ tương ứng 1 m trên thực tế.</a:t>
            </a:r>
          </a:p>
          <a:p>
            <a:pPr marL="457200" lvl="1" algn="just">
              <a:lnSpc>
                <a:spcPct val="125000"/>
              </a:lnSpc>
            </a:pPr>
            <a:r>
              <a:rPr lang="en-US" sz="4800" b="1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US" sz="48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5EBDE18-F9CD-4FEA-8471-E18C7DBD2D39}"/>
              </a:ext>
            </a:extLst>
          </p:cNvPr>
          <p:cNvGrpSpPr/>
          <p:nvPr/>
        </p:nvGrpSpPr>
        <p:grpSpPr>
          <a:xfrm>
            <a:off x="7772401" y="1552521"/>
            <a:ext cx="5715000" cy="1081690"/>
            <a:chOff x="22440" y="59287"/>
            <a:chExt cx="976347" cy="19425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F0E9F2E-BCAA-4B78-9DAE-A52B2771E363}"/>
                </a:ext>
              </a:extLst>
            </p:cNvPr>
            <p:cNvGrpSpPr/>
            <p:nvPr/>
          </p:nvGrpSpPr>
          <p:grpSpPr>
            <a:xfrm>
              <a:off x="22440" y="59287"/>
              <a:ext cx="850471" cy="194251"/>
              <a:chOff x="31572" y="60276"/>
              <a:chExt cx="1196628" cy="240395"/>
            </a:xfrm>
          </p:grpSpPr>
          <p:sp>
            <p:nvSpPr>
              <p:cNvPr id="9" name="Arrow: Pentagon 8">
                <a:extLst>
                  <a:ext uri="{FF2B5EF4-FFF2-40B4-BE49-F238E27FC236}">
                    <a16:creationId xmlns:a16="http://schemas.microsoft.com/office/drawing/2014/main" id="{B8596493-2224-4712-8A6C-20C5F8414787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25000"/>
                  </a:lnSpc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Arrow: Chevron 9">
                <a:extLst>
                  <a:ext uri="{FF2B5EF4-FFF2-40B4-BE49-F238E27FC236}">
                    <a16:creationId xmlns:a16="http://schemas.microsoft.com/office/drawing/2014/main" id="{87301ED1-CAC4-4F82-A4CB-203607300CFF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24033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5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11" name="Arrow: Chevron 10">
                <a:extLst>
                  <a:ext uri="{FF2B5EF4-FFF2-40B4-BE49-F238E27FC236}">
                    <a16:creationId xmlns:a16="http://schemas.microsoft.com/office/drawing/2014/main" id="{87EE6C7B-32EA-46DF-AC0F-E55CD4C12DFF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240330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5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p:grpSp>
        <p:sp>
          <p:nvSpPr>
            <p:cNvPr id="8" name="TextBox 56">
              <a:extLst>
                <a:ext uri="{FF2B5EF4-FFF2-40B4-BE49-F238E27FC236}">
                  <a16:creationId xmlns:a16="http://schemas.microsoft.com/office/drawing/2014/main" id="{023F66BC-ECEC-43C9-9D71-FAC24B5AF0B1}"/>
                </a:ext>
              </a:extLst>
            </p:cNvPr>
            <p:cNvSpPr txBox="1"/>
            <p:nvPr/>
          </p:nvSpPr>
          <p:spPr>
            <a:xfrm>
              <a:off x="271036" y="83816"/>
              <a:ext cx="727751" cy="15842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4400" b="1">
                  <a:solidFill>
                    <a:srgbClr val="FF0066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BÀI TẬP</a:t>
              </a:r>
              <a:endParaRPr lang="en-US" sz="4400">
                <a:solidFill>
                  <a:srgbClr val="FF0066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8161733-706E-4CDA-B68E-97595DBA9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0761" y="2069271"/>
            <a:ext cx="3649839" cy="104337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4A92AE4A-42CD-44CA-8D2D-0A2C9F4CC4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5155827"/>
                <a:ext cx="18592800" cy="7376335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ctr">
                  <a:lnSpc>
                    <a:spcPct val="125000"/>
                  </a:lnSpc>
                  <a:buNone/>
                </a:pPr>
                <a:r>
                  <a:rPr lang="en-US" b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endParaRPr lang="en-US" b="1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tắc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𝑷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):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fr-F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𝒑𝒙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25000"/>
                  </a:lnSpc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𝟐𝟎𝟎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𝟐𝟎𝟎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>
                  <a:lnSpc>
                    <a:spcPct val="125000"/>
                  </a:lnSpc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Do (P)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qua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𝟐𝟎𝟎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suy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ra</a:t>
                </a: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b="1" i="1"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fr-F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𝒑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(−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𝟐𝟎𝟎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)⇔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𝟒𝟎𝟎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𝟒𝟎𝟎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𝒑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𝒑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25000"/>
                  </a:lnSpc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𝑷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):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fr-FR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4A92AE4A-42CD-44CA-8D2D-0A2C9F4CC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155827"/>
                <a:ext cx="18592800" cy="7376335"/>
              </a:xfrm>
              <a:prstGeom prst="rect">
                <a:avLst/>
              </a:prstGeom>
              <a:blipFill>
                <a:blip r:embed="rId4"/>
                <a:stretch>
                  <a:fillRect l="-1474" t="-660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Rounded Rectangle 98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81080199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1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533400" y="2773449"/>
            <a:ext cx="18592800" cy="1907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pPr marL="457200" lvl="1" algn="just">
              <a:lnSpc>
                <a:spcPct val="125000"/>
              </a:lnSpc>
            </a:pPr>
            <a:r>
              <a:rPr lang="en-US" sz="4800" b="1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7.25. </a:t>
            </a:r>
            <a:r>
              <a:rPr lang="en-US" sz="4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b)Lập phương trình chính tắc cùa (P), với 1 đơn vị đo trong mặt phẳng toạ độ tương ứng 1 km trên thực tế.</a:t>
            </a:r>
            <a:r>
              <a:rPr lang="en-US" sz="4800" b="1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US" sz="48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5EBDE18-F9CD-4FEA-8471-E18C7DBD2D39}"/>
              </a:ext>
            </a:extLst>
          </p:cNvPr>
          <p:cNvGrpSpPr/>
          <p:nvPr/>
        </p:nvGrpSpPr>
        <p:grpSpPr>
          <a:xfrm>
            <a:off x="7772401" y="1552521"/>
            <a:ext cx="5715000" cy="1081690"/>
            <a:chOff x="22440" y="59287"/>
            <a:chExt cx="976347" cy="19425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F0E9F2E-BCAA-4B78-9DAE-A52B2771E363}"/>
                </a:ext>
              </a:extLst>
            </p:cNvPr>
            <p:cNvGrpSpPr/>
            <p:nvPr/>
          </p:nvGrpSpPr>
          <p:grpSpPr>
            <a:xfrm>
              <a:off x="22440" y="59287"/>
              <a:ext cx="850471" cy="194251"/>
              <a:chOff x="31572" y="60276"/>
              <a:chExt cx="1196628" cy="240395"/>
            </a:xfrm>
          </p:grpSpPr>
          <p:sp>
            <p:nvSpPr>
              <p:cNvPr id="9" name="Arrow: Pentagon 8">
                <a:extLst>
                  <a:ext uri="{FF2B5EF4-FFF2-40B4-BE49-F238E27FC236}">
                    <a16:creationId xmlns:a16="http://schemas.microsoft.com/office/drawing/2014/main" id="{B8596493-2224-4712-8A6C-20C5F8414787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25000"/>
                  </a:lnSpc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Arrow: Chevron 9">
                <a:extLst>
                  <a:ext uri="{FF2B5EF4-FFF2-40B4-BE49-F238E27FC236}">
                    <a16:creationId xmlns:a16="http://schemas.microsoft.com/office/drawing/2014/main" id="{87301ED1-CAC4-4F82-A4CB-203607300CFF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24033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5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11" name="Arrow: Chevron 10">
                <a:extLst>
                  <a:ext uri="{FF2B5EF4-FFF2-40B4-BE49-F238E27FC236}">
                    <a16:creationId xmlns:a16="http://schemas.microsoft.com/office/drawing/2014/main" id="{87EE6C7B-32EA-46DF-AC0F-E55CD4C12DFF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240330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5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p:grpSp>
        <p:sp>
          <p:nvSpPr>
            <p:cNvPr id="8" name="TextBox 56">
              <a:extLst>
                <a:ext uri="{FF2B5EF4-FFF2-40B4-BE49-F238E27FC236}">
                  <a16:creationId xmlns:a16="http://schemas.microsoft.com/office/drawing/2014/main" id="{023F66BC-ECEC-43C9-9D71-FAC24B5AF0B1}"/>
                </a:ext>
              </a:extLst>
            </p:cNvPr>
            <p:cNvSpPr txBox="1"/>
            <p:nvPr/>
          </p:nvSpPr>
          <p:spPr>
            <a:xfrm>
              <a:off x="271036" y="83816"/>
              <a:ext cx="727751" cy="15842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4400" b="1">
                  <a:solidFill>
                    <a:srgbClr val="FF0066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BÀI TẬP</a:t>
              </a:r>
              <a:endParaRPr lang="en-US" sz="4400">
                <a:solidFill>
                  <a:srgbClr val="FF0066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8161733-706E-4CDA-B68E-97595DBA9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0761" y="2069271"/>
            <a:ext cx="3649839" cy="104337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4A92AE4A-42CD-44CA-8D2D-0A2C9F4CC4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3400" y="5126644"/>
                <a:ext cx="18592800" cy="690024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ctr">
                  <a:lnSpc>
                    <a:spcPct val="125000"/>
                  </a:lnSpc>
                  <a:buNone/>
                </a:pPr>
                <a:r>
                  <a:rPr lang="en-US" b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endParaRPr lang="en-US" b="1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lvl="0" indent="0">
                  <a:lnSpc>
                    <a:spcPct val="125000"/>
                  </a:lnSpc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tắc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𝑷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):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fr-F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𝒑𝒙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25000"/>
                  </a:lnSpc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>
                  <a:lnSpc>
                    <a:spcPct val="125000"/>
                  </a:lnSpc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Do (P)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qua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suy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ra </a:t>
                </a:r>
              </a:p>
              <a:p>
                <a:pPr marL="0" indent="0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𝟎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fr-FR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)⇔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𝟎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fr-FR" b="1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𝟎𝟎𝟏</m:t>
                      </m:r>
                    </m:oMath>
                  </m:oMathPara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25000"/>
                  </a:lnSpc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𝑷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):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fr-FR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𝟎𝟎𝟐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4A92AE4A-42CD-44CA-8D2D-0A2C9F4CC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5126644"/>
                <a:ext cx="18592800" cy="6900246"/>
              </a:xfrm>
              <a:prstGeom prst="rect">
                <a:avLst/>
              </a:prstGeom>
              <a:blipFill>
                <a:blip r:embed="rId4"/>
                <a:stretch>
                  <a:fillRect l="-1474" t="-70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Rounded Rectangle 98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64733118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1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381000" y="6324600"/>
            <a:ext cx="23622000" cy="7024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pPr algn="just"/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Hệ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thống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định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trên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mặt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đất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LORAN (Long Range Navigation)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hoạt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động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dựa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trên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nguyên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lí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đo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sự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chênh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lệch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thời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gian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tiếp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nhận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hiệu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sử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dụng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tính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chất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hypebol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đề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xác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định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trí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nơi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nhận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hiệu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Ta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thể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hình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dung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tình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huống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đơn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giản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như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Hai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trạm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phát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sóng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radio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đặt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tại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hai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trí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xác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định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A,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B,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cùng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lúc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phát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hiệu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tàu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thuỷ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đo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lệch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về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thời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gian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tiếp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nhận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Từ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vận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tốc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truyền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sóng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thể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xác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đị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hiệu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khoảng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cách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từ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tàu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thuỷ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đến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trí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A,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Như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vậy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tàu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thuỷ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nằm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trên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nhánh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hypebol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hoàn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toàn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xác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định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Tương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tự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nếu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trạm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phát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sóng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thứ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 (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hoặc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cặp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trạm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C, D),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thì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cặp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trạm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phát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sóng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A, C (hay C, D),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cũng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phép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ta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xác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định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nhánh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hypebol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qua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trí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tàu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thuỷ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Do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đó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trí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tàu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thuỷ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xác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định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như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giao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điểm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hai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nhánh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hypebol</a:t>
            </a:r>
            <a:r>
              <a:rPr lang="en-US" sz="4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(H.7.35a).</a:t>
            </a:r>
          </a:p>
          <a:p>
            <a:pPr algn="just"/>
            <a:endParaRPr lang="en-US" sz="46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5EBDE18-F9CD-4FEA-8471-E18C7DBD2D39}"/>
              </a:ext>
            </a:extLst>
          </p:cNvPr>
          <p:cNvGrpSpPr/>
          <p:nvPr/>
        </p:nvGrpSpPr>
        <p:grpSpPr>
          <a:xfrm>
            <a:off x="381000" y="2194684"/>
            <a:ext cx="6634465" cy="1081690"/>
            <a:chOff x="22440" y="59287"/>
            <a:chExt cx="955136" cy="19425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F0E9F2E-BCAA-4B78-9DAE-A52B2771E363}"/>
                </a:ext>
              </a:extLst>
            </p:cNvPr>
            <p:cNvGrpSpPr/>
            <p:nvPr/>
          </p:nvGrpSpPr>
          <p:grpSpPr>
            <a:xfrm>
              <a:off x="22440" y="59287"/>
              <a:ext cx="850471" cy="194251"/>
              <a:chOff x="31572" y="60276"/>
              <a:chExt cx="1196628" cy="240395"/>
            </a:xfrm>
          </p:grpSpPr>
          <p:sp>
            <p:nvSpPr>
              <p:cNvPr id="9" name="Arrow: Pentagon 8">
                <a:extLst>
                  <a:ext uri="{FF2B5EF4-FFF2-40B4-BE49-F238E27FC236}">
                    <a16:creationId xmlns:a16="http://schemas.microsoft.com/office/drawing/2014/main" id="{B8596493-2224-4712-8A6C-20C5F8414787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238564"/>
              </a:xfrm>
              <a:prstGeom prst="homePlate">
                <a:avLst/>
              </a:prstGeom>
              <a:solidFill>
                <a:srgbClr val="FCFFEF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Arrow: Chevron 9">
                <a:extLst>
                  <a:ext uri="{FF2B5EF4-FFF2-40B4-BE49-F238E27FC236}">
                    <a16:creationId xmlns:a16="http://schemas.microsoft.com/office/drawing/2014/main" id="{87301ED1-CAC4-4F82-A4CB-203607300CFF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24033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11" name="Arrow: Chevron 10">
                <a:extLst>
                  <a:ext uri="{FF2B5EF4-FFF2-40B4-BE49-F238E27FC236}">
                    <a16:creationId xmlns:a16="http://schemas.microsoft.com/office/drawing/2014/main" id="{87EE6C7B-32EA-46DF-AC0F-E55CD4C12DFF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240330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p:grpSp>
        <p:sp>
          <p:nvSpPr>
            <p:cNvPr id="8" name="TextBox 56">
              <a:extLst>
                <a:ext uri="{FF2B5EF4-FFF2-40B4-BE49-F238E27FC236}">
                  <a16:creationId xmlns:a16="http://schemas.microsoft.com/office/drawing/2014/main" id="{023F66BC-ECEC-43C9-9D71-FAC24B5AF0B1}"/>
                </a:ext>
              </a:extLst>
            </p:cNvPr>
            <p:cNvSpPr txBox="1"/>
            <p:nvPr/>
          </p:nvSpPr>
          <p:spPr>
            <a:xfrm>
              <a:off x="249825" y="77172"/>
              <a:ext cx="727751" cy="15842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>
                  <a:solidFill>
                    <a:srgbClr val="FF0066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EM C</a:t>
              </a:r>
              <a:r>
                <a:rPr lang="en-US" sz="4400" b="1">
                  <a:solidFill>
                    <a:srgbClr val="FF0066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Ó BIẾT ?</a:t>
              </a:r>
              <a:endParaRPr lang="en-US" sz="4400">
                <a:solidFill>
                  <a:srgbClr val="FF0066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4A6AF98-04EC-4A42-9532-73BEC8E2A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5" y="3414349"/>
            <a:ext cx="3641304" cy="2771983"/>
          </a:xfrm>
          <a:prstGeom prst="rect">
            <a:avLst/>
          </a:prstGeom>
        </p:spPr>
      </p:pic>
      <p:pic>
        <p:nvPicPr>
          <p:cNvPr id="13" name="Picutre 495" descr="A picture containing clipart&#10;&#10;Description automatically generated">
            <a:extLst>
              <a:ext uri="{FF2B5EF4-FFF2-40B4-BE49-F238E27FC236}">
                <a16:creationId xmlns:a16="http://schemas.microsoft.com/office/drawing/2014/main" id="{031B113D-7B74-47DE-ADDD-DD69772FE630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015465" y="1523999"/>
            <a:ext cx="16959233" cy="4662333"/>
          </a:xfrm>
          <a:prstGeom prst="rect">
            <a:avLst/>
          </a:prstGeom>
        </p:spPr>
      </p:pic>
      <p:sp>
        <p:nvSpPr>
          <p:cNvPr id="99" name="Rounded Rectangle 98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9998020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381000" y="1878468"/>
            <a:ext cx="23622000" cy="110755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pPr algn="just">
              <a:lnSpc>
                <a:spcPct val="120000"/>
              </a:lnSpc>
            </a:pP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Nền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tảng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toán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học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ứng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dụng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trên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đã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biết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đến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từ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hơn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2 000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năm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trước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Bài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toán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xác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định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tròn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tiếp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xúc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với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tròn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trước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đã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đặt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ra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nghiên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cứu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bởi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Apollonius (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khoảng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262-190, TCN).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Hình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7.35c,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với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tròn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màu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đen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trước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đôi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ngoài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nhau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tám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tròn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tiếp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xúc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với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cả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tròn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đó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mà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ta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thể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đếm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trên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hình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vẽ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Nói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chung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bài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toán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Apollonius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tám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nghiệm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hình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tuy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vậy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trường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hợp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đặc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biệt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nghiệm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thể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khác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Hình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7.35b,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với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tròn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đôi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tiếp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xúc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ngoài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với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nhau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trước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hình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tròn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tô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cùng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màu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),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hai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tròn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tiếp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xúc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với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chúng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Gọi</a:t>
            </a:r>
            <a:r>
              <a:rPr lang="vi-VN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45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lang="vi-VN" sz="4500" b="1" i="1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</a:t>
            </a:r>
            <a:r>
              <a:rPr lang="vi-VN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45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lang="en-US" sz="4500" b="1" i="1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vi-VN" sz="4500" b="1" i="1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lang="vi-VN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lang="en-US" sz="4500" b="1" i="1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bán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kính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tròn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trước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Hình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7.35b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r, R (r&lt; </a:t>
            </a:r>
            <a:r>
              <a:rPr lang="en-US" sz="45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R)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bán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kính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hai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tròn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nghiệm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Năm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1643,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bức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thư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gửi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công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chúa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Elisabeth (1618 - 1680), Descartes (1596-1650)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đã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đưa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ra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công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thức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phép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bán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kính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tròn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nghiệm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theo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tròn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đã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sz="4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FD0651-376A-439D-9129-9BD938A6B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7C75392-6AEA-45F4-9EBC-284948C905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47C75392-6AEA-45F4-9EBC-284948C905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7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>
            <a:extLst>
              <a:ext uri="{FF2B5EF4-FFF2-40B4-BE49-F238E27FC236}">
                <a16:creationId xmlns:a16="http://schemas.microsoft.com/office/drawing/2014/main" id="{69512FD8-707D-41A3-9234-536378A8E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78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Chu Van An"/>
              </a:rPr>
              <a:t>r1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FEE6FF83-A496-4C70-B5A4-E5CCA1029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0A37A4F5-C461-4B29-9270-E9F78E5740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" y="152400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Equation" r:id="rId6" imgW="114102" imgH="177492" progId="Equation.DSMT4">
                  <p:embed/>
                </p:oleObj>
              </mc:Choice>
              <mc:Fallback>
                <p:oleObj name="Equation" r:id="rId6" imgW="114102" imgH="177492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0A37A4F5-C461-4B29-9270-E9F78E5740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52400"/>
                        <a:ext cx="114300" cy="17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>
            <a:extLst>
              <a:ext uri="{FF2B5EF4-FFF2-40B4-BE49-F238E27FC236}">
                <a16:creationId xmlns:a16="http://schemas.microsoft.com/office/drawing/2014/main" id="{DE6C2316-74E4-4921-BA16-4463C0354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302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Chu Van An" charset="0"/>
              </a:rPr>
              <a:t>r1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408680800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6110" y="2331146"/>
                <a:ext cx="20745745" cy="995906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algn="just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5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4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45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45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4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45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45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45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45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45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4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45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45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45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45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45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4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45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45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45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45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45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45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45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4500" i="1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US" sz="4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45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5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sz="45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45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45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45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  <m:r>
                            <a:rPr lang="en-US" sz="45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45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5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sz="45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45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45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45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  <m:r>
                            <a:rPr lang="en-US" sz="45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45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5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sz="45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45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45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45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  <m:r>
                            <a:rPr lang="en-US" sz="45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45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5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45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45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sz="45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sz="45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vi-VN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           và</a:t>
                </a:r>
                <a14:m>
                  <m:oMath xmlns:m="http://schemas.openxmlformats.org/officeDocument/2006/math">
                    <m:r>
                      <a:rPr lang="vi-VN" sz="4500" b="1" i="0" smtClean="0">
                        <a:latin typeface="Cambria Math" panose="02040503050406030204" pitchFamily="18" charset="0"/>
                      </a:rPr>
                      <m:t>     </m:t>
                    </m:r>
                    <m:sSup>
                      <m:sSupPr>
                        <m:ctrlPr>
                          <a:rPr lang="en-US" sz="4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45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5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5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45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45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5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45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45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5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45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45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5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45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45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500" i="1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sz="4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5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5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Sup>
                              <m:sSubSupPr>
                                <m:ctrlPr>
                                  <a:rPr lang="en-US" sz="45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45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45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45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r>
                          <a:rPr lang="en-US" sz="45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45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5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Sup>
                              <m:sSubSupPr>
                                <m:ctrlPr>
                                  <a:rPr lang="en-US" sz="45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45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45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45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r>
                          <a:rPr lang="en-US" sz="45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45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5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Sup>
                              <m:sSubSupPr>
                                <m:ctrlPr>
                                  <a:rPr lang="en-US" sz="45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45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45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45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r>
                          <a:rPr lang="en-US" sz="45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45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5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45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5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en-US" sz="45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vi-VN" sz="45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endParaRPr lang="en-US" sz="45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lí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Descartes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còn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phát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hiện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cách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độc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lập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bởi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Steiner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năm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1826, Beecroft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năm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1842, Soddy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năm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1936. Soddy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đã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công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bố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phát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hiện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mình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tạp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chí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Nature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dưới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dạng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bài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thơ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tên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“The Kiss Precise”.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thông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tin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cũng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cập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bài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báo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Coxter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tạp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chí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American Mathematical Monthly,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75,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năm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1968.</a:t>
                </a:r>
              </a:p>
              <a:p>
                <a:endParaRPr lang="en-US" sz="4300" dirty="0"/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110" y="2331146"/>
                <a:ext cx="20745745" cy="9959064"/>
              </a:xfrm>
              <a:prstGeom prst="rect">
                <a:avLst/>
              </a:prstGeom>
              <a:blipFill>
                <a:blip r:embed="rId3"/>
                <a:stretch>
                  <a:fillRect l="-1145" r="-1116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C5EBDE18-F9CD-4FEA-8471-E18C7DBD2D39}"/>
              </a:ext>
            </a:extLst>
          </p:cNvPr>
          <p:cNvGrpSpPr/>
          <p:nvPr/>
        </p:nvGrpSpPr>
        <p:grpSpPr>
          <a:xfrm>
            <a:off x="7848600" y="1177273"/>
            <a:ext cx="6634465" cy="1081690"/>
            <a:chOff x="22440" y="59287"/>
            <a:chExt cx="955136" cy="19425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F0E9F2E-BCAA-4B78-9DAE-A52B2771E363}"/>
                </a:ext>
              </a:extLst>
            </p:cNvPr>
            <p:cNvGrpSpPr/>
            <p:nvPr/>
          </p:nvGrpSpPr>
          <p:grpSpPr>
            <a:xfrm>
              <a:off x="22440" y="59287"/>
              <a:ext cx="850471" cy="194251"/>
              <a:chOff x="31572" y="60276"/>
              <a:chExt cx="1196628" cy="240395"/>
            </a:xfrm>
          </p:grpSpPr>
          <p:sp>
            <p:nvSpPr>
              <p:cNvPr id="9" name="Arrow: Pentagon 8">
                <a:extLst>
                  <a:ext uri="{FF2B5EF4-FFF2-40B4-BE49-F238E27FC236}">
                    <a16:creationId xmlns:a16="http://schemas.microsoft.com/office/drawing/2014/main" id="{B8596493-2224-4712-8A6C-20C5F8414787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238564"/>
              </a:xfrm>
              <a:prstGeom prst="homePlate">
                <a:avLst/>
              </a:prstGeom>
              <a:solidFill>
                <a:srgbClr val="FCFFEF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Arrow: Chevron 9">
                <a:extLst>
                  <a:ext uri="{FF2B5EF4-FFF2-40B4-BE49-F238E27FC236}">
                    <a16:creationId xmlns:a16="http://schemas.microsoft.com/office/drawing/2014/main" id="{87301ED1-CAC4-4F82-A4CB-203607300CFF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24033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11" name="Arrow: Chevron 10">
                <a:extLst>
                  <a:ext uri="{FF2B5EF4-FFF2-40B4-BE49-F238E27FC236}">
                    <a16:creationId xmlns:a16="http://schemas.microsoft.com/office/drawing/2014/main" id="{87EE6C7B-32EA-46DF-AC0F-E55CD4C12DFF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240330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p:grpSp>
        <p:sp>
          <p:nvSpPr>
            <p:cNvPr id="8" name="TextBox 56">
              <a:extLst>
                <a:ext uri="{FF2B5EF4-FFF2-40B4-BE49-F238E27FC236}">
                  <a16:creationId xmlns:a16="http://schemas.microsoft.com/office/drawing/2014/main" id="{023F66BC-ECEC-43C9-9D71-FAC24B5AF0B1}"/>
                </a:ext>
              </a:extLst>
            </p:cNvPr>
            <p:cNvSpPr txBox="1"/>
            <p:nvPr/>
          </p:nvSpPr>
          <p:spPr>
            <a:xfrm>
              <a:off x="249825" y="77172"/>
              <a:ext cx="727751" cy="15842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>
                  <a:solidFill>
                    <a:srgbClr val="FF0066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EM C</a:t>
              </a:r>
              <a:r>
                <a:rPr lang="en-US" sz="4400" b="1">
                  <a:solidFill>
                    <a:srgbClr val="FF0066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Ó BIẾT ?</a:t>
              </a:r>
              <a:endParaRPr lang="en-US" sz="4400">
                <a:solidFill>
                  <a:srgbClr val="FF0066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4A6AF98-04EC-4A42-9532-73BEC8E2AE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86162" y="1425790"/>
            <a:ext cx="2931727" cy="2231810"/>
          </a:xfrm>
          <a:prstGeom prst="rect">
            <a:avLst/>
          </a:prstGeom>
        </p:spPr>
      </p:pic>
      <p:sp>
        <p:nvSpPr>
          <p:cNvPr id="99" name="Rounded Rectangle 98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4190682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573473" y="2895600"/>
            <a:ext cx="20612689" cy="6809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pPr algn="just">
              <a:lnSpc>
                <a:spcPct val="120000"/>
              </a:lnSpc>
            </a:pP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Bài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toán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Apollonius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còn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hiểu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theo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nghĩa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rộng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hơn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ở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đó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trước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thể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tròn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thẳng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hay </a:t>
            </a:r>
            <a:r>
              <a:rPr lang="vi-VN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điể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m. </a:t>
            </a:r>
            <a:r>
              <a:rPr lang="vi-VN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Để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tròn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tiếp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xúc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ngoài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tiếp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xúc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với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hai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tròn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trước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thì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tâm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nó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phải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thuộc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nhánh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hypebol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hoặc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elip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 Do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đó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việc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xác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định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tâm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tròn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nghiệm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bài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toán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Apollonius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thể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chuyể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bài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toán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xác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định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giao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hai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conic. Ta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hoàn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toàn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thể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nhìn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ra </a:t>
            </a:r>
            <a:r>
              <a:rPr lang="vi-VN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mố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liên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hệ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giữa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bài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toán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Apollonius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với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Ví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3,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Vận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dụng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Bài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22,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cũng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như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bài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toán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định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hệ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thống</a:t>
            </a:r>
            <a:r>
              <a:rPr lang="en-US" sz="4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LORAN.</a:t>
            </a:r>
          </a:p>
          <a:p>
            <a:endParaRPr lang="en-US" sz="43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5EBDE18-F9CD-4FEA-8471-E18C7DBD2D39}"/>
              </a:ext>
            </a:extLst>
          </p:cNvPr>
          <p:cNvGrpSpPr/>
          <p:nvPr/>
        </p:nvGrpSpPr>
        <p:grpSpPr>
          <a:xfrm>
            <a:off x="7848600" y="1177273"/>
            <a:ext cx="6634465" cy="1081690"/>
            <a:chOff x="22440" y="59287"/>
            <a:chExt cx="955136" cy="19425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F0E9F2E-BCAA-4B78-9DAE-A52B2771E363}"/>
                </a:ext>
              </a:extLst>
            </p:cNvPr>
            <p:cNvGrpSpPr/>
            <p:nvPr/>
          </p:nvGrpSpPr>
          <p:grpSpPr>
            <a:xfrm>
              <a:off x="22440" y="59287"/>
              <a:ext cx="850471" cy="194251"/>
              <a:chOff x="31572" y="60276"/>
              <a:chExt cx="1196628" cy="240395"/>
            </a:xfrm>
          </p:grpSpPr>
          <p:sp>
            <p:nvSpPr>
              <p:cNvPr id="9" name="Arrow: Pentagon 8">
                <a:extLst>
                  <a:ext uri="{FF2B5EF4-FFF2-40B4-BE49-F238E27FC236}">
                    <a16:creationId xmlns:a16="http://schemas.microsoft.com/office/drawing/2014/main" id="{B8596493-2224-4712-8A6C-20C5F8414787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238564"/>
              </a:xfrm>
              <a:prstGeom prst="homePlate">
                <a:avLst/>
              </a:prstGeom>
              <a:solidFill>
                <a:srgbClr val="FCFFEF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Arrow: Chevron 9">
                <a:extLst>
                  <a:ext uri="{FF2B5EF4-FFF2-40B4-BE49-F238E27FC236}">
                    <a16:creationId xmlns:a16="http://schemas.microsoft.com/office/drawing/2014/main" id="{87301ED1-CAC4-4F82-A4CB-203607300CFF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24033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11" name="Arrow: Chevron 10">
                <a:extLst>
                  <a:ext uri="{FF2B5EF4-FFF2-40B4-BE49-F238E27FC236}">
                    <a16:creationId xmlns:a16="http://schemas.microsoft.com/office/drawing/2014/main" id="{87EE6C7B-32EA-46DF-AC0F-E55CD4C12DFF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240330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p:grpSp>
        <p:sp>
          <p:nvSpPr>
            <p:cNvPr id="8" name="TextBox 56">
              <a:extLst>
                <a:ext uri="{FF2B5EF4-FFF2-40B4-BE49-F238E27FC236}">
                  <a16:creationId xmlns:a16="http://schemas.microsoft.com/office/drawing/2014/main" id="{023F66BC-ECEC-43C9-9D71-FAC24B5AF0B1}"/>
                </a:ext>
              </a:extLst>
            </p:cNvPr>
            <p:cNvSpPr txBox="1"/>
            <p:nvPr/>
          </p:nvSpPr>
          <p:spPr>
            <a:xfrm>
              <a:off x="249825" y="77172"/>
              <a:ext cx="727751" cy="15842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>
                  <a:solidFill>
                    <a:srgbClr val="FF0066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EM C</a:t>
              </a:r>
              <a:r>
                <a:rPr lang="en-US" sz="4400" b="1">
                  <a:solidFill>
                    <a:srgbClr val="FF0066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Ó BIẾT ?</a:t>
              </a:r>
              <a:endParaRPr lang="en-US" sz="4400">
                <a:solidFill>
                  <a:srgbClr val="FF0066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4A6AF98-04EC-4A42-9532-73BEC8E2A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6162" y="1425790"/>
            <a:ext cx="2931727" cy="2231810"/>
          </a:xfrm>
          <a:prstGeom prst="rect">
            <a:avLst/>
          </a:prstGeom>
        </p:spPr>
      </p:pic>
      <p:sp>
        <p:nvSpPr>
          <p:cNvPr id="99" name="Rounded Rectangle 98"/>
          <p:cNvSpPr/>
          <p:nvPr/>
        </p:nvSpPr>
        <p:spPr>
          <a:xfrm>
            <a:off x="256000" y="1078992"/>
            <a:ext cx="23872000" cy="1252728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222248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94816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07228813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8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7&quot;/&gt;&lt;/object&gt;&lt;object type=&quot;3&quot; unique_id=&quot;10004&quot;&gt;&lt;property id=&quot;20148&quot; value=&quot;5&quot;/&gt;&lt;property id=&quot;20300&quot; value=&quot;Slide 2&quot;/&gt;&lt;property id=&quot;20307&quot; value=&quot;258&quot;/&gt;&lt;/object&gt;&lt;object type=&quot;3&quot; unique_id=&quot;10005&quot;&gt;&lt;property id=&quot;20148&quot; value=&quot;5&quot;/&gt;&lt;property id=&quot;20300&quot; value=&quot;Slide 3&quot;/&gt;&lt;property id=&quot;20307&quot; value=&quot;259&quot;/&gt;&lt;/object&gt;&lt;object type=&quot;3&quot; unique_id=&quot;10006&quot;&gt;&lt;property id=&quot;20148&quot; value=&quot;5&quot;/&gt;&lt;property id=&quot;20300&quot; value=&quot;Slide 4&quot;/&gt;&lt;property id=&quot;20307&quot; value=&quot;260&quot;/&gt;&lt;/object&gt;&lt;object type=&quot;3&quot; unique_id=&quot;10007&quot;&gt;&lt;property id=&quot;20148&quot; value=&quot;5&quot;/&gt;&lt;property id=&quot;20300&quot; value=&quot;Slide 5&quot;/&gt;&lt;property id=&quot;20307&quot; value=&quot;262&quot;/&gt;&lt;/object&gt;&lt;object type=&quot;3&quot; unique_id=&quot;10008&quot;&gt;&lt;property id=&quot;20148&quot; value=&quot;5&quot;/&gt;&lt;property id=&quot;20300&quot; value=&quot;Slide 6&quot;/&gt;&lt;property id=&quot;20307&quot; value=&quot;263&quot;/&gt;&lt;/object&gt;&lt;object type=&quot;3&quot; unique_id=&quot;10009&quot;&gt;&lt;property id=&quot;20148&quot; value=&quot;5&quot;/&gt;&lt;property id=&quot;20300&quot; value=&quot;Slide 7&quot;/&gt;&lt;property id=&quot;20307&quot; value=&quot;264&quot;/&gt;&lt;/object&gt;&lt;object type=&quot;3&quot; unique_id=&quot;10010&quot;&gt;&lt;property id=&quot;20148&quot; value=&quot;5&quot;/&gt;&lt;property id=&quot;20300&quot; value=&quot;Slide 8&quot;/&gt;&lt;property id=&quot;20307&quot; value=&quot;265&quot;/&gt;&lt;/object&gt;&lt;object type=&quot;3&quot; unique_id=&quot;10011&quot;&gt;&lt;property id=&quot;20148&quot; value=&quot;5&quot;/&gt;&lt;property id=&quot;20300&quot; value=&quot;Slide 9&quot;/&gt;&lt;property id=&quot;20307&quot; value=&quot;266&quot;/&gt;&lt;/object&gt;&lt;object type=&quot;3&quot; unique_id=&quot;10012&quot;&gt;&lt;property id=&quot;20148&quot; value=&quot;5&quot;/&gt;&lt;property id=&quot;20300&quot; value=&quot;Slide 10&quot;/&gt;&lt;property id=&quot;20307&quot; value=&quot;267&quot;/&gt;&lt;/object&gt;&lt;object type=&quot;3&quot; unique_id=&quot;10013&quot;&gt;&lt;property id=&quot;20148&quot; value=&quot;5&quot;/&gt;&lt;property id=&quot;20300&quot; value=&quot;Slide 11&quot;/&gt;&lt;property id=&quot;20307&quot; value=&quot;269&quot;/&gt;&lt;/object&gt;&lt;object type=&quot;3&quot; unique_id=&quot;10014&quot;&gt;&lt;property id=&quot;20148&quot; value=&quot;5&quot;/&gt;&lt;property id=&quot;20300&quot; value=&quot;Slide 12&quot;/&gt;&lt;property id=&quot;20307&quot; value=&quot;270&quot;/&gt;&lt;/object&gt;&lt;object type=&quot;3&quot; unique_id=&quot;10015&quot;&gt;&lt;property id=&quot;20148&quot; value=&quot;5&quot;/&gt;&lt;property id=&quot;20300&quot; value=&quot;Slide 13&quot;/&gt;&lt;property id=&quot;20307&quot; value=&quot;274&quot;/&gt;&lt;/object&gt;&lt;object type=&quot;3&quot; unique_id=&quot;10016&quot;&gt;&lt;property id=&quot;20148&quot; value=&quot;5&quot;/&gt;&lt;property id=&quot;20300&quot; value=&quot;Slide 14&quot;/&gt;&lt;property id=&quot;20307&quot; value=&quot;275&quot;/&gt;&lt;/object&gt;&lt;object type=&quot;3&quot; unique_id=&quot;10017&quot;&gt;&lt;property id=&quot;20148&quot; value=&quot;5&quot;/&gt;&lt;property id=&quot;20300&quot; value=&quot;Slide 15&quot;/&gt;&lt;property id=&quot;20307&quot; value=&quot;276&quot;/&gt;&lt;/object&gt;&lt;object type=&quot;3&quot; unique_id=&quot;10018&quot;&gt;&lt;property id=&quot;20148&quot; value=&quot;5&quot;/&gt;&lt;property id=&quot;20300&quot; value=&quot;Slide 16&quot;/&gt;&lt;property id=&quot;20307&quot; value=&quot;277&quot;/&gt;&lt;/object&gt;&lt;object type=&quot;3&quot; unique_id=&quot;10019&quot;&gt;&lt;property id=&quot;20148&quot; value=&quot;5&quot;/&gt;&lt;property id=&quot;20300&quot; value=&quot;Slide 17&quot;/&gt;&lt;property id=&quot;20307&quot; value=&quot;271&quot;/&gt;&lt;/object&gt;&lt;object type=&quot;3&quot; unique_id=&quot;10020&quot;&gt;&lt;property id=&quot;20148&quot; value=&quot;5&quot;/&gt;&lt;property id=&quot;20300&quot; value=&quot;Slide 18&quot;/&gt;&lt;property id=&quot;20307&quot; value=&quot;278&quot;/&gt;&lt;/object&gt;&lt;object type=&quot;3&quot; unique_id=&quot;10021&quot;&gt;&lt;property id=&quot;20148&quot; value=&quot;5&quot;/&gt;&lt;property id=&quot;20300&quot; value=&quot;Slide 19&quot;/&gt;&lt;property id=&quot;20307&quot; value=&quot;279&quot;/&gt;&lt;/object&gt;&lt;object type=&quot;3&quot; unique_id=&quot;10022&quot;&gt;&lt;property id=&quot;20148&quot; value=&quot;5&quot;/&gt;&lt;property id=&quot;20300&quot; value=&quot;Slide 20&quot;/&gt;&lt;property id=&quot;20307&quot; value=&quot;272&quot;/&gt;&lt;/object&gt;&lt;object type=&quot;3&quot; unique_id=&quot;10023&quot;&gt;&lt;property id=&quot;20148&quot; value=&quot;5&quot;/&gt;&lt;property id=&quot;20300&quot; value=&quot;Slide 21&quot;/&gt;&lt;property id=&quot;20307&quot; value=&quot;273&quot;/&gt;&lt;/object&gt;&lt;object type=&quot;3&quot; unique_id=&quot;10024&quot;&gt;&lt;property id=&quot;20148&quot; value=&quot;5&quot;/&gt;&lt;property id=&quot;20300&quot; value=&quot;Slide 22&quot;/&gt;&lt;property id=&quot;20307&quot; value=&quot;268&quot;/&gt;&lt;/object&gt;&lt;object type=&quot;3&quot; unique_id=&quot;10025&quot;&gt;&lt;property id=&quot;20148&quot; value=&quot;5&quot;/&gt;&lt;property id=&quot;20300&quot; value=&quot;Slide 23&quot;/&gt;&lt;property id=&quot;20307&quot; value=&quot;280&quot;/&gt;&lt;/object&gt;&lt;object type=&quot;3&quot; unique_id=&quot;10026&quot;&gt;&lt;property id=&quot;20148&quot; value=&quot;5&quot;/&gt;&lt;property id=&quot;20300&quot; value=&quot;Slide 24&quot;/&gt;&lt;property id=&quot;20307&quot; value=&quot;281&quot;/&gt;&lt;/object&gt;&lt;object type=&quot;3&quot; unique_id=&quot;10027&quot;&gt;&lt;property id=&quot;20148&quot; value=&quot;5&quot;/&gt;&lt;property id=&quot;20300&quot; value=&quot;Slide 25&quot;/&gt;&lt;property id=&quot;20307&quot; value=&quot;282&quot;/&gt;&lt;/object&gt;&lt;/object&gt;&lt;object type=&quot;8&quot; unique_id=&quot;1005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3398</TotalTime>
  <Words>2200</Words>
  <Application>Microsoft Office PowerPoint</Application>
  <PresentationFormat>Custom</PresentationFormat>
  <Paragraphs>297</Paragraphs>
  <Slides>47</Slides>
  <Notes>30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47</vt:i4>
      </vt:variant>
    </vt:vector>
  </HeadingPairs>
  <TitlesOfParts>
    <vt:vector size="61" baseType="lpstr">
      <vt:lpstr>Yu Gothic UI Semilight</vt:lpstr>
      <vt:lpstr>Arial</vt:lpstr>
      <vt:lpstr>Baumans</vt:lpstr>
      <vt:lpstr>Calibri</vt:lpstr>
      <vt:lpstr>Calibri Light</vt:lpstr>
      <vt:lpstr>Cambria Math</vt:lpstr>
      <vt:lpstr>Chu Van An</vt:lpstr>
      <vt:lpstr>Tahoma</vt:lpstr>
      <vt:lpstr>Times New Roman</vt:lpstr>
      <vt:lpstr>Tomaho</vt:lpstr>
      <vt:lpstr>Office Theme</vt:lpstr>
      <vt:lpstr>1_Office Theme</vt:lpstr>
      <vt:lpstr>Document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9Slide.vn</Manager>
  <Company>9Slide.vn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9Slide.vn</dc:subject>
  <dc:creator>BINH</dc:creator>
  <dc:description>9Slide.vn</dc:description>
  <cp:lastModifiedBy>Admin</cp:lastModifiedBy>
  <cp:revision>383</cp:revision>
  <dcterms:created xsi:type="dcterms:W3CDTF">2013-08-31T11:42:51Z</dcterms:created>
  <dcterms:modified xsi:type="dcterms:W3CDTF">2022-08-30T02:38:25Z</dcterms:modified>
  <cp:category>9Slide.vn</cp:category>
</cp:coreProperties>
</file>