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49"/>
  </p:notesMasterIdLst>
  <p:sldIdLst>
    <p:sldId id="313" r:id="rId2"/>
    <p:sldId id="301" r:id="rId3"/>
    <p:sldId id="315" r:id="rId4"/>
    <p:sldId id="321" r:id="rId5"/>
    <p:sldId id="326" r:id="rId6"/>
    <p:sldId id="327" r:id="rId7"/>
    <p:sldId id="328" r:id="rId8"/>
    <p:sldId id="333" r:id="rId9"/>
    <p:sldId id="331" r:id="rId10"/>
    <p:sldId id="332" r:id="rId11"/>
    <p:sldId id="330" r:id="rId12"/>
    <p:sldId id="335" r:id="rId13"/>
    <p:sldId id="336" r:id="rId14"/>
    <p:sldId id="337" r:id="rId15"/>
    <p:sldId id="338" r:id="rId16"/>
    <p:sldId id="339" r:id="rId17"/>
    <p:sldId id="340" r:id="rId18"/>
    <p:sldId id="341" r:id="rId19"/>
    <p:sldId id="342" r:id="rId20"/>
    <p:sldId id="343" r:id="rId21"/>
    <p:sldId id="344" r:id="rId22"/>
    <p:sldId id="345" r:id="rId23"/>
    <p:sldId id="346" r:id="rId24"/>
    <p:sldId id="347" r:id="rId25"/>
    <p:sldId id="348" r:id="rId26"/>
    <p:sldId id="349" r:id="rId27"/>
    <p:sldId id="350" r:id="rId28"/>
    <p:sldId id="351" r:id="rId29"/>
    <p:sldId id="352" r:id="rId30"/>
    <p:sldId id="353" r:id="rId31"/>
    <p:sldId id="354" r:id="rId32"/>
    <p:sldId id="355" r:id="rId33"/>
    <p:sldId id="356" r:id="rId34"/>
    <p:sldId id="357" r:id="rId35"/>
    <p:sldId id="358" r:id="rId36"/>
    <p:sldId id="359" r:id="rId37"/>
    <p:sldId id="360" r:id="rId38"/>
    <p:sldId id="361" r:id="rId39"/>
    <p:sldId id="362" r:id="rId40"/>
    <p:sldId id="363" r:id="rId41"/>
    <p:sldId id="364" r:id="rId42"/>
    <p:sldId id="365" r:id="rId43"/>
    <p:sldId id="366" r:id="rId44"/>
    <p:sldId id="367" r:id="rId45"/>
    <p:sldId id="368" r:id="rId46"/>
    <p:sldId id="369" r:id="rId47"/>
    <p:sldId id="370" r:id="rId48"/>
  </p:sldIdLst>
  <p:sldSz cx="24384000" cy="13716000"/>
  <p:notesSz cx="6858000" cy="9144000"/>
  <p:custDataLst>
    <p:tags r:id="rId50"/>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FF"/>
    <a:srgbClr val="E7F7FF"/>
    <a:srgbClr val="D6F7FE"/>
    <a:srgbClr val="EEF7E9"/>
    <a:srgbClr val="135F82"/>
    <a:srgbClr val="FFFFFF"/>
    <a:srgbClr val="008000"/>
    <a:srgbClr val="242452"/>
    <a:srgbClr val="270F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20" autoAdjust="0"/>
    <p:restoredTop sz="94139" autoAdjust="0"/>
  </p:normalViewPr>
  <p:slideViewPr>
    <p:cSldViewPr>
      <p:cViewPr varScale="1">
        <p:scale>
          <a:sx n="36" d="100"/>
          <a:sy n="36" d="100"/>
        </p:scale>
        <p:origin x="222" y="-1062"/>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tags" Target="tags/tag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8/29/2022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3</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4</a:t>
            </a:fld>
            <a:endParaRPr lang="en-US"/>
          </a:p>
        </p:txBody>
      </p:sp>
    </p:spTree>
    <p:extLst>
      <p:ext uri="{BB962C8B-B14F-4D97-AF65-F5344CB8AC3E}">
        <p14:creationId xmlns:p14="http://schemas.microsoft.com/office/powerpoint/2010/main" val="836262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5</a:t>
            </a:fld>
            <a:endParaRPr lang="en-US"/>
          </a:p>
        </p:txBody>
      </p:sp>
    </p:spTree>
    <p:extLst>
      <p:ext uri="{BB962C8B-B14F-4D97-AF65-F5344CB8AC3E}">
        <p14:creationId xmlns:p14="http://schemas.microsoft.com/office/powerpoint/2010/main" val="3799997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6</a:t>
            </a:fld>
            <a:endParaRPr lang="en-US"/>
          </a:p>
        </p:txBody>
      </p:sp>
    </p:spTree>
    <p:extLst>
      <p:ext uri="{BB962C8B-B14F-4D97-AF65-F5344CB8AC3E}">
        <p14:creationId xmlns:p14="http://schemas.microsoft.com/office/powerpoint/2010/main" val="3001138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7</a:t>
            </a:fld>
            <a:endParaRPr lang="en-US"/>
          </a:p>
        </p:txBody>
      </p:sp>
    </p:spTree>
    <p:extLst>
      <p:ext uri="{BB962C8B-B14F-4D97-AF65-F5344CB8AC3E}">
        <p14:creationId xmlns:p14="http://schemas.microsoft.com/office/powerpoint/2010/main" val="361205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8</a:t>
            </a:fld>
            <a:endParaRPr lang="en-US"/>
          </a:p>
        </p:txBody>
      </p:sp>
    </p:spTree>
    <p:extLst>
      <p:ext uri="{BB962C8B-B14F-4D97-AF65-F5344CB8AC3E}">
        <p14:creationId xmlns:p14="http://schemas.microsoft.com/office/powerpoint/2010/main" val="173912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9</a:t>
            </a:fld>
            <a:endParaRPr lang="en-US"/>
          </a:p>
        </p:txBody>
      </p:sp>
    </p:spTree>
    <p:extLst>
      <p:ext uri="{BB962C8B-B14F-4D97-AF65-F5344CB8AC3E}">
        <p14:creationId xmlns:p14="http://schemas.microsoft.com/office/powerpoint/2010/main" val="1649494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10</a:t>
            </a:fld>
            <a:endParaRPr lang="en-US"/>
          </a:p>
        </p:txBody>
      </p:sp>
    </p:spTree>
    <p:extLst>
      <p:ext uri="{BB962C8B-B14F-4D97-AF65-F5344CB8AC3E}">
        <p14:creationId xmlns:p14="http://schemas.microsoft.com/office/powerpoint/2010/main" val="3923230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11</a:t>
            </a:fld>
            <a:endParaRPr lang="en-US"/>
          </a:p>
        </p:txBody>
      </p:sp>
    </p:spTree>
    <p:extLst>
      <p:ext uri="{BB962C8B-B14F-4D97-AF65-F5344CB8AC3E}">
        <p14:creationId xmlns:p14="http://schemas.microsoft.com/office/powerpoint/2010/main" val="2919136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12</a:t>
            </a:fld>
            <a:endParaRPr lang="en-US"/>
          </a:p>
        </p:txBody>
      </p:sp>
    </p:spTree>
    <p:extLst>
      <p:ext uri="{BB962C8B-B14F-4D97-AF65-F5344CB8AC3E}">
        <p14:creationId xmlns:p14="http://schemas.microsoft.com/office/powerpoint/2010/main" val="1619549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13</a:t>
            </a:fld>
            <a:endParaRPr lang="en-US"/>
          </a:p>
        </p:txBody>
      </p:sp>
    </p:spTree>
    <p:extLst>
      <p:ext uri="{BB962C8B-B14F-4D97-AF65-F5344CB8AC3E}">
        <p14:creationId xmlns:p14="http://schemas.microsoft.com/office/powerpoint/2010/main" val="1350780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14</a:t>
            </a:fld>
            <a:endParaRPr lang="en-US"/>
          </a:p>
        </p:txBody>
      </p:sp>
    </p:spTree>
    <p:extLst>
      <p:ext uri="{BB962C8B-B14F-4D97-AF65-F5344CB8AC3E}">
        <p14:creationId xmlns:p14="http://schemas.microsoft.com/office/powerpoint/2010/main" val="1733054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15</a:t>
            </a:fld>
            <a:endParaRPr lang="en-US"/>
          </a:p>
        </p:txBody>
      </p:sp>
    </p:spTree>
    <p:extLst>
      <p:ext uri="{BB962C8B-B14F-4D97-AF65-F5344CB8AC3E}">
        <p14:creationId xmlns:p14="http://schemas.microsoft.com/office/powerpoint/2010/main" val="14182639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16</a:t>
            </a:fld>
            <a:endParaRPr lang="en-US"/>
          </a:p>
        </p:txBody>
      </p:sp>
    </p:spTree>
    <p:extLst>
      <p:ext uri="{BB962C8B-B14F-4D97-AF65-F5344CB8AC3E}">
        <p14:creationId xmlns:p14="http://schemas.microsoft.com/office/powerpoint/2010/main" val="33600736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2057561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25515958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35934311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23D8C-BCC6-453A-B078-455701A55423}" type="slidenum">
              <a:rPr lang="en-US" smtClean="0"/>
              <a:pPr/>
              <a:t>20</a:t>
            </a:fld>
            <a:endParaRPr lang="en-US"/>
          </a:p>
        </p:txBody>
      </p:sp>
    </p:spTree>
    <p:extLst>
      <p:ext uri="{BB962C8B-B14F-4D97-AF65-F5344CB8AC3E}">
        <p14:creationId xmlns:p14="http://schemas.microsoft.com/office/powerpoint/2010/main" val="855427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63281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153173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23</a:t>
            </a:fld>
            <a:endParaRPr lang="en-US"/>
          </a:p>
        </p:txBody>
      </p:sp>
    </p:spTree>
    <p:extLst>
      <p:ext uri="{BB962C8B-B14F-4D97-AF65-F5344CB8AC3E}">
        <p14:creationId xmlns:p14="http://schemas.microsoft.com/office/powerpoint/2010/main" val="3547368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24</a:t>
            </a:fld>
            <a:endParaRPr lang="en-US"/>
          </a:p>
        </p:txBody>
      </p:sp>
    </p:spTree>
    <p:extLst>
      <p:ext uri="{BB962C8B-B14F-4D97-AF65-F5344CB8AC3E}">
        <p14:creationId xmlns:p14="http://schemas.microsoft.com/office/powerpoint/2010/main" val="14185417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25</a:t>
            </a:fld>
            <a:endParaRPr lang="en-US"/>
          </a:p>
        </p:txBody>
      </p:sp>
    </p:spTree>
    <p:extLst>
      <p:ext uri="{BB962C8B-B14F-4D97-AF65-F5344CB8AC3E}">
        <p14:creationId xmlns:p14="http://schemas.microsoft.com/office/powerpoint/2010/main" val="23747109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26</a:t>
            </a:fld>
            <a:endParaRPr lang="en-US"/>
          </a:p>
        </p:txBody>
      </p:sp>
    </p:spTree>
    <p:extLst>
      <p:ext uri="{BB962C8B-B14F-4D97-AF65-F5344CB8AC3E}">
        <p14:creationId xmlns:p14="http://schemas.microsoft.com/office/powerpoint/2010/main" val="35634667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27</a:t>
            </a:fld>
            <a:endParaRPr lang="en-US"/>
          </a:p>
        </p:txBody>
      </p:sp>
    </p:spTree>
    <p:extLst>
      <p:ext uri="{BB962C8B-B14F-4D97-AF65-F5344CB8AC3E}">
        <p14:creationId xmlns:p14="http://schemas.microsoft.com/office/powerpoint/2010/main" val="20294192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28</a:t>
            </a:fld>
            <a:endParaRPr lang="en-US"/>
          </a:p>
        </p:txBody>
      </p:sp>
    </p:spTree>
    <p:extLst>
      <p:ext uri="{BB962C8B-B14F-4D97-AF65-F5344CB8AC3E}">
        <p14:creationId xmlns:p14="http://schemas.microsoft.com/office/powerpoint/2010/main" val="27000045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29</a:t>
            </a:fld>
            <a:endParaRPr lang="en-US"/>
          </a:p>
        </p:txBody>
      </p:sp>
    </p:spTree>
    <p:extLst>
      <p:ext uri="{BB962C8B-B14F-4D97-AF65-F5344CB8AC3E}">
        <p14:creationId xmlns:p14="http://schemas.microsoft.com/office/powerpoint/2010/main" val="4040478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752600"/>
            <a:ext cx="23545799" cy="838200"/>
          </a:xfrm>
          <a:prstGeom prst="rect">
            <a:avLst/>
          </a:prstGeom>
        </p:spPr>
        <p:txBody>
          <a:bodyPr tIns="91440" bIns="91440"/>
          <a:lstStyle>
            <a:lvl1pPr algn="l">
              <a:defRPr sz="4800" b="1">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sz="half" idx="1"/>
          </p:nvPr>
        </p:nvSpPr>
        <p:spPr>
          <a:xfrm>
            <a:off x="457200" y="2743200"/>
            <a:ext cx="11605727" cy="10662429"/>
          </a:xfrm>
          <a:prstGeom prst="rect">
            <a:avLst/>
          </a:prstGeom>
        </p:spPr>
        <p:txBody>
          <a:bodyPr tIns="91440" bIns="91440"/>
          <a:lstStyle>
            <a:lvl1pPr algn="l">
              <a:defRPr sz="4800" b="1">
                <a:latin typeface="Tahoma" panose="020B0604030504040204" pitchFamily="34" charset="0"/>
                <a:ea typeface="Tahoma" panose="020B0604030504040204" pitchFamily="34" charset="0"/>
                <a:cs typeface="Tahoma" panose="020B0604030504040204" pitchFamily="34" charset="0"/>
              </a:defRPr>
            </a:lvl1pPr>
            <a:lvl2pPr algn="l">
              <a:defRPr sz="4800" b="1">
                <a:latin typeface="Tahoma" panose="020B0604030504040204" pitchFamily="34" charset="0"/>
                <a:ea typeface="Tahoma" panose="020B0604030504040204" pitchFamily="34" charset="0"/>
                <a:cs typeface="Tahoma" panose="020B0604030504040204" pitchFamily="34" charset="0"/>
              </a:defRPr>
            </a:lvl2pPr>
            <a:lvl3pPr algn="l">
              <a:defRPr sz="4800" b="1">
                <a:latin typeface="Tahoma" panose="020B0604030504040204" pitchFamily="34" charset="0"/>
                <a:ea typeface="Tahoma" panose="020B0604030504040204" pitchFamily="34" charset="0"/>
                <a:cs typeface="Tahoma" panose="020B0604030504040204" pitchFamily="34" charset="0"/>
              </a:defRPr>
            </a:lvl3pPr>
            <a:lvl4pPr algn="l">
              <a:defRPr sz="4800" b="1">
                <a:latin typeface="Tahoma" panose="020B0604030504040204" pitchFamily="34" charset="0"/>
                <a:ea typeface="Tahoma" panose="020B0604030504040204" pitchFamily="34" charset="0"/>
                <a:cs typeface="Tahoma" panose="020B0604030504040204" pitchFamily="34" charset="0"/>
              </a:defRPr>
            </a:lvl4pPr>
            <a:lvl5pPr algn="l">
              <a:defRPr sz="4800" b="1">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12367726" y="2743200"/>
            <a:ext cx="11635273" cy="10662429"/>
          </a:xfrm>
          <a:prstGeom prst="rect">
            <a:avLst/>
          </a:prstGeom>
        </p:spPr>
        <p:txBody>
          <a:bodyPr tIns="91440" bIns="91440"/>
          <a:lstStyle>
            <a:lvl1pPr algn="l">
              <a:defRPr sz="4800" b="1">
                <a:latin typeface="Tahoma" panose="020B0604030504040204" pitchFamily="34" charset="0"/>
                <a:ea typeface="Tahoma" panose="020B0604030504040204" pitchFamily="34" charset="0"/>
                <a:cs typeface="Tahoma" panose="020B0604030504040204" pitchFamily="34" charset="0"/>
              </a:defRPr>
            </a:lvl1pPr>
            <a:lvl2pPr algn="l">
              <a:defRPr sz="4800" b="1">
                <a:latin typeface="Tahoma" panose="020B0604030504040204" pitchFamily="34" charset="0"/>
                <a:ea typeface="Tahoma" panose="020B0604030504040204" pitchFamily="34" charset="0"/>
                <a:cs typeface="Tahoma" panose="020B0604030504040204" pitchFamily="34" charset="0"/>
              </a:defRPr>
            </a:lvl2pPr>
            <a:lvl3pPr algn="l">
              <a:defRPr sz="4800" b="1">
                <a:latin typeface="Tahoma" panose="020B0604030504040204" pitchFamily="34" charset="0"/>
                <a:ea typeface="Tahoma" panose="020B0604030504040204" pitchFamily="34" charset="0"/>
                <a:cs typeface="Tahoma" panose="020B0604030504040204" pitchFamily="34" charset="0"/>
              </a:defRPr>
            </a:lvl3pPr>
            <a:lvl4pPr algn="l">
              <a:defRPr sz="4800" b="1">
                <a:latin typeface="Tahoma" panose="020B0604030504040204" pitchFamily="34" charset="0"/>
                <a:ea typeface="Tahoma" panose="020B0604030504040204" pitchFamily="34" charset="0"/>
                <a:cs typeface="Tahoma" panose="020B0604030504040204" pitchFamily="34" charset="0"/>
              </a:defRPr>
            </a:lvl4pPr>
            <a:lvl5pPr algn="l">
              <a:defRPr sz="4800" b="1">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2207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animEffect transition="in" filter="fade">
                                      <p:cBhvr>
                                        <p:cTn id="49" dur="1000"/>
                                        <p:tgtEl>
                                          <p:spTgt spid="4">
                                            <p:txEl>
                                              <p:pRg st="0" end="0"/>
                                            </p:txEl>
                                          </p:spTgt>
                                        </p:tgtEl>
                                      </p:cBhvr>
                                    </p:animEffect>
                                    <p:anim calcmode="lin" valueType="num">
                                      <p:cBhvr>
                                        <p:cTn id="50"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1" end="1"/>
                                            </p:txEl>
                                          </p:spTgt>
                                        </p:tgtEl>
                                        <p:attrNameLst>
                                          <p:attrName>style.visibility</p:attrName>
                                        </p:attrNameLst>
                                      </p:cBhvr>
                                      <p:to>
                                        <p:strVal val="visible"/>
                                      </p:to>
                                    </p:set>
                                    <p:animEffect transition="in" filter="fade">
                                      <p:cBhvr>
                                        <p:cTn id="56" dur="1000"/>
                                        <p:tgtEl>
                                          <p:spTgt spid="4">
                                            <p:txEl>
                                              <p:pRg st="1" end="1"/>
                                            </p:txEl>
                                          </p:spTgt>
                                        </p:tgtEl>
                                      </p:cBhvr>
                                    </p:animEffect>
                                    <p:anim calcmode="lin" valueType="num">
                                      <p:cBhvr>
                                        <p:cTn id="57"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
                                            <p:txEl>
                                              <p:pRg st="2" end="2"/>
                                            </p:txEl>
                                          </p:spTgt>
                                        </p:tgtEl>
                                        <p:attrNameLst>
                                          <p:attrName>style.visibility</p:attrName>
                                        </p:attrNameLst>
                                      </p:cBhvr>
                                      <p:to>
                                        <p:strVal val="visible"/>
                                      </p:to>
                                    </p:set>
                                    <p:animEffect transition="in" filter="fade">
                                      <p:cBhvr>
                                        <p:cTn id="63" dur="1000"/>
                                        <p:tgtEl>
                                          <p:spTgt spid="4">
                                            <p:txEl>
                                              <p:pRg st="2" end="2"/>
                                            </p:txEl>
                                          </p:spTgt>
                                        </p:tgtEl>
                                      </p:cBhvr>
                                    </p:animEffect>
                                    <p:anim calcmode="lin" valueType="num">
                                      <p:cBhvr>
                                        <p:cTn id="64"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4">
                                            <p:txEl>
                                              <p:pRg st="3" end="3"/>
                                            </p:txEl>
                                          </p:spTgt>
                                        </p:tgtEl>
                                        <p:attrNameLst>
                                          <p:attrName>style.visibility</p:attrName>
                                        </p:attrNameLst>
                                      </p:cBhvr>
                                      <p:to>
                                        <p:strVal val="visible"/>
                                      </p:to>
                                    </p:set>
                                    <p:animEffect transition="in" filter="fade">
                                      <p:cBhvr>
                                        <p:cTn id="70" dur="1000"/>
                                        <p:tgtEl>
                                          <p:spTgt spid="4">
                                            <p:txEl>
                                              <p:pRg st="3" end="3"/>
                                            </p:txEl>
                                          </p:spTgt>
                                        </p:tgtEl>
                                      </p:cBhvr>
                                    </p:animEffect>
                                    <p:anim calcmode="lin" valueType="num">
                                      <p:cBhvr>
                                        <p:cTn id="71"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4">
                                            <p:txEl>
                                              <p:pRg st="4" end="4"/>
                                            </p:txEl>
                                          </p:spTgt>
                                        </p:tgtEl>
                                        <p:attrNameLst>
                                          <p:attrName>style.visibility</p:attrName>
                                        </p:attrNameLst>
                                      </p:cBhvr>
                                      <p:to>
                                        <p:strVal val="visible"/>
                                      </p:to>
                                    </p:set>
                                    <p:animEffect transition="in" filter="fade">
                                      <p:cBhvr>
                                        <p:cTn id="77" dur="1000"/>
                                        <p:tgtEl>
                                          <p:spTgt spid="4">
                                            <p:txEl>
                                              <p:pRg st="4" end="4"/>
                                            </p:txEl>
                                          </p:spTgt>
                                        </p:tgtEl>
                                      </p:cBhvr>
                                    </p:animEffect>
                                    <p:anim calcmode="lin" valueType="num">
                                      <p:cBhvr>
                                        <p:cTn id="7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uiExpand="1" build="p">
        <p:tmplLst>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752600"/>
            <a:ext cx="23545799" cy="838200"/>
          </a:xfrm>
          <a:prstGeom prst="rect">
            <a:avLst/>
          </a:prstGeom>
        </p:spPr>
        <p:txBody>
          <a:bodyPr tIns="91440" bIns="91440"/>
          <a:lstStyle>
            <a:lvl1pPr algn="l">
              <a:defRPr sz="4800" b="1">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sz="half" idx="1"/>
          </p:nvPr>
        </p:nvSpPr>
        <p:spPr>
          <a:xfrm>
            <a:off x="457200" y="2743200"/>
            <a:ext cx="23545799" cy="10662429"/>
          </a:xfrm>
          <a:prstGeom prst="rect">
            <a:avLst/>
          </a:prstGeom>
        </p:spPr>
        <p:txBody>
          <a:bodyPr tIns="91440" bIns="91440"/>
          <a:lstStyle>
            <a:lvl1pPr algn="l">
              <a:defRPr sz="4800" b="1">
                <a:latin typeface="Tahoma" panose="020B0604030504040204" pitchFamily="34" charset="0"/>
                <a:ea typeface="Tahoma" panose="020B0604030504040204" pitchFamily="34" charset="0"/>
                <a:cs typeface="Tahoma" panose="020B0604030504040204" pitchFamily="34" charset="0"/>
              </a:defRPr>
            </a:lvl1pPr>
            <a:lvl2pPr algn="l">
              <a:defRPr sz="4800" b="1">
                <a:latin typeface="Tahoma" panose="020B0604030504040204" pitchFamily="34" charset="0"/>
                <a:ea typeface="Tahoma" panose="020B0604030504040204" pitchFamily="34" charset="0"/>
                <a:cs typeface="Tahoma" panose="020B0604030504040204" pitchFamily="34" charset="0"/>
              </a:defRPr>
            </a:lvl2pPr>
            <a:lvl3pPr algn="l">
              <a:defRPr sz="4800" b="1">
                <a:latin typeface="Tahoma" panose="020B0604030504040204" pitchFamily="34" charset="0"/>
                <a:ea typeface="Tahoma" panose="020B0604030504040204" pitchFamily="34" charset="0"/>
                <a:cs typeface="Tahoma" panose="020B0604030504040204" pitchFamily="34" charset="0"/>
              </a:defRPr>
            </a:lvl3pPr>
            <a:lvl4pPr algn="l">
              <a:defRPr sz="4800" b="1">
                <a:latin typeface="Tahoma" panose="020B0604030504040204" pitchFamily="34" charset="0"/>
                <a:ea typeface="Tahoma" panose="020B0604030504040204" pitchFamily="34" charset="0"/>
                <a:cs typeface="Tahoma" panose="020B0604030504040204" pitchFamily="34" charset="0"/>
              </a:defRPr>
            </a:lvl4pPr>
            <a:lvl5pPr algn="l">
              <a:defRPr sz="4800" b="1">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088837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tmplLst>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5751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51" r:id="rId2"/>
    <p:sldLayoutId id="2147483750" r:id="rId3"/>
    <p:sldLayoutId id="2147483740" r:id="rId4"/>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0.png"/><Relationship Id="rId4" Type="http://schemas.openxmlformats.org/officeDocument/2006/relationships/image" Target="../media/image23.png"/><Relationship Id="rId5"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0.png"/><Relationship Id="rId4" Type="http://schemas.openxmlformats.org/officeDocument/2006/relationships/image" Target="../media/image25.png"/><Relationship Id="rId5"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0.png"/><Relationship Id="rId4" Type="http://schemas.openxmlformats.org/officeDocument/2006/relationships/image" Target="../media/image27.png"/><Relationship Id="rId5"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20.png"/><Relationship Id="rId4" Type="http://schemas.openxmlformats.org/officeDocument/2006/relationships/image" Target="../media/image29.png"/><Relationship Id="rId5"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32.png"/><Relationship Id="rId5"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4.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36.png"/><Relationship Id="rId5"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8.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80.png"/><Relationship Id="rId4" Type="http://schemas.openxmlformats.org/officeDocument/2006/relationships/image" Target="../media/image40.png"/><Relationship Id="rId5"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10.png"/><Relationship Id="rId4" Type="http://schemas.openxmlformats.org/officeDocument/2006/relationships/image" Target="../media/image910.png"/><Relationship Id="rId5"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10.png"/><Relationship Id="rId4" Type="http://schemas.openxmlformats.org/officeDocument/2006/relationships/image" Target="../media/image1210.png"/><Relationship Id="rId5" Type="http://schemas.openxmlformats.org/officeDocument/2006/relationships/image" Target="../media/image43.png"/><Relationship Id="rId6" Type="http://schemas.openxmlformats.org/officeDocument/2006/relationships/image" Target="../media/image1410.png"/><Relationship Id="rId7" Type="http://schemas.openxmlformats.org/officeDocument/2006/relationships/image" Target="../media/image44.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2.png"/><Relationship Id="rId4" Type="http://schemas.openxmlformats.org/officeDocument/2006/relationships/image" Target="../media/image161.png"/><Relationship Id="rId5" Type="http://schemas.openxmlformats.org/officeDocument/2006/relationships/image" Target="../media/image4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1.png"/><Relationship Id="rId4" Type="http://schemas.openxmlformats.org/officeDocument/2006/relationships/image" Target="../media/image231.png"/><Relationship Id="rId5" Type="http://schemas.openxmlformats.org/officeDocument/2006/relationships/image" Target="../media/image45.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1.png"/><Relationship Id="rId4" Type="http://schemas.openxmlformats.org/officeDocument/2006/relationships/image" Target="../media/image251.png"/><Relationship Id="rId5" Type="http://schemas.openxmlformats.org/officeDocument/2006/relationships/image" Target="../media/image46.jpeg"/><Relationship Id="rId6" Type="http://schemas.openxmlformats.org/officeDocument/2006/relationships/image" Target="../media/image2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61.png"/><Relationship Id="rId4" Type="http://schemas.openxmlformats.org/officeDocument/2006/relationships/image" Target="../media/image270.png"/><Relationship Id="rId5" Type="http://schemas.openxmlformats.org/officeDocument/2006/relationships/image" Target="../media/image46.jpeg"/><Relationship Id="rId6" Type="http://schemas.openxmlformats.org/officeDocument/2006/relationships/image" Target="../media/image281.png"/><Relationship Id="rId7"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11.png"/><Relationship Id="rId4" Type="http://schemas.openxmlformats.org/officeDocument/2006/relationships/image" Target="../media/image301.png"/><Relationship Id="rId5" Type="http://schemas.openxmlformats.org/officeDocument/2006/relationships/image" Target="../media/image46.jpeg"/><Relationship Id="rId6" Type="http://schemas.openxmlformats.org/officeDocument/2006/relationships/image" Target="../media/image48.png"/><Relationship Id="rId7"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331.png"/><Relationship Id="rId4" Type="http://schemas.openxmlformats.org/officeDocument/2006/relationships/image" Target="../media/image341.png"/><Relationship Id="rId5" Type="http://schemas.openxmlformats.org/officeDocument/2006/relationships/image" Target="../media/image350.png"/><Relationship Id="rId6" Type="http://schemas.openxmlformats.org/officeDocument/2006/relationships/image" Target="../media/image361.png"/><Relationship Id="rId7" Type="http://schemas.openxmlformats.org/officeDocument/2006/relationships/image" Target="../media/image50.png"/><Relationship Id="rId8" Type="http://schemas.openxmlformats.org/officeDocument/2006/relationships/image" Target="../media/image200.png"/><Relationship Id="rId9" Type="http://schemas.openxmlformats.org/officeDocument/2006/relationships/image" Target="../media/image210.png"/><Relationship Id="rId10" Type="http://schemas.openxmlformats.org/officeDocument/2006/relationships/image" Target="../media/image2200.png"/><Relationship Id="rId11" Type="http://schemas.openxmlformats.org/officeDocument/2006/relationships/image" Target="../media/image230.png"/><Relationship Id="rId12" Type="http://schemas.openxmlformats.org/officeDocument/2006/relationships/image" Target="../media/image2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250.png"/><Relationship Id="rId4" Type="http://schemas.openxmlformats.org/officeDocument/2006/relationships/image" Target="../media/image260.png"/><Relationship Id="rId5" Type="http://schemas.openxmlformats.org/officeDocument/2006/relationships/image" Target="../media/image51.png"/><Relationship Id="rId6" Type="http://schemas.openxmlformats.org/officeDocument/2006/relationships/image" Target="../media/image280.png"/><Relationship Id="rId7" Type="http://schemas.openxmlformats.org/officeDocument/2006/relationships/image" Target="../media/image51.png"/><Relationship Id="rId8" Type="http://schemas.openxmlformats.org/officeDocument/2006/relationships/image" Target="../media/image200.png"/><Relationship Id="rId9" Type="http://schemas.openxmlformats.org/officeDocument/2006/relationships/image" Target="../media/image290.png"/><Relationship Id="rId10" Type="http://schemas.openxmlformats.org/officeDocument/2006/relationships/image" Target="../media/image300.png"/><Relationship Id="rId11" Type="http://schemas.openxmlformats.org/officeDocument/2006/relationships/image" Target="../media/image310.png"/><Relationship Id="rId12" Type="http://schemas.openxmlformats.org/officeDocument/2006/relationships/image" Target="../media/image3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330.png"/><Relationship Id="rId4" Type="http://schemas.openxmlformats.org/officeDocument/2006/relationships/image" Target="../media/image340.png"/><Relationship Id="rId5" Type="http://schemas.openxmlformats.org/officeDocument/2006/relationships/image" Target="../media/image54.png"/><Relationship Id="rId6" Type="http://schemas.openxmlformats.org/officeDocument/2006/relationships/image" Target="../media/image360.png"/><Relationship Id="rId7" Type="http://schemas.openxmlformats.org/officeDocument/2006/relationships/image" Target="../media/image54.png"/><Relationship Id="rId8" Type="http://schemas.openxmlformats.org/officeDocument/2006/relationships/image" Target="../media/image370.png"/><Relationship Id="rId9" Type="http://schemas.openxmlformats.org/officeDocument/2006/relationships/image" Target="../media/image191.png"/><Relationship Id="rId10" Type="http://schemas.openxmlformats.org/officeDocument/2006/relationships/image" Target="../media/image3800.png"/><Relationship Id="rId11" Type="http://schemas.openxmlformats.org/officeDocument/2006/relationships/image" Target="../media/image390.png"/><Relationship Id="rId12" Type="http://schemas.openxmlformats.org/officeDocument/2006/relationships/image" Target="../media/image400.png"/><Relationship Id="rId13" Type="http://schemas.openxmlformats.org/officeDocument/2006/relationships/image" Target="../media/image55.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412.png"/><Relationship Id="rId4" Type="http://schemas.openxmlformats.org/officeDocument/2006/relationships/image" Target="../media/image420.png"/><Relationship Id="rId5" Type="http://schemas.openxmlformats.org/officeDocument/2006/relationships/image" Target="../media/image430.png"/><Relationship Id="rId6" Type="http://schemas.openxmlformats.org/officeDocument/2006/relationships/image" Target="../media/image44.png"/><Relationship Id="rId7" Type="http://schemas.openxmlformats.org/officeDocument/2006/relationships/image" Target="../media/image50.png"/><Relationship Id="rId8" Type="http://schemas.openxmlformats.org/officeDocument/2006/relationships/image" Target="../media/image46.png"/><Relationship Id="rId9" Type="http://schemas.openxmlformats.org/officeDocument/2006/relationships/image" Target="../media/image470.png"/><Relationship Id="rId10" Type="http://schemas.openxmlformats.org/officeDocument/2006/relationships/image" Target="../media/image480.png"/><Relationship Id="rId11" Type="http://schemas.openxmlformats.org/officeDocument/2006/relationships/image" Target="../media/image411.png"/><Relationship Id="rId12" Type="http://schemas.openxmlformats.org/officeDocument/2006/relationships/image" Target="../media/image490.png"/><Relationship Id="rId13" Type="http://schemas.openxmlformats.org/officeDocument/2006/relationships/image" Target="../media/image50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190.png"/><Relationship Id="rId4" Type="http://schemas.openxmlformats.org/officeDocument/2006/relationships/image" Target="../media/image520.png"/><Relationship Id="rId5" Type="http://schemas.openxmlformats.org/officeDocument/2006/relationships/image" Target="../media/image410.png"/><Relationship Id="rId6" Type="http://schemas.openxmlformats.org/officeDocument/2006/relationships/image" Target="../media/image510.png"/><Relationship Id="rId7" Type="http://schemas.openxmlformats.org/officeDocument/2006/relationships/image" Target="../media/image50.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image" Target="../media/image531.png"/><Relationship Id="rId11" Type="http://schemas.openxmlformats.org/officeDocument/2006/relationships/image" Target="../media/image5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530.png"/><Relationship Id="rId4" Type="http://schemas.openxmlformats.org/officeDocument/2006/relationships/image" Target="../media/image540.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50.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50.png"/><Relationship Id="rId8" Type="http://schemas.openxmlformats.org/officeDocument/2006/relationships/image" Target="../media/image57.png"/><Relationship Id="rId9" Type="http://schemas.openxmlformats.org/officeDocument/2006/relationships/image" Target="../media/image69.png"/><Relationship Id="rId10" Type="http://schemas.openxmlformats.org/officeDocument/2006/relationships/image" Target="../media/image68.png"/><Relationship Id="rId11" Type="http://schemas.openxmlformats.org/officeDocument/2006/relationships/image" Target="../media/image7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50.png"/><Relationship Id="rId8" Type="http://schemas.openxmlformats.org/officeDocument/2006/relationships/image" Target="../media/image71.png"/><Relationship Id="rId9" Type="http://schemas.openxmlformats.org/officeDocument/2006/relationships/image" Target="../media/image77.png"/><Relationship Id="rId10" Type="http://schemas.openxmlformats.org/officeDocument/2006/relationships/image" Target="../media/image76.png"/><Relationship Id="rId11" Type="http://schemas.openxmlformats.org/officeDocument/2006/relationships/image" Target="../media/image78.png"/><Relationship Id="rId12" Type="http://schemas.openxmlformats.org/officeDocument/2006/relationships/image" Target="../media/image79.png"/><Relationship Id="rId13" Type="http://schemas.openxmlformats.org/officeDocument/2006/relationships/image" Target="../media/image8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80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50.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710.png"/><Relationship Id="rId11" Type="http://schemas.openxmlformats.org/officeDocument/2006/relationships/image" Target="../media/image87.png"/><Relationship Id="rId12" Type="http://schemas.openxmlformats.org/officeDocument/2006/relationships/image" Target="../media/image8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50.png"/><Relationship Id="rId8" Type="http://schemas.openxmlformats.org/officeDocument/2006/relationships/image" Target="../media/image88.png"/><Relationship Id="rId9" Type="http://schemas.openxmlformats.org/officeDocument/2006/relationships/image" Target="../media/image93.png"/><Relationship Id="rId10" Type="http://schemas.openxmlformats.org/officeDocument/2006/relationships/image" Target="../media/image94.png"/><Relationship Id="rId11" Type="http://schemas.openxmlformats.org/officeDocument/2006/relationships/image" Target="../media/image95.png"/><Relationship Id="rId12" Type="http://schemas.openxmlformats.org/officeDocument/2006/relationships/image" Target="../media/image96.png"/><Relationship Id="rId13" Type="http://schemas.openxmlformats.org/officeDocument/2006/relationships/image" Target="../media/image9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970.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50.png"/><Relationship Id="rId8" Type="http://schemas.openxmlformats.org/officeDocument/2006/relationships/image" Target="../media/image101.png"/><Relationship Id="rId9" Type="http://schemas.openxmlformats.org/officeDocument/2006/relationships/image" Target="../media/image102.png"/><Relationship Id="rId10" Type="http://schemas.openxmlformats.org/officeDocument/2006/relationships/image" Target="../media/image103.png"/><Relationship Id="rId11" Type="http://schemas.openxmlformats.org/officeDocument/2006/relationships/image" Target="../media/image104.png"/><Relationship Id="rId12" Type="http://schemas.openxmlformats.org/officeDocument/2006/relationships/image" Target="../media/image105.png"/><Relationship Id="rId13" Type="http://schemas.openxmlformats.org/officeDocument/2006/relationships/image" Target="../media/image10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940.png"/><Relationship Id="rId4" Type="http://schemas.openxmlformats.org/officeDocument/2006/relationships/image" Target="../media/image1060.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image" Target="../media/image50.png"/><Relationship Id="rId8" Type="http://schemas.openxmlformats.org/officeDocument/2006/relationships/image" Target="../media/image109.png"/><Relationship Id="rId9" Type="http://schemas.openxmlformats.org/officeDocument/2006/relationships/image" Target="../media/image1061.png"/><Relationship Id="rId10" Type="http://schemas.openxmlformats.org/officeDocument/2006/relationships/image" Target="../media/image111.png"/><Relationship Id="rId11" Type="http://schemas.openxmlformats.org/officeDocument/2006/relationships/image" Target="../media/image112.png"/><Relationship Id="rId12" Type="http://schemas.openxmlformats.org/officeDocument/2006/relationships/image" Target="../media/image1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image" Target="../media/image50.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20.png"/><Relationship Id="rId11" Type="http://schemas.openxmlformats.org/officeDocument/2006/relationships/image" Target="../media/image121.png"/><Relationship Id="rId12" Type="http://schemas.openxmlformats.org/officeDocument/2006/relationships/image" Target="../media/image1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image" Target="../media/image107.jpeg"/><Relationship Id="rId5" Type="http://schemas.openxmlformats.org/officeDocument/2006/relationships/image" Target="../media/image50.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5.png"/><Relationship Id="rId11" Type="http://schemas.openxmlformats.org/officeDocument/2006/relationships/image" Target="../media/image131.png"/><Relationship Id="rId12" Type="http://schemas.openxmlformats.org/officeDocument/2006/relationships/image" Target="../media/image132.png"/><Relationship Id="rId13" Type="http://schemas.openxmlformats.org/officeDocument/2006/relationships/image" Target="../media/image110.png"/><Relationship Id="rId14" Type="http://schemas.openxmlformats.org/officeDocument/2006/relationships/image" Target="../media/image133.png"/><Relationship Id="rId15" Type="http://schemas.openxmlformats.org/officeDocument/2006/relationships/image" Target="../media/image134.png"/><Relationship Id="rId16" Type="http://schemas.openxmlformats.org/officeDocument/2006/relationships/image" Target="../media/image1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9.png"/><Relationship Id="rId6" Type="http://schemas.openxmlformats.org/officeDocument/2006/relationships/image" Target="../media/image140.png"/><Relationship Id="rId7" Type="http://schemas.openxmlformats.org/officeDocument/2006/relationships/image" Target="../media/image50.png"/><Relationship Id="rId8" Type="http://schemas.openxmlformats.org/officeDocument/2006/relationships/image" Target="../media/image141.png"/><Relationship Id="rId9" Type="http://schemas.openxmlformats.org/officeDocument/2006/relationships/image" Target="../media/image142.png"/><Relationship Id="rId10" Type="http://schemas.openxmlformats.org/officeDocument/2006/relationships/image" Target="../media/image143.png"/><Relationship Id="rId11" Type="http://schemas.openxmlformats.org/officeDocument/2006/relationships/image" Target="../media/image144.png"/><Relationship Id="rId12" Type="http://schemas.openxmlformats.org/officeDocument/2006/relationships/image" Target="../media/image145.png"/><Relationship Id="rId13" Type="http://schemas.openxmlformats.org/officeDocument/2006/relationships/image" Target="../media/image1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147.png"/><Relationship Id="rId4" Type="http://schemas.openxmlformats.org/officeDocument/2006/relationships/image" Target="../media/image148.png"/><Relationship Id="rId5" Type="http://schemas.openxmlformats.org/officeDocument/2006/relationships/image" Target="../media/image149.png"/><Relationship Id="rId6" Type="http://schemas.openxmlformats.org/officeDocument/2006/relationships/image" Target="../media/image150.png"/><Relationship Id="rId7" Type="http://schemas.openxmlformats.org/officeDocument/2006/relationships/image" Target="../media/image50.png"/><Relationship Id="rId8" Type="http://schemas.openxmlformats.org/officeDocument/2006/relationships/image" Target="../media/image135.png"/><Relationship Id="rId9" Type="http://schemas.openxmlformats.org/officeDocument/2006/relationships/image" Target="../media/image152.png"/><Relationship Id="rId10" Type="http://schemas.openxmlformats.org/officeDocument/2006/relationships/image" Target="../media/image151.png"/><Relationship Id="rId11" Type="http://schemas.openxmlformats.org/officeDocument/2006/relationships/image" Target="../media/image154.png"/><Relationship Id="rId12" Type="http://schemas.openxmlformats.org/officeDocument/2006/relationships/image" Target="../media/image155.png"/><Relationship Id="rId13" Type="http://schemas.openxmlformats.org/officeDocument/2006/relationships/image" Target="../media/image1511.png"/><Relationship Id="rId14" Type="http://schemas.openxmlformats.org/officeDocument/2006/relationships/image" Target="../media/image153.png"/><Relationship Id="rId15" Type="http://schemas.openxmlformats.org/officeDocument/2006/relationships/image" Target="../media/image157.png"/><Relationship Id="rId16" Type="http://schemas.openxmlformats.org/officeDocument/2006/relationships/image" Target="../media/image156.png"/><Relationship Id="rId17" Type="http://schemas.openxmlformats.org/officeDocument/2006/relationships/image" Target="../media/image158.png"/><Relationship Id="rId18" Type="http://schemas.openxmlformats.org/officeDocument/2006/relationships/image" Target="../media/image15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 Id="rId7" Type="http://schemas.openxmlformats.org/officeDocument/2006/relationships/image" Target="../media/image50.png"/><Relationship Id="rId8" Type="http://schemas.openxmlformats.org/officeDocument/2006/relationships/image" Target="../media/image1580.png"/><Relationship Id="rId9" Type="http://schemas.openxmlformats.org/officeDocument/2006/relationships/image" Target="../media/image166.png"/><Relationship Id="rId10" Type="http://schemas.openxmlformats.org/officeDocument/2006/relationships/image" Target="../media/image168.png"/><Relationship Id="rId11" Type="http://schemas.openxmlformats.org/officeDocument/2006/relationships/image" Target="../media/image169.png"/><Relationship Id="rId12" Type="http://schemas.openxmlformats.org/officeDocument/2006/relationships/image" Target="../media/image170.png"/><Relationship Id="rId13" Type="http://schemas.openxmlformats.org/officeDocument/2006/relationships/image" Target="../media/image17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jpe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50.png"/><Relationship Id="rId8" Type="http://schemas.openxmlformats.org/officeDocument/2006/relationships/image" Target="../media/image176.png"/><Relationship Id="rId9" Type="http://schemas.openxmlformats.org/officeDocument/2006/relationships/image" Target="../media/image177.png"/><Relationship Id="rId10" Type="http://schemas.openxmlformats.org/officeDocument/2006/relationships/image" Target="../media/image167.png"/><Relationship Id="rId11" Type="http://schemas.openxmlformats.org/officeDocument/2006/relationships/image" Target="../media/image178.png"/><Relationship Id="rId12" Type="http://schemas.openxmlformats.org/officeDocument/2006/relationships/image" Target="../media/image179.png"/><Relationship Id="rId13" Type="http://schemas.openxmlformats.org/officeDocument/2006/relationships/image" Target="../media/image130.png"/><Relationship Id="rId14" Type="http://schemas.openxmlformats.org/officeDocument/2006/relationships/image" Target="../media/image1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Group 5">
            <a:extLst>
              <a:ext uri="{FF2B5EF4-FFF2-40B4-BE49-F238E27FC236}">
                <a16:creationId xmlns:a16="http://schemas.microsoft.com/office/drawing/2014/main" id="{E3FF6797-9084-4088-B03C-F68BB0D6D29D}"/>
              </a:ext>
            </a:extLst>
          </p:cNvPr>
          <p:cNvGrpSpPr/>
          <p:nvPr/>
        </p:nvGrpSpPr>
        <p:grpSpPr>
          <a:xfrm>
            <a:off x="9677400" y="1676400"/>
            <a:ext cx="13944600" cy="11181523"/>
            <a:chOff x="9851187" y="2126503"/>
            <a:chExt cx="13944600" cy="11181523"/>
          </a:xfrm>
        </p:grpSpPr>
        <p:grpSp>
          <p:nvGrpSpPr>
            <p:cNvPr id="8" name="Group 7"/>
            <p:cNvGrpSpPr/>
            <p:nvPr/>
          </p:nvGrpSpPr>
          <p:grpSpPr>
            <a:xfrm>
              <a:off x="9851187" y="2126503"/>
              <a:ext cx="13944600" cy="11181523"/>
              <a:chOff x="1339699" y="3448230"/>
              <a:chExt cx="13944600" cy="11181523"/>
            </a:xfrm>
          </p:grpSpPr>
          <p:sp>
            <p:nvSpPr>
              <p:cNvPr id="10" name="Right Triangle 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1339699" y="3448230"/>
                <a:ext cx="13944600" cy="11181523"/>
                <a:chOff x="1339699" y="3448230"/>
                <a:chExt cx="13944600" cy="11181523"/>
              </a:xfrm>
            </p:grpSpPr>
            <p:sp>
              <p:nvSpPr>
                <p:cNvPr id="12" name="Rounded Rectangle 11"/>
                <p:cNvSpPr/>
                <p:nvPr/>
              </p:nvSpPr>
              <p:spPr>
                <a:xfrm>
                  <a:off x="1339699" y="3696072"/>
                  <a:ext cx="13944600" cy="10933681"/>
                </a:xfrm>
                <a:prstGeom prst="roundRect">
                  <a:avLst>
                    <a:gd name="adj" fmla="val 2374"/>
                  </a:avLst>
                </a:prstGeom>
                <a:solidFill>
                  <a:schemeClr val="accent6">
                    <a:lumMod val="20000"/>
                    <a:lumOff val="80000"/>
                  </a:schemeClr>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14" name="TextBox 13"/>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15" name="Right Triangle 14"/>
            <p:cNvSpPr/>
            <p:nvPr/>
          </p:nvSpPr>
          <p:spPr>
            <a:xfrm flipH="1">
              <a:off x="11477625" y="2164818"/>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p:cNvSpPr/>
            <p:nvPr/>
          </p:nvSpPr>
          <p:spPr>
            <a:xfrm flipV="1">
              <a:off x="11671001" y="2164811"/>
              <a:ext cx="10807999" cy="1333291"/>
            </a:xfrm>
            <a:prstGeom prst="round2Same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a:spLocks noChangeArrowheads="1"/>
            </p:cNvSpPr>
            <p:nvPr/>
          </p:nvSpPr>
          <p:spPr bwMode="auto">
            <a:xfrm>
              <a:off x="10116799" y="3468887"/>
              <a:ext cx="13413376" cy="9334151"/>
            </a:xfrm>
            <a:prstGeom prst="rect">
              <a:avLst/>
            </a:prstGeom>
            <a:noFill/>
            <a:ln w="9525">
              <a:noFill/>
              <a:miter lim="800000"/>
              <a:headEnd/>
              <a:tailEnd/>
            </a:ln>
            <a:effectLst/>
          </p:spPr>
          <p:txBody>
            <a:bodyPr/>
            <a:lstStyle/>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§7. </a:t>
              </a:r>
              <a:r>
                <a:rPr lang="en-US" sz="5800" b="1" dirty="0" err="1">
                  <a:solidFill>
                    <a:srgbClr val="0000FF"/>
                  </a:solidFill>
                  <a:latin typeface="Tahoma" pitchFamily="34" charset="0"/>
                  <a:ea typeface="Tahoma" pitchFamily="34" charset="0"/>
                  <a:cs typeface="Tahoma" pitchFamily="34" charset="0"/>
                </a:rPr>
                <a:t>Các</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khái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niệm</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mở</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đầu</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§8. </a:t>
              </a:r>
              <a:r>
                <a:rPr lang="en-US" sz="5800" b="1" dirty="0" err="1">
                  <a:solidFill>
                    <a:srgbClr val="0000FF"/>
                  </a:solidFill>
                  <a:latin typeface="Tahoma" pitchFamily="34" charset="0"/>
                  <a:ea typeface="Tahoma" pitchFamily="34" charset="0"/>
                  <a:cs typeface="Tahoma" pitchFamily="34" charset="0"/>
                </a:rPr>
                <a:t>Tổng</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và</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hiệu</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của</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hai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vectơ</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§9. </a:t>
              </a:r>
              <a:r>
                <a:rPr lang="en-US" sz="5800" b="1" dirty="0" err="1">
                  <a:solidFill>
                    <a:srgbClr val="0000FF"/>
                  </a:solidFill>
                  <a:latin typeface="Tahoma" pitchFamily="34" charset="0"/>
                  <a:ea typeface="Tahoma" pitchFamily="34" charset="0"/>
                  <a:cs typeface="Tahoma" pitchFamily="34" charset="0"/>
                </a:rPr>
                <a:t>Tích</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của</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một</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vectơ</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với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một</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số</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FF0000"/>
                  </a:solidFill>
                  <a:latin typeface="Tahoma" pitchFamily="34" charset="0"/>
                  <a:ea typeface="Tahoma" pitchFamily="34" charset="0"/>
                  <a:cs typeface="Tahoma" pitchFamily="34" charset="0"/>
                </a:rPr>
                <a:t>§10. </a:t>
              </a:r>
              <a:r>
                <a:rPr lang="en-US" sz="5800" b="1" dirty="0" err="1">
                  <a:solidFill>
                    <a:srgbClr val="FF0000"/>
                  </a:solidFill>
                  <a:latin typeface="Tahoma" pitchFamily="34" charset="0"/>
                  <a:ea typeface="Tahoma" pitchFamily="34" charset="0"/>
                  <a:cs typeface="Tahoma" pitchFamily="34" charset="0"/>
                </a:rPr>
                <a:t>Vectơ</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trong</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mặt</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phẳng</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tọa</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độ</a:t>
              </a:r>
              <a:endParaRPr lang="en-US" sz="5800" b="1" dirty="0">
                <a:solidFill>
                  <a:srgbClr val="FF0000"/>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§11. </a:t>
              </a:r>
              <a:r>
                <a:rPr lang="en-US" sz="5800" b="1" dirty="0" err="1">
                  <a:solidFill>
                    <a:srgbClr val="0000FF"/>
                  </a:solidFill>
                  <a:latin typeface="Tahoma" pitchFamily="34" charset="0"/>
                  <a:ea typeface="Tahoma" pitchFamily="34" charset="0"/>
                  <a:cs typeface="Tahoma" pitchFamily="34" charset="0"/>
                </a:rPr>
                <a:t>Tích</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vô</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hướng</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của</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hai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vectơ</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err="1">
                  <a:solidFill>
                    <a:srgbClr val="0000FF"/>
                  </a:solidFill>
                  <a:latin typeface="Tahoma" pitchFamily="34" charset="0"/>
                  <a:ea typeface="Tahoma" pitchFamily="34" charset="0"/>
                  <a:cs typeface="Tahoma" pitchFamily="34" charset="0"/>
                </a:rPr>
                <a:t>Bài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tập</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cuối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chương</a:t>
              </a:r>
              <a:r>
                <a:rPr lang="en-US" sz="5800" b="1" dirty="0">
                  <a:solidFill>
                    <a:srgbClr val="0000FF"/>
                  </a:solidFill>
                  <a:latin typeface="Tahoma" pitchFamily="34" charset="0"/>
                  <a:ea typeface="Tahoma" pitchFamily="34" charset="0"/>
                  <a:cs typeface="Tahoma" pitchFamily="34" charset="0"/>
                </a:rPr>
                <a:t> 4</a:t>
              </a:r>
            </a:p>
          </p:txBody>
        </p:sp>
        <p:sp>
          <p:nvSpPr>
            <p:cNvPr id="2" name="TextBox 1"/>
            <p:cNvSpPr txBox="1"/>
            <p:nvPr/>
          </p:nvSpPr>
          <p:spPr>
            <a:xfrm>
              <a:off x="11912450" y="2428363"/>
              <a:ext cx="10325100" cy="830997"/>
            </a:xfrm>
            <a:prstGeom prst="rect">
              <a:avLst/>
            </a:prstGeom>
            <a:noFill/>
          </p:spPr>
          <p:txBody>
            <a:bodyPr wrap="square" rtlCol="0">
              <a:spAutoFit/>
            </a:bodyPr>
            <a:lstStyle/>
            <a:p>
              <a:pPr algn="ctr"/>
              <a:r>
                <a:rPr lang="vi-VN" sz="4800" b="1">
                  <a:solidFill>
                    <a:schemeClr val="bg1"/>
                  </a:solidFill>
                  <a:latin typeface="Tahoma" panose="020B0604030504040204" pitchFamily="34" charset="0"/>
                  <a:ea typeface="Tahoma" panose="020B0604030504040204" pitchFamily="34" charset="0"/>
                  <a:cs typeface="Tahoma" panose="020B0604030504040204" pitchFamily="34" charset="0"/>
                </a:rPr>
                <a:t>CHƯƠNG I</a:t>
              </a:r>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V</a:t>
              </a:r>
              <a:r>
                <a:rPr lang="vi-VN" sz="4800" b="1">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VECTƠ</a:t>
              </a:r>
              <a:endParaRPr lang="vi-VN" sz="4800" b="1">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pic>
        <p:nvPicPr>
          <p:cNvPr id="3" name="Picture 2">
            <a:extLst>
              <a:ext uri="{FF2B5EF4-FFF2-40B4-BE49-F238E27FC236}">
                <a16:creationId xmlns:a16="http://schemas.microsoft.com/office/drawing/2014/main" id="{54FF52DF-8AC8-4DAD-B751-39601E57B279}"/>
              </a:ext>
            </a:extLst>
          </p:cNvPr>
          <p:cNvPicPr>
            <a:picLocks noChangeAspect="1"/>
          </p:cNvPicPr>
          <p:nvPr/>
        </p:nvPicPr>
        <p:blipFill>
          <a:blip r:embed="rId2"/>
          <a:stretch>
            <a:fillRect/>
          </a:stretch>
        </p:blipFill>
        <p:spPr>
          <a:xfrm>
            <a:off x="776134" y="1924240"/>
            <a:ext cx="8813299" cy="10933681"/>
          </a:xfrm>
          <a:prstGeom prst="rect">
            <a:avLst/>
          </a:prstGeom>
        </p:spPr>
      </p:pic>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140518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981492" y="1809817"/>
            <a:ext cx="22817236" cy="9946698"/>
            <a:chOff x="1438691" y="1793813"/>
            <a:chExt cx="22817236" cy="10641062"/>
          </a:xfrm>
        </p:grpSpPr>
        <p:grpSp>
          <p:nvGrpSpPr>
            <p:cNvPr id="2" name="Group 1">
              <a:extLst>
                <a:ext uri="{FF2B5EF4-FFF2-40B4-BE49-F238E27FC236}">
                  <a16:creationId xmlns:a16="http://schemas.microsoft.com/office/drawing/2014/main" id="{E17C9077-2F0E-4830-9CBB-2CF87E745444}"/>
                </a:ext>
              </a:extLst>
            </p:cNvPr>
            <p:cNvGrpSpPr/>
            <p:nvPr/>
          </p:nvGrpSpPr>
          <p:grpSpPr>
            <a:xfrm>
              <a:off x="1438691" y="1793813"/>
              <a:ext cx="22817236" cy="10641062"/>
              <a:chOff x="1438691" y="1793813"/>
              <a:chExt cx="22817236" cy="10641062"/>
            </a:xfrm>
          </p:grpSpPr>
          <p:grpSp>
            <p:nvGrpSpPr>
              <p:cNvPr id="69" name="Group 68"/>
              <p:cNvGrpSpPr/>
              <p:nvPr/>
            </p:nvGrpSpPr>
            <p:grpSpPr>
              <a:xfrm>
                <a:off x="1575873" y="1797127"/>
                <a:ext cx="22680054" cy="10637748"/>
                <a:chOff x="-3538955" y="3448230"/>
                <a:chExt cx="22680054" cy="10637748"/>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538955" y="3448230"/>
                  <a:ext cx="22680054" cy="10637748"/>
                  <a:chOff x="-3538955" y="3448230"/>
                  <a:chExt cx="22680054" cy="10637748"/>
                </a:xfrm>
              </p:grpSpPr>
              <p:sp>
                <p:nvSpPr>
                  <p:cNvPr id="72" name="Rounded Rectangle 71"/>
                  <p:cNvSpPr/>
                  <p:nvPr/>
                </p:nvSpPr>
                <p:spPr>
                  <a:xfrm>
                    <a:off x="-3538955" y="3592713"/>
                    <a:ext cx="22680054" cy="10493265"/>
                  </a:xfrm>
                  <a:prstGeom prst="roundRect">
                    <a:avLst>
                      <a:gd name="adj" fmla="val 2127"/>
                    </a:avLst>
                  </a:prstGeom>
                  <a:solidFill>
                    <a:schemeClr val="bg1"/>
                  </a:solidFill>
                  <a:ln w="76200">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7921388"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8114764" y="1793813"/>
                <a:ext cx="10807999"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8114763" y="1953929"/>
                <a:ext cx="10808000" cy="830997"/>
              </a:xfrm>
              <a:prstGeom prst="rect">
                <a:avLst/>
              </a:prstGeom>
              <a:noFill/>
            </p:spPr>
            <p:txBody>
              <a:bodyPr wrap="square" rtlCol="0">
                <a:spAutoFit/>
              </a:bodyPr>
              <a:lstStyle/>
              <a:p>
                <a:pPr algn="ctr"/>
                <a:r>
                  <a:rPr lang="vi-VN" sz="4800" b="1">
                    <a:solidFill>
                      <a:srgbClr val="C00000"/>
                    </a:solidFill>
                    <a:latin typeface="Tahoma" panose="020B0604030504040204" pitchFamily="34" charset="0"/>
                    <a:ea typeface="Tahoma" panose="020B0604030504040204" pitchFamily="34" charset="0"/>
                    <a:cs typeface="Tahoma" panose="020B0604030504040204" pitchFamily="34" charset="0"/>
                  </a:rPr>
                  <a:t>CHƯƠNG I</a:t>
                </a:r>
                <a:r>
                  <a:rPr lang="en-US" sz="4800" b="1">
                    <a:solidFill>
                      <a:srgbClr val="C00000"/>
                    </a:solidFill>
                    <a:latin typeface="Tahoma" panose="020B0604030504040204" pitchFamily="34" charset="0"/>
                    <a:ea typeface="Tahoma" panose="020B0604030504040204" pitchFamily="34" charset="0"/>
                    <a:cs typeface="Tahoma" panose="020B0604030504040204" pitchFamily="34" charset="0"/>
                  </a:rPr>
                  <a:t>V</a:t>
                </a:r>
                <a:r>
                  <a:rPr lang="vi-VN" sz="4800" b="1">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US" sz="4800" b="1">
                    <a:solidFill>
                      <a:srgbClr val="C00000"/>
                    </a:solidFill>
                    <a:latin typeface="Tahoma" panose="020B0604030504040204" pitchFamily="34" charset="0"/>
                    <a:ea typeface="Tahoma" panose="020B0604030504040204" pitchFamily="34" charset="0"/>
                    <a:cs typeface="Tahoma" panose="020B0604030504040204" pitchFamily="34" charset="0"/>
                  </a:rPr>
                  <a:t>VECTƠ</a:t>
                </a:r>
                <a:endParaRPr lang="vi-VN" sz="4800" b="1">
                  <a:solidFill>
                    <a:srgbClr val="C00000"/>
                  </a:solidFill>
                  <a:latin typeface="Tahoma" panose="020B0604030504040204" pitchFamily="34" charset="0"/>
                  <a:ea typeface="Tahoma" panose="020B0604030504040204" pitchFamily="34" charset="0"/>
                  <a:cs typeface="Tahoma" panose="020B0604030504040204" pitchFamily="34" charset="0"/>
                </a:endParaRP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1438691" y="5971610"/>
                <a:ext cx="8010108" cy="893784"/>
                <a:chOff x="7450558" y="7793649"/>
                <a:chExt cx="8011038" cy="893888"/>
              </a:xfrm>
            </p:grpSpPr>
            <p:sp>
              <p:nvSpPr>
                <p:cNvPr id="57" name="Rectangle 56"/>
                <p:cNvSpPr/>
                <p:nvPr/>
              </p:nvSpPr>
              <p:spPr>
                <a:xfrm>
                  <a:off x="9149954" y="7793649"/>
                  <a:ext cx="6311642" cy="889111"/>
                </a:xfrm>
                <a:prstGeom prst="rect">
                  <a:avLst/>
                </a:prstGeom>
              </p:spPr>
              <p:txBody>
                <a:bodyPr wrap="square">
                  <a:spAutoFit/>
                </a:bodyPr>
                <a:lstStyle/>
                <a:p>
                  <a:pPr>
                    <a:lnSpc>
                      <a:spcPct val="100000"/>
                    </a:lnSpc>
                    <a:spcBef>
                      <a:spcPct val="0"/>
                    </a:spcBef>
                    <a:buFontTx/>
                    <a:buNone/>
                    <a:defRPr/>
                  </a:pPr>
                  <a:r>
                    <a:rPr lang="vi-VN" sz="4800" b="1">
                      <a:solidFill>
                        <a:srgbClr val="242452"/>
                      </a:solidFill>
                      <a:latin typeface="Tahoma" panose="020B0604030504040204" pitchFamily="34" charset="0"/>
                      <a:ea typeface="Tahoma" panose="020B0604030504040204" pitchFamily="34" charset="0"/>
                      <a:cs typeface="Tahoma" panose="020B0604030504040204" pitchFamily="34" charset="0"/>
                    </a:rPr>
                    <a:t>TỌA ĐỘ CỦA VECTƠ</a:t>
                  </a:r>
                  <a:endParaRPr lang="en-US" sz="4800" b="1">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58" name="Group 26"/>
                <p:cNvGrpSpPr/>
                <p:nvPr/>
              </p:nvGrpSpPr>
              <p:grpSpPr>
                <a:xfrm>
                  <a:off x="7450558" y="7834555"/>
                  <a:ext cx="1383018" cy="852982"/>
                  <a:chOff x="7450631" y="8291755"/>
                  <a:chExt cx="1371600" cy="852982"/>
                </a:xfrm>
              </p:grpSpPr>
              <p:sp>
                <p:nvSpPr>
                  <p:cNvPr id="59" name="Isosceles Triangle 44"/>
                  <p:cNvSpPr/>
                  <p:nvPr/>
                </p:nvSpPr>
                <p:spPr>
                  <a:xfrm rot="16200000">
                    <a:off x="7469936" y="8281488"/>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50631" y="8321487"/>
                    <a:ext cx="1371600" cy="823250"/>
                    <a:chOff x="7450631" y="8321487"/>
                    <a:chExt cx="1371600" cy="823250"/>
                  </a:xfrm>
                </p:grpSpPr>
                <p:sp>
                  <p:nvSpPr>
                    <p:cNvPr id="61" name="Round Same Side Corner Rectangle 60"/>
                    <p:cNvSpPr/>
                    <p:nvPr/>
                  </p:nvSpPr>
                  <p:spPr>
                    <a:xfrm rot="5400000">
                      <a:off x="7770671" y="8036947"/>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7924349" y="8321487"/>
                      <a:ext cx="539313" cy="823250"/>
                    </a:xfrm>
                    <a:prstGeom prst="rect">
                      <a:avLst/>
                    </a:prstGeom>
                    <a:noFill/>
                  </p:spPr>
                  <p:txBody>
                    <a:bodyPr wrap="none" rtlCol="0">
                      <a:spAutoFit/>
                    </a:bodyPr>
                    <a:lstStyle/>
                    <a:p>
                      <a:pPr algn="ctr"/>
                      <a:r>
                        <a:rPr lang="en-US" sz="4400" b="1">
                          <a:solidFill>
                            <a:prstClr val="white"/>
                          </a:solidFill>
                          <a:latin typeface="Tahoma" panose="020B0604030504040204" pitchFamily="34" charset="0"/>
                          <a:ea typeface="Tahoma" panose="020B0604030504040204" pitchFamily="34" charset="0"/>
                          <a:cs typeface="Tahoma" panose="020B0604030504040204" pitchFamily="34" charset="0"/>
                        </a:rPr>
                        <a:t>1</a:t>
                      </a:r>
                    </a:p>
                  </p:txBody>
                </p:sp>
              </p:grpSp>
            </p:grpSp>
          </p:grpSp>
          <p:grpSp>
            <p:nvGrpSpPr>
              <p:cNvPr id="63" name="Group 67"/>
              <p:cNvGrpSpPr/>
              <p:nvPr/>
            </p:nvGrpSpPr>
            <p:grpSpPr>
              <a:xfrm>
                <a:off x="1447805" y="7460330"/>
                <a:ext cx="16267290" cy="979073"/>
                <a:chOff x="7459672" y="7170625"/>
                <a:chExt cx="16269158" cy="979184"/>
              </a:xfrm>
            </p:grpSpPr>
            <p:sp>
              <p:nvSpPr>
                <p:cNvPr id="75" name="Rectangle 74"/>
                <p:cNvSpPr/>
                <p:nvPr/>
              </p:nvSpPr>
              <p:spPr>
                <a:xfrm>
                  <a:off x="9111076" y="7260701"/>
                  <a:ext cx="14617754" cy="889108"/>
                </a:xfrm>
                <a:prstGeom prst="rect">
                  <a:avLst/>
                </a:prstGeom>
              </p:spPr>
              <p:txBody>
                <a:bodyPr wrap="square">
                  <a:spAutoFit/>
                </a:bodyPr>
                <a:lstStyle/>
                <a:p>
                  <a:pPr>
                    <a:lnSpc>
                      <a:spcPct val="100000"/>
                    </a:lnSpc>
                    <a:spcBef>
                      <a:spcPct val="0"/>
                    </a:spcBef>
                    <a:buNone/>
                    <a:defRPr/>
                  </a:pPr>
                  <a:r>
                    <a:rPr lang="vi-VN" sz="4800" b="1" spc="-150">
                      <a:solidFill>
                        <a:srgbClr val="242452"/>
                      </a:solidFill>
                      <a:latin typeface="Tahoma" panose="020B0604030504040204" pitchFamily="34" charset="0"/>
                      <a:ea typeface="Tahoma" panose="020B0604030504040204" pitchFamily="34" charset="0"/>
                      <a:cs typeface="Tahoma" panose="020B0604030504040204" pitchFamily="34" charset="0"/>
                    </a:rPr>
                    <a:t>BIỂU THỨC TỌA ĐỘ CỦA CÁC PHÉP TOÁN VECTƠ</a:t>
                  </a:r>
                  <a:endParaRPr lang="en-US" sz="4800" b="1" spc="-15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76" name="Group 32"/>
                <p:cNvGrpSpPr/>
                <p:nvPr/>
              </p:nvGrpSpPr>
              <p:grpSpPr>
                <a:xfrm>
                  <a:off x="7459672" y="7170625"/>
                  <a:ext cx="1411234" cy="924549"/>
                  <a:chOff x="7459669" y="6189930"/>
                  <a:chExt cx="1399583" cy="924549"/>
                </a:xfrm>
              </p:grpSpPr>
              <p:sp>
                <p:nvSpPr>
                  <p:cNvPr id="77" name="Isosceles Triangle 44"/>
                  <p:cNvSpPr/>
                  <p:nvPr/>
                </p:nvSpPr>
                <p:spPr>
                  <a:xfrm rot="16200000">
                    <a:off x="7469936" y="617966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87652" y="6291231"/>
                    <a:ext cx="1371600" cy="823248"/>
                    <a:chOff x="7487652" y="6291231"/>
                    <a:chExt cx="1371600" cy="823248"/>
                  </a:xfrm>
                </p:grpSpPr>
                <p:sp>
                  <p:nvSpPr>
                    <p:cNvPr id="79" name="Round Same Side Corner Rectangle 78"/>
                    <p:cNvSpPr/>
                    <p:nvPr/>
                  </p:nvSpPr>
                  <p:spPr>
                    <a:xfrm rot="5400000">
                      <a:off x="7807692" y="5987125"/>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961369" y="6291231"/>
                      <a:ext cx="539312" cy="823248"/>
                    </a:xfrm>
                    <a:prstGeom prst="rect">
                      <a:avLst/>
                    </a:prstGeom>
                    <a:noFill/>
                  </p:spPr>
                  <p:txBody>
                    <a:bodyPr wrap="none" rtlCol="0">
                      <a:spAutoFit/>
                    </a:bodyPr>
                    <a:lstStyle/>
                    <a:p>
                      <a:pPr algn="ctr"/>
                      <a:r>
                        <a:rPr lang="en-US" sz="4400" b="1">
                          <a:solidFill>
                            <a:prstClr val="white"/>
                          </a:solidFill>
                          <a:latin typeface="Tahoma" panose="020B0604030504040204" pitchFamily="34" charset="0"/>
                          <a:ea typeface="Tahoma" panose="020B0604030504040204" pitchFamily="34" charset="0"/>
                          <a:cs typeface="Tahoma" panose="020B0604030504040204" pitchFamily="34" charset="0"/>
                        </a:rPr>
                        <a:t>2</a:t>
                      </a:r>
                    </a:p>
                  </p:txBody>
                </p:sp>
              </p:grpSp>
            </p:grpSp>
          </p:grpSp>
          <p:grpSp>
            <p:nvGrpSpPr>
              <p:cNvPr id="47" name="Group 67"/>
              <p:cNvGrpSpPr/>
              <p:nvPr/>
            </p:nvGrpSpPr>
            <p:grpSpPr>
              <a:xfrm>
                <a:off x="1447798" y="8899390"/>
                <a:ext cx="4343401" cy="965255"/>
                <a:chOff x="7459670" y="7441560"/>
                <a:chExt cx="5615662" cy="965366"/>
              </a:xfrm>
            </p:grpSpPr>
            <p:sp>
              <p:nvSpPr>
                <p:cNvPr id="48" name="Rectangle 47"/>
                <p:cNvSpPr/>
                <p:nvPr/>
              </p:nvSpPr>
              <p:spPr>
                <a:xfrm>
                  <a:off x="9610103" y="7517816"/>
                  <a:ext cx="3465229" cy="889110"/>
                </a:xfrm>
                <a:prstGeom prst="rect">
                  <a:avLst/>
                </a:prstGeom>
              </p:spPr>
              <p:txBody>
                <a:bodyPr wrap="square">
                  <a:spAutoFit/>
                </a:bodyPr>
                <a:lstStyle/>
                <a:p>
                  <a:pPr>
                    <a:lnSpc>
                      <a:spcPct val="100000"/>
                    </a:lnSpc>
                    <a:spcBef>
                      <a:spcPct val="0"/>
                    </a:spcBef>
                    <a:buNone/>
                    <a:defRPr/>
                  </a:pPr>
                  <a:r>
                    <a:rPr lang="en-US" sz="4800" b="1" spc="-150">
                      <a:solidFill>
                        <a:srgbClr val="242452"/>
                      </a:solidFill>
                      <a:latin typeface="Tahoma" panose="020B0604030504040204" pitchFamily="34" charset="0"/>
                      <a:ea typeface="Tahoma" panose="020B0604030504040204" pitchFamily="34" charset="0"/>
                      <a:cs typeface="Tahoma" panose="020B0604030504040204" pitchFamily="34" charset="0"/>
                    </a:rPr>
                    <a:t>BÀI TẬP</a:t>
                  </a:r>
                </a:p>
              </p:txBody>
            </p:sp>
            <p:grpSp>
              <p:nvGrpSpPr>
                <p:cNvPr id="49" name="Group 32"/>
                <p:cNvGrpSpPr/>
                <p:nvPr/>
              </p:nvGrpSpPr>
              <p:grpSpPr>
                <a:xfrm>
                  <a:off x="7459670" y="7441560"/>
                  <a:ext cx="1800333" cy="920205"/>
                  <a:chOff x="7459669" y="6460865"/>
                  <a:chExt cx="1785470" cy="920205"/>
                </a:xfrm>
              </p:grpSpPr>
              <p:sp>
                <p:nvSpPr>
                  <p:cNvPr id="50" name="Isosceles Triangle 44"/>
                  <p:cNvSpPr/>
                  <p:nvPr/>
                </p:nvSpPr>
                <p:spPr>
                  <a:xfrm rot="16200000">
                    <a:off x="7469936" y="6450598"/>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51" name="Group 41"/>
                  <p:cNvGrpSpPr/>
                  <p:nvPr/>
                </p:nvGrpSpPr>
                <p:grpSpPr>
                  <a:xfrm>
                    <a:off x="7469193" y="6537082"/>
                    <a:ext cx="1775946" cy="843988"/>
                    <a:chOff x="7469193" y="6537082"/>
                    <a:chExt cx="1775946" cy="843988"/>
                  </a:xfrm>
                </p:grpSpPr>
                <p:sp>
                  <p:nvSpPr>
                    <p:cNvPr id="52" name="Round Same Side Corner Rectangle 51"/>
                    <p:cNvSpPr/>
                    <p:nvPr/>
                  </p:nvSpPr>
                  <p:spPr>
                    <a:xfrm rot="5400000">
                      <a:off x="7962887" y="6043388"/>
                      <a:ext cx="788557" cy="1775946"/>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TextBox 52"/>
                    <p:cNvSpPr txBox="1"/>
                    <p:nvPr/>
                  </p:nvSpPr>
                  <p:spPr>
                    <a:xfrm>
                      <a:off x="8084388" y="6557823"/>
                      <a:ext cx="697206" cy="823247"/>
                    </a:xfrm>
                    <a:prstGeom prst="rect">
                      <a:avLst/>
                    </a:prstGeom>
                    <a:noFill/>
                  </p:spPr>
                  <p:txBody>
                    <a:bodyPr wrap="none" rtlCol="0">
                      <a:spAutoFit/>
                    </a:bodyPr>
                    <a:lstStyle/>
                    <a:p>
                      <a:pPr algn="ctr"/>
                      <a:r>
                        <a:rPr lang="en-US" sz="4400" b="1">
                          <a:solidFill>
                            <a:prstClr val="white"/>
                          </a:solidFill>
                          <a:latin typeface="Tahoma" panose="020B0604030504040204" pitchFamily="34" charset="0"/>
                          <a:ea typeface="Tahoma" panose="020B0604030504040204" pitchFamily="34" charset="0"/>
                          <a:cs typeface="Tahoma" panose="020B0604030504040204" pitchFamily="34" charset="0"/>
                        </a:rPr>
                        <a:t>3</a:t>
                      </a:r>
                    </a:p>
                  </p:txBody>
                </p:sp>
              </p:grpSp>
            </p:grpSp>
          </p:grpSp>
        </p:grpSp>
        <p:sp>
          <p:nvSpPr>
            <p:cNvPr id="103" name="Google Shape;122;p14">
              <a:extLst>
                <a:ext uri="{FF2B5EF4-FFF2-40B4-BE49-F238E27FC236}">
                  <a16:creationId xmlns:a16="http://schemas.microsoft.com/office/drawing/2014/main" id="{FAF7E6E7-D68E-4774-9801-54F6529B128E}"/>
                </a:ext>
              </a:extLst>
            </p:cNvPr>
            <p:cNvSpPr/>
            <p:nvPr/>
          </p:nvSpPr>
          <p:spPr>
            <a:xfrm>
              <a:off x="3201476" y="3009805"/>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540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 HÌNH HỌC</a:t>
              </a:r>
              <a:endParaRPr sz="540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4441592" y="3900043"/>
              <a:ext cx="1316269" cy="1323399"/>
              <a:chOff x="4902568" y="292207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02568" y="292207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bg1"/>
                    </a:solidFill>
                    <a:latin typeface="Yu Gothic UI Semilight" panose="020B0400000000000000" pitchFamily="34" charset="-128"/>
                    <a:ea typeface="Yu Gothic UI Semilight" panose="020B0400000000000000" pitchFamily="34" charset="-128"/>
                  </a:rPr>
                  <a:t>➉</a:t>
                </a:r>
                <a:endParaRPr sz="8000">
                  <a:solidFill>
                    <a:schemeClr val="bg1"/>
                  </a:solidFill>
                </a:endParaRPr>
              </a:p>
            </p:txBody>
          </p:sp>
        </p:grpSp>
      </p:grpSp>
      <p:grpSp>
        <p:nvGrpSpPr>
          <p:cNvPr id="9" name="Group 8">
            <a:extLst>
              <a:ext uri="{FF2B5EF4-FFF2-40B4-BE49-F238E27FC236}">
                <a16:creationId xmlns:a16="http://schemas.microsoft.com/office/drawing/2014/main" id="{439786C1-301C-402F-B908-633A570E2C52}"/>
              </a:ext>
            </a:extLst>
          </p:cNvPr>
          <p:cNvGrpSpPr/>
          <p:nvPr/>
        </p:nvGrpSpPr>
        <p:grpSpPr>
          <a:xfrm>
            <a:off x="7007312" y="3313402"/>
            <a:ext cx="16791416" cy="1309627"/>
            <a:chOff x="7007312" y="3313402"/>
            <a:chExt cx="16791416" cy="1309627"/>
          </a:xfrm>
        </p:grpSpPr>
        <p:grpSp>
          <p:nvGrpSpPr>
            <p:cNvPr id="112" name="Group 111">
              <a:extLst>
                <a:ext uri="{FF2B5EF4-FFF2-40B4-BE49-F238E27FC236}">
                  <a16:creationId xmlns:a16="http://schemas.microsoft.com/office/drawing/2014/main" id="{1F6311BF-A4CF-4E55-85D0-0A86514BB33B}"/>
                </a:ext>
              </a:extLst>
            </p:cNvPr>
            <p:cNvGrpSpPr/>
            <p:nvPr/>
          </p:nvGrpSpPr>
          <p:grpSpPr>
            <a:xfrm>
              <a:off x="7007312" y="3330718"/>
              <a:ext cx="11110067" cy="1292311"/>
              <a:chOff x="-84747" y="97578"/>
              <a:chExt cx="6395438" cy="883658"/>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4"/>
              <a:stretch>
                <a:fillRect/>
              </a:stretch>
            </p:blipFill>
            <p:spPr>
              <a:xfrm>
                <a:off x="-84747" y="97578"/>
                <a:ext cx="6395438" cy="824094"/>
              </a:xfrm>
              <a:prstGeom prst="rect">
                <a:avLst/>
              </a:prstGeom>
            </p:spPr>
          </p:pic>
          <p:sp>
            <p:nvSpPr>
              <p:cNvPr id="115" name="TextBox 321">
                <a:extLst>
                  <a:ext uri="{FF2B5EF4-FFF2-40B4-BE49-F238E27FC236}">
                    <a16:creationId xmlns:a16="http://schemas.microsoft.com/office/drawing/2014/main" id="{EFE5FD9A-8DAE-41E9-BE5B-4B8636094028}"/>
                  </a:ext>
                </a:extLst>
              </p:cNvPr>
              <p:cNvSpPr txBox="1"/>
              <p:nvPr/>
            </p:nvSpPr>
            <p:spPr>
              <a:xfrm>
                <a:off x="180215"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a:solidFill>
                      <a:srgbClr val="FFFFFF"/>
                    </a:solidFill>
                    <a:latin typeface="Calibri" panose="020F0502020204030204" pitchFamily="34" charset="0"/>
                    <a:ea typeface="Calibri" panose="020F0502020204030204" pitchFamily="34" charset="0"/>
                    <a:cs typeface="Times New Roman" panose="02020603050405020304" pitchFamily="18" charset="0"/>
                  </a:rPr>
                  <a:t>10</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pic>
          <p:nvPicPr>
            <p:cNvPr id="7" name="Picture 6">
              <a:extLst>
                <a:ext uri="{FF2B5EF4-FFF2-40B4-BE49-F238E27FC236}">
                  <a16:creationId xmlns:a16="http://schemas.microsoft.com/office/drawing/2014/main" id="{593D231A-4F31-4CD1-BF95-3B25C6FBCE4B}"/>
                </a:ext>
              </a:extLst>
            </p:cNvPr>
            <p:cNvPicPr>
              <a:picLocks noChangeAspect="1"/>
            </p:cNvPicPr>
            <p:nvPr/>
          </p:nvPicPr>
          <p:blipFill>
            <a:blip r:embed="rId5"/>
            <a:stretch>
              <a:fillRect/>
            </a:stretch>
          </p:blipFill>
          <p:spPr>
            <a:xfrm>
              <a:off x="15925800" y="3313402"/>
              <a:ext cx="7872928" cy="1222516"/>
            </a:xfrm>
            <a:prstGeom prst="rect">
              <a:avLst/>
            </a:prstGeom>
          </p:spPr>
        </p:pic>
      </p:grpSp>
      <p:sp>
        <p:nvSpPr>
          <p:cNvPr id="10" name="TextBox 9">
            <a:extLst>
              <a:ext uri="{FF2B5EF4-FFF2-40B4-BE49-F238E27FC236}">
                <a16:creationId xmlns:a16="http://schemas.microsoft.com/office/drawing/2014/main" id="{EB80CDAB-FCA9-4E95-8F6A-72A9575E1286}"/>
              </a:ext>
            </a:extLst>
          </p:cNvPr>
          <p:cNvSpPr txBox="1"/>
          <p:nvPr/>
        </p:nvSpPr>
        <p:spPr>
          <a:xfrm>
            <a:off x="9304114" y="3496270"/>
            <a:ext cx="12793886" cy="923330"/>
          </a:xfrm>
          <a:prstGeom prst="rect">
            <a:avLst/>
          </a:prstGeom>
          <a:noFill/>
        </p:spPr>
        <p:txBody>
          <a:bodyPr wrap="square" rtlCol="0">
            <a:spAutoFit/>
          </a:bodyPr>
          <a:lstStyle/>
          <a:p>
            <a:r>
              <a:rPr lang="vi-VN" sz="5400" b="1">
                <a:solidFill>
                  <a:schemeClr val="bg1"/>
                </a:solidFill>
                <a:latin typeface="Tahoma" panose="020B0604030504040204" pitchFamily="34" charset="0"/>
                <a:ea typeface="Tahoma" panose="020B0604030504040204" pitchFamily="34" charset="0"/>
                <a:cs typeface="Tahoma" panose="020B0604030504040204" pitchFamily="34" charset="0"/>
              </a:rPr>
              <a:t>VECTƠ TRONG MẶT PHẲNG TỌA ĐỘ</a:t>
            </a:r>
            <a:endParaRPr lang="en-US" sz="5400" b="1">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8425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28600" y="1831271"/>
            <a:ext cx="23850600" cy="3502729"/>
          </a:xfrm>
          <a:prstGeom prst="rect">
            <a:avLst/>
          </a:prstGeom>
          <a:solidFill>
            <a:schemeClr val="bg1">
              <a:lumMod val="95000"/>
            </a:schemeClr>
          </a:solidFill>
          <a:ln>
            <a:solidFill>
              <a:schemeClr val="tx2">
                <a:lumMod val="20000"/>
                <a:lumOff val="80000"/>
              </a:schemeClr>
            </a:solidFill>
          </a:ln>
        </p:spPr>
        <p:txBody>
          <a:bodyPr tIns="91440" bIns="9144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just">
              <a:lnSpc>
                <a:spcPct val="100000"/>
              </a:lnSpc>
            </a:pPr>
            <a:r>
              <a:rPr lang="vi-VN" sz="4400" b="1">
                <a:latin typeface="Tahoma" panose="020B0604030504040204" pitchFamily="34" charset="0"/>
                <a:ea typeface="Tahoma" panose="020B0604030504040204" pitchFamily="34" charset="0"/>
                <a:cs typeface="Tahoma" panose="020B0604030504040204" pitchFamily="34" charset="0"/>
              </a:rPr>
              <a:t>Một bản tin dự báo thời tiết thể hiện đường đi trong 12 giờ của một cơn bão trên một mặt phẳng tọa độ. Trong khoảng thời gian đó, tâm bão di chuyển thẳng đều từ vị trí có tọa độ (13,8;106,3) đến vị trí có tọa độ (14,1;106,3). D</a:t>
            </a:r>
            <a:r>
              <a:rPr lang="en-US" sz="4400" b="1">
                <a:latin typeface="Tahoma" panose="020B0604030504040204" pitchFamily="34" charset="0"/>
                <a:ea typeface="Tahoma" panose="020B0604030504040204" pitchFamily="34" charset="0"/>
                <a:cs typeface="Tahoma" panose="020B0604030504040204" pitchFamily="34" charset="0"/>
              </a:rPr>
              <a:t>ự</a:t>
            </a:r>
            <a:r>
              <a:rPr lang="vi-VN" sz="4400" b="1">
                <a:latin typeface="Tahoma" panose="020B0604030504040204" pitchFamily="34" charset="0"/>
                <a:ea typeface="Tahoma" panose="020B0604030504040204" pitchFamily="34" charset="0"/>
                <a:cs typeface="Tahoma" panose="020B0604030504040204" pitchFamily="34" charset="0"/>
              </a:rPr>
              <a:t>a vào thông tin trên, liệu ta có dự đoán được vị trí của tâm bão tại thời điểm bất kì trong khoảng thời gian 12 giờ đó không?</a:t>
            </a:r>
            <a:endParaRPr lang="en-US" sz="4400" b="1">
              <a:latin typeface="Tahoma" panose="020B0604030504040204" pitchFamily="34" charset="0"/>
              <a:ea typeface="Tahoma" panose="020B0604030504040204" pitchFamily="34" charset="0"/>
              <a:cs typeface="Tahoma" panose="020B0604030504040204" pitchFamily="34" charset="0"/>
            </a:endParaRPr>
          </a:p>
        </p:txBody>
      </p:sp>
      <p:pic>
        <p:nvPicPr>
          <p:cNvPr id="5" name="Picture 66" descr="https://pcttbinhdinh.gov.vn/assets/news/2020_10/90676c7d-2589-460e-96a1-09f1ba3eee4e.png?1602589269">
            <a:extLst>
              <a:ext uri="{FF2B5EF4-FFF2-40B4-BE49-F238E27FC236}">
                <a16:creationId xmlns:a16="http://schemas.microsoft.com/office/drawing/2014/main" id="{F2AAA1FE-1717-488B-AEB9-616F002728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8180" y="5384655"/>
            <a:ext cx="14401800" cy="81010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AB80ECF-B228-4DBD-80F0-C18E686204F3}"/>
              </a:ext>
            </a:extLst>
          </p:cNvPr>
          <p:cNvSpPr txBox="1"/>
          <p:nvPr/>
        </p:nvSpPr>
        <p:spPr>
          <a:xfrm>
            <a:off x="381000" y="5715000"/>
            <a:ext cx="3886200" cy="7848302"/>
          </a:xfrm>
          <a:prstGeom prst="rect">
            <a:avLst/>
          </a:prstGeom>
          <a:noFill/>
        </p:spPr>
        <p:txBody>
          <a:bodyPr wrap="square">
            <a:spAutoFit/>
          </a:bodyPr>
          <a:lstStyle/>
          <a:p>
            <a:pPr algn="just"/>
            <a:r>
              <a:rPr lang="vi-VN" sz="3600" b="1">
                <a:solidFill>
                  <a:srgbClr val="3333FF"/>
                </a:solidFill>
                <a:latin typeface="Tahoma" panose="020B0604030504040204" pitchFamily="34" charset="0"/>
                <a:ea typeface="Tahoma" panose="020B0604030504040204" pitchFamily="34" charset="0"/>
                <a:cs typeface="Tahoma" panose="020B0604030504040204" pitchFamily="34" charset="0"/>
              </a:rPr>
              <a:t>Hình 4.31.</a:t>
            </a:r>
            <a:r>
              <a:rPr lang="en-US" sz="3600" b="1">
                <a:solidFill>
                  <a:srgbClr val="3333FF"/>
                </a:solidFill>
                <a:latin typeface="Tahoma" panose="020B0604030504040204" pitchFamily="34" charset="0"/>
                <a:ea typeface="Tahoma" panose="020B0604030504040204" pitchFamily="34" charset="0"/>
                <a:cs typeface="Tahoma" panose="020B0604030504040204" pitchFamily="34" charset="0"/>
              </a:rPr>
              <a:t> </a:t>
            </a:r>
            <a:r>
              <a:rPr lang="vi-VN" sz="3600" b="1">
                <a:solidFill>
                  <a:srgbClr val="3333FF"/>
                </a:solidFill>
                <a:latin typeface="Tahoma" panose="020B0604030504040204" pitchFamily="34" charset="0"/>
                <a:ea typeface="Tahoma" panose="020B0604030504040204" pitchFamily="34" charset="0"/>
                <a:cs typeface="Tahoma" panose="020B0604030504040204" pitchFamily="34" charset="0"/>
              </a:rPr>
              <a:t>Ta có thể dùng một phần mặt phẳng tọa độ để mô tả một phạm vi nhất định trên Trái Đất mà vị trí x</a:t>
            </a:r>
            <a:r>
              <a:rPr lang="en-US" sz="3600" b="1" baseline="30000">
                <a:solidFill>
                  <a:srgbClr val="3333FF"/>
                </a:solidFill>
                <a:latin typeface="Tahoma" panose="020B0604030504040204" pitchFamily="34" charset="0"/>
                <a:ea typeface="Tahoma" panose="020B0604030504040204" pitchFamily="34" charset="0"/>
                <a:cs typeface="Tahoma" panose="020B0604030504040204" pitchFamily="34" charset="0"/>
              </a:rPr>
              <a:t>0 </a:t>
            </a:r>
            <a:r>
              <a:rPr lang="vi-VN" sz="3600" b="1">
                <a:solidFill>
                  <a:srgbClr val="3333FF"/>
                </a:solidFill>
                <a:latin typeface="Tahoma" panose="020B0604030504040204" pitchFamily="34" charset="0"/>
                <a:ea typeface="Tahoma" panose="020B0604030504040204" pitchFamily="34" charset="0"/>
                <a:cs typeface="Tahoma" panose="020B0604030504040204" pitchFamily="34" charset="0"/>
              </a:rPr>
              <a:t>vĩ bắc, y</a:t>
            </a:r>
            <a:r>
              <a:rPr lang="en-US" sz="3600" b="1" baseline="30000">
                <a:solidFill>
                  <a:srgbClr val="3333FF"/>
                </a:solidFill>
                <a:latin typeface="Tahoma" panose="020B0604030504040204" pitchFamily="34" charset="0"/>
                <a:ea typeface="Tahoma" panose="020B0604030504040204" pitchFamily="34" charset="0"/>
                <a:cs typeface="Tahoma" panose="020B0604030504040204" pitchFamily="34" charset="0"/>
              </a:rPr>
              <a:t>0</a:t>
            </a:r>
            <a:r>
              <a:rPr lang="vi-VN" sz="3600" b="1">
                <a:solidFill>
                  <a:srgbClr val="3333FF"/>
                </a:solidFill>
                <a:latin typeface="Tahoma" panose="020B0604030504040204" pitchFamily="34" charset="0"/>
                <a:ea typeface="Tahoma" panose="020B0604030504040204" pitchFamily="34" charset="0"/>
                <a:cs typeface="Tahoma" panose="020B0604030504040204" pitchFamily="34" charset="0"/>
              </a:rPr>
              <a:t> kinh đông của tâm ấp thấp được thể hiện bởi điểm có tọa độ (x;y).</a:t>
            </a:r>
            <a:endParaRPr lang="en-US" sz="3600" b="1">
              <a:solidFill>
                <a:srgbClr val="3333FF"/>
              </a:solidFill>
              <a:latin typeface="Tahoma" panose="020B0604030504040204" pitchFamily="34" charset="0"/>
              <a:ea typeface="Tahoma" panose="020B0604030504040204" pitchFamily="34" charset="0"/>
              <a:cs typeface="Tahoma" panose="020B0604030504040204" pitchFamily="34" charset="0"/>
            </a:endParaRPr>
          </a:p>
        </p:txBody>
      </p:sp>
      <p:sp>
        <p:nvSpPr>
          <p:cNvPr id="3" name="Arrow: Down 2">
            <a:extLst>
              <a:ext uri="{FF2B5EF4-FFF2-40B4-BE49-F238E27FC236}">
                <a16:creationId xmlns:a16="http://schemas.microsoft.com/office/drawing/2014/main" id="{03E5B85C-66AB-495F-9AF9-5932A2B2CCCA}"/>
              </a:ext>
            </a:extLst>
          </p:cNvPr>
          <p:cNvSpPr/>
          <p:nvPr/>
        </p:nvSpPr>
        <p:spPr>
          <a:xfrm>
            <a:off x="21286470" y="5334000"/>
            <a:ext cx="1028700" cy="12812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EF9C99A-74A4-4223-A2D3-8128F9516BD9}"/>
              </a:ext>
            </a:extLst>
          </p:cNvPr>
          <p:cNvSpPr txBox="1"/>
          <p:nvPr/>
        </p:nvSpPr>
        <p:spPr>
          <a:xfrm>
            <a:off x="19507200" y="6691491"/>
            <a:ext cx="4495800" cy="6186309"/>
          </a:xfrm>
          <a:prstGeom prst="rect">
            <a:avLst/>
          </a:prstGeom>
          <a:noFill/>
        </p:spPr>
        <p:txBody>
          <a:bodyPr wrap="square">
            <a:spAutoFit/>
          </a:bodyPr>
          <a:lstStyle/>
          <a:p>
            <a:pPr algn="just"/>
            <a:r>
              <a:rPr lang="vi-VN" sz="4400" b="1">
                <a:solidFill>
                  <a:srgbClr val="0000FF"/>
                </a:solidFill>
                <a:latin typeface="Tahoma" panose="020B0604030504040204" pitchFamily="34" charset="0"/>
                <a:ea typeface="Tahoma" panose="020B0604030504040204" pitchFamily="34" charset="0"/>
                <a:cs typeface="Tahoma" panose="020B0604030504040204" pitchFamily="34" charset="0"/>
              </a:rPr>
              <a:t>Trong bài học này, ta gắn cho mỗi vectơ trên mặt phẳng tọa độ một cặp số để có thể làm việc với vectơ thông qua cặp số đó.</a:t>
            </a:r>
            <a:endParaRPr lang="en-US" sz="4400" b="1">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816989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1000"/>
                                        <p:tgtEl>
                                          <p:spTgt spid="97"/>
                                        </p:tgtEl>
                                      </p:cBhvr>
                                    </p:animEffect>
                                    <p:anim calcmode="lin" valueType="num">
                                      <p:cBhvr>
                                        <p:cTn id="8" dur="1000" fill="hold"/>
                                        <p:tgtEl>
                                          <p:spTgt spid="97"/>
                                        </p:tgtEl>
                                        <p:attrNameLst>
                                          <p:attrName>ppt_x</p:attrName>
                                        </p:attrNameLst>
                                      </p:cBhvr>
                                      <p:tavLst>
                                        <p:tav tm="0">
                                          <p:val>
                                            <p:strVal val="#ppt_x"/>
                                          </p:val>
                                        </p:tav>
                                        <p:tav tm="100000">
                                          <p:val>
                                            <p:strVal val="#ppt_x"/>
                                          </p:val>
                                        </p:tav>
                                      </p:tavLst>
                                    </p:anim>
                                    <p:anim calcmode="lin" valueType="num">
                                      <p:cBhvr>
                                        <p:cTn id="9" dur="1000" fill="hold"/>
                                        <p:tgtEl>
                                          <p:spTgt spid="9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barn(inVertical)">
                                      <p:cBhvr>
                                        <p:cTn id="26" dur="500"/>
                                        <p:tgtEl>
                                          <p:spTgt spid="3"/>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6" grpId="0"/>
      <p:bldP spid="3" grpId="0" animBg="1"/>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Rectangle 18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38328" y="2743200"/>
                <a:ext cx="23698200" cy="10668000"/>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buFont typeface="Wingdings" panose="05000000000000000000" pitchFamily="2" charset="2"/>
                  <a:buChar char="q"/>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HĐ1:</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Trên</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trục</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số</a:t>
                </a: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𝑶𝒙</m:t>
                    </m:r>
                  </m:oMath>
                </a14:m>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gọi</a:t>
                </a: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là</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điểm</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biểu</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diễn</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số</a:t>
                </a: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𝟏</m:t>
                    </m:r>
                  </m:oMath>
                </a14:m>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và</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đặt</a:t>
                </a: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𝑶𝑨</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𝑯</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𝟑𝟐</m:t>
                        </m:r>
                        <m:r>
                          <a:rPr lang="en-US" b="1" i="1">
                            <a:latin typeface="Cambria Math" panose="02040503050406030204" pitchFamily="18" charset="0"/>
                            <a:ea typeface="Cambria Math" panose="02040503050406030204" pitchFamily="18" charset="0"/>
                          </a:rPr>
                          <m:t>𝒂</m:t>
                        </m:r>
                      </m:e>
                    </m:d>
                  </m:oMath>
                </a14:m>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Gọi</a:t>
                </a: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𝑴</m:t>
                    </m:r>
                  </m:oMath>
                </a14:m>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là</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điểm</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biểu</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diễn</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số</a:t>
                </a: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𝟒</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𝑵</m:t>
                    </m:r>
                  </m:oMath>
                </a14:m>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là</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điểm</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biểu</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diễn</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số</a:t>
                </a: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m:t>
                    </m:r>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𝟑</m:t>
                        </m:r>
                      </m:num>
                      <m:den>
                        <m:r>
                          <a:rPr lang="en-US" b="1" i="1">
                            <a:latin typeface="Cambria Math" panose="02040503050406030204" pitchFamily="18" charset="0"/>
                            <a:ea typeface="Cambria Math" panose="02040503050406030204" pitchFamily="18" charset="0"/>
                          </a:rPr>
                          <m:t>𝟐</m:t>
                        </m:r>
                      </m:den>
                    </m:f>
                  </m:oMath>
                </a14:m>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Hãy</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biểu</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thị</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mỗi</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vectơ</a:t>
                </a: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r>
                      <a:rPr lang="en-US" b="1" i="1">
                        <a:latin typeface="Cambria Math" panose="02040503050406030204" pitchFamily="18" charset="0"/>
                        <a:ea typeface="Cambria Math" panose="02040503050406030204" pitchFamily="18" charset="0"/>
                      </a:rPr>
                      <m:t>, </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𝑶𝑵</m:t>
                        </m:r>
                      </m:e>
                    </m:acc>
                  </m:oMath>
                </a14:m>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theo</a:t>
                </a:r>
                <a:r>
                  <a:rPr lang="en-US" b="1">
                    <a:latin typeface="Tahoma" panose="020B0604030504040204" pitchFamily="34" charset="0"/>
                    <a:ea typeface="Tahoma" panose="020B0604030504040204" pitchFamily="34" charset="0"/>
                    <a:cs typeface="Tahoma" panose="020B0604030504040204" pitchFamily="34" charset="0"/>
                  </a:rPr>
                  <a:t> </a:t>
                </a:r>
                <a:r>
                  <a:rPr lang="en-US" b="1" err="1">
                    <a:latin typeface="Tahoma" panose="020B0604030504040204" pitchFamily="34" charset="0"/>
                    <a:ea typeface="Tahoma" panose="020B0604030504040204" pitchFamily="34" charset="0"/>
                    <a:cs typeface="Tahoma" panose="020B0604030504040204" pitchFamily="34" charset="0"/>
                  </a:rPr>
                  <a:t>vectơ</a:t>
                </a: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latin typeface="Tahoma" panose="020B0604030504040204" pitchFamily="34" charset="0"/>
                    <a:ea typeface="Tahoma" panose="020B0604030504040204" pitchFamily="34" charset="0"/>
                    <a:cs typeface="Tahoma" panose="020B0604030504040204" pitchFamily="34" charset="0"/>
                  </a:rPr>
                  <a:t>.</a:t>
                </a:r>
              </a:p>
              <a:p>
                <a:pPr>
                  <a:lnSpc>
                    <a:spcPct val="100000"/>
                  </a:lnSpc>
                </a:pPr>
                <a:endParaRPr lang="en-US" b="1">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b="1">
                  <a:latin typeface="Tahoma" panose="020B0604030504040204" pitchFamily="34" charset="0"/>
                  <a:ea typeface="Tahoma" panose="020B0604030504040204" pitchFamily="34" charset="0"/>
                  <a:cs typeface="Tahoma" panose="020B0604030504040204" pitchFamily="34" charset="0"/>
                </a:endParaRPr>
              </a:p>
              <a:p>
                <a:pPr>
                  <a:lnSpc>
                    <a:spcPct val="100000"/>
                  </a:lnSpc>
                  <a:buFont typeface="Wingdings" panose="05000000000000000000" pitchFamily="2" charset="2"/>
                  <a:buChar char="Ø"/>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Hướng </a:t>
                </a:r>
                <a:r>
                  <a:rPr lang="fr-FR" b="1"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a:t>
                </a:r>
                <a:endParaRPr lang="en-US" b="1" i="1">
                  <a:solidFill>
                    <a:srgbClr val="FF0000"/>
                  </a:solidFill>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b="1">
                    <a:latin typeface="Tahoma" panose="020B0604030504040204" pitchFamily="34" charset="0"/>
                    <a:ea typeface="Tahoma" panose="020B0604030504040204" pitchFamily="34" charset="0"/>
                    <a:cs typeface="Tahoma" panose="020B0604030504040204" pitchFamily="34" charset="0"/>
                  </a:rPr>
                  <a:t>Nhận xét về độ dài của các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𝑶𝑵</m:t>
                        </m:r>
                      </m:e>
                    </m:acc>
                  </m:oMath>
                </a14:m>
                <a:r>
                  <a:rPr lang="en-US" b="1">
                    <a:latin typeface="Cambria Math" panose="02040503050406030204" pitchFamily="18" charset="0"/>
                    <a:ea typeface="Cambria Math" panose="02040503050406030204" pitchFamily="18"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so với độ dài vectơ </a:t>
                </a:r>
                <a14:m>
                  <m:oMath xmlns:m="http://schemas.openxmlformats.org/officeDocument/2006/math">
                    <m:acc>
                      <m:accPr>
                        <m:chr m:val="⃗"/>
                        <m:ctrlPr>
                          <a:rPr lang="en-US" b="1" i="1">
                            <a:latin typeface="Cambria Math" panose="02040503050406030204" pitchFamily="18" charset="0"/>
                          </a:rPr>
                        </m:ctrlPr>
                      </m:accPr>
                      <m:e>
                        <m:r>
                          <a:rPr lang="en-US" b="1" i="1" smtClean="0">
                            <a:latin typeface="Cambria Math" panose="02040503050406030204" pitchFamily="18" charset="0"/>
                          </a:rPr>
                          <m:t>𝑶𝑨</m:t>
                        </m:r>
                      </m:e>
                    </m:acc>
                  </m:oMath>
                </a14:m>
                <a:r>
                  <a:rPr lang="en-US" b="1">
                    <a:latin typeface="Tahoma" panose="020B0604030504040204" pitchFamily="34" charset="0"/>
                    <a:ea typeface="Tahoma" panose="020B0604030504040204" pitchFamily="34" charset="0"/>
                    <a:cs typeface="Tahoma" panose="020B0604030504040204" pitchFamily="34" charset="0"/>
                  </a:rPr>
                  <a:t> ?</a:t>
                </a:r>
              </a:p>
              <a:p>
                <a:pPr>
                  <a:lnSpc>
                    <a:spcPct val="100000"/>
                  </a:lnSpc>
                </a:pPr>
                <a:r>
                  <a:rPr lang="en-US" b="1">
                    <a:latin typeface="Tahoma" panose="020B0604030504040204" pitchFamily="34" charset="0"/>
                    <a:ea typeface="Tahoma" panose="020B0604030504040204" pitchFamily="34" charset="0"/>
                    <a:cs typeface="Tahoma" panose="020B0604030504040204" pitchFamily="34" charset="0"/>
                  </a:rPr>
                  <a:t>Nhận xét về hướng của các vectơ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𝑶𝑴</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𝑶𝑵</m:t>
                        </m:r>
                      </m:e>
                    </m:acc>
                  </m:oMath>
                </a14:m>
                <a:r>
                  <a:rPr lang="en-US" b="1">
                    <a:latin typeface="Tahoma" panose="020B0604030504040204" pitchFamily="34" charset="0"/>
                    <a:ea typeface="Tahoma" panose="020B0604030504040204" pitchFamily="34" charset="0"/>
                    <a:cs typeface="Tahoma" panose="020B0604030504040204" pitchFamily="34" charset="0"/>
                  </a:rPr>
                  <a:t> so với vectơ </a:t>
                </a:r>
                <a14:m>
                  <m:oMath xmlns:m="http://schemas.openxmlformats.org/officeDocument/2006/math">
                    <m:acc>
                      <m:accPr>
                        <m:chr m:val="⃗"/>
                        <m:ctrlPr>
                          <a:rPr lang="en-US" b="1" i="1">
                            <a:latin typeface="Cambria Math" panose="02040503050406030204" pitchFamily="18" charset="0"/>
                          </a:rPr>
                        </m:ctrlPr>
                      </m:accPr>
                      <m:e>
                        <m:r>
                          <a:rPr lang="en-US" b="1" i="1" smtClean="0">
                            <a:latin typeface="Cambria Math" panose="02040503050406030204" pitchFamily="18" charset="0"/>
                          </a:rPr>
                          <m:t>𝑶𝑨</m:t>
                        </m:r>
                      </m:e>
                    </m:acc>
                  </m:oMath>
                </a14:m>
                <a:r>
                  <a:rPr lang="en-US" b="1">
                    <a:latin typeface="Tahoma" panose="020B0604030504040204" pitchFamily="34" charset="0"/>
                    <a:ea typeface="Tahoma" panose="020B0604030504040204" pitchFamily="34" charset="0"/>
                    <a:cs typeface="Tahoma" panose="020B0604030504040204" pitchFamily="34" charset="0"/>
                  </a:rPr>
                  <a:t> ?</a:t>
                </a:r>
              </a:p>
              <a:p>
                <a:pPr>
                  <a:lnSpc>
                    <a:spcPct val="100000"/>
                  </a:lnSpc>
                </a:pPr>
                <a14:m>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𝑶𝑴</m:t>
                        </m:r>
                      </m:e>
                    </m:acc>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𝟒</m:t>
                    </m:r>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smtClean="0">
                            <a:solidFill>
                              <a:srgbClr val="FF0000"/>
                            </a:solidFill>
                            <a:latin typeface="Cambria Math" panose="02040503050406030204" pitchFamily="18" charset="0"/>
                            <a:ea typeface="Cambria Math" panose="02040503050406030204" pitchFamily="18" charset="0"/>
                          </a:rPr>
                          <m:t>𝑶𝑨</m:t>
                        </m:r>
                      </m:e>
                    </m:acc>
                    <m:r>
                      <a:rPr lang="en-US" b="1" i="0" smtClean="0">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𝟒</m:t>
                    </m:r>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𝒊</m:t>
                        </m:r>
                      </m:e>
                    </m:acc>
                  </m:oMath>
                </a14:m>
                <a:endParaRPr lang="en-US" b="1">
                  <a:latin typeface="Cambria Math" panose="02040503050406030204" pitchFamily="18" charset="0"/>
                  <a:ea typeface="Cambria Math" panose="02040503050406030204" pitchFamily="18" charset="0"/>
                  <a:cs typeface="Tahoma" panose="020B0604030504040204" pitchFamily="34" charset="0"/>
                </a:endParaRPr>
              </a:p>
              <a:p>
                <a:pPr>
                  <a:lnSpc>
                    <a:spcPct val="100000"/>
                  </a:lnSpc>
                </a:pPr>
                <a14:m>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𝑶𝑵</m:t>
                        </m:r>
                      </m:e>
                    </m:acc>
                    <m:r>
                      <a:rPr lang="en-US" b="1" i="1">
                        <a:solidFill>
                          <a:srgbClr val="FF0000"/>
                        </a:solidFill>
                        <a:latin typeface="Cambria Math" panose="02040503050406030204" pitchFamily="18" charset="0"/>
                        <a:ea typeface="Cambria Math" panose="02040503050406030204" pitchFamily="18" charset="0"/>
                      </a:rPr>
                      <m:t>=−</m:t>
                    </m:r>
                    <m:f>
                      <m:fPr>
                        <m:ctrlPr>
                          <a:rPr lang="en-US" b="1" i="1">
                            <a:solidFill>
                              <a:srgbClr val="FF0000"/>
                            </a:solidFill>
                            <a:latin typeface="Cambria Math" panose="02040503050406030204" pitchFamily="18" charset="0"/>
                            <a:ea typeface="Cambria Math" panose="02040503050406030204" pitchFamily="18" charset="0"/>
                          </a:rPr>
                        </m:ctrlPr>
                      </m:fPr>
                      <m:num>
                        <m:r>
                          <a:rPr lang="en-US" b="1" i="1">
                            <a:solidFill>
                              <a:srgbClr val="FF0000"/>
                            </a:solidFill>
                            <a:latin typeface="Cambria Math" panose="02040503050406030204" pitchFamily="18" charset="0"/>
                            <a:ea typeface="Cambria Math" panose="02040503050406030204" pitchFamily="18" charset="0"/>
                          </a:rPr>
                          <m:t>𝟑</m:t>
                        </m:r>
                      </m:num>
                      <m:den>
                        <m:r>
                          <a:rPr lang="en-US" b="1" i="1">
                            <a:solidFill>
                              <a:srgbClr val="FF0000"/>
                            </a:solidFill>
                            <a:latin typeface="Cambria Math" panose="02040503050406030204" pitchFamily="18" charset="0"/>
                            <a:ea typeface="Cambria Math" panose="02040503050406030204" pitchFamily="18" charset="0"/>
                          </a:rPr>
                          <m:t>𝟐</m:t>
                        </m:r>
                      </m:den>
                    </m:f>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𝑶𝑨</m:t>
                        </m:r>
                      </m:e>
                    </m:acc>
                    <m:r>
                      <a:rPr lang="en-US" b="1" i="1" smtClean="0">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m:t>
                    </m:r>
                    <m:f>
                      <m:fPr>
                        <m:ctrlPr>
                          <a:rPr lang="en-US" b="1" i="1">
                            <a:solidFill>
                              <a:srgbClr val="FF0000"/>
                            </a:solidFill>
                            <a:latin typeface="Cambria Math" panose="02040503050406030204" pitchFamily="18" charset="0"/>
                            <a:ea typeface="Cambria Math" panose="02040503050406030204" pitchFamily="18" charset="0"/>
                          </a:rPr>
                        </m:ctrlPr>
                      </m:fPr>
                      <m:num>
                        <m:r>
                          <a:rPr lang="en-US" b="1" i="1">
                            <a:solidFill>
                              <a:srgbClr val="FF0000"/>
                            </a:solidFill>
                            <a:latin typeface="Cambria Math" panose="02040503050406030204" pitchFamily="18" charset="0"/>
                            <a:ea typeface="Cambria Math" panose="02040503050406030204" pitchFamily="18" charset="0"/>
                          </a:rPr>
                          <m:t>𝟑</m:t>
                        </m:r>
                      </m:num>
                      <m:den>
                        <m:r>
                          <a:rPr lang="en-US" b="1" i="1">
                            <a:solidFill>
                              <a:srgbClr val="FF0000"/>
                            </a:solidFill>
                            <a:latin typeface="Cambria Math" panose="02040503050406030204" pitchFamily="18" charset="0"/>
                            <a:ea typeface="Cambria Math" panose="02040503050406030204" pitchFamily="18" charset="0"/>
                          </a:rPr>
                          <m:t>𝟐</m:t>
                        </m:r>
                      </m:den>
                    </m:f>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𝒊</m:t>
                        </m:r>
                      </m:e>
                    </m:acc>
                  </m:oMath>
                </a14:m>
                <a:endParaRPr lang="en-US" b="1">
                  <a:latin typeface="Cambria Math" panose="02040503050406030204" pitchFamily="18" charset="0"/>
                  <a:ea typeface="Cambria Math" panose="02040503050406030204" pitchFamily="18"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38328" y="2743200"/>
                <a:ext cx="23698200" cy="10668000"/>
              </a:xfrm>
              <a:prstGeom prst="rect">
                <a:avLst/>
              </a:prstGeom>
              <a:blipFill>
                <a:blip r:embed="rId3"/>
                <a:stretch>
                  <a:fillRect l="-1054" r="-746"/>
                </a:stretch>
              </a:blipFill>
              <a:ln>
                <a:solidFill>
                  <a:srgbClr val="00B0F0"/>
                </a:solidFill>
              </a:ln>
            </p:spPr>
            <p:txBody>
              <a:bodyPr/>
              <a:lstStyle/>
              <a:p>
                <a:r>
                  <a:rPr lang="en-US">
                    <a:noFill/>
                  </a:rPr>
                  <a:t> </a:t>
                </a:r>
              </a:p>
            </p:txBody>
          </p:sp>
        </mc:Fallback>
      </mc:AlternateContent>
      <p:pic>
        <p:nvPicPr>
          <p:cNvPr id="183" name="Picture 182">
            <a:extLst>
              <a:ext uri="{FF2B5EF4-FFF2-40B4-BE49-F238E27FC236}">
                <a16:creationId xmlns:a16="http://schemas.microsoft.com/office/drawing/2014/main" id="{F5E71483-332C-453B-9A13-E4F04331FF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9600" y="4800600"/>
            <a:ext cx="11201400" cy="3124200"/>
          </a:xfrm>
          <a:prstGeom prst="rect">
            <a:avLst/>
          </a:prstGeom>
        </p:spPr>
      </p:pic>
      <p:sp>
        <p:nvSpPr>
          <p:cNvPr id="6" name="Title 1">
            <a:extLst>
              <a:ext uri="{FF2B5EF4-FFF2-40B4-BE49-F238E27FC236}">
                <a16:creationId xmlns:a16="http://schemas.microsoft.com/office/drawing/2014/main" id="{08A31CC9-1617-427F-9AB4-A405DC461FB7}"/>
              </a:ext>
            </a:extLst>
          </p:cNvPr>
          <p:cNvSpPr txBox="1">
            <a:spLocks/>
          </p:cNvSpPr>
          <p:nvPr/>
        </p:nvSpPr>
        <p:spPr>
          <a:xfrm>
            <a:off x="361950" y="1790700"/>
            <a:ext cx="7162800" cy="8382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sz="4800" b="1">
                <a:latin typeface="Tahoma" panose="020B0604030504040204" pitchFamily="34" charset="0"/>
                <a:ea typeface="Tahoma" panose="020B0604030504040204" pitchFamily="34" charset="0"/>
                <a:cs typeface="Tahoma" panose="020B0604030504040204" pitchFamily="34" charset="0"/>
              </a:rPr>
              <a:t>1. T</a:t>
            </a:r>
            <a:r>
              <a:rPr lang="en-US" sz="4800" b="1">
                <a:latin typeface="Tahoma" panose="020B0604030504040204" pitchFamily="34" charset="0"/>
                <a:ea typeface="Tahoma" panose="020B0604030504040204" pitchFamily="34" charset="0"/>
                <a:cs typeface="Tahoma" panose="020B0604030504040204" pitchFamily="34" charset="0"/>
              </a:rPr>
              <a:t>ỌA</a:t>
            </a:r>
            <a:r>
              <a:rPr lang="vi-VN" sz="4800" b="1">
                <a:latin typeface="Tahoma" panose="020B0604030504040204" pitchFamily="34" charset="0"/>
                <a:ea typeface="Tahoma" panose="020B0604030504040204" pitchFamily="34" charset="0"/>
                <a:cs typeface="Tahoma" panose="020B0604030504040204" pitchFamily="34" charset="0"/>
              </a:rPr>
              <a:t> ĐỘ CỦA VECTƠ</a:t>
            </a:r>
          </a:p>
        </p:txBody>
      </p:sp>
      <p:sp>
        <p:nvSpPr>
          <p:cNvPr id="185" name="Rounded Rectangle 18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89" name="TextBox 18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86104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9"/>
                                        </p:tgtEl>
                                        <p:attrNameLst>
                                          <p:attrName>style.visibility</p:attrName>
                                        </p:attrNameLst>
                                      </p:cBhvr>
                                      <p:to>
                                        <p:strVal val="visible"/>
                                      </p:to>
                                    </p:set>
                                    <p:animEffect transition="in" filter="fade">
                                      <p:cBhvr>
                                        <p:cTn id="13" dur="1000"/>
                                        <p:tgtEl>
                                          <p:spTgt spid="99"/>
                                        </p:tgtEl>
                                      </p:cBhvr>
                                    </p:animEffect>
                                    <p:anim calcmode="lin" valueType="num">
                                      <p:cBhvr>
                                        <p:cTn id="14" dur="1000" fill="hold"/>
                                        <p:tgtEl>
                                          <p:spTgt spid="99"/>
                                        </p:tgtEl>
                                        <p:attrNameLst>
                                          <p:attrName>ppt_x</p:attrName>
                                        </p:attrNameLst>
                                      </p:cBhvr>
                                      <p:tavLst>
                                        <p:tav tm="0">
                                          <p:val>
                                            <p:strVal val="#ppt_x"/>
                                          </p:val>
                                        </p:tav>
                                        <p:tav tm="100000">
                                          <p:val>
                                            <p:strVal val="#ppt_x"/>
                                          </p:val>
                                        </p:tav>
                                      </p:tavLst>
                                    </p:anim>
                                    <p:anim calcmode="lin" valueType="num">
                                      <p:cBhvr>
                                        <p:cTn id="15"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99">
                                            <p:txEl>
                                              <p:pRg st="0" end="0"/>
                                            </p:txEl>
                                          </p:spTgt>
                                        </p:tgtEl>
                                        <p:attrNameLst>
                                          <p:attrName>style.visibility</p:attrName>
                                        </p:attrNameLst>
                                      </p:cBhvr>
                                      <p:to>
                                        <p:strVal val="visible"/>
                                      </p:to>
                                    </p:set>
                                    <p:animEffect transition="in" filter="fade">
                                      <p:cBhvr>
                                        <p:cTn id="20" dur="1000"/>
                                        <p:tgtEl>
                                          <p:spTgt spid="99">
                                            <p:txEl>
                                              <p:pRg st="0" end="0"/>
                                            </p:txEl>
                                          </p:spTgt>
                                        </p:tgtEl>
                                      </p:cBhvr>
                                    </p:animEffect>
                                    <p:anim calcmode="lin" valueType="num">
                                      <p:cBhvr>
                                        <p:cTn id="21" dur="1000" fill="hold"/>
                                        <p:tgtEl>
                                          <p:spTgt spid="99">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99">
                                            <p:txEl>
                                              <p:pRg st="0" end="0"/>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83"/>
                                        </p:tgtEl>
                                        <p:attrNameLst>
                                          <p:attrName>style.visibility</p:attrName>
                                        </p:attrNameLst>
                                      </p:cBhvr>
                                      <p:to>
                                        <p:strVal val="visible"/>
                                      </p:to>
                                    </p:set>
                                    <p:animEffect transition="in" filter="fade">
                                      <p:cBhvr>
                                        <p:cTn id="25" dur="1000"/>
                                        <p:tgtEl>
                                          <p:spTgt spid="183"/>
                                        </p:tgtEl>
                                      </p:cBhvr>
                                    </p:animEffect>
                                    <p:anim calcmode="lin" valueType="num">
                                      <p:cBhvr>
                                        <p:cTn id="26" dur="1000" fill="hold"/>
                                        <p:tgtEl>
                                          <p:spTgt spid="183"/>
                                        </p:tgtEl>
                                        <p:attrNameLst>
                                          <p:attrName>ppt_x</p:attrName>
                                        </p:attrNameLst>
                                      </p:cBhvr>
                                      <p:tavLst>
                                        <p:tav tm="0">
                                          <p:val>
                                            <p:strVal val="#ppt_x"/>
                                          </p:val>
                                        </p:tav>
                                        <p:tav tm="100000">
                                          <p:val>
                                            <p:strVal val="#ppt_x"/>
                                          </p:val>
                                        </p:tav>
                                      </p:tavLst>
                                    </p:anim>
                                    <p:anim calcmode="lin" valueType="num">
                                      <p:cBhvr>
                                        <p:cTn id="27" dur="1000" fill="hold"/>
                                        <p:tgtEl>
                                          <p:spTgt spid="183"/>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99">
                                            <p:txEl>
                                              <p:pRg st="3" end="3"/>
                                            </p:txEl>
                                          </p:spTgt>
                                        </p:tgtEl>
                                        <p:attrNameLst>
                                          <p:attrName>style.visibility</p:attrName>
                                        </p:attrNameLst>
                                      </p:cBhvr>
                                      <p:to>
                                        <p:strVal val="visible"/>
                                      </p:to>
                                    </p:set>
                                    <p:animEffect transition="in" filter="fade">
                                      <p:cBhvr>
                                        <p:cTn id="32" dur="1000"/>
                                        <p:tgtEl>
                                          <p:spTgt spid="99">
                                            <p:txEl>
                                              <p:pRg st="3" end="3"/>
                                            </p:txEl>
                                          </p:spTgt>
                                        </p:tgtEl>
                                      </p:cBhvr>
                                    </p:animEffect>
                                    <p:anim calcmode="lin" valueType="num">
                                      <p:cBhvr>
                                        <p:cTn id="33" dur="1000" fill="hold"/>
                                        <p:tgtEl>
                                          <p:spTgt spid="99">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99">
                                            <p:txEl>
                                              <p:pRg st="4" end="4"/>
                                            </p:txEl>
                                          </p:spTgt>
                                        </p:tgtEl>
                                        <p:attrNameLst>
                                          <p:attrName>style.visibility</p:attrName>
                                        </p:attrNameLst>
                                      </p:cBhvr>
                                      <p:to>
                                        <p:strVal val="visible"/>
                                      </p:to>
                                    </p:set>
                                    <p:animEffect transition="in" filter="fade">
                                      <p:cBhvr>
                                        <p:cTn id="39" dur="1000"/>
                                        <p:tgtEl>
                                          <p:spTgt spid="99">
                                            <p:txEl>
                                              <p:pRg st="4" end="4"/>
                                            </p:txEl>
                                          </p:spTgt>
                                        </p:tgtEl>
                                      </p:cBhvr>
                                    </p:animEffect>
                                    <p:anim calcmode="lin" valueType="num">
                                      <p:cBhvr>
                                        <p:cTn id="40" dur="1000" fill="hold"/>
                                        <p:tgtEl>
                                          <p:spTgt spid="99">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9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99">
                                            <p:txEl>
                                              <p:pRg st="5" end="5"/>
                                            </p:txEl>
                                          </p:spTgt>
                                        </p:tgtEl>
                                        <p:attrNameLst>
                                          <p:attrName>style.visibility</p:attrName>
                                        </p:attrNameLst>
                                      </p:cBhvr>
                                      <p:to>
                                        <p:strVal val="visible"/>
                                      </p:to>
                                    </p:set>
                                    <p:animEffect transition="in" filter="fade">
                                      <p:cBhvr>
                                        <p:cTn id="46" dur="1000"/>
                                        <p:tgtEl>
                                          <p:spTgt spid="99">
                                            <p:txEl>
                                              <p:pRg st="5" end="5"/>
                                            </p:txEl>
                                          </p:spTgt>
                                        </p:tgtEl>
                                      </p:cBhvr>
                                    </p:animEffect>
                                    <p:anim calcmode="lin" valueType="num">
                                      <p:cBhvr>
                                        <p:cTn id="47" dur="1000" fill="hold"/>
                                        <p:tgtEl>
                                          <p:spTgt spid="99">
                                            <p:txEl>
                                              <p:pRg st="5" end="5"/>
                                            </p:txEl>
                                          </p:spTgt>
                                        </p:tgtEl>
                                        <p:attrNameLst>
                                          <p:attrName>ppt_x</p:attrName>
                                        </p:attrNameLst>
                                      </p:cBhvr>
                                      <p:tavLst>
                                        <p:tav tm="0">
                                          <p:val>
                                            <p:strVal val="#ppt_x"/>
                                          </p:val>
                                        </p:tav>
                                        <p:tav tm="100000">
                                          <p:val>
                                            <p:strVal val="#ppt_x"/>
                                          </p:val>
                                        </p:tav>
                                      </p:tavLst>
                                    </p:anim>
                                    <p:anim calcmode="lin" valueType="num">
                                      <p:cBhvr>
                                        <p:cTn id="48" dur="1000" fill="hold"/>
                                        <p:tgtEl>
                                          <p:spTgt spid="9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99">
                                            <p:txEl>
                                              <p:pRg st="6" end="6"/>
                                            </p:txEl>
                                          </p:spTgt>
                                        </p:tgtEl>
                                        <p:attrNameLst>
                                          <p:attrName>style.visibility</p:attrName>
                                        </p:attrNameLst>
                                      </p:cBhvr>
                                      <p:to>
                                        <p:strVal val="visible"/>
                                      </p:to>
                                    </p:set>
                                    <p:animEffect transition="in" filter="fade">
                                      <p:cBhvr>
                                        <p:cTn id="53" dur="1000"/>
                                        <p:tgtEl>
                                          <p:spTgt spid="99">
                                            <p:txEl>
                                              <p:pRg st="6" end="6"/>
                                            </p:txEl>
                                          </p:spTgt>
                                        </p:tgtEl>
                                      </p:cBhvr>
                                    </p:animEffect>
                                    <p:anim calcmode="lin" valueType="num">
                                      <p:cBhvr>
                                        <p:cTn id="54" dur="1000" fill="hold"/>
                                        <p:tgtEl>
                                          <p:spTgt spid="99">
                                            <p:txEl>
                                              <p:pRg st="6" end="6"/>
                                            </p:txEl>
                                          </p:spTgt>
                                        </p:tgtEl>
                                        <p:attrNameLst>
                                          <p:attrName>ppt_x</p:attrName>
                                        </p:attrNameLst>
                                      </p:cBhvr>
                                      <p:tavLst>
                                        <p:tav tm="0">
                                          <p:val>
                                            <p:strVal val="#ppt_x"/>
                                          </p:val>
                                        </p:tav>
                                        <p:tav tm="100000">
                                          <p:val>
                                            <p:strVal val="#ppt_x"/>
                                          </p:val>
                                        </p:tav>
                                      </p:tavLst>
                                    </p:anim>
                                    <p:anim calcmode="lin" valueType="num">
                                      <p:cBhvr>
                                        <p:cTn id="55" dur="1000" fill="hold"/>
                                        <p:tgtEl>
                                          <p:spTgt spid="9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99">
                                            <p:txEl>
                                              <p:pRg st="7" end="7"/>
                                            </p:txEl>
                                          </p:spTgt>
                                        </p:tgtEl>
                                        <p:attrNameLst>
                                          <p:attrName>style.visibility</p:attrName>
                                        </p:attrNameLst>
                                      </p:cBhvr>
                                      <p:to>
                                        <p:strVal val="visible"/>
                                      </p:to>
                                    </p:set>
                                    <p:animEffect transition="in" filter="fade">
                                      <p:cBhvr>
                                        <p:cTn id="60" dur="1000"/>
                                        <p:tgtEl>
                                          <p:spTgt spid="99">
                                            <p:txEl>
                                              <p:pRg st="7" end="7"/>
                                            </p:txEl>
                                          </p:spTgt>
                                        </p:tgtEl>
                                      </p:cBhvr>
                                    </p:animEffect>
                                    <p:anim calcmode="lin" valueType="num">
                                      <p:cBhvr>
                                        <p:cTn id="61" dur="1000" fill="hold"/>
                                        <p:tgtEl>
                                          <p:spTgt spid="99">
                                            <p:txEl>
                                              <p:pRg st="7" end="7"/>
                                            </p:txEl>
                                          </p:spTgt>
                                        </p:tgtEl>
                                        <p:attrNameLst>
                                          <p:attrName>ppt_x</p:attrName>
                                        </p:attrNameLst>
                                      </p:cBhvr>
                                      <p:tavLst>
                                        <p:tav tm="0">
                                          <p:val>
                                            <p:strVal val="#ppt_x"/>
                                          </p:val>
                                        </p:tav>
                                        <p:tav tm="100000">
                                          <p:val>
                                            <p:strVal val="#ppt_x"/>
                                          </p:val>
                                        </p:tav>
                                      </p:tavLst>
                                    </p:anim>
                                    <p:anim calcmode="lin" valueType="num">
                                      <p:cBhvr>
                                        <p:cTn id="62" dur="1000" fill="hold"/>
                                        <p:tgtEl>
                                          <p:spTgt spid="9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38328" y="2743200"/>
                <a:ext cx="23664672" cy="10668000"/>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just">
                  <a:lnSpc>
                    <a:spcPct val="125000"/>
                  </a:lnSpc>
                  <a:spcAft>
                    <a:spcPts val="0"/>
                  </a:spcAft>
                  <a:buClr>
                    <a:srgbClr val="FF0000"/>
                  </a:buClr>
                  <a:buFont typeface="Wingdings" panose="05000000000000000000" pitchFamily="2" charset="2"/>
                  <a:buChar char="v"/>
                </a:pPr>
                <a:r>
                  <a:rPr lang="en-US" b="1">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b="1" i="1">
                    <a:solidFill>
                      <a:schemeClr val="tx1"/>
                    </a:solidFill>
                    <a:latin typeface="Tahoma" panose="020B0604030504040204" pitchFamily="34" charset="0"/>
                    <a:ea typeface="Tahoma" panose="020B0604030504040204" pitchFamily="34" charset="0"/>
                    <a:cs typeface="Tahoma" panose="020B0604030504040204" pitchFamily="34" charset="0"/>
                  </a:rPr>
                  <a:t>Trục toạ độ</a:t>
                </a:r>
                <a:r>
                  <a:rPr lang="en-US" b="1">
                    <a:solidFill>
                      <a:schemeClr val="tx1"/>
                    </a:solidFill>
                    <a:latin typeface="Tahoma" panose="020B0604030504040204" pitchFamily="34" charset="0"/>
                    <a:ea typeface="Tahoma" panose="020B0604030504040204" pitchFamily="34" charset="0"/>
                    <a:cs typeface="Tahoma" panose="020B0604030504040204" pitchFamily="34" charset="0"/>
                  </a:rPr>
                  <a:t> (còn gọi là </a:t>
                </a:r>
                <a:r>
                  <a:rPr lang="en-US" b="1" i="1">
                    <a:solidFill>
                      <a:schemeClr val="tx1"/>
                    </a:solidFill>
                    <a:latin typeface="Tahoma" panose="020B0604030504040204" pitchFamily="34" charset="0"/>
                    <a:ea typeface="Tahoma" panose="020B0604030504040204" pitchFamily="34" charset="0"/>
                    <a:cs typeface="Tahoma" panose="020B0604030504040204" pitchFamily="34" charset="0"/>
                  </a:rPr>
                  <a:t>trục,</a:t>
                </a:r>
                <a:r>
                  <a:rPr lang="en-US" b="1">
                    <a:solidFill>
                      <a:schemeClr val="tx1"/>
                    </a:solidFill>
                    <a:latin typeface="Tahoma" panose="020B0604030504040204" pitchFamily="34" charset="0"/>
                    <a:ea typeface="Tahoma" panose="020B0604030504040204" pitchFamily="34" charset="0"/>
                    <a:cs typeface="Tahoma" panose="020B0604030504040204" pitchFamily="34" charset="0"/>
                  </a:rPr>
                  <a:t> hay </a:t>
                </a:r>
                <a:r>
                  <a:rPr lang="en-US" b="1" i="1">
                    <a:solidFill>
                      <a:schemeClr val="tx1"/>
                    </a:solidFill>
                    <a:latin typeface="Tahoma" panose="020B0604030504040204" pitchFamily="34" charset="0"/>
                    <a:ea typeface="Tahoma" panose="020B0604030504040204" pitchFamily="34" charset="0"/>
                    <a:cs typeface="Tahoma" panose="020B0604030504040204" pitchFamily="34" charset="0"/>
                  </a:rPr>
                  <a:t>trục số </a:t>
                </a:r>
                <a:r>
                  <a:rPr lang="en-US" b="1">
                    <a:solidFill>
                      <a:schemeClr val="tx1"/>
                    </a:solidFill>
                    <a:latin typeface="Tahoma" panose="020B0604030504040204" pitchFamily="34" charset="0"/>
                    <a:ea typeface="Tahoma" panose="020B0604030504040204" pitchFamily="34" charset="0"/>
                    <a:cs typeface="Tahoma" panose="020B0604030504040204" pitchFamily="34" charset="0"/>
                  </a:rPr>
                  <a:t>) là một đường thẳng mà trên đó đã xác định một điểm </a:t>
                </a:r>
                <a14:m>
                  <m:oMath xmlns:m="http://schemas.openxmlformats.org/officeDocument/2006/math">
                    <m:r>
                      <a:rPr lang="en-US" b="1" i="1">
                        <a:solidFill>
                          <a:schemeClr val="tx1"/>
                        </a:solidFill>
                        <a:latin typeface="Cambria Math" panose="02040503050406030204" pitchFamily="18" charset="0"/>
                        <a:ea typeface="Cambria Math" panose="02040503050406030204" pitchFamily="18" charset="0"/>
                      </a:rPr>
                      <m:t>𝑶</m:t>
                    </m:r>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và một vectơ </a:t>
                </a:r>
                <a14:m>
                  <m:oMath xmlns:m="http://schemas.openxmlformats.org/officeDocument/2006/math">
                    <m:acc>
                      <m:accPr>
                        <m:chr m:val="⃗"/>
                        <m:ctrlPr>
                          <a:rPr lang="en-US" b="1" i="1">
                            <a:solidFill>
                              <a:schemeClr val="tx1"/>
                            </a:solidFill>
                            <a:latin typeface="Cambria Math" panose="02040503050406030204" pitchFamily="18" charset="0"/>
                            <a:ea typeface="Cambria Math" panose="02040503050406030204" pitchFamily="18" charset="0"/>
                          </a:rPr>
                        </m:ctrlPr>
                      </m:accPr>
                      <m:e>
                        <m:r>
                          <a:rPr lang="en-US" b="1" i="1">
                            <a:solidFill>
                              <a:schemeClr val="tx1"/>
                            </a:solidFill>
                            <a:latin typeface="Cambria Math" panose="02040503050406030204" pitchFamily="18" charset="0"/>
                            <a:ea typeface="Cambria Math" panose="02040503050406030204" pitchFamily="18" charset="0"/>
                          </a:rPr>
                          <m:t>𝒊</m:t>
                        </m:r>
                      </m:e>
                    </m:acc>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có độ dài bằng 1. Điểm </a:t>
                </a:r>
                <a14:m>
                  <m:oMath xmlns:m="http://schemas.openxmlformats.org/officeDocument/2006/math">
                    <m:r>
                      <a:rPr lang="en-US" b="1" i="1">
                        <a:solidFill>
                          <a:schemeClr val="tx1"/>
                        </a:solidFill>
                        <a:latin typeface="Cambria Math" panose="02040503050406030204" pitchFamily="18" charset="0"/>
                        <a:ea typeface="Cambria Math" panose="02040503050406030204" pitchFamily="18" charset="0"/>
                      </a:rPr>
                      <m:t>𝑶</m:t>
                    </m:r>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gọi là </a:t>
                </a:r>
                <a:r>
                  <a:rPr lang="en-US" b="1" i="1">
                    <a:solidFill>
                      <a:schemeClr val="tx1"/>
                    </a:solidFill>
                    <a:latin typeface="Tahoma" panose="020B0604030504040204" pitchFamily="34" charset="0"/>
                    <a:ea typeface="Tahoma" panose="020B0604030504040204" pitchFamily="34" charset="0"/>
                    <a:cs typeface="Tahoma" panose="020B0604030504040204" pitchFamily="34" charset="0"/>
                  </a:rPr>
                  <a:t>gốc toạ độ,</a:t>
                </a:r>
                <a:r>
                  <a:rPr lang="en-US" b="1">
                    <a:solidFill>
                      <a:schemeClr val="tx1"/>
                    </a:solidFill>
                    <a:latin typeface="Tahoma" panose="020B0604030504040204" pitchFamily="34" charset="0"/>
                    <a:ea typeface="Tahoma" panose="020B0604030504040204" pitchFamily="34" charset="0"/>
                    <a:cs typeface="Tahoma" panose="020B0604030504040204" pitchFamily="34" charset="0"/>
                  </a:rPr>
                  <a:t> vectơ </a:t>
                </a:r>
                <a14:m>
                  <m:oMath xmlns:m="http://schemas.openxmlformats.org/officeDocument/2006/math">
                    <m:acc>
                      <m:accPr>
                        <m:chr m:val="⃗"/>
                        <m:ctrlPr>
                          <a:rPr lang="en-US" b="1" i="1">
                            <a:solidFill>
                              <a:schemeClr val="tx1"/>
                            </a:solidFill>
                            <a:latin typeface="Cambria Math" panose="02040503050406030204" pitchFamily="18" charset="0"/>
                            <a:ea typeface="Cambria Math" panose="02040503050406030204" pitchFamily="18" charset="0"/>
                          </a:rPr>
                        </m:ctrlPr>
                      </m:accPr>
                      <m:e>
                        <m:r>
                          <a:rPr lang="en-US" b="1" i="1">
                            <a:solidFill>
                              <a:schemeClr val="tx1"/>
                            </a:solidFill>
                            <a:latin typeface="Cambria Math" panose="02040503050406030204" pitchFamily="18" charset="0"/>
                            <a:ea typeface="Cambria Math" panose="02040503050406030204" pitchFamily="18" charset="0"/>
                          </a:rPr>
                          <m:t>𝒊</m:t>
                        </m:r>
                      </m:e>
                    </m:acc>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gọi là vectơ </a:t>
                </a:r>
                <a:r>
                  <a:rPr lang="en-US" b="1" i="1">
                    <a:solidFill>
                      <a:schemeClr val="tx1"/>
                    </a:solidFill>
                    <a:latin typeface="Tahoma" panose="020B0604030504040204" pitchFamily="34" charset="0"/>
                    <a:ea typeface="Tahoma" panose="020B0604030504040204" pitchFamily="34" charset="0"/>
                    <a:cs typeface="Tahoma" panose="020B0604030504040204" pitchFamily="34" charset="0"/>
                  </a:rPr>
                  <a:t>đơn vị </a:t>
                </a:r>
                <a:r>
                  <a:rPr lang="en-US" b="1">
                    <a:solidFill>
                      <a:schemeClr val="tx1"/>
                    </a:solidFill>
                    <a:latin typeface="Tahoma" panose="020B0604030504040204" pitchFamily="34" charset="0"/>
                    <a:ea typeface="Tahoma" panose="020B0604030504040204" pitchFamily="34" charset="0"/>
                    <a:cs typeface="Tahoma" panose="020B0604030504040204" pitchFamily="34" charset="0"/>
                  </a:rPr>
                  <a:t>của trục. Điểm </a:t>
                </a:r>
                <a14:m>
                  <m:oMath xmlns:m="http://schemas.openxmlformats.org/officeDocument/2006/math">
                    <m:r>
                      <a:rPr lang="en-US" b="1" i="1">
                        <a:solidFill>
                          <a:schemeClr val="tx1"/>
                        </a:solidFill>
                        <a:latin typeface="Cambria Math" panose="02040503050406030204" pitchFamily="18" charset="0"/>
                        <a:ea typeface="Cambria Math" panose="02040503050406030204" pitchFamily="18" charset="0"/>
                      </a:rPr>
                      <m:t>𝑴</m:t>
                    </m:r>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trên trục biểu diễn số </a:t>
                </a:r>
                <a14:m>
                  <m:oMath xmlns:m="http://schemas.openxmlformats.org/officeDocument/2006/math">
                    <m:sSub>
                      <m:sSubPr>
                        <m:ctrlPr>
                          <a:rPr lang="en-US" b="1" i="1">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𝒙</m:t>
                        </m:r>
                      </m:e>
                      <m:sub>
                        <m:r>
                          <a:rPr lang="en-US" b="1" i="1">
                            <a:solidFill>
                              <a:schemeClr val="tx1"/>
                            </a:solidFill>
                            <a:latin typeface="Cambria Math" panose="02040503050406030204" pitchFamily="18" charset="0"/>
                            <a:ea typeface="Cambria Math" panose="02040503050406030204" pitchFamily="18" charset="0"/>
                          </a:rPr>
                          <m:t>𝟎</m:t>
                        </m:r>
                      </m:sub>
                    </m:sSub>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(hay có toạ độ </a:t>
                </a:r>
                <a14:m>
                  <m:oMath xmlns:m="http://schemas.openxmlformats.org/officeDocument/2006/math">
                    <m:sSub>
                      <m:sSubPr>
                        <m:ctrlPr>
                          <a:rPr lang="en-US" b="1" i="1">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𝒙</m:t>
                        </m:r>
                      </m:e>
                      <m:sub>
                        <m:r>
                          <a:rPr lang="en-US" b="1" i="1">
                            <a:solidFill>
                              <a:schemeClr val="tx1"/>
                            </a:solidFill>
                            <a:latin typeface="Cambria Math" panose="02040503050406030204" pitchFamily="18" charset="0"/>
                            <a:ea typeface="Cambria Math" panose="02040503050406030204" pitchFamily="18" charset="0"/>
                          </a:rPr>
                          <m:t>𝟎</m:t>
                        </m:r>
                      </m:sub>
                    </m:sSub>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nếu </a:t>
                </a:r>
                <a14:m>
                  <m:oMath xmlns:m="http://schemas.openxmlformats.org/officeDocument/2006/math">
                    <m:acc>
                      <m:accPr>
                        <m:chr m:val="⃗"/>
                        <m:ctrlPr>
                          <a:rPr lang="en-US" b="1" i="1">
                            <a:solidFill>
                              <a:schemeClr val="tx1"/>
                            </a:solidFill>
                            <a:latin typeface="Cambria Math" panose="02040503050406030204" pitchFamily="18" charset="0"/>
                            <a:ea typeface="Cambria Math" panose="02040503050406030204" pitchFamily="18" charset="0"/>
                          </a:rPr>
                        </m:ctrlPr>
                      </m:accPr>
                      <m:e>
                        <m:r>
                          <a:rPr lang="en-US" b="1" i="1">
                            <a:solidFill>
                              <a:schemeClr val="tx1"/>
                            </a:solidFill>
                            <a:latin typeface="Cambria Math" panose="02040503050406030204" pitchFamily="18" charset="0"/>
                            <a:ea typeface="Cambria Math" panose="02040503050406030204" pitchFamily="18" charset="0"/>
                          </a:rPr>
                          <m:t>𝑶𝑴</m:t>
                        </m:r>
                      </m:e>
                    </m:acc>
                    <m:r>
                      <a:rPr lang="en-US" b="1" i="1">
                        <a:solidFill>
                          <a:schemeClr val="tx1"/>
                        </a:solidFill>
                        <a:latin typeface="Cambria Math" panose="02040503050406030204" pitchFamily="18" charset="0"/>
                        <a:ea typeface="Cambria Math" panose="02040503050406030204" pitchFamily="18" charset="0"/>
                      </a:rPr>
                      <m:t>= </m:t>
                    </m:r>
                    <m:sSub>
                      <m:sSubPr>
                        <m:ctrlPr>
                          <a:rPr lang="en-US" b="1" i="1">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𝒙</m:t>
                        </m:r>
                      </m:e>
                      <m:sub>
                        <m:r>
                          <a:rPr lang="en-US" b="1" i="1">
                            <a:solidFill>
                              <a:schemeClr val="tx1"/>
                            </a:solidFill>
                            <a:latin typeface="Cambria Math" panose="02040503050406030204" pitchFamily="18" charset="0"/>
                            <a:ea typeface="Cambria Math" panose="02040503050406030204" pitchFamily="18" charset="0"/>
                          </a:rPr>
                          <m:t>𝟎</m:t>
                        </m:r>
                      </m:sub>
                    </m:sSub>
                    <m:acc>
                      <m:accPr>
                        <m:chr m:val="⃗"/>
                        <m:ctrlPr>
                          <a:rPr lang="en-US" b="1" i="1">
                            <a:solidFill>
                              <a:schemeClr val="tx1"/>
                            </a:solidFill>
                            <a:latin typeface="Cambria Math" panose="02040503050406030204" pitchFamily="18" charset="0"/>
                            <a:ea typeface="Cambria Math" panose="02040503050406030204" pitchFamily="18" charset="0"/>
                          </a:rPr>
                        </m:ctrlPr>
                      </m:accPr>
                      <m:e>
                        <m:r>
                          <a:rPr lang="en-US" b="1" i="1">
                            <a:solidFill>
                              <a:schemeClr val="tx1"/>
                            </a:solidFill>
                            <a:latin typeface="Cambria Math" panose="02040503050406030204" pitchFamily="18" charset="0"/>
                            <a:ea typeface="Cambria Math" panose="02040503050406030204" pitchFamily="18" charset="0"/>
                          </a:rPr>
                          <m:t>𝒊</m:t>
                        </m:r>
                      </m:e>
                    </m:acc>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a:t>
                </a:r>
              </a:p>
              <a:p>
                <a:endParaRPr lang="en-US" b="1">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en-US" b="1">
                  <a:solidFill>
                    <a:schemeClr val="tx1"/>
                  </a:solidFill>
                  <a:latin typeface="Tahoma" panose="020B0604030504040204" pitchFamily="34" charset="0"/>
                  <a:ea typeface="Tahoma" panose="020B0604030504040204" pitchFamily="34" charset="0"/>
                  <a:cs typeface="Tahoma" panose="020B0604030504040204" pitchFamily="34" charset="0"/>
                </a:endParaRPr>
              </a:p>
              <a:p>
                <a:pPr>
                  <a:buFont typeface="Wingdings" panose="05000000000000000000" pitchFamily="2" charset="2"/>
                  <a:buChar char="§"/>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Ví dụ:</a:t>
                </a:r>
                <a:endParaRPr lang="en-US" b="1" i="1">
                  <a:solidFill>
                    <a:srgbClr val="FF0000"/>
                  </a:solidFill>
                  <a:latin typeface="Tahoma" panose="020B0604030504040204" pitchFamily="34" charset="0"/>
                  <a:ea typeface="Tahoma" panose="020B0604030504040204" pitchFamily="34" charset="0"/>
                  <a:cs typeface="Tahoma" panose="020B0604030504040204" pitchFamily="34" charset="0"/>
                </a:endParaRPr>
              </a:p>
              <a:p>
                <a14:m>
                  <m:oMath xmlns:m="http://schemas.openxmlformats.org/officeDocument/2006/math">
                    <m:acc>
                      <m:accPr>
                        <m:chr m:val="⃗"/>
                        <m:ctrlPr>
                          <a:rPr lang="en-US" b="1" i="1">
                            <a:solidFill>
                              <a:schemeClr val="tx1"/>
                            </a:solidFill>
                            <a:latin typeface="Cambria Math" panose="02040503050406030204" pitchFamily="18" charset="0"/>
                            <a:ea typeface="Cambria Math" panose="02040503050406030204" pitchFamily="18" charset="0"/>
                          </a:rPr>
                        </m:ctrlPr>
                      </m:accPr>
                      <m:e>
                        <m:r>
                          <a:rPr lang="en-US" b="1" i="1">
                            <a:solidFill>
                              <a:schemeClr val="tx1"/>
                            </a:solidFill>
                            <a:latin typeface="Cambria Math" panose="02040503050406030204" pitchFamily="18" charset="0"/>
                            <a:ea typeface="Cambria Math" panose="02040503050406030204" pitchFamily="18" charset="0"/>
                          </a:rPr>
                          <m:t>𝑶</m:t>
                        </m:r>
                        <m:r>
                          <a:rPr lang="en-US" b="1" i="1" smtClean="0">
                            <a:solidFill>
                              <a:schemeClr val="tx1"/>
                            </a:solidFill>
                            <a:latin typeface="Cambria Math" panose="02040503050406030204" pitchFamily="18" charset="0"/>
                            <a:ea typeface="Cambria Math" panose="02040503050406030204" pitchFamily="18" charset="0"/>
                          </a:rPr>
                          <m:t>𝑴</m:t>
                        </m:r>
                      </m:e>
                    </m:acc>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𝟒</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thì điểm </a:t>
                </a:r>
                <a14:m>
                  <m:oMath xmlns:m="http://schemas.openxmlformats.org/officeDocument/2006/math">
                    <m:r>
                      <a:rPr lang="en-US" b="1" i="1">
                        <a:latin typeface="Cambria Math" panose="02040503050406030204" pitchFamily="18" charset="0"/>
                        <a:ea typeface="Cambria Math" panose="02040503050406030204" pitchFamily="18" charset="0"/>
                      </a:rPr>
                      <m:t>𝑴</m:t>
                    </m:r>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có tọa độ là </a:t>
                </a:r>
                <a14:m>
                  <m:oMath xmlns:m="http://schemas.openxmlformats.org/officeDocument/2006/math">
                    <m:r>
                      <a:rPr lang="en-US" b="1" i="1" smtClean="0">
                        <a:solidFill>
                          <a:schemeClr val="tx1"/>
                        </a:solidFill>
                        <a:latin typeface="Cambria Math" panose="02040503050406030204" pitchFamily="18" charset="0"/>
                        <a:ea typeface="Tahoma" panose="020B0604030504040204" pitchFamily="34" charset="0"/>
                        <a:cs typeface="Tahoma" panose="020B0604030504040204" pitchFamily="34" charset="0"/>
                      </a:rPr>
                      <m:t>𝟒</m:t>
                    </m:r>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a:t>
                </a:r>
              </a:p>
              <a:p>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m:t>
                        </m:r>
                        <m:r>
                          <a:rPr lang="en-US" b="1" i="1" smtClean="0">
                            <a:latin typeface="Cambria Math" panose="02040503050406030204" pitchFamily="18" charset="0"/>
                            <a:ea typeface="Cambria Math" panose="02040503050406030204" pitchFamily="18" charset="0"/>
                          </a:rPr>
                          <m:t>𝑵</m:t>
                        </m:r>
                      </m:e>
                    </m:acc>
                    <m:r>
                      <a:rPr lang="en-US" b="1" i="1">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m:t>
                    </m:r>
                    <m:f>
                      <m:fPr>
                        <m:ctrlPr>
                          <a:rPr lang="en-US" b="1" i="1">
                            <a:solidFill>
                              <a:schemeClr val="tx1"/>
                            </a:solidFill>
                            <a:latin typeface="Cambria Math" panose="02040503050406030204" pitchFamily="18" charset="0"/>
                            <a:ea typeface="Cambria Math" panose="02040503050406030204" pitchFamily="18" charset="0"/>
                          </a:rPr>
                        </m:ctrlPr>
                      </m:fPr>
                      <m:num>
                        <m:r>
                          <a:rPr lang="en-US" b="1" i="1">
                            <a:solidFill>
                              <a:schemeClr val="tx1"/>
                            </a:solidFill>
                            <a:latin typeface="Cambria Math" panose="02040503050406030204" pitchFamily="18" charset="0"/>
                            <a:ea typeface="Cambria Math" panose="02040503050406030204" pitchFamily="18" charset="0"/>
                          </a:rPr>
                          <m:t>𝟑</m:t>
                        </m:r>
                      </m:num>
                      <m:den>
                        <m:r>
                          <a:rPr lang="en-US" b="1" i="1">
                            <a:solidFill>
                              <a:schemeClr val="tx1"/>
                            </a:solidFill>
                            <a:latin typeface="Cambria Math" panose="02040503050406030204" pitchFamily="18" charset="0"/>
                            <a:ea typeface="Cambria Math" panose="02040503050406030204" pitchFamily="18" charset="0"/>
                          </a:rPr>
                          <m:t>𝟐</m:t>
                        </m:r>
                      </m:den>
                    </m:f>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m:rPr>
                        <m:nor/>
                      </m:rPr>
                      <a:rPr lang="en-US" b="1">
                        <a:latin typeface="Tahoma" panose="020B0604030504040204" pitchFamily="34" charset="0"/>
                        <a:ea typeface="Tahoma" panose="020B0604030504040204" pitchFamily="34" charset="0"/>
                        <a:cs typeface="Tahoma" panose="020B0604030504040204" pitchFamily="34" charset="0"/>
                      </a:rPr>
                      <m:t> </m:t>
                    </m:r>
                    <m:r>
                      <m:rPr>
                        <m:nor/>
                      </m:rPr>
                      <a:rPr lang="en-US" b="1">
                        <a:latin typeface="Tahoma" panose="020B0604030504040204" pitchFamily="34" charset="0"/>
                        <a:ea typeface="Tahoma" panose="020B0604030504040204" pitchFamily="34" charset="0"/>
                        <a:cs typeface="Tahoma" panose="020B0604030504040204" pitchFamily="34" charset="0"/>
                      </a:rPr>
                      <m:t>th</m:t>
                    </m:r>
                    <m:r>
                      <m:rPr>
                        <m:nor/>
                      </m:rPr>
                      <a:rPr lang="en-US" b="1">
                        <a:latin typeface="Tahoma" panose="020B0604030504040204" pitchFamily="34" charset="0"/>
                        <a:ea typeface="Tahoma" panose="020B0604030504040204" pitchFamily="34" charset="0"/>
                        <a:cs typeface="Tahoma" panose="020B0604030504040204" pitchFamily="34" charset="0"/>
                      </a:rPr>
                      <m:t>ì đ</m:t>
                    </m:r>
                    <m:r>
                      <m:rPr>
                        <m:nor/>
                      </m:rPr>
                      <a:rPr lang="en-US" b="1">
                        <a:latin typeface="Tahoma" panose="020B0604030504040204" pitchFamily="34" charset="0"/>
                        <a:ea typeface="Tahoma" panose="020B0604030504040204" pitchFamily="34" charset="0"/>
                        <a:cs typeface="Tahoma" panose="020B0604030504040204" pitchFamily="34" charset="0"/>
                      </a:rPr>
                      <m:t>i</m:t>
                    </m:r>
                    <m:r>
                      <m:rPr>
                        <m:nor/>
                      </m:rPr>
                      <a:rPr lang="en-US" b="1">
                        <a:latin typeface="Tahoma" panose="020B0604030504040204" pitchFamily="34" charset="0"/>
                        <a:ea typeface="Tahoma" panose="020B0604030504040204" pitchFamily="34" charset="0"/>
                        <a:cs typeface="Tahoma" panose="020B0604030504040204" pitchFamily="34" charset="0"/>
                      </a:rPr>
                      <m:t>ể</m:t>
                    </m:r>
                    <m:r>
                      <m:rPr>
                        <m:nor/>
                      </m:rPr>
                      <a:rPr lang="en-US" b="1">
                        <a:latin typeface="Tahoma" panose="020B0604030504040204" pitchFamily="34" charset="0"/>
                        <a:ea typeface="Tahoma" panose="020B0604030504040204" pitchFamily="34" charset="0"/>
                        <a:cs typeface="Tahoma" panose="020B0604030504040204" pitchFamily="34" charset="0"/>
                      </a:rPr>
                      <m:t>m</m:t>
                    </m:r>
                    <m:r>
                      <m:rPr>
                        <m:nor/>
                      </m:rPr>
                      <a:rPr lang="en-US" b="1">
                        <a:latin typeface="Tahoma" panose="020B0604030504040204" pitchFamily="34" charset="0"/>
                        <a:ea typeface="Tahoma" panose="020B0604030504040204" pitchFamily="34" charset="0"/>
                        <a:cs typeface="Tahoma" panose="020B0604030504040204" pitchFamily="34" charset="0"/>
                      </a:rPr>
                      <m:t> </m:t>
                    </m:r>
                    <m:r>
                      <a:rPr lang="en-US" b="1" i="1" smtClean="0">
                        <a:latin typeface="Cambria Math" panose="02040503050406030204" pitchFamily="18" charset="0"/>
                        <a:ea typeface="Cambria Math" panose="02040503050406030204" pitchFamily="18" charset="0"/>
                      </a:rPr>
                      <m:t>𝑵</m:t>
                    </m:r>
                    <m:r>
                      <m:rPr>
                        <m:nor/>
                      </m:rPr>
                      <a:rPr lang="en-US" b="1">
                        <a:latin typeface="Tahoma" panose="020B0604030504040204" pitchFamily="34" charset="0"/>
                        <a:ea typeface="Tahoma" panose="020B0604030504040204" pitchFamily="34" charset="0"/>
                        <a:cs typeface="Tahoma" panose="020B0604030504040204" pitchFamily="34" charset="0"/>
                      </a:rPr>
                      <m:t> </m:t>
                    </m:r>
                    <m:r>
                      <m:rPr>
                        <m:nor/>
                      </m:rPr>
                      <a:rPr lang="en-US" b="1">
                        <a:latin typeface="Tahoma" panose="020B0604030504040204" pitchFamily="34" charset="0"/>
                        <a:ea typeface="Tahoma" panose="020B0604030504040204" pitchFamily="34" charset="0"/>
                        <a:cs typeface="Tahoma" panose="020B0604030504040204" pitchFamily="34" charset="0"/>
                      </a:rPr>
                      <m:t>c</m:t>
                    </m:r>
                    <m:r>
                      <m:rPr>
                        <m:nor/>
                      </m:rPr>
                      <a:rPr lang="en-US" b="1">
                        <a:latin typeface="Tahoma" panose="020B0604030504040204" pitchFamily="34" charset="0"/>
                        <a:ea typeface="Tahoma" panose="020B0604030504040204" pitchFamily="34" charset="0"/>
                        <a:cs typeface="Tahoma" panose="020B0604030504040204" pitchFamily="34" charset="0"/>
                      </a:rPr>
                      <m:t>ó </m:t>
                    </m:r>
                    <m:r>
                      <m:rPr>
                        <m:nor/>
                      </m:rPr>
                      <a:rPr lang="en-US" b="1">
                        <a:latin typeface="Tahoma" panose="020B0604030504040204" pitchFamily="34" charset="0"/>
                        <a:ea typeface="Tahoma" panose="020B0604030504040204" pitchFamily="34" charset="0"/>
                        <a:cs typeface="Tahoma" panose="020B0604030504040204" pitchFamily="34" charset="0"/>
                      </a:rPr>
                      <m:t>t</m:t>
                    </m:r>
                    <m:r>
                      <m:rPr>
                        <m:nor/>
                      </m:rPr>
                      <a:rPr lang="en-US" b="1">
                        <a:latin typeface="Tahoma" panose="020B0604030504040204" pitchFamily="34" charset="0"/>
                        <a:ea typeface="Tahoma" panose="020B0604030504040204" pitchFamily="34" charset="0"/>
                        <a:cs typeface="Tahoma" panose="020B0604030504040204" pitchFamily="34" charset="0"/>
                      </a:rPr>
                      <m:t>ọ</m:t>
                    </m:r>
                    <m:r>
                      <m:rPr>
                        <m:nor/>
                      </m:rPr>
                      <a:rPr lang="en-US" b="1">
                        <a:latin typeface="Tahoma" panose="020B0604030504040204" pitchFamily="34" charset="0"/>
                        <a:ea typeface="Tahoma" panose="020B0604030504040204" pitchFamily="34" charset="0"/>
                        <a:cs typeface="Tahoma" panose="020B0604030504040204" pitchFamily="34" charset="0"/>
                      </a:rPr>
                      <m:t>a</m:t>
                    </m:r>
                    <m:r>
                      <m:rPr>
                        <m:nor/>
                      </m:rPr>
                      <a:rPr lang="en-US" b="1">
                        <a:latin typeface="Tahoma" panose="020B0604030504040204" pitchFamily="34" charset="0"/>
                        <a:ea typeface="Tahoma" panose="020B0604030504040204" pitchFamily="34" charset="0"/>
                        <a:cs typeface="Tahoma" panose="020B0604030504040204" pitchFamily="34" charset="0"/>
                      </a:rPr>
                      <m:t> độ </m:t>
                    </m:r>
                    <m:r>
                      <m:rPr>
                        <m:nor/>
                      </m:rPr>
                      <a:rPr lang="en-US" b="1">
                        <a:latin typeface="Tahoma" panose="020B0604030504040204" pitchFamily="34" charset="0"/>
                        <a:ea typeface="Tahoma" panose="020B0604030504040204" pitchFamily="34" charset="0"/>
                        <a:cs typeface="Tahoma" panose="020B0604030504040204" pitchFamily="34" charset="0"/>
                      </a:rPr>
                      <m:t>l</m:t>
                    </m:r>
                    <m:r>
                      <m:rPr>
                        <m:nor/>
                      </m:rPr>
                      <a:rPr lang="en-US" b="1">
                        <a:latin typeface="Tahoma" panose="020B0604030504040204" pitchFamily="34" charset="0"/>
                        <a:ea typeface="Tahoma" panose="020B0604030504040204" pitchFamily="34" charset="0"/>
                        <a:cs typeface="Tahoma" panose="020B0604030504040204" pitchFamily="34" charset="0"/>
                      </a:rPr>
                      <m:t>à</m:t>
                    </m:r>
                    <m:r>
                      <a:rPr lang="en-US" b="1" i="1">
                        <a:latin typeface="Cambria Math" panose="02040503050406030204" pitchFamily="18" charset="0"/>
                        <a:ea typeface="Cambria Math" panose="02040503050406030204" pitchFamily="18" charset="0"/>
                      </a:rPr>
                      <m:t>−</m:t>
                    </m:r>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𝟑</m:t>
                        </m:r>
                      </m:num>
                      <m:den>
                        <m:r>
                          <a:rPr lang="en-US" b="1" i="1">
                            <a:latin typeface="Cambria Math" panose="02040503050406030204" pitchFamily="18" charset="0"/>
                            <a:ea typeface="Cambria Math" panose="02040503050406030204" pitchFamily="18" charset="0"/>
                          </a:rPr>
                          <m:t>𝟐</m:t>
                        </m:r>
                      </m:den>
                    </m:f>
                    <m:r>
                      <m:rPr>
                        <m:nor/>
                      </m:rPr>
                      <a:rPr lang="en-US" b="1">
                        <a:latin typeface="Tahoma" panose="020B0604030504040204" pitchFamily="34" charset="0"/>
                        <a:ea typeface="Tahoma" panose="020B0604030504040204" pitchFamily="34" charset="0"/>
                        <a:cs typeface="Tahoma" panose="020B0604030504040204" pitchFamily="34" charset="0"/>
                      </a:rPr>
                      <m:t>.</m:t>
                    </m:r>
                  </m:oMath>
                </a14:m>
                <a:endParaRPr lang="en-US" b="1">
                  <a:latin typeface="Tahoma" panose="020B0604030504040204" pitchFamily="34" charset="0"/>
                  <a:ea typeface="Tahoma" panose="020B0604030504040204" pitchFamily="34" charset="0"/>
                  <a:cs typeface="Tahoma" panose="020B0604030504040204" pitchFamily="34" charset="0"/>
                </a:endParaRPr>
              </a:p>
              <a:p>
                <a:pPr>
                  <a:buFont typeface="Wingdings" panose="05000000000000000000" pitchFamily="2" charset="2"/>
                  <a:buChar char="ü"/>
                </a:pPr>
                <a:r>
                  <a:rPr lang="en-US" b="1">
                    <a:solidFill>
                      <a:schemeClr val="tx1"/>
                    </a:solidFill>
                    <a:latin typeface="Tahoma" panose="020B0604030504040204" pitchFamily="34" charset="0"/>
                    <a:ea typeface="Tahoma" panose="020B0604030504040204" pitchFamily="34" charset="0"/>
                    <a:cs typeface="Tahoma" panose="020B0604030504040204" pitchFamily="34" charset="0"/>
                  </a:rPr>
                  <a:t> Chú ý: Điểm gốc </a:t>
                </a:r>
                <a14:m>
                  <m:oMath xmlns:m="http://schemas.openxmlformats.org/officeDocument/2006/math">
                    <m:r>
                      <a:rPr lang="en-US" b="1" i="1" smtClean="0">
                        <a:solidFill>
                          <a:schemeClr val="tx1"/>
                        </a:solidFill>
                        <a:latin typeface="Cambria Math" panose="02040503050406030204" pitchFamily="18" charset="0"/>
                        <a:ea typeface="Tahoma" panose="020B0604030504040204" pitchFamily="34" charset="0"/>
                        <a:cs typeface="Tahoma" panose="020B0604030504040204" pitchFamily="34" charset="0"/>
                      </a:rPr>
                      <m:t>𝑶</m:t>
                    </m:r>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có tọa độ là </a:t>
                </a:r>
                <a14:m>
                  <m:oMath xmlns:m="http://schemas.openxmlformats.org/officeDocument/2006/math">
                    <m:r>
                      <a:rPr lang="en-US" b="1" i="1" smtClean="0">
                        <a:solidFill>
                          <a:schemeClr val="tx1"/>
                        </a:solidFill>
                        <a:latin typeface="Cambria Math" panose="02040503050406030204" pitchFamily="18" charset="0"/>
                        <a:ea typeface="Tahoma" panose="020B0604030504040204" pitchFamily="34" charset="0"/>
                        <a:cs typeface="Tahoma" panose="020B0604030504040204" pitchFamily="34" charset="0"/>
                      </a:rPr>
                      <m:t>𝟎</m:t>
                    </m:r>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38328" y="2743200"/>
                <a:ext cx="23664672" cy="10668000"/>
              </a:xfrm>
              <a:prstGeom prst="rect">
                <a:avLst/>
              </a:prstGeom>
              <a:blipFill>
                <a:blip r:embed="rId3"/>
                <a:stretch>
                  <a:fillRect l="-1030" r="-1133"/>
                </a:stretch>
              </a:blipFill>
              <a:ln>
                <a:solidFill>
                  <a:srgbClr val="00B0F0"/>
                </a:solidFill>
              </a:ln>
            </p:spPr>
            <p:txBody>
              <a:bodyPr/>
              <a:lstStyle/>
              <a:p>
                <a:r>
                  <a:rPr lang="en-US">
                    <a:noFill/>
                  </a:rPr>
                  <a:t> </a:t>
                </a:r>
              </a:p>
            </p:txBody>
          </p:sp>
        </mc:Fallback>
      </mc:AlternateContent>
      <p:pic>
        <p:nvPicPr>
          <p:cNvPr id="8" name="Picture 7" descr="Shape&#10;&#10;Description automatically generated with medium confidence">
            <a:extLst>
              <a:ext uri="{FF2B5EF4-FFF2-40B4-BE49-F238E27FC236}">
                <a16:creationId xmlns:a16="http://schemas.microsoft.com/office/drawing/2014/main" id="{2258CD83-5EBD-4BB7-B5AC-344E9426B2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6200" y="6629400"/>
            <a:ext cx="10400251" cy="2438400"/>
          </a:xfrm>
          <a:prstGeom prst="rect">
            <a:avLst/>
          </a:prstGeom>
        </p:spPr>
      </p:pic>
      <p:sp>
        <p:nvSpPr>
          <p:cNvPr id="11" name="Title 1">
            <a:extLst>
              <a:ext uri="{FF2B5EF4-FFF2-40B4-BE49-F238E27FC236}">
                <a16:creationId xmlns:a16="http://schemas.microsoft.com/office/drawing/2014/main" id="{3F562378-1639-454D-B13E-0F52AAD4E8BE}"/>
              </a:ext>
            </a:extLst>
          </p:cNvPr>
          <p:cNvSpPr txBox="1">
            <a:spLocks/>
          </p:cNvSpPr>
          <p:nvPr/>
        </p:nvSpPr>
        <p:spPr>
          <a:xfrm>
            <a:off x="361950" y="1790700"/>
            <a:ext cx="7162800" cy="8382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sz="4800" b="1">
                <a:latin typeface="Tahoma" panose="020B0604030504040204" pitchFamily="34" charset="0"/>
                <a:ea typeface="Tahoma" panose="020B0604030504040204" pitchFamily="34" charset="0"/>
                <a:cs typeface="Tahoma" panose="020B0604030504040204" pitchFamily="34" charset="0"/>
              </a:rPr>
              <a:t>1. T</a:t>
            </a:r>
            <a:r>
              <a:rPr lang="en-US" sz="4800" b="1">
                <a:latin typeface="Tahoma" panose="020B0604030504040204" pitchFamily="34" charset="0"/>
                <a:ea typeface="Tahoma" panose="020B0604030504040204" pitchFamily="34" charset="0"/>
                <a:cs typeface="Tahoma" panose="020B0604030504040204" pitchFamily="34" charset="0"/>
              </a:rPr>
              <a:t>ỌA</a:t>
            </a:r>
            <a:r>
              <a:rPr lang="vi-VN" sz="4800" b="1">
                <a:latin typeface="Tahoma" panose="020B0604030504040204" pitchFamily="34" charset="0"/>
                <a:ea typeface="Tahoma" panose="020B0604030504040204" pitchFamily="34" charset="0"/>
                <a:cs typeface="Tahoma" panose="020B0604030504040204" pitchFamily="34" charset="0"/>
              </a:rPr>
              <a:t> ĐỘ CỦA VECTƠ</a:t>
            </a: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1141570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1000"/>
                                        <p:tgtEl>
                                          <p:spTgt spid="99"/>
                                        </p:tgtEl>
                                      </p:cBhvr>
                                    </p:animEffect>
                                    <p:anim calcmode="lin" valueType="num">
                                      <p:cBhvr>
                                        <p:cTn id="8" dur="1000" fill="hold"/>
                                        <p:tgtEl>
                                          <p:spTgt spid="99"/>
                                        </p:tgtEl>
                                        <p:attrNameLst>
                                          <p:attrName>ppt_x</p:attrName>
                                        </p:attrNameLst>
                                      </p:cBhvr>
                                      <p:tavLst>
                                        <p:tav tm="0">
                                          <p:val>
                                            <p:strVal val="#ppt_x"/>
                                          </p:val>
                                        </p:tav>
                                        <p:tav tm="100000">
                                          <p:val>
                                            <p:strVal val="#ppt_x"/>
                                          </p:val>
                                        </p:tav>
                                      </p:tavLst>
                                    </p:anim>
                                    <p:anim calcmode="lin" valueType="num">
                                      <p:cBhvr>
                                        <p:cTn id="9"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9">
                                            <p:txEl>
                                              <p:pRg st="0" end="0"/>
                                            </p:txEl>
                                          </p:spTgt>
                                        </p:tgtEl>
                                        <p:attrNameLst>
                                          <p:attrName>style.visibility</p:attrName>
                                        </p:attrNameLst>
                                      </p:cBhvr>
                                      <p:to>
                                        <p:strVal val="visible"/>
                                      </p:to>
                                    </p:set>
                                    <p:animEffect transition="in" filter="fade">
                                      <p:cBhvr>
                                        <p:cTn id="14" dur="1000"/>
                                        <p:tgtEl>
                                          <p:spTgt spid="99">
                                            <p:txEl>
                                              <p:pRg st="0" end="0"/>
                                            </p:txEl>
                                          </p:spTgt>
                                        </p:tgtEl>
                                      </p:cBhvr>
                                    </p:animEffect>
                                    <p:anim calcmode="lin" valueType="num">
                                      <p:cBhvr>
                                        <p:cTn id="15" dur="1000" fill="hold"/>
                                        <p:tgtEl>
                                          <p:spTgt spid="9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9">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9">
                                            <p:txEl>
                                              <p:pRg st="3" end="3"/>
                                            </p:txEl>
                                          </p:spTgt>
                                        </p:tgtEl>
                                        <p:attrNameLst>
                                          <p:attrName>style.visibility</p:attrName>
                                        </p:attrNameLst>
                                      </p:cBhvr>
                                      <p:to>
                                        <p:strVal val="visible"/>
                                      </p:to>
                                    </p:set>
                                    <p:animEffect transition="in" filter="fade">
                                      <p:cBhvr>
                                        <p:cTn id="26" dur="1000"/>
                                        <p:tgtEl>
                                          <p:spTgt spid="99">
                                            <p:txEl>
                                              <p:pRg st="3" end="3"/>
                                            </p:txEl>
                                          </p:spTgt>
                                        </p:tgtEl>
                                      </p:cBhvr>
                                    </p:animEffect>
                                    <p:anim calcmode="lin" valueType="num">
                                      <p:cBhvr>
                                        <p:cTn id="27" dur="1000" fill="hold"/>
                                        <p:tgtEl>
                                          <p:spTgt spid="99">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9">
                                            <p:txEl>
                                              <p:pRg st="4" end="4"/>
                                            </p:txEl>
                                          </p:spTgt>
                                        </p:tgtEl>
                                        <p:attrNameLst>
                                          <p:attrName>style.visibility</p:attrName>
                                        </p:attrNameLst>
                                      </p:cBhvr>
                                      <p:to>
                                        <p:strVal val="visible"/>
                                      </p:to>
                                    </p:set>
                                    <p:animEffect transition="in" filter="fade">
                                      <p:cBhvr>
                                        <p:cTn id="33" dur="1000"/>
                                        <p:tgtEl>
                                          <p:spTgt spid="99">
                                            <p:txEl>
                                              <p:pRg st="4" end="4"/>
                                            </p:txEl>
                                          </p:spTgt>
                                        </p:tgtEl>
                                      </p:cBhvr>
                                    </p:animEffect>
                                    <p:anim calcmode="lin" valueType="num">
                                      <p:cBhvr>
                                        <p:cTn id="34" dur="1000" fill="hold"/>
                                        <p:tgtEl>
                                          <p:spTgt spid="99">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9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99">
                                            <p:txEl>
                                              <p:pRg st="5" end="5"/>
                                            </p:txEl>
                                          </p:spTgt>
                                        </p:tgtEl>
                                        <p:attrNameLst>
                                          <p:attrName>style.visibility</p:attrName>
                                        </p:attrNameLst>
                                      </p:cBhvr>
                                      <p:to>
                                        <p:strVal val="visible"/>
                                      </p:to>
                                    </p:set>
                                    <p:animEffect transition="in" filter="fade">
                                      <p:cBhvr>
                                        <p:cTn id="40" dur="1000"/>
                                        <p:tgtEl>
                                          <p:spTgt spid="99">
                                            <p:txEl>
                                              <p:pRg st="5" end="5"/>
                                            </p:txEl>
                                          </p:spTgt>
                                        </p:tgtEl>
                                      </p:cBhvr>
                                    </p:animEffect>
                                    <p:anim calcmode="lin" valueType="num">
                                      <p:cBhvr>
                                        <p:cTn id="41" dur="1000" fill="hold"/>
                                        <p:tgtEl>
                                          <p:spTgt spid="99">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9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99">
                                            <p:txEl>
                                              <p:pRg st="6" end="6"/>
                                            </p:txEl>
                                          </p:spTgt>
                                        </p:tgtEl>
                                        <p:attrNameLst>
                                          <p:attrName>style.visibility</p:attrName>
                                        </p:attrNameLst>
                                      </p:cBhvr>
                                      <p:to>
                                        <p:strVal val="visible"/>
                                      </p:to>
                                    </p:set>
                                    <p:animEffect transition="in" filter="fade">
                                      <p:cBhvr>
                                        <p:cTn id="47" dur="1000"/>
                                        <p:tgtEl>
                                          <p:spTgt spid="99">
                                            <p:txEl>
                                              <p:pRg st="6" end="6"/>
                                            </p:txEl>
                                          </p:spTgt>
                                        </p:tgtEl>
                                      </p:cBhvr>
                                    </p:animEffect>
                                    <p:anim calcmode="lin" valueType="num">
                                      <p:cBhvr>
                                        <p:cTn id="48" dur="1000" fill="hold"/>
                                        <p:tgtEl>
                                          <p:spTgt spid="99">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9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ectangle 13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61950" y="2743200"/>
                <a:ext cx="15944850" cy="10686288"/>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buFont typeface="Wingdings" panose="05000000000000000000" pitchFamily="2" charset="2"/>
                  <a:buChar char="q"/>
                </a:pPr>
                <a:r>
                  <a:rPr lang="en-US">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HĐ2:</a:t>
                </a:r>
                <a:r>
                  <a:rPr lang="en-US" b="1">
                    <a:latin typeface="Tahoma" panose="020B0604030504040204" pitchFamily="34" charset="0"/>
                    <a:ea typeface="Tahoma" panose="020B0604030504040204" pitchFamily="34" charset="0"/>
                    <a:cs typeface="Tahoma" panose="020B0604030504040204" pitchFamily="34" charset="0"/>
                  </a:rPr>
                  <a:t> Trong hình 4.33:</a:t>
                </a:r>
              </a:p>
              <a:p>
                <a:pPr marL="0" indent="0">
                  <a:buNone/>
                </a:pPr>
                <a:r>
                  <a:rPr lang="en-US" b="1">
                    <a:latin typeface="Tahoma" panose="020B0604030504040204" pitchFamily="34" charset="0"/>
                    <a:ea typeface="Tahoma" panose="020B0604030504040204" pitchFamily="34" charset="0"/>
                    <a:cs typeface="Tahoma" panose="020B0604030504040204" pitchFamily="34" charset="0"/>
                  </a:rPr>
                  <a:t>a) Hãy biểu thị mỗi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𝑶𝑵</m:t>
                        </m:r>
                      </m:e>
                    </m:acc>
                  </m:oMath>
                </a14:m>
                <a:r>
                  <a:rPr lang="en-US" b="1">
                    <a:latin typeface="Tahoma" panose="020B0604030504040204" pitchFamily="34" charset="0"/>
                    <a:ea typeface="Tahoma" panose="020B0604030504040204" pitchFamily="34" charset="0"/>
                    <a:cs typeface="Tahoma" panose="020B0604030504040204" pitchFamily="34" charset="0"/>
                  </a:rPr>
                  <a:t> theo các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buNone/>
                </a:pPr>
                <a:r>
                  <a:rPr lang="en-US" b="1">
                    <a:latin typeface="Tahoma" panose="020B0604030504040204" pitchFamily="34" charset="0"/>
                    <a:ea typeface="Tahoma" panose="020B0604030504040204" pitchFamily="34" charset="0"/>
                    <a:cs typeface="Tahoma" panose="020B0604030504040204" pitchFamily="34" charset="0"/>
                  </a:rPr>
                  <a:t>b) Hãy biểu thị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𝑴𝑵</m:t>
                        </m:r>
                      </m:e>
                    </m:acc>
                  </m:oMath>
                </a14:m>
                <a:r>
                  <a:rPr lang="en-US" b="1">
                    <a:latin typeface="Tahoma" panose="020B0604030504040204" pitchFamily="34" charset="0"/>
                    <a:ea typeface="Tahoma" panose="020B0604030504040204" pitchFamily="34" charset="0"/>
                    <a:cs typeface="Tahoma" panose="020B0604030504040204" pitchFamily="34" charset="0"/>
                  </a:rPr>
                  <a:t> theo các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𝑶𝑵</m:t>
                        </m:r>
                      </m:e>
                    </m:acc>
                  </m:oMath>
                </a14:m>
                <a:r>
                  <a:rPr lang="en-US" b="1">
                    <a:latin typeface="Tahoma" panose="020B0604030504040204" pitchFamily="34" charset="0"/>
                    <a:ea typeface="Tahoma" panose="020B0604030504040204" pitchFamily="34" charset="0"/>
                    <a:cs typeface="Tahoma" panose="020B0604030504040204" pitchFamily="34" charset="0"/>
                  </a:rPr>
                  <a:t>; từ đó biểu thị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𝑴𝑵</m:t>
                        </m:r>
                      </m:e>
                    </m:acc>
                  </m:oMath>
                </a14:m>
                <a:r>
                  <a:rPr lang="en-US" b="1">
                    <a:latin typeface="Tahoma" panose="020B0604030504040204" pitchFamily="34" charset="0"/>
                    <a:ea typeface="Tahoma" panose="020B0604030504040204" pitchFamily="34" charset="0"/>
                    <a:cs typeface="Tahoma" panose="020B0604030504040204" pitchFamily="34" charset="0"/>
                  </a:rPr>
                  <a:t> theo các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buNone/>
                </a:pPr>
                <a:endParaRPr lang="en-US">
                  <a:latin typeface="Tahoma" panose="020B0604030504040204" pitchFamily="34" charset="0"/>
                  <a:ea typeface="Tahoma" panose="020B0604030504040204" pitchFamily="34" charset="0"/>
                  <a:cs typeface="Tahoma" panose="020B0604030504040204" pitchFamily="34" charset="0"/>
                </a:endParaRPr>
              </a:p>
              <a:p>
                <a:endParaRPr lang="en-US">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a:latin typeface="Tahoma" panose="020B0604030504040204" pitchFamily="34" charset="0"/>
                  <a:ea typeface="Tahoma" panose="020B0604030504040204" pitchFamily="34" charset="0"/>
                  <a:cs typeface="Tahoma" panose="020B0604030504040204" pitchFamily="34" charset="0"/>
                </a:endParaRPr>
              </a:p>
              <a:p>
                <a:endParaRPr lang="en-US">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61950" y="2743200"/>
                <a:ext cx="15944850" cy="10686288"/>
              </a:xfrm>
              <a:prstGeom prst="rect">
                <a:avLst/>
              </a:prstGeom>
              <a:blipFill>
                <a:blip r:embed="rId3"/>
                <a:stretch>
                  <a:fillRect l="-1681" t="-1481" r="-1795"/>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4EF7CB57-4DD6-4D84-89BE-12EF7D2780CD}"/>
                  </a:ext>
                </a:extLst>
              </p:cNvPr>
              <p:cNvSpPr txBox="1">
                <a:spLocks/>
              </p:cNvSpPr>
              <p:nvPr/>
            </p:nvSpPr>
            <p:spPr>
              <a:xfrm>
                <a:off x="16611600" y="2743200"/>
                <a:ext cx="7467600" cy="10686288"/>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buFont typeface="Wingdings" panose="05000000000000000000" pitchFamily="2" charset="2"/>
                  <a:buChar char="Ø"/>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Hướng </a:t>
                </a:r>
                <a:r>
                  <a:rPr lang="fr-FR" b="1"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buNone/>
                </a:pPr>
                <a:r>
                  <a:rPr lang="fr-FR" b="1">
                    <a:latin typeface="Tahoma" panose="020B0604030504040204" pitchFamily="34" charset="0"/>
                    <a:ea typeface="Tahoma" panose="020B0604030504040204" pitchFamily="34" charset="0"/>
                    <a:cs typeface="Tahoma" panose="020B0604030504040204" pitchFamily="34" charset="0"/>
                  </a:rPr>
                  <a:t>a) Ta có:</a:t>
                </a:r>
                <a:endParaRPr lang="en-US" b="1">
                  <a:latin typeface="Tahoma" panose="020B0604030504040204" pitchFamily="34" charset="0"/>
                  <a:ea typeface="Tahoma" panose="020B0604030504040204" pitchFamily="34" charset="0"/>
                  <a:cs typeface="Tahoma" panose="020B0604030504040204" pitchFamily="34" charset="0"/>
                </a:endParaRPr>
              </a:p>
              <a:p>
                <a14:m>
                  <m:oMath xmlns:m="http://schemas.openxmlformats.org/officeDocument/2006/math">
                    <m:acc>
                      <m:accPr>
                        <m:chr m:val="⃗"/>
                        <m:ctrlPr>
                          <a:rPr lang="en-US" b="1" i="1" smtClean="0">
                            <a:solidFill>
                              <a:schemeClr val="tx1"/>
                            </a:solidFill>
                            <a:latin typeface="Cambria Math" panose="02040503050406030204" pitchFamily="18" charset="0"/>
                            <a:ea typeface="Cambria Math" panose="02040503050406030204" pitchFamily="18" charset="0"/>
                          </a:rPr>
                        </m:ctrlPr>
                      </m:accPr>
                      <m:e>
                        <m:r>
                          <a:rPr lang="en-US"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𝑶𝑴</m:t>
                        </m:r>
                      </m:e>
                    </m:acc>
                    <m:r>
                      <a:rPr lang="en-US"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𝟑</m:t>
                    </m:r>
                    <m:acc>
                      <m:accPr>
                        <m:chr m:val="⃗"/>
                        <m:ctrlPr>
                          <a:rPr lang="en-US" b="1" i="1">
                            <a:solidFill>
                              <a:schemeClr val="tx1"/>
                            </a:solidFill>
                            <a:latin typeface="Cambria Math" panose="02040503050406030204" pitchFamily="18" charset="0"/>
                            <a:ea typeface="Cambria Math" panose="02040503050406030204" pitchFamily="18" charset="0"/>
                          </a:rPr>
                        </m:ctrlPr>
                      </m:accPr>
                      <m:e>
                        <m:r>
                          <a:rPr lang="en-US"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𝒊</m:t>
                        </m:r>
                      </m:e>
                    </m:acc>
                    <m:r>
                      <a:rPr lang="en-US"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𝟓</m:t>
                    </m:r>
                    <m:acc>
                      <m:accPr>
                        <m:chr m:val="⃗"/>
                        <m:ctrlPr>
                          <a:rPr lang="en-US" b="1" i="1">
                            <a:solidFill>
                              <a:schemeClr val="tx1"/>
                            </a:solidFill>
                            <a:latin typeface="Cambria Math" panose="02040503050406030204" pitchFamily="18" charset="0"/>
                            <a:ea typeface="Cambria Math" panose="02040503050406030204" pitchFamily="18" charset="0"/>
                          </a:rPr>
                        </m:ctrlPr>
                      </m:accPr>
                      <m:e>
                        <m:r>
                          <a:rPr lang="en-US"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𝒋</m:t>
                        </m:r>
                      </m:e>
                    </m:acc>
                  </m:oMath>
                </a14:m>
                <a:endParaRPr lang="en-US" b="1">
                  <a:latin typeface="Tahoma" panose="020B0604030504040204" pitchFamily="34" charset="0"/>
                  <a:ea typeface="Tahoma" panose="020B0604030504040204" pitchFamily="34" charset="0"/>
                  <a:cs typeface="Tahoma" panose="020B0604030504040204" pitchFamily="34" charset="0"/>
                </a:endParaRPr>
              </a:p>
              <a:p>
                <a14:m>
                  <m:oMath xmlns:m="http://schemas.openxmlformats.org/officeDocument/2006/math">
                    <m:acc>
                      <m:accPr>
                        <m:chr m:val="⃗"/>
                        <m:ctrlPr>
                          <a:rPr lang="en-US" b="1" i="1" smtClean="0">
                            <a:solidFill>
                              <a:schemeClr val="tx1"/>
                            </a:solidFill>
                            <a:latin typeface="Cambria Math" panose="02040503050406030204" pitchFamily="18" charset="0"/>
                            <a:ea typeface="Cambria Math" panose="02040503050406030204" pitchFamily="18" charset="0"/>
                          </a:rPr>
                        </m:ctrlPr>
                      </m:accPr>
                      <m:e>
                        <m:r>
                          <a:rPr lang="en-US" b="1" i="1">
                            <a:solidFill>
                              <a:schemeClr val="tx1"/>
                            </a:solidFill>
                            <a:latin typeface="Cambria Math" panose="02040503050406030204" pitchFamily="18" charset="0"/>
                            <a:ea typeface="Cambria Math" panose="02040503050406030204" pitchFamily="18" charset="0"/>
                          </a:rPr>
                          <m:t>𝑶𝑵</m:t>
                        </m:r>
                      </m:e>
                    </m:acc>
                    <m:r>
                      <a:rPr lang="en-US"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b="1" i="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b="1" i="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𝟐</m:t>
                    </m:r>
                    <m:acc>
                      <m:accPr>
                        <m:chr m:val="⃗"/>
                        <m:ctrlPr>
                          <a:rPr lang="en-US" b="1" i="1">
                            <a:solidFill>
                              <a:schemeClr val="tx1"/>
                            </a:solidFill>
                            <a:latin typeface="Cambria Math" panose="02040503050406030204" pitchFamily="18" charset="0"/>
                            <a:ea typeface="Cambria Math" panose="02040503050406030204" pitchFamily="18" charset="0"/>
                          </a:rPr>
                        </m:ctrlPr>
                      </m:accPr>
                      <m:e>
                        <m:r>
                          <a:rPr lang="en-US"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𝒊</m:t>
                        </m:r>
                      </m:e>
                    </m:acc>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𝟓</m:t>
                        </m:r>
                      </m:num>
                      <m:den>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𝟐</m:t>
                        </m:r>
                      </m:den>
                    </m:f>
                    <m:acc>
                      <m:accPr>
                        <m:chr m:val="⃗"/>
                        <m:ctrlPr>
                          <a:rPr lang="en-US" b="1" i="1">
                            <a:solidFill>
                              <a:schemeClr val="tx1"/>
                            </a:solidFill>
                            <a:latin typeface="Cambria Math" panose="02040503050406030204" pitchFamily="18" charset="0"/>
                            <a:ea typeface="Cambria Math" panose="02040503050406030204" pitchFamily="18" charset="0"/>
                          </a:rPr>
                        </m:ctrlPr>
                      </m:accPr>
                      <m:e>
                        <m:r>
                          <a:rPr lang="en-US"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𝒋</m:t>
                        </m:r>
                      </m:e>
                    </m:acc>
                  </m:oMath>
                </a14:m>
                <a:endParaRPr lang="en-US" b="1">
                  <a:latin typeface="Tahoma" panose="020B0604030504040204" pitchFamily="34" charset="0"/>
                  <a:ea typeface="Tahoma" panose="020B0604030504040204" pitchFamily="34" charset="0"/>
                  <a:cs typeface="Tahoma" panose="020B0604030504040204" pitchFamily="34" charset="0"/>
                </a:endParaRPr>
              </a:p>
              <a:p>
                <a:pPr marL="0" indent="0">
                  <a:buNone/>
                </a:pPr>
                <a:r>
                  <a:rPr lang="fr-FR" b="1">
                    <a:latin typeface="Tahoma" panose="020B0604030504040204" pitchFamily="34" charset="0"/>
                    <a:ea typeface="Tahoma" panose="020B0604030504040204" pitchFamily="34" charset="0"/>
                    <a:cs typeface="Tahoma" panose="020B0604030504040204" pitchFamily="34" charset="0"/>
                  </a:rPr>
                  <a:t>b) Ta có:</a:t>
                </a:r>
                <a:endParaRPr lang="en-US" b="1">
                  <a:latin typeface="Tahoma" panose="020B0604030504040204" pitchFamily="34" charset="0"/>
                  <a:ea typeface="Tahoma" panose="020B0604030504040204" pitchFamily="34" charset="0"/>
                  <a:cs typeface="Tahoma" panose="020B0604030504040204" pitchFamily="34" charset="0"/>
                </a:endParaRPr>
              </a:p>
              <a:p>
                <a14:m>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𝑴𝑵</m:t>
                        </m:r>
                      </m:e>
                    </m:acc>
                    <m:r>
                      <a:rPr lang="en-US" b="1" i="1">
                        <a:solidFill>
                          <a:srgbClr val="FF0000"/>
                        </a:solidFill>
                        <a:latin typeface="Cambria Math" panose="02040503050406030204" pitchFamily="18" charset="0"/>
                        <a:ea typeface="Cambria Math" panose="02040503050406030204" pitchFamily="18" charset="0"/>
                      </a:rPr>
                      <m:t>=</m:t>
                    </m:r>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𝑶𝑵</m:t>
                        </m:r>
                      </m:e>
                    </m:acc>
                    <m:r>
                      <a:rPr lang="en-US" b="1" i="1">
                        <a:solidFill>
                          <a:srgbClr val="FF0000"/>
                        </a:solidFill>
                        <a:latin typeface="Cambria Math" panose="02040503050406030204" pitchFamily="18" charset="0"/>
                        <a:ea typeface="Cambria Math" panose="02040503050406030204" pitchFamily="18" charset="0"/>
                      </a:rPr>
                      <m:t>−</m:t>
                    </m:r>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𝑶𝑴</m:t>
                        </m:r>
                      </m:e>
                    </m:acc>
                  </m:oMath>
                </a14:m>
                <a:endParaRPr lang="en-US" b="1">
                  <a:latin typeface="Tahoma" panose="020B0604030504040204" pitchFamily="34" charset="0"/>
                  <a:ea typeface="Tahoma" panose="020B0604030504040204" pitchFamily="34" charset="0"/>
                  <a:cs typeface="Tahoma" panose="020B0604030504040204" pitchFamily="34" charset="0"/>
                </a:endParaRPr>
              </a:p>
              <a:p>
                <a:pPr marL="0" indent="0">
                  <a:buNone/>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ea typeface="Cambria Math" panose="02040503050406030204" pitchFamily="18" charset="0"/>
                          <a:cs typeface="Tahoma" panose="020B0604030504040204" pitchFamily="34"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𝟓</m:t>
                              </m:r>
                            </m:num>
                            <m:den>
                              <m:r>
                                <a:rPr lang="en-US" b="1" i="1">
                                  <a:latin typeface="Cambria Math" panose="02040503050406030204" pitchFamily="18" charset="0"/>
                                  <a:ea typeface="Cambria Math" panose="02040503050406030204" pitchFamily="18" charset="0"/>
                                </a:rPr>
                                <m:t>𝟐</m:t>
                              </m:r>
                            </m:den>
                          </m:f>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e>
                      </m:d>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𝟑</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𝟓</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e>
                      </m:d>
                    </m:oMath>
                  </m:oMathPara>
                </a14:m>
                <a:endParaRPr lang="en-US" b="1">
                  <a:latin typeface="Tahoma" panose="020B0604030504040204" pitchFamily="34" charset="0"/>
                  <a:ea typeface="Tahoma" panose="020B0604030504040204" pitchFamily="34" charset="0"/>
                  <a:cs typeface="Tahoma" panose="020B0604030504040204" pitchFamily="34" charset="0"/>
                </a:endParaRPr>
              </a:p>
              <a:p>
                <a:pPr marL="0" indent="0">
                  <a:buNone/>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ea typeface="Cambria Math" panose="02040503050406030204" pitchFamily="18" charset="0"/>
                          <a:cs typeface="Tahoma" panose="020B0604030504040204" pitchFamily="34"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e>
                      </m:d>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𝟓</m:t>
                              </m:r>
                            </m:num>
                            <m:den>
                              <m:r>
                                <a:rPr lang="en-US" b="1" i="1">
                                  <a:latin typeface="Cambria Math" panose="02040503050406030204" pitchFamily="18" charset="0"/>
                                  <a:ea typeface="Cambria Math" panose="02040503050406030204" pitchFamily="18" charset="0"/>
                                </a:rPr>
                                <m:t>𝟐</m:t>
                              </m:r>
                            </m:den>
                          </m:f>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𝟓</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e>
                      </m:d>
                    </m:oMath>
                  </m:oMathPara>
                </a14:m>
                <a:endParaRPr lang="en-US" b="1">
                  <a:latin typeface="Tahoma" panose="020B0604030504040204" pitchFamily="34" charset="0"/>
                  <a:ea typeface="Tahoma" panose="020B0604030504040204" pitchFamily="34" charset="0"/>
                  <a:cs typeface="Tahoma" panose="020B0604030504040204" pitchFamily="34" charset="0"/>
                </a:endParaRPr>
              </a:p>
              <a:p>
                <a:pPr marL="0" indent="0">
                  <a:buNone/>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ea typeface="Cambria Math" panose="02040503050406030204" pitchFamily="18" charset="0"/>
                          <a:cs typeface="Tahoma" panose="020B0604030504040204" pitchFamily="34" charset="0"/>
                        </a:rPr>
                        <m:t>=</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𝟓</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𝟓</m:t>
                          </m:r>
                        </m:num>
                        <m:den>
                          <m:r>
                            <a:rPr lang="en-US" b="1" i="1">
                              <a:latin typeface="Cambria Math" panose="02040503050406030204" pitchFamily="18" charset="0"/>
                              <a:ea typeface="Cambria Math" panose="02040503050406030204" pitchFamily="18" charset="0"/>
                            </a:rPr>
                            <m:t>𝟐</m:t>
                          </m:r>
                        </m:den>
                      </m:f>
                      <m:acc>
                        <m:accPr>
                          <m:chr m:val="⃗"/>
                          <m:ctrlPr>
                            <a:rPr lang="en-US" b="1" i="1" smtClean="0">
                              <a:latin typeface="Cambria Math" panose="02040503050406030204" pitchFamily="18" charset="0"/>
                              <a:ea typeface="Cambria Math" panose="02040503050406030204" pitchFamily="18" charset="0"/>
                            </a:rPr>
                          </m:ctrlPr>
                        </m:accPr>
                        <m:e>
                          <m:r>
                            <a:rPr lang="en-US" b="1" i="1" smtClean="0">
                              <a:latin typeface="Cambria Math" panose="02040503050406030204" pitchFamily="18" charset="0"/>
                              <a:ea typeface="Cambria Math" panose="02040503050406030204" pitchFamily="18" charset="0"/>
                            </a:rPr>
                            <m:t>𝒋</m:t>
                          </m:r>
                        </m:e>
                      </m:acc>
                    </m:oMath>
                  </m:oMathPara>
                </a14:m>
                <a:endParaRPr lang="en-US"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7" name="Content Placeholder 2">
                <a:extLst>
                  <a:ext uri="{FF2B5EF4-FFF2-40B4-BE49-F238E27FC236}">
                    <a16:creationId xmlns:a16="http://schemas.microsoft.com/office/drawing/2014/main" id="{4EF7CB57-4DD6-4D84-89BE-12EF7D2780CD}"/>
                  </a:ext>
                </a:extLst>
              </p:cNvPr>
              <p:cNvSpPr txBox="1">
                <a:spLocks noRot="1" noChangeAspect="1" noMove="1" noResize="1" noEditPoints="1" noAdjustHandles="1" noChangeArrowheads="1" noChangeShapeType="1" noTextEdit="1"/>
              </p:cNvSpPr>
              <p:nvPr/>
            </p:nvSpPr>
            <p:spPr>
              <a:xfrm>
                <a:off x="16611600" y="2743200"/>
                <a:ext cx="7467600" cy="10686288"/>
              </a:xfrm>
              <a:prstGeom prst="rect">
                <a:avLst/>
              </a:prstGeom>
              <a:blipFill>
                <a:blip r:embed="rId4"/>
                <a:stretch>
                  <a:fillRect l="-3586" t="-1481"/>
                </a:stretch>
              </a:blipFill>
              <a:ln>
                <a:solidFill>
                  <a:srgbClr val="00B0F0"/>
                </a:solidFill>
              </a:ln>
            </p:spPr>
            <p:txBody>
              <a:bodyPr/>
              <a:lstStyle/>
              <a:p>
                <a:r>
                  <a:rPr lang="en-US">
                    <a:noFill/>
                  </a:rPr>
                  <a:t> </a:t>
                </a:r>
              </a:p>
            </p:txBody>
          </p:sp>
        </mc:Fallback>
      </mc:AlternateContent>
      <p:pic>
        <p:nvPicPr>
          <p:cNvPr id="18" name="Picture 17">
            <a:extLst>
              <a:ext uri="{FF2B5EF4-FFF2-40B4-BE49-F238E27FC236}">
                <a16:creationId xmlns:a16="http://schemas.microsoft.com/office/drawing/2014/main" id="{733C5B8E-9696-4C14-9345-47FD1701A704}"/>
              </a:ext>
            </a:extLst>
          </p:cNvPr>
          <p:cNvPicPr>
            <a:picLocks noChangeAspect="1"/>
          </p:cNvPicPr>
          <p:nvPr/>
        </p:nvPicPr>
        <p:blipFill>
          <a:blip r:embed="rId5"/>
          <a:stretch>
            <a:fillRect/>
          </a:stretch>
        </p:blipFill>
        <p:spPr>
          <a:xfrm>
            <a:off x="24380952" y="4648200"/>
            <a:ext cx="5210422" cy="6324600"/>
          </a:xfrm>
          <a:prstGeom prst="rect">
            <a:avLst/>
          </a:prstGeom>
        </p:spPr>
      </p:pic>
      <p:pic>
        <p:nvPicPr>
          <p:cNvPr id="6" name="Picture 5" descr="Shape&#10;&#10;Description automatically generated">
            <a:extLst>
              <a:ext uri="{FF2B5EF4-FFF2-40B4-BE49-F238E27FC236}">
                <a16:creationId xmlns:a16="http://schemas.microsoft.com/office/drawing/2014/main" id="{AAD1C5BC-8F6E-4A29-9B23-9A409CA1D3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08014" y="6211825"/>
            <a:ext cx="7293506" cy="7162798"/>
          </a:xfrm>
          <a:prstGeom prst="rect">
            <a:avLst/>
          </a:prstGeom>
        </p:spPr>
      </p:pic>
      <p:cxnSp>
        <p:nvCxnSpPr>
          <p:cNvPr id="16" name="Straight Arrow Connector 15">
            <a:extLst>
              <a:ext uri="{FF2B5EF4-FFF2-40B4-BE49-F238E27FC236}">
                <a16:creationId xmlns:a16="http://schemas.microsoft.com/office/drawing/2014/main" id="{3E31B790-DCCA-4D2A-8779-2D268DEF946C}"/>
              </a:ext>
            </a:extLst>
          </p:cNvPr>
          <p:cNvCxnSpPr>
            <a:cxnSpLocks/>
          </p:cNvCxnSpPr>
          <p:nvPr/>
        </p:nvCxnSpPr>
        <p:spPr>
          <a:xfrm>
            <a:off x="7033846" y="12404422"/>
            <a:ext cx="3124200" cy="0"/>
          </a:xfrm>
          <a:prstGeom prst="straightConnector1">
            <a:avLst/>
          </a:prstGeom>
          <a:ln w="57150">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2C25717-21EA-4EAB-AF59-EB7210321539}"/>
              </a:ext>
            </a:extLst>
          </p:cNvPr>
          <p:cNvCxnSpPr>
            <a:cxnSpLocks/>
          </p:cNvCxnSpPr>
          <p:nvPr/>
        </p:nvCxnSpPr>
        <p:spPr>
          <a:xfrm flipV="1">
            <a:off x="7033846" y="7262446"/>
            <a:ext cx="0" cy="5181600"/>
          </a:xfrm>
          <a:prstGeom prst="straightConnector1">
            <a:avLst/>
          </a:prstGeom>
          <a:ln w="57150">
            <a:solidFill>
              <a:srgbClr val="FF0000"/>
            </a:solidFill>
            <a:headEnd w="med" len="lg"/>
            <a:tailEnd type="triangle" w="med" len="lg"/>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E20FD3E2-FA74-438C-B046-C4A218F062A8}"/>
              </a:ext>
            </a:extLst>
          </p:cNvPr>
          <p:cNvGrpSpPr/>
          <p:nvPr/>
        </p:nvGrpSpPr>
        <p:grpSpPr>
          <a:xfrm>
            <a:off x="10036126" y="11585544"/>
            <a:ext cx="586154" cy="911256"/>
            <a:chOff x="9255742" y="11376654"/>
            <a:chExt cx="586154" cy="911256"/>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130D171-684B-419E-AC99-6B1DD1CCC3E4}"/>
                    </a:ext>
                  </a:extLst>
                </p:cNvPr>
                <p:cNvSpPr txBox="1"/>
                <p:nvPr/>
              </p:nvSpPr>
              <p:spPr>
                <a:xfrm>
                  <a:off x="9458843" y="11376654"/>
                  <a:ext cx="383053" cy="67710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400" b="0" i="1" smtClean="0">
                                <a:solidFill>
                                  <a:srgbClr val="FF0000"/>
                                </a:solidFill>
                                <a:latin typeface="Cambria Math" panose="02040503050406030204" pitchFamily="18" charset="0"/>
                              </a:rPr>
                            </m:ctrlPr>
                          </m:sSubPr>
                          <m:e>
                            <m:r>
                              <a:rPr lang="en-US" sz="4400" b="0" i="1" smtClean="0">
                                <a:solidFill>
                                  <a:srgbClr val="FF0000"/>
                                </a:solidFill>
                                <a:latin typeface="Cambria Math" panose="02040503050406030204" pitchFamily="18" charset="0"/>
                              </a:rPr>
                              <m:t>𝑀</m:t>
                            </m:r>
                          </m:e>
                          <m:sub>
                            <m:r>
                              <a:rPr lang="en-US" sz="4400" b="0" i="1" smtClean="0">
                                <a:solidFill>
                                  <a:srgbClr val="FF0000"/>
                                </a:solidFill>
                                <a:latin typeface="Cambria Math" panose="02040503050406030204" pitchFamily="18" charset="0"/>
                              </a:rPr>
                              <m:t>1</m:t>
                            </m:r>
                          </m:sub>
                        </m:sSub>
                      </m:oMath>
                    </m:oMathPara>
                  </a14:m>
                  <a:endParaRPr lang="en-US" sz="440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0" name="TextBox 9">
                  <a:extLst>
                    <a:ext uri="{FF2B5EF4-FFF2-40B4-BE49-F238E27FC236}">
                      <a16:creationId xmlns:a16="http://schemas.microsoft.com/office/drawing/2014/main" id="{F130D171-684B-419E-AC99-6B1DD1CCC3E4}"/>
                    </a:ext>
                  </a:extLst>
                </p:cNvPr>
                <p:cNvSpPr txBox="1">
                  <a:spLocks noRot="1" noChangeAspect="1" noMove="1" noResize="1" noEditPoints="1" noAdjustHandles="1" noChangeArrowheads="1" noChangeShapeType="1" noTextEdit="1"/>
                </p:cNvSpPr>
                <p:nvPr/>
              </p:nvSpPr>
              <p:spPr>
                <a:xfrm>
                  <a:off x="9458843" y="11376654"/>
                  <a:ext cx="383053" cy="677108"/>
                </a:xfrm>
                <a:prstGeom prst="rect">
                  <a:avLst/>
                </a:prstGeom>
                <a:blipFill>
                  <a:blip r:embed="rId7"/>
                  <a:stretch>
                    <a:fillRect r="-66667"/>
                  </a:stretch>
                </a:blipFill>
              </p:spPr>
              <p:txBody>
                <a:bodyPr/>
                <a:lstStyle/>
                <a:p>
                  <a:r>
                    <a:rPr lang="en-US">
                      <a:noFill/>
                    </a:rPr>
                    <a:t> </a:t>
                  </a:r>
                </a:p>
              </p:txBody>
            </p:sp>
          </mc:Fallback>
        </mc:AlternateContent>
        <p:sp>
          <p:nvSpPr>
            <p:cNvPr id="11" name="Oval 10">
              <a:extLst>
                <a:ext uri="{FF2B5EF4-FFF2-40B4-BE49-F238E27FC236}">
                  <a16:creationId xmlns:a16="http://schemas.microsoft.com/office/drawing/2014/main" id="{53304704-B95E-49AB-A848-D4E343F12B27}"/>
                </a:ext>
              </a:extLst>
            </p:cNvPr>
            <p:cNvSpPr/>
            <p:nvPr/>
          </p:nvSpPr>
          <p:spPr>
            <a:xfrm>
              <a:off x="9255742" y="12105030"/>
              <a:ext cx="182880" cy="18288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p>
          </p:txBody>
        </p:sp>
      </p:grpSp>
      <p:grpSp>
        <p:nvGrpSpPr>
          <p:cNvPr id="20" name="Group 19">
            <a:extLst>
              <a:ext uri="{FF2B5EF4-FFF2-40B4-BE49-F238E27FC236}">
                <a16:creationId xmlns:a16="http://schemas.microsoft.com/office/drawing/2014/main" id="{8F8A99AB-7904-4689-8B9C-FC66FC14C759}"/>
              </a:ext>
            </a:extLst>
          </p:cNvPr>
          <p:cNvGrpSpPr/>
          <p:nvPr/>
        </p:nvGrpSpPr>
        <p:grpSpPr>
          <a:xfrm>
            <a:off x="6954598" y="6537118"/>
            <a:ext cx="574066" cy="795867"/>
            <a:chOff x="9255742" y="11510331"/>
            <a:chExt cx="574066" cy="795867"/>
          </a:xfrm>
        </p:grpSpPr>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3AC30E9-046B-4112-84AB-6C15CBDC35AA}"/>
                    </a:ext>
                  </a:extLst>
                </p:cNvPr>
                <p:cNvSpPr txBox="1"/>
                <p:nvPr/>
              </p:nvSpPr>
              <p:spPr>
                <a:xfrm>
                  <a:off x="9446755" y="11510331"/>
                  <a:ext cx="383053" cy="67710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400" b="0" i="1" smtClean="0">
                                <a:solidFill>
                                  <a:srgbClr val="FF0000"/>
                                </a:solidFill>
                                <a:latin typeface="Cambria Math" panose="02040503050406030204" pitchFamily="18" charset="0"/>
                              </a:rPr>
                            </m:ctrlPr>
                          </m:sSubPr>
                          <m:e>
                            <m:r>
                              <a:rPr lang="en-US" sz="4400" b="0" i="1" smtClean="0">
                                <a:solidFill>
                                  <a:srgbClr val="FF0000"/>
                                </a:solidFill>
                                <a:latin typeface="Cambria Math" panose="02040503050406030204" pitchFamily="18" charset="0"/>
                              </a:rPr>
                              <m:t>𝑀</m:t>
                            </m:r>
                          </m:e>
                          <m:sub>
                            <m:r>
                              <a:rPr lang="en-US" sz="4400" b="0" i="1" smtClean="0">
                                <a:solidFill>
                                  <a:srgbClr val="FF0000"/>
                                </a:solidFill>
                                <a:latin typeface="Cambria Math" panose="02040503050406030204" pitchFamily="18" charset="0"/>
                              </a:rPr>
                              <m:t>2</m:t>
                            </m:r>
                          </m:sub>
                        </m:sSub>
                      </m:oMath>
                    </m:oMathPara>
                  </a14:m>
                  <a:endParaRPr lang="en-US" sz="440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1" name="TextBox 20">
                  <a:extLst>
                    <a:ext uri="{FF2B5EF4-FFF2-40B4-BE49-F238E27FC236}">
                      <a16:creationId xmlns:a16="http://schemas.microsoft.com/office/drawing/2014/main" id="{03AC30E9-046B-4112-84AB-6C15CBDC35AA}"/>
                    </a:ext>
                  </a:extLst>
                </p:cNvPr>
                <p:cNvSpPr txBox="1">
                  <a:spLocks noRot="1" noChangeAspect="1" noMove="1" noResize="1" noEditPoints="1" noAdjustHandles="1" noChangeArrowheads="1" noChangeShapeType="1" noTextEdit="1"/>
                </p:cNvSpPr>
                <p:nvPr/>
              </p:nvSpPr>
              <p:spPr>
                <a:xfrm>
                  <a:off x="9446755" y="11510331"/>
                  <a:ext cx="383053" cy="677108"/>
                </a:xfrm>
                <a:prstGeom prst="rect">
                  <a:avLst/>
                </a:prstGeom>
                <a:blipFill>
                  <a:blip r:embed="rId8"/>
                  <a:stretch>
                    <a:fillRect r="-68254"/>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E6F3DF08-2D3A-4AA7-9A37-42F61D8CF374}"/>
                </a:ext>
              </a:extLst>
            </p:cNvPr>
            <p:cNvSpPr/>
            <p:nvPr/>
          </p:nvSpPr>
          <p:spPr>
            <a:xfrm>
              <a:off x="9255742" y="12123318"/>
              <a:ext cx="182880" cy="18288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p>
          </p:txBody>
        </p:sp>
      </p:grpSp>
      <p:sp>
        <p:nvSpPr>
          <p:cNvPr id="26" name="Title 1">
            <a:extLst>
              <a:ext uri="{FF2B5EF4-FFF2-40B4-BE49-F238E27FC236}">
                <a16:creationId xmlns:a16="http://schemas.microsoft.com/office/drawing/2014/main" id="{E7499874-7D3F-4682-866E-10C8B5320F91}"/>
              </a:ext>
            </a:extLst>
          </p:cNvPr>
          <p:cNvSpPr txBox="1">
            <a:spLocks/>
          </p:cNvSpPr>
          <p:nvPr/>
        </p:nvSpPr>
        <p:spPr>
          <a:xfrm>
            <a:off x="361950" y="1771650"/>
            <a:ext cx="7162800" cy="8382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sz="4800" b="1">
                <a:latin typeface="Tahoma" panose="020B0604030504040204" pitchFamily="34" charset="0"/>
                <a:ea typeface="Tahoma" panose="020B0604030504040204" pitchFamily="34" charset="0"/>
                <a:cs typeface="Tahoma" panose="020B0604030504040204" pitchFamily="34" charset="0"/>
              </a:rPr>
              <a:t>1. T</a:t>
            </a:r>
            <a:r>
              <a:rPr lang="en-US" sz="4800" b="1">
                <a:latin typeface="Tahoma" panose="020B0604030504040204" pitchFamily="34" charset="0"/>
                <a:ea typeface="Tahoma" panose="020B0604030504040204" pitchFamily="34" charset="0"/>
                <a:cs typeface="Tahoma" panose="020B0604030504040204" pitchFamily="34" charset="0"/>
              </a:rPr>
              <a:t>ỌA</a:t>
            </a:r>
            <a:r>
              <a:rPr lang="vi-VN" sz="4800" b="1">
                <a:latin typeface="Tahoma" panose="020B0604030504040204" pitchFamily="34" charset="0"/>
                <a:ea typeface="Tahoma" panose="020B0604030504040204" pitchFamily="34" charset="0"/>
                <a:cs typeface="Tahoma" panose="020B0604030504040204" pitchFamily="34" charset="0"/>
              </a:rPr>
              <a:t> ĐỘ CỦA VECTƠ</a:t>
            </a:r>
          </a:p>
        </p:txBody>
      </p:sp>
      <p:sp>
        <p:nvSpPr>
          <p:cNvPr id="134" name="Rounded Rectangle 13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38" name="TextBox 13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3578689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1000"/>
                                        <p:tgtEl>
                                          <p:spTgt spid="99"/>
                                        </p:tgtEl>
                                      </p:cBhvr>
                                    </p:animEffect>
                                    <p:anim calcmode="lin" valueType="num">
                                      <p:cBhvr>
                                        <p:cTn id="8" dur="1000" fill="hold"/>
                                        <p:tgtEl>
                                          <p:spTgt spid="99"/>
                                        </p:tgtEl>
                                        <p:attrNameLst>
                                          <p:attrName>ppt_x</p:attrName>
                                        </p:attrNameLst>
                                      </p:cBhvr>
                                      <p:tavLst>
                                        <p:tav tm="0">
                                          <p:val>
                                            <p:strVal val="#ppt_x"/>
                                          </p:val>
                                        </p:tav>
                                        <p:tav tm="100000">
                                          <p:val>
                                            <p:strVal val="#ppt_x"/>
                                          </p:val>
                                        </p:tav>
                                      </p:tavLst>
                                    </p:anim>
                                    <p:anim calcmode="lin" valueType="num">
                                      <p:cBhvr>
                                        <p:cTn id="9"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9">
                                            <p:txEl>
                                              <p:pRg st="0" end="0"/>
                                            </p:txEl>
                                          </p:spTgt>
                                        </p:tgtEl>
                                        <p:attrNameLst>
                                          <p:attrName>style.visibility</p:attrName>
                                        </p:attrNameLst>
                                      </p:cBhvr>
                                      <p:to>
                                        <p:strVal val="visible"/>
                                      </p:to>
                                    </p:set>
                                    <p:animEffect transition="in" filter="fade">
                                      <p:cBhvr>
                                        <p:cTn id="14" dur="1000"/>
                                        <p:tgtEl>
                                          <p:spTgt spid="99">
                                            <p:txEl>
                                              <p:pRg st="0" end="0"/>
                                            </p:txEl>
                                          </p:spTgt>
                                        </p:tgtEl>
                                      </p:cBhvr>
                                    </p:animEffect>
                                    <p:anim calcmode="lin" valueType="num">
                                      <p:cBhvr>
                                        <p:cTn id="15" dur="1000" fill="hold"/>
                                        <p:tgtEl>
                                          <p:spTgt spid="9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9">
                                            <p:txEl>
                                              <p:pRg st="1" end="1"/>
                                            </p:txEl>
                                          </p:spTgt>
                                        </p:tgtEl>
                                        <p:attrNameLst>
                                          <p:attrName>style.visibility</p:attrName>
                                        </p:attrNameLst>
                                      </p:cBhvr>
                                      <p:to>
                                        <p:strVal val="visible"/>
                                      </p:to>
                                    </p:set>
                                    <p:animEffect transition="in" filter="fade">
                                      <p:cBhvr>
                                        <p:cTn id="28" dur="1000"/>
                                        <p:tgtEl>
                                          <p:spTgt spid="99">
                                            <p:txEl>
                                              <p:pRg st="1" end="1"/>
                                            </p:txEl>
                                          </p:spTgt>
                                        </p:tgtEl>
                                      </p:cBhvr>
                                    </p:animEffect>
                                    <p:anim calcmode="lin" valueType="num">
                                      <p:cBhvr>
                                        <p:cTn id="29" dur="1000" fill="hold"/>
                                        <p:tgtEl>
                                          <p:spTgt spid="99">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9">
                                            <p:txEl>
                                              <p:pRg st="2" end="2"/>
                                            </p:txEl>
                                          </p:spTgt>
                                        </p:tgtEl>
                                        <p:attrNameLst>
                                          <p:attrName>style.visibility</p:attrName>
                                        </p:attrNameLst>
                                      </p:cBhvr>
                                      <p:to>
                                        <p:strVal val="visible"/>
                                      </p:to>
                                    </p:set>
                                    <p:animEffect transition="in" filter="fade">
                                      <p:cBhvr>
                                        <p:cTn id="35" dur="1000"/>
                                        <p:tgtEl>
                                          <p:spTgt spid="99">
                                            <p:txEl>
                                              <p:pRg st="2" end="2"/>
                                            </p:txEl>
                                          </p:spTgt>
                                        </p:tgtEl>
                                      </p:cBhvr>
                                    </p:animEffect>
                                    <p:anim calcmode="lin" valueType="num">
                                      <p:cBhvr>
                                        <p:cTn id="36" dur="1000" fill="hold"/>
                                        <p:tgtEl>
                                          <p:spTgt spid="99">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anim calcmode="lin" valueType="num">
                                      <p:cBhvr>
                                        <p:cTn id="43" dur="1000" fill="hold"/>
                                        <p:tgtEl>
                                          <p:spTgt spid="7"/>
                                        </p:tgtEl>
                                        <p:attrNameLst>
                                          <p:attrName>ppt_x</p:attrName>
                                        </p:attrNameLst>
                                      </p:cBhvr>
                                      <p:tavLst>
                                        <p:tav tm="0">
                                          <p:val>
                                            <p:strVal val="#ppt_x"/>
                                          </p:val>
                                        </p:tav>
                                        <p:tav tm="100000">
                                          <p:val>
                                            <p:strVal val="#ppt_x"/>
                                          </p:val>
                                        </p:tav>
                                      </p:tavLst>
                                    </p:anim>
                                    <p:anim calcmode="lin" valueType="num">
                                      <p:cBhvr>
                                        <p:cTn id="4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animEffect transition="in" filter="fade">
                                      <p:cBhvr>
                                        <p:cTn id="49" dur="1000"/>
                                        <p:tgtEl>
                                          <p:spTgt spid="7">
                                            <p:txEl>
                                              <p:pRg st="0" end="0"/>
                                            </p:txEl>
                                          </p:spTgt>
                                        </p:tgtEl>
                                      </p:cBhvr>
                                    </p:animEffect>
                                    <p:anim calcmode="lin" valueType="num">
                                      <p:cBhvr>
                                        <p:cTn id="50"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35" presetClass="path" presetSubtype="0" accel="50000" decel="50000" fill="hold" nodeType="clickEffect">
                                  <p:stCondLst>
                                    <p:cond delay="0"/>
                                  </p:stCondLst>
                                  <p:childTnLst>
                                    <p:animMotion origin="layout" path="M 4.27083E-6 -4.44444E-6 L -0.26921 -4.44444E-6 " pathEditMode="relative" rAng="0" ptsTypes="AA">
                                      <p:cBhvr>
                                        <p:cTn id="55" dur="2000" fill="hold"/>
                                        <p:tgtEl>
                                          <p:spTgt spid="18"/>
                                        </p:tgtEl>
                                        <p:attrNameLst>
                                          <p:attrName>ppt_x</p:attrName>
                                          <p:attrName>ppt_y</p:attrName>
                                        </p:attrNameLst>
                                      </p:cBhvr>
                                      <p:rCtr x="-13464" y="0"/>
                                    </p:animMotion>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barn(inVertical)">
                                      <p:cBhvr>
                                        <p:cTn id="60" dur="500"/>
                                        <p:tgtEl>
                                          <p:spTgt spid="5"/>
                                        </p:tgtEl>
                                      </p:cBhvr>
                                    </p:animEffect>
                                  </p:childTnLst>
                                </p:cTn>
                              </p:par>
                              <p:par>
                                <p:cTn id="61" presetID="16" presetClass="entr" presetSubtype="21"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barn(inVertical)">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21" fill="hold"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barn(inVertical)">
                                      <p:cBhvr>
                                        <p:cTn id="68" dur="500"/>
                                        <p:tgtEl>
                                          <p:spTgt spid="16"/>
                                        </p:tgtEl>
                                      </p:cBhvr>
                                    </p:animEffect>
                                  </p:childTnLst>
                                </p:cTn>
                              </p:par>
                              <p:par>
                                <p:cTn id="69" presetID="16" presetClass="entr" presetSubtype="21" fill="hold"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barn(inVertical)">
                                      <p:cBhvr>
                                        <p:cTn id="71" dur="500"/>
                                        <p:tgtEl>
                                          <p:spTgt spid="15"/>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xit" presetSubtype="0" fill="hold" nodeType="clickEffect">
                                  <p:stCondLst>
                                    <p:cond delay="0"/>
                                  </p:stCondLst>
                                  <p:childTnLst>
                                    <p:animEffect transition="out" filter="dissolve">
                                      <p:cBhvr>
                                        <p:cTn id="75" dur="500"/>
                                        <p:tgtEl>
                                          <p:spTgt spid="18"/>
                                        </p:tgtEl>
                                      </p:cBhvr>
                                    </p:animEffect>
                                    <p:set>
                                      <p:cBhvr>
                                        <p:cTn id="76" dur="1" fill="hold">
                                          <p:stCondLst>
                                            <p:cond delay="499"/>
                                          </p:stCondLst>
                                        </p:cTn>
                                        <p:tgtEl>
                                          <p:spTgt spid="18"/>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7">
                                            <p:txEl>
                                              <p:pRg st="1" end="1"/>
                                            </p:txEl>
                                          </p:spTgt>
                                        </p:tgtEl>
                                        <p:attrNameLst>
                                          <p:attrName>style.visibility</p:attrName>
                                        </p:attrNameLst>
                                      </p:cBhvr>
                                      <p:to>
                                        <p:strVal val="visible"/>
                                      </p:to>
                                    </p:set>
                                    <p:animEffect transition="in" filter="fade">
                                      <p:cBhvr>
                                        <p:cTn id="81" dur="1000"/>
                                        <p:tgtEl>
                                          <p:spTgt spid="7">
                                            <p:txEl>
                                              <p:pRg st="1" end="1"/>
                                            </p:txEl>
                                          </p:spTgt>
                                        </p:tgtEl>
                                      </p:cBhvr>
                                    </p:animEffect>
                                    <p:anim calcmode="lin" valueType="num">
                                      <p:cBhvr>
                                        <p:cTn id="8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8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nodeType="clickEffect">
                                  <p:stCondLst>
                                    <p:cond delay="0"/>
                                  </p:stCondLst>
                                  <p:childTnLst>
                                    <p:set>
                                      <p:cBhvr>
                                        <p:cTn id="87" dur="1" fill="hold">
                                          <p:stCondLst>
                                            <p:cond delay="0"/>
                                          </p:stCondLst>
                                        </p:cTn>
                                        <p:tgtEl>
                                          <p:spTgt spid="7">
                                            <p:txEl>
                                              <p:pRg st="2" end="2"/>
                                            </p:txEl>
                                          </p:spTgt>
                                        </p:tgtEl>
                                        <p:attrNameLst>
                                          <p:attrName>style.visibility</p:attrName>
                                        </p:attrNameLst>
                                      </p:cBhvr>
                                      <p:to>
                                        <p:strVal val="visible"/>
                                      </p:to>
                                    </p:set>
                                    <p:animEffect transition="in" filter="fade">
                                      <p:cBhvr>
                                        <p:cTn id="88" dur="1000"/>
                                        <p:tgtEl>
                                          <p:spTgt spid="7">
                                            <p:txEl>
                                              <p:pRg st="2" end="2"/>
                                            </p:txEl>
                                          </p:spTgt>
                                        </p:tgtEl>
                                      </p:cBhvr>
                                    </p:animEffect>
                                    <p:anim calcmode="lin" valueType="num">
                                      <p:cBhvr>
                                        <p:cTn id="8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7">
                                            <p:txEl>
                                              <p:pRg st="3" end="3"/>
                                            </p:txEl>
                                          </p:spTgt>
                                        </p:tgtEl>
                                        <p:attrNameLst>
                                          <p:attrName>style.visibility</p:attrName>
                                        </p:attrNameLst>
                                      </p:cBhvr>
                                      <p:to>
                                        <p:strVal val="visible"/>
                                      </p:to>
                                    </p:set>
                                    <p:animEffect transition="in" filter="fade">
                                      <p:cBhvr>
                                        <p:cTn id="95" dur="1000"/>
                                        <p:tgtEl>
                                          <p:spTgt spid="7">
                                            <p:txEl>
                                              <p:pRg st="3" end="3"/>
                                            </p:txEl>
                                          </p:spTgt>
                                        </p:tgtEl>
                                      </p:cBhvr>
                                    </p:animEffect>
                                    <p:anim calcmode="lin" valueType="num">
                                      <p:cBhvr>
                                        <p:cTn id="9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nodeType="clickEffect">
                                  <p:stCondLst>
                                    <p:cond delay="0"/>
                                  </p:stCondLst>
                                  <p:childTnLst>
                                    <p:set>
                                      <p:cBhvr>
                                        <p:cTn id="101" dur="1" fill="hold">
                                          <p:stCondLst>
                                            <p:cond delay="0"/>
                                          </p:stCondLst>
                                        </p:cTn>
                                        <p:tgtEl>
                                          <p:spTgt spid="7">
                                            <p:txEl>
                                              <p:pRg st="4" end="4"/>
                                            </p:txEl>
                                          </p:spTgt>
                                        </p:tgtEl>
                                        <p:attrNameLst>
                                          <p:attrName>style.visibility</p:attrName>
                                        </p:attrNameLst>
                                      </p:cBhvr>
                                      <p:to>
                                        <p:strVal val="visible"/>
                                      </p:to>
                                    </p:set>
                                    <p:animEffect transition="in" filter="fade">
                                      <p:cBhvr>
                                        <p:cTn id="102" dur="1000"/>
                                        <p:tgtEl>
                                          <p:spTgt spid="7">
                                            <p:txEl>
                                              <p:pRg st="4" end="4"/>
                                            </p:txEl>
                                          </p:spTgt>
                                        </p:tgtEl>
                                      </p:cBhvr>
                                    </p:animEffect>
                                    <p:anim calcmode="lin" valueType="num">
                                      <p:cBhvr>
                                        <p:cTn id="10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0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nodeType="clickEffect">
                                  <p:stCondLst>
                                    <p:cond delay="0"/>
                                  </p:stCondLst>
                                  <p:childTnLst>
                                    <p:set>
                                      <p:cBhvr>
                                        <p:cTn id="108" dur="1" fill="hold">
                                          <p:stCondLst>
                                            <p:cond delay="0"/>
                                          </p:stCondLst>
                                        </p:cTn>
                                        <p:tgtEl>
                                          <p:spTgt spid="7">
                                            <p:txEl>
                                              <p:pRg st="5" end="5"/>
                                            </p:txEl>
                                          </p:spTgt>
                                        </p:tgtEl>
                                        <p:attrNameLst>
                                          <p:attrName>style.visibility</p:attrName>
                                        </p:attrNameLst>
                                      </p:cBhvr>
                                      <p:to>
                                        <p:strVal val="visible"/>
                                      </p:to>
                                    </p:set>
                                    <p:animEffect transition="in" filter="fade">
                                      <p:cBhvr>
                                        <p:cTn id="109" dur="1000"/>
                                        <p:tgtEl>
                                          <p:spTgt spid="7">
                                            <p:txEl>
                                              <p:pRg st="5" end="5"/>
                                            </p:txEl>
                                          </p:spTgt>
                                        </p:tgtEl>
                                      </p:cBhvr>
                                    </p:animEffect>
                                    <p:anim calcmode="lin" valueType="num">
                                      <p:cBhvr>
                                        <p:cTn id="11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1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nodeType="clickEffect">
                                  <p:stCondLst>
                                    <p:cond delay="0"/>
                                  </p:stCondLst>
                                  <p:childTnLst>
                                    <p:set>
                                      <p:cBhvr>
                                        <p:cTn id="115" dur="1" fill="hold">
                                          <p:stCondLst>
                                            <p:cond delay="0"/>
                                          </p:stCondLst>
                                        </p:cTn>
                                        <p:tgtEl>
                                          <p:spTgt spid="7">
                                            <p:txEl>
                                              <p:pRg st="6" end="6"/>
                                            </p:txEl>
                                          </p:spTgt>
                                        </p:tgtEl>
                                        <p:attrNameLst>
                                          <p:attrName>style.visibility</p:attrName>
                                        </p:attrNameLst>
                                      </p:cBhvr>
                                      <p:to>
                                        <p:strVal val="visible"/>
                                      </p:to>
                                    </p:set>
                                    <p:animEffect transition="in" filter="fade">
                                      <p:cBhvr>
                                        <p:cTn id="116" dur="1000"/>
                                        <p:tgtEl>
                                          <p:spTgt spid="7">
                                            <p:txEl>
                                              <p:pRg st="6" end="6"/>
                                            </p:txEl>
                                          </p:spTgt>
                                        </p:tgtEl>
                                      </p:cBhvr>
                                    </p:animEffect>
                                    <p:anim calcmode="lin" valueType="num">
                                      <p:cBhvr>
                                        <p:cTn id="11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1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nodeType="clickEffect">
                                  <p:stCondLst>
                                    <p:cond delay="0"/>
                                  </p:stCondLst>
                                  <p:childTnLst>
                                    <p:set>
                                      <p:cBhvr>
                                        <p:cTn id="122" dur="1" fill="hold">
                                          <p:stCondLst>
                                            <p:cond delay="0"/>
                                          </p:stCondLst>
                                        </p:cTn>
                                        <p:tgtEl>
                                          <p:spTgt spid="7">
                                            <p:txEl>
                                              <p:pRg st="7" end="7"/>
                                            </p:txEl>
                                          </p:spTgt>
                                        </p:tgtEl>
                                        <p:attrNameLst>
                                          <p:attrName>style.visibility</p:attrName>
                                        </p:attrNameLst>
                                      </p:cBhvr>
                                      <p:to>
                                        <p:strVal val="visible"/>
                                      </p:to>
                                    </p:set>
                                    <p:animEffect transition="in" filter="fade">
                                      <p:cBhvr>
                                        <p:cTn id="123" dur="1000"/>
                                        <p:tgtEl>
                                          <p:spTgt spid="7">
                                            <p:txEl>
                                              <p:pRg st="7" end="7"/>
                                            </p:txEl>
                                          </p:spTgt>
                                        </p:tgtEl>
                                      </p:cBhvr>
                                    </p:animEffect>
                                    <p:anim calcmode="lin" valueType="num">
                                      <p:cBhvr>
                                        <p:cTn id="12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12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nodeType="clickEffect">
                                  <p:stCondLst>
                                    <p:cond delay="0"/>
                                  </p:stCondLst>
                                  <p:childTnLst>
                                    <p:set>
                                      <p:cBhvr>
                                        <p:cTn id="129" dur="1" fill="hold">
                                          <p:stCondLst>
                                            <p:cond delay="0"/>
                                          </p:stCondLst>
                                        </p:cTn>
                                        <p:tgtEl>
                                          <p:spTgt spid="7">
                                            <p:txEl>
                                              <p:pRg st="8" end="8"/>
                                            </p:txEl>
                                          </p:spTgt>
                                        </p:tgtEl>
                                        <p:attrNameLst>
                                          <p:attrName>style.visibility</p:attrName>
                                        </p:attrNameLst>
                                      </p:cBhvr>
                                      <p:to>
                                        <p:strVal val="visible"/>
                                      </p:to>
                                    </p:set>
                                    <p:animEffect transition="in" filter="fade">
                                      <p:cBhvr>
                                        <p:cTn id="130" dur="1000"/>
                                        <p:tgtEl>
                                          <p:spTgt spid="7">
                                            <p:txEl>
                                              <p:pRg st="8" end="8"/>
                                            </p:txEl>
                                          </p:spTgt>
                                        </p:tgtEl>
                                      </p:cBhvr>
                                    </p:animEffect>
                                    <p:anim calcmode="lin" valueType="num">
                                      <p:cBhvr>
                                        <p:cTn id="13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13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38328" y="2667000"/>
                <a:ext cx="23664672" cy="10820400"/>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just">
                  <a:lnSpc>
                    <a:spcPct val="100000"/>
                  </a:lnSpc>
                  <a:buFont typeface="Wingdings" panose="05000000000000000000" pitchFamily="2" charset="2"/>
                  <a:buChar char="v"/>
                </a:pPr>
                <a:r>
                  <a:rPr lang="en-US"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Trên</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mặt</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phẳng</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xét</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hai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trục</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𝑶𝒙</m:t>
                    </m:r>
                    <m:r>
                      <a:rPr lang="en-US" b="1" i="0" smtClean="0">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𝑶</m:t>
                    </m:r>
                    <m:r>
                      <a:rPr lang="en-US" b="1" i="1" smtClean="0">
                        <a:latin typeface="Cambria Math" panose="02040503050406030204" pitchFamily="18" charset="0"/>
                        <a:ea typeface="Cambria Math" panose="02040503050406030204" pitchFamily="18" charset="0"/>
                      </a:rPr>
                      <m:t>𝒚</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có</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chung</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gốc</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và</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vuông</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góc</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với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nhau</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Vectơ</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đơn</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vị</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của</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trục</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𝑶𝒙</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là</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vectơ</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đơn</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vị</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của</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trục</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𝑶𝒚</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là</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Hệ</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gồm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hai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trục</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𝑶𝒚</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như</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vậy</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được</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gọi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là</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i="1" dirty="0" err="1">
                    <a:latin typeface="Times New Roman" panose="02020603050405020304" pitchFamily="18" charset="0"/>
                    <a:ea typeface="Tahoma" panose="020B0604030504040204" pitchFamily="34" charset="0"/>
                    <a:cs typeface="Times New Roman" panose="02020603050405020304" pitchFamily="18" charset="0"/>
                  </a:rPr>
                  <a:t>hệ</a:t>
                </a:r>
                <a:r>
                  <a:rPr lang="en-US" b="1" i="1" dirty="0">
                    <a:latin typeface="Times New Roman" panose="02020603050405020304" pitchFamily="18" charset="0"/>
                    <a:ea typeface="Tahoma" panose="020B0604030504040204" pitchFamily="34" charset="0"/>
                    <a:cs typeface="Times New Roman" panose="02020603050405020304" pitchFamily="18" charset="0"/>
                  </a:rPr>
                  <a:t> </a:t>
                </a:r>
                <a:r>
                  <a:rPr lang="en-US" b="1" i="1" dirty="0" err="1">
                    <a:latin typeface="Times New Roman" panose="02020603050405020304" pitchFamily="18" charset="0"/>
                    <a:ea typeface="Tahoma" panose="020B0604030504040204" pitchFamily="34" charset="0"/>
                    <a:cs typeface="Times New Roman" panose="02020603050405020304" pitchFamily="18" charset="0"/>
                  </a:rPr>
                  <a:t>trục</a:t>
                </a:r>
                <a:r>
                  <a:rPr lang="en-US" b="1" i="1" dirty="0">
                    <a:latin typeface="Times New Roman" panose="02020603050405020304" pitchFamily="18" charset="0"/>
                    <a:ea typeface="Tahoma" panose="020B0604030504040204" pitchFamily="34" charset="0"/>
                    <a:cs typeface="Times New Roman" panose="02020603050405020304" pitchFamily="18" charset="0"/>
                  </a:rPr>
                  <a:t> </a:t>
                </a:r>
                <a:r>
                  <a:rPr lang="en-US" b="1" i="1" dirty="0" err="1">
                    <a:latin typeface="Times New Roman" panose="02020603050405020304" pitchFamily="18" charset="0"/>
                    <a:ea typeface="Tahoma" panose="020B0604030504040204" pitchFamily="34" charset="0"/>
                    <a:cs typeface="Times New Roman" panose="02020603050405020304" pitchFamily="18" charset="0"/>
                  </a:rPr>
                  <a:t>tọa</a:t>
                </a:r>
                <a:r>
                  <a:rPr lang="en-US" b="1" i="1" dirty="0">
                    <a:latin typeface="Times New Roman" panose="02020603050405020304" pitchFamily="18" charset="0"/>
                    <a:ea typeface="Tahoma" panose="020B0604030504040204" pitchFamily="34" charset="0"/>
                    <a:cs typeface="Times New Roman" panose="02020603050405020304" pitchFamily="18" charset="0"/>
                  </a:rPr>
                  <a:t> </a:t>
                </a:r>
                <a:r>
                  <a:rPr lang="en-US" b="1" i="1" dirty="0" err="1">
                    <a:latin typeface="Times New Roman" panose="02020603050405020304" pitchFamily="18" charset="0"/>
                    <a:ea typeface="Tahoma" panose="020B0604030504040204" pitchFamily="34" charset="0"/>
                    <a:cs typeface="Times New Roman" panose="02020603050405020304" pitchFamily="18" charset="0"/>
                  </a:rPr>
                  <a:t>độ</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gọi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là</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gốc</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tọa</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độ</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trục</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𝑶𝒙</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gọi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là</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i="1" dirty="0" err="1">
                    <a:latin typeface="Times New Roman" panose="02020603050405020304" pitchFamily="18" charset="0"/>
                    <a:ea typeface="Tahoma" panose="020B0604030504040204" pitchFamily="34" charset="0"/>
                    <a:cs typeface="Times New Roman" panose="02020603050405020304" pitchFamily="18" charset="0"/>
                  </a:rPr>
                  <a:t>trục</a:t>
                </a:r>
                <a:r>
                  <a:rPr lang="en-US" b="1" i="1" dirty="0">
                    <a:latin typeface="Times New Roman" panose="02020603050405020304" pitchFamily="18" charset="0"/>
                    <a:ea typeface="Tahoma" panose="020B0604030504040204" pitchFamily="34" charset="0"/>
                    <a:cs typeface="Times New Roman" panose="02020603050405020304" pitchFamily="18" charset="0"/>
                  </a:rPr>
                  <a:t> </a:t>
                </a:r>
                <a:r>
                  <a:rPr lang="en-US" b="1" i="1" dirty="0" err="1">
                    <a:latin typeface="Times New Roman" panose="02020603050405020304" pitchFamily="18" charset="0"/>
                    <a:ea typeface="Tahoma" panose="020B0604030504040204" pitchFamily="34" charset="0"/>
                    <a:cs typeface="Times New Roman" panose="02020603050405020304" pitchFamily="18" charset="0"/>
                  </a:rPr>
                  <a:t>hoành</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trục</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𝑶𝒚</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gọi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là</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i="1" dirty="0" err="1">
                    <a:latin typeface="Times New Roman" panose="02020603050405020304" pitchFamily="18" charset="0"/>
                    <a:ea typeface="Tahoma" panose="020B0604030504040204" pitchFamily="34" charset="0"/>
                    <a:cs typeface="Times New Roman" panose="02020603050405020304" pitchFamily="18" charset="0"/>
                  </a:rPr>
                  <a:t>trục</a:t>
                </a:r>
                <a:r>
                  <a:rPr lang="en-US" b="1" i="1" dirty="0">
                    <a:latin typeface="Times New Roman" panose="02020603050405020304" pitchFamily="18" charset="0"/>
                    <a:ea typeface="Tahoma" panose="020B0604030504040204" pitchFamily="34" charset="0"/>
                    <a:cs typeface="Times New Roman" panose="02020603050405020304" pitchFamily="18" charset="0"/>
                  </a:rPr>
                  <a:t> </a:t>
                </a:r>
                <a:r>
                  <a:rPr lang="en-US" b="1" i="1" dirty="0" err="1">
                    <a:latin typeface="Times New Roman" panose="02020603050405020304" pitchFamily="18" charset="0"/>
                    <a:ea typeface="Tahoma" panose="020B0604030504040204" pitchFamily="34" charset="0"/>
                    <a:cs typeface="Times New Roman" panose="02020603050405020304" pitchFamily="18" charset="0"/>
                  </a:rPr>
                  <a:t>tung</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Mặt</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phẳng</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chứa</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hệ</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trục</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gọi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là</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mặt</a:t>
                </a:r>
                <a:r>
                  <a:rPr lang="en-US"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b="1"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phẳng</a:t>
                </a:r>
                <a:r>
                  <a:rPr lang="en-US"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b="1"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tọa</a:t>
                </a:r>
                <a:r>
                  <a:rPr lang="en-US"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b="1"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độ</a:t>
                </a:r>
                <a:r>
                  <a:rPr lang="en-US"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 hay </a:t>
                </a:r>
                <a:r>
                  <a:rPr lang="en-US" b="1" dirty="0" err="1">
                    <a:latin typeface="Times New Roman" panose="02020603050405020304" pitchFamily="18" charset="0"/>
                    <a:ea typeface="Tahoma" panose="020B0604030504040204" pitchFamily="34" charset="0"/>
                    <a:cs typeface="Times New Roman" panose="02020603050405020304" pitchFamily="18" charset="0"/>
                  </a:rPr>
                  <a:t>mặt</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phẳng</a:t>
                </a:r>
                <a:r>
                  <a:rPr lang="en-US" b="1"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dirty="0">
                    <a:latin typeface="Times New Roman" panose="02020603050405020304" pitchFamily="18" charset="0"/>
                    <a:ea typeface="Tahoma" panose="020B0604030504040204" pitchFamily="34" charset="0"/>
                    <a:cs typeface="Times New Roman" panose="02020603050405020304" pitchFamily="18" charset="0"/>
                  </a:rPr>
                  <a:t>.</a:t>
                </a:r>
              </a:p>
            </p:txBody>
          </p:sp>
        </mc:Choice>
        <mc:Fallback>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38328" y="2667000"/>
                <a:ext cx="23664672" cy="10820400"/>
              </a:xfrm>
              <a:prstGeom prst="rect">
                <a:avLst/>
              </a:prstGeom>
              <a:blipFill>
                <a:blip r:embed="rId3"/>
                <a:stretch>
                  <a:fillRect l="-1030" t="-788" r="-1133"/>
                </a:stretch>
              </a:blipFill>
              <a:ln>
                <a:solidFill>
                  <a:srgbClr val="00B0F0"/>
                </a:solidFill>
              </a:ln>
            </p:spPr>
            <p:txBody>
              <a:bodyPr/>
              <a:lstStyle/>
              <a:p>
                <a:r>
                  <a:rPr lang="en-US">
                    <a:noFill/>
                  </a:rPr>
                  <a:t> </a:t>
                </a:r>
              </a:p>
            </p:txBody>
          </p:sp>
        </mc:Fallback>
      </mc:AlternateContent>
      <p:sp>
        <p:nvSpPr>
          <p:cNvPr id="8" name="Title 1">
            <a:extLst>
              <a:ext uri="{FF2B5EF4-FFF2-40B4-BE49-F238E27FC236}">
                <a16:creationId xmlns:a16="http://schemas.microsoft.com/office/drawing/2014/main" id="{AB21B9B3-BD38-4D33-8804-DCF35BBF6823}"/>
              </a:ext>
            </a:extLst>
          </p:cNvPr>
          <p:cNvSpPr txBox="1">
            <a:spLocks/>
          </p:cNvSpPr>
          <p:nvPr/>
        </p:nvSpPr>
        <p:spPr>
          <a:xfrm>
            <a:off x="361950" y="1790700"/>
            <a:ext cx="7162800" cy="8382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sz="4800" b="1">
                <a:latin typeface="Tahoma" panose="020B0604030504040204" pitchFamily="34" charset="0"/>
                <a:ea typeface="Tahoma" panose="020B0604030504040204" pitchFamily="34" charset="0"/>
                <a:cs typeface="Tahoma" panose="020B0604030504040204" pitchFamily="34" charset="0"/>
              </a:rPr>
              <a:t>1. T</a:t>
            </a:r>
            <a:r>
              <a:rPr lang="en-US" sz="4800" b="1">
                <a:latin typeface="Tahoma" panose="020B0604030504040204" pitchFamily="34" charset="0"/>
                <a:ea typeface="Tahoma" panose="020B0604030504040204" pitchFamily="34" charset="0"/>
                <a:cs typeface="Tahoma" panose="020B0604030504040204" pitchFamily="34" charset="0"/>
              </a:rPr>
              <a:t>ỌA</a:t>
            </a:r>
            <a:r>
              <a:rPr lang="vi-VN" sz="4800" b="1">
                <a:latin typeface="Tahoma" panose="020B0604030504040204" pitchFamily="34" charset="0"/>
                <a:ea typeface="Tahoma" panose="020B0604030504040204" pitchFamily="34" charset="0"/>
                <a:cs typeface="Tahoma" panose="020B0604030504040204" pitchFamily="34" charset="0"/>
              </a:rPr>
              <a:t> ĐỘ CỦA VECTƠ</a:t>
            </a:r>
          </a:p>
        </p:txBody>
      </p:sp>
      <p:pic>
        <p:nvPicPr>
          <p:cNvPr id="5" name="Picture 4" descr="Shape, arrow&#10;&#10;Description automatically generated">
            <a:extLst>
              <a:ext uri="{FF2B5EF4-FFF2-40B4-BE49-F238E27FC236}">
                <a16:creationId xmlns:a16="http://schemas.microsoft.com/office/drawing/2014/main" id="{F42799FD-61B6-4FB3-85D9-950CE6E26E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6400800"/>
            <a:ext cx="6415248" cy="6852962"/>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2393572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1000"/>
                                        <p:tgtEl>
                                          <p:spTgt spid="99"/>
                                        </p:tgtEl>
                                      </p:cBhvr>
                                    </p:animEffect>
                                    <p:anim calcmode="lin" valueType="num">
                                      <p:cBhvr>
                                        <p:cTn id="8" dur="1000" fill="hold"/>
                                        <p:tgtEl>
                                          <p:spTgt spid="99"/>
                                        </p:tgtEl>
                                        <p:attrNameLst>
                                          <p:attrName>ppt_x</p:attrName>
                                        </p:attrNameLst>
                                      </p:cBhvr>
                                      <p:tavLst>
                                        <p:tav tm="0">
                                          <p:val>
                                            <p:strVal val="#ppt_x"/>
                                          </p:val>
                                        </p:tav>
                                        <p:tav tm="100000">
                                          <p:val>
                                            <p:strVal val="#ppt_x"/>
                                          </p:val>
                                        </p:tav>
                                      </p:tavLst>
                                    </p:anim>
                                    <p:anim calcmode="lin" valueType="num">
                                      <p:cBhvr>
                                        <p:cTn id="9"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9">
                                            <p:txEl>
                                              <p:pRg st="0" end="0"/>
                                            </p:txEl>
                                          </p:spTgt>
                                        </p:tgtEl>
                                        <p:attrNameLst>
                                          <p:attrName>style.visibility</p:attrName>
                                        </p:attrNameLst>
                                      </p:cBhvr>
                                      <p:to>
                                        <p:strVal val="visible"/>
                                      </p:to>
                                    </p:set>
                                    <p:animEffect transition="in" filter="fade">
                                      <p:cBhvr>
                                        <p:cTn id="14" dur="1000"/>
                                        <p:tgtEl>
                                          <p:spTgt spid="99">
                                            <p:txEl>
                                              <p:pRg st="0" end="0"/>
                                            </p:txEl>
                                          </p:spTgt>
                                        </p:tgtEl>
                                      </p:cBhvr>
                                    </p:animEffect>
                                    <p:anim calcmode="lin" valueType="num">
                                      <p:cBhvr>
                                        <p:cTn id="15" dur="1000" fill="hold"/>
                                        <p:tgtEl>
                                          <p:spTgt spid="9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9">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angle 8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4EF7CB57-4DD6-4D84-89BE-12EF7D2780CD}"/>
                  </a:ext>
                </a:extLst>
              </p:cNvPr>
              <p:cNvSpPr txBox="1">
                <a:spLocks/>
              </p:cNvSpPr>
              <p:nvPr/>
            </p:nvSpPr>
            <p:spPr>
              <a:xfrm>
                <a:off x="304800" y="2667000"/>
                <a:ext cx="23698200" cy="10668000"/>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buFont typeface="Wingdings" panose="05000000000000000000" pitchFamily="2" charset="2"/>
                  <a:buChar char="v"/>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Với mỗi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oMath>
                </a14:m>
                <a:r>
                  <a:rPr lang="en-US" b="1">
                    <a:latin typeface="Tahoma" panose="020B0604030504040204" pitchFamily="34" charset="0"/>
                    <a:ea typeface="Tahoma" panose="020B0604030504040204" pitchFamily="34" charset="0"/>
                    <a:cs typeface="Tahoma" panose="020B0604030504040204" pitchFamily="34" charset="0"/>
                  </a:rPr>
                  <a:t> trên mặt phẳng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a:latin typeface="Tahoma" panose="020B0604030504040204" pitchFamily="34" charset="0"/>
                    <a:ea typeface="Tahoma" panose="020B0604030504040204" pitchFamily="34" charset="0"/>
                    <a:cs typeface="Tahoma" panose="020B0604030504040204" pitchFamily="34" charset="0"/>
                  </a:rPr>
                  <a:t>, có duy nhất cặp số </a:t>
                </a:r>
                <a14:m>
                  <m:oMath xmlns:m="http://schemas.openxmlformats.org/officeDocument/2006/math">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smtClean="0">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e>
                    </m:d>
                  </m:oMath>
                </a14:m>
                <a:r>
                  <a:rPr lang="en-US" b="1">
                    <a:latin typeface="Tahoma" panose="020B0604030504040204" pitchFamily="34" charset="0"/>
                    <a:ea typeface="Tahoma" panose="020B0604030504040204" pitchFamily="34" charset="0"/>
                    <a:cs typeface="Tahoma" panose="020B0604030504040204" pitchFamily="34" charset="0"/>
                  </a:rPr>
                  <a:t> sao cho</a:t>
                </a:r>
              </a:p>
              <a:p>
                <a:pPr marL="0" indent="0">
                  <a:lnSpc>
                    <a:spcPct val="100000"/>
                  </a:lnSpc>
                  <a:buNone/>
                </a:pPr>
                <a14:m>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𝒖</m:t>
                        </m:r>
                      </m:e>
                    </m:acc>
                    <m:r>
                      <a:rPr lang="en-US" b="1" i="1">
                        <a:solidFill>
                          <a:srgbClr val="FF0000"/>
                        </a:solidFill>
                        <a:latin typeface="Cambria Math" panose="02040503050406030204" pitchFamily="18" charset="0"/>
                        <a:ea typeface="Cambria Math" panose="02040503050406030204" pitchFamily="18" charset="0"/>
                      </a:rPr>
                      <m:t>=</m:t>
                    </m:r>
                    <m:sSub>
                      <m:sSubPr>
                        <m:ctrlPr>
                          <a:rPr lang="en-US" b="1" i="1">
                            <a:solidFill>
                              <a:srgbClr val="FF0000"/>
                            </a:solidFill>
                            <a:latin typeface="Cambria Math" panose="02040503050406030204" pitchFamily="18" charset="0"/>
                            <a:ea typeface="Cambria Math" panose="02040503050406030204" pitchFamily="18" charset="0"/>
                          </a:rPr>
                        </m:ctrlPr>
                      </m:sSubPr>
                      <m:e>
                        <m:r>
                          <a:rPr lang="en-US" b="1" i="1">
                            <a:solidFill>
                              <a:srgbClr val="FF0000"/>
                            </a:solidFill>
                            <a:latin typeface="Cambria Math" panose="02040503050406030204" pitchFamily="18" charset="0"/>
                            <a:ea typeface="Cambria Math" panose="02040503050406030204" pitchFamily="18" charset="0"/>
                          </a:rPr>
                          <m:t>𝒙</m:t>
                        </m:r>
                      </m:e>
                      <m:sub>
                        <m:r>
                          <a:rPr lang="en-US" b="1" i="1" smtClean="0">
                            <a:solidFill>
                              <a:srgbClr val="FF0000"/>
                            </a:solidFill>
                            <a:latin typeface="Cambria Math" panose="02040503050406030204" pitchFamily="18" charset="0"/>
                            <a:ea typeface="Cambria Math" panose="02040503050406030204" pitchFamily="18" charset="0"/>
                          </a:rPr>
                          <m:t>𝟎</m:t>
                        </m:r>
                      </m:sub>
                    </m:sSub>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𝒊</m:t>
                        </m:r>
                      </m:e>
                    </m:acc>
                    <m:r>
                      <a:rPr lang="en-US" b="1" i="1">
                        <a:solidFill>
                          <a:srgbClr val="FF0000"/>
                        </a:solidFill>
                        <a:latin typeface="Cambria Math" panose="02040503050406030204" pitchFamily="18" charset="0"/>
                        <a:ea typeface="Cambria Math" panose="02040503050406030204" pitchFamily="18" charset="0"/>
                      </a:rPr>
                      <m:t>+</m:t>
                    </m:r>
                    <m:sSub>
                      <m:sSubPr>
                        <m:ctrlPr>
                          <a:rPr lang="en-US" b="1" i="1">
                            <a:solidFill>
                              <a:srgbClr val="FF0000"/>
                            </a:solidFill>
                            <a:latin typeface="Cambria Math" panose="02040503050406030204" pitchFamily="18" charset="0"/>
                            <a:ea typeface="Cambria Math" panose="02040503050406030204" pitchFamily="18" charset="0"/>
                          </a:rPr>
                        </m:ctrlPr>
                      </m:sSubPr>
                      <m:e>
                        <m:r>
                          <a:rPr lang="en-US" b="1" i="1">
                            <a:solidFill>
                              <a:srgbClr val="FF0000"/>
                            </a:solidFill>
                            <a:latin typeface="Cambria Math" panose="02040503050406030204" pitchFamily="18" charset="0"/>
                            <a:ea typeface="Cambria Math" panose="02040503050406030204" pitchFamily="18" charset="0"/>
                          </a:rPr>
                          <m:t>𝒚</m:t>
                        </m:r>
                      </m:e>
                      <m:sub>
                        <m:r>
                          <a:rPr lang="en-US" b="1" i="1" smtClean="0">
                            <a:solidFill>
                              <a:srgbClr val="FF0000"/>
                            </a:solidFill>
                            <a:latin typeface="Cambria Math" panose="02040503050406030204" pitchFamily="18" charset="0"/>
                            <a:ea typeface="Cambria Math" panose="02040503050406030204" pitchFamily="18" charset="0"/>
                          </a:rPr>
                          <m:t>𝟎</m:t>
                        </m:r>
                      </m:sub>
                    </m:sSub>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 Ta nói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oMath>
                </a14:m>
                <a:r>
                  <a:rPr lang="en-US" b="1">
                    <a:latin typeface="Tahoma" panose="020B0604030504040204" pitchFamily="34" charset="0"/>
                    <a:ea typeface="Tahoma" panose="020B0604030504040204" pitchFamily="34" charset="0"/>
                    <a:cs typeface="Tahoma" panose="020B0604030504040204" pitchFamily="34" charset="0"/>
                  </a:rPr>
                  <a:t> có tọa độ </a:t>
                </a:r>
                <a14:m>
                  <m:oMath xmlns:m="http://schemas.openxmlformats.org/officeDocument/2006/math">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a:latin typeface="Cambria Math" panose="02040503050406030204" pitchFamily="18" charset="0"/>
                                <a:ea typeface="Cambria Math" panose="02040503050406030204" pitchFamily="18" charset="0"/>
                              </a:rPr>
                              <m:t>𝟎</m:t>
                            </m:r>
                          </m:sub>
                        </m:sSub>
                      </m:e>
                    </m:d>
                  </m:oMath>
                </a14:m>
                <a:r>
                  <a:rPr lang="en-US" b="1">
                    <a:latin typeface="Tahoma" panose="020B0604030504040204" pitchFamily="34" charset="0"/>
                    <a:ea typeface="Tahoma" panose="020B0604030504040204" pitchFamily="34" charset="0"/>
                    <a:cs typeface="Tahoma" panose="020B0604030504040204" pitchFamily="34" charset="0"/>
                  </a:rPr>
                  <a:t> và viết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a:latin typeface="Cambria Math" panose="02040503050406030204" pitchFamily="18" charset="0"/>
                                <a:ea typeface="Cambria Math" panose="02040503050406030204" pitchFamily="18" charset="0"/>
                              </a:rPr>
                              <m:t>𝟎</m:t>
                            </m:r>
                          </m:sub>
                        </m:sSub>
                      </m:e>
                    </m:d>
                  </m:oMath>
                </a14:m>
                <a:r>
                  <a:rPr lang="en-US" b="1">
                    <a:latin typeface="Tahoma" panose="020B0604030504040204" pitchFamily="34" charset="0"/>
                    <a:ea typeface="Tahoma" panose="020B0604030504040204" pitchFamily="34" charset="0"/>
                    <a:cs typeface="Tahoma" panose="020B0604030504040204" pitchFamily="34" charset="0"/>
                  </a:rPr>
                  <a:t> hay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smtClean="0">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e>
                    </m:d>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Các số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smtClean="0">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 tương ứng được gọi là </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hoành độ, tung độ </a:t>
                </a:r>
                <a:r>
                  <a:rPr lang="en-US" b="1">
                    <a:latin typeface="Tahoma" panose="020B0604030504040204" pitchFamily="34" charset="0"/>
                    <a:ea typeface="Tahoma" panose="020B0604030504040204" pitchFamily="34" charset="0"/>
                    <a:cs typeface="Tahoma" panose="020B0604030504040204" pitchFamily="34" charset="0"/>
                  </a:rPr>
                  <a:t>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oMath>
                </a14:m>
                <a:r>
                  <a:rPr lang="en-US" b="1">
                    <a:latin typeface="Tahoma" panose="020B0604030504040204" pitchFamily="34" charset="0"/>
                    <a:ea typeface="Tahoma" panose="020B0604030504040204" pitchFamily="34" charset="0"/>
                    <a:cs typeface="Tahoma" panose="020B0604030504040204" pitchFamily="34" charset="0"/>
                  </a:rPr>
                  <a:t>.</a:t>
                </a:r>
              </a:p>
              <a:p>
                <a:pPr>
                  <a:lnSpc>
                    <a:spcPct val="100000"/>
                  </a:lnSpc>
                  <a:buFont typeface="Wingdings" panose="05000000000000000000" pitchFamily="2" charset="2"/>
                  <a:buChar char="ü"/>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i="1">
                    <a:solidFill>
                      <a:srgbClr val="FF0000"/>
                    </a:solidFill>
                    <a:latin typeface="Tahoma" panose="020B0604030504040204" pitchFamily="34" charset="0"/>
                    <a:ea typeface="Tahoma" panose="020B0604030504040204" pitchFamily="34" charset="0"/>
                    <a:cs typeface="Tahoma" panose="020B0604030504040204" pitchFamily="34" charset="0"/>
                  </a:rPr>
                  <a:t>Nhận xét: </a:t>
                </a:r>
                <a:r>
                  <a:rPr lang="en-US" b="1">
                    <a:solidFill>
                      <a:srgbClr val="3333FF"/>
                    </a:solidFill>
                    <a:latin typeface="Tahoma" panose="020B0604030504040204" pitchFamily="34" charset="0"/>
                    <a:ea typeface="Tahoma" panose="020B0604030504040204" pitchFamily="34" charset="0"/>
                    <a:cs typeface="Tahoma" panose="020B0604030504040204" pitchFamily="34" charset="0"/>
                  </a:rPr>
                  <a:t>Hai vectơ bằng nhau </a:t>
                </a:r>
                <a:r>
                  <a:rPr lang="en-US" b="1">
                    <a:latin typeface="Tahoma" panose="020B0604030504040204" pitchFamily="34" charset="0"/>
                    <a:ea typeface="Tahoma" panose="020B0604030504040204" pitchFamily="34" charset="0"/>
                    <a:cs typeface="Tahoma" panose="020B0604030504040204" pitchFamily="34" charset="0"/>
                  </a:rPr>
                  <a:t>khi và chỉ khi chúng có </a:t>
                </a:r>
                <a:r>
                  <a:rPr lang="en-US" b="1">
                    <a:solidFill>
                      <a:srgbClr val="3333FF"/>
                    </a:solidFill>
                    <a:latin typeface="Tahoma" panose="020B0604030504040204" pitchFamily="34" charset="0"/>
                    <a:ea typeface="Tahoma" panose="020B0604030504040204" pitchFamily="34" charset="0"/>
                    <a:cs typeface="Tahoma" panose="020B0604030504040204" pitchFamily="34" charset="0"/>
                  </a:rPr>
                  <a:t>cùng tọa độ</a:t>
                </a:r>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14:m>
                  <m:oMathPara xmlns:m="http://schemas.openxmlformats.org/officeDocument/2006/math">
                    <m:oMathParaPr>
                      <m:jc m:val="centerGroup"/>
                    </m:oMathParaPr>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𝒖</m:t>
                          </m:r>
                        </m:e>
                      </m:acc>
                      <m:d>
                        <m:dPr>
                          <m:ctrlPr>
                            <a:rPr lang="en-US" b="1" i="1">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𝒚</m:t>
                          </m:r>
                        </m:e>
                      </m:d>
                      <m:r>
                        <a:rPr lang="en-US" b="1" i="1">
                          <a:solidFill>
                            <a:srgbClr val="FF0000"/>
                          </a:solidFill>
                          <a:latin typeface="Cambria Math" panose="02040503050406030204" pitchFamily="18" charset="0"/>
                          <a:ea typeface="Cambria Math" panose="02040503050406030204" pitchFamily="18" charset="0"/>
                        </a:rPr>
                        <m:t>=</m:t>
                      </m:r>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𝒗</m:t>
                          </m:r>
                        </m:e>
                      </m:acc>
                      <m:d>
                        <m:dPr>
                          <m:ctrlPr>
                            <a:rPr lang="en-US" b="1" i="1">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𝒚</m:t>
                          </m:r>
                          <m:r>
                            <a:rPr lang="en-US" b="1" i="1">
                              <a:solidFill>
                                <a:srgbClr val="FF0000"/>
                              </a:solidFill>
                              <a:latin typeface="Cambria Math" panose="02040503050406030204" pitchFamily="18" charset="0"/>
                              <a:ea typeface="Cambria Math" panose="02040503050406030204" pitchFamily="18" charset="0"/>
                            </a:rPr>
                            <m:t>′</m:t>
                          </m:r>
                        </m:e>
                      </m:d>
                      <m:r>
                        <a:rPr lang="en-US" b="1" i="1">
                          <a:solidFill>
                            <a:srgbClr val="FF0000"/>
                          </a:solidFill>
                          <a:latin typeface="Cambria Math" panose="02040503050406030204" pitchFamily="18" charset="0"/>
                          <a:ea typeface="Cambria Math" panose="02040503050406030204" pitchFamily="18" charset="0"/>
                        </a:rPr>
                        <m:t>⇔</m:t>
                      </m:r>
                      <m:d>
                        <m:dPr>
                          <m:begChr m:val="{"/>
                          <m:endChr m:val=""/>
                          <m:ctrlPr>
                            <a:rPr lang="en-US" b="1" i="1">
                              <a:solidFill>
                                <a:srgbClr val="FF0000"/>
                              </a:solidFill>
                              <a:latin typeface="Cambria Math" panose="02040503050406030204" pitchFamily="18" charset="0"/>
                              <a:ea typeface="Cambria Math" panose="02040503050406030204" pitchFamily="18" charset="0"/>
                            </a:rPr>
                          </m:ctrlPr>
                        </m:dPr>
                        <m:e>
                          <m:eqArr>
                            <m:eqArrPr>
                              <m:ctrlPr>
                                <a:rPr lang="en-US" b="1" i="1">
                                  <a:solidFill>
                                    <a:srgbClr val="FF0000"/>
                                  </a:solidFill>
                                  <a:latin typeface="Cambria Math" panose="02040503050406030204" pitchFamily="18" charset="0"/>
                                  <a:ea typeface="Cambria Math" panose="02040503050406030204" pitchFamily="18" charset="0"/>
                                </a:rPr>
                              </m:ctrlPr>
                            </m:eqArrPr>
                            <m:e>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e>
                            <m:e>
                              <m:r>
                                <a:rPr lang="en-US" b="1" i="1">
                                  <a:solidFill>
                                    <a:srgbClr val="FF0000"/>
                                  </a:solidFill>
                                  <a:latin typeface="Cambria Math" panose="02040503050406030204" pitchFamily="18" charset="0"/>
                                  <a:ea typeface="Cambria Math" panose="02040503050406030204" pitchFamily="18" charset="0"/>
                                </a:rPr>
                                <m:t>𝒚</m:t>
                              </m:r>
                              <m:r>
                                <a:rPr lang="en-US" b="1" i="1">
                                  <a:solidFill>
                                    <a:srgbClr val="FF0000"/>
                                  </a:solidFill>
                                  <a:latin typeface="Cambria Math" panose="02040503050406030204" pitchFamily="18" charset="0"/>
                                  <a:ea typeface="Cambria Math" panose="02040503050406030204" pitchFamily="18" charset="0"/>
                                </a:rPr>
                                <m:t>=</m:t>
                              </m:r>
                              <m:sSup>
                                <m:sSupPr>
                                  <m:ctrlPr>
                                    <a:rPr lang="en-US" b="1" i="1">
                                      <a:solidFill>
                                        <a:srgbClr val="FF0000"/>
                                      </a:solidFill>
                                      <a:latin typeface="Cambria Math" panose="02040503050406030204" pitchFamily="18" charset="0"/>
                                      <a:ea typeface="Cambria Math" panose="02040503050406030204" pitchFamily="18" charset="0"/>
                                    </a:rPr>
                                  </m:ctrlPr>
                                </m:sSupPr>
                                <m:e>
                                  <m:r>
                                    <a:rPr lang="en-US" b="1" i="1">
                                      <a:solidFill>
                                        <a:srgbClr val="FF0000"/>
                                      </a:solidFill>
                                      <a:latin typeface="Cambria Math" panose="02040503050406030204" pitchFamily="18" charset="0"/>
                                      <a:ea typeface="Cambria Math" panose="02040503050406030204" pitchFamily="18" charset="0"/>
                                    </a:rPr>
                                    <m:t>𝒚</m:t>
                                  </m:r>
                                </m:e>
                                <m:sup>
                                  <m:r>
                                    <a:rPr lang="en-US" b="1" i="1">
                                      <a:solidFill>
                                        <a:srgbClr val="FF0000"/>
                                      </a:solidFill>
                                      <a:latin typeface="Cambria Math" panose="02040503050406030204" pitchFamily="18" charset="0"/>
                                      <a:ea typeface="Cambria Math" panose="02040503050406030204" pitchFamily="18" charset="0"/>
                                    </a:rPr>
                                    <m:t>′</m:t>
                                  </m:r>
                                </m:sup>
                              </m:sSup>
                              <m:r>
                                <a:rPr lang="en-US" b="1" i="1">
                                  <a:solidFill>
                                    <a:srgbClr val="FF0000"/>
                                  </a:solidFill>
                                  <a:latin typeface="Cambria Math" panose="02040503050406030204" pitchFamily="18" charset="0"/>
                                  <a:ea typeface="Cambria Math" panose="02040503050406030204" pitchFamily="18" charset="0"/>
                                </a:rPr>
                                <m:t>.</m:t>
                              </m:r>
                            </m:e>
                          </m:eqArr>
                        </m:e>
                      </m:d>
                    </m:oMath>
                  </m:oMathPara>
                </a14:m>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b="1">
                    <a:solidFill>
                      <a:srgbClr val="FF0000"/>
                    </a:solidFill>
                    <a:latin typeface="Tahoma" panose="020B0604030504040204" pitchFamily="34" charset="0"/>
                    <a:ea typeface="Tahoma" panose="020B0604030504040204" pitchFamily="34" charset="0"/>
                    <a:cs typeface="Tahoma" panose="020B0604030504040204" pitchFamily="34" charset="0"/>
                    <a:sym typeface="Wingdings"/>
                  </a:rPr>
                  <a:t> </a:t>
                </a: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VD1: </a:t>
                </a:r>
                <a:r>
                  <a:rPr lang="en-US" b="1">
                    <a:latin typeface="Tahoma" panose="020B0604030504040204" pitchFamily="34" charset="0"/>
                    <a:ea typeface="Tahoma" panose="020B0604030504040204" pitchFamily="34" charset="0"/>
                    <a:cs typeface="Tahoma" panose="020B0604030504040204" pitchFamily="34" charset="0"/>
                  </a:rPr>
                  <a:t>Tìm tọa độ của các vectơ đơn vị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smtClean="0">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smtClean="0">
                            <a:latin typeface="Cambria Math" panose="02040503050406030204" pitchFamily="18" charset="0"/>
                            <a:ea typeface="Cambria Math" panose="02040503050406030204" pitchFamily="18" charset="0"/>
                          </a:rPr>
                          <m:t>𝒋</m:t>
                        </m:r>
                      </m:e>
                    </m:acc>
                  </m:oMath>
                </a14:m>
                <a:r>
                  <a:rPr lang="en-US" b="1" i="1">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tương ứng của các trục </a:t>
                </a:r>
                <a14:m>
                  <m:oMath xmlns:m="http://schemas.openxmlformats.org/officeDocument/2006/math">
                    <m:r>
                      <a:rPr lang="en-US" b="1" i="1">
                        <a:latin typeface="Cambria Math" panose="02040503050406030204" pitchFamily="18" charset="0"/>
                        <a:ea typeface="Cambria Math" panose="02040503050406030204" pitchFamily="18" charset="0"/>
                      </a:rPr>
                      <m:t>𝑶𝒙</m:t>
                    </m:r>
                    <m:r>
                      <a:rPr lang="en-US" b="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𝑶𝒚</m:t>
                    </m:r>
                  </m:oMath>
                </a14:m>
                <a:r>
                  <a:rPr lang="en-US" b="1">
                    <a:latin typeface="Tahoma" panose="020B0604030504040204" pitchFamily="34" charset="0"/>
                    <a:ea typeface="Tahoma" panose="020B0604030504040204" pitchFamily="34" charset="0"/>
                    <a:cs typeface="Tahoma" panose="020B0604030504040204" pitchFamily="34" charset="0"/>
                  </a:rPr>
                  <a:t>.</a:t>
                </a:r>
              </a:p>
              <a:p>
                <a:pPr>
                  <a:lnSpc>
                    <a:spcPct val="100000"/>
                  </a:lnSpc>
                  <a:buFont typeface="Wingdings" panose="05000000000000000000" pitchFamily="2" charset="2"/>
                  <a:buChar char="Ø"/>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Giải: </a:t>
                </a:r>
                <a:r>
                  <a:rPr lang="en-US" b="1">
                    <a:latin typeface="Tahoma" panose="020B0604030504040204" pitchFamily="34" charset="0"/>
                    <a:ea typeface="Tahoma" panose="020B0604030504040204" pitchFamily="34" charset="0"/>
                    <a:cs typeface="Tahoma" panose="020B0604030504040204" pitchFamily="34" charset="0"/>
                  </a:rPr>
                  <a:t>Vì</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𝒊</m:t>
                        </m:r>
                      </m:e>
                    </m:acc>
                    <m:r>
                      <a:rPr lang="en-US" b="1" i="1">
                        <a:latin typeface="Cambria Math" panose="02040503050406030204" pitchFamily="18" charset="0"/>
                      </a:rPr>
                      <m:t>=</m:t>
                    </m:r>
                    <m:r>
                      <a:rPr lang="en-US" b="1" i="1">
                        <a:latin typeface="Cambria Math" panose="02040503050406030204" pitchFamily="18" charset="0"/>
                      </a:rPr>
                      <m:t>𝟏</m:t>
                    </m:r>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𝒊</m:t>
                        </m:r>
                      </m:e>
                    </m:acc>
                    <m:r>
                      <a:rPr lang="en-US" b="1" i="1">
                        <a:latin typeface="Cambria Math" panose="02040503050406030204" pitchFamily="18" charset="0"/>
                      </a:rPr>
                      <m:t>+</m:t>
                    </m:r>
                    <m:r>
                      <a:rPr lang="en-US" b="1" i="1">
                        <a:latin typeface="Cambria Math" panose="02040503050406030204" pitchFamily="18" charset="0"/>
                      </a:rPr>
                      <m:t>𝟎</m:t>
                    </m:r>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𝒋</m:t>
                        </m:r>
                      </m:e>
                    </m:acc>
                  </m:oMath>
                </a14:m>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solidFill>
                          <a:srgbClr val="FF0000"/>
                        </a:solidFill>
                        <a:latin typeface="Cambria Math" panose="02040503050406030204" pitchFamily="18" charset="0"/>
                        <a:ea typeface="Cambria Math" panose="02040503050406030204" pitchFamily="18" charset="0"/>
                        <a:cs typeface="Tahoma" panose="020B0604030504040204" pitchFamily="34" charset="0"/>
                      </a:rPr>
                      <m:t>⟹</m:t>
                    </m:r>
                  </m:oMath>
                </a14:m>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en-US" b="1" i="1" smtClean="0">
                            <a:solidFill>
                              <a:srgbClr val="FF0000"/>
                            </a:solidFill>
                            <a:latin typeface="Cambria Math" panose="02040503050406030204" pitchFamily="18" charset="0"/>
                            <a:ea typeface="Cambria Math" panose="02040503050406030204" pitchFamily="18" charset="0"/>
                          </a:rPr>
                          <m:t>𝒊</m:t>
                        </m:r>
                      </m:e>
                    </m:acc>
                    <m:r>
                      <a:rPr lang="en-US" b="1" i="1">
                        <a:solidFill>
                          <a:srgbClr val="FF0000"/>
                        </a:solidFill>
                        <a:latin typeface="Cambria Math" panose="02040503050406030204" pitchFamily="18" charset="0"/>
                        <a:ea typeface="Cambria Math" panose="02040503050406030204" pitchFamily="18" charset="0"/>
                      </a:rPr>
                      <m:t>=</m:t>
                    </m:r>
                    <m:d>
                      <m:dPr>
                        <m:ctrlPr>
                          <a:rPr lang="en-US" b="1" i="1">
                            <a:solidFill>
                              <a:srgbClr val="FF0000"/>
                            </a:solidFill>
                            <a:latin typeface="Cambria Math" panose="02040503050406030204" pitchFamily="18" charset="0"/>
                            <a:ea typeface="Cambria Math" panose="02040503050406030204" pitchFamily="18" charset="0"/>
                          </a:rPr>
                        </m:ctrlPr>
                      </m:dPr>
                      <m:e>
                        <m:r>
                          <a:rPr lang="en-US" b="1" i="1" smtClean="0">
                            <a:solidFill>
                              <a:srgbClr val="FF0000"/>
                            </a:solidFill>
                            <a:latin typeface="Cambria Math" panose="02040503050406030204" pitchFamily="18" charset="0"/>
                            <a:ea typeface="Cambria Math" panose="02040503050406030204" pitchFamily="18" charset="0"/>
                          </a:rPr>
                          <m:t>𝟏</m:t>
                        </m:r>
                        <m:r>
                          <a:rPr lang="en-US" b="1" i="1">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𝟎</m:t>
                        </m:r>
                      </m:e>
                    </m:d>
                    <m:r>
                      <a:rPr lang="en-US" b="1" i="1" smtClean="0">
                        <a:solidFill>
                          <a:srgbClr val="FF0000"/>
                        </a:solidFill>
                        <a:latin typeface="Cambria Math" panose="02040503050406030204" pitchFamily="18" charset="0"/>
                        <a:ea typeface="Cambria Math" panose="02040503050406030204" pitchFamily="18" charset="0"/>
                      </a:rPr>
                      <m:t>.</m:t>
                    </m:r>
                  </m:oMath>
                </a14:m>
                <a:endParaRPr lang="en-US" b="1">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             Vì </a:t>
                </a:r>
                <a14:m>
                  <m:oMath xmlns:m="http://schemas.openxmlformats.org/officeDocument/2006/math">
                    <m:acc>
                      <m:accPr>
                        <m:chr m:val="⃗"/>
                        <m:ctrlPr>
                          <a:rPr lang="en-US" b="1" i="1">
                            <a:latin typeface="Cambria Math" panose="02040503050406030204" pitchFamily="18" charset="0"/>
                          </a:rPr>
                        </m:ctrlPr>
                      </m:accPr>
                      <m:e>
                        <m:r>
                          <a:rPr lang="en-US" b="1" i="1" smtClean="0">
                            <a:latin typeface="Cambria Math" panose="02040503050406030204" pitchFamily="18" charset="0"/>
                          </a:rPr>
                          <m:t>𝒋</m:t>
                        </m:r>
                      </m:e>
                    </m:acc>
                    <m:r>
                      <a:rPr lang="en-US" b="1" i="1">
                        <a:latin typeface="Cambria Math" panose="02040503050406030204" pitchFamily="18" charset="0"/>
                      </a:rPr>
                      <m:t>=</m:t>
                    </m:r>
                    <m:r>
                      <a:rPr lang="en-US" b="1" i="1" smtClean="0">
                        <a:latin typeface="Cambria Math" panose="02040503050406030204" pitchFamily="18" charset="0"/>
                      </a:rPr>
                      <m:t>𝟎</m:t>
                    </m:r>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𝒊</m:t>
                        </m:r>
                      </m:e>
                    </m:acc>
                    <m:r>
                      <a:rPr lang="en-US" b="1" i="1">
                        <a:latin typeface="Cambria Math" panose="02040503050406030204" pitchFamily="18" charset="0"/>
                      </a:rPr>
                      <m:t>+</m:t>
                    </m:r>
                    <m:r>
                      <a:rPr lang="en-US" b="1" i="1" smtClean="0">
                        <a:latin typeface="Cambria Math" panose="02040503050406030204" pitchFamily="18" charset="0"/>
                      </a:rPr>
                      <m:t>𝟏</m:t>
                    </m:r>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𝒋</m:t>
                        </m:r>
                      </m:e>
                    </m:acc>
                  </m:oMath>
                </a14:m>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solidFill>
                          <a:srgbClr val="FF0000"/>
                        </a:solidFill>
                        <a:latin typeface="Cambria Math" panose="02040503050406030204" pitchFamily="18" charset="0"/>
                        <a:ea typeface="Cambria Math" panose="02040503050406030204" pitchFamily="18" charset="0"/>
                        <a:cs typeface="Tahoma" panose="020B0604030504040204" pitchFamily="34" charset="0"/>
                      </a:rPr>
                      <m:t>⟹</m:t>
                    </m:r>
                  </m:oMath>
                </a14:m>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en-US" b="1" i="1" smtClean="0">
                            <a:solidFill>
                              <a:srgbClr val="FF0000"/>
                            </a:solidFill>
                            <a:latin typeface="Cambria Math" panose="02040503050406030204" pitchFamily="18" charset="0"/>
                            <a:ea typeface="Cambria Math" panose="02040503050406030204" pitchFamily="18" charset="0"/>
                          </a:rPr>
                          <m:t>𝒋</m:t>
                        </m:r>
                      </m:e>
                    </m:acc>
                    <m:r>
                      <a:rPr lang="en-US" b="1" i="1">
                        <a:solidFill>
                          <a:srgbClr val="FF0000"/>
                        </a:solidFill>
                        <a:latin typeface="Cambria Math" panose="02040503050406030204" pitchFamily="18" charset="0"/>
                        <a:ea typeface="Cambria Math" panose="02040503050406030204" pitchFamily="18" charset="0"/>
                      </a:rPr>
                      <m:t>=</m:t>
                    </m:r>
                    <m:d>
                      <m:dPr>
                        <m:ctrlPr>
                          <a:rPr lang="en-US" b="1" i="1">
                            <a:solidFill>
                              <a:srgbClr val="FF0000"/>
                            </a:solidFill>
                            <a:latin typeface="Cambria Math" panose="02040503050406030204" pitchFamily="18" charset="0"/>
                            <a:ea typeface="Cambria Math" panose="02040503050406030204" pitchFamily="18" charset="0"/>
                          </a:rPr>
                        </m:ctrlPr>
                      </m:dPr>
                      <m:e>
                        <m:r>
                          <a:rPr lang="en-US" b="1" i="1" smtClean="0">
                            <a:solidFill>
                              <a:srgbClr val="FF0000"/>
                            </a:solidFill>
                            <a:latin typeface="Cambria Math" panose="02040503050406030204" pitchFamily="18" charset="0"/>
                            <a:ea typeface="Cambria Math" panose="02040503050406030204" pitchFamily="18" charset="0"/>
                          </a:rPr>
                          <m:t>𝟎</m:t>
                        </m:r>
                        <m:r>
                          <a:rPr lang="en-US" b="1" i="1">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𝟏</m:t>
                        </m:r>
                      </m:e>
                    </m:d>
                    <m:r>
                      <a:rPr lang="en-US" b="1" i="1">
                        <a:solidFill>
                          <a:srgbClr val="FF0000"/>
                        </a:solidFill>
                        <a:latin typeface="Cambria Math" panose="02040503050406030204" pitchFamily="18" charset="0"/>
                        <a:ea typeface="Cambria Math" panose="02040503050406030204" pitchFamily="18" charset="0"/>
                      </a:rPr>
                      <m:t>.</m:t>
                    </m:r>
                  </m:oMath>
                </a14:m>
                <a:endParaRPr lang="en-US" b="1">
                  <a:latin typeface="Tahoma" panose="020B0604030504040204" pitchFamily="34" charset="0"/>
                  <a:ea typeface="Tahoma" panose="020B0604030504040204" pitchFamily="34" charset="0"/>
                  <a:cs typeface="Tahoma" panose="020B0604030504040204" pitchFamily="34" charset="0"/>
                </a:endParaRPr>
              </a:p>
              <a:p>
                <a:pPr>
                  <a:lnSpc>
                    <a:spcPct val="100000"/>
                  </a:lnSpc>
                  <a:buFont typeface="Wingdings" panose="05000000000000000000" pitchFamily="2" charset="2"/>
                  <a:buChar char="q"/>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Luyện tập 1: </a:t>
                </a:r>
                <a:r>
                  <a:rPr lang="fr-FR" b="1">
                    <a:latin typeface="Tahoma" panose="020B0604030504040204" pitchFamily="34" charset="0"/>
                    <a:ea typeface="Tahoma" panose="020B0604030504040204" pitchFamily="34" charset="0"/>
                    <a:cs typeface="Tahoma" panose="020B0604030504040204" pitchFamily="34" charset="0"/>
                  </a:rPr>
                  <a:t>Tìm tọa độ của vectơ </a:t>
                </a:r>
                <a14:m>
                  <m:oMath xmlns:m="http://schemas.openxmlformats.org/officeDocument/2006/math">
                    <m:acc>
                      <m:accPr>
                        <m:chr m:val="⃗"/>
                        <m:ctrlPr>
                          <a:rPr lang="en-US" b="1" i="1">
                            <a:solidFill>
                              <a:srgbClr val="FF0000"/>
                            </a:solidFill>
                            <a:latin typeface="Cambria Math" panose="02040503050406030204" pitchFamily="18" charset="0"/>
                          </a:rPr>
                        </m:ctrlPr>
                      </m:accPr>
                      <m:e>
                        <m:r>
                          <a:rPr lang="en-US" b="1" i="1">
                            <a:solidFill>
                              <a:srgbClr val="FF0000"/>
                            </a:solidFill>
                            <a:latin typeface="Cambria Math" panose="02040503050406030204" pitchFamily="18" charset="0"/>
                          </a:rPr>
                          <m:t>𝟎</m:t>
                        </m:r>
                      </m:e>
                    </m:acc>
                  </m:oMath>
                </a14:m>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a:t>
                </a:r>
              </a:p>
              <a:p>
                <a:pPr>
                  <a:lnSpc>
                    <a:spcPct val="100000"/>
                  </a:lnSpc>
                  <a:buFont typeface="Wingdings" panose="05000000000000000000" pitchFamily="2" charset="2"/>
                  <a:buChar char="Ø"/>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Giải: </a:t>
                </a:r>
                <a:r>
                  <a:rPr lang="en-US" b="1">
                    <a:latin typeface="Tahoma" panose="020B0604030504040204" pitchFamily="34" charset="0"/>
                    <a:ea typeface="Tahoma" panose="020B0604030504040204" pitchFamily="34" charset="0"/>
                    <a:cs typeface="Tahoma" panose="020B0604030504040204" pitchFamily="34" charset="0"/>
                  </a:rPr>
                  <a:t>Vì</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smtClean="0">
                            <a:latin typeface="Cambria Math" panose="02040503050406030204" pitchFamily="18" charset="0"/>
                          </a:rPr>
                          <m:t>𝟎</m:t>
                        </m:r>
                      </m:e>
                    </m:acc>
                    <m:r>
                      <a:rPr lang="en-US" b="1" i="1">
                        <a:latin typeface="Cambria Math" panose="02040503050406030204" pitchFamily="18" charset="0"/>
                      </a:rPr>
                      <m:t>=</m:t>
                    </m:r>
                    <m:r>
                      <a:rPr lang="en-US" b="1" i="1" smtClean="0">
                        <a:latin typeface="Cambria Math" panose="02040503050406030204" pitchFamily="18" charset="0"/>
                      </a:rPr>
                      <m:t>𝟎</m:t>
                    </m:r>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𝒊</m:t>
                        </m:r>
                      </m:e>
                    </m:acc>
                    <m:r>
                      <a:rPr lang="en-US" b="1" i="1">
                        <a:latin typeface="Cambria Math" panose="02040503050406030204" pitchFamily="18" charset="0"/>
                      </a:rPr>
                      <m:t>+</m:t>
                    </m:r>
                    <m:r>
                      <a:rPr lang="en-US" b="1" i="1">
                        <a:latin typeface="Cambria Math" panose="02040503050406030204" pitchFamily="18" charset="0"/>
                      </a:rPr>
                      <m:t>𝟎</m:t>
                    </m:r>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𝒋</m:t>
                        </m:r>
                      </m:e>
                    </m:acc>
                  </m:oMath>
                </a14:m>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solidFill>
                          <a:srgbClr val="FF0000"/>
                        </a:solidFill>
                        <a:latin typeface="Cambria Math" panose="02040503050406030204" pitchFamily="18" charset="0"/>
                        <a:ea typeface="Cambria Math" panose="02040503050406030204" pitchFamily="18" charset="0"/>
                        <a:cs typeface="Tahoma" panose="020B0604030504040204" pitchFamily="34" charset="0"/>
                      </a:rPr>
                      <m:t>⟹</m:t>
                    </m:r>
                  </m:oMath>
                </a14:m>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smtClean="0">
                            <a:solidFill>
                              <a:srgbClr val="FF0000"/>
                            </a:solidFill>
                            <a:latin typeface="Cambria Math" panose="02040503050406030204" pitchFamily="18" charset="0"/>
                            <a:ea typeface="Cambria Math" panose="02040503050406030204" pitchFamily="18" charset="0"/>
                          </a:rPr>
                          <m:t>𝟎</m:t>
                        </m:r>
                      </m:e>
                    </m:acc>
                    <m:r>
                      <a:rPr lang="en-US" b="1" i="1">
                        <a:solidFill>
                          <a:srgbClr val="FF0000"/>
                        </a:solidFill>
                        <a:latin typeface="Cambria Math" panose="02040503050406030204" pitchFamily="18" charset="0"/>
                        <a:ea typeface="Cambria Math" panose="02040503050406030204" pitchFamily="18" charset="0"/>
                      </a:rPr>
                      <m:t>=</m:t>
                    </m:r>
                    <m:d>
                      <m:dPr>
                        <m:ctrlPr>
                          <a:rPr lang="en-US" b="1" i="1">
                            <a:solidFill>
                              <a:srgbClr val="FF0000"/>
                            </a:solidFill>
                            <a:latin typeface="Cambria Math" panose="02040503050406030204" pitchFamily="18" charset="0"/>
                            <a:ea typeface="Cambria Math" panose="02040503050406030204" pitchFamily="18" charset="0"/>
                          </a:rPr>
                        </m:ctrlPr>
                      </m:dPr>
                      <m:e>
                        <m:r>
                          <a:rPr lang="en-US" b="1" i="1" smtClean="0">
                            <a:solidFill>
                              <a:srgbClr val="FF0000"/>
                            </a:solidFill>
                            <a:latin typeface="Cambria Math" panose="02040503050406030204" pitchFamily="18" charset="0"/>
                            <a:ea typeface="Cambria Math" panose="02040503050406030204" pitchFamily="18" charset="0"/>
                          </a:rPr>
                          <m:t>𝟎</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𝟎</m:t>
                        </m:r>
                      </m:e>
                    </m:d>
                    <m:r>
                      <a:rPr lang="en-US" b="1" i="1">
                        <a:solidFill>
                          <a:srgbClr val="FF0000"/>
                        </a:solidFill>
                        <a:latin typeface="Cambria Math" panose="02040503050406030204" pitchFamily="18" charset="0"/>
                        <a:ea typeface="Cambria Math" panose="02040503050406030204" pitchFamily="18" charset="0"/>
                      </a:rPr>
                      <m:t>.</m:t>
                    </m:r>
                  </m:oMath>
                </a14:m>
                <a:endParaRPr lang="en-US" b="1">
                  <a:solidFill>
                    <a:srgbClr val="FF0000"/>
                  </a:solidFill>
                  <a:latin typeface="Tahoma" panose="020B0604030504040204" pitchFamily="34" charset="0"/>
                  <a:ea typeface="Tahoma" panose="020B0604030504040204" pitchFamily="34" charset="0"/>
                  <a:cs typeface="Tahoma" panose="020B0604030504040204" pitchFamily="34" charset="0"/>
                </a:endParaRPr>
              </a:p>
              <a:p>
                <a:pPr>
                  <a:lnSpc>
                    <a:spcPct val="100000"/>
                  </a:lnSpc>
                  <a:buFont typeface="Wingdings" panose="05000000000000000000" pitchFamily="2" charset="2"/>
                  <a:buChar char="§"/>
                </a:pPr>
                <a:endParaRPr lang="en-US"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7" name="Content Placeholder 2">
                <a:extLst>
                  <a:ext uri="{FF2B5EF4-FFF2-40B4-BE49-F238E27FC236}">
                    <a16:creationId xmlns:a16="http://schemas.microsoft.com/office/drawing/2014/main" id="{4EF7CB57-4DD6-4D84-89BE-12EF7D2780CD}"/>
                  </a:ext>
                </a:extLst>
              </p:cNvPr>
              <p:cNvSpPr txBox="1">
                <a:spLocks noRot="1" noChangeAspect="1" noMove="1" noResize="1" noEditPoints="1" noAdjustHandles="1" noChangeArrowheads="1" noChangeShapeType="1" noTextEdit="1"/>
              </p:cNvSpPr>
              <p:nvPr/>
            </p:nvSpPr>
            <p:spPr>
              <a:xfrm>
                <a:off x="304800" y="2667000"/>
                <a:ext cx="23698200" cy="10668000"/>
              </a:xfrm>
              <a:prstGeom prst="rect">
                <a:avLst/>
              </a:prstGeom>
              <a:blipFill>
                <a:blip r:embed="rId3"/>
                <a:stretch>
                  <a:fillRect l="-1131" t="-913" r="-463" b="-1941"/>
                </a:stretch>
              </a:blipFill>
              <a:ln>
                <a:solidFill>
                  <a:srgbClr val="00B0F0"/>
                </a:solidFill>
              </a:ln>
            </p:spPr>
            <p:txBody>
              <a:bodyPr/>
              <a:lstStyle/>
              <a:p>
                <a:r>
                  <a:rPr lang="en-US">
                    <a:noFill/>
                  </a:rPr>
                  <a:t> </a:t>
                </a:r>
              </a:p>
            </p:txBody>
          </p:sp>
        </mc:Fallback>
      </mc:AlternateContent>
      <p:sp>
        <p:nvSpPr>
          <p:cNvPr id="2" name="Rectangle 1">
            <a:extLst>
              <a:ext uri="{FF2B5EF4-FFF2-40B4-BE49-F238E27FC236}">
                <a16:creationId xmlns:a16="http://schemas.microsoft.com/office/drawing/2014/main" id="{EB99E754-E67F-4582-8140-37B6B7B8C1B0}"/>
              </a:ext>
            </a:extLst>
          </p:cNvPr>
          <p:cNvSpPr/>
          <p:nvPr/>
        </p:nvSpPr>
        <p:spPr>
          <a:xfrm>
            <a:off x="8039100" y="6477000"/>
            <a:ext cx="8362950" cy="1695450"/>
          </a:xfrm>
          <a:prstGeom prst="rect">
            <a:avLst/>
          </a:prstGeom>
          <a:noFill/>
          <a:ln w="25400">
            <a:solidFill>
              <a:srgbClr val="3333FF"/>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1D929518-B2B0-4F61-A098-1D80B3203C25}"/>
              </a:ext>
            </a:extLst>
          </p:cNvPr>
          <p:cNvSpPr txBox="1">
            <a:spLocks/>
          </p:cNvSpPr>
          <p:nvPr/>
        </p:nvSpPr>
        <p:spPr>
          <a:xfrm>
            <a:off x="361950" y="1790700"/>
            <a:ext cx="7162800" cy="8382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sz="4800" b="1">
                <a:latin typeface="Tahoma" panose="020B0604030504040204" pitchFamily="34" charset="0"/>
                <a:ea typeface="Tahoma" panose="020B0604030504040204" pitchFamily="34" charset="0"/>
                <a:cs typeface="Tahoma" panose="020B0604030504040204" pitchFamily="34" charset="0"/>
              </a:rPr>
              <a:t>1. T</a:t>
            </a:r>
            <a:r>
              <a:rPr lang="en-US" sz="4800" b="1">
                <a:latin typeface="Tahoma" panose="020B0604030504040204" pitchFamily="34" charset="0"/>
                <a:ea typeface="Tahoma" panose="020B0604030504040204" pitchFamily="34" charset="0"/>
                <a:cs typeface="Tahoma" panose="020B0604030504040204" pitchFamily="34" charset="0"/>
              </a:rPr>
              <a:t>ỌA</a:t>
            </a:r>
            <a:r>
              <a:rPr lang="vi-VN" sz="4800" b="1">
                <a:latin typeface="Tahoma" panose="020B0604030504040204" pitchFamily="34" charset="0"/>
                <a:ea typeface="Tahoma" panose="020B0604030504040204" pitchFamily="34" charset="0"/>
                <a:cs typeface="Tahoma" panose="020B0604030504040204" pitchFamily="34" charset="0"/>
              </a:rPr>
              <a:t> ĐỘ CỦA VECTƠ</a:t>
            </a:r>
          </a:p>
        </p:txBody>
      </p:sp>
      <p:pic>
        <p:nvPicPr>
          <p:cNvPr id="6" name="Picture 5" descr="Shape, arrow&#10;&#10;Description automatically generated">
            <a:extLst>
              <a:ext uri="{FF2B5EF4-FFF2-40B4-BE49-F238E27FC236}">
                <a16:creationId xmlns:a16="http://schemas.microsoft.com/office/drawing/2014/main" id="{BFE3BE04-753A-45C7-96A1-427DB291C0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503824" y="8915400"/>
            <a:ext cx="4127576" cy="4409202"/>
          </a:xfrm>
          <a:prstGeom prst="rect">
            <a:avLst/>
          </a:prstGeom>
        </p:spPr>
      </p:pic>
      <p:sp>
        <p:nvSpPr>
          <p:cNvPr id="87" name="Rounded Rectangle 8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91" name="TextBox 9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5571148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000"/>
                                        <p:tgtEl>
                                          <p:spTgt spid="7">
                                            <p:txEl>
                                              <p:pRg st="0" end="0"/>
                                            </p:txEl>
                                          </p:spTgt>
                                        </p:tgtEl>
                                      </p:cBhvr>
                                    </p:animEffect>
                                    <p:anim calcmode="lin" valueType="num">
                                      <p:cBhvr>
                                        <p:cTn id="20"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1000"/>
                                        <p:tgtEl>
                                          <p:spTgt spid="7">
                                            <p:txEl>
                                              <p:pRg st="1" end="1"/>
                                            </p:txEl>
                                          </p:spTgt>
                                        </p:tgtEl>
                                      </p:cBhvr>
                                    </p:animEffect>
                                    <p:anim calcmode="lin" valueType="num">
                                      <p:cBhvr>
                                        <p:cTn id="2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animEffect transition="in" filter="fade">
                                      <p:cBhvr>
                                        <p:cTn id="29" dur="1000"/>
                                        <p:tgtEl>
                                          <p:spTgt spid="7">
                                            <p:txEl>
                                              <p:pRg st="2" end="2"/>
                                            </p:txEl>
                                          </p:spTgt>
                                        </p:tgtEl>
                                      </p:cBhvr>
                                    </p:animEffect>
                                    <p:anim calcmode="lin" valueType="num">
                                      <p:cBhvr>
                                        <p:cTn id="3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7">
                                            <p:txEl>
                                              <p:pRg st="3" end="3"/>
                                            </p:txEl>
                                          </p:spTgt>
                                        </p:tgtEl>
                                        <p:attrNameLst>
                                          <p:attrName>style.visibility</p:attrName>
                                        </p:attrNameLst>
                                      </p:cBhvr>
                                      <p:to>
                                        <p:strVal val="visible"/>
                                      </p:to>
                                    </p:set>
                                    <p:animEffect transition="in" filter="fade">
                                      <p:cBhvr>
                                        <p:cTn id="36" dur="1000"/>
                                        <p:tgtEl>
                                          <p:spTgt spid="7">
                                            <p:txEl>
                                              <p:pRg st="3" end="3"/>
                                            </p:txEl>
                                          </p:spTgt>
                                        </p:tgtEl>
                                      </p:cBhvr>
                                    </p:animEffect>
                                    <p:anim calcmode="lin" valueType="num">
                                      <p:cBhvr>
                                        <p:cTn id="37"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1000"/>
                                        <p:tgtEl>
                                          <p:spTgt spid="2"/>
                                        </p:tgtEl>
                                      </p:cBhvr>
                                    </p:animEffect>
                                    <p:anim calcmode="lin" valueType="num">
                                      <p:cBhvr>
                                        <p:cTn id="44" dur="1000" fill="hold"/>
                                        <p:tgtEl>
                                          <p:spTgt spid="2"/>
                                        </p:tgtEl>
                                        <p:attrNameLst>
                                          <p:attrName>ppt_x</p:attrName>
                                        </p:attrNameLst>
                                      </p:cBhvr>
                                      <p:tavLst>
                                        <p:tav tm="0">
                                          <p:val>
                                            <p:strVal val="#ppt_x"/>
                                          </p:val>
                                        </p:tav>
                                        <p:tav tm="100000">
                                          <p:val>
                                            <p:strVal val="#ppt_x"/>
                                          </p:val>
                                        </p:tav>
                                      </p:tavLst>
                                    </p:anim>
                                    <p:anim calcmode="lin" valueType="num">
                                      <p:cBhvr>
                                        <p:cTn id="45" dur="1000" fill="hold"/>
                                        <p:tgtEl>
                                          <p:spTgt spid="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7">
                                            <p:txEl>
                                              <p:pRg st="4" end="4"/>
                                            </p:txEl>
                                          </p:spTgt>
                                        </p:tgtEl>
                                        <p:attrNameLst>
                                          <p:attrName>style.visibility</p:attrName>
                                        </p:attrNameLst>
                                      </p:cBhvr>
                                      <p:to>
                                        <p:strVal val="visible"/>
                                      </p:to>
                                    </p:set>
                                    <p:animEffect transition="in" filter="fade">
                                      <p:cBhvr>
                                        <p:cTn id="48" dur="1000"/>
                                        <p:tgtEl>
                                          <p:spTgt spid="7">
                                            <p:txEl>
                                              <p:pRg st="4" end="4"/>
                                            </p:txEl>
                                          </p:spTgt>
                                        </p:tgtEl>
                                      </p:cBhvr>
                                    </p:animEffect>
                                    <p:anim calcmode="lin" valueType="num">
                                      <p:cBhvr>
                                        <p:cTn id="4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50"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7">
                                            <p:txEl>
                                              <p:pRg st="5" end="5"/>
                                            </p:txEl>
                                          </p:spTgt>
                                        </p:tgtEl>
                                        <p:attrNameLst>
                                          <p:attrName>style.visibility</p:attrName>
                                        </p:attrNameLst>
                                      </p:cBhvr>
                                      <p:to>
                                        <p:strVal val="visible"/>
                                      </p:to>
                                    </p:set>
                                    <p:animEffect transition="in" filter="fade">
                                      <p:cBhvr>
                                        <p:cTn id="55" dur="1000"/>
                                        <p:tgtEl>
                                          <p:spTgt spid="7">
                                            <p:txEl>
                                              <p:pRg st="5" end="5"/>
                                            </p:txEl>
                                          </p:spTgt>
                                        </p:tgtEl>
                                      </p:cBhvr>
                                    </p:animEffect>
                                    <p:anim calcmode="lin" valueType="num">
                                      <p:cBhvr>
                                        <p:cTn id="56"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7"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7">
                                            <p:txEl>
                                              <p:pRg st="6" end="6"/>
                                            </p:txEl>
                                          </p:spTgt>
                                        </p:tgtEl>
                                        <p:attrNameLst>
                                          <p:attrName>style.visibility</p:attrName>
                                        </p:attrNameLst>
                                      </p:cBhvr>
                                      <p:to>
                                        <p:strVal val="visible"/>
                                      </p:to>
                                    </p:set>
                                    <p:animEffect transition="in" filter="fade">
                                      <p:cBhvr>
                                        <p:cTn id="62" dur="1000"/>
                                        <p:tgtEl>
                                          <p:spTgt spid="7">
                                            <p:txEl>
                                              <p:pRg st="6" end="6"/>
                                            </p:txEl>
                                          </p:spTgt>
                                        </p:tgtEl>
                                      </p:cBhvr>
                                    </p:animEffect>
                                    <p:anim calcmode="lin" valueType="num">
                                      <p:cBhvr>
                                        <p:cTn id="63"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64"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7">
                                            <p:txEl>
                                              <p:pRg st="7" end="7"/>
                                            </p:txEl>
                                          </p:spTgt>
                                        </p:tgtEl>
                                        <p:attrNameLst>
                                          <p:attrName>style.visibility</p:attrName>
                                        </p:attrNameLst>
                                      </p:cBhvr>
                                      <p:to>
                                        <p:strVal val="visible"/>
                                      </p:to>
                                    </p:set>
                                    <p:animEffect transition="in" filter="fade">
                                      <p:cBhvr>
                                        <p:cTn id="69" dur="1000"/>
                                        <p:tgtEl>
                                          <p:spTgt spid="7">
                                            <p:txEl>
                                              <p:pRg st="7" end="7"/>
                                            </p:txEl>
                                          </p:spTgt>
                                        </p:tgtEl>
                                      </p:cBhvr>
                                    </p:animEffect>
                                    <p:anim calcmode="lin" valueType="num">
                                      <p:cBhvr>
                                        <p:cTn id="7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71"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7">
                                            <p:txEl>
                                              <p:pRg st="8" end="8"/>
                                            </p:txEl>
                                          </p:spTgt>
                                        </p:tgtEl>
                                        <p:attrNameLst>
                                          <p:attrName>style.visibility</p:attrName>
                                        </p:attrNameLst>
                                      </p:cBhvr>
                                      <p:to>
                                        <p:strVal val="visible"/>
                                      </p:to>
                                    </p:set>
                                    <p:animEffect transition="in" filter="fade">
                                      <p:cBhvr>
                                        <p:cTn id="76" dur="1000"/>
                                        <p:tgtEl>
                                          <p:spTgt spid="7">
                                            <p:txEl>
                                              <p:pRg st="8" end="8"/>
                                            </p:txEl>
                                          </p:spTgt>
                                        </p:tgtEl>
                                      </p:cBhvr>
                                    </p:animEffect>
                                    <p:anim calcmode="lin" valueType="num">
                                      <p:cBhvr>
                                        <p:cTn id="77"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8"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7">
                                            <p:txEl>
                                              <p:pRg st="9" end="9"/>
                                            </p:txEl>
                                          </p:spTgt>
                                        </p:tgtEl>
                                        <p:attrNameLst>
                                          <p:attrName>style.visibility</p:attrName>
                                        </p:attrNameLst>
                                      </p:cBhvr>
                                      <p:to>
                                        <p:strVal val="visible"/>
                                      </p:to>
                                    </p:set>
                                    <p:animEffect transition="in" filter="fade">
                                      <p:cBhvr>
                                        <p:cTn id="83" dur="1000"/>
                                        <p:tgtEl>
                                          <p:spTgt spid="7">
                                            <p:txEl>
                                              <p:pRg st="9" end="9"/>
                                            </p:txEl>
                                          </p:spTgt>
                                        </p:tgtEl>
                                      </p:cBhvr>
                                    </p:animEffect>
                                    <p:anim calcmode="lin" valueType="num">
                                      <p:cBhvr>
                                        <p:cTn id="84"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85"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38328" y="2609850"/>
                <a:ext cx="23740872" cy="10896600"/>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buClr>
                    <a:srgbClr val="FF0000"/>
                  </a:buClr>
                  <a:buFont typeface="Wingdings" panose="05000000000000000000" pitchFamily="2" charset="2"/>
                  <a:buChar char="q"/>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HĐ3: </a:t>
                </a:r>
                <a:r>
                  <a:rPr lang="en-US" b="1">
                    <a:latin typeface="Tahoma" panose="020B0604030504040204" pitchFamily="34" charset="0"/>
                    <a:ea typeface="Tahoma" panose="020B0604030504040204" pitchFamily="34" charset="0"/>
                    <a:cs typeface="Tahoma" panose="020B0604030504040204" pitchFamily="34" charset="0"/>
                  </a:rPr>
                  <a:t>Trong mặt phẳng tọa độ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a:latin typeface="Tahoma" panose="020B0604030504040204" pitchFamily="34" charset="0"/>
                    <a:ea typeface="Tahoma" panose="020B0604030504040204" pitchFamily="34" charset="0"/>
                    <a:cs typeface="Tahoma" panose="020B0604030504040204" pitchFamily="34" charset="0"/>
                  </a:rPr>
                  <a:t>, cho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𝟒</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𝒂</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𝟖</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𝟏𝟐</m:t>
                        </m:r>
                      </m:e>
                    </m:d>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a) Hãy biểu thị mỗi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𝒂</m:t>
                        </m:r>
                      </m:e>
                    </m:acc>
                  </m:oMath>
                </a14:m>
                <a:r>
                  <a:rPr lang="en-US" b="1">
                    <a:latin typeface="Tahoma" panose="020B0604030504040204" pitchFamily="34" charset="0"/>
                    <a:ea typeface="Tahoma" panose="020B0604030504040204" pitchFamily="34" charset="0"/>
                    <a:cs typeface="Tahoma" panose="020B0604030504040204" pitchFamily="34" charset="0"/>
                  </a:rPr>
                  <a:t> theo các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b) Tìm tọa độ của các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𝟒</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c) Tìm mối liên hệ giữa hai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𝒂</m:t>
                        </m:r>
                      </m:e>
                    </m:acc>
                  </m:oMath>
                </a14:m>
                <a:r>
                  <a:rPr lang="en-US" b="1">
                    <a:latin typeface="Tahoma" panose="020B0604030504040204" pitchFamily="34" charset="0"/>
                    <a:ea typeface="Tahoma" panose="020B0604030504040204" pitchFamily="34" charset="0"/>
                    <a:cs typeface="Tahoma" panose="020B0604030504040204" pitchFamily="34" charset="0"/>
                  </a:rPr>
                  <a:t>.</a:t>
                </a:r>
              </a:p>
              <a:p>
                <a:pPr>
                  <a:lnSpc>
                    <a:spcPct val="100000"/>
                  </a:lnSpc>
                  <a:buClr>
                    <a:srgbClr val="FF0000"/>
                  </a:buClr>
                  <a:buFont typeface="Wingdings" panose="05000000000000000000" pitchFamily="2" charset="2"/>
                  <a:buChar char="Ø"/>
                </a:pPr>
                <a:r>
                  <a:rPr lang="en-US" b="1">
                    <a:latin typeface="Tahoma" panose="020B0604030504040204" pitchFamily="34" charset="0"/>
                    <a:ea typeface="Tahoma" panose="020B0604030504040204" pitchFamily="34" charset="0"/>
                    <a:cs typeface="Tahoma" panose="020B0604030504040204" pitchFamily="34" charset="0"/>
                  </a:rPr>
                  <a:t> </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Hướng dẫn:</a:t>
                </a:r>
              </a:p>
              <a:p>
                <a:pPr marL="0" indent="0">
                  <a:lnSpc>
                    <a:spcPct val="100000"/>
                  </a:lnSpc>
                  <a:buClr>
                    <a:srgbClr val="FF0000"/>
                  </a:buClr>
                  <a:buNone/>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cs typeface="Tahoma" panose="020B0604030504040204" pitchFamily="34" charset="0"/>
                      </a:rPr>
                      <m:t>⟹</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 ;</a:t>
                </a:r>
              </a:p>
              <a:p>
                <a:pPr marL="0" indent="0">
                  <a:lnSpc>
                    <a:spcPct val="100000"/>
                  </a:lnSpc>
                  <a:buClr>
                    <a:srgbClr val="FF0000"/>
                  </a:buClr>
                  <a:buNone/>
                </a:pP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𝟒</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cs typeface="Tahoma" panose="020B0604030504040204" pitchFamily="34" charset="0"/>
                      </a:rPr>
                      <m:t>⟹</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 ; </a:t>
                </a:r>
              </a:p>
              <a:p>
                <a:pPr marL="0" indent="0">
                  <a:lnSpc>
                    <a:spcPct val="100000"/>
                  </a:lnSpc>
                  <a:buClr>
                    <a:srgbClr val="FF0000"/>
                  </a:buClr>
                  <a:buNone/>
                </a:pP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𝒂</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𝟖</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𝟏𝟐</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cs typeface="Tahoma" panose="020B0604030504040204" pitchFamily="34" charset="0"/>
                      </a:rPr>
                      <m:t>⟹</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𝒂</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𝟖</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𝟏𝟐</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Clr>
                    <a:srgbClr val="FF0000"/>
                  </a:buClr>
                  <a:buNone/>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b)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e>
                    </m:d>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m:t>
                        </m:r>
                      </m:e>
                    </m:d>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𝟔</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mbria Math" panose="02040503050406030204" pitchFamily="18" charset="0"/>
                        <a:cs typeface="Tahoma" panose="020B0604030504040204" pitchFamily="34" charset="0"/>
                      </a:rPr>
                      <m:t>⟹</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e>
                    </m:acc>
                    <m:r>
                      <a:rPr lang="en-US" b="1" i="0" smtClean="0">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𝟔</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e>
                    </m:d>
                  </m:oMath>
                </a14:m>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𝟒</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e>
                    </m:d>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𝟖</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𝟏𝟐</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cs typeface="Tahoma" panose="020B0604030504040204" pitchFamily="34" charset="0"/>
                      </a:rPr>
                      <m:t>⟹</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𝟒</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0" smtClean="0">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𝟖</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𝟏𝟐</m:t>
                        </m:r>
                      </m:e>
                    </m:d>
                  </m:oMath>
                </a14:m>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c)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cs typeface="Tahoma" panose="020B0604030504040204" pitchFamily="34"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𝒂</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𝟖</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𝟏𝟐</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cs typeface="Tahoma" panose="020B0604030504040204" pitchFamily="34"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𝒂</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𝟖</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𝟏𝟐</m:t>
                    </m:r>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 . Suy ra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𝒂</m:t>
                        </m:r>
                      </m:e>
                    </m:acc>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oMath>
                </a14:m>
                <a:endParaRPr lang="en-US"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38328" y="2609850"/>
                <a:ext cx="23740872" cy="10896600"/>
              </a:xfrm>
              <a:prstGeom prst="rect">
                <a:avLst/>
              </a:prstGeom>
              <a:blipFill>
                <a:blip r:embed="rId3"/>
                <a:stretch>
                  <a:fillRect l="-1155" t="-838" b="-1285"/>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4F678983-6671-4872-8ED4-6C118901FA2D}"/>
                  </a:ext>
                </a:extLst>
              </p:cNvPr>
              <p:cNvSpPr/>
              <p:nvPr/>
            </p:nvSpPr>
            <p:spPr>
              <a:xfrm>
                <a:off x="4953000" y="6553200"/>
                <a:ext cx="8229600" cy="863891"/>
              </a:xfrm>
              <a:prstGeom prst="rect">
                <a:avLst/>
              </a:prstGeom>
              <a:noFill/>
              <a:ln w="9525" cap="flat" cmpd="sng" algn="ctr">
                <a:solidFill>
                  <a:srgbClr val="3333FF"/>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a:lnSpc>
                    <a:spcPct val="114000"/>
                  </a:lnSpc>
                </a:pPr>
                <a14:m>
                  <m:oMath xmlns:m="http://schemas.openxmlformats.org/officeDocument/2006/math">
                    <m:acc>
                      <m:accPr>
                        <m:chr m:val="⃗"/>
                        <m:ctrlPr>
                          <a:rPr lang="en-US" sz="4800" b="1" i="1" smtClean="0">
                            <a:solidFill>
                              <a:srgbClr val="FF0000"/>
                            </a:solidFill>
                            <a:effectLst/>
                            <a:latin typeface="Cambria Math" panose="02040503050406030204" pitchFamily="18" charset="0"/>
                            <a:ea typeface="Cambria Math" panose="02040503050406030204" pitchFamily="18" charset="0"/>
                          </a:rPr>
                        </m:ctrlPr>
                      </m:accPr>
                      <m:e>
                        <m:r>
                          <a:rPr lang="vi-VN" sz="48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𝒖</m:t>
                        </m:r>
                      </m:e>
                    </m:acc>
                    <m:r>
                      <a:rPr lang="vi-VN" sz="48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4800" b="1" i="1">
                            <a:solidFill>
                              <a:srgbClr val="FF0000"/>
                            </a:solidFill>
                            <a:effectLst/>
                            <a:latin typeface="Cambria Math" panose="02040503050406030204" pitchFamily="18" charset="0"/>
                            <a:ea typeface="Cambria Math" panose="02040503050406030204" pitchFamily="18" charset="0"/>
                          </a:rPr>
                        </m:ctrlPr>
                      </m:sSubPr>
                      <m:e>
                        <m:r>
                          <a:rPr lang="vi-VN" sz="48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𝒙</m:t>
                        </m:r>
                      </m:e>
                      <m:sub>
                        <m:r>
                          <a:rPr lang="en-US" sz="48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𝟎</m:t>
                        </m:r>
                      </m:sub>
                    </m:sSub>
                    <m:acc>
                      <m:accPr>
                        <m:chr m:val="⃗"/>
                        <m:ctrlPr>
                          <a:rPr lang="en-US" sz="4800" b="1" i="1">
                            <a:solidFill>
                              <a:srgbClr val="FF0000"/>
                            </a:solidFill>
                            <a:effectLst/>
                            <a:latin typeface="Cambria Math" panose="02040503050406030204" pitchFamily="18" charset="0"/>
                            <a:ea typeface="Cambria Math" panose="02040503050406030204" pitchFamily="18" charset="0"/>
                          </a:rPr>
                        </m:ctrlPr>
                      </m:accPr>
                      <m:e>
                        <m:r>
                          <a:rPr lang="vi-VN" sz="48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𝒊</m:t>
                        </m:r>
                      </m:e>
                    </m:acc>
                    <m:r>
                      <a:rPr lang="vi-VN" sz="48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4800" b="1" i="1">
                            <a:solidFill>
                              <a:srgbClr val="FF0000"/>
                            </a:solidFill>
                            <a:effectLst/>
                            <a:latin typeface="Cambria Math" panose="02040503050406030204" pitchFamily="18" charset="0"/>
                            <a:ea typeface="Cambria Math" panose="02040503050406030204" pitchFamily="18" charset="0"/>
                          </a:rPr>
                        </m:ctrlPr>
                      </m:sSubPr>
                      <m:e>
                        <m:r>
                          <a:rPr lang="vi-VN" sz="48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𝒚</m:t>
                        </m:r>
                      </m:e>
                      <m:sub>
                        <m:r>
                          <a:rPr lang="en-US" sz="48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𝟎</m:t>
                        </m:r>
                      </m:sub>
                    </m:sSub>
                    <m:acc>
                      <m:accPr>
                        <m:chr m:val="⃗"/>
                        <m:ctrlPr>
                          <a:rPr lang="en-US" sz="4800" b="1" i="1">
                            <a:solidFill>
                              <a:srgbClr val="FF0000"/>
                            </a:solidFill>
                            <a:effectLst/>
                            <a:latin typeface="Cambria Math" panose="02040503050406030204" pitchFamily="18" charset="0"/>
                            <a:ea typeface="Cambria Math" panose="02040503050406030204" pitchFamily="18" charset="0"/>
                          </a:rPr>
                        </m:ctrlPr>
                      </m:accPr>
                      <m:e>
                        <m:r>
                          <a:rPr lang="en-US" sz="4800" b="1" i="1" smtClean="0">
                            <a:solidFill>
                              <a:srgbClr val="FF0000"/>
                            </a:solidFill>
                            <a:effectLst/>
                            <a:latin typeface="Cambria Math" panose="02040503050406030204" pitchFamily="18" charset="0"/>
                            <a:ea typeface="Cambria Math" panose="02040503050406030204" pitchFamily="18" charset="0"/>
                          </a:rPr>
                          <m:t>𝒋</m:t>
                        </m:r>
                      </m:e>
                    </m:acc>
                  </m:oMath>
                </a14:m>
                <a:r>
                  <a:rPr lang="en-US" sz="4800" b="1">
                    <a:solidFill>
                      <a:srgbClr val="FF0000"/>
                    </a:solidFill>
                    <a:latin typeface="Cambria Math" panose="02040503050406030204" pitchFamily="18" charset="0"/>
                    <a:ea typeface="Cambria Math" panose="02040503050406030204" pitchFamily="18" charset="0"/>
                  </a:rPr>
                  <a:t> </a:t>
                </a:r>
                <a14:m>
                  <m:oMath xmlns:m="http://schemas.openxmlformats.org/officeDocument/2006/math">
                    <m:r>
                      <a:rPr lang="en-US" sz="4800" b="1" i="1" smtClean="0">
                        <a:solidFill>
                          <a:srgbClr val="FF0000"/>
                        </a:solidFill>
                        <a:effectLst/>
                        <a:latin typeface="Cambria Math" panose="02040503050406030204" pitchFamily="18" charset="0"/>
                        <a:ea typeface="Cambria Math" panose="02040503050406030204" pitchFamily="18" charset="0"/>
                      </a:rPr>
                      <m:t>⇔</m:t>
                    </m:r>
                    <m:acc>
                      <m:accPr>
                        <m:chr m:val="⃗"/>
                        <m:ctrlPr>
                          <a:rPr lang="en-US" sz="4800" b="1" i="1">
                            <a:solidFill>
                              <a:srgbClr val="FF0000"/>
                            </a:solidFill>
                            <a:effectLst/>
                            <a:latin typeface="Cambria Math" panose="02040503050406030204" pitchFamily="18" charset="0"/>
                            <a:ea typeface="Cambria Math" panose="02040503050406030204" pitchFamily="18" charset="0"/>
                          </a:rPr>
                        </m:ctrlPr>
                      </m:accPr>
                      <m:e>
                        <m:r>
                          <a:rPr lang="vi-VN" sz="48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𝒖</m:t>
                        </m:r>
                      </m:e>
                    </m:acc>
                    <m:r>
                      <a:rPr lang="vi-VN" sz="48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d>
                      <m:dPr>
                        <m:ctrlPr>
                          <a:rPr lang="en-US" sz="4800" b="1" i="1">
                            <a:solidFill>
                              <a:srgbClr val="FF0000"/>
                            </a:solidFill>
                            <a:effectLst/>
                            <a:latin typeface="Cambria Math" panose="02040503050406030204" pitchFamily="18" charset="0"/>
                            <a:ea typeface="Cambria Math" panose="02040503050406030204" pitchFamily="18" charset="0"/>
                          </a:rPr>
                        </m:ctrlPr>
                      </m:dPr>
                      <m:e>
                        <m:sSub>
                          <m:sSubPr>
                            <m:ctrlPr>
                              <a:rPr lang="en-US" sz="4800" b="1" i="1">
                                <a:solidFill>
                                  <a:srgbClr val="FF0000"/>
                                </a:solidFill>
                                <a:effectLst/>
                                <a:latin typeface="Cambria Math" panose="02040503050406030204" pitchFamily="18" charset="0"/>
                                <a:ea typeface="Cambria Math" panose="02040503050406030204" pitchFamily="18" charset="0"/>
                              </a:rPr>
                            </m:ctrlPr>
                          </m:sSubPr>
                          <m:e>
                            <m:r>
                              <a:rPr lang="vi-VN" sz="48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𝒙</m:t>
                            </m:r>
                          </m:e>
                          <m:sub>
                            <m:r>
                              <a:rPr lang="en-US" sz="48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𝟎</m:t>
                            </m:r>
                          </m:sub>
                        </m:sSub>
                        <m:r>
                          <a:rPr lang="vi-VN" sz="4800" b="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4800" b="1" i="1">
                                <a:solidFill>
                                  <a:srgbClr val="FF0000"/>
                                </a:solidFill>
                                <a:effectLst/>
                                <a:latin typeface="Cambria Math" panose="02040503050406030204" pitchFamily="18" charset="0"/>
                                <a:ea typeface="Cambria Math" panose="02040503050406030204" pitchFamily="18" charset="0"/>
                              </a:rPr>
                            </m:ctrlPr>
                          </m:sSubPr>
                          <m:e>
                            <m:r>
                              <a:rPr lang="vi-VN" sz="48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𝒚</m:t>
                            </m:r>
                          </m:e>
                          <m:sub>
                            <m:r>
                              <a:rPr lang="en-US" sz="48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𝟎</m:t>
                            </m:r>
                          </m:sub>
                        </m:sSub>
                      </m:e>
                    </m:d>
                  </m:oMath>
                </a14:m>
                <a:endParaRPr lang="en-US" sz="4800" b="1">
                  <a:solidFill>
                    <a:srgbClr val="FF0000"/>
                  </a:solidFill>
                  <a:latin typeface="Cambria Math" panose="02040503050406030204" pitchFamily="18" charset="0"/>
                  <a:ea typeface="Cambria Math" panose="02040503050406030204" pitchFamily="18" charset="0"/>
                </a:endParaRPr>
              </a:p>
            </p:txBody>
          </p:sp>
        </mc:Choice>
        <mc:Fallback xmlns="">
          <p:sp>
            <p:nvSpPr>
              <p:cNvPr id="9" name="Rectangle 8">
                <a:extLst>
                  <a:ext uri="{FF2B5EF4-FFF2-40B4-BE49-F238E27FC236}">
                    <a16:creationId xmlns:a16="http://schemas.microsoft.com/office/drawing/2014/main" id="{4F678983-6671-4872-8ED4-6C118901FA2D}"/>
                  </a:ext>
                </a:extLst>
              </p:cNvPr>
              <p:cNvSpPr>
                <a:spLocks noRot="1" noChangeAspect="1" noMove="1" noResize="1" noEditPoints="1" noAdjustHandles="1" noChangeArrowheads="1" noChangeShapeType="1" noTextEdit="1"/>
              </p:cNvSpPr>
              <p:nvPr/>
            </p:nvSpPr>
            <p:spPr>
              <a:xfrm>
                <a:off x="4953000" y="6553200"/>
                <a:ext cx="8229600" cy="863891"/>
              </a:xfrm>
              <a:prstGeom prst="rect">
                <a:avLst/>
              </a:prstGeom>
              <a:blipFill>
                <a:blip r:embed="rId4"/>
                <a:stretch>
                  <a:fillRect/>
                </a:stretch>
              </a:blipFill>
              <a:ln w="9525" cap="flat" cmpd="sng" algn="ctr">
                <a:solidFill>
                  <a:srgbClr val="3333FF"/>
                </a:solidFill>
                <a:prstDash val="solid"/>
                <a:round/>
                <a:headEnd type="none" w="med" len="med"/>
                <a:tailEnd type="none" w="med" len="med"/>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536177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1000"/>
                                        <p:tgtEl>
                                          <p:spTgt spid="97"/>
                                        </p:tgtEl>
                                      </p:cBhvr>
                                    </p:animEffect>
                                    <p:anim calcmode="lin" valueType="num">
                                      <p:cBhvr>
                                        <p:cTn id="8" dur="1000" fill="hold"/>
                                        <p:tgtEl>
                                          <p:spTgt spid="97"/>
                                        </p:tgtEl>
                                        <p:attrNameLst>
                                          <p:attrName>ppt_x</p:attrName>
                                        </p:attrNameLst>
                                      </p:cBhvr>
                                      <p:tavLst>
                                        <p:tav tm="0">
                                          <p:val>
                                            <p:strVal val="#ppt_x"/>
                                          </p:val>
                                        </p:tav>
                                        <p:tav tm="100000">
                                          <p:val>
                                            <p:strVal val="#ppt_x"/>
                                          </p:val>
                                        </p:tav>
                                      </p:tavLst>
                                    </p:anim>
                                    <p:anim calcmode="lin" valueType="num">
                                      <p:cBhvr>
                                        <p:cTn id="9" dur="1000" fill="hold"/>
                                        <p:tgtEl>
                                          <p:spTgt spid="9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9"/>
                                        </p:tgtEl>
                                        <p:attrNameLst>
                                          <p:attrName>style.visibility</p:attrName>
                                        </p:attrNameLst>
                                      </p:cBhvr>
                                      <p:to>
                                        <p:strVal val="visible"/>
                                      </p:to>
                                    </p:set>
                                    <p:animEffect transition="in" filter="fade">
                                      <p:cBhvr>
                                        <p:cTn id="13" dur="1000"/>
                                        <p:tgtEl>
                                          <p:spTgt spid="99"/>
                                        </p:tgtEl>
                                      </p:cBhvr>
                                    </p:animEffect>
                                    <p:anim calcmode="lin" valueType="num">
                                      <p:cBhvr>
                                        <p:cTn id="14" dur="1000" fill="hold"/>
                                        <p:tgtEl>
                                          <p:spTgt spid="99"/>
                                        </p:tgtEl>
                                        <p:attrNameLst>
                                          <p:attrName>ppt_x</p:attrName>
                                        </p:attrNameLst>
                                      </p:cBhvr>
                                      <p:tavLst>
                                        <p:tav tm="0">
                                          <p:val>
                                            <p:strVal val="#ppt_x"/>
                                          </p:val>
                                        </p:tav>
                                        <p:tav tm="100000">
                                          <p:val>
                                            <p:strVal val="#ppt_x"/>
                                          </p:val>
                                        </p:tav>
                                      </p:tavLst>
                                    </p:anim>
                                    <p:anim calcmode="lin" valueType="num">
                                      <p:cBhvr>
                                        <p:cTn id="15" dur="1000" fill="hold"/>
                                        <p:tgtEl>
                                          <p:spTgt spid="99"/>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99">
                                            <p:txEl>
                                              <p:pRg st="0" end="0"/>
                                            </p:txEl>
                                          </p:spTgt>
                                        </p:tgtEl>
                                        <p:attrNameLst>
                                          <p:attrName>style.visibility</p:attrName>
                                        </p:attrNameLst>
                                      </p:cBhvr>
                                      <p:to>
                                        <p:strVal val="visible"/>
                                      </p:to>
                                    </p:set>
                                    <p:animEffect transition="in" filter="fade">
                                      <p:cBhvr>
                                        <p:cTn id="19" dur="1000"/>
                                        <p:tgtEl>
                                          <p:spTgt spid="99">
                                            <p:txEl>
                                              <p:pRg st="0" end="0"/>
                                            </p:txEl>
                                          </p:spTgt>
                                        </p:tgtEl>
                                      </p:cBhvr>
                                    </p:animEffect>
                                    <p:anim calcmode="lin" valueType="num">
                                      <p:cBhvr>
                                        <p:cTn id="20" dur="1000" fill="hold"/>
                                        <p:tgtEl>
                                          <p:spTgt spid="99">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9">
                                            <p:txEl>
                                              <p:pRg st="1" end="1"/>
                                            </p:txEl>
                                          </p:spTgt>
                                        </p:tgtEl>
                                        <p:attrNameLst>
                                          <p:attrName>style.visibility</p:attrName>
                                        </p:attrNameLst>
                                      </p:cBhvr>
                                      <p:to>
                                        <p:strVal val="visible"/>
                                      </p:to>
                                    </p:set>
                                    <p:animEffect transition="in" filter="fade">
                                      <p:cBhvr>
                                        <p:cTn id="26" dur="1000"/>
                                        <p:tgtEl>
                                          <p:spTgt spid="99">
                                            <p:txEl>
                                              <p:pRg st="1" end="1"/>
                                            </p:txEl>
                                          </p:spTgt>
                                        </p:tgtEl>
                                      </p:cBhvr>
                                    </p:animEffect>
                                    <p:anim calcmode="lin" valueType="num">
                                      <p:cBhvr>
                                        <p:cTn id="27" dur="1000" fill="hold"/>
                                        <p:tgtEl>
                                          <p:spTgt spid="99">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9">
                                            <p:txEl>
                                              <p:pRg st="2" end="2"/>
                                            </p:txEl>
                                          </p:spTgt>
                                        </p:tgtEl>
                                        <p:attrNameLst>
                                          <p:attrName>style.visibility</p:attrName>
                                        </p:attrNameLst>
                                      </p:cBhvr>
                                      <p:to>
                                        <p:strVal val="visible"/>
                                      </p:to>
                                    </p:set>
                                    <p:animEffect transition="in" filter="fade">
                                      <p:cBhvr>
                                        <p:cTn id="33" dur="1000"/>
                                        <p:tgtEl>
                                          <p:spTgt spid="99">
                                            <p:txEl>
                                              <p:pRg st="2" end="2"/>
                                            </p:txEl>
                                          </p:spTgt>
                                        </p:tgtEl>
                                      </p:cBhvr>
                                    </p:animEffect>
                                    <p:anim calcmode="lin" valueType="num">
                                      <p:cBhvr>
                                        <p:cTn id="34" dur="1000" fill="hold"/>
                                        <p:tgtEl>
                                          <p:spTgt spid="99">
                                            <p:txEl>
                                              <p:pRg st="2" end="2"/>
                                            </p:txEl>
                                          </p:spTgt>
                                        </p:tgtEl>
                                        <p:attrNameLst>
                                          <p:attrName>ppt_x</p:attrName>
                                        </p:attrNameLst>
                                      </p:cBhvr>
                                      <p:tavLst>
                                        <p:tav tm="0">
                                          <p:val>
                                            <p:strVal val="#ppt_x"/>
                                          </p:val>
                                        </p:tav>
                                        <p:tav tm="100000">
                                          <p:val>
                                            <p:strVal val="#ppt_x"/>
                                          </p:val>
                                        </p:tav>
                                      </p:tavLst>
                                    </p:anim>
                                    <p:anim calcmode="lin" valueType="num">
                                      <p:cBhvr>
                                        <p:cTn id="35" dur="1000" fill="hold"/>
                                        <p:tgtEl>
                                          <p:spTgt spid="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99">
                                            <p:txEl>
                                              <p:pRg st="3" end="3"/>
                                            </p:txEl>
                                          </p:spTgt>
                                        </p:tgtEl>
                                        <p:attrNameLst>
                                          <p:attrName>style.visibility</p:attrName>
                                        </p:attrNameLst>
                                      </p:cBhvr>
                                      <p:to>
                                        <p:strVal val="visible"/>
                                      </p:to>
                                    </p:set>
                                    <p:animEffect transition="in" filter="fade">
                                      <p:cBhvr>
                                        <p:cTn id="40" dur="1000"/>
                                        <p:tgtEl>
                                          <p:spTgt spid="99">
                                            <p:txEl>
                                              <p:pRg st="3" end="3"/>
                                            </p:txEl>
                                          </p:spTgt>
                                        </p:tgtEl>
                                      </p:cBhvr>
                                    </p:animEffect>
                                    <p:anim calcmode="lin" valueType="num">
                                      <p:cBhvr>
                                        <p:cTn id="41" dur="1000" fill="hold"/>
                                        <p:tgtEl>
                                          <p:spTgt spid="99">
                                            <p:txEl>
                                              <p:pRg st="3" end="3"/>
                                            </p:txEl>
                                          </p:spTgt>
                                        </p:tgtEl>
                                        <p:attrNameLst>
                                          <p:attrName>ppt_x</p:attrName>
                                        </p:attrNameLst>
                                      </p:cBhvr>
                                      <p:tavLst>
                                        <p:tav tm="0">
                                          <p:val>
                                            <p:strVal val="#ppt_x"/>
                                          </p:val>
                                        </p:tav>
                                        <p:tav tm="100000">
                                          <p:val>
                                            <p:strVal val="#ppt_x"/>
                                          </p:val>
                                        </p:tav>
                                      </p:tavLst>
                                    </p:anim>
                                    <p:anim calcmode="lin" valueType="num">
                                      <p:cBhvr>
                                        <p:cTn id="42" dur="1000" fill="hold"/>
                                        <p:tgtEl>
                                          <p:spTgt spid="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99">
                                            <p:txEl>
                                              <p:pRg st="4" end="4"/>
                                            </p:txEl>
                                          </p:spTgt>
                                        </p:tgtEl>
                                        <p:attrNameLst>
                                          <p:attrName>style.visibility</p:attrName>
                                        </p:attrNameLst>
                                      </p:cBhvr>
                                      <p:to>
                                        <p:strVal val="visible"/>
                                      </p:to>
                                    </p:set>
                                    <p:animEffect transition="in" filter="fade">
                                      <p:cBhvr>
                                        <p:cTn id="47" dur="1000"/>
                                        <p:tgtEl>
                                          <p:spTgt spid="99">
                                            <p:txEl>
                                              <p:pRg st="4" end="4"/>
                                            </p:txEl>
                                          </p:spTgt>
                                        </p:tgtEl>
                                      </p:cBhvr>
                                    </p:animEffect>
                                    <p:anim calcmode="lin" valueType="num">
                                      <p:cBhvr>
                                        <p:cTn id="48" dur="1000" fill="hold"/>
                                        <p:tgtEl>
                                          <p:spTgt spid="99">
                                            <p:txEl>
                                              <p:pRg st="4" end="4"/>
                                            </p:txEl>
                                          </p:spTgt>
                                        </p:tgtEl>
                                        <p:attrNameLst>
                                          <p:attrName>ppt_x</p:attrName>
                                        </p:attrNameLst>
                                      </p:cBhvr>
                                      <p:tavLst>
                                        <p:tav tm="0">
                                          <p:val>
                                            <p:strVal val="#ppt_x"/>
                                          </p:val>
                                        </p:tav>
                                        <p:tav tm="100000">
                                          <p:val>
                                            <p:strVal val="#ppt_x"/>
                                          </p:val>
                                        </p:tav>
                                      </p:tavLst>
                                    </p:anim>
                                    <p:anim calcmode="lin" valueType="num">
                                      <p:cBhvr>
                                        <p:cTn id="49" dur="1000" fill="hold"/>
                                        <p:tgtEl>
                                          <p:spTgt spid="9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1000"/>
                                        <p:tgtEl>
                                          <p:spTgt spid="9"/>
                                        </p:tgtEl>
                                      </p:cBhvr>
                                    </p:animEffect>
                                    <p:anim calcmode="lin" valueType="num">
                                      <p:cBhvr>
                                        <p:cTn id="55" dur="1000" fill="hold"/>
                                        <p:tgtEl>
                                          <p:spTgt spid="9"/>
                                        </p:tgtEl>
                                        <p:attrNameLst>
                                          <p:attrName>ppt_x</p:attrName>
                                        </p:attrNameLst>
                                      </p:cBhvr>
                                      <p:tavLst>
                                        <p:tav tm="0">
                                          <p:val>
                                            <p:strVal val="#ppt_x"/>
                                          </p:val>
                                        </p:tav>
                                        <p:tav tm="100000">
                                          <p:val>
                                            <p:strVal val="#ppt_x"/>
                                          </p:val>
                                        </p:tav>
                                      </p:tavLst>
                                    </p:anim>
                                    <p:anim calcmode="lin" valueType="num">
                                      <p:cBhvr>
                                        <p:cTn id="5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99">
                                            <p:txEl>
                                              <p:pRg st="5" end="5"/>
                                            </p:txEl>
                                          </p:spTgt>
                                        </p:tgtEl>
                                        <p:attrNameLst>
                                          <p:attrName>style.visibility</p:attrName>
                                        </p:attrNameLst>
                                      </p:cBhvr>
                                      <p:to>
                                        <p:strVal val="visible"/>
                                      </p:to>
                                    </p:set>
                                    <p:animEffect transition="in" filter="fade">
                                      <p:cBhvr>
                                        <p:cTn id="61" dur="1000"/>
                                        <p:tgtEl>
                                          <p:spTgt spid="99">
                                            <p:txEl>
                                              <p:pRg st="5" end="5"/>
                                            </p:txEl>
                                          </p:spTgt>
                                        </p:tgtEl>
                                      </p:cBhvr>
                                    </p:animEffect>
                                    <p:anim calcmode="lin" valueType="num">
                                      <p:cBhvr>
                                        <p:cTn id="62" dur="1000" fill="hold"/>
                                        <p:tgtEl>
                                          <p:spTgt spid="99">
                                            <p:txEl>
                                              <p:pRg st="5" end="5"/>
                                            </p:txEl>
                                          </p:spTgt>
                                        </p:tgtEl>
                                        <p:attrNameLst>
                                          <p:attrName>ppt_x</p:attrName>
                                        </p:attrNameLst>
                                      </p:cBhvr>
                                      <p:tavLst>
                                        <p:tav tm="0">
                                          <p:val>
                                            <p:strVal val="#ppt_x"/>
                                          </p:val>
                                        </p:tav>
                                        <p:tav tm="100000">
                                          <p:val>
                                            <p:strVal val="#ppt_x"/>
                                          </p:val>
                                        </p:tav>
                                      </p:tavLst>
                                    </p:anim>
                                    <p:anim calcmode="lin" valueType="num">
                                      <p:cBhvr>
                                        <p:cTn id="63" dur="1000" fill="hold"/>
                                        <p:tgtEl>
                                          <p:spTgt spid="9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99">
                                            <p:txEl>
                                              <p:pRg st="6" end="6"/>
                                            </p:txEl>
                                          </p:spTgt>
                                        </p:tgtEl>
                                        <p:attrNameLst>
                                          <p:attrName>style.visibility</p:attrName>
                                        </p:attrNameLst>
                                      </p:cBhvr>
                                      <p:to>
                                        <p:strVal val="visible"/>
                                      </p:to>
                                    </p:set>
                                    <p:animEffect transition="in" filter="fade">
                                      <p:cBhvr>
                                        <p:cTn id="68" dur="1000"/>
                                        <p:tgtEl>
                                          <p:spTgt spid="99">
                                            <p:txEl>
                                              <p:pRg st="6" end="6"/>
                                            </p:txEl>
                                          </p:spTgt>
                                        </p:tgtEl>
                                      </p:cBhvr>
                                    </p:animEffect>
                                    <p:anim calcmode="lin" valueType="num">
                                      <p:cBhvr>
                                        <p:cTn id="69" dur="1000" fill="hold"/>
                                        <p:tgtEl>
                                          <p:spTgt spid="99">
                                            <p:txEl>
                                              <p:pRg st="6" end="6"/>
                                            </p:txEl>
                                          </p:spTgt>
                                        </p:tgtEl>
                                        <p:attrNameLst>
                                          <p:attrName>ppt_x</p:attrName>
                                        </p:attrNameLst>
                                      </p:cBhvr>
                                      <p:tavLst>
                                        <p:tav tm="0">
                                          <p:val>
                                            <p:strVal val="#ppt_x"/>
                                          </p:val>
                                        </p:tav>
                                        <p:tav tm="100000">
                                          <p:val>
                                            <p:strVal val="#ppt_x"/>
                                          </p:val>
                                        </p:tav>
                                      </p:tavLst>
                                    </p:anim>
                                    <p:anim calcmode="lin" valueType="num">
                                      <p:cBhvr>
                                        <p:cTn id="70" dur="1000" fill="hold"/>
                                        <p:tgtEl>
                                          <p:spTgt spid="9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99">
                                            <p:txEl>
                                              <p:pRg st="7" end="7"/>
                                            </p:txEl>
                                          </p:spTgt>
                                        </p:tgtEl>
                                        <p:attrNameLst>
                                          <p:attrName>style.visibility</p:attrName>
                                        </p:attrNameLst>
                                      </p:cBhvr>
                                      <p:to>
                                        <p:strVal val="visible"/>
                                      </p:to>
                                    </p:set>
                                    <p:animEffect transition="in" filter="fade">
                                      <p:cBhvr>
                                        <p:cTn id="75" dur="1000"/>
                                        <p:tgtEl>
                                          <p:spTgt spid="99">
                                            <p:txEl>
                                              <p:pRg st="7" end="7"/>
                                            </p:txEl>
                                          </p:spTgt>
                                        </p:tgtEl>
                                      </p:cBhvr>
                                    </p:animEffect>
                                    <p:anim calcmode="lin" valueType="num">
                                      <p:cBhvr>
                                        <p:cTn id="76" dur="1000" fill="hold"/>
                                        <p:tgtEl>
                                          <p:spTgt spid="99">
                                            <p:txEl>
                                              <p:pRg st="7" end="7"/>
                                            </p:txEl>
                                          </p:spTgt>
                                        </p:tgtEl>
                                        <p:attrNameLst>
                                          <p:attrName>ppt_x</p:attrName>
                                        </p:attrNameLst>
                                      </p:cBhvr>
                                      <p:tavLst>
                                        <p:tav tm="0">
                                          <p:val>
                                            <p:strVal val="#ppt_x"/>
                                          </p:val>
                                        </p:tav>
                                        <p:tav tm="100000">
                                          <p:val>
                                            <p:strVal val="#ppt_x"/>
                                          </p:val>
                                        </p:tav>
                                      </p:tavLst>
                                    </p:anim>
                                    <p:anim calcmode="lin" valueType="num">
                                      <p:cBhvr>
                                        <p:cTn id="77" dur="1000" fill="hold"/>
                                        <p:tgtEl>
                                          <p:spTgt spid="9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99">
                                            <p:txEl>
                                              <p:pRg st="8" end="8"/>
                                            </p:txEl>
                                          </p:spTgt>
                                        </p:tgtEl>
                                        <p:attrNameLst>
                                          <p:attrName>style.visibility</p:attrName>
                                        </p:attrNameLst>
                                      </p:cBhvr>
                                      <p:to>
                                        <p:strVal val="visible"/>
                                      </p:to>
                                    </p:set>
                                    <p:animEffect transition="in" filter="fade">
                                      <p:cBhvr>
                                        <p:cTn id="82" dur="1000"/>
                                        <p:tgtEl>
                                          <p:spTgt spid="99">
                                            <p:txEl>
                                              <p:pRg st="8" end="8"/>
                                            </p:txEl>
                                          </p:spTgt>
                                        </p:tgtEl>
                                      </p:cBhvr>
                                    </p:animEffect>
                                    <p:anim calcmode="lin" valueType="num">
                                      <p:cBhvr>
                                        <p:cTn id="83" dur="1000" fill="hold"/>
                                        <p:tgtEl>
                                          <p:spTgt spid="99">
                                            <p:txEl>
                                              <p:pRg st="8" end="8"/>
                                            </p:txEl>
                                          </p:spTgt>
                                        </p:tgtEl>
                                        <p:attrNameLst>
                                          <p:attrName>ppt_x</p:attrName>
                                        </p:attrNameLst>
                                      </p:cBhvr>
                                      <p:tavLst>
                                        <p:tav tm="0">
                                          <p:val>
                                            <p:strVal val="#ppt_x"/>
                                          </p:val>
                                        </p:tav>
                                        <p:tav tm="100000">
                                          <p:val>
                                            <p:strVal val="#ppt_x"/>
                                          </p:val>
                                        </p:tav>
                                      </p:tavLst>
                                    </p:anim>
                                    <p:anim calcmode="lin" valueType="num">
                                      <p:cBhvr>
                                        <p:cTn id="84" dur="1000" fill="hold"/>
                                        <p:tgtEl>
                                          <p:spTgt spid="9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99">
                                            <p:txEl>
                                              <p:pRg st="9" end="9"/>
                                            </p:txEl>
                                          </p:spTgt>
                                        </p:tgtEl>
                                        <p:attrNameLst>
                                          <p:attrName>style.visibility</p:attrName>
                                        </p:attrNameLst>
                                      </p:cBhvr>
                                      <p:to>
                                        <p:strVal val="visible"/>
                                      </p:to>
                                    </p:set>
                                    <p:animEffect transition="in" filter="fade">
                                      <p:cBhvr>
                                        <p:cTn id="89" dur="1000"/>
                                        <p:tgtEl>
                                          <p:spTgt spid="99">
                                            <p:txEl>
                                              <p:pRg st="9" end="9"/>
                                            </p:txEl>
                                          </p:spTgt>
                                        </p:tgtEl>
                                      </p:cBhvr>
                                    </p:animEffect>
                                    <p:anim calcmode="lin" valueType="num">
                                      <p:cBhvr>
                                        <p:cTn id="90" dur="1000" fill="hold"/>
                                        <p:tgtEl>
                                          <p:spTgt spid="99">
                                            <p:txEl>
                                              <p:pRg st="9" end="9"/>
                                            </p:txEl>
                                          </p:spTgt>
                                        </p:tgtEl>
                                        <p:attrNameLst>
                                          <p:attrName>ppt_x</p:attrName>
                                        </p:attrNameLst>
                                      </p:cBhvr>
                                      <p:tavLst>
                                        <p:tav tm="0">
                                          <p:val>
                                            <p:strVal val="#ppt_x"/>
                                          </p:val>
                                        </p:tav>
                                        <p:tav tm="100000">
                                          <p:val>
                                            <p:strVal val="#ppt_x"/>
                                          </p:val>
                                        </p:tav>
                                      </p:tavLst>
                                    </p:anim>
                                    <p:anim calcmode="lin" valueType="num">
                                      <p:cBhvr>
                                        <p:cTn id="91" dur="1000" fill="hold"/>
                                        <p:tgtEl>
                                          <p:spTgt spid="99">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nodeType="clickEffect">
                                  <p:stCondLst>
                                    <p:cond delay="0"/>
                                  </p:stCondLst>
                                  <p:childTnLst>
                                    <p:set>
                                      <p:cBhvr>
                                        <p:cTn id="95" dur="1" fill="hold">
                                          <p:stCondLst>
                                            <p:cond delay="0"/>
                                          </p:stCondLst>
                                        </p:cTn>
                                        <p:tgtEl>
                                          <p:spTgt spid="99">
                                            <p:txEl>
                                              <p:pRg st="10" end="10"/>
                                            </p:txEl>
                                          </p:spTgt>
                                        </p:tgtEl>
                                        <p:attrNameLst>
                                          <p:attrName>style.visibility</p:attrName>
                                        </p:attrNameLst>
                                      </p:cBhvr>
                                      <p:to>
                                        <p:strVal val="visible"/>
                                      </p:to>
                                    </p:set>
                                    <p:animEffect transition="in" filter="fade">
                                      <p:cBhvr>
                                        <p:cTn id="96" dur="1000"/>
                                        <p:tgtEl>
                                          <p:spTgt spid="99">
                                            <p:txEl>
                                              <p:pRg st="10" end="10"/>
                                            </p:txEl>
                                          </p:spTgt>
                                        </p:tgtEl>
                                      </p:cBhvr>
                                    </p:animEffect>
                                    <p:anim calcmode="lin" valueType="num">
                                      <p:cBhvr>
                                        <p:cTn id="97" dur="1000" fill="hold"/>
                                        <p:tgtEl>
                                          <p:spTgt spid="99">
                                            <p:txEl>
                                              <p:pRg st="10" end="10"/>
                                            </p:txEl>
                                          </p:spTgt>
                                        </p:tgtEl>
                                        <p:attrNameLst>
                                          <p:attrName>ppt_x</p:attrName>
                                        </p:attrNameLst>
                                      </p:cBhvr>
                                      <p:tavLst>
                                        <p:tav tm="0">
                                          <p:val>
                                            <p:strVal val="#ppt_x"/>
                                          </p:val>
                                        </p:tav>
                                        <p:tav tm="100000">
                                          <p:val>
                                            <p:strVal val="#ppt_x"/>
                                          </p:val>
                                        </p:tav>
                                      </p:tavLst>
                                    </p:anim>
                                    <p:anim calcmode="lin" valueType="num">
                                      <p:cBhvr>
                                        <p:cTn id="98" dur="1000" fill="hold"/>
                                        <p:tgtEl>
                                          <p:spTgt spid="99">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19278" y="2647950"/>
                <a:ext cx="23740872" cy="10820400"/>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buFont typeface="Wingdings" panose="05000000000000000000" pitchFamily="2" charset="2"/>
                  <a:buChar char="v"/>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Cho hai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r>
                          <a:rPr lang="en-US" b="1" i="1">
                            <a:latin typeface="Cambria Math" panose="02040503050406030204" pitchFamily="18" charset="0"/>
                            <a:ea typeface="Cambria Math" panose="02040503050406030204" pitchFamily="18" charset="0"/>
                          </a:rPr>
                          <m:t>′</m:t>
                        </m:r>
                      </m:e>
                    </m:d>
                  </m:oMath>
                </a14:m>
                <a:r>
                  <a:rPr lang="en-US" b="1">
                    <a:latin typeface="Tahoma" panose="020B0604030504040204" pitchFamily="34" charset="0"/>
                    <a:ea typeface="Tahoma" panose="020B0604030504040204" pitchFamily="34" charset="0"/>
                    <a:cs typeface="Tahoma" panose="020B0604030504040204" pitchFamily="34" charset="0"/>
                  </a:rPr>
                  <a:t>. Khi đó:</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sSup>
                          <m:sSupPr>
                            <m:ctrlPr>
                              <a:rPr lang="en-US" b="1"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𝒙</m:t>
                            </m:r>
                          </m:e>
                          <m:sup>
                            <m:r>
                              <a:rPr lang="en-US" b="1" i="1">
                                <a:latin typeface="Cambria Math" panose="02040503050406030204" pitchFamily="18" charset="0"/>
                                <a:ea typeface="Cambria Math" panose="02040503050406030204" pitchFamily="18" charset="0"/>
                              </a:rPr>
                              <m:t>′</m:t>
                            </m:r>
                          </m:sup>
                        </m:sSup>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r>
                          <a:rPr lang="en-US" b="1" i="1">
                            <a:latin typeface="Cambria Math" panose="02040503050406030204" pitchFamily="18" charset="0"/>
                            <a:ea typeface="Cambria Math" panose="02040503050406030204" pitchFamily="18" charset="0"/>
                          </a:rPr>
                          <m:t>+</m:t>
                        </m:r>
                        <m:sSup>
                          <m:sSupPr>
                            <m:ctrlPr>
                              <a:rPr lang="en-US" b="1"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𝒚</m:t>
                            </m:r>
                          </m:e>
                          <m:sup>
                            <m:r>
                              <a:rPr lang="en-US" b="1" i="1">
                                <a:latin typeface="Cambria Math" panose="02040503050406030204" pitchFamily="18" charset="0"/>
                                <a:ea typeface="Cambria Math" panose="02040503050406030204" pitchFamily="18" charset="0"/>
                              </a:rPr>
                              <m:t>′</m:t>
                            </m:r>
                          </m:sup>
                        </m:sSup>
                      </m:e>
                    </m:d>
                    <m:r>
                      <m:rPr>
                        <m:nor/>
                      </m:rPr>
                      <a:rPr lang="en-US" b="1">
                        <a:latin typeface="Tahoma" panose="020B0604030504040204" pitchFamily="34" charset="0"/>
                        <a:ea typeface="Tahoma" panose="020B0604030504040204" pitchFamily="34" charset="0"/>
                        <a:cs typeface="Tahoma" panose="020B0604030504040204" pitchFamily="34" charset="0"/>
                      </a:rPr>
                      <m:t>       </m:t>
                    </m:r>
                    <m:r>
                      <a:rPr lang="en-US" b="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 </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sSup>
                          <m:sSupPr>
                            <m:ctrlPr>
                              <a:rPr lang="en-US" b="1"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𝒙</m:t>
                            </m:r>
                          </m:e>
                          <m:sup>
                            <m:r>
                              <a:rPr lang="en-US" b="1" i="1">
                                <a:latin typeface="Cambria Math" panose="02040503050406030204" pitchFamily="18" charset="0"/>
                                <a:ea typeface="Cambria Math" panose="02040503050406030204" pitchFamily="18" charset="0"/>
                              </a:rPr>
                              <m:t>′</m:t>
                            </m:r>
                          </m:sup>
                        </m:sSup>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r>
                          <a:rPr lang="en-US" b="1" i="1">
                            <a:latin typeface="Cambria Math" panose="02040503050406030204" pitchFamily="18" charset="0"/>
                            <a:ea typeface="Cambria Math" panose="02040503050406030204" pitchFamily="18" charset="0"/>
                          </a:rPr>
                          <m:t>−</m:t>
                        </m:r>
                        <m:sSup>
                          <m:sSupPr>
                            <m:ctrlPr>
                              <a:rPr lang="en-US" b="1"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𝒚</m:t>
                            </m:r>
                          </m:e>
                          <m:sup>
                            <m:r>
                              <a:rPr lang="en-US" b="1" i="1">
                                <a:latin typeface="Cambria Math" panose="02040503050406030204" pitchFamily="18" charset="0"/>
                                <a:ea typeface="Cambria Math" panose="02040503050406030204" pitchFamily="18" charset="0"/>
                              </a:rPr>
                              <m:t>′</m:t>
                            </m:r>
                          </m:sup>
                        </m:sSup>
                      </m:e>
                    </m:d>
                    <m:r>
                      <m:rPr>
                        <m:nor/>
                      </m:rPr>
                      <a:rPr lang="en-US" b="1">
                        <a:latin typeface="Tahoma" panose="020B0604030504040204" pitchFamily="34" charset="0"/>
                        <a:ea typeface="Tahoma" panose="020B0604030504040204" pitchFamily="34" charset="0"/>
                        <a:cs typeface="Tahoma" panose="020B0604030504040204" pitchFamily="34" charset="0"/>
                      </a:rPr>
                      <m:t>     </m:t>
                    </m:r>
                    <m:r>
                      <a:rPr lang="en-US" b="1" i="0" smtClean="0">
                        <a:latin typeface="Cambria Math" panose="02040503050406030204" pitchFamily="18" charset="0"/>
                        <a:ea typeface="Tahoma" panose="020B0604030504040204" pitchFamily="34" charset="0"/>
                        <a:cs typeface="Tahoma" panose="020B0604030504040204" pitchFamily="34" charset="0"/>
                      </a:rPr>
                      <m:t> </m:t>
                    </m:r>
                    <m:r>
                      <a:rPr lang="en-US" b="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𝒌</m:t>
                    </m:r>
                    <m:acc>
                      <m:accPr>
                        <m:chr m:val="⃗"/>
                        <m:ctrlPr>
                          <a:rPr lang="en-US" b="1" i="1">
                            <a:latin typeface="Cambria Math" panose="02040503050406030204" pitchFamily="18" charset="0"/>
                            <a:ea typeface="Cambria Math" panose="02040503050406030204" pitchFamily="18" charset="0"/>
                          </a:rPr>
                        </m:ctrlPr>
                      </m:accPr>
                      <m:e>
                        <m:r>
                          <a:rPr lang="en-US" b="1" i="1" smtClean="0">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𝒌𝒙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𝒌𝒚</m:t>
                        </m:r>
                      </m:e>
                    </m:d>
                    <m:r>
                      <a:rPr lang="en-US" b="1" i="1">
                        <a:latin typeface="Cambria Math" panose="02040503050406030204" pitchFamily="18" charset="0"/>
                        <a:ea typeface="Cambria Math" panose="02040503050406030204" pitchFamily="18" charset="0"/>
                      </a:rPr>
                      <m:t> </m:t>
                    </m:r>
                  </m:oMath>
                </a14:m>
                <a:r>
                  <a:rPr lang="en-US" b="1">
                    <a:latin typeface="Tahoma" panose="020B0604030504040204" pitchFamily="34" charset="0"/>
                    <a:ea typeface="Tahoma" panose="020B0604030504040204" pitchFamily="34" charset="0"/>
                    <a:cs typeface="Tahoma" panose="020B0604030504040204" pitchFamily="34" charset="0"/>
                  </a:rPr>
                  <a:t> với </a:t>
                </a:r>
                <a14:m>
                  <m:oMath xmlns:m="http://schemas.openxmlformats.org/officeDocument/2006/math">
                    <m:r>
                      <a:rPr lang="en-US" b="1" i="1">
                        <a:latin typeface="Cambria Math" panose="02040503050406030204" pitchFamily="18" charset="0"/>
                        <a:ea typeface="Cambria Math" panose="02040503050406030204" pitchFamily="18" charset="0"/>
                      </a:rPr>
                      <m:t>𝒌</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ℝ</m:t>
                    </m:r>
                  </m:oMath>
                </a14:m>
                <a:endParaRPr lang="en-US" b="1">
                  <a:latin typeface="Tahoma" panose="020B0604030504040204" pitchFamily="34" charset="0"/>
                  <a:ea typeface="Tahoma" panose="020B0604030504040204" pitchFamily="34" charset="0"/>
                  <a:cs typeface="Tahoma" panose="020B0604030504040204" pitchFamily="34" charset="0"/>
                </a:endParaRPr>
              </a:p>
              <a:p>
                <a:pPr marL="0" lvl="0" indent="0" defTabSz="2177278">
                  <a:lnSpc>
                    <a:spcPct val="100000"/>
                  </a:lnSpc>
                  <a:spcBef>
                    <a:spcPts val="0"/>
                  </a:spcBef>
                  <a:buNone/>
                </a:pPr>
                <a:r>
                  <a:rPr lang="en-US" b="1">
                    <a:solidFill>
                      <a:srgbClr val="FF0000"/>
                    </a:solidFill>
                    <a:latin typeface="Tahoma" panose="020B0604030504040204" pitchFamily="34" charset="0"/>
                    <a:ea typeface="Tahoma" panose="020B0604030504040204" pitchFamily="34" charset="0"/>
                    <a:cs typeface="Tahoma" panose="020B0604030504040204" pitchFamily="34" charset="0"/>
                    <a:sym typeface="Wingdings"/>
                  </a:rPr>
                  <a:t> </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VD2: </a:t>
                </a:r>
                <a:r>
                  <a:rPr lang="en-US" b="1">
                    <a:solidFill>
                      <a:prstClr val="black"/>
                    </a:solidFill>
                    <a:latin typeface="Tahoma" panose="020B0604030504040204" pitchFamily="34" charset="0"/>
                    <a:ea typeface="Tahoma" panose="020B0604030504040204" pitchFamily="34" charset="0"/>
                    <a:cs typeface="Tahoma" panose="020B0604030504040204" pitchFamily="34" charset="0"/>
                  </a:rPr>
                  <a:t>Cho </a:t>
                </a:r>
                <a14:m>
                  <m:oMath xmlns:m="http://schemas.openxmlformats.org/officeDocument/2006/math">
                    <m:acc>
                      <m:accPr>
                        <m:chr m:val="⃗"/>
                        <m:ctrlPr>
                          <a:rPr lang="en-US" b="1" i="1">
                            <a:solidFill>
                              <a:prstClr val="black"/>
                            </a:solidFill>
                            <a:latin typeface="Cambria Math" panose="02040503050406030204" pitchFamily="18" charset="0"/>
                            <a:ea typeface="Cambria Math" panose="02040503050406030204" pitchFamily="18" charset="0"/>
                          </a:rPr>
                        </m:ctrlPr>
                      </m:accPr>
                      <m:e>
                        <m:r>
                          <a:rPr lang="en-US" b="1" i="1" smtClean="0">
                            <a:solidFill>
                              <a:prstClr val="black"/>
                            </a:solidFill>
                            <a:latin typeface="Cambria Math" panose="02040503050406030204" pitchFamily="18" charset="0"/>
                            <a:ea typeface="Cambria Math" panose="02040503050406030204" pitchFamily="18" charset="0"/>
                          </a:rPr>
                          <m:t>𝒂</m:t>
                        </m:r>
                      </m:e>
                    </m:acc>
                    <m:r>
                      <a:rPr lang="en-US" b="1" i="1">
                        <a:solidFill>
                          <a:prstClr val="black"/>
                        </a:solidFill>
                        <a:latin typeface="Cambria Math" panose="02040503050406030204" pitchFamily="18" charset="0"/>
                        <a:ea typeface="Cambria Math" panose="02040503050406030204" pitchFamily="18" charset="0"/>
                      </a:rPr>
                      <m:t>=</m:t>
                    </m:r>
                    <m:d>
                      <m:dPr>
                        <m:ctrlPr>
                          <a:rPr lang="en-US" b="1" i="1">
                            <a:solidFill>
                              <a:prstClr val="black"/>
                            </a:solidFill>
                            <a:latin typeface="Cambria Math" panose="02040503050406030204" pitchFamily="18" charset="0"/>
                            <a:ea typeface="Cambria Math" panose="02040503050406030204" pitchFamily="18" charset="0"/>
                          </a:rPr>
                        </m:ctrlPr>
                      </m:dPr>
                      <m:e>
                        <m:r>
                          <a:rPr lang="en-US" b="1" i="1" smtClean="0">
                            <a:solidFill>
                              <a:prstClr val="black"/>
                            </a:solidFill>
                            <a:latin typeface="Cambria Math" panose="02040503050406030204" pitchFamily="18" charset="0"/>
                            <a:ea typeface="Cambria Math" panose="02040503050406030204" pitchFamily="18" charset="0"/>
                          </a:rPr>
                          <m:t>𝟏</m:t>
                        </m:r>
                        <m:r>
                          <a:rPr lang="en-US" b="1" i="1">
                            <a:solidFill>
                              <a:prstClr val="black"/>
                            </a:solidFill>
                            <a:latin typeface="Cambria Math" panose="02040503050406030204" pitchFamily="18" charset="0"/>
                            <a:ea typeface="Cambria Math" panose="02040503050406030204" pitchFamily="18" charset="0"/>
                          </a:rPr>
                          <m:t>;</m:t>
                        </m:r>
                        <m:r>
                          <a:rPr lang="en-US" b="1" i="1" smtClean="0">
                            <a:solidFill>
                              <a:prstClr val="black"/>
                            </a:solidFill>
                            <a:latin typeface="Cambria Math" panose="02040503050406030204" pitchFamily="18" charset="0"/>
                            <a:ea typeface="Cambria Math" panose="02040503050406030204" pitchFamily="18" charset="0"/>
                          </a:rPr>
                          <m:t>𝟐</m:t>
                        </m:r>
                      </m:e>
                    </m:d>
                  </m:oMath>
                </a14:m>
                <a:r>
                  <a:rPr lang="en-US" b="1">
                    <a:solidFill>
                      <a:prstClr val="black"/>
                    </a:solidFill>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acc>
                      <m:accPr>
                        <m:chr m:val="⃗"/>
                        <m:ctrlPr>
                          <a:rPr lang="en-US" b="1" i="1">
                            <a:solidFill>
                              <a:prstClr val="black"/>
                            </a:solidFill>
                            <a:latin typeface="Cambria Math" panose="02040503050406030204" pitchFamily="18" charset="0"/>
                            <a:ea typeface="Cambria Math" panose="02040503050406030204" pitchFamily="18" charset="0"/>
                          </a:rPr>
                        </m:ctrlPr>
                      </m:accPr>
                      <m:e>
                        <m:r>
                          <a:rPr lang="en-US" b="1" i="1" smtClean="0">
                            <a:solidFill>
                              <a:prstClr val="black"/>
                            </a:solidFill>
                            <a:latin typeface="Cambria Math" panose="02040503050406030204" pitchFamily="18" charset="0"/>
                            <a:ea typeface="Cambria Math" panose="02040503050406030204" pitchFamily="18" charset="0"/>
                          </a:rPr>
                          <m:t>𝒃</m:t>
                        </m:r>
                      </m:e>
                    </m:acc>
                    <m:r>
                      <a:rPr lang="en-US" b="1" i="1">
                        <a:solidFill>
                          <a:prstClr val="black"/>
                        </a:solidFill>
                        <a:latin typeface="Cambria Math" panose="02040503050406030204" pitchFamily="18" charset="0"/>
                        <a:ea typeface="Cambria Math" panose="02040503050406030204" pitchFamily="18" charset="0"/>
                      </a:rPr>
                      <m:t>=</m:t>
                    </m:r>
                    <m:d>
                      <m:dPr>
                        <m:ctrlPr>
                          <a:rPr lang="en-US" b="1" i="1" smtClean="0">
                            <a:solidFill>
                              <a:prstClr val="black"/>
                            </a:solidFill>
                            <a:latin typeface="Cambria Math" panose="02040503050406030204" pitchFamily="18" charset="0"/>
                            <a:ea typeface="Cambria Math" panose="02040503050406030204" pitchFamily="18" charset="0"/>
                          </a:rPr>
                        </m:ctrlPr>
                      </m:dPr>
                      <m:e>
                        <m:f>
                          <m:fPr>
                            <m:ctrlPr>
                              <a:rPr lang="en-US" b="1" i="1">
                                <a:solidFill>
                                  <a:prstClr val="black"/>
                                </a:solidFill>
                                <a:latin typeface="Cambria Math" panose="02040503050406030204" pitchFamily="18" charset="0"/>
                                <a:ea typeface="Cambria Math" panose="02040503050406030204" pitchFamily="18" charset="0"/>
                              </a:rPr>
                            </m:ctrlPr>
                          </m:fPr>
                          <m:num>
                            <m:r>
                              <a:rPr lang="en-US" b="1" i="1">
                                <a:solidFill>
                                  <a:prstClr val="black"/>
                                </a:solidFill>
                                <a:latin typeface="Cambria Math" panose="02040503050406030204" pitchFamily="18" charset="0"/>
                                <a:ea typeface="Cambria Math" panose="02040503050406030204" pitchFamily="18" charset="0"/>
                              </a:rPr>
                              <m:t>𝟑</m:t>
                            </m:r>
                          </m:num>
                          <m:den>
                            <m:r>
                              <a:rPr lang="en-US" b="1" i="1">
                                <a:solidFill>
                                  <a:prstClr val="black"/>
                                </a:solidFill>
                                <a:latin typeface="Cambria Math" panose="02040503050406030204" pitchFamily="18" charset="0"/>
                                <a:ea typeface="Cambria Math" panose="02040503050406030204" pitchFamily="18" charset="0"/>
                              </a:rPr>
                              <m:t>𝟐</m:t>
                            </m:r>
                          </m:den>
                        </m:f>
                        <m:r>
                          <a:rPr lang="en-US" b="1" i="1">
                            <a:solidFill>
                              <a:prstClr val="black"/>
                            </a:solidFill>
                            <a:latin typeface="Cambria Math" panose="02040503050406030204" pitchFamily="18" charset="0"/>
                            <a:ea typeface="Cambria Math" panose="02040503050406030204" pitchFamily="18" charset="0"/>
                          </a:rPr>
                          <m:t>;</m:t>
                        </m:r>
                        <m:r>
                          <a:rPr lang="en-US" b="1" i="1" smtClean="0">
                            <a:solidFill>
                              <a:prstClr val="black"/>
                            </a:solidFill>
                            <a:latin typeface="Cambria Math" panose="02040503050406030204" pitchFamily="18" charset="0"/>
                            <a:ea typeface="Cambria Math" panose="02040503050406030204" pitchFamily="18" charset="0"/>
                          </a:rPr>
                          <m:t>𝟑</m:t>
                        </m:r>
                      </m:e>
                    </m:d>
                  </m:oMath>
                </a14:m>
                <a:r>
                  <a:rPr lang="en-US" b="1">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a) Tìm tọa độ vectơ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𝒃</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r>
                      <a:rPr lang="en-US" b="1" i="1">
                        <a:latin typeface="Cambria Math" panose="02040503050406030204" pitchFamily="18" charset="0"/>
                      </a:rPr>
                      <m:t>−</m:t>
                    </m:r>
                    <m:r>
                      <a:rPr lang="en-US" b="1" i="1">
                        <a:latin typeface="Cambria Math" panose="02040503050406030204" pitchFamily="18" charset="0"/>
                      </a:rPr>
                      <m:t>𝟐</m:t>
                    </m:r>
                    <m:acc>
                      <m:accPr>
                        <m:chr m:val="⃗"/>
                        <m:ctrlPr>
                          <a:rPr lang="en-US" b="1" i="1">
                            <a:latin typeface="Cambria Math" panose="02040503050406030204" pitchFamily="18" charset="0"/>
                          </a:rPr>
                        </m:ctrlPr>
                      </m:accPr>
                      <m:e>
                        <m:r>
                          <a:rPr lang="en-US" b="1" i="1">
                            <a:latin typeface="Cambria Math" panose="02040503050406030204" pitchFamily="18" charset="0"/>
                          </a:rPr>
                          <m:t>𝒃</m:t>
                        </m:r>
                      </m:e>
                    </m:acc>
                  </m:oMath>
                </a14:m>
                <a:r>
                  <a:rPr lang="en-US" b="1">
                    <a:latin typeface="Tahoma" panose="020B0604030504040204" pitchFamily="34" charset="0"/>
                    <a:ea typeface="Tahoma" panose="020B0604030504040204" pitchFamily="34" charset="0"/>
                    <a:cs typeface="Tahoma" panose="020B0604030504040204" pitchFamily="34" charset="0"/>
                  </a:rPr>
                  <a:t>.	b) Hỏi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𝒃</m:t>
                        </m:r>
                      </m:e>
                    </m:acc>
                  </m:oMath>
                </a14:m>
                <a:r>
                  <a:rPr lang="en-US" b="1">
                    <a:latin typeface="Tahoma" panose="020B0604030504040204" pitchFamily="34" charset="0"/>
                    <a:ea typeface="Tahoma" panose="020B0604030504040204" pitchFamily="34" charset="0"/>
                    <a:cs typeface="Tahoma" panose="020B0604030504040204" pitchFamily="34" charset="0"/>
                  </a:rPr>
                  <a:t> có cùng phương hay không?</a:t>
                </a:r>
              </a:p>
              <a:p>
                <a:pPr lvl="0" defTabSz="2177278">
                  <a:lnSpc>
                    <a:spcPct val="100000"/>
                  </a:lnSpc>
                  <a:spcBef>
                    <a:spcPts val="0"/>
                  </a:spcBef>
                  <a:buClr>
                    <a:srgbClr val="FF0000"/>
                  </a:buClr>
                  <a:buFont typeface="Wingdings" panose="05000000000000000000" pitchFamily="2" charset="2"/>
                  <a:buChar char="Ø"/>
                </a:pPr>
                <a:r>
                  <a:rPr lang="en-US" b="1">
                    <a:latin typeface="Tahoma" panose="020B0604030504040204" pitchFamily="34" charset="0"/>
                    <a:ea typeface="Tahoma" panose="020B0604030504040204" pitchFamily="34" charset="0"/>
                    <a:cs typeface="Tahoma" panose="020B0604030504040204" pitchFamily="34" charset="0"/>
                  </a:rPr>
                  <a:t> </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Hướng dẫn:</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a) Vì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r>
                      <a:rPr lang="en-US" b="1" i="1">
                        <a:latin typeface="Cambria Math" panose="02040503050406030204" pitchFamily="18" charset="0"/>
                      </a:rPr>
                      <m:t>=</m:t>
                    </m:r>
                    <m:d>
                      <m:dPr>
                        <m:ctrlPr>
                          <a:rPr lang="en-US" b="1" i="1">
                            <a:latin typeface="Cambria Math" panose="02040503050406030204" pitchFamily="18" charset="0"/>
                          </a:rPr>
                        </m:ctrlPr>
                      </m:dPr>
                      <m:e>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𝟐</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𝒃</m:t>
                        </m:r>
                      </m:e>
                    </m:acc>
                    <m:r>
                      <a:rPr lang="en-US" b="1" i="1">
                        <a:latin typeface="Cambria Math" panose="02040503050406030204" pitchFamily="18" charset="0"/>
                      </a:rPr>
                      <m:t>=</m:t>
                    </m:r>
                    <m:d>
                      <m:dPr>
                        <m:ctrlPr>
                          <a:rPr lang="en-US" b="1" i="1">
                            <a:latin typeface="Cambria Math" panose="02040503050406030204" pitchFamily="18" charset="0"/>
                          </a:rPr>
                        </m:ctrlPr>
                      </m:dPr>
                      <m:e>
                        <m:f>
                          <m:fPr>
                            <m:ctrlPr>
                              <a:rPr lang="en-US" b="1" i="1">
                                <a:latin typeface="Cambria Math" panose="02040503050406030204" pitchFamily="18" charset="0"/>
                              </a:rPr>
                            </m:ctrlPr>
                          </m:fPr>
                          <m:num>
                            <m:r>
                              <a:rPr lang="en-US" b="1" i="1">
                                <a:latin typeface="Cambria Math" panose="02040503050406030204" pitchFamily="18" charset="0"/>
                              </a:rPr>
                              <m:t>𝟑</m:t>
                            </m:r>
                          </m:num>
                          <m:den>
                            <m:r>
                              <a:rPr lang="en-US" b="1" i="1">
                                <a:latin typeface="Cambria Math" panose="02040503050406030204" pitchFamily="18" charset="0"/>
                              </a:rPr>
                              <m:t>𝟐</m:t>
                            </m:r>
                          </m:den>
                        </m:f>
                        <m:r>
                          <a:rPr lang="en-US" b="1" i="1">
                            <a:latin typeface="Cambria Math" panose="02040503050406030204" pitchFamily="18" charset="0"/>
                          </a:rPr>
                          <m:t>;</m:t>
                        </m:r>
                        <m:r>
                          <a:rPr lang="en-US" b="1" i="1">
                            <a:latin typeface="Cambria Math" panose="02040503050406030204" pitchFamily="18" charset="0"/>
                          </a:rPr>
                          <m:t>𝟑</m:t>
                        </m:r>
                      </m:e>
                    </m:d>
                  </m:oMath>
                </a14:m>
                <a:r>
                  <a:rPr lang="en-US" b="1">
                    <a:latin typeface="Tahoma" panose="020B0604030504040204" pitchFamily="34" charset="0"/>
                    <a:ea typeface="Tahoma" panose="020B0604030504040204" pitchFamily="34" charset="0"/>
                    <a:cs typeface="Tahoma" panose="020B0604030504040204" pitchFamily="34" charset="0"/>
                  </a:rPr>
                  <a:t> nên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𝒃</m:t>
                        </m:r>
                      </m:e>
                    </m:acc>
                    <m:r>
                      <a:rPr lang="en-US" b="1" i="1">
                        <a:latin typeface="Cambria Math" panose="02040503050406030204" pitchFamily="18" charset="0"/>
                      </a:rPr>
                      <m:t>=</m:t>
                    </m:r>
                    <m:d>
                      <m:dPr>
                        <m:ctrlPr>
                          <a:rPr lang="en-US" b="1" i="1">
                            <a:latin typeface="Cambria Math" panose="02040503050406030204" pitchFamily="18" charset="0"/>
                          </a:rPr>
                        </m:ctrlPr>
                      </m:dPr>
                      <m:e>
                        <m:f>
                          <m:fPr>
                            <m:ctrlPr>
                              <a:rPr lang="en-US" b="1" i="1">
                                <a:latin typeface="Cambria Math" panose="02040503050406030204" pitchFamily="18" charset="0"/>
                              </a:rPr>
                            </m:ctrlPr>
                          </m:fPr>
                          <m:num>
                            <m:r>
                              <a:rPr lang="en-US" b="1" i="1">
                                <a:latin typeface="Cambria Math" panose="02040503050406030204" pitchFamily="18" charset="0"/>
                              </a:rPr>
                              <m:t>𝟓</m:t>
                            </m:r>
                          </m:num>
                          <m:den>
                            <m:r>
                              <a:rPr lang="en-US" b="1" i="1">
                                <a:latin typeface="Cambria Math" panose="02040503050406030204" pitchFamily="18" charset="0"/>
                              </a:rPr>
                              <m:t>𝟐</m:t>
                            </m:r>
                          </m:den>
                        </m:f>
                        <m:r>
                          <a:rPr lang="en-US" b="1" i="1">
                            <a:latin typeface="Cambria Math" panose="02040503050406030204" pitchFamily="18" charset="0"/>
                          </a:rPr>
                          <m:t>;</m:t>
                        </m:r>
                        <m:r>
                          <a:rPr lang="en-US" b="1" i="1">
                            <a:latin typeface="Cambria Math" panose="02040503050406030204" pitchFamily="18" charset="0"/>
                          </a:rPr>
                          <m:t>𝟓</m:t>
                        </m:r>
                      </m:e>
                    </m:d>
                  </m:oMath>
                </a14:m>
                <a:r>
                  <a:rPr lang="en-US" b="1">
                    <a:latin typeface="Tahoma" panose="020B0604030504040204" pitchFamily="34" charset="0"/>
                    <a:ea typeface="Tahoma" panose="020B0604030504040204" pitchFamily="34" charset="0"/>
                    <a:cs typeface="Tahoma" panose="020B0604030504040204" pitchFamily="34" charset="0"/>
                  </a:rPr>
                  <a:t>.</a:t>
                </a:r>
              </a:p>
              <a:p>
                <a:pPr>
                  <a:lnSpc>
                    <a:spcPct val="100000"/>
                  </a:lnSpc>
                </a:pPr>
                <a:r>
                  <a:rPr lang="en-US" b="1">
                    <a:latin typeface="Tahoma" panose="020B0604030504040204" pitchFamily="34" charset="0"/>
                    <a:ea typeface="Tahoma" panose="020B0604030504040204" pitchFamily="34" charset="0"/>
                    <a:cs typeface="Tahoma" panose="020B0604030504040204" pitchFamily="34" charset="0"/>
                  </a:rPr>
                  <a:t>Ta có </a:t>
                </a:r>
                <a14:m>
                  <m:oMath xmlns:m="http://schemas.openxmlformats.org/officeDocument/2006/math">
                    <m:r>
                      <a:rPr lang="en-US" b="1" i="1">
                        <a:latin typeface="Cambria Math" panose="02040503050406030204" pitchFamily="18" charset="0"/>
                      </a:rPr>
                      <m:t>𝟐</m:t>
                    </m:r>
                    <m:acc>
                      <m:accPr>
                        <m:chr m:val="⃗"/>
                        <m:ctrlPr>
                          <a:rPr lang="en-US" b="1" i="1">
                            <a:latin typeface="Cambria Math" panose="02040503050406030204" pitchFamily="18" charset="0"/>
                          </a:rPr>
                        </m:ctrlPr>
                      </m:accPr>
                      <m:e>
                        <m:r>
                          <a:rPr lang="en-US" b="1" i="1">
                            <a:latin typeface="Cambria Math" panose="02040503050406030204" pitchFamily="18" charset="0"/>
                          </a:rPr>
                          <m:t>𝒃</m:t>
                        </m:r>
                      </m:e>
                    </m:acc>
                    <m:r>
                      <a:rPr lang="en-US" b="1" i="1">
                        <a:latin typeface="Cambria Math" panose="02040503050406030204" pitchFamily="18" charset="0"/>
                      </a:rPr>
                      <m:t>=</m:t>
                    </m:r>
                    <m:d>
                      <m:dPr>
                        <m:ctrlPr>
                          <a:rPr lang="en-US" b="1" i="1">
                            <a:latin typeface="Cambria Math" panose="02040503050406030204" pitchFamily="18" charset="0"/>
                          </a:rPr>
                        </m:ctrlPr>
                      </m:dPr>
                      <m:e>
                        <m:r>
                          <a:rPr lang="en-US" b="1" i="1">
                            <a:latin typeface="Cambria Math" panose="02040503050406030204" pitchFamily="18" charset="0"/>
                          </a:rPr>
                          <m:t>𝟑</m:t>
                        </m:r>
                        <m:r>
                          <a:rPr lang="en-US" b="1" i="1">
                            <a:latin typeface="Cambria Math" panose="02040503050406030204" pitchFamily="18" charset="0"/>
                          </a:rPr>
                          <m:t>;</m:t>
                        </m:r>
                        <m:r>
                          <a:rPr lang="en-US" b="1" i="1">
                            <a:latin typeface="Cambria Math" panose="02040503050406030204" pitchFamily="18" charset="0"/>
                          </a:rPr>
                          <m:t>𝟔</m:t>
                        </m:r>
                      </m:e>
                    </m:d>
                  </m:oMath>
                </a14:m>
                <a:r>
                  <a:rPr lang="en-US" b="1">
                    <a:latin typeface="Tahoma" panose="020B0604030504040204" pitchFamily="34" charset="0"/>
                    <a:ea typeface="Tahoma" panose="020B0604030504040204" pitchFamily="34" charset="0"/>
                    <a:cs typeface="Tahoma" panose="020B0604030504040204" pitchFamily="34" charset="0"/>
                  </a:rPr>
                  <a:t> nên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r>
                      <a:rPr lang="en-US" b="1" i="1">
                        <a:latin typeface="Cambria Math" panose="02040503050406030204" pitchFamily="18" charset="0"/>
                      </a:rPr>
                      <m:t>−</m:t>
                    </m:r>
                    <m:r>
                      <a:rPr lang="en-US" b="1" i="1">
                        <a:latin typeface="Cambria Math" panose="02040503050406030204" pitchFamily="18" charset="0"/>
                      </a:rPr>
                      <m:t>𝟐</m:t>
                    </m:r>
                    <m:acc>
                      <m:accPr>
                        <m:chr m:val="⃗"/>
                        <m:ctrlPr>
                          <a:rPr lang="en-US" b="1" i="1">
                            <a:latin typeface="Cambria Math" panose="02040503050406030204" pitchFamily="18" charset="0"/>
                          </a:rPr>
                        </m:ctrlPr>
                      </m:accPr>
                      <m:e>
                        <m:r>
                          <a:rPr lang="en-US" b="1" i="1">
                            <a:latin typeface="Cambria Math" panose="02040503050406030204" pitchFamily="18" charset="0"/>
                          </a:rPr>
                          <m:t>𝒃</m:t>
                        </m:r>
                      </m:e>
                    </m:acc>
                    <m:r>
                      <a:rPr lang="en-US" b="1" i="1">
                        <a:latin typeface="Cambria Math" panose="02040503050406030204" pitchFamily="18" charset="0"/>
                      </a:rPr>
                      <m:t>=</m:t>
                    </m:r>
                    <m:d>
                      <m:dPr>
                        <m:ctrlPr>
                          <a:rPr lang="en-US" b="1" i="1">
                            <a:latin typeface="Cambria Math" panose="02040503050406030204" pitchFamily="18" charset="0"/>
                          </a:rPr>
                        </m:ctrlPr>
                      </m:dPr>
                      <m:e>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𝟒</m:t>
                        </m:r>
                      </m:e>
                    </m:d>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b) Do </a:t>
                </a:r>
                <a14:m>
                  <m:oMath xmlns:m="http://schemas.openxmlformats.org/officeDocument/2006/math">
                    <m:f>
                      <m:fPr>
                        <m:ctrlPr>
                          <a:rPr lang="en-US" b="1" i="1">
                            <a:latin typeface="Cambria Math" panose="02040503050406030204" pitchFamily="18" charset="0"/>
                          </a:rPr>
                        </m:ctrlPr>
                      </m:fPr>
                      <m:num>
                        <m:r>
                          <a:rPr lang="en-US" b="1" i="1">
                            <a:latin typeface="Cambria Math" panose="02040503050406030204" pitchFamily="18" charset="0"/>
                          </a:rPr>
                          <m:t>𝟑</m:t>
                        </m:r>
                      </m:num>
                      <m:den>
                        <m:r>
                          <a:rPr lang="en-US" b="1" i="1">
                            <a:latin typeface="Cambria Math" panose="02040503050406030204" pitchFamily="18" charset="0"/>
                          </a:rPr>
                          <m:t>𝟐</m:t>
                        </m:r>
                      </m:den>
                    </m:f>
                    <m:acc>
                      <m:accPr>
                        <m:chr m:val="⃗"/>
                        <m:ctrlPr>
                          <a:rPr lang="en-US" b="1" i="1">
                            <a:latin typeface="Cambria Math" panose="02040503050406030204" pitchFamily="18" charset="0"/>
                          </a:rPr>
                        </m:ctrlPr>
                      </m:accPr>
                      <m:e>
                        <m:r>
                          <a:rPr lang="en-US" b="1" i="1">
                            <a:latin typeface="Cambria Math" panose="02040503050406030204" pitchFamily="18" charset="0"/>
                          </a:rPr>
                          <m:t>𝒂</m:t>
                        </m:r>
                      </m:e>
                    </m:acc>
                    <m:r>
                      <a:rPr lang="en-US" b="1" i="1">
                        <a:latin typeface="Cambria Math" panose="02040503050406030204" pitchFamily="18" charset="0"/>
                      </a:rPr>
                      <m:t>=</m:t>
                    </m:r>
                    <m:d>
                      <m:dPr>
                        <m:ctrlPr>
                          <a:rPr lang="en-US" b="1" i="1">
                            <a:latin typeface="Cambria Math" panose="02040503050406030204" pitchFamily="18" charset="0"/>
                          </a:rPr>
                        </m:ctrlPr>
                      </m:dPr>
                      <m:e>
                        <m:f>
                          <m:fPr>
                            <m:ctrlPr>
                              <a:rPr lang="en-US" b="1" i="1">
                                <a:latin typeface="Cambria Math" panose="02040503050406030204" pitchFamily="18" charset="0"/>
                              </a:rPr>
                            </m:ctrlPr>
                          </m:fPr>
                          <m:num>
                            <m:r>
                              <a:rPr lang="en-US" b="1" i="1">
                                <a:latin typeface="Cambria Math" panose="02040503050406030204" pitchFamily="18" charset="0"/>
                              </a:rPr>
                              <m:t>𝟑</m:t>
                            </m:r>
                          </m:num>
                          <m:den>
                            <m:r>
                              <a:rPr lang="en-US" b="1" i="1">
                                <a:latin typeface="Cambria Math" panose="02040503050406030204" pitchFamily="18" charset="0"/>
                              </a:rPr>
                              <m:t>𝟐</m:t>
                            </m:r>
                          </m:den>
                        </m:f>
                        <m:r>
                          <a:rPr lang="en-US" b="1" i="1">
                            <a:latin typeface="Cambria Math" panose="02040503050406030204" pitchFamily="18" charset="0"/>
                          </a:rPr>
                          <m:t>;</m:t>
                        </m:r>
                        <m:r>
                          <a:rPr lang="en-US" b="1" i="1">
                            <a:latin typeface="Cambria Math" panose="02040503050406030204" pitchFamily="18" charset="0"/>
                          </a:rPr>
                          <m:t>𝟑</m:t>
                        </m:r>
                      </m:e>
                    </m:d>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𝒃</m:t>
                        </m:r>
                      </m:e>
                    </m:acc>
                  </m:oMath>
                </a14:m>
                <a:r>
                  <a:rPr lang="en-US" b="1">
                    <a:latin typeface="Tahoma" panose="020B0604030504040204" pitchFamily="34" charset="0"/>
                    <a:ea typeface="Tahoma" panose="020B0604030504040204" pitchFamily="34" charset="0"/>
                    <a:cs typeface="Tahoma" panose="020B0604030504040204" pitchFamily="34" charset="0"/>
                  </a:rPr>
                  <a:t> nên hai vectơ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𝒃</m:t>
                        </m:r>
                      </m:e>
                    </m:acc>
                  </m:oMath>
                </a14:m>
                <a:r>
                  <a:rPr lang="en-US" b="1">
                    <a:latin typeface="Tahoma" panose="020B0604030504040204" pitchFamily="34" charset="0"/>
                    <a:ea typeface="Tahoma" panose="020B0604030504040204" pitchFamily="34" charset="0"/>
                    <a:cs typeface="Tahoma" panose="020B0604030504040204" pitchFamily="34" charset="0"/>
                  </a:rPr>
                  <a:t> cùng phương.</a:t>
                </a:r>
              </a:p>
              <a:p>
                <a:pPr>
                  <a:lnSpc>
                    <a:spcPct val="100000"/>
                  </a:lnSpc>
                  <a:buFont typeface="Wingdings" panose="05000000000000000000" pitchFamily="2" charset="2"/>
                  <a:buChar char="ü"/>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Nhận xét: </a:t>
                </a:r>
                <a:r>
                  <a:rPr lang="en-US" b="1">
                    <a:latin typeface="Tahoma" panose="020B0604030504040204" pitchFamily="34" charset="0"/>
                    <a:ea typeface="Tahoma" panose="020B0604030504040204" pitchFamily="34" charset="0"/>
                    <a:cs typeface="Tahoma" panose="020B0604030504040204" pitchFamily="34" charset="0"/>
                  </a:rPr>
                  <a:t>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𝒚</m:t>
                        </m:r>
                        <m:r>
                          <a:rPr lang="en-US" b="1" i="1" smtClean="0">
                            <a:latin typeface="Cambria Math" panose="02040503050406030204" pitchFamily="18" charset="0"/>
                            <a:ea typeface="Cambria Math" panose="02040503050406030204" pitchFamily="18" charset="0"/>
                          </a:rPr>
                          <m:t>′</m:t>
                        </m:r>
                      </m:e>
                    </m:d>
                  </m:oMath>
                </a14:m>
                <a:r>
                  <a:rPr lang="en-US" b="1">
                    <a:latin typeface="Tahoma" panose="020B0604030504040204" pitchFamily="34" charset="0"/>
                    <a:ea typeface="Tahoma" panose="020B0604030504040204" pitchFamily="34" charset="0"/>
                    <a:cs typeface="Tahoma" panose="020B0604030504040204" pitchFamily="34" charset="0"/>
                  </a:rPr>
                  <a:t> cùng phương với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𝒖</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smtClean="0">
                            <a:latin typeface="Cambria Math" panose="02040503050406030204" pitchFamily="18" charset="0"/>
                            <a:ea typeface="Cambria Math" panose="02040503050406030204" pitchFamily="18" charset="0"/>
                          </a:rPr>
                          <m:t>𝟎</m:t>
                        </m:r>
                      </m:e>
                    </m:acc>
                  </m:oMath>
                </a14:m>
                <a:r>
                  <a:rPr lang="en-US" b="1">
                    <a:latin typeface="Tahoma" panose="020B0604030504040204" pitchFamily="34" charset="0"/>
                    <a:ea typeface="Tahoma" panose="020B0604030504040204" pitchFamily="34" charset="0"/>
                    <a:cs typeface="Tahoma" panose="020B0604030504040204" pitchFamily="34" charset="0"/>
                  </a:rPr>
                  <a:t> khi và chỉ khi tồn tại số </a:t>
                </a:r>
                <a14:m>
                  <m:oMath xmlns:m="http://schemas.openxmlformats.org/officeDocument/2006/math">
                    <m:r>
                      <a:rPr lang="en-US" b="1" i="1" smtClean="0">
                        <a:latin typeface="Cambria Math" panose="02040503050406030204" pitchFamily="18" charset="0"/>
                        <a:ea typeface="Cambria Math" panose="02040503050406030204" pitchFamily="18" charset="0"/>
                      </a:rPr>
                      <m:t>𝒌</m:t>
                    </m:r>
                  </m:oMath>
                </a14:m>
                <a:r>
                  <a:rPr lang="en-US" b="1">
                    <a:latin typeface="Tahoma" panose="020B0604030504040204" pitchFamily="34" charset="0"/>
                    <a:ea typeface="Tahoma" panose="020B0604030504040204" pitchFamily="34" charset="0"/>
                    <a:cs typeface="Tahoma" panose="020B0604030504040204" pitchFamily="34" charset="0"/>
                  </a:rPr>
                  <a:t> sao cho </a:t>
                </a:r>
                <a14:m>
                  <m:oMath xmlns:m="http://schemas.openxmlformats.org/officeDocument/2006/math">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𝒌𝒙</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𝒚</m:t>
                    </m:r>
                    <m:r>
                      <a:rPr lang="en-US" b="1" i="1" smtClean="0">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𝒌𝒚</m:t>
                    </m:r>
                  </m:oMath>
                </a14:m>
                <a:r>
                  <a:rPr lang="en-US" b="1">
                    <a:latin typeface="Tahoma" panose="020B0604030504040204" pitchFamily="34" charset="0"/>
                    <a:ea typeface="Tahoma" panose="020B0604030504040204" pitchFamily="34" charset="0"/>
                    <a:cs typeface="Tahoma" panose="020B0604030504040204" pitchFamily="34" charset="0"/>
                  </a:rPr>
                  <a:t> (hay là  </a:t>
                </a:r>
                <a14:m>
                  <m:oMath xmlns:m="http://schemas.openxmlformats.org/officeDocument/2006/math">
                    <m:f>
                      <m:fPr>
                        <m:ctrlPr>
                          <a:rPr lang="en-US" b="1" i="1">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num>
                      <m:den>
                        <m:r>
                          <a:rPr lang="en-US" b="1" i="1">
                            <a:latin typeface="Cambria Math" panose="02040503050406030204" pitchFamily="18" charset="0"/>
                            <a:ea typeface="Cambria Math" panose="02040503050406030204" pitchFamily="18" charset="0"/>
                          </a:rPr>
                          <m:t>𝒙</m:t>
                        </m:r>
                      </m:den>
                    </m:f>
                    <m:r>
                      <a:rPr lang="en-US" b="1" i="1">
                        <a:latin typeface="Cambria Math" panose="02040503050406030204" pitchFamily="18" charset="0"/>
                        <a:ea typeface="Cambria Math" panose="02040503050406030204" pitchFamily="18" charset="0"/>
                      </a:rPr>
                      <m:t>=</m:t>
                    </m:r>
                    <m:f>
                      <m:fPr>
                        <m:ctrlPr>
                          <a:rPr lang="en-US" b="1" i="1">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𝒚</m:t>
                        </m:r>
                        <m:r>
                          <a:rPr lang="en-US" b="1" i="1" smtClean="0">
                            <a:latin typeface="Cambria Math" panose="02040503050406030204" pitchFamily="18" charset="0"/>
                            <a:ea typeface="Cambria Math" panose="02040503050406030204" pitchFamily="18" charset="0"/>
                          </a:rPr>
                          <m:t>′</m:t>
                        </m:r>
                      </m:num>
                      <m:den>
                        <m:r>
                          <a:rPr lang="en-US" b="1" i="1">
                            <a:latin typeface="Cambria Math" panose="02040503050406030204" pitchFamily="18" charset="0"/>
                            <a:ea typeface="Cambria Math" panose="02040503050406030204" pitchFamily="18" charset="0"/>
                          </a:rPr>
                          <m:t>𝒚</m:t>
                        </m:r>
                      </m:den>
                    </m:f>
                  </m:oMath>
                </a14:m>
                <a:r>
                  <a:rPr lang="en-US" b="1">
                    <a:latin typeface="Tahoma" panose="020B0604030504040204" pitchFamily="34" charset="0"/>
                    <a:ea typeface="Tahoma" panose="020B0604030504040204" pitchFamily="34" charset="0"/>
                    <a:cs typeface="Tahoma" panose="020B0604030504040204" pitchFamily="34" charset="0"/>
                  </a:rPr>
                  <a:t> nếu </a:t>
                </a:r>
                <a14:m>
                  <m:oMath xmlns:m="http://schemas.openxmlformats.org/officeDocument/2006/math">
                    <m:r>
                      <a:rPr lang="en-US" b="1" i="1">
                        <a:latin typeface="Cambria Math" panose="02040503050406030204" pitchFamily="18" charset="0"/>
                        <a:ea typeface="Cambria Math" panose="02040503050406030204" pitchFamily="18" charset="0"/>
                      </a:rPr>
                      <m:t>𝒙𝒚</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𝟎</m:t>
                    </m:r>
                  </m:oMath>
                </a14:m>
                <a:r>
                  <a:rPr lang="en-US" b="1">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19278" y="2647950"/>
                <a:ext cx="23740872" cy="10820400"/>
              </a:xfrm>
              <a:prstGeom prst="rect">
                <a:avLst/>
              </a:prstGeom>
              <a:blipFill>
                <a:blip r:embed="rId3"/>
                <a:stretch>
                  <a:fillRect l="-1129" t="-844"/>
                </a:stretch>
              </a:blipFill>
              <a:ln>
                <a:solidFill>
                  <a:srgbClr val="00B0F0"/>
                </a:solidFill>
              </a:ln>
            </p:spPr>
            <p:txBody>
              <a:bodyPr/>
              <a:lstStyle/>
              <a:p>
                <a:r>
                  <a:rPr lang="en-US">
                    <a:noFill/>
                  </a:rPr>
                  <a:t> </a:t>
                </a:r>
              </a:p>
            </p:txBody>
          </p:sp>
        </mc:Fallback>
      </mc:AlternateContent>
      <p:sp>
        <p:nvSpPr>
          <p:cNvPr id="4" name="Title 1">
            <a:extLst>
              <a:ext uri="{FF2B5EF4-FFF2-40B4-BE49-F238E27FC236}">
                <a16:creationId xmlns:a16="http://schemas.microsoft.com/office/drawing/2014/main" id="{4C0A54A7-B269-4B7D-8782-98F22FCDEB57}"/>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9567337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1000"/>
                                        <p:tgtEl>
                                          <p:spTgt spid="99"/>
                                        </p:tgtEl>
                                      </p:cBhvr>
                                    </p:animEffect>
                                    <p:anim calcmode="lin" valueType="num">
                                      <p:cBhvr>
                                        <p:cTn id="8" dur="1000" fill="hold"/>
                                        <p:tgtEl>
                                          <p:spTgt spid="99"/>
                                        </p:tgtEl>
                                        <p:attrNameLst>
                                          <p:attrName>ppt_x</p:attrName>
                                        </p:attrNameLst>
                                      </p:cBhvr>
                                      <p:tavLst>
                                        <p:tav tm="0">
                                          <p:val>
                                            <p:strVal val="#ppt_x"/>
                                          </p:val>
                                        </p:tav>
                                        <p:tav tm="100000">
                                          <p:val>
                                            <p:strVal val="#ppt_x"/>
                                          </p:val>
                                        </p:tav>
                                      </p:tavLst>
                                    </p:anim>
                                    <p:anim calcmode="lin" valueType="num">
                                      <p:cBhvr>
                                        <p:cTn id="9"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9">
                                            <p:txEl>
                                              <p:pRg st="0" end="0"/>
                                            </p:txEl>
                                          </p:spTgt>
                                        </p:tgtEl>
                                        <p:attrNameLst>
                                          <p:attrName>style.visibility</p:attrName>
                                        </p:attrNameLst>
                                      </p:cBhvr>
                                      <p:to>
                                        <p:strVal val="visible"/>
                                      </p:to>
                                    </p:set>
                                    <p:animEffect transition="in" filter="fade">
                                      <p:cBhvr>
                                        <p:cTn id="14" dur="1000"/>
                                        <p:tgtEl>
                                          <p:spTgt spid="99">
                                            <p:txEl>
                                              <p:pRg st="0" end="0"/>
                                            </p:txEl>
                                          </p:spTgt>
                                        </p:tgtEl>
                                      </p:cBhvr>
                                    </p:animEffect>
                                    <p:anim calcmode="lin" valueType="num">
                                      <p:cBhvr>
                                        <p:cTn id="15" dur="1000" fill="hold"/>
                                        <p:tgtEl>
                                          <p:spTgt spid="9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9">
                                            <p:txEl>
                                              <p:pRg st="1" end="1"/>
                                            </p:txEl>
                                          </p:spTgt>
                                        </p:tgtEl>
                                        <p:attrNameLst>
                                          <p:attrName>style.visibility</p:attrName>
                                        </p:attrNameLst>
                                      </p:cBhvr>
                                      <p:to>
                                        <p:strVal val="visible"/>
                                      </p:to>
                                    </p:set>
                                    <p:animEffect transition="in" filter="fade">
                                      <p:cBhvr>
                                        <p:cTn id="21" dur="1000"/>
                                        <p:tgtEl>
                                          <p:spTgt spid="99">
                                            <p:txEl>
                                              <p:pRg st="1" end="1"/>
                                            </p:txEl>
                                          </p:spTgt>
                                        </p:tgtEl>
                                      </p:cBhvr>
                                    </p:animEffect>
                                    <p:anim calcmode="lin" valueType="num">
                                      <p:cBhvr>
                                        <p:cTn id="22" dur="1000" fill="hold"/>
                                        <p:tgtEl>
                                          <p:spTgt spid="9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9">
                                            <p:txEl>
                                              <p:pRg st="2" end="2"/>
                                            </p:txEl>
                                          </p:spTgt>
                                        </p:tgtEl>
                                        <p:attrNameLst>
                                          <p:attrName>style.visibility</p:attrName>
                                        </p:attrNameLst>
                                      </p:cBhvr>
                                      <p:to>
                                        <p:strVal val="visible"/>
                                      </p:to>
                                    </p:set>
                                    <p:animEffect transition="in" filter="fade">
                                      <p:cBhvr>
                                        <p:cTn id="28" dur="1000"/>
                                        <p:tgtEl>
                                          <p:spTgt spid="99">
                                            <p:txEl>
                                              <p:pRg st="2" end="2"/>
                                            </p:txEl>
                                          </p:spTgt>
                                        </p:tgtEl>
                                      </p:cBhvr>
                                    </p:animEffect>
                                    <p:anim calcmode="lin" valueType="num">
                                      <p:cBhvr>
                                        <p:cTn id="29" dur="1000" fill="hold"/>
                                        <p:tgtEl>
                                          <p:spTgt spid="9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9">
                                            <p:txEl>
                                              <p:pRg st="3" end="3"/>
                                            </p:txEl>
                                          </p:spTgt>
                                        </p:tgtEl>
                                        <p:attrNameLst>
                                          <p:attrName>style.visibility</p:attrName>
                                        </p:attrNameLst>
                                      </p:cBhvr>
                                      <p:to>
                                        <p:strVal val="visible"/>
                                      </p:to>
                                    </p:set>
                                    <p:animEffect transition="in" filter="fade">
                                      <p:cBhvr>
                                        <p:cTn id="35" dur="1000"/>
                                        <p:tgtEl>
                                          <p:spTgt spid="99">
                                            <p:txEl>
                                              <p:pRg st="3" end="3"/>
                                            </p:txEl>
                                          </p:spTgt>
                                        </p:tgtEl>
                                      </p:cBhvr>
                                    </p:animEffect>
                                    <p:anim calcmode="lin" valueType="num">
                                      <p:cBhvr>
                                        <p:cTn id="36" dur="1000" fill="hold"/>
                                        <p:tgtEl>
                                          <p:spTgt spid="99">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99">
                                            <p:txEl>
                                              <p:pRg st="4" end="4"/>
                                            </p:txEl>
                                          </p:spTgt>
                                        </p:tgtEl>
                                        <p:attrNameLst>
                                          <p:attrName>style.visibility</p:attrName>
                                        </p:attrNameLst>
                                      </p:cBhvr>
                                      <p:to>
                                        <p:strVal val="visible"/>
                                      </p:to>
                                    </p:set>
                                    <p:animEffect transition="in" filter="fade">
                                      <p:cBhvr>
                                        <p:cTn id="42" dur="1000"/>
                                        <p:tgtEl>
                                          <p:spTgt spid="99">
                                            <p:txEl>
                                              <p:pRg st="4" end="4"/>
                                            </p:txEl>
                                          </p:spTgt>
                                        </p:tgtEl>
                                      </p:cBhvr>
                                    </p:animEffect>
                                    <p:anim calcmode="lin" valueType="num">
                                      <p:cBhvr>
                                        <p:cTn id="43" dur="1000" fill="hold"/>
                                        <p:tgtEl>
                                          <p:spTgt spid="99">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9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99">
                                            <p:txEl>
                                              <p:pRg st="5" end="5"/>
                                            </p:txEl>
                                          </p:spTgt>
                                        </p:tgtEl>
                                        <p:attrNameLst>
                                          <p:attrName>style.visibility</p:attrName>
                                        </p:attrNameLst>
                                      </p:cBhvr>
                                      <p:to>
                                        <p:strVal val="visible"/>
                                      </p:to>
                                    </p:set>
                                    <p:animEffect transition="in" filter="fade">
                                      <p:cBhvr>
                                        <p:cTn id="49" dur="1000"/>
                                        <p:tgtEl>
                                          <p:spTgt spid="99">
                                            <p:txEl>
                                              <p:pRg st="5" end="5"/>
                                            </p:txEl>
                                          </p:spTgt>
                                        </p:tgtEl>
                                      </p:cBhvr>
                                    </p:animEffect>
                                    <p:anim calcmode="lin" valueType="num">
                                      <p:cBhvr>
                                        <p:cTn id="50" dur="1000" fill="hold"/>
                                        <p:tgtEl>
                                          <p:spTgt spid="99">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9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99">
                                            <p:txEl>
                                              <p:pRg st="6" end="6"/>
                                            </p:txEl>
                                          </p:spTgt>
                                        </p:tgtEl>
                                        <p:attrNameLst>
                                          <p:attrName>style.visibility</p:attrName>
                                        </p:attrNameLst>
                                      </p:cBhvr>
                                      <p:to>
                                        <p:strVal val="visible"/>
                                      </p:to>
                                    </p:set>
                                    <p:animEffect transition="in" filter="fade">
                                      <p:cBhvr>
                                        <p:cTn id="56" dur="1000"/>
                                        <p:tgtEl>
                                          <p:spTgt spid="99">
                                            <p:txEl>
                                              <p:pRg st="6" end="6"/>
                                            </p:txEl>
                                          </p:spTgt>
                                        </p:tgtEl>
                                      </p:cBhvr>
                                    </p:animEffect>
                                    <p:anim calcmode="lin" valueType="num">
                                      <p:cBhvr>
                                        <p:cTn id="57" dur="1000" fill="hold"/>
                                        <p:tgtEl>
                                          <p:spTgt spid="99">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9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99">
                                            <p:txEl>
                                              <p:pRg st="7" end="7"/>
                                            </p:txEl>
                                          </p:spTgt>
                                        </p:tgtEl>
                                        <p:attrNameLst>
                                          <p:attrName>style.visibility</p:attrName>
                                        </p:attrNameLst>
                                      </p:cBhvr>
                                      <p:to>
                                        <p:strVal val="visible"/>
                                      </p:to>
                                    </p:set>
                                    <p:animEffect transition="in" filter="fade">
                                      <p:cBhvr>
                                        <p:cTn id="63" dur="1000"/>
                                        <p:tgtEl>
                                          <p:spTgt spid="99">
                                            <p:txEl>
                                              <p:pRg st="7" end="7"/>
                                            </p:txEl>
                                          </p:spTgt>
                                        </p:tgtEl>
                                      </p:cBhvr>
                                    </p:animEffect>
                                    <p:anim calcmode="lin" valueType="num">
                                      <p:cBhvr>
                                        <p:cTn id="64" dur="1000" fill="hold"/>
                                        <p:tgtEl>
                                          <p:spTgt spid="99">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9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99">
                                            <p:txEl>
                                              <p:pRg st="8" end="8"/>
                                            </p:txEl>
                                          </p:spTgt>
                                        </p:tgtEl>
                                        <p:attrNameLst>
                                          <p:attrName>style.visibility</p:attrName>
                                        </p:attrNameLst>
                                      </p:cBhvr>
                                      <p:to>
                                        <p:strVal val="visible"/>
                                      </p:to>
                                    </p:set>
                                    <p:animEffect transition="in" filter="fade">
                                      <p:cBhvr>
                                        <p:cTn id="70" dur="1000"/>
                                        <p:tgtEl>
                                          <p:spTgt spid="99">
                                            <p:txEl>
                                              <p:pRg st="8" end="8"/>
                                            </p:txEl>
                                          </p:spTgt>
                                        </p:tgtEl>
                                      </p:cBhvr>
                                    </p:animEffect>
                                    <p:anim calcmode="lin" valueType="num">
                                      <p:cBhvr>
                                        <p:cTn id="71" dur="1000" fill="hold"/>
                                        <p:tgtEl>
                                          <p:spTgt spid="99">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99">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38328" y="2667000"/>
                <a:ext cx="14749272" cy="108965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25000"/>
                  </a:lnSpc>
                  <a:spcBef>
                    <a:spcPts val="0"/>
                  </a:spcBef>
                  <a:buClr>
                    <a:srgbClr val="FF0000"/>
                  </a:buClr>
                  <a:buFont typeface="Wingdings" panose="05000000000000000000" pitchFamily="2" charset="2"/>
                  <a:buChar char="q"/>
                </a:pPr>
                <a:r>
                  <a:rPr lang="en-US">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HĐ4: </a:t>
                </a:r>
                <a:r>
                  <a:rPr lang="en-US" b="1">
                    <a:latin typeface="Tahoma" panose="020B0604030504040204" pitchFamily="34" charset="0"/>
                    <a:ea typeface="Tahoma" panose="020B0604030504040204" pitchFamily="34" charset="0"/>
                    <a:cs typeface="Tahoma" panose="020B0604030504040204" pitchFamily="34" charset="0"/>
                  </a:rPr>
                  <a:t>Trong mặt phẳng tọa độ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a:latin typeface="Tahoma" panose="020B0604030504040204" pitchFamily="34" charset="0"/>
                    <a:ea typeface="Tahoma" panose="020B0604030504040204" pitchFamily="34" charset="0"/>
                    <a:cs typeface="Tahoma" panose="020B0604030504040204" pitchFamily="34" charset="0"/>
                  </a:rPr>
                  <a:t>, cho điểm </a:t>
                </a:r>
                <a14:m>
                  <m:oMath xmlns:m="http://schemas.openxmlformats.org/officeDocument/2006/math">
                    <m:r>
                      <a:rPr lang="en-US" b="1" i="1">
                        <a:latin typeface="Cambria Math" panose="02040503050406030204" pitchFamily="18" charset="0"/>
                        <a:ea typeface="Cambria Math" panose="02040503050406030204" pitchFamily="18" charset="0"/>
                      </a:rPr>
                      <m:t>𝑴</m:t>
                    </m:r>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smtClean="0">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e>
                    </m:d>
                  </m:oMath>
                </a14:m>
                <a:r>
                  <a:rPr lang="en-US" b="1">
                    <a:latin typeface="Tahoma" panose="020B0604030504040204" pitchFamily="34" charset="0"/>
                    <a:ea typeface="Tahoma" panose="020B0604030504040204" pitchFamily="34" charset="0"/>
                    <a:cs typeface="Tahoma" panose="020B0604030504040204" pitchFamily="34" charset="0"/>
                  </a:rPr>
                  <a:t>. Gọi </a:t>
                </a:r>
                <a14:m>
                  <m:oMath xmlns:m="http://schemas.openxmlformats.org/officeDocument/2006/math">
                    <m:r>
                      <a:rPr lang="en-US" b="1" i="1">
                        <a:latin typeface="Cambria Math" panose="02040503050406030204" pitchFamily="18" charset="0"/>
                        <a:ea typeface="Cambria Math" panose="02040503050406030204" pitchFamily="18" charset="0"/>
                      </a:rPr>
                      <m:t>𝑷</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𝑸</m:t>
                    </m:r>
                  </m:oMath>
                </a14:m>
                <a:r>
                  <a:rPr lang="en-US" b="1">
                    <a:latin typeface="Tahoma" panose="020B0604030504040204" pitchFamily="34" charset="0"/>
                    <a:ea typeface="Tahoma" panose="020B0604030504040204" pitchFamily="34" charset="0"/>
                    <a:cs typeface="Tahoma" panose="020B0604030504040204" pitchFamily="34" charset="0"/>
                  </a:rPr>
                  <a:t> tương ứng là hình chiếu vuông góc của điểm </a:t>
                </a:r>
                <a14:m>
                  <m:oMath xmlns:m="http://schemas.openxmlformats.org/officeDocument/2006/math">
                    <m:r>
                      <a:rPr lang="en-US" b="1" i="1">
                        <a:latin typeface="Cambria Math" panose="02040503050406030204" pitchFamily="18" charset="0"/>
                        <a:ea typeface="Cambria Math" panose="02040503050406030204" pitchFamily="18" charset="0"/>
                      </a:rPr>
                      <m:t>𝑴</m:t>
                    </m:r>
                  </m:oMath>
                </a14:m>
                <a:r>
                  <a:rPr lang="en-US" b="1">
                    <a:latin typeface="Tahoma" panose="020B0604030504040204" pitchFamily="34" charset="0"/>
                    <a:ea typeface="Tahoma" panose="020B0604030504040204" pitchFamily="34" charset="0"/>
                    <a:cs typeface="Tahoma" panose="020B0604030504040204" pitchFamily="34" charset="0"/>
                  </a:rPr>
                  <a:t> trên trục hoành </a:t>
                </a:r>
                <a14:m>
                  <m:oMath xmlns:m="http://schemas.openxmlformats.org/officeDocument/2006/math">
                    <m:r>
                      <a:rPr lang="en-US" b="1" i="1">
                        <a:latin typeface="Cambria Math" panose="02040503050406030204" pitchFamily="18" charset="0"/>
                        <a:ea typeface="Cambria Math" panose="02040503050406030204" pitchFamily="18" charset="0"/>
                      </a:rPr>
                      <m:t>𝑶𝒙</m:t>
                    </m:r>
                  </m:oMath>
                </a14:m>
                <a:r>
                  <a:rPr lang="en-US" b="1">
                    <a:latin typeface="Tahoma" panose="020B0604030504040204" pitchFamily="34" charset="0"/>
                    <a:ea typeface="Tahoma" panose="020B0604030504040204" pitchFamily="34" charset="0"/>
                    <a:cs typeface="Tahoma" panose="020B0604030504040204" pitchFamily="34" charset="0"/>
                  </a:rPr>
                  <a:t> và trục tung </a:t>
                </a:r>
                <a14:m>
                  <m:oMath xmlns:m="http://schemas.openxmlformats.org/officeDocument/2006/math">
                    <m:r>
                      <a:rPr lang="en-US" b="1" i="1">
                        <a:latin typeface="Cambria Math" panose="02040503050406030204" pitchFamily="18" charset="0"/>
                        <a:ea typeface="Cambria Math" panose="02040503050406030204" pitchFamily="18" charset="0"/>
                      </a:rPr>
                      <m:t>𝑶𝒚</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𝑯</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𝟑𝟓</m:t>
                        </m:r>
                      </m:e>
                    </m:d>
                  </m:oMath>
                </a14:m>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a) Trên trục </a:t>
                </a:r>
                <a14:m>
                  <m:oMath xmlns:m="http://schemas.openxmlformats.org/officeDocument/2006/math">
                    <m:r>
                      <a:rPr lang="en-US" b="1" i="1">
                        <a:latin typeface="Cambria Math" panose="02040503050406030204" pitchFamily="18" charset="0"/>
                        <a:ea typeface="Cambria Math" panose="02040503050406030204" pitchFamily="18" charset="0"/>
                      </a:rPr>
                      <m:t>𝑶𝒙</m:t>
                    </m:r>
                  </m:oMath>
                </a14:m>
                <a:r>
                  <a:rPr lang="en-US" b="1">
                    <a:latin typeface="Tahoma" panose="020B0604030504040204" pitchFamily="34" charset="0"/>
                    <a:ea typeface="Tahoma" panose="020B0604030504040204" pitchFamily="34" charset="0"/>
                    <a:cs typeface="Tahoma" panose="020B0604030504040204" pitchFamily="34" charset="0"/>
                  </a:rPr>
                  <a:t>, điểm </a:t>
                </a:r>
                <a14:m>
                  <m:oMath xmlns:m="http://schemas.openxmlformats.org/officeDocument/2006/math">
                    <m:r>
                      <a:rPr lang="en-US" b="1" i="1">
                        <a:latin typeface="Cambria Math" panose="02040503050406030204" pitchFamily="18" charset="0"/>
                        <a:ea typeface="Cambria Math" panose="02040503050406030204" pitchFamily="18" charset="0"/>
                      </a:rPr>
                      <m:t>𝑷</m:t>
                    </m:r>
                  </m:oMath>
                </a14:m>
                <a:r>
                  <a:rPr lang="en-US" b="1">
                    <a:latin typeface="Tahoma" panose="020B0604030504040204" pitchFamily="34" charset="0"/>
                    <a:ea typeface="Tahoma" panose="020B0604030504040204" pitchFamily="34" charset="0"/>
                    <a:cs typeface="Tahoma" panose="020B0604030504040204" pitchFamily="34" charset="0"/>
                  </a:rPr>
                  <a:t> biểu diễn số nào?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𝑶𝑷</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latin typeface="Tahoma" panose="020B0604030504040204" pitchFamily="34" charset="0"/>
                    <a:ea typeface="Tahoma" panose="020B0604030504040204" pitchFamily="34" charset="0"/>
                    <a:cs typeface="Tahoma" panose="020B0604030504040204" pitchFamily="34" charset="0"/>
                  </a:rPr>
                  <a:t> và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𝑶𝑷</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b) Trên trục </a:t>
                </a:r>
                <a14:m>
                  <m:oMath xmlns:m="http://schemas.openxmlformats.org/officeDocument/2006/math">
                    <m:r>
                      <a:rPr lang="en-US" b="1" i="1">
                        <a:latin typeface="Cambria Math" panose="02040503050406030204" pitchFamily="18" charset="0"/>
                        <a:ea typeface="Cambria Math" panose="02040503050406030204" pitchFamily="18" charset="0"/>
                      </a:rPr>
                      <m:t>𝑶𝒚</m:t>
                    </m:r>
                  </m:oMath>
                </a14:m>
                <a:r>
                  <a:rPr lang="en-US" b="1">
                    <a:latin typeface="Tahoma" panose="020B0604030504040204" pitchFamily="34" charset="0"/>
                    <a:ea typeface="Tahoma" panose="020B0604030504040204" pitchFamily="34" charset="0"/>
                    <a:cs typeface="Tahoma" panose="020B0604030504040204" pitchFamily="34" charset="0"/>
                  </a:rPr>
                  <a:t>, điểm </a:t>
                </a:r>
                <a14:m>
                  <m:oMath xmlns:m="http://schemas.openxmlformats.org/officeDocument/2006/math">
                    <m:r>
                      <a:rPr lang="en-US" b="1" i="1">
                        <a:latin typeface="Cambria Math" panose="02040503050406030204" pitchFamily="18" charset="0"/>
                        <a:ea typeface="Cambria Math" panose="02040503050406030204" pitchFamily="18" charset="0"/>
                      </a:rPr>
                      <m:t>𝑸</m:t>
                    </m:r>
                  </m:oMath>
                </a14:m>
                <a:r>
                  <a:rPr lang="en-US" b="1">
                    <a:latin typeface="Tahoma" panose="020B0604030504040204" pitchFamily="34" charset="0"/>
                    <a:ea typeface="Tahoma" panose="020B0604030504040204" pitchFamily="34" charset="0"/>
                    <a:cs typeface="Tahoma" panose="020B0604030504040204" pitchFamily="34" charset="0"/>
                  </a:rPr>
                  <a:t> biểu diễn số nào?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𝑶𝑸</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 và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𝑶𝑸</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c) Dựa vào hình chữ nhật </a:t>
                </a:r>
                <a14:m>
                  <m:oMath xmlns:m="http://schemas.openxmlformats.org/officeDocument/2006/math">
                    <m:r>
                      <a:rPr lang="en-US" b="1" i="1">
                        <a:latin typeface="Cambria Math" panose="02040503050406030204" pitchFamily="18" charset="0"/>
                        <a:ea typeface="Cambria Math" panose="02040503050406030204" pitchFamily="18" charset="0"/>
                      </a:rPr>
                      <m:t>𝑶𝑷𝑴𝑸</m:t>
                    </m:r>
                  </m:oMath>
                </a14:m>
                <a:r>
                  <a:rPr lang="en-US" b="1">
                    <a:latin typeface="Tahoma" panose="020B0604030504040204" pitchFamily="34" charset="0"/>
                    <a:ea typeface="Tahoma" panose="020B0604030504040204" pitchFamily="34" charset="0"/>
                    <a:cs typeface="Tahoma" panose="020B0604030504040204" pitchFamily="34" charset="0"/>
                  </a:rPr>
                  <a:t>,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d)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r>
                  <a:rPr lang="en-US" b="1">
                    <a:latin typeface="Tahoma" panose="020B0604030504040204" pitchFamily="34" charset="0"/>
                    <a:ea typeface="Tahoma" panose="020B0604030504040204" pitchFamily="34" charset="0"/>
                    <a:cs typeface="Tahoma" panose="020B0604030504040204" pitchFamily="34" charset="0"/>
                  </a:rPr>
                  <a:t> theo các vectơ đơn vị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a:t>
                </a:r>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25000"/>
                  </a:lnSpc>
                  <a:spcBef>
                    <a:spcPts val="0"/>
                  </a:spcBef>
                  <a:buNone/>
                </a:pPr>
                <a:endParaRPr lang="en-US">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38328" y="2667000"/>
                <a:ext cx="14749272" cy="10896599"/>
              </a:xfrm>
              <a:prstGeom prst="rect">
                <a:avLst/>
              </a:prstGeom>
              <a:blipFill>
                <a:blip r:embed="rId3"/>
                <a:stretch>
                  <a:fillRect l="-1859" t="-56" r="-1404"/>
                </a:stretch>
              </a:blipFill>
              <a:ln>
                <a:solidFill>
                  <a:srgbClr val="00B0F0"/>
                </a:solidFill>
              </a:ln>
            </p:spPr>
            <p:txBody>
              <a:bodyPr/>
              <a:lstStyle/>
              <a:p>
                <a:r>
                  <a:rPr lang="en-US">
                    <a:noFill/>
                  </a:rPr>
                  <a:t> </a:t>
                </a:r>
              </a:p>
            </p:txBody>
          </p:sp>
        </mc:Fallback>
      </mc:AlternateContent>
      <p:sp>
        <p:nvSpPr>
          <p:cNvPr id="5" name="Title 1">
            <a:extLst>
              <a:ext uri="{FF2B5EF4-FFF2-40B4-BE49-F238E27FC236}">
                <a16:creationId xmlns:a16="http://schemas.microsoft.com/office/drawing/2014/main" id="{91EFB9E1-C2C8-4179-962F-C0CDC30C73C0}"/>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9433443-F7C6-4FAD-8BCF-22C0992B6D9C}"/>
                  </a:ext>
                </a:extLst>
              </p:cNvPr>
              <p:cNvSpPr txBox="1">
                <a:spLocks/>
              </p:cNvSpPr>
              <p:nvPr/>
            </p:nvSpPr>
            <p:spPr>
              <a:xfrm>
                <a:off x="15358872" y="2667000"/>
                <a:ext cx="8686800" cy="108965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spcBef>
                    <a:spcPts val="600"/>
                  </a:spcBef>
                  <a:buNone/>
                </a:pPr>
                <a:r>
                  <a:rPr lang="en-US" b="1">
                    <a:latin typeface="Tahoma" panose="020B0604030504040204" pitchFamily="34" charset="0"/>
                    <a:ea typeface="Tahoma" panose="020B0604030504040204" pitchFamily="34" charset="0"/>
                    <a:cs typeface="Tahoma" panose="020B0604030504040204" pitchFamily="34" charset="0"/>
                  </a:rPr>
                  <a:t>Hình 4.35</a:t>
                </a:r>
              </a:p>
              <a:p>
                <a:pPr algn="just">
                  <a:lnSpc>
                    <a:spcPct val="100000"/>
                  </a:lnSpc>
                  <a:spcBef>
                    <a:spcPts val="600"/>
                  </a:spcBef>
                  <a:buFont typeface="Wingdings" panose="05000000000000000000" pitchFamily="2" charset="2"/>
                  <a:buChar char="Ø"/>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Hướng dẫn:</a:t>
                </a:r>
              </a:p>
              <a:p>
                <a:pPr marL="0" indent="0" algn="just">
                  <a:lnSpc>
                    <a:spcPct val="100000"/>
                  </a:lnSpc>
                  <a:spcBef>
                    <a:spcPts val="600"/>
                  </a:spcBef>
                  <a:buNone/>
                </a:pPr>
                <a:r>
                  <a:rPr lang="fr-FR" b="1">
                    <a:latin typeface="Tahoma" panose="020B0604030504040204" pitchFamily="34" charset="0"/>
                    <a:ea typeface="Tahoma" panose="020B0604030504040204" pitchFamily="34" charset="0"/>
                    <a:cs typeface="Tahoma" panose="020B0604030504040204" pitchFamily="34" charset="0"/>
                  </a:rPr>
                  <a:t>a)</a:t>
                </a:r>
              </a:p>
              <a:p>
                <a:pPr>
                  <a:lnSpc>
                    <a:spcPct val="100000"/>
                  </a:lnSpc>
                  <a:spcBef>
                    <a:spcPts val="600"/>
                  </a:spcBef>
                </a:pPr>
                <a14:m>
                  <m:oMath xmlns:m="http://schemas.openxmlformats.org/officeDocument/2006/math">
                    <m:r>
                      <m:rPr>
                        <m:nor/>
                      </m:rPr>
                      <a:rPr lang="en-US" b="1">
                        <a:latin typeface="Tahoma" panose="020B0604030504040204" pitchFamily="34" charset="0"/>
                        <a:ea typeface="Tahoma" panose="020B0604030504040204" pitchFamily="34" charset="0"/>
                        <a:cs typeface="Tahoma" panose="020B0604030504040204" pitchFamily="34" charset="0"/>
                      </a:rPr>
                      <m:t>Đ</m:t>
                    </m:r>
                    <m:r>
                      <m:rPr>
                        <m:nor/>
                      </m:rPr>
                      <a:rPr lang="en-US" b="1">
                        <a:latin typeface="Tahoma" panose="020B0604030504040204" pitchFamily="34" charset="0"/>
                        <a:ea typeface="Tahoma" panose="020B0604030504040204" pitchFamily="34" charset="0"/>
                        <a:cs typeface="Tahoma" panose="020B0604030504040204" pitchFamily="34" charset="0"/>
                      </a:rPr>
                      <m:t>i</m:t>
                    </m:r>
                    <m:r>
                      <m:rPr>
                        <m:nor/>
                      </m:rPr>
                      <a:rPr lang="en-US" b="1">
                        <a:latin typeface="Tahoma" panose="020B0604030504040204" pitchFamily="34" charset="0"/>
                        <a:ea typeface="Tahoma" panose="020B0604030504040204" pitchFamily="34" charset="0"/>
                        <a:cs typeface="Tahoma" panose="020B0604030504040204" pitchFamily="34" charset="0"/>
                      </a:rPr>
                      <m:t>ể</m:t>
                    </m:r>
                    <m:r>
                      <m:rPr>
                        <m:nor/>
                      </m:rPr>
                      <a:rPr lang="en-US" b="1">
                        <a:latin typeface="Tahoma" panose="020B0604030504040204" pitchFamily="34" charset="0"/>
                        <a:ea typeface="Tahoma" panose="020B0604030504040204" pitchFamily="34" charset="0"/>
                        <a:cs typeface="Tahoma" panose="020B0604030504040204" pitchFamily="34" charset="0"/>
                      </a:rPr>
                      <m:t>m</m:t>
                    </m:r>
                    <m:r>
                      <m:rPr>
                        <m:nor/>
                      </m:rPr>
                      <a:rPr lang="en-US" b="1">
                        <a:latin typeface="Tahoma" panose="020B0604030504040204" pitchFamily="34" charset="0"/>
                        <a:ea typeface="Tahoma" panose="020B0604030504040204" pitchFamily="34" charset="0"/>
                        <a:cs typeface="Tahoma" panose="020B0604030504040204" pitchFamily="34" charset="0"/>
                      </a:rPr>
                      <m:t> </m:t>
                    </m:r>
                    <m:r>
                      <a:rPr lang="en-US" b="1" i="1" smtClean="0">
                        <a:latin typeface="Cambria Math" panose="02040503050406030204" pitchFamily="18" charset="0"/>
                      </a:rPr>
                      <m:t>𝑷</m:t>
                    </m:r>
                    <m:r>
                      <m:rPr>
                        <m:nor/>
                      </m:rPr>
                      <a:rPr lang="en-US" b="1">
                        <a:latin typeface="Tahoma" panose="020B0604030504040204" pitchFamily="34" charset="0"/>
                        <a:ea typeface="Tahoma" panose="020B0604030504040204" pitchFamily="34" charset="0"/>
                        <a:cs typeface="Tahoma" panose="020B0604030504040204" pitchFamily="34" charset="0"/>
                      </a:rPr>
                      <m:t> </m:t>
                    </m:r>
                    <m:r>
                      <m:rPr>
                        <m:nor/>
                      </m:rPr>
                      <a:rPr lang="en-US" b="1">
                        <a:latin typeface="Tahoma" panose="020B0604030504040204" pitchFamily="34" charset="0"/>
                        <a:ea typeface="Tahoma" panose="020B0604030504040204" pitchFamily="34" charset="0"/>
                        <a:cs typeface="Tahoma" panose="020B0604030504040204" pitchFamily="34" charset="0"/>
                      </a:rPr>
                      <m:t>bi</m:t>
                    </m:r>
                    <m:r>
                      <m:rPr>
                        <m:nor/>
                      </m:rPr>
                      <a:rPr lang="en-US" b="1">
                        <a:latin typeface="Tahoma" panose="020B0604030504040204" pitchFamily="34" charset="0"/>
                        <a:ea typeface="Tahoma" panose="020B0604030504040204" pitchFamily="34" charset="0"/>
                        <a:cs typeface="Tahoma" panose="020B0604030504040204" pitchFamily="34" charset="0"/>
                      </a:rPr>
                      <m:t>ể</m:t>
                    </m:r>
                    <m:r>
                      <m:rPr>
                        <m:nor/>
                      </m:rPr>
                      <a:rPr lang="en-US" b="1">
                        <a:latin typeface="Tahoma" panose="020B0604030504040204" pitchFamily="34" charset="0"/>
                        <a:ea typeface="Tahoma" panose="020B0604030504040204" pitchFamily="34" charset="0"/>
                        <a:cs typeface="Tahoma" panose="020B0604030504040204" pitchFamily="34" charset="0"/>
                      </a:rPr>
                      <m:t>u</m:t>
                    </m:r>
                    <m:r>
                      <m:rPr>
                        <m:nor/>
                      </m:rPr>
                      <a:rPr lang="en-US" b="1">
                        <a:latin typeface="Tahoma" panose="020B0604030504040204" pitchFamily="34" charset="0"/>
                        <a:ea typeface="Tahoma" panose="020B0604030504040204" pitchFamily="34" charset="0"/>
                        <a:cs typeface="Tahoma" panose="020B0604030504040204" pitchFamily="34" charset="0"/>
                      </a:rPr>
                      <m:t> </m:t>
                    </m:r>
                    <m:r>
                      <m:rPr>
                        <m:nor/>
                      </m:rPr>
                      <a:rPr lang="en-US" b="1">
                        <a:latin typeface="Tahoma" panose="020B0604030504040204" pitchFamily="34" charset="0"/>
                        <a:ea typeface="Tahoma" panose="020B0604030504040204" pitchFamily="34" charset="0"/>
                        <a:cs typeface="Tahoma" panose="020B0604030504040204" pitchFamily="34" charset="0"/>
                      </a:rPr>
                      <m:t>di</m:t>
                    </m:r>
                    <m:r>
                      <m:rPr>
                        <m:nor/>
                      </m:rPr>
                      <a:rPr lang="en-US" b="1">
                        <a:latin typeface="Tahoma" panose="020B0604030504040204" pitchFamily="34" charset="0"/>
                        <a:ea typeface="Tahoma" panose="020B0604030504040204" pitchFamily="34" charset="0"/>
                        <a:cs typeface="Tahoma" panose="020B0604030504040204" pitchFamily="34" charset="0"/>
                      </a:rPr>
                      <m:t>ễ</m:t>
                    </m:r>
                    <m:r>
                      <m:rPr>
                        <m:nor/>
                      </m:rPr>
                      <a:rPr lang="en-US" b="1">
                        <a:latin typeface="Tahoma" panose="020B0604030504040204" pitchFamily="34" charset="0"/>
                        <a:ea typeface="Tahoma" panose="020B0604030504040204" pitchFamily="34" charset="0"/>
                        <a:cs typeface="Tahoma" panose="020B0604030504040204" pitchFamily="34" charset="0"/>
                      </a:rPr>
                      <m:t>n</m:t>
                    </m:r>
                    <m:r>
                      <m:rPr>
                        <m:nor/>
                      </m:rPr>
                      <a:rPr lang="en-US" b="1">
                        <a:latin typeface="Tahoma" panose="020B0604030504040204" pitchFamily="34" charset="0"/>
                        <a:ea typeface="Tahoma" panose="020B0604030504040204" pitchFamily="34" charset="0"/>
                        <a:cs typeface="Tahoma" panose="020B0604030504040204" pitchFamily="34" charset="0"/>
                      </a:rPr>
                      <m:t> </m:t>
                    </m:r>
                    <m:r>
                      <m:rPr>
                        <m:nor/>
                      </m:rPr>
                      <a:rPr lang="en-US" b="1">
                        <a:latin typeface="Tahoma" panose="020B0604030504040204" pitchFamily="34" charset="0"/>
                        <a:ea typeface="Tahoma" panose="020B0604030504040204" pitchFamily="34" charset="0"/>
                        <a:cs typeface="Tahoma" panose="020B0604030504040204" pitchFamily="34" charset="0"/>
                      </a:rPr>
                      <m:t>s</m:t>
                    </m:r>
                    <m:r>
                      <m:rPr>
                        <m:nor/>
                      </m:rPr>
                      <a:rPr lang="en-US" b="1">
                        <a:latin typeface="Tahoma" panose="020B0604030504040204" pitchFamily="34" charset="0"/>
                        <a:ea typeface="Tahoma" panose="020B0604030504040204" pitchFamily="34" charset="0"/>
                        <a:cs typeface="Tahoma" panose="020B0604030504040204" pitchFamily="34" charset="0"/>
                      </a:rPr>
                      <m:t>ố </m:t>
                    </m:r>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𝟎</m:t>
                        </m:r>
                      </m:sub>
                    </m:sSub>
                    <m:r>
                      <m:rPr>
                        <m:nor/>
                      </m:rPr>
                      <a:rPr lang="en-US" b="1">
                        <a:latin typeface="Tahoma" panose="020B0604030504040204" pitchFamily="34" charset="0"/>
                        <a:ea typeface="Tahoma" panose="020B0604030504040204" pitchFamily="34" charset="0"/>
                        <a:cs typeface="Tahoma" panose="020B0604030504040204" pitchFamily="34" charset="0"/>
                      </a:rPr>
                      <m:t>.</m:t>
                    </m:r>
                  </m:oMath>
                </a14:m>
                <a:endParaRPr lang="en-US" b="1">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600"/>
                  </a:spcBef>
                </a:pP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𝑶𝑷</m:t>
                        </m:r>
                      </m:e>
                    </m:acc>
                    <m:r>
                      <a:rPr lang="en-US" b="1" i="1">
                        <a:latin typeface="Cambria Math" panose="02040503050406030204" pitchFamily="18" charset="0"/>
                      </a:rPr>
                      <m:t>=</m:t>
                    </m:r>
                    <m:sSub>
                      <m:sSubPr>
                        <m:ctrlPr>
                          <a:rPr lang="en-US" b="1" i="1" smtClean="0">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𝟎</m:t>
                        </m:r>
                      </m:sub>
                    </m:sSub>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𝒊</m:t>
                        </m:r>
                      </m:e>
                    </m:acc>
                  </m:oMath>
                </a14:m>
                <a:endParaRPr lang="en-US" b="1">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600"/>
                  </a:spcBef>
                </a:pPr>
                <a14:m>
                  <m:oMath xmlns:m="http://schemas.openxmlformats.org/officeDocument/2006/math">
                    <m:d>
                      <m:dPr>
                        <m:begChr m:val="|"/>
                        <m:endChr m:val="|"/>
                        <m:ctrlPr>
                          <a:rPr lang="en-US" b="1" i="1" smtClean="0">
                            <a:latin typeface="Cambria Math" panose="02040503050406030204" pitchFamily="18" charset="0"/>
                          </a:rPr>
                        </m:ctrlPr>
                      </m:dPr>
                      <m:e>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𝑶𝑷</m:t>
                            </m:r>
                          </m:e>
                        </m:acc>
                      </m:e>
                    </m:d>
                    <m:r>
                      <a:rPr lang="en-US" b="1" i="1" smtClean="0">
                        <a:latin typeface="Cambria Math" panose="02040503050406030204" pitchFamily="18" charset="0"/>
                      </a:rPr>
                      <m:t>=</m:t>
                    </m:r>
                    <m:r>
                      <a:rPr lang="en-US" b="1" i="1" smtClean="0">
                        <a:latin typeface="Cambria Math" panose="02040503050406030204" pitchFamily="18" charset="0"/>
                      </a:rPr>
                      <m:t>𝑶𝑷</m:t>
                    </m:r>
                    <m:r>
                      <a:rPr lang="en-US" b="1" i="1" smtClean="0">
                        <a:latin typeface="Cambria Math" panose="02040503050406030204" pitchFamily="18" charset="0"/>
                      </a:rPr>
                      <m:t>=</m:t>
                    </m:r>
                    <m:d>
                      <m:dPr>
                        <m:begChr m:val="|"/>
                        <m:endChr m:val="|"/>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𝟎</m:t>
                            </m:r>
                          </m:sub>
                        </m:sSub>
                      </m:e>
                    </m:d>
                  </m:oMath>
                </a14:m>
                <a:r>
                  <a:rPr lang="en-US" b="1">
                    <a:latin typeface="Tahoma" panose="020B0604030504040204" pitchFamily="34" charset="0"/>
                    <a:ea typeface="Tahoma" panose="020B0604030504040204" pitchFamily="34" charset="0"/>
                    <a:cs typeface="Tahoma" panose="020B0604030504040204" pitchFamily="34" charset="0"/>
                  </a:rPr>
                  <a:t>.</a:t>
                </a:r>
                <a:endParaRPr lang="fr-FR" b="1">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 name="Content Placeholder 2">
                <a:extLst>
                  <a:ext uri="{FF2B5EF4-FFF2-40B4-BE49-F238E27FC236}">
                    <a16:creationId xmlns:a16="http://schemas.microsoft.com/office/drawing/2014/main" id="{89433443-F7C6-4FAD-8BCF-22C0992B6D9C}"/>
                  </a:ext>
                </a:extLst>
              </p:cNvPr>
              <p:cNvSpPr txBox="1">
                <a:spLocks noRot="1" noChangeAspect="1" noMove="1" noResize="1" noEditPoints="1" noAdjustHandles="1" noChangeArrowheads="1" noChangeShapeType="1" noTextEdit="1"/>
              </p:cNvSpPr>
              <p:nvPr/>
            </p:nvSpPr>
            <p:spPr>
              <a:xfrm>
                <a:off x="15358872" y="2667000"/>
                <a:ext cx="8686800" cy="10896599"/>
              </a:xfrm>
              <a:prstGeom prst="rect">
                <a:avLst/>
              </a:prstGeom>
              <a:blipFill>
                <a:blip r:embed="rId4"/>
                <a:stretch>
                  <a:fillRect l="-3153"/>
                </a:stretch>
              </a:blipFill>
              <a:ln>
                <a:solidFill>
                  <a:srgbClr val="00B0F0"/>
                </a:solidFill>
              </a:ln>
            </p:spPr>
            <p:txBody>
              <a:bodyPr/>
              <a:lstStyle/>
              <a:p>
                <a:r>
                  <a:rPr lang="en-US">
                    <a:noFill/>
                  </a:rPr>
                  <a:t> </a:t>
                </a:r>
              </a:p>
            </p:txBody>
          </p:sp>
        </mc:Fallback>
      </mc:AlternateContent>
      <p:pic>
        <p:nvPicPr>
          <p:cNvPr id="10" name="Picture 9" descr="A picture containing text, red, dark&#10;&#10;Description automatically generated">
            <a:extLst>
              <a:ext uri="{FF2B5EF4-FFF2-40B4-BE49-F238E27FC236}">
                <a16:creationId xmlns:a16="http://schemas.microsoft.com/office/drawing/2014/main" id="{CF0E3ECF-D6BB-4154-8F3C-18363D5936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230600" y="2667000"/>
            <a:ext cx="7162800" cy="5139229"/>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655518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1000"/>
                                        <p:tgtEl>
                                          <p:spTgt spid="99"/>
                                        </p:tgtEl>
                                      </p:cBhvr>
                                    </p:animEffect>
                                    <p:anim calcmode="lin" valueType="num">
                                      <p:cBhvr>
                                        <p:cTn id="8" dur="1000" fill="hold"/>
                                        <p:tgtEl>
                                          <p:spTgt spid="99"/>
                                        </p:tgtEl>
                                        <p:attrNameLst>
                                          <p:attrName>ppt_x</p:attrName>
                                        </p:attrNameLst>
                                      </p:cBhvr>
                                      <p:tavLst>
                                        <p:tav tm="0">
                                          <p:val>
                                            <p:strVal val="#ppt_x"/>
                                          </p:val>
                                        </p:tav>
                                        <p:tav tm="100000">
                                          <p:val>
                                            <p:strVal val="#ppt_x"/>
                                          </p:val>
                                        </p:tav>
                                      </p:tavLst>
                                    </p:anim>
                                    <p:anim calcmode="lin" valueType="num">
                                      <p:cBhvr>
                                        <p:cTn id="9" dur="1000" fill="hold"/>
                                        <p:tgtEl>
                                          <p:spTgt spid="9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9">
                                            <p:txEl>
                                              <p:pRg st="0" end="0"/>
                                            </p:txEl>
                                          </p:spTgt>
                                        </p:tgtEl>
                                        <p:attrNameLst>
                                          <p:attrName>style.visibility</p:attrName>
                                        </p:attrNameLst>
                                      </p:cBhvr>
                                      <p:to>
                                        <p:strVal val="visible"/>
                                      </p:to>
                                    </p:set>
                                    <p:animEffect transition="in" filter="fade">
                                      <p:cBhvr>
                                        <p:cTn id="13" dur="1000"/>
                                        <p:tgtEl>
                                          <p:spTgt spid="99">
                                            <p:txEl>
                                              <p:pRg st="0" end="0"/>
                                            </p:txEl>
                                          </p:spTgt>
                                        </p:tgtEl>
                                      </p:cBhvr>
                                    </p:animEffect>
                                    <p:anim calcmode="lin" valueType="num">
                                      <p:cBhvr>
                                        <p:cTn id="14" dur="1000" fill="hold"/>
                                        <p:tgtEl>
                                          <p:spTgt spid="99">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99">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1000"/>
                                        <p:tgtEl>
                                          <p:spTgt spid="4">
                                            <p:txEl>
                                              <p:pRg st="6" end="6"/>
                                            </p:txEl>
                                          </p:spTgt>
                                        </p:tgtEl>
                                      </p:cBhvr>
                                    </p:animEffect>
                                    <p:anim calcmode="lin" valueType="num">
                                      <p:cBhvr>
                                        <p:cTn id="3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nodeType="afterEffect">
                                  <p:stCondLst>
                                    <p:cond delay="0"/>
                                  </p:stCondLst>
                                  <p:childTnLst>
                                    <p:set>
                                      <p:cBhvr>
                                        <p:cTn id="36" dur="1" fill="hold">
                                          <p:stCondLst>
                                            <p:cond delay="0"/>
                                          </p:stCondLst>
                                        </p:cTn>
                                        <p:tgtEl>
                                          <p:spTgt spid="99">
                                            <p:txEl>
                                              <p:pRg st="1" end="1"/>
                                            </p:txEl>
                                          </p:spTgt>
                                        </p:tgtEl>
                                        <p:attrNameLst>
                                          <p:attrName>style.visibility</p:attrName>
                                        </p:attrNameLst>
                                      </p:cBhvr>
                                      <p:to>
                                        <p:strVal val="visible"/>
                                      </p:to>
                                    </p:set>
                                    <p:animEffect transition="in" filter="fade">
                                      <p:cBhvr>
                                        <p:cTn id="37" dur="1000"/>
                                        <p:tgtEl>
                                          <p:spTgt spid="99">
                                            <p:txEl>
                                              <p:pRg st="1" end="1"/>
                                            </p:txEl>
                                          </p:spTgt>
                                        </p:tgtEl>
                                      </p:cBhvr>
                                    </p:animEffect>
                                    <p:anim calcmode="lin" valueType="num">
                                      <p:cBhvr>
                                        <p:cTn id="38" dur="1000" fill="hold"/>
                                        <p:tgtEl>
                                          <p:spTgt spid="99">
                                            <p:txEl>
                                              <p:pRg st="1" end="1"/>
                                            </p:txEl>
                                          </p:spTgt>
                                        </p:tgtEl>
                                        <p:attrNameLst>
                                          <p:attrName>ppt_x</p:attrName>
                                        </p:attrNameLst>
                                      </p:cBhvr>
                                      <p:tavLst>
                                        <p:tav tm="0">
                                          <p:val>
                                            <p:strVal val="#ppt_x"/>
                                          </p:val>
                                        </p:tav>
                                        <p:tav tm="100000">
                                          <p:val>
                                            <p:strVal val="#ppt_x"/>
                                          </p:val>
                                        </p:tav>
                                      </p:tavLst>
                                    </p:anim>
                                    <p:anim calcmode="lin" valueType="num">
                                      <p:cBhvr>
                                        <p:cTn id="39" dur="1000" fill="hold"/>
                                        <p:tgtEl>
                                          <p:spTgt spid="99">
                                            <p:txEl>
                                              <p:pRg st="1" end="1"/>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nodeType="afterEffect">
                                  <p:stCondLst>
                                    <p:cond delay="0"/>
                                  </p:stCondLst>
                                  <p:childTnLst>
                                    <p:set>
                                      <p:cBhvr>
                                        <p:cTn id="42" dur="1" fill="hold">
                                          <p:stCondLst>
                                            <p:cond delay="0"/>
                                          </p:stCondLst>
                                        </p:cTn>
                                        <p:tgtEl>
                                          <p:spTgt spid="99">
                                            <p:txEl>
                                              <p:pRg st="2" end="2"/>
                                            </p:txEl>
                                          </p:spTgt>
                                        </p:tgtEl>
                                        <p:attrNameLst>
                                          <p:attrName>style.visibility</p:attrName>
                                        </p:attrNameLst>
                                      </p:cBhvr>
                                      <p:to>
                                        <p:strVal val="visible"/>
                                      </p:to>
                                    </p:set>
                                    <p:animEffect transition="in" filter="fade">
                                      <p:cBhvr>
                                        <p:cTn id="43" dur="1000"/>
                                        <p:tgtEl>
                                          <p:spTgt spid="99">
                                            <p:txEl>
                                              <p:pRg st="2" end="2"/>
                                            </p:txEl>
                                          </p:spTgt>
                                        </p:tgtEl>
                                      </p:cBhvr>
                                    </p:animEffect>
                                    <p:anim calcmode="lin" valueType="num">
                                      <p:cBhvr>
                                        <p:cTn id="44" dur="1000" fill="hold"/>
                                        <p:tgtEl>
                                          <p:spTgt spid="99">
                                            <p:txEl>
                                              <p:pRg st="2" end="2"/>
                                            </p:txEl>
                                          </p:spTgt>
                                        </p:tgtEl>
                                        <p:attrNameLst>
                                          <p:attrName>ppt_x</p:attrName>
                                        </p:attrNameLst>
                                      </p:cBhvr>
                                      <p:tavLst>
                                        <p:tav tm="0">
                                          <p:val>
                                            <p:strVal val="#ppt_x"/>
                                          </p:val>
                                        </p:tav>
                                        <p:tav tm="100000">
                                          <p:val>
                                            <p:strVal val="#ppt_x"/>
                                          </p:val>
                                        </p:tav>
                                      </p:tavLst>
                                    </p:anim>
                                    <p:anim calcmode="lin" valueType="num">
                                      <p:cBhvr>
                                        <p:cTn id="45" dur="1000" fill="hold"/>
                                        <p:tgtEl>
                                          <p:spTgt spid="99">
                                            <p:txEl>
                                              <p:pRg st="2" end="2"/>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nodeType="afterEffect">
                                  <p:stCondLst>
                                    <p:cond delay="0"/>
                                  </p:stCondLst>
                                  <p:childTnLst>
                                    <p:set>
                                      <p:cBhvr>
                                        <p:cTn id="48" dur="1" fill="hold">
                                          <p:stCondLst>
                                            <p:cond delay="0"/>
                                          </p:stCondLst>
                                        </p:cTn>
                                        <p:tgtEl>
                                          <p:spTgt spid="99">
                                            <p:txEl>
                                              <p:pRg st="3" end="3"/>
                                            </p:txEl>
                                          </p:spTgt>
                                        </p:tgtEl>
                                        <p:attrNameLst>
                                          <p:attrName>style.visibility</p:attrName>
                                        </p:attrNameLst>
                                      </p:cBhvr>
                                      <p:to>
                                        <p:strVal val="visible"/>
                                      </p:to>
                                    </p:set>
                                    <p:animEffect transition="in" filter="fade">
                                      <p:cBhvr>
                                        <p:cTn id="49" dur="1000"/>
                                        <p:tgtEl>
                                          <p:spTgt spid="99">
                                            <p:txEl>
                                              <p:pRg st="3" end="3"/>
                                            </p:txEl>
                                          </p:spTgt>
                                        </p:tgtEl>
                                      </p:cBhvr>
                                    </p:animEffect>
                                    <p:anim calcmode="lin" valueType="num">
                                      <p:cBhvr>
                                        <p:cTn id="50" dur="1000" fill="hold"/>
                                        <p:tgtEl>
                                          <p:spTgt spid="99">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99">
                                            <p:txEl>
                                              <p:pRg st="3" end="3"/>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nodeType="afterEffect">
                                  <p:stCondLst>
                                    <p:cond delay="0"/>
                                  </p:stCondLst>
                                  <p:childTnLst>
                                    <p:set>
                                      <p:cBhvr>
                                        <p:cTn id="54" dur="1" fill="hold">
                                          <p:stCondLst>
                                            <p:cond delay="0"/>
                                          </p:stCondLst>
                                        </p:cTn>
                                        <p:tgtEl>
                                          <p:spTgt spid="99">
                                            <p:txEl>
                                              <p:pRg st="4" end="4"/>
                                            </p:txEl>
                                          </p:spTgt>
                                        </p:tgtEl>
                                        <p:attrNameLst>
                                          <p:attrName>style.visibility</p:attrName>
                                        </p:attrNameLst>
                                      </p:cBhvr>
                                      <p:to>
                                        <p:strVal val="visible"/>
                                      </p:to>
                                    </p:set>
                                    <p:animEffect transition="in" filter="fade">
                                      <p:cBhvr>
                                        <p:cTn id="55" dur="1000"/>
                                        <p:tgtEl>
                                          <p:spTgt spid="99">
                                            <p:txEl>
                                              <p:pRg st="4" end="4"/>
                                            </p:txEl>
                                          </p:spTgt>
                                        </p:tgtEl>
                                      </p:cBhvr>
                                    </p:animEffect>
                                    <p:anim calcmode="lin" valueType="num">
                                      <p:cBhvr>
                                        <p:cTn id="56" dur="1000" fill="hold"/>
                                        <p:tgtEl>
                                          <p:spTgt spid="99">
                                            <p:txEl>
                                              <p:pRg st="4" end="4"/>
                                            </p:txEl>
                                          </p:spTgt>
                                        </p:tgtEl>
                                        <p:attrNameLst>
                                          <p:attrName>ppt_x</p:attrName>
                                        </p:attrNameLst>
                                      </p:cBhvr>
                                      <p:tavLst>
                                        <p:tav tm="0">
                                          <p:val>
                                            <p:strVal val="#ppt_x"/>
                                          </p:val>
                                        </p:tav>
                                        <p:tav tm="100000">
                                          <p:val>
                                            <p:strVal val="#ppt_x"/>
                                          </p:val>
                                        </p:tav>
                                      </p:tavLst>
                                    </p:anim>
                                    <p:anim calcmode="lin" valueType="num">
                                      <p:cBhvr>
                                        <p:cTn id="57" dur="1000" fill="hold"/>
                                        <p:tgtEl>
                                          <p:spTgt spid="99">
                                            <p:txEl>
                                              <p:pRg st="4" end="4"/>
                                            </p:txEl>
                                          </p:spTgt>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nodeType="afterEffect">
                                  <p:stCondLst>
                                    <p:cond delay="0"/>
                                  </p:stCondLst>
                                  <p:childTnLst>
                                    <p:set>
                                      <p:cBhvr>
                                        <p:cTn id="60" dur="1" fill="hold">
                                          <p:stCondLst>
                                            <p:cond delay="0"/>
                                          </p:stCondLst>
                                        </p:cTn>
                                        <p:tgtEl>
                                          <p:spTgt spid="4">
                                            <p:txEl>
                                              <p:pRg st="7" end="7"/>
                                            </p:txEl>
                                          </p:spTgt>
                                        </p:tgtEl>
                                        <p:attrNameLst>
                                          <p:attrName>style.visibility</p:attrName>
                                        </p:attrNameLst>
                                      </p:cBhvr>
                                      <p:to>
                                        <p:strVal val="visible"/>
                                      </p:to>
                                    </p:set>
                                    <p:animEffect transition="in" filter="fade">
                                      <p:cBhvr>
                                        <p:cTn id="61" dur="1000"/>
                                        <p:tgtEl>
                                          <p:spTgt spid="4">
                                            <p:txEl>
                                              <p:pRg st="7" end="7"/>
                                            </p:txEl>
                                          </p:spTgt>
                                        </p:tgtEl>
                                      </p:cBhvr>
                                    </p:animEffect>
                                    <p:anim calcmode="lin" valueType="num">
                                      <p:cBhvr>
                                        <p:cTn id="62"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4">
                                            <p:txEl>
                                              <p:pRg st="8" end="8"/>
                                            </p:txEl>
                                          </p:spTgt>
                                        </p:tgtEl>
                                        <p:attrNameLst>
                                          <p:attrName>style.visibility</p:attrName>
                                        </p:attrNameLst>
                                      </p:cBhvr>
                                      <p:to>
                                        <p:strVal val="visible"/>
                                      </p:to>
                                    </p:set>
                                    <p:animEffect transition="in" filter="fade">
                                      <p:cBhvr>
                                        <p:cTn id="68" dur="1000"/>
                                        <p:tgtEl>
                                          <p:spTgt spid="4">
                                            <p:txEl>
                                              <p:pRg st="8" end="8"/>
                                            </p:txEl>
                                          </p:spTgt>
                                        </p:tgtEl>
                                      </p:cBhvr>
                                    </p:animEffect>
                                    <p:anim calcmode="lin" valueType="num">
                                      <p:cBhvr>
                                        <p:cTn id="6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4">
                                            <p:txEl>
                                              <p:pRg st="9" end="9"/>
                                            </p:txEl>
                                          </p:spTgt>
                                        </p:tgtEl>
                                        <p:attrNameLst>
                                          <p:attrName>style.visibility</p:attrName>
                                        </p:attrNameLst>
                                      </p:cBhvr>
                                      <p:to>
                                        <p:strVal val="visible"/>
                                      </p:to>
                                    </p:set>
                                    <p:animEffect transition="in" filter="fade">
                                      <p:cBhvr>
                                        <p:cTn id="75" dur="1000"/>
                                        <p:tgtEl>
                                          <p:spTgt spid="4">
                                            <p:txEl>
                                              <p:pRg st="9" end="9"/>
                                            </p:txEl>
                                          </p:spTgt>
                                        </p:tgtEl>
                                      </p:cBhvr>
                                    </p:animEffect>
                                    <p:anim calcmode="lin" valueType="num">
                                      <p:cBhvr>
                                        <p:cTn id="76"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7"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4">
                                            <p:txEl>
                                              <p:pRg st="10" end="10"/>
                                            </p:txEl>
                                          </p:spTgt>
                                        </p:tgtEl>
                                        <p:attrNameLst>
                                          <p:attrName>style.visibility</p:attrName>
                                        </p:attrNameLst>
                                      </p:cBhvr>
                                      <p:to>
                                        <p:strVal val="visible"/>
                                      </p:to>
                                    </p:set>
                                    <p:animEffect transition="in" filter="fade">
                                      <p:cBhvr>
                                        <p:cTn id="82" dur="1000"/>
                                        <p:tgtEl>
                                          <p:spTgt spid="4">
                                            <p:txEl>
                                              <p:pRg st="10" end="10"/>
                                            </p:txEl>
                                          </p:spTgt>
                                        </p:tgtEl>
                                      </p:cBhvr>
                                    </p:animEffect>
                                    <p:anim calcmode="lin" valueType="num">
                                      <p:cBhvr>
                                        <p:cTn id="8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84"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4">
                                            <p:txEl>
                                              <p:pRg st="11" end="11"/>
                                            </p:txEl>
                                          </p:spTgt>
                                        </p:tgtEl>
                                        <p:attrNameLst>
                                          <p:attrName>style.visibility</p:attrName>
                                        </p:attrNameLst>
                                      </p:cBhvr>
                                      <p:to>
                                        <p:strVal val="visible"/>
                                      </p:to>
                                    </p:set>
                                    <p:animEffect transition="in" filter="fade">
                                      <p:cBhvr>
                                        <p:cTn id="89" dur="1000"/>
                                        <p:tgtEl>
                                          <p:spTgt spid="4">
                                            <p:txEl>
                                              <p:pRg st="11" end="11"/>
                                            </p:txEl>
                                          </p:spTgt>
                                        </p:tgtEl>
                                      </p:cBhvr>
                                    </p:animEffect>
                                    <p:anim calcmode="lin" valueType="num">
                                      <p:cBhvr>
                                        <p:cTn id="90"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91"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38328" y="2667000"/>
                <a:ext cx="14749272" cy="108965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25000"/>
                  </a:lnSpc>
                  <a:spcBef>
                    <a:spcPts val="0"/>
                  </a:spcBef>
                  <a:buClr>
                    <a:srgbClr val="FF0000"/>
                  </a:buClr>
                  <a:buFont typeface="Wingdings" panose="05000000000000000000" pitchFamily="2" charset="2"/>
                  <a:buChar char="q"/>
                </a:pPr>
                <a:r>
                  <a:rPr lang="en-US">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HĐ4: </a:t>
                </a:r>
                <a:r>
                  <a:rPr lang="en-US" b="1">
                    <a:latin typeface="Tahoma" panose="020B0604030504040204" pitchFamily="34" charset="0"/>
                    <a:ea typeface="Tahoma" panose="020B0604030504040204" pitchFamily="34" charset="0"/>
                    <a:cs typeface="Tahoma" panose="020B0604030504040204" pitchFamily="34" charset="0"/>
                  </a:rPr>
                  <a:t>Trong mặt phẳng tọa độ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a:latin typeface="Tahoma" panose="020B0604030504040204" pitchFamily="34" charset="0"/>
                    <a:ea typeface="Tahoma" panose="020B0604030504040204" pitchFamily="34" charset="0"/>
                    <a:cs typeface="Tahoma" panose="020B0604030504040204" pitchFamily="34" charset="0"/>
                  </a:rPr>
                  <a:t>, cho điểm </a:t>
                </a:r>
                <a14:m>
                  <m:oMath xmlns:m="http://schemas.openxmlformats.org/officeDocument/2006/math">
                    <m:r>
                      <a:rPr lang="en-US" b="1" i="1">
                        <a:latin typeface="Cambria Math" panose="02040503050406030204" pitchFamily="18" charset="0"/>
                        <a:ea typeface="Cambria Math" panose="02040503050406030204" pitchFamily="18" charset="0"/>
                      </a:rPr>
                      <m:t>𝑴</m:t>
                    </m:r>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smtClean="0">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e>
                    </m:d>
                  </m:oMath>
                </a14:m>
                <a:r>
                  <a:rPr lang="en-US" b="1">
                    <a:latin typeface="Tahoma" panose="020B0604030504040204" pitchFamily="34" charset="0"/>
                    <a:ea typeface="Tahoma" panose="020B0604030504040204" pitchFamily="34" charset="0"/>
                    <a:cs typeface="Tahoma" panose="020B0604030504040204" pitchFamily="34" charset="0"/>
                  </a:rPr>
                  <a:t>. Gọi </a:t>
                </a:r>
                <a14:m>
                  <m:oMath xmlns:m="http://schemas.openxmlformats.org/officeDocument/2006/math">
                    <m:r>
                      <a:rPr lang="en-US" b="1" i="1">
                        <a:latin typeface="Cambria Math" panose="02040503050406030204" pitchFamily="18" charset="0"/>
                        <a:ea typeface="Cambria Math" panose="02040503050406030204" pitchFamily="18" charset="0"/>
                      </a:rPr>
                      <m:t>𝑷</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𝑸</m:t>
                    </m:r>
                  </m:oMath>
                </a14:m>
                <a:r>
                  <a:rPr lang="en-US" b="1">
                    <a:latin typeface="Tahoma" panose="020B0604030504040204" pitchFamily="34" charset="0"/>
                    <a:ea typeface="Tahoma" panose="020B0604030504040204" pitchFamily="34" charset="0"/>
                    <a:cs typeface="Tahoma" panose="020B0604030504040204" pitchFamily="34" charset="0"/>
                  </a:rPr>
                  <a:t> tương ứng là hình chiếu vuông góc của điểm </a:t>
                </a:r>
                <a14:m>
                  <m:oMath xmlns:m="http://schemas.openxmlformats.org/officeDocument/2006/math">
                    <m:r>
                      <a:rPr lang="en-US" b="1" i="1">
                        <a:latin typeface="Cambria Math" panose="02040503050406030204" pitchFamily="18" charset="0"/>
                        <a:ea typeface="Cambria Math" panose="02040503050406030204" pitchFamily="18" charset="0"/>
                      </a:rPr>
                      <m:t>𝑴</m:t>
                    </m:r>
                  </m:oMath>
                </a14:m>
                <a:r>
                  <a:rPr lang="en-US" b="1">
                    <a:latin typeface="Tahoma" panose="020B0604030504040204" pitchFamily="34" charset="0"/>
                    <a:ea typeface="Tahoma" panose="020B0604030504040204" pitchFamily="34" charset="0"/>
                    <a:cs typeface="Tahoma" panose="020B0604030504040204" pitchFamily="34" charset="0"/>
                  </a:rPr>
                  <a:t> trên trục hoành </a:t>
                </a:r>
                <a14:m>
                  <m:oMath xmlns:m="http://schemas.openxmlformats.org/officeDocument/2006/math">
                    <m:r>
                      <a:rPr lang="en-US" b="1" i="1">
                        <a:latin typeface="Cambria Math" panose="02040503050406030204" pitchFamily="18" charset="0"/>
                        <a:ea typeface="Cambria Math" panose="02040503050406030204" pitchFamily="18" charset="0"/>
                      </a:rPr>
                      <m:t>𝑶𝒙</m:t>
                    </m:r>
                  </m:oMath>
                </a14:m>
                <a:r>
                  <a:rPr lang="en-US" b="1">
                    <a:latin typeface="Tahoma" panose="020B0604030504040204" pitchFamily="34" charset="0"/>
                    <a:ea typeface="Tahoma" panose="020B0604030504040204" pitchFamily="34" charset="0"/>
                    <a:cs typeface="Tahoma" panose="020B0604030504040204" pitchFamily="34" charset="0"/>
                  </a:rPr>
                  <a:t> và trục tung </a:t>
                </a:r>
                <a14:m>
                  <m:oMath xmlns:m="http://schemas.openxmlformats.org/officeDocument/2006/math">
                    <m:r>
                      <a:rPr lang="en-US" b="1" i="1">
                        <a:latin typeface="Cambria Math" panose="02040503050406030204" pitchFamily="18" charset="0"/>
                        <a:ea typeface="Cambria Math" panose="02040503050406030204" pitchFamily="18" charset="0"/>
                      </a:rPr>
                      <m:t>𝑶𝒚</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𝑯</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𝟑𝟓</m:t>
                        </m:r>
                      </m:e>
                    </m:d>
                  </m:oMath>
                </a14:m>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a) Trên trục </a:t>
                </a:r>
                <a14:m>
                  <m:oMath xmlns:m="http://schemas.openxmlformats.org/officeDocument/2006/math">
                    <m:r>
                      <a:rPr lang="en-US" b="1" i="1">
                        <a:latin typeface="Cambria Math" panose="02040503050406030204" pitchFamily="18" charset="0"/>
                        <a:ea typeface="Cambria Math" panose="02040503050406030204" pitchFamily="18" charset="0"/>
                      </a:rPr>
                      <m:t>𝑶𝒙</m:t>
                    </m:r>
                  </m:oMath>
                </a14:m>
                <a:r>
                  <a:rPr lang="en-US" b="1">
                    <a:latin typeface="Tahoma" panose="020B0604030504040204" pitchFamily="34" charset="0"/>
                    <a:ea typeface="Tahoma" panose="020B0604030504040204" pitchFamily="34" charset="0"/>
                    <a:cs typeface="Tahoma" panose="020B0604030504040204" pitchFamily="34" charset="0"/>
                  </a:rPr>
                  <a:t>, điểm </a:t>
                </a:r>
                <a14:m>
                  <m:oMath xmlns:m="http://schemas.openxmlformats.org/officeDocument/2006/math">
                    <m:r>
                      <a:rPr lang="en-US" b="1" i="1">
                        <a:latin typeface="Cambria Math" panose="02040503050406030204" pitchFamily="18" charset="0"/>
                        <a:ea typeface="Cambria Math" panose="02040503050406030204" pitchFamily="18" charset="0"/>
                      </a:rPr>
                      <m:t>𝑷</m:t>
                    </m:r>
                  </m:oMath>
                </a14:m>
                <a:r>
                  <a:rPr lang="en-US" b="1">
                    <a:latin typeface="Tahoma" panose="020B0604030504040204" pitchFamily="34" charset="0"/>
                    <a:ea typeface="Tahoma" panose="020B0604030504040204" pitchFamily="34" charset="0"/>
                    <a:cs typeface="Tahoma" panose="020B0604030504040204" pitchFamily="34" charset="0"/>
                  </a:rPr>
                  <a:t> biểu diễn số nào?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𝑶𝑷</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latin typeface="Tahoma" panose="020B0604030504040204" pitchFamily="34" charset="0"/>
                    <a:ea typeface="Tahoma" panose="020B0604030504040204" pitchFamily="34" charset="0"/>
                    <a:cs typeface="Tahoma" panose="020B0604030504040204" pitchFamily="34" charset="0"/>
                  </a:rPr>
                  <a:t> và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𝑶𝑷</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b) Trên trục </a:t>
                </a:r>
                <a14:m>
                  <m:oMath xmlns:m="http://schemas.openxmlformats.org/officeDocument/2006/math">
                    <m:r>
                      <a:rPr lang="en-US" b="1" i="1">
                        <a:latin typeface="Cambria Math" panose="02040503050406030204" pitchFamily="18" charset="0"/>
                        <a:ea typeface="Cambria Math" panose="02040503050406030204" pitchFamily="18" charset="0"/>
                      </a:rPr>
                      <m:t>𝑶𝒚</m:t>
                    </m:r>
                  </m:oMath>
                </a14:m>
                <a:r>
                  <a:rPr lang="en-US" b="1">
                    <a:latin typeface="Tahoma" panose="020B0604030504040204" pitchFamily="34" charset="0"/>
                    <a:ea typeface="Tahoma" panose="020B0604030504040204" pitchFamily="34" charset="0"/>
                    <a:cs typeface="Tahoma" panose="020B0604030504040204" pitchFamily="34" charset="0"/>
                  </a:rPr>
                  <a:t>, điểm </a:t>
                </a:r>
                <a14:m>
                  <m:oMath xmlns:m="http://schemas.openxmlformats.org/officeDocument/2006/math">
                    <m:r>
                      <a:rPr lang="en-US" b="1" i="1">
                        <a:latin typeface="Cambria Math" panose="02040503050406030204" pitchFamily="18" charset="0"/>
                        <a:ea typeface="Cambria Math" panose="02040503050406030204" pitchFamily="18" charset="0"/>
                      </a:rPr>
                      <m:t>𝑸</m:t>
                    </m:r>
                  </m:oMath>
                </a14:m>
                <a:r>
                  <a:rPr lang="en-US" b="1">
                    <a:latin typeface="Tahoma" panose="020B0604030504040204" pitchFamily="34" charset="0"/>
                    <a:ea typeface="Tahoma" panose="020B0604030504040204" pitchFamily="34" charset="0"/>
                    <a:cs typeface="Tahoma" panose="020B0604030504040204" pitchFamily="34" charset="0"/>
                  </a:rPr>
                  <a:t> biểu diễn số nào?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𝑶𝑸</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 và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𝑶𝑸</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c) Dựa vào hình chữ nhật </a:t>
                </a:r>
                <a14:m>
                  <m:oMath xmlns:m="http://schemas.openxmlformats.org/officeDocument/2006/math">
                    <m:r>
                      <a:rPr lang="en-US" b="1" i="1">
                        <a:latin typeface="Cambria Math" panose="02040503050406030204" pitchFamily="18" charset="0"/>
                        <a:ea typeface="Cambria Math" panose="02040503050406030204" pitchFamily="18" charset="0"/>
                      </a:rPr>
                      <m:t>𝑶𝑷𝑴𝑸</m:t>
                    </m:r>
                  </m:oMath>
                </a14:m>
                <a:r>
                  <a:rPr lang="en-US" b="1">
                    <a:latin typeface="Tahoma" panose="020B0604030504040204" pitchFamily="34" charset="0"/>
                    <a:ea typeface="Tahoma" panose="020B0604030504040204" pitchFamily="34" charset="0"/>
                    <a:cs typeface="Tahoma" panose="020B0604030504040204" pitchFamily="34" charset="0"/>
                  </a:rPr>
                  <a:t>,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d)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r>
                  <a:rPr lang="en-US" b="1">
                    <a:latin typeface="Tahoma" panose="020B0604030504040204" pitchFamily="34" charset="0"/>
                    <a:ea typeface="Tahoma" panose="020B0604030504040204" pitchFamily="34" charset="0"/>
                    <a:cs typeface="Tahoma" panose="020B0604030504040204" pitchFamily="34" charset="0"/>
                  </a:rPr>
                  <a:t> theo các vectơ đơn vị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a:t>
                </a:r>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25000"/>
                  </a:lnSpc>
                  <a:spcBef>
                    <a:spcPts val="0"/>
                  </a:spcBef>
                  <a:buNone/>
                </a:pPr>
                <a:endParaRPr lang="en-US">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38328" y="2667000"/>
                <a:ext cx="14749272" cy="10896599"/>
              </a:xfrm>
              <a:prstGeom prst="rect">
                <a:avLst/>
              </a:prstGeom>
              <a:blipFill>
                <a:blip r:embed="rId3"/>
                <a:stretch>
                  <a:fillRect l="-1859" t="-56" r="-1404"/>
                </a:stretch>
              </a:blipFill>
              <a:ln>
                <a:solidFill>
                  <a:srgbClr val="00B0F0"/>
                </a:solidFill>
              </a:ln>
            </p:spPr>
            <p:txBody>
              <a:bodyPr/>
              <a:lstStyle/>
              <a:p>
                <a:r>
                  <a:rPr lang="en-US">
                    <a:noFill/>
                  </a:rPr>
                  <a:t> </a:t>
                </a:r>
              </a:p>
            </p:txBody>
          </p:sp>
        </mc:Fallback>
      </mc:AlternateContent>
      <p:sp>
        <p:nvSpPr>
          <p:cNvPr id="5" name="Title 1">
            <a:extLst>
              <a:ext uri="{FF2B5EF4-FFF2-40B4-BE49-F238E27FC236}">
                <a16:creationId xmlns:a16="http://schemas.microsoft.com/office/drawing/2014/main" id="{91EFB9E1-C2C8-4179-962F-C0CDC30C73C0}"/>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9433443-F7C6-4FAD-8BCF-22C0992B6D9C}"/>
                  </a:ext>
                </a:extLst>
              </p:cNvPr>
              <p:cNvSpPr txBox="1">
                <a:spLocks/>
              </p:cNvSpPr>
              <p:nvPr/>
            </p:nvSpPr>
            <p:spPr>
              <a:xfrm>
                <a:off x="15358872" y="2667000"/>
                <a:ext cx="8686800" cy="108965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spcBef>
                    <a:spcPts val="600"/>
                  </a:spcBef>
                  <a:buNone/>
                </a:pPr>
                <a:r>
                  <a:rPr lang="en-US" b="1">
                    <a:latin typeface="Tahoma" panose="020B0604030504040204" pitchFamily="34" charset="0"/>
                    <a:ea typeface="Tahoma" panose="020B0604030504040204" pitchFamily="34" charset="0"/>
                    <a:cs typeface="Tahoma" panose="020B0604030504040204" pitchFamily="34" charset="0"/>
                  </a:rPr>
                  <a:t>Hình 4.35</a:t>
                </a:r>
              </a:p>
              <a:p>
                <a:pPr algn="just">
                  <a:lnSpc>
                    <a:spcPct val="100000"/>
                  </a:lnSpc>
                  <a:spcBef>
                    <a:spcPts val="600"/>
                  </a:spcBef>
                  <a:buFont typeface="Wingdings" panose="05000000000000000000" pitchFamily="2" charset="2"/>
                  <a:buChar char="Ø"/>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Hướng dẫn:</a:t>
                </a:r>
              </a:p>
              <a:p>
                <a:pPr marL="0" indent="0" algn="just">
                  <a:lnSpc>
                    <a:spcPct val="100000"/>
                  </a:lnSpc>
                  <a:spcBef>
                    <a:spcPts val="600"/>
                  </a:spcBef>
                  <a:buNone/>
                </a:pPr>
                <a:r>
                  <a:rPr lang="fr-FR" b="1">
                    <a:latin typeface="Tahoma" panose="020B0604030504040204" pitchFamily="34" charset="0"/>
                    <a:ea typeface="Tahoma" panose="020B0604030504040204" pitchFamily="34" charset="0"/>
                    <a:cs typeface="Tahoma" panose="020B0604030504040204" pitchFamily="34" charset="0"/>
                  </a:rPr>
                  <a:t>b)</a:t>
                </a:r>
              </a:p>
              <a:p>
                <a:pPr>
                  <a:lnSpc>
                    <a:spcPct val="100000"/>
                  </a:lnSpc>
                  <a:spcBef>
                    <a:spcPts val="600"/>
                  </a:spcBef>
                </a:pPr>
                <a14:m>
                  <m:oMath xmlns:m="http://schemas.openxmlformats.org/officeDocument/2006/math">
                    <m:r>
                      <m:rPr>
                        <m:nor/>
                      </m:rPr>
                      <a:rPr lang="en-US" b="1">
                        <a:latin typeface="Tahoma" panose="020B0604030504040204" pitchFamily="34" charset="0"/>
                        <a:ea typeface="Tahoma" panose="020B0604030504040204" pitchFamily="34" charset="0"/>
                        <a:cs typeface="Tahoma" panose="020B0604030504040204" pitchFamily="34" charset="0"/>
                      </a:rPr>
                      <m:t>Đ</m:t>
                    </m:r>
                    <m:r>
                      <m:rPr>
                        <m:nor/>
                      </m:rPr>
                      <a:rPr lang="en-US" b="1">
                        <a:latin typeface="Tahoma" panose="020B0604030504040204" pitchFamily="34" charset="0"/>
                        <a:ea typeface="Tahoma" panose="020B0604030504040204" pitchFamily="34" charset="0"/>
                        <a:cs typeface="Tahoma" panose="020B0604030504040204" pitchFamily="34" charset="0"/>
                      </a:rPr>
                      <m:t>i</m:t>
                    </m:r>
                    <m:r>
                      <m:rPr>
                        <m:nor/>
                      </m:rPr>
                      <a:rPr lang="en-US" b="1">
                        <a:latin typeface="Tahoma" panose="020B0604030504040204" pitchFamily="34" charset="0"/>
                        <a:ea typeface="Tahoma" panose="020B0604030504040204" pitchFamily="34" charset="0"/>
                        <a:cs typeface="Tahoma" panose="020B0604030504040204" pitchFamily="34" charset="0"/>
                      </a:rPr>
                      <m:t>ể</m:t>
                    </m:r>
                    <m:r>
                      <m:rPr>
                        <m:nor/>
                      </m:rPr>
                      <a:rPr lang="en-US" b="1">
                        <a:latin typeface="Tahoma" panose="020B0604030504040204" pitchFamily="34" charset="0"/>
                        <a:ea typeface="Tahoma" panose="020B0604030504040204" pitchFamily="34" charset="0"/>
                        <a:cs typeface="Tahoma" panose="020B0604030504040204" pitchFamily="34" charset="0"/>
                      </a:rPr>
                      <m:t>m</m:t>
                    </m:r>
                    <m:r>
                      <a:rPr lang="en-US" b="1" i="1" smtClean="0">
                        <a:latin typeface="Cambria Math" panose="02040503050406030204" pitchFamily="18" charset="0"/>
                        <a:ea typeface="Tahoma" panose="020B0604030504040204" pitchFamily="34" charset="0"/>
                        <a:cs typeface="Tahoma" panose="020B0604030504040204" pitchFamily="34" charset="0"/>
                      </a:rPr>
                      <m:t> </m:t>
                    </m:r>
                    <m:r>
                      <a:rPr lang="en-US" b="1" i="1" smtClean="0">
                        <a:latin typeface="Cambria Math" panose="02040503050406030204" pitchFamily="18" charset="0"/>
                        <a:ea typeface="Tahoma" panose="020B0604030504040204" pitchFamily="34" charset="0"/>
                        <a:cs typeface="Tahoma" panose="020B0604030504040204" pitchFamily="34" charset="0"/>
                      </a:rPr>
                      <m:t>𝑸</m:t>
                    </m:r>
                    <m:r>
                      <m:rPr>
                        <m:nor/>
                      </m:rPr>
                      <a:rPr lang="en-US" b="1" i="0" smtClean="0">
                        <a:latin typeface="Cambria Math" panose="02040503050406030204" pitchFamily="18" charset="0"/>
                        <a:ea typeface="Cambria Math" panose="02040503050406030204" pitchFamily="18" charset="0"/>
                      </a:rPr>
                      <m:t> </m:t>
                    </m:r>
                    <m:r>
                      <m:rPr>
                        <m:nor/>
                      </m:rPr>
                      <a:rPr lang="en-US" b="1">
                        <a:latin typeface="Tahoma" panose="020B0604030504040204" pitchFamily="34" charset="0"/>
                        <a:ea typeface="Tahoma" panose="020B0604030504040204" pitchFamily="34" charset="0"/>
                        <a:cs typeface="Tahoma" panose="020B0604030504040204" pitchFamily="34" charset="0"/>
                      </a:rPr>
                      <m:t>bi</m:t>
                    </m:r>
                    <m:r>
                      <m:rPr>
                        <m:nor/>
                      </m:rPr>
                      <a:rPr lang="en-US" b="1">
                        <a:latin typeface="Tahoma" panose="020B0604030504040204" pitchFamily="34" charset="0"/>
                        <a:ea typeface="Tahoma" panose="020B0604030504040204" pitchFamily="34" charset="0"/>
                        <a:cs typeface="Tahoma" panose="020B0604030504040204" pitchFamily="34" charset="0"/>
                      </a:rPr>
                      <m:t>ể</m:t>
                    </m:r>
                    <m:r>
                      <m:rPr>
                        <m:nor/>
                      </m:rPr>
                      <a:rPr lang="en-US" b="1">
                        <a:latin typeface="Tahoma" panose="020B0604030504040204" pitchFamily="34" charset="0"/>
                        <a:ea typeface="Tahoma" panose="020B0604030504040204" pitchFamily="34" charset="0"/>
                        <a:cs typeface="Tahoma" panose="020B0604030504040204" pitchFamily="34" charset="0"/>
                      </a:rPr>
                      <m:t>u</m:t>
                    </m:r>
                    <m:r>
                      <m:rPr>
                        <m:nor/>
                      </m:rPr>
                      <a:rPr lang="en-US" b="1">
                        <a:latin typeface="Tahoma" panose="020B0604030504040204" pitchFamily="34" charset="0"/>
                        <a:ea typeface="Tahoma" panose="020B0604030504040204" pitchFamily="34" charset="0"/>
                        <a:cs typeface="Tahoma" panose="020B0604030504040204" pitchFamily="34" charset="0"/>
                      </a:rPr>
                      <m:t> </m:t>
                    </m:r>
                    <m:r>
                      <m:rPr>
                        <m:nor/>
                      </m:rPr>
                      <a:rPr lang="en-US" b="1">
                        <a:latin typeface="Tahoma" panose="020B0604030504040204" pitchFamily="34" charset="0"/>
                        <a:ea typeface="Tahoma" panose="020B0604030504040204" pitchFamily="34" charset="0"/>
                        <a:cs typeface="Tahoma" panose="020B0604030504040204" pitchFamily="34" charset="0"/>
                      </a:rPr>
                      <m:t>di</m:t>
                    </m:r>
                    <m:r>
                      <m:rPr>
                        <m:nor/>
                      </m:rPr>
                      <a:rPr lang="en-US" b="1">
                        <a:latin typeface="Tahoma" panose="020B0604030504040204" pitchFamily="34" charset="0"/>
                        <a:ea typeface="Tahoma" panose="020B0604030504040204" pitchFamily="34" charset="0"/>
                        <a:cs typeface="Tahoma" panose="020B0604030504040204" pitchFamily="34" charset="0"/>
                      </a:rPr>
                      <m:t>ễ</m:t>
                    </m:r>
                    <m:r>
                      <m:rPr>
                        <m:nor/>
                      </m:rPr>
                      <a:rPr lang="en-US" b="1">
                        <a:latin typeface="Tahoma" panose="020B0604030504040204" pitchFamily="34" charset="0"/>
                        <a:ea typeface="Tahoma" panose="020B0604030504040204" pitchFamily="34" charset="0"/>
                        <a:cs typeface="Tahoma" panose="020B0604030504040204" pitchFamily="34" charset="0"/>
                      </a:rPr>
                      <m:t>n</m:t>
                    </m:r>
                    <m:r>
                      <m:rPr>
                        <m:nor/>
                      </m:rPr>
                      <a:rPr lang="en-US" b="1">
                        <a:latin typeface="Tahoma" panose="020B0604030504040204" pitchFamily="34" charset="0"/>
                        <a:ea typeface="Tahoma" panose="020B0604030504040204" pitchFamily="34" charset="0"/>
                        <a:cs typeface="Tahoma" panose="020B0604030504040204" pitchFamily="34" charset="0"/>
                      </a:rPr>
                      <m:t> </m:t>
                    </m:r>
                    <m:r>
                      <m:rPr>
                        <m:nor/>
                      </m:rPr>
                      <a:rPr lang="en-US" b="1">
                        <a:latin typeface="Tahoma" panose="020B0604030504040204" pitchFamily="34" charset="0"/>
                        <a:ea typeface="Tahoma" panose="020B0604030504040204" pitchFamily="34" charset="0"/>
                        <a:cs typeface="Tahoma" panose="020B0604030504040204" pitchFamily="34" charset="0"/>
                      </a:rPr>
                      <m:t>s</m:t>
                    </m:r>
                    <m:r>
                      <m:rPr>
                        <m:nor/>
                      </m:rPr>
                      <a:rPr lang="en-US" b="1">
                        <a:latin typeface="Tahoma" panose="020B0604030504040204" pitchFamily="34" charset="0"/>
                        <a:ea typeface="Tahoma" panose="020B0604030504040204" pitchFamily="34" charset="0"/>
                        <a:cs typeface="Tahoma" panose="020B0604030504040204" pitchFamily="34" charset="0"/>
                      </a:rPr>
                      <m:t>ố </m:t>
                    </m:r>
                    <m:sSub>
                      <m:sSubPr>
                        <m:ctrlPr>
                          <a:rPr lang="en-US" b="1" i="1">
                            <a:latin typeface="Cambria Math" panose="02040503050406030204" pitchFamily="18" charset="0"/>
                          </a:rPr>
                        </m:ctrlPr>
                      </m:sSubPr>
                      <m:e>
                        <m:r>
                          <a:rPr lang="en-US" b="1" i="1" smtClean="0">
                            <a:latin typeface="Cambria Math" panose="02040503050406030204" pitchFamily="18" charset="0"/>
                          </a:rPr>
                          <m:t>𝒚</m:t>
                        </m:r>
                      </m:e>
                      <m:sub>
                        <m:r>
                          <a:rPr lang="en-US" b="1" i="1">
                            <a:latin typeface="Cambria Math" panose="02040503050406030204" pitchFamily="18" charset="0"/>
                          </a:rPr>
                          <m:t>𝟎</m:t>
                        </m:r>
                      </m:sub>
                    </m:sSub>
                    <m:r>
                      <m:rPr>
                        <m:nor/>
                      </m:rPr>
                      <a:rPr lang="en-US" b="1">
                        <a:latin typeface="Tahoma" panose="020B0604030504040204" pitchFamily="34" charset="0"/>
                        <a:ea typeface="Tahoma" panose="020B0604030504040204" pitchFamily="34" charset="0"/>
                        <a:cs typeface="Tahoma" panose="020B0604030504040204" pitchFamily="34" charset="0"/>
                      </a:rPr>
                      <m:t>.</m:t>
                    </m:r>
                  </m:oMath>
                </a14:m>
                <a:endParaRPr lang="en-US" b="1">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600"/>
                  </a:spcBef>
                </a:pP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𝑶</m:t>
                        </m:r>
                        <m:r>
                          <a:rPr lang="en-US" b="1" i="1" smtClean="0">
                            <a:latin typeface="Cambria Math" panose="02040503050406030204" pitchFamily="18" charset="0"/>
                          </a:rPr>
                          <m:t>𝑸</m:t>
                        </m:r>
                      </m:e>
                    </m:acc>
                    <m:r>
                      <a:rPr lang="en-US" b="1" i="1">
                        <a:latin typeface="Cambria Math" panose="02040503050406030204" pitchFamily="18" charset="0"/>
                      </a:rPr>
                      <m:t>=</m:t>
                    </m:r>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𝒚</m:t>
                        </m:r>
                      </m:e>
                      <m:sub>
                        <m:r>
                          <a:rPr lang="en-US" b="1" i="1">
                            <a:solidFill>
                              <a:srgbClr val="FF0000"/>
                            </a:solidFill>
                            <a:latin typeface="Cambria Math" panose="02040503050406030204" pitchFamily="18" charset="0"/>
                          </a:rPr>
                          <m:t>𝟎</m:t>
                        </m:r>
                      </m:sub>
                    </m:sSub>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smtClean="0">
                            <a:latin typeface="Cambria Math" panose="02040503050406030204" pitchFamily="18" charset="0"/>
                          </a:rPr>
                          <m:t>𝒋</m:t>
                        </m:r>
                      </m:e>
                    </m:acc>
                  </m:oMath>
                </a14:m>
                <a:endParaRPr lang="en-US" b="1">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600"/>
                  </a:spcBef>
                </a:pPr>
                <a14:m>
                  <m:oMath xmlns:m="http://schemas.openxmlformats.org/officeDocument/2006/math">
                    <m:d>
                      <m:dPr>
                        <m:begChr m:val="|"/>
                        <m:endChr m:val="|"/>
                        <m:ctrlPr>
                          <a:rPr lang="en-US" b="1" i="1" smtClean="0">
                            <a:latin typeface="Cambria Math" panose="02040503050406030204" pitchFamily="18" charset="0"/>
                          </a:rPr>
                        </m:ctrlPr>
                      </m:dPr>
                      <m:e>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𝑶𝑸</m:t>
                            </m:r>
                          </m:e>
                        </m:acc>
                      </m:e>
                    </m:d>
                    <m:r>
                      <a:rPr lang="en-US" b="1" i="1" smtClean="0">
                        <a:latin typeface="Cambria Math" panose="02040503050406030204" pitchFamily="18" charset="0"/>
                      </a:rPr>
                      <m:t>=</m:t>
                    </m:r>
                    <m:r>
                      <a:rPr lang="en-US" b="1" i="1" smtClean="0">
                        <a:latin typeface="Cambria Math" panose="02040503050406030204" pitchFamily="18" charset="0"/>
                      </a:rPr>
                      <m:t>𝑶𝑸</m:t>
                    </m:r>
                    <m:r>
                      <a:rPr lang="en-US" b="1" i="1" smtClean="0">
                        <a:latin typeface="Cambria Math" panose="02040503050406030204" pitchFamily="18" charset="0"/>
                      </a:rPr>
                      <m:t>=</m:t>
                    </m:r>
                    <m:d>
                      <m:dPr>
                        <m:begChr m:val="|"/>
                        <m:endChr m:val="|"/>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smtClean="0">
                                <a:latin typeface="Cambria Math" panose="02040503050406030204" pitchFamily="18" charset="0"/>
                              </a:rPr>
                              <m:t>𝒚</m:t>
                            </m:r>
                          </m:e>
                          <m:sub>
                            <m:r>
                              <a:rPr lang="en-US" b="1" i="1">
                                <a:latin typeface="Cambria Math" panose="02040503050406030204" pitchFamily="18" charset="0"/>
                              </a:rPr>
                              <m:t>𝟎</m:t>
                            </m:r>
                          </m:sub>
                        </m:sSub>
                      </m:e>
                    </m:d>
                  </m:oMath>
                </a14:m>
                <a:r>
                  <a:rPr lang="en-US" b="1">
                    <a:latin typeface="Tahoma" panose="020B0604030504040204" pitchFamily="34" charset="0"/>
                    <a:ea typeface="Tahoma" panose="020B0604030504040204" pitchFamily="34" charset="0"/>
                    <a:cs typeface="Tahoma" panose="020B0604030504040204" pitchFamily="34" charset="0"/>
                  </a:rPr>
                  <a:t>.</a:t>
                </a:r>
                <a:endParaRPr lang="fr-FR" b="1">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 name="Content Placeholder 2">
                <a:extLst>
                  <a:ext uri="{FF2B5EF4-FFF2-40B4-BE49-F238E27FC236}">
                    <a16:creationId xmlns:a16="http://schemas.microsoft.com/office/drawing/2014/main" id="{89433443-F7C6-4FAD-8BCF-22C0992B6D9C}"/>
                  </a:ext>
                </a:extLst>
              </p:cNvPr>
              <p:cNvSpPr txBox="1">
                <a:spLocks noRot="1" noChangeAspect="1" noMove="1" noResize="1" noEditPoints="1" noAdjustHandles="1" noChangeArrowheads="1" noChangeShapeType="1" noTextEdit="1"/>
              </p:cNvSpPr>
              <p:nvPr/>
            </p:nvSpPr>
            <p:spPr>
              <a:xfrm>
                <a:off x="15358872" y="2667000"/>
                <a:ext cx="8686800" cy="10896599"/>
              </a:xfrm>
              <a:prstGeom prst="rect">
                <a:avLst/>
              </a:prstGeom>
              <a:blipFill>
                <a:blip r:embed="rId4"/>
                <a:stretch>
                  <a:fillRect l="-3153"/>
                </a:stretch>
              </a:blipFill>
              <a:ln>
                <a:solidFill>
                  <a:srgbClr val="00B0F0"/>
                </a:solidFill>
              </a:ln>
            </p:spPr>
            <p:txBody>
              <a:bodyPr/>
              <a:lstStyle/>
              <a:p>
                <a:r>
                  <a:rPr lang="en-US">
                    <a:noFill/>
                  </a:rPr>
                  <a:t> </a:t>
                </a:r>
              </a:p>
            </p:txBody>
          </p:sp>
        </mc:Fallback>
      </mc:AlternateContent>
      <p:pic>
        <p:nvPicPr>
          <p:cNvPr id="10" name="Picture 9" descr="A picture containing text, red, dark&#10;&#10;Description automatically generated">
            <a:extLst>
              <a:ext uri="{FF2B5EF4-FFF2-40B4-BE49-F238E27FC236}">
                <a16:creationId xmlns:a16="http://schemas.microsoft.com/office/drawing/2014/main" id="{CF0E3ECF-D6BB-4154-8F3C-18363D5936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230600" y="2667000"/>
            <a:ext cx="7162800" cy="5139229"/>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3359794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fade">
                                      <p:cBhvr>
                                        <p:cTn id="7" dur="1000"/>
                                        <p:tgtEl>
                                          <p:spTgt spid="4">
                                            <p:txEl>
                                              <p:pRg st="8" end="8"/>
                                            </p:txEl>
                                          </p:spTgt>
                                        </p:tgtEl>
                                      </p:cBhvr>
                                    </p:animEffect>
                                    <p:anim calcmode="lin" valueType="num">
                                      <p:cBhvr>
                                        <p:cTn id="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9" end="9"/>
                                            </p:txEl>
                                          </p:spTgt>
                                        </p:tgtEl>
                                        <p:attrNameLst>
                                          <p:attrName>style.visibility</p:attrName>
                                        </p:attrNameLst>
                                      </p:cBhvr>
                                      <p:to>
                                        <p:strVal val="visible"/>
                                      </p:to>
                                    </p:set>
                                    <p:animEffect transition="in" filter="fade">
                                      <p:cBhvr>
                                        <p:cTn id="14" dur="1000"/>
                                        <p:tgtEl>
                                          <p:spTgt spid="4">
                                            <p:txEl>
                                              <p:pRg st="9" end="9"/>
                                            </p:txEl>
                                          </p:spTgt>
                                        </p:tgtEl>
                                      </p:cBhvr>
                                    </p:animEffect>
                                    <p:anim calcmode="lin" valueType="num">
                                      <p:cBhvr>
                                        <p:cTn id="1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animEffect transition="in" filter="fade">
                                      <p:cBhvr>
                                        <p:cTn id="21" dur="1000"/>
                                        <p:tgtEl>
                                          <p:spTgt spid="4">
                                            <p:txEl>
                                              <p:pRg st="10" end="10"/>
                                            </p:txEl>
                                          </p:spTgt>
                                        </p:tgtEl>
                                      </p:cBhvr>
                                    </p:animEffect>
                                    <p:anim calcmode="lin" valueType="num">
                                      <p:cBhvr>
                                        <p:cTn id="2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11" end="11"/>
                                            </p:txEl>
                                          </p:spTgt>
                                        </p:tgtEl>
                                        <p:attrNameLst>
                                          <p:attrName>style.visibility</p:attrName>
                                        </p:attrNameLst>
                                      </p:cBhvr>
                                      <p:to>
                                        <p:strVal val="visible"/>
                                      </p:to>
                                    </p:set>
                                    <p:animEffect transition="in" filter="fade">
                                      <p:cBhvr>
                                        <p:cTn id="28" dur="1000"/>
                                        <p:tgtEl>
                                          <p:spTgt spid="4">
                                            <p:txEl>
                                              <p:pRg st="11" end="11"/>
                                            </p:txEl>
                                          </p:spTgt>
                                        </p:tgtEl>
                                      </p:cBhvr>
                                    </p:animEffect>
                                    <p:anim calcmode="lin" valueType="num">
                                      <p:cBhvr>
                                        <p:cTn id="29"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38328" y="2667000"/>
                <a:ext cx="14749272" cy="108965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25000"/>
                  </a:lnSpc>
                  <a:spcBef>
                    <a:spcPts val="0"/>
                  </a:spcBef>
                  <a:buClr>
                    <a:srgbClr val="FF0000"/>
                  </a:buClr>
                  <a:buFont typeface="Wingdings" panose="05000000000000000000" pitchFamily="2" charset="2"/>
                  <a:buChar char="q"/>
                </a:pPr>
                <a:r>
                  <a:rPr lang="en-US">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HĐ4: </a:t>
                </a:r>
                <a:r>
                  <a:rPr lang="en-US" b="1">
                    <a:latin typeface="Tahoma" panose="020B0604030504040204" pitchFamily="34" charset="0"/>
                    <a:ea typeface="Tahoma" panose="020B0604030504040204" pitchFamily="34" charset="0"/>
                    <a:cs typeface="Tahoma" panose="020B0604030504040204" pitchFamily="34" charset="0"/>
                  </a:rPr>
                  <a:t>Trong mặt phẳng tọa độ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a:latin typeface="Tahoma" panose="020B0604030504040204" pitchFamily="34" charset="0"/>
                    <a:ea typeface="Tahoma" panose="020B0604030504040204" pitchFamily="34" charset="0"/>
                    <a:cs typeface="Tahoma" panose="020B0604030504040204" pitchFamily="34" charset="0"/>
                  </a:rPr>
                  <a:t>, cho điểm </a:t>
                </a:r>
                <a14:m>
                  <m:oMath xmlns:m="http://schemas.openxmlformats.org/officeDocument/2006/math">
                    <m:r>
                      <a:rPr lang="en-US" b="1" i="1">
                        <a:latin typeface="Cambria Math" panose="02040503050406030204" pitchFamily="18" charset="0"/>
                        <a:ea typeface="Cambria Math" panose="02040503050406030204" pitchFamily="18" charset="0"/>
                      </a:rPr>
                      <m:t>𝑴</m:t>
                    </m:r>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smtClean="0">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e>
                    </m:d>
                  </m:oMath>
                </a14:m>
                <a:r>
                  <a:rPr lang="en-US" b="1">
                    <a:latin typeface="Tahoma" panose="020B0604030504040204" pitchFamily="34" charset="0"/>
                    <a:ea typeface="Tahoma" panose="020B0604030504040204" pitchFamily="34" charset="0"/>
                    <a:cs typeface="Tahoma" panose="020B0604030504040204" pitchFamily="34" charset="0"/>
                  </a:rPr>
                  <a:t>. Gọi </a:t>
                </a:r>
                <a14:m>
                  <m:oMath xmlns:m="http://schemas.openxmlformats.org/officeDocument/2006/math">
                    <m:r>
                      <a:rPr lang="en-US" b="1" i="1">
                        <a:latin typeface="Cambria Math" panose="02040503050406030204" pitchFamily="18" charset="0"/>
                        <a:ea typeface="Cambria Math" panose="02040503050406030204" pitchFamily="18" charset="0"/>
                      </a:rPr>
                      <m:t>𝑷</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𝑸</m:t>
                    </m:r>
                  </m:oMath>
                </a14:m>
                <a:r>
                  <a:rPr lang="en-US" b="1">
                    <a:latin typeface="Tahoma" panose="020B0604030504040204" pitchFamily="34" charset="0"/>
                    <a:ea typeface="Tahoma" panose="020B0604030504040204" pitchFamily="34" charset="0"/>
                    <a:cs typeface="Tahoma" panose="020B0604030504040204" pitchFamily="34" charset="0"/>
                  </a:rPr>
                  <a:t> tương ứng là hình chiếu vuông góc của điểm </a:t>
                </a:r>
                <a14:m>
                  <m:oMath xmlns:m="http://schemas.openxmlformats.org/officeDocument/2006/math">
                    <m:r>
                      <a:rPr lang="en-US" b="1" i="1">
                        <a:latin typeface="Cambria Math" panose="02040503050406030204" pitchFamily="18" charset="0"/>
                        <a:ea typeface="Cambria Math" panose="02040503050406030204" pitchFamily="18" charset="0"/>
                      </a:rPr>
                      <m:t>𝑴</m:t>
                    </m:r>
                  </m:oMath>
                </a14:m>
                <a:r>
                  <a:rPr lang="en-US" b="1">
                    <a:latin typeface="Tahoma" panose="020B0604030504040204" pitchFamily="34" charset="0"/>
                    <a:ea typeface="Tahoma" panose="020B0604030504040204" pitchFamily="34" charset="0"/>
                    <a:cs typeface="Tahoma" panose="020B0604030504040204" pitchFamily="34" charset="0"/>
                  </a:rPr>
                  <a:t> trên trục hoành </a:t>
                </a:r>
                <a14:m>
                  <m:oMath xmlns:m="http://schemas.openxmlformats.org/officeDocument/2006/math">
                    <m:r>
                      <a:rPr lang="en-US" b="1" i="1">
                        <a:latin typeface="Cambria Math" panose="02040503050406030204" pitchFamily="18" charset="0"/>
                        <a:ea typeface="Cambria Math" panose="02040503050406030204" pitchFamily="18" charset="0"/>
                      </a:rPr>
                      <m:t>𝑶𝒙</m:t>
                    </m:r>
                  </m:oMath>
                </a14:m>
                <a:r>
                  <a:rPr lang="en-US" b="1">
                    <a:latin typeface="Tahoma" panose="020B0604030504040204" pitchFamily="34" charset="0"/>
                    <a:ea typeface="Tahoma" panose="020B0604030504040204" pitchFamily="34" charset="0"/>
                    <a:cs typeface="Tahoma" panose="020B0604030504040204" pitchFamily="34" charset="0"/>
                  </a:rPr>
                  <a:t> và trục tung </a:t>
                </a:r>
                <a14:m>
                  <m:oMath xmlns:m="http://schemas.openxmlformats.org/officeDocument/2006/math">
                    <m:r>
                      <a:rPr lang="en-US" b="1" i="1">
                        <a:latin typeface="Cambria Math" panose="02040503050406030204" pitchFamily="18" charset="0"/>
                        <a:ea typeface="Cambria Math" panose="02040503050406030204" pitchFamily="18" charset="0"/>
                      </a:rPr>
                      <m:t>𝑶𝒚</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𝑯</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𝟑𝟓</m:t>
                        </m:r>
                      </m:e>
                    </m:d>
                  </m:oMath>
                </a14:m>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a) Trên trục </a:t>
                </a:r>
                <a14:m>
                  <m:oMath xmlns:m="http://schemas.openxmlformats.org/officeDocument/2006/math">
                    <m:r>
                      <a:rPr lang="en-US" b="1" i="1">
                        <a:latin typeface="Cambria Math" panose="02040503050406030204" pitchFamily="18" charset="0"/>
                        <a:ea typeface="Cambria Math" panose="02040503050406030204" pitchFamily="18" charset="0"/>
                      </a:rPr>
                      <m:t>𝑶𝒙</m:t>
                    </m:r>
                  </m:oMath>
                </a14:m>
                <a:r>
                  <a:rPr lang="en-US" b="1">
                    <a:latin typeface="Tahoma" panose="020B0604030504040204" pitchFamily="34" charset="0"/>
                    <a:ea typeface="Tahoma" panose="020B0604030504040204" pitchFamily="34" charset="0"/>
                    <a:cs typeface="Tahoma" panose="020B0604030504040204" pitchFamily="34" charset="0"/>
                  </a:rPr>
                  <a:t>, điểm </a:t>
                </a:r>
                <a14:m>
                  <m:oMath xmlns:m="http://schemas.openxmlformats.org/officeDocument/2006/math">
                    <m:r>
                      <a:rPr lang="en-US" b="1" i="1">
                        <a:latin typeface="Cambria Math" panose="02040503050406030204" pitchFamily="18" charset="0"/>
                        <a:ea typeface="Cambria Math" panose="02040503050406030204" pitchFamily="18" charset="0"/>
                      </a:rPr>
                      <m:t>𝑷</m:t>
                    </m:r>
                  </m:oMath>
                </a14:m>
                <a:r>
                  <a:rPr lang="en-US" b="1">
                    <a:latin typeface="Tahoma" panose="020B0604030504040204" pitchFamily="34" charset="0"/>
                    <a:ea typeface="Tahoma" panose="020B0604030504040204" pitchFamily="34" charset="0"/>
                    <a:cs typeface="Tahoma" panose="020B0604030504040204" pitchFamily="34" charset="0"/>
                  </a:rPr>
                  <a:t> biểu diễn số nào?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𝑶𝑷</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latin typeface="Tahoma" panose="020B0604030504040204" pitchFamily="34" charset="0"/>
                    <a:ea typeface="Tahoma" panose="020B0604030504040204" pitchFamily="34" charset="0"/>
                    <a:cs typeface="Tahoma" panose="020B0604030504040204" pitchFamily="34" charset="0"/>
                  </a:rPr>
                  <a:t> và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𝑶𝑷</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b) Trên trục </a:t>
                </a:r>
                <a14:m>
                  <m:oMath xmlns:m="http://schemas.openxmlformats.org/officeDocument/2006/math">
                    <m:r>
                      <a:rPr lang="en-US" b="1" i="1">
                        <a:latin typeface="Cambria Math" panose="02040503050406030204" pitchFamily="18" charset="0"/>
                        <a:ea typeface="Cambria Math" panose="02040503050406030204" pitchFamily="18" charset="0"/>
                      </a:rPr>
                      <m:t>𝑶𝒚</m:t>
                    </m:r>
                  </m:oMath>
                </a14:m>
                <a:r>
                  <a:rPr lang="en-US" b="1">
                    <a:latin typeface="Tahoma" panose="020B0604030504040204" pitchFamily="34" charset="0"/>
                    <a:ea typeface="Tahoma" panose="020B0604030504040204" pitchFamily="34" charset="0"/>
                    <a:cs typeface="Tahoma" panose="020B0604030504040204" pitchFamily="34" charset="0"/>
                  </a:rPr>
                  <a:t>, điểm </a:t>
                </a:r>
                <a14:m>
                  <m:oMath xmlns:m="http://schemas.openxmlformats.org/officeDocument/2006/math">
                    <m:r>
                      <a:rPr lang="en-US" b="1" i="1">
                        <a:latin typeface="Cambria Math" panose="02040503050406030204" pitchFamily="18" charset="0"/>
                        <a:ea typeface="Cambria Math" panose="02040503050406030204" pitchFamily="18" charset="0"/>
                      </a:rPr>
                      <m:t>𝑸</m:t>
                    </m:r>
                  </m:oMath>
                </a14:m>
                <a:r>
                  <a:rPr lang="en-US" b="1">
                    <a:latin typeface="Tahoma" panose="020B0604030504040204" pitchFamily="34" charset="0"/>
                    <a:ea typeface="Tahoma" panose="020B0604030504040204" pitchFamily="34" charset="0"/>
                    <a:cs typeface="Tahoma" panose="020B0604030504040204" pitchFamily="34" charset="0"/>
                  </a:rPr>
                  <a:t> biểu diễn số nào?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𝑶𝑸</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 và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𝑶𝑸</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c) Dựa vào hình chữ nhật </a:t>
                </a:r>
                <a14:m>
                  <m:oMath xmlns:m="http://schemas.openxmlformats.org/officeDocument/2006/math">
                    <m:r>
                      <a:rPr lang="en-US" b="1" i="1">
                        <a:latin typeface="Cambria Math" panose="02040503050406030204" pitchFamily="18" charset="0"/>
                        <a:ea typeface="Cambria Math" panose="02040503050406030204" pitchFamily="18" charset="0"/>
                      </a:rPr>
                      <m:t>𝑶𝑷𝑴𝑸</m:t>
                    </m:r>
                  </m:oMath>
                </a14:m>
                <a:r>
                  <a:rPr lang="en-US" b="1">
                    <a:latin typeface="Tahoma" panose="020B0604030504040204" pitchFamily="34" charset="0"/>
                    <a:ea typeface="Tahoma" panose="020B0604030504040204" pitchFamily="34" charset="0"/>
                    <a:cs typeface="Tahoma" panose="020B0604030504040204" pitchFamily="34" charset="0"/>
                  </a:rPr>
                  <a:t>,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d)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r>
                  <a:rPr lang="en-US" b="1">
                    <a:latin typeface="Tahoma" panose="020B0604030504040204" pitchFamily="34" charset="0"/>
                    <a:ea typeface="Tahoma" panose="020B0604030504040204" pitchFamily="34" charset="0"/>
                    <a:cs typeface="Tahoma" panose="020B0604030504040204" pitchFamily="34" charset="0"/>
                  </a:rPr>
                  <a:t> theo các vectơ đơn vị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a:t>
                </a:r>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25000"/>
                  </a:lnSpc>
                  <a:spcBef>
                    <a:spcPts val="0"/>
                  </a:spcBef>
                  <a:buNone/>
                </a:pPr>
                <a:endParaRPr lang="en-US">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38328" y="2667000"/>
                <a:ext cx="14749272" cy="10896599"/>
              </a:xfrm>
              <a:prstGeom prst="rect">
                <a:avLst/>
              </a:prstGeom>
              <a:blipFill>
                <a:blip r:embed="rId3"/>
                <a:stretch>
                  <a:fillRect l="-1859" t="-56" r="-1404"/>
                </a:stretch>
              </a:blipFill>
              <a:ln>
                <a:solidFill>
                  <a:srgbClr val="00B0F0"/>
                </a:solidFill>
              </a:ln>
            </p:spPr>
            <p:txBody>
              <a:bodyPr/>
              <a:lstStyle/>
              <a:p>
                <a:r>
                  <a:rPr lang="en-US">
                    <a:noFill/>
                  </a:rPr>
                  <a:t> </a:t>
                </a:r>
              </a:p>
            </p:txBody>
          </p:sp>
        </mc:Fallback>
      </mc:AlternateContent>
      <p:sp>
        <p:nvSpPr>
          <p:cNvPr id="5" name="Title 1">
            <a:extLst>
              <a:ext uri="{FF2B5EF4-FFF2-40B4-BE49-F238E27FC236}">
                <a16:creationId xmlns:a16="http://schemas.microsoft.com/office/drawing/2014/main" id="{91EFB9E1-C2C8-4179-962F-C0CDC30C73C0}"/>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9433443-F7C6-4FAD-8BCF-22C0992B6D9C}"/>
                  </a:ext>
                </a:extLst>
              </p:cNvPr>
              <p:cNvSpPr txBox="1">
                <a:spLocks/>
              </p:cNvSpPr>
              <p:nvPr/>
            </p:nvSpPr>
            <p:spPr>
              <a:xfrm>
                <a:off x="15358872" y="2667000"/>
                <a:ext cx="8686800" cy="108965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spcBef>
                    <a:spcPts val="600"/>
                  </a:spcBef>
                  <a:buNone/>
                </a:pPr>
                <a:r>
                  <a:rPr lang="en-US" b="1">
                    <a:latin typeface="Tahoma" panose="020B0604030504040204" pitchFamily="34" charset="0"/>
                    <a:ea typeface="Tahoma" panose="020B0604030504040204" pitchFamily="34" charset="0"/>
                    <a:cs typeface="Tahoma" panose="020B0604030504040204" pitchFamily="34" charset="0"/>
                  </a:rPr>
                  <a:t>Hình 4.35</a:t>
                </a:r>
              </a:p>
              <a:p>
                <a:pPr algn="just">
                  <a:lnSpc>
                    <a:spcPct val="100000"/>
                  </a:lnSpc>
                  <a:spcBef>
                    <a:spcPts val="600"/>
                  </a:spcBef>
                  <a:buFont typeface="Wingdings" panose="05000000000000000000" pitchFamily="2" charset="2"/>
                  <a:buChar char="Ø"/>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Hướng dẫn:</a:t>
                </a:r>
              </a:p>
              <a:p>
                <a:pPr marL="0" indent="0" algn="just">
                  <a:lnSpc>
                    <a:spcPct val="100000"/>
                  </a:lnSpc>
                  <a:spcBef>
                    <a:spcPts val="600"/>
                  </a:spcBef>
                  <a:buNone/>
                </a:pPr>
                <a:r>
                  <a:rPr lang="fr-FR" b="1">
                    <a:latin typeface="Tahoma" panose="020B0604030504040204" pitchFamily="34" charset="0"/>
                    <a:ea typeface="Tahoma" panose="020B0604030504040204" pitchFamily="34" charset="0"/>
                    <a:cs typeface="Tahoma" panose="020B0604030504040204" pitchFamily="34" charset="0"/>
                  </a:rPr>
                  <a:t>c) Độ dài của vectơ </a:t>
                </a:r>
                <a14:m>
                  <m:oMath xmlns:m="http://schemas.openxmlformats.org/officeDocument/2006/math">
                    <m:acc>
                      <m:accPr>
                        <m:chr m:val="⃗"/>
                        <m:ctrlPr>
                          <a:rPr lang="en-US" b="1" i="1" smtClean="0">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endParaRPr lang="fr-FR" b="1">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600"/>
                  </a:spcBef>
                </a:pPr>
                <a14:m>
                  <m:oMath xmlns:m="http://schemas.openxmlformats.org/officeDocument/2006/math">
                    <m:d>
                      <m:dPr>
                        <m:begChr m:val="|"/>
                        <m:endChr m:val="|"/>
                        <m:ctrlPr>
                          <a:rPr lang="en-US" b="1" i="1" smtClean="0">
                            <a:solidFill>
                              <a:srgbClr val="FF0000"/>
                            </a:solidFill>
                            <a:latin typeface="Cambria Math" panose="02040503050406030204" pitchFamily="18" charset="0"/>
                            <a:ea typeface="Cambria Math" panose="02040503050406030204" pitchFamily="18" charset="0"/>
                          </a:rPr>
                        </m:ctrlPr>
                      </m:dPr>
                      <m:e>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𝑶𝑴</m:t>
                            </m:r>
                          </m:e>
                        </m:acc>
                      </m:e>
                    </m:d>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𝑶𝑴</m:t>
                    </m:r>
                  </m:oMath>
                </a14:m>
                <a:endParaRPr lang="en-US" b="1" i="1">
                  <a:latin typeface="Cambria Math" panose="02040503050406030204" pitchFamily="18" charset="0"/>
                  <a:ea typeface="Cambria Math" panose="02040503050406030204" pitchFamily="18" charset="0"/>
                  <a:cs typeface="Tahoma" panose="020B0604030504040204" pitchFamily="34" charset="0"/>
                </a:endParaRPr>
              </a:p>
              <a:p>
                <a:pPr marL="0" indent="0" algn="just">
                  <a:lnSpc>
                    <a:spcPct val="100000"/>
                  </a:lnSpc>
                  <a:spcBef>
                    <a:spcPts val="600"/>
                  </a:spcBef>
                  <a:buNone/>
                </a:pPr>
                <a:r>
                  <a:rPr lang="en-US" b="1">
                    <a:latin typeface="Cambria Math" panose="02040503050406030204" pitchFamily="18" charset="0"/>
                    <a:ea typeface="Cambria Math" panose="02040503050406030204" pitchFamily="18"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m:t>
                    </m:r>
                    <m:rad>
                      <m:radPr>
                        <m:degHide m:val="on"/>
                        <m:ctrlPr>
                          <a:rPr lang="en-US" b="1" i="1">
                            <a:latin typeface="Cambria Math" panose="02040503050406030204" pitchFamily="18" charset="0"/>
                            <a:ea typeface="Cambria Math" panose="02040503050406030204" pitchFamily="18" charset="0"/>
                          </a:rPr>
                        </m:ctrlPr>
                      </m:radPr>
                      <m:deg/>
                      <m:e>
                        <m:r>
                          <a:rPr lang="en-US" b="1" i="1">
                            <a:latin typeface="Cambria Math" panose="02040503050406030204" pitchFamily="18" charset="0"/>
                            <a:ea typeface="Cambria Math" panose="02040503050406030204" pitchFamily="18" charset="0"/>
                          </a:rPr>
                          <m:t>𝑶</m:t>
                        </m:r>
                        <m:sSup>
                          <m:sSupPr>
                            <m:ctrlPr>
                              <a:rPr lang="en-US" b="1"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𝑷</m:t>
                            </m:r>
                          </m:e>
                          <m:sup>
                            <m:r>
                              <a:rPr lang="en-US" b="1" i="1">
                                <a:latin typeface="Cambria Math" panose="02040503050406030204" pitchFamily="18" charset="0"/>
                                <a:ea typeface="Cambria Math" panose="02040503050406030204" pitchFamily="18" charset="0"/>
                              </a:rPr>
                              <m:t>𝟐</m:t>
                            </m:r>
                          </m:sup>
                        </m:sSup>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𝑶</m:t>
                        </m:r>
                        <m:sSup>
                          <m:sSupPr>
                            <m:ctrlPr>
                              <a:rPr lang="en-US" b="1"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𝑸</m:t>
                            </m:r>
                          </m:e>
                          <m:sup>
                            <m:r>
                              <a:rPr lang="en-US" b="1" i="1">
                                <a:latin typeface="Cambria Math" panose="02040503050406030204" pitchFamily="18" charset="0"/>
                                <a:ea typeface="Cambria Math" panose="02040503050406030204" pitchFamily="18" charset="0"/>
                              </a:rPr>
                              <m:t>𝟐</m:t>
                            </m:r>
                          </m:sup>
                        </m:sSup>
                      </m:e>
                    </m:rad>
                  </m:oMath>
                </a14:m>
                <a:endParaRPr lang="en-US" b="1" i="1">
                  <a:latin typeface="Cambria Math" panose="02040503050406030204" pitchFamily="18" charset="0"/>
                  <a:ea typeface="Cambria Math" panose="02040503050406030204" pitchFamily="18" charset="0"/>
                  <a:cs typeface="Tahoma" panose="020B0604030504040204" pitchFamily="34" charset="0"/>
                </a:endParaRPr>
              </a:p>
              <a:p>
                <a:pPr marL="0" indent="0">
                  <a:lnSpc>
                    <a:spcPct val="100000"/>
                  </a:lnSpc>
                  <a:spcBef>
                    <a:spcPts val="600"/>
                  </a:spcBef>
                  <a:buNone/>
                </a:pPr>
                <a:r>
                  <a:rPr lang="en-US" b="1">
                    <a:latin typeface="Cambria Math" panose="02040503050406030204" pitchFamily="18" charset="0"/>
                    <a:ea typeface="Cambria Math" panose="02040503050406030204" pitchFamily="18"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m:t>
                    </m:r>
                    <m:rad>
                      <m:radPr>
                        <m:degHide m:val="on"/>
                        <m:ctrlPr>
                          <a:rPr lang="en-US" b="1" i="1" smtClean="0">
                            <a:solidFill>
                              <a:srgbClr val="FF0000"/>
                            </a:solidFill>
                            <a:latin typeface="Cambria Math" panose="02040503050406030204" pitchFamily="18" charset="0"/>
                            <a:ea typeface="Cambria Math" panose="02040503050406030204" pitchFamily="18" charset="0"/>
                          </a:rPr>
                        </m:ctrlPr>
                      </m:radPr>
                      <m:deg/>
                      <m:e>
                        <m:sSubSup>
                          <m:sSubSupPr>
                            <m:ctrlPr>
                              <a:rPr lang="en-US" b="1" i="1">
                                <a:solidFill>
                                  <a:srgbClr val="FF0000"/>
                                </a:solidFill>
                                <a:latin typeface="Cambria Math" panose="02040503050406030204" pitchFamily="18" charset="0"/>
                                <a:ea typeface="Cambria Math" panose="02040503050406030204" pitchFamily="18" charset="0"/>
                              </a:rPr>
                            </m:ctrlPr>
                          </m:sSubSupPr>
                          <m:e>
                            <m:r>
                              <a:rPr lang="en-US" b="1" i="1">
                                <a:solidFill>
                                  <a:srgbClr val="FF0000"/>
                                </a:solidFill>
                                <a:latin typeface="Cambria Math" panose="02040503050406030204" pitchFamily="18" charset="0"/>
                                <a:ea typeface="Cambria Math" panose="02040503050406030204" pitchFamily="18" charset="0"/>
                              </a:rPr>
                              <m:t>𝒙</m:t>
                            </m:r>
                          </m:e>
                          <m:sub>
                            <m:r>
                              <a:rPr lang="en-US" b="1" i="1">
                                <a:solidFill>
                                  <a:srgbClr val="FF0000"/>
                                </a:solidFill>
                                <a:latin typeface="Cambria Math" panose="02040503050406030204" pitchFamily="18" charset="0"/>
                                <a:ea typeface="Cambria Math" panose="02040503050406030204" pitchFamily="18" charset="0"/>
                              </a:rPr>
                              <m:t>𝟎</m:t>
                            </m:r>
                          </m:sub>
                          <m:sup>
                            <m:r>
                              <a:rPr lang="en-US" b="1" i="1">
                                <a:solidFill>
                                  <a:srgbClr val="FF0000"/>
                                </a:solidFill>
                                <a:latin typeface="Cambria Math" panose="02040503050406030204" pitchFamily="18" charset="0"/>
                                <a:ea typeface="Cambria Math" panose="02040503050406030204" pitchFamily="18" charset="0"/>
                              </a:rPr>
                              <m:t>𝟐</m:t>
                            </m:r>
                          </m:sup>
                        </m:sSubSup>
                        <m:r>
                          <a:rPr lang="en-US" b="1" i="1">
                            <a:solidFill>
                              <a:srgbClr val="FF0000"/>
                            </a:solidFill>
                            <a:latin typeface="Cambria Math" panose="02040503050406030204" pitchFamily="18" charset="0"/>
                            <a:ea typeface="Cambria Math" panose="02040503050406030204" pitchFamily="18" charset="0"/>
                          </a:rPr>
                          <m:t>+</m:t>
                        </m:r>
                        <m:sSubSup>
                          <m:sSubSupPr>
                            <m:ctrlPr>
                              <a:rPr lang="en-US" b="1" i="1">
                                <a:solidFill>
                                  <a:srgbClr val="FF0000"/>
                                </a:solidFill>
                                <a:latin typeface="Cambria Math" panose="02040503050406030204" pitchFamily="18" charset="0"/>
                                <a:ea typeface="Cambria Math" panose="02040503050406030204" pitchFamily="18" charset="0"/>
                              </a:rPr>
                            </m:ctrlPr>
                          </m:sSubSupPr>
                          <m:e>
                            <m:r>
                              <a:rPr lang="en-US" b="1" i="1">
                                <a:solidFill>
                                  <a:srgbClr val="FF0000"/>
                                </a:solidFill>
                                <a:latin typeface="Cambria Math" panose="02040503050406030204" pitchFamily="18" charset="0"/>
                                <a:ea typeface="Cambria Math" panose="02040503050406030204" pitchFamily="18" charset="0"/>
                              </a:rPr>
                              <m:t>𝒚</m:t>
                            </m:r>
                          </m:e>
                          <m:sub>
                            <m:r>
                              <a:rPr lang="en-US" b="1" i="1">
                                <a:solidFill>
                                  <a:srgbClr val="FF0000"/>
                                </a:solidFill>
                                <a:latin typeface="Cambria Math" panose="02040503050406030204" pitchFamily="18" charset="0"/>
                                <a:ea typeface="Cambria Math" panose="02040503050406030204" pitchFamily="18" charset="0"/>
                              </a:rPr>
                              <m:t>𝟎</m:t>
                            </m:r>
                          </m:sub>
                          <m:sup>
                            <m:r>
                              <a:rPr lang="en-US" b="1" i="1">
                                <a:solidFill>
                                  <a:srgbClr val="FF0000"/>
                                </a:solidFill>
                                <a:latin typeface="Cambria Math" panose="02040503050406030204" pitchFamily="18" charset="0"/>
                                <a:ea typeface="Cambria Math" panose="02040503050406030204" pitchFamily="18" charset="0"/>
                              </a:rPr>
                              <m:t>𝟐</m:t>
                            </m:r>
                          </m:sup>
                        </m:sSubSup>
                      </m:e>
                    </m:rad>
                  </m:oMath>
                </a14:m>
                <a:endParaRPr lang="en-US" b="1">
                  <a:latin typeface="Cambria Math" panose="02040503050406030204" pitchFamily="18" charset="0"/>
                  <a:ea typeface="Cambria Math" panose="02040503050406030204" pitchFamily="18" charset="0"/>
                  <a:cs typeface="Tahoma" panose="020B0604030504040204" pitchFamily="34" charset="0"/>
                </a:endParaRPr>
              </a:p>
            </p:txBody>
          </p:sp>
        </mc:Choice>
        <mc:Fallback xmlns="">
          <p:sp>
            <p:nvSpPr>
              <p:cNvPr id="4" name="Content Placeholder 2">
                <a:extLst>
                  <a:ext uri="{FF2B5EF4-FFF2-40B4-BE49-F238E27FC236}">
                    <a16:creationId xmlns:a16="http://schemas.microsoft.com/office/drawing/2014/main" id="{89433443-F7C6-4FAD-8BCF-22C0992B6D9C}"/>
                  </a:ext>
                </a:extLst>
              </p:cNvPr>
              <p:cNvSpPr txBox="1">
                <a:spLocks noRot="1" noChangeAspect="1" noMove="1" noResize="1" noEditPoints="1" noAdjustHandles="1" noChangeArrowheads="1" noChangeShapeType="1" noTextEdit="1"/>
              </p:cNvSpPr>
              <p:nvPr/>
            </p:nvSpPr>
            <p:spPr>
              <a:xfrm>
                <a:off x="15358872" y="2667000"/>
                <a:ext cx="8686800" cy="10896599"/>
              </a:xfrm>
              <a:prstGeom prst="rect">
                <a:avLst/>
              </a:prstGeom>
              <a:blipFill>
                <a:blip r:embed="rId4"/>
                <a:stretch>
                  <a:fillRect l="-3153"/>
                </a:stretch>
              </a:blipFill>
              <a:ln>
                <a:solidFill>
                  <a:srgbClr val="00B0F0"/>
                </a:solidFill>
              </a:ln>
            </p:spPr>
            <p:txBody>
              <a:bodyPr/>
              <a:lstStyle/>
              <a:p>
                <a:r>
                  <a:rPr lang="en-US">
                    <a:noFill/>
                  </a:rPr>
                  <a:t> </a:t>
                </a:r>
              </a:p>
            </p:txBody>
          </p:sp>
        </mc:Fallback>
      </mc:AlternateContent>
      <p:pic>
        <p:nvPicPr>
          <p:cNvPr id="6" name="Picture 5" descr="Shape&#10;&#10;Description automatically generated with low confidence">
            <a:extLst>
              <a:ext uri="{FF2B5EF4-FFF2-40B4-BE49-F238E27FC236}">
                <a16:creationId xmlns:a16="http://schemas.microsoft.com/office/drawing/2014/main" id="{D1497AA9-2B19-4F97-AE29-97BA26F777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383000" y="2667000"/>
            <a:ext cx="7086600" cy="4822124"/>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693961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fade">
                                      <p:cBhvr>
                                        <p:cTn id="7" dur="1000"/>
                                        <p:tgtEl>
                                          <p:spTgt spid="4">
                                            <p:txEl>
                                              <p:pRg st="8" end="8"/>
                                            </p:txEl>
                                          </p:spTgt>
                                        </p:tgtEl>
                                      </p:cBhvr>
                                    </p:animEffect>
                                    <p:anim calcmode="lin" valueType="num">
                                      <p:cBhvr>
                                        <p:cTn id="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9" end="9"/>
                                            </p:txEl>
                                          </p:spTgt>
                                        </p:tgtEl>
                                        <p:attrNameLst>
                                          <p:attrName>style.visibility</p:attrName>
                                        </p:attrNameLst>
                                      </p:cBhvr>
                                      <p:to>
                                        <p:strVal val="visible"/>
                                      </p:to>
                                    </p:set>
                                    <p:animEffect transition="in" filter="fade">
                                      <p:cBhvr>
                                        <p:cTn id="14" dur="1000"/>
                                        <p:tgtEl>
                                          <p:spTgt spid="4">
                                            <p:txEl>
                                              <p:pRg st="9" end="9"/>
                                            </p:txEl>
                                          </p:spTgt>
                                        </p:tgtEl>
                                      </p:cBhvr>
                                    </p:animEffect>
                                    <p:anim calcmode="lin" valueType="num">
                                      <p:cBhvr>
                                        <p:cTn id="1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animEffect transition="in" filter="fade">
                                      <p:cBhvr>
                                        <p:cTn id="21" dur="1000"/>
                                        <p:tgtEl>
                                          <p:spTgt spid="4">
                                            <p:txEl>
                                              <p:pRg st="10" end="10"/>
                                            </p:txEl>
                                          </p:spTgt>
                                        </p:tgtEl>
                                      </p:cBhvr>
                                    </p:animEffect>
                                    <p:anim calcmode="lin" valueType="num">
                                      <p:cBhvr>
                                        <p:cTn id="2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11" end="11"/>
                                            </p:txEl>
                                          </p:spTgt>
                                        </p:tgtEl>
                                        <p:attrNameLst>
                                          <p:attrName>style.visibility</p:attrName>
                                        </p:attrNameLst>
                                      </p:cBhvr>
                                      <p:to>
                                        <p:strVal val="visible"/>
                                      </p:to>
                                    </p:set>
                                    <p:animEffect transition="in" filter="fade">
                                      <p:cBhvr>
                                        <p:cTn id="28" dur="1000"/>
                                        <p:tgtEl>
                                          <p:spTgt spid="4">
                                            <p:txEl>
                                              <p:pRg st="11" end="11"/>
                                            </p:txEl>
                                          </p:spTgt>
                                        </p:tgtEl>
                                      </p:cBhvr>
                                    </p:animEffect>
                                    <p:anim calcmode="lin" valueType="num">
                                      <p:cBhvr>
                                        <p:cTn id="29"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38328" y="2667000"/>
                <a:ext cx="14749272" cy="108965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25000"/>
                  </a:lnSpc>
                  <a:spcBef>
                    <a:spcPts val="0"/>
                  </a:spcBef>
                  <a:buClr>
                    <a:srgbClr val="FF0000"/>
                  </a:buClr>
                  <a:buFont typeface="Wingdings" panose="05000000000000000000" pitchFamily="2" charset="2"/>
                  <a:buChar char="q"/>
                </a:pPr>
                <a:r>
                  <a:rPr lang="en-US">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HĐ4: </a:t>
                </a:r>
                <a:r>
                  <a:rPr lang="en-US" b="1">
                    <a:latin typeface="Tahoma" panose="020B0604030504040204" pitchFamily="34" charset="0"/>
                    <a:ea typeface="Tahoma" panose="020B0604030504040204" pitchFamily="34" charset="0"/>
                    <a:cs typeface="Tahoma" panose="020B0604030504040204" pitchFamily="34" charset="0"/>
                  </a:rPr>
                  <a:t>Trong mặt phẳng tọa độ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a:latin typeface="Tahoma" panose="020B0604030504040204" pitchFamily="34" charset="0"/>
                    <a:ea typeface="Tahoma" panose="020B0604030504040204" pitchFamily="34" charset="0"/>
                    <a:cs typeface="Tahoma" panose="020B0604030504040204" pitchFamily="34" charset="0"/>
                  </a:rPr>
                  <a:t>, cho điểm </a:t>
                </a:r>
                <a14:m>
                  <m:oMath xmlns:m="http://schemas.openxmlformats.org/officeDocument/2006/math">
                    <m:r>
                      <a:rPr lang="en-US" b="1" i="1">
                        <a:latin typeface="Cambria Math" panose="02040503050406030204" pitchFamily="18" charset="0"/>
                        <a:ea typeface="Cambria Math" panose="02040503050406030204" pitchFamily="18" charset="0"/>
                      </a:rPr>
                      <m:t>𝑴</m:t>
                    </m:r>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smtClean="0">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e>
                    </m:d>
                  </m:oMath>
                </a14:m>
                <a:r>
                  <a:rPr lang="en-US" b="1">
                    <a:latin typeface="Tahoma" panose="020B0604030504040204" pitchFamily="34" charset="0"/>
                    <a:ea typeface="Tahoma" panose="020B0604030504040204" pitchFamily="34" charset="0"/>
                    <a:cs typeface="Tahoma" panose="020B0604030504040204" pitchFamily="34" charset="0"/>
                  </a:rPr>
                  <a:t>. Gọi </a:t>
                </a:r>
                <a14:m>
                  <m:oMath xmlns:m="http://schemas.openxmlformats.org/officeDocument/2006/math">
                    <m:r>
                      <a:rPr lang="en-US" b="1" i="1">
                        <a:latin typeface="Cambria Math" panose="02040503050406030204" pitchFamily="18" charset="0"/>
                        <a:ea typeface="Cambria Math" panose="02040503050406030204" pitchFamily="18" charset="0"/>
                      </a:rPr>
                      <m:t>𝑷</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𝑸</m:t>
                    </m:r>
                  </m:oMath>
                </a14:m>
                <a:r>
                  <a:rPr lang="en-US" b="1">
                    <a:latin typeface="Tahoma" panose="020B0604030504040204" pitchFamily="34" charset="0"/>
                    <a:ea typeface="Tahoma" panose="020B0604030504040204" pitchFamily="34" charset="0"/>
                    <a:cs typeface="Tahoma" panose="020B0604030504040204" pitchFamily="34" charset="0"/>
                  </a:rPr>
                  <a:t> tương ứng là hình chiếu vuông góc của điểm </a:t>
                </a:r>
                <a14:m>
                  <m:oMath xmlns:m="http://schemas.openxmlformats.org/officeDocument/2006/math">
                    <m:r>
                      <a:rPr lang="en-US" b="1" i="1">
                        <a:latin typeface="Cambria Math" panose="02040503050406030204" pitchFamily="18" charset="0"/>
                        <a:ea typeface="Cambria Math" panose="02040503050406030204" pitchFamily="18" charset="0"/>
                      </a:rPr>
                      <m:t>𝑴</m:t>
                    </m:r>
                  </m:oMath>
                </a14:m>
                <a:r>
                  <a:rPr lang="en-US" b="1">
                    <a:latin typeface="Tahoma" panose="020B0604030504040204" pitchFamily="34" charset="0"/>
                    <a:ea typeface="Tahoma" panose="020B0604030504040204" pitchFamily="34" charset="0"/>
                    <a:cs typeface="Tahoma" panose="020B0604030504040204" pitchFamily="34" charset="0"/>
                  </a:rPr>
                  <a:t> trên trục hoành </a:t>
                </a:r>
                <a14:m>
                  <m:oMath xmlns:m="http://schemas.openxmlformats.org/officeDocument/2006/math">
                    <m:r>
                      <a:rPr lang="en-US" b="1" i="1">
                        <a:latin typeface="Cambria Math" panose="02040503050406030204" pitchFamily="18" charset="0"/>
                        <a:ea typeface="Cambria Math" panose="02040503050406030204" pitchFamily="18" charset="0"/>
                      </a:rPr>
                      <m:t>𝑶𝒙</m:t>
                    </m:r>
                  </m:oMath>
                </a14:m>
                <a:r>
                  <a:rPr lang="en-US" b="1">
                    <a:latin typeface="Tahoma" panose="020B0604030504040204" pitchFamily="34" charset="0"/>
                    <a:ea typeface="Tahoma" panose="020B0604030504040204" pitchFamily="34" charset="0"/>
                    <a:cs typeface="Tahoma" panose="020B0604030504040204" pitchFamily="34" charset="0"/>
                  </a:rPr>
                  <a:t> và trục tung </a:t>
                </a:r>
                <a14:m>
                  <m:oMath xmlns:m="http://schemas.openxmlformats.org/officeDocument/2006/math">
                    <m:r>
                      <a:rPr lang="en-US" b="1" i="1">
                        <a:latin typeface="Cambria Math" panose="02040503050406030204" pitchFamily="18" charset="0"/>
                        <a:ea typeface="Cambria Math" panose="02040503050406030204" pitchFamily="18" charset="0"/>
                      </a:rPr>
                      <m:t>𝑶𝒚</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𝑯</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𝟑𝟓</m:t>
                        </m:r>
                      </m:e>
                    </m:d>
                  </m:oMath>
                </a14:m>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a) Trên trục </a:t>
                </a:r>
                <a14:m>
                  <m:oMath xmlns:m="http://schemas.openxmlformats.org/officeDocument/2006/math">
                    <m:r>
                      <a:rPr lang="en-US" b="1" i="1">
                        <a:latin typeface="Cambria Math" panose="02040503050406030204" pitchFamily="18" charset="0"/>
                        <a:ea typeface="Cambria Math" panose="02040503050406030204" pitchFamily="18" charset="0"/>
                      </a:rPr>
                      <m:t>𝑶𝒙</m:t>
                    </m:r>
                  </m:oMath>
                </a14:m>
                <a:r>
                  <a:rPr lang="en-US" b="1">
                    <a:latin typeface="Tahoma" panose="020B0604030504040204" pitchFamily="34" charset="0"/>
                    <a:ea typeface="Tahoma" panose="020B0604030504040204" pitchFamily="34" charset="0"/>
                    <a:cs typeface="Tahoma" panose="020B0604030504040204" pitchFamily="34" charset="0"/>
                  </a:rPr>
                  <a:t>, điểm </a:t>
                </a:r>
                <a14:m>
                  <m:oMath xmlns:m="http://schemas.openxmlformats.org/officeDocument/2006/math">
                    <m:r>
                      <a:rPr lang="en-US" b="1" i="1">
                        <a:latin typeface="Cambria Math" panose="02040503050406030204" pitchFamily="18" charset="0"/>
                        <a:ea typeface="Cambria Math" panose="02040503050406030204" pitchFamily="18" charset="0"/>
                      </a:rPr>
                      <m:t>𝑷</m:t>
                    </m:r>
                  </m:oMath>
                </a14:m>
                <a:r>
                  <a:rPr lang="en-US" b="1">
                    <a:latin typeface="Tahoma" panose="020B0604030504040204" pitchFamily="34" charset="0"/>
                    <a:ea typeface="Tahoma" panose="020B0604030504040204" pitchFamily="34" charset="0"/>
                    <a:cs typeface="Tahoma" panose="020B0604030504040204" pitchFamily="34" charset="0"/>
                  </a:rPr>
                  <a:t> biểu diễn số nào?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𝑶𝑷</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latin typeface="Tahoma" panose="020B0604030504040204" pitchFamily="34" charset="0"/>
                    <a:ea typeface="Tahoma" panose="020B0604030504040204" pitchFamily="34" charset="0"/>
                    <a:cs typeface="Tahoma" panose="020B0604030504040204" pitchFamily="34" charset="0"/>
                  </a:rPr>
                  <a:t> và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𝑶𝑷</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b) Trên trục </a:t>
                </a:r>
                <a14:m>
                  <m:oMath xmlns:m="http://schemas.openxmlformats.org/officeDocument/2006/math">
                    <m:r>
                      <a:rPr lang="en-US" b="1" i="1">
                        <a:latin typeface="Cambria Math" panose="02040503050406030204" pitchFamily="18" charset="0"/>
                        <a:ea typeface="Cambria Math" panose="02040503050406030204" pitchFamily="18" charset="0"/>
                      </a:rPr>
                      <m:t>𝑶𝒚</m:t>
                    </m:r>
                  </m:oMath>
                </a14:m>
                <a:r>
                  <a:rPr lang="en-US" b="1">
                    <a:latin typeface="Tahoma" panose="020B0604030504040204" pitchFamily="34" charset="0"/>
                    <a:ea typeface="Tahoma" panose="020B0604030504040204" pitchFamily="34" charset="0"/>
                    <a:cs typeface="Tahoma" panose="020B0604030504040204" pitchFamily="34" charset="0"/>
                  </a:rPr>
                  <a:t>, điểm </a:t>
                </a:r>
                <a14:m>
                  <m:oMath xmlns:m="http://schemas.openxmlformats.org/officeDocument/2006/math">
                    <m:r>
                      <a:rPr lang="en-US" b="1" i="1">
                        <a:latin typeface="Cambria Math" panose="02040503050406030204" pitchFamily="18" charset="0"/>
                        <a:ea typeface="Cambria Math" panose="02040503050406030204" pitchFamily="18" charset="0"/>
                      </a:rPr>
                      <m:t>𝑸</m:t>
                    </m:r>
                  </m:oMath>
                </a14:m>
                <a:r>
                  <a:rPr lang="en-US" b="1">
                    <a:latin typeface="Tahoma" panose="020B0604030504040204" pitchFamily="34" charset="0"/>
                    <a:ea typeface="Tahoma" panose="020B0604030504040204" pitchFamily="34" charset="0"/>
                    <a:cs typeface="Tahoma" panose="020B0604030504040204" pitchFamily="34" charset="0"/>
                  </a:rPr>
                  <a:t> biểu diễn số nào?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𝑶𝑸</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 và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𝑶𝑸</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c) Dựa vào hình chữ nhật </a:t>
                </a:r>
                <a14:m>
                  <m:oMath xmlns:m="http://schemas.openxmlformats.org/officeDocument/2006/math">
                    <m:r>
                      <a:rPr lang="en-US" b="1" i="1">
                        <a:latin typeface="Cambria Math" panose="02040503050406030204" pitchFamily="18" charset="0"/>
                        <a:ea typeface="Cambria Math" panose="02040503050406030204" pitchFamily="18" charset="0"/>
                      </a:rPr>
                      <m:t>𝑶𝑷𝑴𝑸</m:t>
                    </m:r>
                  </m:oMath>
                </a14:m>
                <a:r>
                  <a:rPr lang="en-US" b="1">
                    <a:latin typeface="Tahoma" panose="020B0604030504040204" pitchFamily="34" charset="0"/>
                    <a:ea typeface="Tahoma" panose="020B0604030504040204" pitchFamily="34" charset="0"/>
                    <a:cs typeface="Tahoma" panose="020B0604030504040204" pitchFamily="34" charset="0"/>
                  </a:rPr>
                  <a:t>, tính độ dài của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r>
                  <a:rPr lang="en-US" b="1">
                    <a:latin typeface="Tahoma" panose="020B0604030504040204" pitchFamily="34" charset="0"/>
                    <a:ea typeface="Tahoma" panose="020B0604030504040204" pitchFamily="34" charset="0"/>
                    <a:cs typeface="Tahoma" panose="020B0604030504040204" pitchFamily="34" charset="0"/>
                  </a:rPr>
                  <a:t> theo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𝒚</m:t>
                        </m:r>
                      </m:e>
                      <m:sub>
                        <m:r>
                          <a:rPr lang="en-US" b="1" i="1" smtClean="0">
                            <a:latin typeface="Cambria Math" panose="02040503050406030204" pitchFamily="18" charset="0"/>
                            <a:ea typeface="Cambria Math" panose="02040503050406030204" pitchFamily="18" charset="0"/>
                          </a:rPr>
                          <m:t>𝟎</m:t>
                        </m:r>
                      </m:sub>
                    </m:sSub>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25000"/>
                  </a:lnSpc>
                  <a:spcBef>
                    <a:spcPts val="0"/>
                  </a:spcBef>
                  <a:buNone/>
                </a:pPr>
                <a:r>
                  <a:rPr lang="en-US" b="1">
                    <a:latin typeface="Tahoma" panose="020B0604030504040204" pitchFamily="34" charset="0"/>
                    <a:ea typeface="Tahoma" panose="020B0604030504040204" pitchFamily="34" charset="0"/>
                    <a:cs typeface="Tahoma" panose="020B0604030504040204" pitchFamily="34" charset="0"/>
                  </a:rPr>
                  <a:t>d) Biểu thị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r>
                  <a:rPr lang="en-US" b="1">
                    <a:latin typeface="Tahoma" panose="020B0604030504040204" pitchFamily="34" charset="0"/>
                    <a:ea typeface="Tahoma" panose="020B0604030504040204" pitchFamily="34" charset="0"/>
                    <a:cs typeface="Tahoma" panose="020B0604030504040204" pitchFamily="34" charset="0"/>
                  </a:rPr>
                  <a:t> theo các vectơ đơn vị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𝒊</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𝒋</m:t>
                        </m:r>
                      </m:e>
                    </m:acc>
                  </m:oMath>
                </a14:m>
                <a:r>
                  <a:rPr lang="en-US" b="1">
                    <a:latin typeface="Tahoma" panose="020B0604030504040204" pitchFamily="34" charset="0"/>
                    <a:ea typeface="Tahoma" panose="020B0604030504040204" pitchFamily="34" charset="0"/>
                    <a:cs typeface="Tahoma" panose="020B0604030504040204" pitchFamily="34" charset="0"/>
                  </a:rPr>
                  <a:t>.</a:t>
                </a:r>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25000"/>
                  </a:lnSpc>
                  <a:spcBef>
                    <a:spcPts val="0"/>
                  </a:spcBef>
                  <a:buNone/>
                </a:pPr>
                <a:endParaRPr lang="en-US">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38328" y="2667000"/>
                <a:ext cx="14749272" cy="10896599"/>
              </a:xfrm>
              <a:prstGeom prst="rect">
                <a:avLst/>
              </a:prstGeom>
              <a:blipFill>
                <a:blip r:embed="rId3"/>
                <a:stretch>
                  <a:fillRect l="-1859" t="-56" r="-1404"/>
                </a:stretch>
              </a:blipFill>
              <a:ln>
                <a:solidFill>
                  <a:srgbClr val="00B0F0"/>
                </a:solidFill>
              </a:ln>
            </p:spPr>
            <p:txBody>
              <a:bodyPr/>
              <a:lstStyle/>
              <a:p>
                <a:r>
                  <a:rPr lang="en-US">
                    <a:noFill/>
                  </a:rPr>
                  <a:t> </a:t>
                </a:r>
              </a:p>
            </p:txBody>
          </p:sp>
        </mc:Fallback>
      </mc:AlternateContent>
      <p:sp>
        <p:nvSpPr>
          <p:cNvPr id="5" name="Title 1">
            <a:extLst>
              <a:ext uri="{FF2B5EF4-FFF2-40B4-BE49-F238E27FC236}">
                <a16:creationId xmlns:a16="http://schemas.microsoft.com/office/drawing/2014/main" id="{91EFB9E1-C2C8-4179-962F-C0CDC30C73C0}"/>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9433443-F7C6-4FAD-8BCF-22C0992B6D9C}"/>
                  </a:ext>
                </a:extLst>
              </p:cNvPr>
              <p:cNvSpPr txBox="1">
                <a:spLocks/>
              </p:cNvSpPr>
              <p:nvPr/>
            </p:nvSpPr>
            <p:spPr>
              <a:xfrm>
                <a:off x="15358872" y="2667000"/>
                <a:ext cx="8686800" cy="108965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spcBef>
                    <a:spcPts val="6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spcBef>
                    <a:spcPts val="600"/>
                  </a:spcBef>
                  <a:buNone/>
                </a:pPr>
                <a:r>
                  <a:rPr lang="en-US" b="1">
                    <a:latin typeface="Tahoma" panose="020B0604030504040204" pitchFamily="34" charset="0"/>
                    <a:ea typeface="Tahoma" panose="020B0604030504040204" pitchFamily="34" charset="0"/>
                    <a:cs typeface="Tahoma" panose="020B0604030504040204" pitchFamily="34" charset="0"/>
                  </a:rPr>
                  <a:t>Hình 4.35</a:t>
                </a:r>
              </a:p>
              <a:p>
                <a:pPr algn="just">
                  <a:lnSpc>
                    <a:spcPct val="100000"/>
                  </a:lnSpc>
                  <a:spcBef>
                    <a:spcPts val="600"/>
                  </a:spcBef>
                  <a:buFont typeface="Wingdings" panose="05000000000000000000" pitchFamily="2" charset="2"/>
                  <a:buChar char="Ø"/>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Hướng dẫn:</a:t>
                </a:r>
              </a:p>
              <a:p>
                <a:pPr marL="0" indent="0" algn="just">
                  <a:lnSpc>
                    <a:spcPct val="100000"/>
                  </a:lnSpc>
                  <a:spcBef>
                    <a:spcPts val="600"/>
                  </a:spcBef>
                  <a:buNone/>
                </a:pPr>
                <a:r>
                  <a:rPr lang="fr-FR" b="1">
                    <a:latin typeface="Tahoma" panose="020B0604030504040204" pitchFamily="34" charset="0"/>
                    <a:ea typeface="Tahoma" panose="020B0604030504040204" pitchFamily="34" charset="0"/>
                    <a:cs typeface="Tahoma" panose="020B0604030504040204" pitchFamily="34" charset="0"/>
                  </a:rPr>
                  <a:t>d)</a:t>
                </a:r>
              </a:p>
              <a:p>
                <a:pPr>
                  <a:lnSpc>
                    <a:spcPct val="100000"/>
                  </a:lnSpc>
                  <a:spcBef>
                    <a:spcPts val="600"/>
                  </a:spcBef>
                </a:pPr>
                <a14:m>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𝑶𝑴</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m:t>
                        </m:r>
                        <m:r>
                          <a:rPr lang="en-US" b="1" i="1" smtClean="0">
                            <a:latin typeface="Cambria Math" panose="02040503050406030204" pitchFamily="18" charset="0"/>
                            <a:ea typeface="Cambria Math" panose="02040503050406030204" pitchFamily="18" charset="0"/>
                          </a:rPr>
                          <m:t>𝑷</m:t>
                        </m:r>
                      </m:e>
                    </m:acc>
                    <m:r>
                      <a:rPr lang="en-US" b="1" i="1" smtClean="0">
                        <a:latin typeface="Cambria Math" panose="02040503050406030204" pitchFamily="18" charset="0"/>
                        <a:ea typeface="Cambria Math" panose="02040503050406030204" pitchFamily="18" charset="0"/>
                      </a:rPr>
                      <m:t>+</m:t>
                    </m:r>
                    <m:acc>
                      <m:accPr>
                        <m:chr m:val="⃗"/>
                        <m:ctrlPr>
                          <a:rPr lang="en-US" b="1" i="1" smtClean="0">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m:t>
                        </m:r>
                        <m:r>
                          <a:rPr lang="en-US" b="1" i="1" smtClean="0">
                            <a:latin typeface="Cambria Math" panose="02040503050406030204" pitchFamily="18" charset="0"/>
                            <a:ea typeface="Cambria Math" panose="02040503050406030204" pitchFamily="18" charset="0"/>
                          </a:rPr>
                          <m:t>𝑸</m:t>
                        </m:r>
                      </m:e>
                    </m:acc>
                  </m:oMath>
                </a14:m>
                <a:endParaRPr lang="en-US" b="1" i="1">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600"/>
                  </a:spcBef>
                  <a:buNone/>
                </a:pPr>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m:t>
                    </m:r>
                    <m:sSub>
                      <m:sSubPr>
                        <m:ctrlPr>
                          <a:rPr lang="en-US" b="1" i="1" smtClean="0">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𝟎</m:t>
                        </m:r>
                      </m:sub>
                    </m:sSub>
                    <m:r>
                      <a:rPr lang="en-US" b="1" i="1">
                        <a:solidFill>
                          <a:srgbClr val="FF0000"/>
                        </a:solidFill>
                        <a:latin typeface="Cambria Math" panose="02040503050406030204" pitchFamily="18" charset="0"/>
                      </a:rPr>
                      <m:t>.</m:t>
                    </m:r>
                    <m:acc>
                      <m:accPr>
                        <m:chr m:val="⃗"/>
                        <m:ctrlPr>
                          <a:rPr lang="en-US" b="1" i="1">
                            <a:solidFill>
                              <a:srgbClr val="FF0000"/>
                            </a:solidFill>
                            <a:latin typeface="Cambria Math" panose="02040503050406030204" pitchFamily="18" charset="0"/>
                          </a:rPr>
                        </m:ctrlPr>
                      </m:accPr>
                      <m:e>
                        <m:r>
                          <a:rPr lang="en-US" b="1" i="1">
                            <a:solidFill>
                              <a:srgbClr val="FF0000"/>
                            </a:solidFill>
                            <a:latin typeface="Cambria Math" panose="02040503050406030204" pitchFamily="18" charset="0"/>
                          </a:rPr>
                          <m:t>𝒊</m:t>
                        </m:r>
                      </m:e>
                    </m:acc>
                    <m:r>
                      <a:rPr lang="en-US" b="1" i="1" smtClean="0">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𝒚</m:t>
                        </m:r>
                      </m:e>
                      <m:sub>
                        <m:r>
                          <a:rPr lang="en-US" b="1" i="1">
                            <a:solidFill>
                              <a:srgbClr val="FF0000"/>
                            </a:solidFill>
                            <a:latin typeface="Cambria Math" panose="02040503050406030204" pitchFamily="18" charset="0"/>
                          </a:rPr>
                          <m:t>𝟎</m:t>
                        </m:r>
                      </m:sub>
                    </m:sSub>
                    <m:r>
                      <a:rPr lang="en-US" b="1" i="1">
                        <a:solidFill>
                          <a:srgbClr val="FF0000"/>
                        </a:solidFill>
                        <a:latin typeface="Cambria Math" panose="02040503050406030204" pitchFamily="18" charset="0"/>
                      </a:rPr>
                      <m:t>.</m:t>
                    </m:r>
                    <m:acc>
                      <m:accPr>
                        <m:chr m:val="⃗"/>
                        <m:ctrlPr>
                          <a:rPr lang="en-US" b="1" i="1">
                            <a:solidFill>
                              <a:srgbClr val="FF0000"/>
                            </a:solidFill>
                            <a:latin typeface="Cambria Math" panose="02040503050406030204" pitchFamily="18" charset="0"/>
                          </a:rPr>
                        </m:ctrlPr>
                      </m:accPr>
                      <m:e>
                        <m:r>
                          <a:rPr lang="en-US" b="1" i="1" smtClean="0">
                            <a:solidFill>
                              <a:srgbClr val="FF0000"/>
                            </a:solidFill>
                            <a:latin typeface="Cambria Math" panose="02040503050406030204" pitchFamily="18" charset="0"/>
                          </a:rPr>
                          <m:t>𝒋</m:t>
                        </m:r>
                      </m:e>
                    </m:acc>
                  </m:oMath>
                </a14:m>
                <a:endParaRPr lang="en-US" b="1" i="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 name="Content Placeholder 2">
                <a:extLst>
                  <a:ext uri="{FF2B5EF4-FFF2-40B4-BE49-F238E27FC236}">
                    <a16:creationId xmlns:a16="http://schemas.microsoft.com/office/drawing/2014/main" id="{89433443-F7C6-4FAD-8BCF-22C0992B6D9C}"/>
                  </a:ext>
                </a:extLst>
              </p:cNvPr>
              <p:cNvSpPr txBox="1">
                <a:spLocks noRot="1" noChangeAspect="1" noMove="1" noResize="1" noEditPoints="1" noAdjustHandles="1" noChangeArrowheads="1" noChangeShapeType="1" noTextEdit="1"/>
              </p:cNvSpPr>
              <p:nvPr/>
            </p:nvSpPr>
            <p:spPr>
              <a:xfrm>
                <a:off x="15358872" y="2667000"/>
                <a:ext cx="8686800" cy="10896599"/>
              </a:xfrm>
              <a:prstGeom prst="rect">
                <a:avLst/>
              </a:prstGeom>
              <a:blipFill>
                <a:blip r:embed="rId4"/>
                <a:stretch>
                  <a:fillRect l="-3153"/>
                </a:stretch>
              </a:blipFill>
              <a:ln>
                <a:solidFill>
                  <a:srgbClr val="00B0F0"/>
                </a:solidFill>
              </a:ln>
            </p:spPr>
            <p:txBody>
              <a:bodyPr/>
              <a:lstStyle/>
              <a:p>
                <a:r>
                  <a:rPr lang="en-US">
                    <a:noFill/>
                  </a:rPr>
                  <a:t> </a:t>
                </a:r>
              </a:p>
            </p:txBody>
          </p:sp>
        </mc:Fallback>
      </mc:AlternateContent>
      <p:pic>
        <p:nvPicPr>
          <p:cNvPr id="7" name="Picture 6" descr="Shape&#10;&#10;Description automatically generated with medium confidence">
            <a:extLst>
              <a:ext uri="{FF2B5EF4-FFF2-40B4-BE49-F238E27FC236}">
                <a16:creationId xmlns:a16="http://schemas.microsoft.com/office/drawing/2014/main" id="{2868BAE5-7CEB-4402-ABFC-EE36E2E228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687800" y="2743200"/>
            <a:ext cx="6842117" cy="48006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8287928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fade">
                                      <p:cBhvr>
                                        <p:cTn id="7" dur="1000"/>
                                        <p:tgtEl>
                                          <p:spTgt spid="4">
                                            <p:txEl>
                                              <p:pRg st="8" end="8"/>
                                            </p:txEl>
                                          </p:spTgt>
                                        </p:tgtEl>
                                      </p:cBhvr>
                                    </p:animEffect>
                                    <p:anim calcmode="lin" valueType="num">
                                      <p:cBhvr>
                                        <p:cTn id="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9" end="9"/>
                                            </p:txEl>
                                          </p:spTgt>
                                        </p:tgtEl>
                                        <p:attrNameLst>
                                          <p:attrName>style.visibility</p:attrName>
                                        </p:attrNameLst>
                                      </p:cBhvr>
                                      <p:to>
                                        <p:strVal val="visible"/>
                                      </p:to>
                                    </p:set>
                                    <p:animEffect transition="in" filter="fade">
                                      <p:cBhvr>
                                        <p:cTn id="14" dur="1000"/>
                                        <p:tgtEl>
                                          <p:spTgt spid="4">
                                            <p:txEl>
                                              <p:pRg st="9" end="9"/>
                                            </p:txEl>
                                          </p:spTgt>
                                        </p:tgtEl>
                                      </p:cBhvr>
                                    </p:animEffect>
                                    <p:anim calcmode="lin" valueType="num">
                                      <p:cBhvr>
                                        <p:cTn id="1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animEffect transition="in" filter="fade">
                                      <p:cBhvr>
                                        <p:cTn id="21" dur="1000"/>
                                        <p:tgtEl>
                                          <p:spTgt spid="4">
                                            <p:txEl>
                                              <p:pRg st="10" end="10"/>
                                            </p:txEl>
                                          </p:spTgt>
                                        </p:tgtEl>
                                      </p:cBhvr>
                                    </p:animEffect>
                                    <p:anim calcmode="lin" valueType="num">
                                      <p:cBhvr>
                                        <p:cTn id="2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38328" y="2684930"/>
                <a:ext cx="23740872" cy="10744200"/>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1200"/>
                  </a:spcBef>
                  <a:buClr>
                    <a:srgbClr val="FF0000"/>
                  </a:buClr>
                  <a:buFont typeface="Wingdings" panose="05000000000000000000" pitchFamily="2" charset="2"/>
                  <a:buChar char="v"/>
                </a:pPr>
                <a:r>
                  <a:rPr lang="en-US" b="1">
                    <a:latin typeface="Tahoma" panose="020B0604030504040204" pitchFamily="34" charset="0"/>
                    <a:ea typeface="Tahoma" panose="020B0604030504040204" pitchFamily="34" charset="0"/>
                    <a:cs typeface="Tahoma" panose="020B0604030504040204" pitchFamily="34" charset="0"/>
                  </a:rPr>
                  <a:t> Nếu điểm </a:t>
                </a:r>
                <a14:m>
                  <m:oMath xmlns:m="http://schemas.openxmlformats.org/officeDocument/2006/math">
                    <m:r>
                      <a:rPr lang="en-US" b="1" i="1" smtClean="0">
                        <a:solidFill>
                          <a:srgbClr val="FF0000"/>
                        </a:solidFill>
                        <a:latin typeface="Cambria Math" panose="02040503050406030204" pitchFamily="18" charset="0"/>
                        <a:ea typeface="Cambria Math" panose="02040503050406030204" pitchFamily="18" charset="0"/>
                      </a:rPr>
                      <m:t>𝑴</m:t>
                    </m:r>
                  </m:oMath>
                </a14:m>
                <a:r>
                  <a:rPr lang="en-US" b="1">
                    <a:latin typeface="Tahoma" panose="020B0604030504040204" pitchFamily="34" charset="0"/>
                    <a:ea typeface="Tahoma" panose="020B0604030504040204" pitchFamily="34" charset="0"/>
                    <a:cs typeface="Tahoma" panose="020B0604030504040204" pitchFamily="34" charset="0"/>
                  </a:rPr>
                  <a:t> có tọa độ </a:t>
                </a:r>
                <a14:m>
                  <m:oMath xmlns:m="http://schemas.openxmlformats.org/officeDocument/2006/math">
                    <m:d>
                      <m:dPr>
                        <m:ctrlPr>
                          <a:rPr lang="en-US" b="1" i="1" smtClean="0">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𝒚</m:t>
                        </m:r>
                      </m:e>
                    </m:d>
                  </m:oMath>
                </a14:m>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thì vectơ </a:t>
                </a:r>
                <a14:m>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𝑶𝑴</m:t>
                        </m:r>
                      </m:e>
                    </m:acc>
                  </m:oMath>
                </a14:m>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có tọa độ </a:t>
                </a:r>
                <a14:m>
                  <m:oMath xmlns:m="http://schemas.openxmlformats.org/officeDocument/2006/math">
                    <m:d>
                      <m:dPr>
                        <m:ctrlPr>
                          <a:rPr lang="en-US" b="1" i="1" smtClean="0">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 và có độ dài </a:t>
                </a:r>
                <a14:m>
                  <m:oMath xmlns:m="http://schemas.openxmlformats.org/officeDocument/2006/math">
                    <m:d>
                      <m:dPr>
                        <m:begChr m:val="|"/>
                        <m:endChr m:val="|"/>
                        <m:ctrlPr>
                          <a:rPr lang="en-US" b="1" i="1" smtClean="0">
                            <a:solidFill>
                              <a:srgbClr val="FF0000"/>
                            </a:solidFill>
                            <a:latin typeface="Cambria Math" panose="02040503050406030204" pitchFamily="18" charset="0"/>
                            <a:ea typeface="Cambria Math" panose="02040503050406030204" pitchFamily="18" charset="0"/>
                          </a:rPr>
                        </m:ctrlPr>
                      </m:dPr>
                      <m:e>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𝑶𝑴</m:t>
                            </m:r>
                          </m:e>
                        </m:acc>
                      </m:e>
                    </m:d>
                    <m:r>
                      <a:rPr lang="en-US" b="1" i="1">
                        <a:solidFill>
                          <a:srgbClr val="FF0000"/>
                        </a:solidFill>
                        <a:latin typeface="Cambria Math" panose="02040503050406030204" pitchFamily="18" charset="0"/>
                        <a:ea typeface="Cambria Math" panose="02040503050406030204" pitchFamily="18" charset="0"/>
                      </a:rPr>
                      <m:t>=</m:t>
                    </m:r>
                    <m:rad>
                      <m:radPr>
                        <m:degHide m:val="on"/>
                        <m:ctrlPr>
                          <a:rPr lang="en-US" b="1" i="1">
                            <a:solidFill>
                              <a:srgbClr val="FF0000"/>
                            </a:solidFill>
                            <a:latin typeface="Cambria Math" panose="02040503050406030204" pitchFamily="18" charset="0"/>
                            <a:ea typeface="Cambria Math" panose="02040503050406030204" pitchFamily="18" charset="0"/>
                          </a:rPr>
                        </m:ctrlPr>
                      </m:radPr>
                      <m:deg/>
                      <m:e>
                        <m:sSup>
                          <m:sSupPr>
                            <m:ctrlPr>
                              <a:rPr lang="en-US" b="1" i="1">
                                <a:solidFill>
                                  <a:srgbClr val="FF0000"/>
                                </a:solidFill>
                                <a:latin typeface="Cambria Math" panose="02040503050406030204" pitchFamily="18" charset="0"/>
                                <a:ea typeface="Cambria Math" panose="02040503050406030204" pitchFamily="18" charset="0"/>
                              </a:rPr>
                            </m:ctrlPr>
                          </m:sSupPr>
                          <m:e>
                            <m:r>
                              <a:rPr lang="en-US" b="1" i="1">
                                <a:solidFill>
                                  <a:srgbClr val="FF0000"/>
                                </a:solidFill>
                                <a:latin typeface="Cambria Math" panose="02040503050406030204" pitchFamily="18" charset="0"/>
                                <a:ea typeface="Cambria Math" panose="02040503050406030204" pitchFamily="18" charset="0"/>
                              </a:rPr>
                              <m:t>𝒙</m:t>
                            </m:r>
                          </m:e>
                          <m:sup>
                            <m:r>
                              <a:rPr lang="en-US" b="1" i="1">
                                <a:solidFill>
                                  <a:srgbClr val="FF0000"/>
                                </a:solidFill>
                                <a:latin typeface="Cambria Math" panose="02040503050406030204" pitchFamily="18" charset="0"/>
                                <a:ea typeface="Cambria Math" panose="02040503050406030204" pitchFamily="18" charset="0"/>
                              </a:rPr>
                              <m:t>𝟐</m:t>
                            </m:r>
                          </m:sup>
                        </m:sSup>
                        <m:r>
                          <a:rPr lang="en-US" b="1" i="1">
                            <a:solidFill>
                              <a:srgbClr val="FF0000"/>
                            </a:solidFill>
                            <a:latin typeface="Cambria Math" panose="02040503050406030204" pitchFamily="18" charset="0"/>
                            <a:ea typeface="Cambria Math" panose="02040503050406030204" pitchFamily="18" charset="0"/>
                          </a:rPr>
                          <m:t>+</m:t>
                        </m:r>
                        <m:sSup>
                          <m:sSupPr>
                            <m:ctrlPr>
                              <a:rPr lang="en-US" b="1" i="1">
                                <a:solidFill>
                                  <a:srgbClr val="FF0000"/>
                                </a:solidFill>
                                <a:latin typeface="Cambria Math" panose="02040503050406030204" pitchFamily="18" charset="0"/>
                                <a:ea typeface="Cambria Math" panose="02040503050406030204" pitchFamily="18" charset="0"/>
                              </a:rPr>
                            </m:ctrlPr>
                          </m:sSupPr>
                          <m:e>
                            <m:r>
                              <a:rPr lang="en-US" b="1" i="1">
                                <a:solidFill>
                                  <a:srgbClr val="FF0000"/>
                                </a:solidFill>
                                <a:latin typeface="Cambria Math" panose="02040503050406030204" pitchFamily="18" charset="0"/>
                                <a:ea typeface="Cambria Math" panose="02040503050406030204" pitchFamily="18" charset="0"/>
                              </a:rPr>
                              <m:t>𝒚</m:t>
                            </m:r>
                          </m:e>
                          <m:sup>
                            <m:r>
                              <a:rPr lang="en-US" b="1" i="1">
                                <a:solidFill>
                                  <a:srgbClr val="FF0000"/>
                                </a:solidFill>
                                <a:latin typeface="Cambria Math" panose="02040503050406030204" pitchFamily="18" charset="0"/>
                                <a:ea typeface="Cambria Math" panose="02040503050406030204" pitchFamily="18" charset="0"/>
                              </a:rPr>
                              <m:t>𝟐</m:t>
                            </m:r>
                          </m:sup>
                        </m:sSup>
                      </m:e>
                    </m:rad>
                  </m:oMath>
                </a14:m>
                <a:r>
                  <a:rPr lang="en-US" b="1">
                    <a:latin typeface="Tahoma" panose="020B0604030504040204" pitchFamily="34" charset="0"/>
                    <a:ea typeface="Tahoma" panose="020B0604030504040204" pitchFamily="34" charset="0"/>
                    <a:cs typeface="Tahoma" panose="020B0604030504040204" pitchFamily="34" charset="0"/>
                  </a:rPr>
                  <a:t>.</a:t>
                </a:r>
              </a:p>
              <a:p>
                <a:pPr>
                  <a:lnSpc>
                    <a:spcPct val="150000"/>
                  </a:lnSpc>
                  <a:spcBef>
                    <a:spcPts val="1200"/>
                  </a:spcBef>
                  <a:buClr>
                    <a:srgbClr val="FF0000"/>
                  </a:buClr>
                  <a:buFont typeface="Wingdings" panose="05000000000000000000" pitchFamily="2" charset="2"/>
                  <a:buChar char="Ø"/>
                </a:pPr>
                <a:r>
                  <a:rPr lang="en-US" b="1">
                    <a:latin typeface="Tahoma" panose="020B0604030504040204" pitchFamily="34" charset="0"/>
                    <a:ea typeface="Tahoma" panose="020B0604030504040204" pitchFamily="34" charset="0"/>
                    <a:cs typeface="Tahoma" panose="020B0604030504040204" pitchFamily="34" charset="0"/>
                  </a:rPr>
                  <a:t> Chẳng hạn, cho </a:t>
                </a:r>
                <a14:m>
                  <m:oMath xmlns:m="http://schemas.openxmlformats.org/officeDocument/2006/math">
                    <m:r>
                      <a:rPr lang="en-US" b="1" i="1" smtClean="0">
                        <a:solidFill>
                          <a:srgbClr val="FF0000"/>
                        </a:solidFill>
                        <a:latin typeface="Cambria Math" panose="02040503050406030204" pitchFamily="18" charset="0"/>
                        <a:ea typeface="Cambria Math" panose="02040503050406030204" pitchFamily="18" charset="0"/>
                      </a:rPr>
                      <m:t>𝑴</m:t>
                    </m:r>
                    <m:d>
                      <m:dPr>
                        <m:ctrlPr>
                          <a:rPr lang="en-US" b="1" i="1">
                            <a:solidFill>
                              <a:srgbClr val="FF0000"/>
                            </a:solidFill>
                            <a:latin typeface="Cambria Math" panose="02040503050406030204" pitchFamily="18" charset="0"/>
                            <a:ea typeface="Cambria Math" panose="02040503050406030204" pitchFamily="18" charset="0"/>
                          </a:rPr>
                        </m:ctrlPr>
                      </m:dPr>
                      <m:e>
                        <m:r>
                          <a:rPr lang="en-US" b="1" i="1" smtClean="0">
                            <a:solidFill>
                              <a:srgbClr val="FF0000"/>
                            </a:solidFill>
                            <a:latin typeface="Cambria Math" panose="02040503050406030204" pitchFamily="18" charset="0"/>
                            <a:ea typeface="Cambria Math" panose="02040503050406030204" pitchFamily="18" charset="0"/>
                          </a:rPr>
                          <m:t>𝟑</m:t>
                        </m:r>
                        <m:r>
                          <a:rPr lang="en-US" b="1" i="1">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𝟒</m:t>
                        </m:r>
                      </m:e>
                    </m:d>
                  </m:oMath>
                </a14:m>
                <a:r>
                  <a:rPr lang="en-US" b="1">
                    <a:latin typeface="Tahoma" panose="020B0604030504040204" pitchFamily="34" charset="0"/>
                    <a:ea typeface="Tahoma" panose="020B0604030504040204" pitchFamily="34" charset="0"/>
                    <a:cs typeface="Tahoma" panose="020B0604030504040204" pitchFamily="34" charset="0"/>
                  </a:rPr>
                  <a:t> thì</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vectơ </a:t>
                </a:r>
                <a14:m>
                  <m:oMath xmlns:m="http://schemas.openxmlformats.org/officeDocument/2006/math">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𝑶𝑴</m:t>
                        </m:r>
                      </m:e>
                    </m:acc>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𝟑</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𝟒</m:t>
                    </m:r>
                    <m:r>
                      <a:rPr lang="en-US" b="1" i="1" smtClean="0">
                        <a:solidFill>
                          <a:srgbClr val="FF0000"/>
                        </a:solidFill>
                        <a:latin typeface="Cambria Math" panose="02040503050406030204" pitchFamily="18" charset="0"/>
                        <a:ea typeface="Cambria Math" panose="02040503050406030204" pitchFamily="18" charset="0"/>
                      </a:rPr>
                      <m:t>)</m:t>
                    </m:r>
                  </m:oMath>
                </a14:m>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và</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b="1" i="1">
                            <a:solidFill>
                              <a:srgbClr val="FF0000"/>
                            </a:solidFill>
                            <a:latin typeface="Cambria Math" panose="02040503050406030204" pitchFamily="18" charset="0"/>
                            <a:ea typeface="Cambria Math" panose="02040503050406030204" pitchFamily="18" charset="0"/>
                          </a:rPr>
                        </m:ctrlPr>
                      </m:dPr>
                      <m:e>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𝑶𝑴</m:t>
                            </m:r>
                          </m:e>
                        </m:acc>
                      </m:e>
                    </m:d>
                    <m:r>
                      <a:rPr lang="en-US" b="1" i="1">
                        <a:solidFill>
                          <a:srgbClr val="FF0000"/>
                        </a:solidFill>
                        <a:latin typeface="Cambria Math" panose="02040503050406030204" pitchFamily="18" charset="0"/>
                        <a:ea typeface="Cambria Math" panose="02040503050406030204" pitchFamily="18" charset="0"/>
                      </a:rPr>
                      <m:t>=</m:t>
                    </m:r>
                    <m:rad>
                      <m:radPr>
                        <m:degHide m:val="on"/>
                        <m:ctrlPr>
                          <a:rPr lang="en-US" b="1" i="1">
                            <a:solidFill>
                              <a:srgbClr val="FF0000"/>
                            </a:solidFill>
                            <a:latin typeface="Cambria Math" panose="02040503050406030204" pitchFamily="18" charset="0"/>
                            <a:ea typeface="Cambria Math" panose="02040503050406030204" pitchFamily="18" charset="0"/>
                          </a:rPr>
                        </m:ctrlPr>
                      </m:radPr>
                      <m:deg/>
                      <m:e>
                        <m:sSup>
                          <m:sSupPr>
                            <m:ctrlPr>
                              <a:rPr lang="en-US" b="1" i="1">
                                <a:solidFill>
                                  <a:srgbClr val="FF0000"/>
                                </a:solidFill>
                                <a:latin typeface="Cambria Math" panose="02040503050406030204" pitchFamily="18" charset="0"/>
                                <a:ea typeface="Cambria Math" panose="02040503050406030204" pitchFamily="18" charset="0"/>
                              </a:rPr>
                            </m:ctrlPr>
                          </m:sSupPr>
                          <m:e>
                            <m:r>
                              <a:rPr lang="en-US" b="1" i="1" smtClean="0">
                                <a:solidFill>
                                  <a:srgbClr val="FF0000"/>
                                </a:solidFill>
                                <a:latin typeface="Cambria Math" panose="02040503050406030204" pitchFamily="18" charset="0"/>
                                <a:ea typeface="Cambria Math" panose="02040503050406030204" pitchFamily="18" charset="0"/>
                              </a:rPr>
                              <m:t>𝟑</m:t>
                            </m:r>
                          </m:e>
                          <m:sup>
                            <m:r>
                              <a:rPr lang="en-US" b="1" i="1">
                                <a:solidFill>
                                  <a:srgbClr val="FF0000"/>
                                </a:solidFill>
                                <a:latin typeface="Cambria Math" panose="02040503050406030204" pitchFamily="18" charset="0"/>
                                <a:ea typeface="Cambria Math" panose="02040503050406030204" pitchFamily="18" charset="0"/>
                              </a:rPr>
                              <m:t>𝟐</m:t>
                            </m:r>
                          </m:sup>
                        </m:sSup>
                        <m:r>
                          <a:rPr lang="en-US" b="1" i="1">
                            <a:solidFill>
                              <a:srgbClr val="FF0000"/>
                            </a:solidFill>
                            <a:latin typeface="Cambria Math" panose="02040503050406030204" pitchFamily="18" charset="0"/>
                            <a:ea typeface="Cambria Math" panose="02040503050406030204" pitchFamily="18" charset="0"/>
                          </a:rPr>
                          <m:t>+</m:t>
                        </m:r>
                        <m:sSup>
                          <m:sSupPr>
                            <m:ctrlPr>
                              <a:rPr lang="en-US" b="1" i="1">
                                <a:solidFill>
                                  <a:srgbClr val="FF0000"/>
                                </a:solidFill>
                                <a:latin typeface="Cambria Math" panose="02040503050406030204" pitchFamily="18" charset="0"/>
                                <a:ea typeface="Cambria Math" panose="02040503050406030204" pitchFamily="18" charset="0"/>
                              </a:rPr>
                            </m:ctrlPr>
                          </m:sSupPr>
                          <m:e>
                            <m:r>
                              <a:rPr lang="en-US" b="1" i="1" smtClean="0">
                                <a:solidFill>
                                  <a:srgbClr val="FF0000"/>
                                </a:solidFill>
                                <a:latin typeface="Cambria Math" panose="02040503050406030204" pitchFamily="18" charset="0"/>
                                <a:ea typeface="Cambria Math" panose="02040503050406030204" pitchFamily="18" charset="0"/>
                              </a:rPr>
                              <m:t>𝟒</m:t>
                            </m:r>
                          </m:e>
                          <m:sup>
                            <m:r>
                              <a:rPr lang="en-US" b="1" i="1">
                                <a:solidFill>
                                  <a:srgbClr val="FF0000"/>
                                </a:solidFill>
                                <a:latin typeface="Cambria Math" panose="02040503050406030204" pitchFamily="18" charset="0"/>
                                <a:ea typeface="Cambria Math" panose="02040503050406030204" pitchFamily="18" charset="0"/>
                              </a:rPr>
                              <m:t>𝟐</m:t>
                            </m:r>
                          </m:sup>
                        </m:sSup>
                      </m:e>
                    </m:rad>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𝟓</m:t>
                    </m:r>
                  </m:oMath>
                </a14:m>
                <a:r>
                  <a:rPr lang="en-US" b="1">
                    <a:latin typeface="Tahoma" panose="020B0604030504040204" pitchFamily="34" charset="0"/>
                    <a:ea typeface="Tahoma" panose="020B0604030504040204" pitchFamily="34" charset="0"/>
                    <a:cs typeface="Tahoma" panose="020B0604030504040204" pitchFamily="34" charset="0"/>
                  </a:rPr>
                  <a:t>.</a:t>
                </a:r>
              </a:p>
              <a:p>
                <a:pPr>
                  <a:lnSpc>
                    <a:spcPct val="150000"/>
                  </a:lnSpc>
                  <a:spcBef>
                    <a:spcPts val="1200"/>
                  </a:spcBef>
                  <a:buClr>
                    <a:srgbClr val="FF0000"/>
                  </a:buClr>
                  <a:buFont typeface="Wingdings" panose="05000000000000000000" pitchFamily="2" charset="2"/>
                  <a:buChar char="ü"/>
                </a:pPr>
                <a:r>
                  <a:rPr lang="en-US" b="1" i="1">
                    <a:solidFill>
                      <a:srgbClr val="0000FF"/>
                    </a:solidFill>
                    <a:latin typeface="Tahoma" panose="020B0604030504040204" pitchFamily="34" charset="0"/>
                    <a:ea typeface="Tahoma" panose="020B0604030504040204" pitchFamily="34" charset="0"/>
                    <a:cs typeface="Tahoma" panose="020B0604030504040204" pitchFamily="34" charset="0"/>
                  </a:rPr>
                  <a:t>Nhận xét: </a:t>
                </a:r>
              </a:p>
              <a:p>
                <a:pPr>
                  <a:lnSpc>
                    <a:spcPct val="150000"/>
                  </a:lnSpc>
                  <a:spcBef>
                    <a:spcPts val="1200"/>
                  </a:spcBef>
                  <a:buClr>
                    <a:srgbClr val="FF0000"/>
                  </a:buClr>
                </a:pPr>
                <a:r>
                  <a:rPr lang="en-US" sz="4800" b="1">
                    <a:effectLst/>
                    <a:latin typeface="Tahoma" panose="020B0604030504040204" pitchFamily="34" charset="0"/>
                    <a:ea typeface="Tahoma" panose="020B0604030504040204" pitchFamily="34" charset="0"/>
                    <a:cs typeface="Tahoma" panose="020B0604030504040204" pitchFamily="34" charset="0"/>
                  </a:rPr>
                  <a:t>Với </a:t>
                </a:r>
                <a14:m>
                  <m:oMath xmlns:m="http://schemas.openxmlformats.org/officeDocument/2006/math">
                    <m:acc>
                      <m:accPr>
                        <m:chr m:val="⃗"/>
                        <m:ctrlPr>
                          <a:rPr lang="en-US" b="1" i="1" smtClean="0">
                            <a:solidFill>
                              <a:srgbClr val="FF0000"/>
                            </a:solidFill>
                            <a:effectLst/>
                            <a:latin typeface="Cambria Math" panose="02040503050406030204" pitchFamily="18" charset="0"/>
                          </a:rPr>
                        </m:ctrlPr>
                      </m:acc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𝒖</m:t>
                        </m:r>
                      </m:e>
                    </m:acc>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b="1" i="1">
                            <a:solidFill>
                              <a:srgbClr val="FF0000"/>
                            </a:solidFill>
                            <a:effectLst/>
                            <a:latin typeface="Cambria Math" panose="02040503050406030204" pitchFamily="18" charset="0"/>
                          </a:rPr>
                        </m:ctrlPr>
                      </m:d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𝒙</m:t>
                        </m:r>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𝒚</m:t>
                        </m:r>
                      </m:e>
                    </m:d>
                  </m:oMath>
                </a14:m>
                <a:r>
                  <a:rPr lang="en-US" sz="4800" b="1">
                    <a:effectLst/>
                    <a:latin typeface="Tahoma" panose="020B0604030504040204" pitchFamily="34" charset="0"/>
                    <a:ea typeface="Tahoma" panose="020B0604030504040204" pitchFamily="34" charset="0"/>
                    <a:cs typeface="Tahoma" panose="020B0604030504040204" pitchFamily="34" charset="0"/>
                  </a:rPr>
                  <a:t>, ta lấy điểm </a:t>
                </a:r>
                <a14:m>
                  <m:oMath xmlns:m="http://schemas.openxmlformats.org/officeDocument/2006/math">
                    <m:r>
                      <a:rPr lang="en-US" sz="48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𝑴</m:t>
                    </m:r>
                    <m:d>
                      <m:dPr>
                        <m:ctrlPr>
                          <a:rPr lang="en-US" b="1" i="1">
                            <a:solidFill>
                              <a:srgbClr val="FF0000"/>
                            </a:solidFill>
                            <a:effectLst/>
                            <a:latin typeface="Cambria Math" panose="02040503050406030204" pitchFamily="18" charset="0"/>
                          </a:rPr>
                        </m:ctrlPr>
                      </m:d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𝒙</m:t>
                        </m:r>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𝒚</m:t>
                        </m:r>
                      </m:e>
                    </m:d>
                  </m:oMath>
                </a14:m>
                <a:r>
                  <a:rPr lang="en-US" sz="4800" b="1">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a:effectLst/>
                    <a:latin typeface="Tahoma" panose="020B0604030504040204" pitchFamily="34" charset="0"/>
                    <a:ea typeface="Tahoma" panose="020B0604030504040204" pitchFamily="34" charset="0"/>
                    <a:cs typeface="Tahoma" panose="020B0604030504040204" pitchFamily="34" charset="0"/>
                  </a:rPr>
                  <a:t>thì </a:t>
                </a:r>
                <a14:m>
                  <m:oMath xmlns:m="http://schemas.openxmlformats.org/officeDocument/2006/math">
                    <m:acc>
                      <m:accPr>
                        <m:chr m:val="⃗"/>
                        <m:ctrlPr>
                          <a:rPr lang="en-US" b="1" i="1" smtClean="0">
                            <a:solidFill>
                              <a:srgbClr val="FF0000"/>
                            </a:solidFill>
                            <a:effectLst/>
                            <a:latin typeface="Cambria Math" panose="02040503050406030204" pitchFamily="18" charset="0"/>
                          </a:rPr>
                        </m:ctrlPr>
                      </m:acc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𝒖</m:t>
                        </m:r>
                      </m:e>
                    </m:acc>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b="1" i="1">
                            <a:solidFill>
                              <a:srgbClr val="FF0000"/>
                            </a:solidFill>
                            <a:effectLst/>
                            <a:latin typeface="Cambria Math" panose="02040503050406030204" pitchFamily="18" charset="0"/>
                          </a:rPr>
                        </m:ctrlPr>
                      </m:acc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𝑶𝑴</m:t>
                        </m:r>
                      </m:e>
                    </m:acc>
                  </m:oMath>
                </a14:m>
                <a:r>
                  <a:rPr lang="en-US" sz="4800" b="1">
                    <a:effectLst/>
                    <a:latin typeface="Tahoma" panose="020B0604030504040204" pitchFamily="34" charset="0"/>
                    <a:ea typeface="Tahoma" panose="020B0604030504040204" pitchFamily="34" charset="0"/>
                    <a:cs typeface="Tahoma" panose="020B0604030504040204" pitchFamily="34" charset="0"/>
                  </a:rPr>
                  <a:t>. Do đó </a:t>
                </a:r>
                <a14:m>
                  <m:oMath xmlns:m="http://schemas.openxmlformats.org/officeDocument/2006/math">
                    <m:d>
                      <m:dPr>
                        <m:begChr m:val="|"/>
                        <m:endChr m:val="|"/>
                        <m:ctrlPr>
                          <a:rPr lang="en-US" b="1" i="1" smtClean="0">
                            <a:solidFill>
                              <a:srgbClr val="FF0000"/>
                            </a:solidFill>
                            <a:effectLst/>
                            <a:latin typeface="Cambria Math" panose="02040503050406030204" pitchFamily="18" charset="0"/>
                          </a:rPr>
                        </m:ctrlPr>
                      </m:dPr>
                      <m:e>
                        <m:acc>
                          <m:accPr>
                            <m:chr m:val="⃗"/>
                            <m:ctrlPr>
                              <a:rPr lang="en-US" b="1" i="1">
                                <a:solidFill>
                                  <a:srgbClr val="FF0000"/>
                                </a:solidFill>
                                <a:effectLst/>
                                <a:latin typeface="Cambria Math" panose="02040503050406030204" pitchFamily="18" charset="0"/>
                              </a:rPr>
                            </m:ctrlPr>
                          </m:acc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𝒖</m:t>
                            </m:r>
                          </m:e>
                        </m:acc>
                      </m:e>
                    </m:d>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b="1" i="1">
                            <a:solidFill>
                              <a:srgbClr val="FF0000"/>
                            </a:solidFill>
                            <a:effectLst/>
                            <a:latin typeface="Cambria Math" panose="02040503050406030204" pitchFamily="18" charset="0"/>
                          </a:rPr>
                        </m:ctrlPr>
                      </m:dPr>
                      <m:e>
                        <m:acc>
                          <m:accPr>
                            <m:chr m:val="⃗"/>
                            <m:ctrlPr>
                              <a:rPr lang="en-US" b="1" i="1">
                                <a:solidFill>
                                  <a:srgbClr val="FF0000"/>
                                </a:solidFill>
                                <a:effectLst/>
                                <a:latin typeface="Cambria Math" panose="02040503050406030204" pitchFamily="18" charset="0"/>
                              </a:rPr>
                            </m:ctrlPr>
                          </m:acc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𝑶𝑴</m:t>
                            </m:r>
                          </m:e>
                        </m:acc>
                      </m:e>
                    </m:d>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b="1" i="1">
                            <a:solidFill>
                              <a:srgbClr val="FF0000"/>
                            </a:solidFill>
                            <a:effectLst/>
                            <a:latin typeface="Cambria Math" panose="02040503050406030204" pitchFamily="18" charset="0"/>
                          </a:rPr>
                        </m:ctrlPr>
                      </m:radPr>
                      <m:deg/>
                      <m:e>
                        <m:sSup>
                          <m:sSupPr>
                            <m:ctrlPr>
                              <a:rPr lang="en-US" b="1" i="1">
                                <a:solidFill>
                                  <a:srgbClr val="FF0000"/>
                                </a:solidFill>
                                <a:effectLst/>
                                <a:latin typeface="Cambria Math" panose="02040503050406030204" pitchFamily="18" charset="0"/>
                              </a:rPr>
                            </m:ctrlPr>
                          </m:sSup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𝒙</m:t>
                            </m:r>
                          </m:e>
                          <m:sup>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𝟐</m:t>
                            </m:r>
                          </m:sup>
                        </m:sSup>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b="1" i="1">
                                <a:solidFill>
                                  <a:srgbClr val="FF0000"/>
                                </a:solidFill>
                                <a:effectLst/>
                                <a:latin typeface="Cambria Math" panose="02040503050406030204" pitchFamily="18" charset="0"/>
                              </a:rPr>
                            </m:ctrlPr>
                          </m:sSup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𝒚</m:t>
                            </m:r>
                          </m:e>
                          <m:sup>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𝟐</m:t>
                            </m:r>
                          </m:sup>
                        </m:sSup>
                      </m:e>
                    </m:rad>
                  </m:oMath>
                </a14:m>
                <a:r>
                  <a:rPr lang="en-US" sz="4800" b="1">
                    <a:effectLst/>
                    <a:latin typeface="Tahoma" panose="020B0604030504040204" pitchFamily="34" charset="0"/>
                    <a:ea typeface="Tahoma" panose="020B0604030504040204" pitchFamily="34" charset="0"/>
                    <a:cs typeface="Tahoma" panose="020B0604030504040204" pitchFamily="34" charset="0"/>
                  </a:rPr>
                  <a:t>.</a:t>
                </a:r>
              </a:p>
              <a:p>
                <a:pPr>
                  <a:lnSpc>
                    <a:spcPct val="150000"/>
                  </a:lnSpc>
                  <a:spcBef>
                    <a:spcPts val="1200"/>
                  </a:spcBef>
                  <a:buFont typeface="Wingdings" panose="05000000000000000000" pitchFamily="2" charset="2"/>
                  <a:buChar char="Ø"/>
                </a:pPr>
                <a:r>
                  <a:rPr lang="en-US" sz="4800" b="1">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a:effectLst/>
                    <a:latin typeface="Tahoma" panose="020B0604030504040204" pitchFamily="34" charset="0"/>
                    <a:ea typeface="Tahoma" panose="020B0604030504040204" pitchFamily="34" charset="0"/>
                    <a:cs typeface="Tahoma" panose="020B0604030504040204" pitchFamily="34" charset="0"/>
                  </a:rPr>
                  <a:t>Chẳng hạn, vectơ </a:t>
                </a:r>
                <a14:m>
                  <m:oMath xmlns:m="http://schemas.openxmlformats.org/officeDocument/2006/math">
                    <m:acc>
                      <m:accPr>
                        <m:chr m:val="⃗"/>
                        <m:ctrlPr>
                          <a:rPr lang="en-US" sz="48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𝒖</m:t>
                        </m:r>
                      </m:e>
                    </m:acc>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𝟐</m:t>
                        </m:r>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𝟏</m:t>
                        </m:r>
                      </m:e>
                    </m:d>
                  </m:oMath>
                </a14:m>
                <a:r>
                  <a:rPr lang="en-US" sz="4800" b="1">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a:effectLst/>
                    <a:latin typeface="Tahoma" panose="020B0604030504040204" pitchFamily="34" charset="0"/>
                    <a:ea typeface="Tahoma" panose="020B0604030504040204" pitchFamily="34" charset="0"/>
                    <a:cs typeface="Tahoma" panose="020B0604030504040204" pitchFamily="34" charset="0"/>
                  </a:rPr>
                  <a:t>có độ dài là </a:t>
                </a:r>
                <a14:m>
                  <m:oMath xmlns:m="http://schemas.openxmlformats.org/officeDocument/2006/math">
                    <m:d>
                      <m:dPr>
                        <m:begChr m:val="|"/>
                        <m:endChr m:val="|"/>
                        <m:ctrlPr>
                          <a:rPr lang="en-US" sz="48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dPr>
                      <m:e>
                        <m:acc>
                          <m:accPr>
                            <m:chr m:val="⃗"/>
                            <m:ctrlP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𝒖</m:t>
                            </m:r>
                          </m:e>
                        </m:acc>
                      </m:e>
                    </m:d>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𝟐</m:t>
                            </m:r>
                          </m:e>
                          <m:sup>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𝟐</m:t>
                            </m:r>
                          </m:sup>
                        </m:sSup>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𝟏</m:t>
                                </m:r>
                              </m:e>
                            </m:d>
                          </m:e>
                          <m:sup>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𝟐</m:t>
                            </m:r>
                          </m:sup>
                        </m:sSup>
                      </m:e>
                    </m:rad>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4800" b="1"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𝟓</m:t>
                        </m:r>
                      </m:e>
                    </m:rad>
                  </m:oMath>
                </a14:m>
                <a:r>
                  <a:rPr lang="en-US" sz="4800" b="1">
                    <a:effectLst/>
                    <a:latin typeface="Tahoma" panose="020B0604030504040204" pitchFamily="34" charset="0"/>
                    <a:ea typeface="Tahoma" panose="020B0604030504040204" pitchFamily="34" charset="0"/>
                    <a:cs typeface="Tahoma" panose="020B0604030504040204" pitchFamily="34" charset="0"/>
                  </a:rPr>
                  <a:t>.</a:t>
                </a:r>
              </a:p>
              <a:p>
                <a:pPr>
                  <a:lnSpc>
                    <a:spcPct val="150000"/>
                  </a:lnSpc>
                  <a:spcBef>
                    <a:spcPts val="1200"/>
                  </a:spcBef>
                </a:pPr>
                <a:endParaRPr lang="en-US" b="1" i="1">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38328" y="2684930"/>
                <a:ext cx="23740872" cy="10744200"/>
              </a:xfrm>
              <a:prstGeom prst="rect">
                <a:avLst/>
              </a:prstGeom>
              <a:blipFill>
                <a:blip r:embed="rId3"/>
                <a:stretch>
                  <a:fillRect l="-1052"/>
                </a:stretch>
              </a:blipFill>
              <a:ln>
                <a:solidFill>
                  <a:srgbClr val="00B0F0"/>
                </a:solidFill>
              </a:ln>
            </p:spPr>
            <p:txBody>
              <a:bodyPr/>
              <a:lstStyle/>
              <a:p>
                <a:r>
                  <a:rPr lang="en-US">
                    <a:noFill/>
                  </a:rPr>
                  <a:t> </a:t>
                </a:r>
              </a:p>
            </p:txBody>
          </p:sp>
        </mc:Fallback>
      </mc:AlternateContent>
      <p:sp>
        <p:nvSpPr>
          <p:cNvPr id="5" name="Title 1">
            <a:extLst>
              <a:ext uri="{FF2B5EF4-FFF2-40B4-BE49-F238E27FC236}">
                <a16:creationId xmlns:a16="http://schemas.microsoft.com/office/drawing/2014/main" id="{91EFB9E1-C2C8-4179-962F-C0CDC30C73C0}"/>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515233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animEffect transition="in" filter="fade">
                                      <p:cBhvr>
                                        <p:cTn id="7" dur="1000"/>
                                        <p:tgtEl>
                                          <p:spTgt spid="99">
                                            <p:txEl>
                                              <p:pRg st="0" end="0"/>
                                            </p:txEl>
                                          </p:spTgt>
                                        </p:tgtEl>
                                      </p:cBhvr>
                                    </p:animEffect>
                                    <p:anim calcmode="lin" valueType="num">
                                      <p:cBhvr>
                                        <p:cTn id="8" dur="1000" fill="hold"/>
                                        <p:tgtEl>
                                          <p:spTgt spid="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9">
                                            <p:txEl>
                                              <p:pRg st="1" end="1"/>
                                            </p:txEl>
                                          </p:spTgt>
                                        </p:tgtEl>
                                        <p:attrNameLst>
                                          <p:attrName>style.visibility</p:attrName>
                                        </p:attrNameLst>
                                      </p:cBhvr>
                                      <p:to>
                                        <p:strVal val="visible"/>
                                      </p:to>
                                    </p:set>
                                    <p:animEffect transition="in" filter="fade">
                                      <p:cBhvr>
                                        <p:cTn id="14" dur="1000"/>
                                        <p:tgtEl>
                                          <p:spTgt spid="99">
                                            <p:txEl>
                                              <p:pRg st="1" end="1"/>
                                            </p:txEl>
                                          </p:spTgt>
                                        </p:tgtEl>
                                      </p:cBhvr>
                                    </p:animEffect>
                                    <p:anim calcmode="lin" valueType="num">
                                      <p:cBhvr>
                                        <p:cTn id="15" dur="1000" fill="hold"/>
                                        <p:tgtEl>
                                          <p:spTgt spid="9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9">
                                            <p:txEl>
                                              <p:pRg st="2" end="2"/>
                                            </p:txEl>
                                          </p:spTgt>
                                        </p:tgtEl>
                                        <p:attrNameLst>
                                          <p:attrName>style.visibility</p:attrName>
                                        </p:attrNameLst>
                                      </p:cBhvr>
                                      <p:to>
                                        <p:strVal val="visible"/>
                                      </p:to>
                                    </p:set>
                                    <p:animEffect transition="in" filter="fade">
                                      <p:cBhvr>
                                        <p:cTn id="21" dur="1000"/>
                                        <p:tgtEl>
                                          <p:spTgt spid="99">
                                            <p:txEl>
                                              <p:pRg st="2" end="2"/>
                                            </p:txEl>
                                          </p:spTgt>
                                        </p:tgtEl>
                                      </p:cBhvr>
                                    </p:animEffect>
                                    <p:anim calcmode="lin" valueType="num">
                                      <p:cBhvr>
                                        <p:cTn id="22" dur="1000" fill="hold"/>
                                        <p:tgtEl>
                                          <p:spTgt spid="9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9">
                                            <p:txEl>
                                              <p:pRg st="3" end="3"/>
                                            </p:txEl>
                                          </p:spTgt>
                                        </p:tgtEl>
                                        <p:attrNameLst>
                                          <p:attrName>style.visibility</p:attrName>
                                        </p:attrNameLst>
                                      </p:cBhvr>
                                      <p:to>
                                        <p:strVal val="visible"/>
                                      </p:to>
                                    </p:set>
                                    <p:animEffect transition="in" filter="fade">
                                      <p:cBhvr>
                                        <p:cTn id="28" dur="1000"/>
                                        <p:tgtEl>
                                          <p:spTgt spid="99">
                                            <p:txEl>
                                              <p:pRg st="3" end="3"/>
                                            </p:txEl>
                                          </p:spTgt>
                                        </p:tgtEl>
                                      </p:cBhvr>
                                    </p:animEffect>
                                    <p:anim calcmode="lin" valueType="num">
                                      <p:cBhvr>
                                        <p:cTn id="29" dur="1000" fill="hold"/>
                                        <p:tgtEl>
                                          <p:spTgt spid="9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9">
                                            <p:txEl>
                                              <p:pRg st="4" end="4"/>
                                            </p:txEl>
                                          </p:spTgt>
                                        </p:tgtEl>
                                        <p:attrNameLst>
                                          <p:attrName>style.visibility</p:attrName>
                                        </p:attrNameLst>
                                      </p:cBhvr>
                                      <p:to>
                                        <p:strVal val="visible"/>
                                      </p:to>
                                    </p:set>
                                    <p:animEffect transition="in" filter="fade">
                                      <p:cBhvr>
                                        <p:cTn id="35" dur="1000"/>
                                        <p:tgtEl>
                                          <p:spTgt spid="99">
                                            <p:txEl>
                                              <p:pRg st="4" end="4"/>
                                            </p:txEl>
                                          </p:spTgt>
                                        </p:tgtEl>
                                      </p:cBhvr>
                                    </p:animEffect>
                                    <p:anim calcmode="lin" valueType="num">
                                      <p:cBhvr>
                                        <p:cTn id="36" dur="1000" fill="hold"/>
                                        <p:tgtEl>
                                          <p:spTgt spid="99">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9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Rectangle 114"/>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04800" y="2743201"/>
                <a:ext cx="11582400" cy="107441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spcBef>
                    <a:spcPts val="0"/>
                  </a:spcBef>
                  <a:buClr>
                    <a:srgbClr val="FF0000"/>
                  </a:buClr>
                  <a:buFont typeface="Wingdings" panose="05000000000000000000" pitchFamily="2" charset="2"/>
                  <a:buChar char="q"/>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HĐ5: </a:t>
                </a:r>
                <a:r>
                  <a:rPr lang="en-US" b="1">
                    <a:latin typeface="Tahoma" panose="020B0604030504040204" pitchFamily="34" charset="0"/>
                    <a:ea typeface="Tahoma" panose="020B0604030504040204" pitchFamily="34" charset="0"/>
                    <a:cs typeface="Tahoma" panose="020B0604030504040204" pitchFamily="34" charset="0"/>
                  </a:rPr>
                  <a:t>Trong mặt phẳng tọa độ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a:latin typeface="Tahoma" panose="020B0604030504040204" pitchFamily="34" charset="0"/>
                    <a:ea typeface="Tahoma" panose="020B0604030504040204" pitchFamily="34" charset="0"/>
                    <a:cs typeface="Tahoma" panose="020B0604030504040204" pitchFamily="34" charset="0"/>
                  </a:rPr>
                  <a:t>, cho các điểm </a:t>
                </a:r>
                <a14:m>
                  <m:oMath xmlns:m="http://schemas.openxmlformats.org/officeDocument/2006/math">
                    <m:r>
                      <a:rPr lang="en-US" b="1" i="1">
                        <a:latin typeface="Cambria Math" panose="02040503050406030204" pitchFamily="18" charset="0"/>
                        <a:ea typeface="Cambria Math" panose="02040503050406030204" pitchFamily="18" charset="0"/>
                      </a:rPr>
                      <m:t>𝑴</m:t>
                    </m:r>
                    <m:d>
                      <m:dPr>
                        <m:ctrlPr>
                          <a:rPr lang="en-US" b="1" i="1">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𝒚</m:t>
                        </m:r>
                        <m:r>
                          <a:rPr lang="en-US" b="1" i="1" smtClean="0">
                            <a:latin typeface="Cambria Math" panose="02040503050406030204" pitchFamily="18" charset="0"/>
                            <a:ea typeface="Cambria Math" panose="02040503050406030204" pitchFamily="18" charset="0"/>
                          </a:rPr>
                          <m:t> </m:t>
                        </m:r>
                      </m:e>
                    </m:d>
                  </m:oMath>
                </a14:m>
                <a:r>
                  <a:rPr lang="en-US" b="1">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b="1" i="1" smtClean="0">
                        <a:latin typeface="Cambria Math" panose="02040503050406030204" pitchFamily="18" charset="0"/>
                        <a:ea typeface="Cambria Math" panose="02040503050406030204" pitchFamily="18" charset="0"/>
                      </a:rPr>
                      <m:t>𝑵</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r>
                          <a:rPr lang="en-US" b="1" i="1" smtClean="0">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 </m:t>
                        </m:r>
                      </m:e>
                    </m:d>
                  </m:oMath>
                </a14:m>
                <a:r>
                  <a:rPr lang="en-US" b="1">
                    <a:latin typeface="Tahoma" panose="020B0604030504040204" pitchFamily="34" charset="0"/>
                    <a:ea typeface="Tahoma" panose="020B0604030504040204" pitchFamily="34" charset="0"/>
                    <a:cs typeface="Tahoma" panose="020B0604030504040204" pitchFamily="34" charset="0"/>
                  </a:rPr>
                  <a:t>. </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a) Tìm tọa độ của các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𝑶𝑵</m:t>
                        </m:r>
                      </m:e>
                    </m:acc>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b) Biểu thị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𝑴𝑵</m:t>
                        </m:r>
                      </m:e>
                    </m:acc>
                  </m:oMath>
                </a14:m>
                <a:r>
                  <a:rPr lang="en-US" b="1">
                    <a:latin typeface="Tahoma" panose="020B0604030504040204" pitchFamily="34" charset="0"/>
                    <a:ea typeface="Tahoma" panose="020B0604030504040204" pitchFamily="34" charset="0"/>
                    <a:cs typeface="Tahoma" panose="020B0604030504040204" pitchFamily="34" charset="0"/>
                  </a:rPr>
                  <a:t> theo các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𝑶𝑵</m:t>
                        </m:r>
                      </m:e>
                    </m:acc>
                  </m:oMath>
                </a14:m>
                <a:r>
                  <a:rPr lang="en-US" b="1">
                    <a:latin typeface="Tahoma" panose="020B0604030504040204" pitchFamily="34" charset="0"/>
                    <a:ea typeface="Tahoma" panose="020B0604030504040204" pitchFamily="34" charset="0"/>
                    <a:cs typeface="Tahoma" panose="020B0604030504040204" pitchFamily="34" charset="0"/>
                  </a:rPr>
                  <a:t> và tìm tọa độ của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𝑴𝑵</m:t>
                        </m:r>
                      </m:e>
                    </m:acc>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c) Tìm độ dài của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𝑴𝑵</m:t>
                        </m:r>
                      </m:e>
                    </m:acc>
                  </m:oMath>
                </a14:m>
                <a:r>
                  <a:rPr lang="en-US" b="1">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04800" y="2743201"/>
                <a:ext cx="11582400" cy="10744199"/>
              </a:xfrm>
              <a:prstGeom prst="rect">
                <a:avLst/>
              </a:prstGeom>
              <a:blipFill>
                <a:blip r:embed="rId3"/>
                <a:stretch>
                  <a:fillRect l="-2313" t="-850" r="-3523"/>
                </a:stretch>
              </a:blipFill>
              <a:ln>
                <a:solidFill>
                  <a:srgbClr val="00B0F0"/>
                </a:solidFill>
              </a:ln>
            </p:spPr>
            <p:txBody>
              <a:bodyPr/>
              <a:lstStyle/>
              <a:p>
                <a:r>
                  <a:rPr lang="en-US">
                    <a:noFill/>
                  </a:rPr>
                  <a:t> </a:t>
                </a:r>
              </a:p>
            </p:txBody>
          </p:sp>
        </mc:Fallback>
      </mc:AlternateContent>
      <p:sp>
        <p:nvSpPr>
          <p:cNvPr id="5" name="Title 1">
            <a:extLst>
              <a:ext uri="{FF2B5EF4-FFF2-40B4-BE49-F238E27FC236}">
                <a16:creationId xmlns:a16="http://schemas.microsoft.com/office/drawing/2014/main" id="{91EFB9E1-C2C8-4179-962F-C0CDC30C73C0}"/>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9433443-F7C6-4FAD-8BCF-22C0992B6D9C}"/>
                  </a:ext>
                </a:extLst>
              </p:cNvPr>
              <p:cNvSpPr txBox="1">
                <a:spLocks/>
              </p:cNvSpPr>
              <p:nvPr/>
            </p:nvSpPr>
            <p:spPr>
              <a:xfrm>
                <a:off x="12192000" y="2743201"/>
                <a:ext cx="11887200" cy="107441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just">
                  <a:lnSpc>
                    <a:spcPct val="100000"/>
                  </a:lnSpc>
                  <a:spcBef>
                    <a:spcPts val="1200"/>
                  </a:spcBef>
                  <a:buClr>
                    <a:srgbClr val="FF0000"/>
                  </a:buClr>
                  <a:buFont typeface="Wingdings" panose="05000000000000000000" pitchFamily="2" charset="2"/>
                  <a:buChar char="Ø"/>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Hướng dẫn:</a:t>
                </a:r>
              </a:p>
              <a:p>
                <a:pPr marL="0" indent="0" algn="just">
                  <a:lnSpc>
                    <a:spcPct val="100000"/>
                  </a:lnSpc>
                  <a:spcBef>
                    <a:spcPts val="1200"/>
                  </a:spcBef>
                  <a:buNone/>
                </a:pPr>
                <a:r>
                  <a:rPr lang="fr-FR" b="1">
                    <a:latin typeface="Tahoma" panose="020B0604030504040204" pitchFamily="34" charset="0"/>
                    <a:ea typeface="Tahoma" panose="020B0604030504040204" pitchFamily="34" charset="0"/>
                    <a:cs typeface="Tahoma" panose="020B0604030504040204" pitchFamily="34" charset="0"/>
                  </a:rPr>
                  <a:t>a) Ta có</a:t>
                </a:r>
              </a:p>
              <a:p>
                <a:pPr algn="just">
                  <a:lnSpc>
                    <a:spcPct val="100000"/>
                  </a:lnSpc>
                  <a:spcBef>
                    <a:spcPts val="1200"/>
                  </a:spcBef>
                </a:pPr>
                <a14:m>
                  <m:oMath xmlns:m="http://schemas.openxmlformats.org/officeDocument/2006/math">
                    <m:r>
                      <a:rPr lang="en-US" b="1" i="1" smtClean="0">
                        <a:latin typeface="Cambria Math" panose="02040503050406030204" pitchFamily="18" charset="0"/>
                        <a:ea typeface="Cambria Math" panose="02040503050406030204" pitchFamily="18" charset="0"/>
                      </a:rPr>
                      <m:t>𝑴</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r>
                      <a:rPr lang="en-US" b="1" i="1" smtClean="0">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r>
                      <m:rPr>
                        <m:nor/>
                      </m:rPr>
                      <a:rPr lang="en-US" b="1" i="0" smtClean="0">
                        <a:latin typeface="Tahoma" panose="020B0604030504040204" pitchFamily="34" charset="0"/>
                        <a:ea typeface="Tahoma" panose="020B0604030504040204" pitchFamily="34" charset="0"/>
                        <a:cs typeface="Tahoma" panose="020B0604030504040204" pitchFamily="34"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a:t>
                </a:r>
              </a:p>
              <a:p>
                <a:pPr algn="just">
                  <a:lnSpc>
                    <a:spcPct val="100000"/>
                  </a:lnSpc>
                  <a:spcBef>
                    <a:spcPts val="1200"/>
                  </a:spcBef>
                </a:pPr>
                <a14:m>
                  <m:oMath xmlns:m="http://schemas.openxmlformats.org/officeDocument/2006/math">
                    <m:r>
                      <a:rPr lang="en-US" b="1" i="1" smtClean="0">
                        <a:latin typeface="Cambria Math" panose="02040503050406030204" pitchFamily="18" charset="0"/>
                        <a:ea typeface="Cambria Math" panose="02040503050406030204" pitchFamily="18" charset="0"/>
                      </a:rPr>
                      <m:t>𝑵</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r>
                          <a:rPr lang="en-US" b="1" i="1" smtClean="0">
                            <a:latin typeface="Cambria Math" panose="02040503050406030204" pitchFamily="18" charset="0"/>
                            <a:ea typeface="Cambria Math" panose="02040503050406030204" pitchFamily="18" charset="0"/>
                          </a:rPr>
                          <m:t>′</m:t>
                        </m:r>
                      </m:e>
                    </m:d>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m:t>
                        </m:r>
                        <m:r>
                          <a:rPr lang="en-US" b="1" i="1" smtClean="0">
                            <a:latin typeface="Cambria Math" panose="02040503050406030204" pitchFamily="18" charset="0"/>
                            <a:ea typeface="Cambria Math" panose="02040503050406030204" pitchFamily="18" charset="0"/>
                          </a:rPr>
                          <m:t>𝑵</m:t>
                        </m:r>
                      </m:e>
                    </m:acc>
                    <m:r>
                      <m:rPr>
                        <m:nor/>
                      </m:rPr>
                      <a:rPr lang="en-US" b="1">
                        <a:latin typeface="Tahoma" panose="020B0604030504040204" pitchFamily="34" charset="0"/>
                        <a:ea typeface="Tahoma" panose="020B0604030504040204" pitchFamily="34" charset="0"/>
                        <a:cs typeface="Tahoma" panose="020B0604030504040204" pitchFamily="34"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r>
                          <a:rPr lang="en-US" b="1" i="1" smtClean="0">
                            <a:latin typeface="Cambria Math" panose="02040503050406030204" pitchFamily="18" charset="0"/>
                            <a:ea typeface="Cambria Math" panose="02040503050406030204" pitchFamily="18" charset="0"/>
                          </a:rPr>
                          <m:t>′</m:t>
                        </m:r>
                      </m:e>
                    </m:d>
                    <m:r>
                      <m:rPr>
                        <m:nor/>
                      </m:rPr>
                      <a:rPr lang="en-US" b="1">
                        <a:latin typeface="Tahoma" panose="020B0604030504040204" pitchFamily="34" charset="0"/>
                        <a:ea typeface="Tahoma" panose="020B0604030504040204" pitchFamily="34" charset="0"/>
                        <a:cs typeface="Tahoma" panose="020B0604030504040204" pitchFamily="34" charset="0"/>
                      </a:rPr>
                      <m:t>.</m:t>
                    </m:r>
                  </m:oMath>
                </a14:m>
                <a:endParaRPr lang="en-US" b="1">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1200"/>
                  </a:spcBef>
                  <a:buNone/>
                </a:pPr>
                <a:r>
                  <a:rPr lang="fr-FR" b="1">
                    <a:latin typeface="Tahoma" panose="020B0604030504040204" pitchFamily="34" charset="0"/>
                    <a:ea typeface="Tahoma" panose="020B0604030504040204" pitchFamily="34" charset="0"/>
                    <a:cs typeface="Tahoma" panose="020B0604030504040204" pitchFamily="34" charset="0"/>
                  </a:rPr>
                  <a:t>b) Ta có</a:t>
                </a:r>
              </a:p>
              <a:p>
                <a:pPr algn="just">
                  <a:lnSpc>
                    <a:spcPct val="100000"/>
                  </a:lnSpc>
                  <a:spcBef>
                    <a:spcPts val="1200"/>
                  </a:spcBef>
                </a:pP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𝑴𝑵</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𝑶𝑵</m:t>
                        </m:r>
                      </m:e>
                    </m:acc>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oMath>
                </a14:m>
                <a:endParaRPr lang="en-US" b="1" i="1">
                  <a:latin typeface="Cambria Math" panose="02040503050406030204" pitchFamily="18" charset="0"/>
                  <a:ea typeface="Cambria Math" panose="02040503050406030204" pitchFamily="18" charset="0"/>
                </a:endParaRPr>
              </a:p>
              <a:p>
                <a:pPr marL="0" indent="0" algn="just">
                  <a:lnSpc>
                    <a:spcPct val="100000"/>
                  </a:lnSpc>
                  <a:spcBef>
                    <a:spcPts val="1200"/>
                  </a:spcBef>
                  <a:buNone/>
                </a:pPr>
                <a14:m>
                  <m:oMath xmlns:m="http://schemas.openxmlformats.org/officeDocument/2006/math">
                    <m:r>
                      <a:rPr lang="en-US"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𝑴𝑵</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gn="just">
                  <a:lnSpc>
                    <a:spcPct val="100000"/>
                  </a:lnSpc>
                  <a:spcBef>
                    <a:spcPts val="1200"/>
                  </a:spcBef>
                  <a:buNone/>
                </a:pPr>
                <a:r>
                  <a:rPr lang="fr-FR" b="1">
                    <a:latin typeface="Tahoma" panose="020B0604030504040204" pitchFamily="34" charset="0"/>
                    <a:ea typeface="Tahoma" panose="020B0604030504040204" pitchFamily="34" charset="0"/>
                    <a:cs typeface="Tahoma" panose="020B0604030504040204" pitchFamily="34" charset="0"/>
                  </a:rPr>
                  <a:t>c) Ta có</a:t>
                </a:r>
              </a:p>
              <a:p>
                <a:pPr algn="just">
                  <a:lnSpc>
                    <a:spcPct val="100000"/>
                  </a:lnSpc>
                  <a:spcBef>
                    <a:spcPts val="1200"/>
                  </a:spcBef>
                </a:pPr>
                <a14:m>
                  <m:oMath xmlns:m="http://schemas.openxmlformats.org/officeDocument/2006/math">
                    <m:d>
                      <m:dPr>
                        <m:begChr m:val="|"/>
                        <m:endChr m:val="|"/>
                        <m:ctrlPr>
                          <a:rPr lang="en-US" b="1" i="1">
                            <a:latin typeface="Cambria Math" panose="02040503050406030204" pitchFamily="18" charset="0"/>
                            <a:ea typeface="Cambria Math" panose="02040503050406030204" pitchFamily="18" charset="0"/>
                          </a:rPr>
                        </m:ctrlPr>
                      </m:dPr>
                      <m:e>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𝑴𝑵</m:t>
                            </m:r>
                          </m:e>
                        </m:acc>
                      </m:e>
                    </m:d>
                    <m:r>
                      <a:rPr lang="en-US" b="1" i="1">
                        <a:latin typeface="Cambria Math" panose="02040503050406030204" pitchFamily="18" charset="0"/>
                        <a:ea typeface="Cambria Math" panose="02040503050406030204" pitchFamily="18" charset="0"/>
                      </a:rPr>
                      <m:t>=</m:t>
                    </m:r>
                    <m:d>
                      <m:dPr>
                        <m:ctrlPr>
                          <a:rPr lang="en-US" b="1" i="1" smtClean="0">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oMath>
                </a14:m>
                <a:endParaRPr lang="en-US" b="1" i="1">
                  <a:latin typeface="Cambria Math" panose="02040503050406030204" pitchFamily="18" charset="0"/>
                  <a:ea typeface="Cambria Math" panose="02040503050406030204" pitchFamily="18" charset="0"/>
                </a:endParaRPr>
              </a:p>
              <a:p>
                <a:pPr marL="0" indent="0" algn="just">
                  <a:lnSpc>
                    <a:spcPct val="100000"/>
                  </a:lnSpc>
                  <a:spcBef>
                    <a:spcPts val="1200"/>
                  </a:spcBef>
                  <a:buNone/>
                </a:pPr>
                <a14:m>
                  <m:oMath xmlns:m="http://schemas.openxmlformats.org/officeDocument/2006/math">
                    <m:r>
                      <a:rPr lang="en-US" b="1" i="1">
                        <a:latin typeface="Cambria Math" panose="02040503050406030204" pitchFamily="18" charset="0"/>
                        <a:ea typeface="Cambria Math" panose="02040503050406030204" pitchFamily="18" charset="0"/>
                      </a:rPr>
                      <m:t>⟹</m:t>
                    </m:r>
                    <m:d>
                      <m:dPr>
                        <m:begChr m:val="|"/>
                        <m:endChr m:val="|"/>
                        <m:ctrlPr>
                          <a:rPr lang="en-US" b="1" i="1">
                            <a:latin typeface="Cambria Math" panose="02040503050406030204" pitchFamily="18" charset="0"/>
                            <a:ea typeface="Cambria Math" panose="02040503050406030204" pitchFamily="18" charset="0"/>
                          </a:rPr>
                        </m:ctrlPr>
                      </m:dPr>
                      <m:e>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𝑴𝑵</m:t>
                            </m:r>
                          </m:e>
                        </m:acc>
                      </m:e>
                    </m:d>
                    <m:r>
                      <a:rPr lang="en-US" b="1" i="1">
                        <a:latin typeface="Cambria Math" panose="02040503050406030204" pitchFamily="18" charset="0"/>
                        <a:ea typeface="Cambria Math" panose="02040503050406030204" pitchFamily="18" charset="0"/>
                      </a:rPr>
                      <m:t>=</m:t>
                    </m:r>
                    <m:rad>
                      <m:radPr>
                        <m:degHide m:val="on"/>
                        <m:ctrlPr>
                          <a:rPr lang="en-US" b="1" i="1">
                            <a:latin typeface="Cambria Math" panose="02040503050406030204" pitchFamily="18" charset="0"/>
                            <a:ea typeface="Cambria Math" panose="02040503050406030204" pitchFamily="18" charset="0"/>
                          </a:rPr>
                        </m:ctrlPr>
                      </m:radPr>
                      <m:deg/>
                      <m:e>
                        <m:sSup>
                          <m:sSupPr>
                            <m:ctrlPr>
                              <a:rPr lang="en-US" b="1" i="1">
                                <a:latin typeface="Cambria Math" panose="02040503050406030204" pitchFamily="18" charset="0"/>
                                <a:ea typeface="Cambria Math" panose="02040503050406030204" pitchFamily="18" charset="0"/>
                              </a:rPr>
                            </m:ctrlPr>
                          </m:sSupPr>
                          <m:e>
                            <m:d>
                              <m:dPr>
                                <m:ctrlPr>
                                  <a:rPr lang="en-US" b="1" i="1">
                                    <a:latin typeface="Cambria Math" panose="02040503050406030204" pitchFamily="18" charset="0"/>
                                    <a:ea typeface="Cambria Math" panose="02040503050406030204" pitchFamily="18" charset="0"/>
                                  </a:rPr>
                                </m:ctrlPr>
                              </m:dPr>
                              <m:e>
                                <m:sSup>
                                  <m:sSupPr>
                                    <m:ctrlPr>
                                      <a:rPr lang="en-US" b="1"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𝒙</m:t>
                                    </m:r>
                                  </m:e>
                                  <m:sup>
                                    <m:r>
                                      <a:rPr lang="en-US" b="1" i="1">
                                        <a:latin typeface="Cambria Math" panose="02040503050406030204" pitchFamily="18" charset="0"/>
                                        <a:ea typeface="Cambria Math" panose="02040503050406030204" pitchFamily="18" charset="0"/>
                                      </a:rPr>
                                      <m:t>′</m:t>
                                    </m:r>
                                  </m:sup>
                                </m:sSup>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e>
                            </m:d>
                          </m:e>
                          <m:sup>
                            <m:r>
                              <a:rPr lang="en-US" b="1" i="1">
                                <a:latin typeface="Cambria Math" panose="02040503050406030204" pitchFamily="18" charset="0"/>
                                <a:ea typeface="Cambria Math" panose="02040503050406030204" pitchFamily="18" charset="0"/>
                              </a:rPr>
                              <m:t>𝟐</m:t>
                            </m:r>
                          </m:sup>
                        </m:sSup>
                        <m:r>
                          <a:rPr lang="en-US" b="1" i="1">
                            <a:latin typeface="Cambria Math" panose="02040503050406030204" pitchFamily="18" charset="0"/>
                            <a:ea typeface="Cambria Math" panose="02040503050406030204" pitchFamily="18" charset="0"/>
                          </a:rPr>
                          <m:t>+</m:t>
                        </m:r>
                        <m:sSup>
                          <m:sSupPr>
                            <m:ctrlPr>
                              <a:rPr lang="en-US" b="1" i="1">
                                <a:latin typeface="Cambria Math" panose="02040503050406030204" pitchFamily="18" charset="0"/>
                                <a:ea typeface="Cambria Math" panose="02040503050406030204" pitchFamily="18" charset="0"/>
                              </a:rPr>
                            </m:ctrlPr>
                          </m:sSupPr>
                          <m:e>
                            <m:d>
                              <m:dPr>
                                <m:ctrlPr>
                                  <a:rPr lang="en-US" b="1" i="1">
                                    <a:latin typeface="Cambria Math" panose="02040503050406030204" pitchFamily="18" charset="0"/>
                                    <a:ea typeface="Cambria Math" panose="02040503050406030204" pitchFamily="18" charset="0"/>
                                  </a:rPr>
                                </m:ctrlPr>
                              </m:dPr>
                              <m:e>
                                <m:sSup>
                                  <m:sSupPr>
                                    <m:ctrlPr>
                                      <a:rPr lang="en-US" b="1"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𝒚</m:t>
                                    </m:r>
                                  </m:e>
                                  <m:sup>
                                    <m:r>
                                      <a:rPr lang="en-US" b="1" i="1">
                                        <a:latin typeface="Cambria Math" panose="02040503050406030204" pitchFamily="18" charset="0"/>
                                        <a:ea typeface="Cambria Math" panose="02040503050406030204" pitchFamily="18" charset="0"/>
                                      </a:rPr>
                                      <m:t>′</m:t>
                                    </m:r>
                                  </m:sup>
                                </m:sSup>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e>
                          <m:sup>
                            <m:r>
                              <a:rPr lang="en-US" b="1" i="1">
                                <a:latin typeface="Cambria Math" panose="02040503050406030204" pitchFamily="18" charset="0"/>
                                <a:ea typeface="Cambria Math" panose="02040503050406030204" pitchFamily="18" charset="0"/>
                              </a:rPr>
                              <m:t>𝟐</m:t>
                            </m:r>
                          </m:sup>
                        </m:sSup>
                      </m:e>
                    </m:rad>
                  </m:oMath>
                </a14:m>
                <a:r>
                  <a:rPr lang="en-US" b="1">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 name="Content Placeholder 2">
                <a:extLst>
                  <a:ext uri="{FF2B5EF4-FFF2-40B4-BE49-F238E27FC236}">
                    <a16:creationId xmlns:a16="http://schemas.microsoft.com/office/drawing/2014/main" id="{89433443-F7C6-4FAD-8BCF-22C0992B6D9C}"/>
                  </a:ext>
                </a:extLst>
              </p:cNvPr>
              <p:cNvSpPr txBox="1">
                <a:spLocks noRot="1" noChangeAspect="1" noMove="1" noResize="1" noEditPoints="1" noAdjustHandles="1" noChangeArrowheads="1" noChangeShapeType="1" noTextEdit="1"/>
              </p:cNvSpPr>
              <p:nvPr/>
            </p:nvSpPr>
            <p:spPr>
              <a:xfrm>
                <a:off x="12192000" y="2743201"/>
                <a:ext cx="11887200" cy="10744199"/>
              </a:xfrm>
              <a:prstGeom prst="rect">
                <a:avLst/>
              </a:prstGeom>
              <a:blipFill>
                <a:blip r:embed="rId4"/>
                <a:stretch>
                  <a:fillRect l="-2254" t="-793"/>
                </a:stretch>
              </a:blipFill>
              <a:ln>
                <a:solidFill>
                  <a:srgbClr val="00B0F0"/>
                </a:solidFill>
              </a:ln>
            </p:spPr>
            <p:txBody>
              <a:bodyPr/>
              <a:lstStyle/>
              <a:p>
                <a:r>
                  <a:rPr lang="en-US">
                    <a:noFill/>
                  </a:rPr>
                  <a:t> </a:t>
                </a:r>
              </a:p>
            </p:txBody>
          </p:sp>
        </mc:Fallback>
      </mc:AlternateContent>
      <p:pic>
        <p:nvPicPr>
          <p:cNvPr id="11" name="Picture 10" descr="Shape&#10;&#10;Description automatically generated">
            <a:extLst>
              <a:ext uri="{FF2B5EF4-FFF2-40B4-BE49-F238E27FC236}">
                <a16:creationId xmlns:a16="http://schemas.microsoft.com/office/drawing/2014/main" id="{AFA89CB1-4647-4B91-BB12-9E6D643A44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90800" y="8305800"/>
            <a:ext cx="6892721" cy="5664600"/>
          </a:xfrm>
          <a:prstGeom prst="rect">
            <a:avLst/>
          </a:prstGeom>
        </p:spPr>
      </p:pic>
      <p:sp>
        <p:nvSpPr>
          <p:cNvPr id="116" name="Rounded Rectangle 115"/>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20" name="TextBox 119"/>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288512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1000"/>
                                        <p:tgtEl>
                                          <p:spTgt spid="99"/>
                                        </p:tgtEl>
                                      </p:cBhvr>
                                    </p:animEffect>
                                    <p:anim calcmode="lin" valueType="num">
                                      <p:cBhvr>
                                        <p:cTn id="8" dur="1000" fill="hold"/>
                                        <p:tgtEl>
                                          <p:spTgt spid="99"/>
                                        </p:tgtEl>
                                        <p:attrNameLst>
                                          <p:attrName>ppt_x</p:attrName>
                                        </p:attrNameLst>
                                      </p:cBhvr>
                                      <p:tavLst>
                                        <p:tav tm="0">
                                          <p:val>
                                            <p:strVal val="#ppt_x"/>
                                          </p:val>
                                        </p:tav>
                                        <p:tav tm="100000">
                                          <p:val>
                                            <p:strVal val="#ppt_x"/>
                                          </p:val>
                                        </p:tav>
                                      </p:tavLst>
                                    </p:anim>
                                    <p:anim calcmode="lin" valueType="num">
                                      <p:cBhvr>
                                        <p:cTn id="9" dur="1000" fill="hold"/>
                                        <p:tgtEl>
                                          <p:spTgt spid="9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9">
                                            <p:txEl>
                                              <p:pRg st="0" end="0"/>
                                            </p:txEl>
                                          </p:spTgt>
                                        </p:tgtEl>
                                        <p:attrNameLst>
                                          <p:attrName>style.visibility</p:attrName>
                                        </p:attrNameLst>
                                      </p:cBhvr>
                                      <p:to>
                                        <p:strVal val="visible"/>
                                      </p:to>
                                    </p:set>
                                    <p:animEffect transition="in" filter="fade">
                                      <p:cBhvr>
                                        <p:cTn id="13" dur="1000"/>
                                        <p:tgtEl>
                                          <p:spTgt spid="99">
                                            <p:txEl>
                                              <p:pRg st="0" end="0"/>
                                            </p:txEl>
                                          </p:spTgt>
                                        </p:tgtEl>
                                      </p:cBhvr>
                                    </p:animEffect>
                                    <p:anim calcmode="lin" valueType="num">
                                      <p:cBhvr>
                                        <p:cTn id="14" dur="1000" fill="hold"/>
                                        <p:tgtEl>
                                          <p:spTgt spid="99">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99">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99">
                                            <p:txEl>
                                              <p:pRg st="1" end="1"/>
                                            </p:txEl>
                                          </p:spTgt>
                                        </p:tgtEl>
                                        <p:attrNameLst>
                                          <p:attrName>style.visibility</p:attrName>
                                        </p:attrNameLst>
                                      </p:cBhvr>
                                      <p:to>
                                        <p:strVal val="visible"/>
                                      </p:to>
                                    </p:set>
                                    <p:animEffect transition="in" filter="fade">
                                      <p:cBhvr>
                                        <p:cTn id="19" dur="1000"/>
                                        <p:tgtEl>
                                          <p:spTgt spid="99">
                                            <p:txEl>
                                              <p:pRg st="1" end="1"/>
                                            </p:txEl>
                                          </p:spTgt>
                                        </p:tgtEl>
                                      </p:cBhvr>
                                    </p:animEffect>
                                    <p:anim calcmode="lin" valueType="num">
                                      <p:cBhvr>
                                        <p:cTn id="20" dur="1000" fill="hold"/>
                                        <p:tgtEl>
                                          <p:spTgt spid="99">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99">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99">
                                            <p:txEl>
                                              <p:pRg st="2" end="2"/>
                                            </p:txEl>
                                          </p:spTgt>
                                        </p:tgtEl>
                                        <p:attrNameLst>
                                          <p:attrName>style.visibility</p:attrName>
                                        </p:attrNameLst>
                                      </p:cBhvr>
                                      <p:to>
                                        <p:strVal val="visible"/>
                                      </p:to>
                                    </p:set>
                                    <p:animEffect transition="in" filter="fade">
                                      <p:cBhvr>
                                        <p:cTn id="25" dur="1000"/>
                                        <p:tgtEl>
                                          <p:spTgt spid="99">
                                            <p:txEl>
                                              <p:pRg st="2" end="2"/>
                                            </p:txEl>
                                          </p:spTgt>
                                        </p:tgtEl>
                                      </p:cBhvr>
                                    </p:animEffect>
                                    <p:anim calcmode="lin" valueType="num">
                                      <p:cBhvr>
                                        <p:cTn id="26" dur="1000" fill="hold"/>
                                        <p:tgtEl>
                                          <p:spTgt spid="99">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99">
                                            <p:txEl>
                                              <p:pRg st="2" end="2"/>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99">
                                            <p:txEl>
                                              <p:pRg st="3" end="3"/>
                                            </p:txEl>
                                          </p:spTgt>
                                        </p:tgtEl>
                                        <p:attrNameLst>
                                          <p:attrName>style.visibility</p:attrName>
                                        </p:attrNameLst>
                                      </p:cBhvr>
                                      <p:to>
                                        <p:strVal val="visible"/>
                                      </p:to>
                                    </p:set>
                                    <p:animEffect transition="in" filter="fade">
                                      <p:cBhvr>
                                        <p:cTn id="31" dur="1000"/>
                                        <p:tgtEl>
                                          <p:spTgt spid="99">
                                            <p:txEl>
                                              <p:pRg st="3" end="3"/>
                                            </p:txEl>
                                          </p:spTgt>
                                        </p:tgtEl>
                                      </p:cBhvr>
                                    </p:animEffect>
                                    <p:anim calcmode="lin" valueType="num">
                                      <p:cBhvr>
                                        <p:cTn id="32" dur="1000" fill="hold"/>
                                        <p:tgtEl>
                                          <p:spTgt spid="99">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99">
                                            <p:txEl>
                                              <p:pRg st="3" end="3"/>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ppt_x</p:attrName>
                                        </p:attrNameLst>
                                      </p:cBhvr>
                                      <p:tavLst>
                                        <p:tav tm="0">
                                          <p:val>
                                            <p:strVal val="#ppt_x"/>
                                          </p:val>
                                        </p:tav>
                                        <p:tav tm="100000">
                                          <p:val>
                                            <p:strVal val="#ppt_x"/>
                                          </p:val>
                                        </p:tav>
                                      </p:tavLst>
                                    </p:anim>
                                    <p:anim calcmode="lin" valueType="num">
                                      <p:cBhvr>
                                        <p:cTn id="39" dur="1000" fill="hold"/>
                                        <p:tgtEl>
                                          <p:spTgt spid="11"/>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1000"/>
                                        <p:tgtEl>
                                          <p:spTgt spid="4"/>
                                        </p:tgtEl>
                                      </p:cBhvr>
                                    </p:animEffect>
                                    <p:anim calcmode="lin" valueType="num">
                                      <p:cBhvr>
                                        <p:cTn id="44" dur="1000" fill="hold"/>
                                        <p:tgtEl>
                                          <p:spTgt spid="4"/>
                                        </p:tgtEl>
                                        <p:attrNameLst>
                                          <p:attrName>ppt_x</p:attrName>
                                        </p:attrNameLst>
                                      </p:cBhvr>
                                      <p:tavLst>
                                        <p:tav tm="0">
                                          <p:val>
                                            <p:strVal val="#ppt_x"/>
                                          </p:val>
                                        </p:tav>
                                        <p:tav tm="100000">
                                          <p:val>
                                            <p:strVal val="#ppt_x"/>
                                          </p:val>
                                        </p:tav>
                                      </p:tavLst>
                                    </p:anim>
                                    <p:anim calcmode="lin" valueType="num">
                                      <p:cBhvr>
                                        <p:cTn id="45" dur="1000" fill="hold"/>
                                        <p:tgtEl>
                                          <p:spTgt spid="4"/>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nodeType="after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animEffect transition="in" filter="fade">
                                      <p:cBhvr>
                                        <p:cTn id="49" dur="1000"/>
                                        <p:tgtEl>
                                          <p:spTgt spid="4">
                                            <p:txEl>
                                              <p:pRg st="0" end="0"/>
                                            </p:txEl>
                                          </p:spTgt>
                                        </p:tgtEl>
                                      </p:cBhvr>
                                    </p:animEffect>
                                    <p:anim calcmode="lin" valueType="num">
                                      <p:cBhvr>
                                        <p:cTn id="50"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4">
                                            <p:txEl>
                                              <p:pRg st="1" end="1"/>
                                            </p:txEl>
                                          </p:spTgt>
                                        </p:tgtEl>
                                        <p:attrNameLst>
                                          <p:attrName>style.visibility</p:attrName>
                                        </p:attrNameLst>
                                      </p:cBhvr>
                                      <p:to>
                                        <p:strVal val="visible"/>
                                      </p:to>
                                    </p:set>
                                    <p:animEffect transition="in" filter="fade">
                                      <p:cBhvr>
                                        <p:cTn id="56" dur="1000"/>
                                        <p:tgtEl>
                                          <p:spTgt spid="4">
                                            <p:txEl>
                                              <p:pRg st="1" end="1"/>
                                            </p:txEl>
                                          </p:spTgt>
                                        </p:tgtEl>
                                      </p:cBhvr>
                                    </p:animEffect>
                                    <p:anim calcmode="lin" valueType="num">
                                      <p:cBhvr>
                                        <p:cTn id="57"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4">
                                            <p:txEl>
                                              <p:pRg st="2" end="2"/>
                                            </p:txEl>
                                          </p:spTgt>
                                        </p:tgtEl>
                                        <p:attrNameLst>
                                          <p:attrName>style.visibility</p:attrName>
                                        </p:attrNameLst>
                                      </p:cBhvr>
                                      <p:to>
                                        <p:strVal val="visible"/>
                                      </p:to>
                                    </p:set>
                                    <p:animEffect transition="in" filter="fade">
                                      <p:cBhvr>
                                        <p:cTn id="63" dur="1000"/>
                                        <p:tgtEl>
                                          <p:spTgt spid="4">
                                            <p:txEl>
                                              <p:pRg st="2" end="2"/>
                                            </p:txEl>
                                          </p:spTgt>
                                        </p:tgtEl>
                                      </p:cBhvr>
                                    </p:animEffect>
                                    <p:anim calcmode="lin" valueType="num">
                                      <p:cBhvr>
                                        <p:cTn id="64"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4">
                                            <p:txEl>
                                              <p:pRg st="3" end="3"/>
                                            </p:txEl>
                                          </p:spTgt>
                                        </p:tgtEl>
                                        <p:attrNameLst>
                                          <p:attrName>style.visibility</p:attrName>
                                        </p:attrNameLst>
                                      </p:cBhvr>
                                      <p:to>
                                        <p:strVal val="visible"/>
                                      </p:to>
                                    </p:set>
                                    <p:animEffect transition="in" filter="fade">
                                      <p:cBhvr>
                                        <p:cTn id="70" dur="1000"/>
                                        <p:tgtEl>
                                          <p:spTgt spid="4">
                                            <p:txEl>
                                              <p:pRg st="3" end="3"/>
                                            </p:txEl>
                                          </p:spTgt>
                                        </p:tgtEl>
                                      </p:cBhvr>
                                    </p:animEffect>
                                    <p:anim calcmode="lin" valueType="num">
                                      <p:cBhvr>
                                        <p:cTn id="71"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4">
                                            <p:txEl>
                                              <p:pRg st="4" end="4"/>
                                            </p:txEl>
                                          </p:spTgt>
                                        </p:tgtEl>
                                        <p:attrNameLst>
                                          <p:attrName>style.visibility</p:attrName>
                                        </p:attrNameLst>
                                      </p:cBhvr>
                                      <p:to>
                                        <p:strVal val="visible"/>
                                      </p:to>
                                    </p:set>
                                    <p:animEffect transition="in" filter="fade">
                                      <p:cBhvr>
                                        <p:cTn id="77" dur="1000"/>
                                        <p:tgtEl>
                                          <p:spTgt spid="4">
                                            <p:txEl>
                                              <p:pRg st="4" end="4"/>
                                            </p:txEl>
                                          </p:spTgt>
                                        </p:tgtEl>
                                      </p:cBhvr>
                                    </p:animEffect>
                                    <p:anim calcmode="lin" valueType="num">
                                      <p:cBhvr>
                                        <p:cTn id="7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4">
                                            <p:txEl>
                                              <p:pRg st="5" end="5"/>
                                            </p:txEl>
                                          </p:spTgt>
                                        </p:tgtEl>
                                        <p:attrNameLst>
                                          <p:attrName>style.visibility</p:attrName>
                                        </p:attrNameLst>
                                      </p:cBhvr>
                                      <p:to>
                                        <p:strVal val="visible"/>
                                      </p:to>
                                    </p:set>
                                    <p:animEffect transition="in" filter="fade">
                                      <p:cBhvr>
                                        <p:cTn id="84" dur="1000"/>
                                        <p:tgtEl>
                                          <p:spTgt spid="4">
                                            <p:txEl>
                                              <p:pRg st="5" end="5"/>
                                            </p:txEl>
                                          </p:spTgt>
                                        </p:tgtEl>
                                      </p:cBhvr>
                                    </p:animEffect>
                                    <p:anim calcmode="lin" valueType="num">
                                      <p:cBhvr>
                                        <p:cTn id="8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4">
                                            <p:txEl>
                                              <p:pRg st="6" end="6"/>
                                            </p:txEl>
                                          </p:spTgt>
                                        </p:tgtEl>
                                        <p:attrNameLst>
                                          <p:attrName>style.visibility</p:attrName>
                                        </p:attrNameLst>
                                      </p:cBhvr>
                                      <p:to>
                                        <p:strVal val="visible"/>
                                      </p:to>
                                    </p:set>
                                    <p:animEffect transition="in" filter="fade">
                                      <p:cBhvr>
                                        <p:cTn id="91" dur="1000"/>
                                        <p:tgtEl>
                                          <p:spTgt spid="4">
                                            <p:txEl>
                                              <p:pRg st="6" end="6"/>
                                            </p:txEl>
                                          </p:spTgt>
                                        </p:tgtEl>
                                      </p:cBhvr>
                                    </p:animEffect>
                                    <p:anim calcmode="lin" valueType="num">
                                      <p:cBhvr>
                                        <p:cTn id="9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93"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4">
                                            <p:txEl>
                                              <p:pRg st="7" end="7"/>
                                            </p:txEl>
                                          </p:spTgt>
                                        </p:tgtEl>
                                        <p:attrNameLst>
                                          <p:attrName>style.visibility</p:attrName>
                                        </p:attrNameLst>
                                      </p:cBhvr>
                                      <p:to>
                                        <p:strVal val="visible"/>
                                      </p:to>
                                    </p:set>
                                    <p:animEffect transition="in" filter="fade">
                                      <p:cBhvr>
                                        <p:cTn id="98" dur="1000"/>
                                        <p:tgtEl>
                                          <p:spTgt spid="4">
                                            <p:txEl>
                                              <p:pRg st="7" end="7"/>
                                            </p:txEl>
                                          </p:spTgt>
                                        </p:tgtEl>
                                      </p:cBhvr>
                                    </p:animEffect>
                                    <p:anim calcmode="lin" valueType="num">
                                      <p:cBhvr>
                                        <p:cTn id="99"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8" end="8"/>
                                            </p:txEl>
                                          </p:spTgt>
                                        </p:tgtEl>
                                        <p:attrNameLst>
                                          <p:attrName>style.visibility</p:attrName>
                                        </p:attrNameLst>
                                      </p:cBhvr>
                                      <p:to>
                                        <p:strVal val="visible"/>
                                      </p:to>
                                    </p:set>
                                    <p:animEffect transition="in" filter="fade">
                                      <p:cBhvr>
                                        <p:cTn id="105" dur="1000"/>
                                        <p:tgtEl>
                                          <p:spTgt spid="4">
                                            <p:txEl>
                                              <p:pRg st="8" end="8"/>
                                            </p:txEl>
                                          </p:spTgt>
                                        </p:tgtEl>
                                      </p:cBhvr>
                                    </p:animEffect>
                                    <p:anim calcmode="lin" valueType="num">
                                      <p:cBhvr>
                                        <p:cTn id="106"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nodeType="clickEffect">
                                  <p:stCondLst>
                                    <p:cond delay="0"/>
                                  </p:stCondLst>
                                  <p:childTnLst>
                                    <p:set>
                                      <p:cBhvr>
                                        <p:cTn id="111" dur="1" fill="hold">
                                          <p:stCondLst>
                                            <p:cond delay="0"/>
                                          </p:stCondLst>
                                        </p:cTn>
                                        <p:tgtEl>
                                          <p:spTgt spid="4">
                                            <p:txEl>
                                              <p:pRg st="9" end="9"/>
                                            </p:txEl>
                                          </p:spTgt>
                                        </p:tgtEl>
                                        <p:attrNameLst>
                                          <p:attrName>style.visibility</p:attrName>
                                        </p:attrNameLst>
                                      </p:cBhvr>
                                      <p:to>
                                        <p:strVal val="visible"/>
                                      </p:to>
                                    </p:set>
                                    <p:animEffect transition="in" filter="fade">
                                      <p:cBhvr>
                                        <p:cTn id="112" dur="1000"/>
                                        <p:tgtEl>
                                          <p:spTgt spid="4">
                                            <p:txEl>
                                              <p:pRg st="9" end="9"/>
                                            </p:txEl>
                                          </p:spTgt>
                                        </p:tgtEl>
                                      </p:cBhvr>
                                    </p:animEffect>
                                    <p:anim calcmode="lin" valueType="num">
                                      <p:cBhvr>
                                        <p:cTn id="113"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14"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Rectangle 13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04800" y="2743201"/>
                <a:ext cx="12649200" cy="107441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spcBef>
                    <a:spcPts val="1200"/>
                  </a:spcBef>
                  <a:buClr>
                    <a:srgbClr val="FF0000"/>
                  </a:buClr>
                  <a:buFont typeface="Wingdings" panose="05000000000000000000" pitchFamily="2" charset="2"/>
                  <a:buChar char="v"/>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Với hai điểm </a:t>
                </a:r>
                <a14:m>
                  <m:oMath xmlns:m="http://schemas.openxmlformats.org/officeDocument/2006/math">
                    <m:r>
                      <a:rPr lang="en-US" b="1" i="1">
                        <a:latin typeface="Cambria Math" panose="02040503050406030204" pitchFamily="18" charset="0"/>
                        <a:ea typeface="Cambria Math" panose="02040503050406030204" pitchFamily="18" charset="0"/>
                      </a:rPr>
                      <m:t>𝑴</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b="1" i="1">
                        <a:latin typeface="Cambria Math" panose="02040503050406030204" pitchFamily="18" charset="0"/>
                        <a:ea typeface="Cambria Math" panose="02040503050406030204" pitchFamily="18" charset="0"/>
                      </a:rPr>
                      <m:t>𝑵</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r>
                          <a:rPr lang="en-US" b="1" i="1">
                            <a:latin typeface="Cambria Math" panose="02040503050406030204" pitchFamily="18" charset="0"/>
                            <a:ea typeface="Cambria Math" panose="02040503050406030204" pitchFamily="18" charset="0"/>
                          </a:rPr>
                          <m:t>′</m:t>
                        </m:r>
                      </m:e>
                    </m:d>
                  </m:oMath>
                </a14:m>
                <a:r>
                  <a:rPr lang="en-US" b="1">
                    <a:latin typeface="Tahoma" panose="020B0604030504040204" pitchFamily="34" charset="0"/>
                    <a:ea typeface="Tahoma" panose="020B0604030504040204" pitchFamily="34" charset="0"/>
                    <a:cs typeface="Tahoma" panose="020B0604030504040204" pitchFamily="34" charset="0"/>
                  </a:rPr>
                  <a:t> thì </a:t>
                </a:r>
                <a14:m>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𝑴𝑵</m:t>
                        </m:r>
                      </m:e>
                    </m:acc>
                    <m:r>
                      <a:rPr lang="en-US" b="1" i="1">
                        <a:solidFill>
                          <a:srgbClr val="FF0000"/>
                        </a:solidFill>
                        <a:latin typeface="Cambria Math" panose="02040503050406030204" pitchFamily="18" charset="0"/>
                        <a:ea typeface="Cambria Math" panose="02040503050406030204" pitchFamily="18" charset="0"/>
                      </a:rPr>
                      <m:t>=</m:t>
                    </m:r>
                    <m:d>
                      <m:dPr>
                        <m:ctrlPr>
                          <a:rPr lang="en-US" b="1" i="1">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𝒚</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 và khoảng cách giữa hai điểm </a:t>
                </a:r>
                <a14:m>
                  <m:oMath xmlns:m="http://schemas.openxmlformats.org/officeDocument/2006/math">
                    <m:r>
                      <a:rPr lang="en-US" b="1" i="1">
                        <a:latin typeface="Cambria Math" panose="02040503050406030204" pitchFamily="18" charset="0"/>
                        <a:ea typeface="Cambria Math" panose="02040503050406030204" pitchFamily="18" charset="0"/>
                      </a:rPr>
                      <m:t>𝑴</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𝑵</m:t>
                    </m:r>
                  </m:oMath>
                </a14:m>
                <a:r>
                  <a:rPr lang="en-US" b="1">
                    <a:latin typeface="Tahoma" panose="020B0604030504040204" pitchFamily="34" charset="0"/>
                    <a:ea typeface="Tahoma" panose="020B0604030504040204" pitchFamily="34" charset="0"/>
                    <a:cs typeface="Tahoma" panose="020B0604030504040204" pitchFamily="34" charset="0"/>
                  </a:rPr>
                  <a:t> là</a:t>
                </a:r>
              </a:p>
              <a:p>
                <a:pPr marL="0" indent="0">
                  <a:lnSpc>
                    <a:spcPct val="100000"/>
                  </a:lnSpc>
                  <a:spcBef>
                    <a:spcPts val="1200"/>
                  </a:spcBef>
                  <a:buClr>
                    <a:srgbClr val="FF0000"/>
                  </a:buClr>
                  <a:buNone/>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ea typeface="Cambria Math" panose="02040503050406030204" pitchFamily="18" charset="0"/>
                        </a:rPr>
                        <m:t>𝑴𝑵</m:t>
                      </m:r>
                      <m:r>
                        <a:rPr lang="en-US" b="1" i="1" smtClean="0">
                          <a:solidFill>
                            <a:srgbClr val="FF0000"/>
                          </a:solidFill>
                          <a:latin typeface="Cambria Math" panose="02040503050406030204" pitchFamily="18" charset="0"/>
                          <a:ea typeface="Cambria Math" panose="02040503050406030204" pitchFamily="18" charset="0"/>
                        </a:rPr>
                        <m:t>=</m:t>
                      </m:r>
                      <m:d>
                        <m:dPr>
                          <m:begChr m:val="|"/>
                          <m:endChr m:val="|"/>
                          <m:ctrlPr>
                            <a:rPr lang="en-US" b="1" i="1">
                              <a:solidFill>
                                <a:srgbClr val="FF0000"/>
                              </a:solidFill>
                              <a:latin typeface="Cambria Math" panose="02040503050406030204" pitchFamily="18" charset="0"/>
                              <a:ea typeface="Cambria Math" panose="02040503050406030204" pitchFamily="18" charset="0"/>
                            </a:rPr>
                          </m:ctrlPr>
                        </m:dPr>
                        <m:e>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𝑴𝑵</m:t>
                              </m:r>
                            </m:e>
                          </m:acc>
                        </m:e>
                      </m:d>
                      <m:r>
                        <a:rPr lang="en-US" b="1" i="1">
                          <a:solidFill>
                            <a:srgbClr val="FF0000"/>
                          </a:solidFill>
                          <a:latin typeface="Cambria Math" panose="02040503050406030204" pitchFamily="18" charset="0"/>
                          <a:ea typeface="Cambria Math" panose="02040503050406030204" pitchFamily="18" charset="0"/>
                        </a:rPr>
                        <m:t>=</m:t>
                      </m:r>
                      <m:rad>
                        <m:radPr>
                          <m:degHide m:val="on"/>
                          <m:ctrlPr>
                            <a:rPr lang="en-US" b="1" i="1">
                              <a:solidFill>
                                <a:srgbClr val="FF0000"/>
                              </a:solidFill>
                              <a:latin typeface="Cambria Math" panose="02040503050406030204" pitchFamily="18" charset="0"/>
                              <a:ea typeface="Cambria Math" panose="02040503050406030204" pitchFamily="18" charset="0"/>
                            </a:rPr>
                          </m:ctrlPr>
                        </m:radPr>
                        <m:deg/>
                        <m:e>
                          <m:sSup>
                            <m:sSupPr>
                              <m:ctrlPr>
                                <a:rPr lang="en-US" b="1" i="1">
                                  <a:solidFill>
                                    <a:srgbClr val="FF0000"/>
                                  </a:solidFill>
                                  <a:latin typeface="Cambria Math" panose="02040503050406030204" pitchFamily="18" charset="0"/>
                                  <a:ea typeface="Cambria Math" panose="02040503050406030204" pitchFamily="18" charset="0"/>
                                </a:rPr>
                              </m:ctrlPr>
                            </m:sSupPr>
                            <m:e>
                              <m:d>
                                <m:dPr>
                                  <m:ctrlPr>
                                    <a:rPr lang="en-US" b="1" i="1">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𝒙</m:t>
                                  </m:r>
                                </m:e>
                              </m:d>
                            </m:e>
                            <m:sup>
                              <m:r>
                                <a:rPr lang="en-US" b="1" i="1">
                                  <a:solidFill>
                                    <a:srgbClr val="FF0000"/>
                                  </a:solidFill>
                                  <a:latin typeface="Cambria Math" panose="02040503050406030204" pitchFamily="18" charset="0"/>
                                  <a:ea typeface="Cambria Math" panose="02040503050406030204" pitchFamily="18" charset="0"/>
                                </a:rPr>
                                <m:t>𝟐</m:t>
                              </m:r>
                            </m:sup>
                          </m:sSup>
                          <m:r>
                            <a:rPr lang="en-US" b="1" i="1">
                              <a:solidFill>
                                <a:srgbClr val="FF0000"/>
                              </a:solidFill>
                              <a:latin typeface="Cambria Math" panose="02040503050406030204" pitchFamily="18" charset="0"/>
                              <a:ea typeface="Cambria Math" panose="02040503050406030204" pitchFamily="18" charset="0"/>
                            </a:rPr>
                            <m:t>+</m:t>
                          </m:r>
                          <m:sSup>
                            <m:sSupPr>
                              <m:ctrlPr>
                                <a:rPr lang="en-US" b="1" i="1">
                                  <a:solidFill>
                                    <a:srgbClr val="FF0000"/>
                                  </a:solidFill>
                                  <a:latin typeface="Cambria Math" panose="02040503050406030204" pitchFamily="18" charset="0"/>
                                  <a:ea typeface="Cambria Math" panose="02040503050406030204" pitchFamily="18" charset="0"/>
                                </a:rPr>
                              </m:ctrlPr>
                            </m:sSupPr>
                            <m:e>
                              <m:d>
                                <m:dPr>
                                  <m:ctrlPr>
                                    <a:rPr lang="en-US" b="1" i="1">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𝒚</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𝒚</m:t>
                                  </m:r>
                                </m:e>
                              </m:d>
                            </m:e>
                            <m:sup>
                              <m:r>
                                <a:rPr lang="en-US" b="1" i="1">
                                  <a:solidFill>
                                    <a:srgbClr val="FF0000"/>
                                  </a:solidFill>
                                  <a:latin typeface="Cambria Math" panose="02040503050406030204" pitchFamily="18" charset="0"/>
                                  <a:ea typeface="Cambria Math" panose="02040503050406030204" pitchFamily="18" charset="0"/>
                                </a:rPr>
                                <m:t>𝟐</m:t>
                              </m:r>
                            </m:sup>
                          </m:sSup>
                        </m:e>
                      </m:rad>
                      <m:r>
                        <a:rPr lang="en-US" b="1" i="1">
                          <a:solidFill>
                            <a:srgbClr val="FF0000"/>
                          </a:solidFill>
                          <a:latin typeface="Cambria Math" panose="02040503050406030204" pitchFamily="18" charset="0"/>
                          <a:ea typeface="Cambria Math" panose="02040503050406030204" pitchFamily="18" charset="0"/>
                        </a:rPr>
                        <m:t>.</m:t>
                      </m:r>
                    </m:oMath>
                  </m:oMathPara>
                </a14:m>
                <a:endParaRPr lang="en-US" b="1">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1200"/>
                  </a:spcBef>
                  <a:buClr>
                    <a:srgbClr val="FF0000"/>
                  </a:buClr>
                  <a:buNone/>
                </a:pPr>
                <a:endParaRPr lang="en-US" b="1">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1200"/>
                  </a:spcBef>
                  <a:buNone/>
                </a:pPr>
                <a:r>
                  <a:rPr lang="en-US" b="1">
                    <a:solidFill>
                      <a:srgbClr val="FF0000"/>
                    </a:solidFill>
                    <a:latin typeface="Tahoma" panose="020B0604030504040204" pitchFamily="34" charset="0"/>
                    <a:ea typeface="Tahoma" panose="020B0604030504040204" pitchFamily="34" charset="0"/>
                    <a:cs typeface="Tahoma" panose="020B0604030504040204" pitchFamily="34" charset="0"/>
                    <a:sym typeface="Wingdings"/>
                  </a:rPr>
                  <a:t></a:t>
                </a:r>
                <a:r>
                  <a:rPr lang="en-US" b="1">
                    <a:solidFill>
                      <a:srgbClr val="FFFF00"/>
                    </a:solidFill>
                    <a:latin typeface="Tahoma" panose="020B0604030504040204" pitchFamily="34" charset="0"/>
                    <a:ea typeface="Tahoma" panose="020B0604030504040204" pitchFamily="34" charset="0"/>
                    <a:cs typeface="Tahoma" panose="020B0604030504040204" pitchFamily="34" charset="0"/>
                    <a:sym typeface="Wingdings"/>
                  </a:rPr>
                  <a:t> </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VD3: </a:t>
                </a:r>
                <a:r>
                  <a:rPr lang="en-US" b="1">
                    <a:latin typeface="Tahoma" panose="020B0604030504040204" pitchFamily="34" charset="0"/>
                    <a:ea typeface="Tahoma" panose="020B0604030504040204" pitchFamily="34" charset="0"/>
                    <a:cs typeface="Tahoma" panose="020B0604030504040204" pitchFamily="34" charset="0"/>
                  </a:rPr>
                  <a:t>Trong mặt phẳng tọa độ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a:latin typeface="Tahoma" panose="020B0604030504040204" pitchFamily="34" charset="0"/>
                    <a:ea typeface="Tahoma" panose="020B0604030504040204" pitchFamily="34" charset="0"/>
                    <a:cs typeface="Tahoma" panose="020B0604030504040204" pitchFamily="34" charset="0"/>
                  </a:rPr>
                  <a:t>, cho ba điểm </a:t>
                </a:r>
                <a14:m>
                  <m:oMath xmlns:m="http://schemas.openxmlformats.org/officeDocument/2006/math">
                    <m:r>
                      <a:rPr lang="en-US" b="1" i="1">
                        <a:latin typeface="Cambria Math" panose="02040503050406030204" pitchFamily="18" charset="0"/>
                        <a:ea typeface="Cambria Math" panose="02040503050406030204" pitchFamily="18" charset="0"/>
                      </a:rPr>
                      <m:t>𝑨</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𝟏</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𝟑</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𝑪</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𝟕</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e>
                    </m:d>
                  </m:oMath>
                </a14:m>
                <a:r>
                  <a:rPr lang="en-US" b="1">
                    <a:latin typeface="Tahoma" panose="020B0604030504040204" pitchFamily="34" charset="0"/>
                    <a:ea typeface="Tahoma" panose="020B0604030504040204" pitchFamily="34" charset="0"/>
                    <a:cs typeface="Tahoma" panose="020B0604030504040204" pitchFamily="34" charset="0"/>
                  </a:rPr>
                  <a:t>.</a:t>
                </a:r>
              </a:p>
              <a:p>
                <a:pPr marL="914400" indent="-914400">
                  <a:lnSpc>
                    <a:spcPct val="100000"/>
                  </a:lnSpc>
                  <a:spcBef>
                    <a:spcPts val="1200"/>
                  </a:spcBef>
                  <a:buAutoNum type="alphaLcParenR"/>
                </a:pPr>
                <a:r>
                  <a:rPr lang="en-US" b="1">
                    <a:latin typeface="Tahoma" panose="020B0604030504040204" pitchFamily="34" charset="0"/>
                    <a:ea typeface="Tahoma" panose="020B0604030504040204" pitchFamily="34" charset="0"/>
                    <a:cs typeface="Tahoma" panose="020B0604030504040204" pitchFamily="34" charset="0"/>
                  </a:rPr>
                  <a:t>Tìm tọa độ của các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𝑨𝑩</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𝑩𝑪</m:t>
                        </m:r>
                      </m:e>
                    </m:acc>
                  </m:oMath>
                </a14:m>
                <a:r>
                  <a:rPr lang="en-US" b="1">
                    <a:latin typeface="Tahoma" panose="020B0604030504040204" pitchFamily="34" charset="0"/>
                    <a:ea typeface="Tahoma" panose="020B0604030504040204" pitchFamily="34" charset="0"/>
                    <a:cs typeface="Tahoma" panose="020B0604030504040204" pitchFamily="34" charset="0"/>
                  </a:rPr>
                  <a:t>. </a:t>
                </a:r>
              </a:p>
              <a:p>
                <a:pPr marL="0" indent="0">
                  <a:lnSpc>
                    <a:spcPct val="100000"/>
                  </a:lnSpc>
                  <a:spcBef>
                    <a:spcPts val="1200"/>
                  </a:spcBef>
                  <a:buNone/>
                </a:pPr>
                <a:r>
                  <a:rPr lang="en-US" b="1">
                    <a:latin typeface="Tahoma" panose="020B0604030504040204" pitchFamily="34" charset="0"/>
                    <a:ea typeface="Tahoma" panose="020B0604030504040204" pitchFamily="34" charset="0"/>
                    <a:cs typeface="Tahoma" panose="020B0604030504040204" pitchFamily="34" charset="0"/>
                  </a:rPr>
                  <a:t>So sánh các khoảng cách từ </a:t>
                </a:r>
                <a14:m>
                  <m:oMath xmlns:m="http://schemas.openxmlformats.org/officeDocument/2006/math">
                    <m:r>
                      <a:rPr lang="en-US" b="1" i="1">
                        <a:latin typeface="Cambria Math" panose="02040503050406030204" pitchFamily="18" charset="0"/>
                        <a:ea typeface="Cambria Math" panose="02040503050406030204" pitchFamily="18" charset="0"/>
                      </a:rPr>
                      <m:t>𝑩</m:t>
                    </m:r>
                  </m:oMath>
                </a14:m>
                <a:r>
                  <a:rPr lang="en-US" b="1">
                    <a:latin typeface="Tahoma" panose="020B0604030504040204" pitchFamily="34" charset="0"/>
                    <a:ea typeface="Tahoma" panose="020B0604030504040204" pitchFamily="34" charset="0"/>
                    <a:cs typeface="Tahoma" panose="020B0604030504040204" pitchFamily="34" charset="0"/>
                  </a:rPr>
                  <a:t> tới </a:t>
                </a:r>
                <a14:m>
                  <m:oMath xmlns:m="http://schemas.openxmlformats.org/officeDocument/2006/math">
                    <m:r>
                      <a:rPr lang="en-US" b="1" i="1">
                        <a:latin typeface="Cambria Math" panose="02040503050406030204" pitchFamily="18" charset="0"/>
                        <a:ea typeface="Cambria Math" panose="020405030504060302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b="1" i="1">
                        <a:latin typeface="Cambria Math" panose="02040503050406030204" pitchFamily="18" charset="0"/>
                        <a:ea typeface="Cambria Math" panose="02040503050406030204" pitchFamily="18" charset="0"/>
                      </a:rPr>
                      <m:t>𝑪</m:t>
                    </m:r>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spcBef>
                    <a:spcPts val="1200"/>
                  </a:spcBef>
                  <a:buNone/>
                </a:pPr>
                <a:r>
                  <a:rPr lang="en-US" b="1">
                    <a:latin typeface="Tahoma" panose="020B0604030504040204" pitchFamily="34" charset="0"/>
                    <a:ea typeface="Tahoma" panose="020B0604030504040204" pitchFamily="34" charset="0"/>
                    <a:cs typeface="Tahoma" panose="020B0604030504040204" pitchFamily="34" charset="0"/>
                  </a:rPr>
                  <a:t>b) Ba điểm </a:t>
                </a:r>
                <a14:m>
                  <m:oMath xmlns:m="http://schemas.openxmlformats.org/officeDocument/2006/math">
                    <m:r>
                      <a:rPr lang="en-US" b="1" i="1">
                        <a:latin typeface="Cambria Math" panose="02040503050406030204" pitchFamily="18" charset="0"/>
                        <a:ea typeface="Cambria Math" panose="020405030504060302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𝑪</m:t>
                    </m:r>
                  </m:oMath>
                </a14:m>
                <a:r>
                  <a:rPr lang="en-US" b="1">
                    <a:latin typeface="Tahoma" panose="020B0604030504040204" pitchFamily="34" charset="0"/>
                    <a:ea typeface="Tahoma" panose="020B0604030504040204" pitchFamily="34" charset="0"/>
                    <a:cs typeface="Tahoma" panose="020B0604030504040204" pitchFamily="34" charset="0"/>
                  </a:rPr>
                  <a:t> thẳng hàng không?</a:t>
                </a:r>
              </a:p>
              <a:p>
                <a:pPr marL="0" indent="0">
                  <a:lnSpc>
                    <a:spcPct val="100000"/>
                  </a:lnSpc>
                  <a:spcBef>
                    <a:spcPts val="1200"/>
                  </a:spcBef>
                  <a:buNone/>
                </a:pPr>
                <a:r>
                  <a:rPr lang="en-US" b="1">
                    <a:latin typeface="Tahoma" panose="020B0604030504040204" pitchFamily="34" charset="0"/>
                    <a:ea typeface="Tahoma" panose="020B0604030504040204" pitchFamily="34" charset="0"/>
                    <a:cs typeface="Tahoma" panose="020B0604030504040204" pitchFamily="34" charset="0"/>
                  </a:rPr>
                  <a:t>c) Tìm điểm </a:t>
                </a:r>
                <a14:m>
                  <m:oMath xmlns:m="http://schemas.openxmlformats.org/officeDocument/2006/math">
                    <m:r>
                      <a:rPr lang="en-US" b="1" i="1">
                        <a:latin typeface="Cambria Math" panose="02040503050406030204" pitchFamily="18" charset="0"/>
                        <a:ea typeface="Cambria Math" panose="02040503050406030204" pitchFamily="18" charset="0"/>
                      </a:rPr>
                      <m:t>𝑫</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 để </a:t>
                </a:r>
                <a14:m>
                  <m:oMath xmlns:m="http://schemas.openxmlformats.org/officeDocument/2006/math">
                    <m:r>
                      <a:rPr lang="en-US" b="1" i="1">
                        <a:latin typeface="Cambria Math" panose="02040503050406030204" pitchFamily="18" charset="0"/>
                        <a:ea typeface="Cambria Math" panose="02040503050406030204" pitchFamily="18" charset="0"/>
                      </a:rPr>
                      <m:t>𝑨𝑩𝑪𝑫</m:t>
                    </m:r>
                  </m:oMath>
                </a14:m>
                <a:r>
                  <a:rPr lang="en-US" b="1">
                    <a:latin typeface="Tahoma" panose="020B0604030504040204" pitchFamily="34" charset="0"/>
                    <a:ea typeface="Tahoma" panose="020B0604030504040204" pitchFamily="34" charset="0"/>
                    <a:cs typeface="Tahoma" panose="020B0604030504040204" pitchFamily="34" charset="0"/>
                  </a:rPr>
                  <a:t> là một hình thoi.</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04800" y="2743201"/>
                <a:ext cx="12649200" cy="10744199"/>
              </a:xfrm>
              <a:prstGeom prst="rect">
                <a:avLst/>
              </a:prstGeom>
              <a:blipFill>
                <a:blip r:embed="rId3"/>
                <a:stretch>
                  <a:fillRect l="-2167" t="-850" r="-1107"/>
                </a:stretch>
              </a:blipFill>
              <a:ln>
                <a:solidFill>
                  <a:srgbClr val="00B0F0"/>
                </a:solidFill>
              </a:ln>
            </p:spPr>
            <p:txBody>
              <a:bodyPr/>
              <a:lstStyle/>
              <a:p>
                <a:r>
                  <a:rPr lang="en-US">
                    <a:noFill/>
                  </a:rPr>
                  <a:t> </a:t>
                </a:r>
              </a:p>
            </p:txBody>
          </p:sp>
        </mc:Fallback>
      </mc:AlternateContent>
      <p:sp>
        <p:nvSpPr>
          <p:cNvPr id="5" name="Title 1">
            <a:extLst>
              <a:ext uri="{FF2B5EF4-FFF2-40B4-BE49-F238E27FC236}">
                <a16:creationId xmlns:a16="http://schemas.microsoft.com/office/drawing/2014/main" id="{91EFB9E1-C2C8-4179-962F-C0CDC30C73C0}"/>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9433443-F7C6-4FAD-8BCF-22C0992B6D9C}"/>
                  </a:ext>
                </a:extLst>
              </p:cNvPr>
              <p:cNvSpPr txBox="1">
                <a:spLocks/>
              </p:cNvSpPr>
              <p:nvPr/>
            </p:nvSpPr>
            <p:spPr>
              <a:xfrm>
                <a:off x="13335000" y="2743201"/>
                <a:ext cx="10744200" cy="107441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spcBef>
                    <a:spcPts val="1200"/>
                  </a:spcBef>
                  <a:buClr>
                    <a:srgbClr val="FF0000"/>
                  </a:buClr>
                  <a:buFont typeface="Wingdings" panose="05000000000000000000" pitchFamily="2" charset="2"/>
                  <a:buChar char="Ø"/>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Hướng dẫn:</a:t>
                </a:r>
              </a:p>
              <a:p>
                <a:pPr marL="0" indent="0">
                  <a:lnSpc>
                    <a:spcPct val="100000"/>
                  </a:lnSpc>
                  <a:spcBef>
                    <a:spcPts val="1200"/>
                  </a:spcBef>
                  <a:buNone/>
                </a:pPr>
                <a:r>
                  <a:rPr lang="fr-FR" b="1">
                    <a:latin typeface="Tahoma" panose="020B0604030504040204" pitchFamily="34" charset="0"/>
                    <a:ea typeface="Tahoma" panose="020B0604030504040204" pitchFamily="34" charset="0"/>
                    <a:cs typeface="Tahoma" panose="020B0604030504040204" pitchFamily="34" charset="0"/>
                  </a:rPr>
                  <a:t>a) Ta có</a:t>
                </a:r>
              </a:p>
              <a:p>
                <a:pPr>
                  <a:lnSpc>
                    <a:spcPct val="100000"/>
                  </a:lnSpc>
                  <a:spcBef>
                    <a:spcPts val="1200"/>
                  </a:spcBef>
                </a:pP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𝑨𝑩</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𝟑</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m:t>
                        </m:r>
                      </m:e>
                    </m:d>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e>
                    </m:d>
                  </m:oMath>
                </a14:m>
                <a:r>
                  <a:rPr lang="en-US" b="1">
                    <a:latin typeface="Tahoma" panose="020B0604030504040204" pitchFamily="34" charset="0"/>
                    <a:ea typeface="Tahoma" panose="020B0604030504040204" pitchFamily="34" charset="0"/>
                    <a:cs typeface="Tahoma" panose="020B0604030504040204" pitchFamily="34" charset="0"/>
                  </a:rPr>
                  <a:t>.</a:t>
                </a:r>
              </a:p>
              <a:p>
                <a:pPr>
                  <a:lnSpc>
                    <a:spcPct val="100000"/>
                  </a:lnSpc>
                  <a:spcBef>
                    <a:spcPts val="1200"/>
                  </a:spcBef>
                </a:pP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𝑩𝑪</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𝟕</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e>
                    </m:d>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𝟒</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e>
                    </m:d>
                  </m:oMath>
                </a14:m>
                <a:r>
                  <a:rPr lang="fr-FR"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spcBef>
                    <a:spcPts val="1200"/>
                  </a:spcBef>
                  <a:buNone/>
                </a:pPr>
                <a:r>
                  <a:rPr lang="fr-FR" b="1">
                    <a:latin typeface="Tahoma" panose="020B0604030504040204" pitchFamily="34" charset="0"/>
                    <a:ea typeface="Tahoma" panose="020B0604030504040204" pitchFamily="34" charset="0"/>
                    <a:cs typeface="Tahoma" panose="020B0604030504040204" pitchFamily="34" charset="0"/>
                  </a:rPr>
                  <a:t>Khoảng cách từ </a:t>
                </a:r>
                <a14:m>
                  <m:oMath xmlns:m="http://schemas.openxmlformats.org/officeDocument/2006/math">
                    <m:r>
                      <a:rPr lang="fr-FR" b="1" i="1" smtClean="0">
                        <a:latin typeface="Cambria Math" panose="02040503050406030204" pitchFamily="18" charset="0"/>
                        <a:ea typeface="Tahoma" panose="020B0604030504040204" pitchFamily="34" charset="0"/>
                        <a:cs typeface="Tahoma" panose="020B0604030504040204" pitchFamily="34" charset="0"/>
                      </a:rPr>
                      <m:t>𝑩</m:t>
                    </m:r>
                  </m:oMath>
                </a14:m>
                <a:r>
                  <a:rPr lang="fr-FR" b="1">
                    <a:latin typeface="Tahoma" panose="020B0604030504040204" pitchFamily="34" charset="0"/>
                    <a:ea typeface="Tahoma" panose="020B0604030504040204" pitchFamily="34" charset="0"/>
                    <a:cs typeface="Tahoma" panose="020B0604030504040204" pitchFamily="34" charset="0"/>
                  </a:rPr>
                  <a:t> tới </a:t>
                </a:r>
                <a14:m>
                  <m:oMath xmlns:m="http://schemas.openxmlformats.org/officeDocument/2006/math">
                    <m:r>
                      <a:rPr lang="fr-FR" b="1" i="1" smtClean="0">
                        <a:latin typeface="Cambria Math" panose="02040503050406030204" pitchFamily="18" charset="0"/>
                        <a:ea typeface="Tahoma" panose="020B0604030504040204" pitchFamily="34" charset="0"/>
                        <a:cs typeface="Tahoma" panose="020B0604030504040204" pitchFamily="34" charset="0"/>
                      </a:rPr>
                      <m:t>𝑨</m:t>
                    </m:r>
                  </m:oMath>
                </a14:m>
                <a:r>
                  <a:rPr lang="fr-FR" b="1">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fr-FR" b="1" i="1" smtClean="0">
                        <a:latin typeface="Cambria Math" panose="02040503050406030204" pitchFamily="18" charset="0"/>
                        <a:ea typeface="Tahoma" panose="020B0604030504040204" pitchFamily="34" charset="0"/>
                        <a:cs typeface="Tahoma" panose="020B0604030504040204" pitchFamily="34" charset="0"/>
                      </a:rPr>
                      <m:t>𝑪</m:t>
                    </m:r>
                  </m:oMath>
                </a14:m>
                <a:r>
                  <a:rPr lang="fr-FR" b="1">
                    <a:latin typeface="Tahoma" panose="020B0604030504040204" pitchFamily="34" charset="0"/>
                    <a:ea typeface="Tahoma" panose="020B0604030504040204" pitchFamily="34" charset="0"/>
                    <a:cs typeface="Tahoma" panose="020B0604030504040204" pitchFamily="34" charset="0"/>
                  </a:rPr>
                  <a:t> là:</a:t>
                </a:r>
              </a:p>
              <a:p>
                <a:pPr>
                  <a:lnSpc>
                    <a:spcPct val="100000"/>
                  </a:lnSpc>
                  <a:spcBef>
                    <a:spcPts val="1200"/>
                  </a:spcBef>
                </a:pPr>
                <a14:m>
                  <m:oMath xmlns:m="http://schemas.openxmlformats.org/officeDocument/2006/math">
                    <m:r>
                      <a:rPr lang="vi-VN" b="1" i="1">
                        <a:latin typeface="Cambria Math" panose="02040503050406030204" pitchFamily="18" charset="0"/>
                        <a:ea typeface="Cambria Math" panose="02040503050406030204" pitchFamily="18" charset="0"/>
                      </a:rPr>
                      <m:t>𝑨𝑩</m:t>
                    </m:r>
                    <m:r>
                      <a:rPr lang="vi-VN" b="1" i="1">
                        <a:latin typeface="Cambria Math" panose="02040503050406030204" pitchFamily="18" charset="0"/>
                        <a:ea typeface="Cambria Math" panose="02040503050406030204" pitchFamily="18" charset="0"/>
                      </a:rPr>
                      <m:t>=</m:t>
                    </m:r>
                    <m:d>
                      <m:dPr>
                        <m:begChr m:val="|"/>
                        <m:endChr m:val="|"/>
                        <m:ctrlPr>
                          <a:rPr lang="en-US" b="1" i="1">
                            <a:latin typeface="Cambria Math" panose="02040503050406030204" pitchFamily="18" charset="0"/>
                            <a:ea typeface="Cambria Math" panose="02040503050406030204" pitchFamily="18" charset="0"/>
                          </a:rPr>
                        </m:ctrlPr>
                      </m:dPr>
                      <m:e>
                        <m:acc>
                          <m:accPr>
                            <m:chr m:val="⃗"/>
                            <m:ctrlPr>
                              <a:rPr lang="en-US" b="1" i="1">
                                <a:latin typeface="Cambria Math" panose="02040503050406030204" pitchFamily="18" charset="0"/>
                                <a:ea typeface="Cambria Math" panose="02040503050406030204" pitchFamily="18" charset="0"/>
                              </a:rPr>
                            </m:ctrlPr>
                          </m:accPr>
                          <m:e>
                            <m:r>
                              <a:rPr lang="vi-VN" b="1" i="1">
                                <a:latin typeface="Cambria Math" panose="02040503050406030204" pitchFamily="18" charset="0"/>
                                <a:ea typeface="Cambria Math" panose="02040503050406030204" pitchFamily="18" charset="0"/>
                              </a:rPr>
                              <m:t>𝑨𝑩</m:t>
                            </m:r>
                          </m:e>
                        </m:acc>
                      </m:e>
                    </m:d>
                    <m:r>
                      <a:rPr lang="vi-VN" b="1" i="1">
                        <a:latin typeface="Cambria Math" panose="02040503050406030204" pitchFamily="18" charset="0"/>
                        <a:ea typeface="Cambria Math" panose="02040503050406030204" pitchFamily="18" charset="0"/>
                      </a:rPr>
                      <m:t>=</m:t>
                    </m:r>
                    <m:rad>
                      <m:radPr>
                        <m:degHide m:val="on"/>
                        <m:ctrlPr>
                          <a:rPr lang="en-US" b="1" i="1">
                            <a:latin typeface="Cambria Math" panose="02040503050406030204" pitchFamily="18" charset="0"/>
                            <a:ea typeface="Cambria Math" panose="02040503050406030204" pitchFamily="18" charset="0"/>
                          </a:rPr>
                        </m:ctrlPr>
                      </m:radPr>
                      <m:deg/>
                      <m:e>
                        <m:sSup>
                          <m:sSupPr>
                            <m:ctrlPr>
                              <a:rPr lang="en-US" b="1" i="1">
                                <a:latin typeface="Cambria Math" panose="02040503050406030204" pitchFamily="18" charset="0"/>
                                <a:ea typeface="Cambria Math" panose="02040503050406030204" pitchFamily="18" charset="0"/>
                              </a:rPr>
                            </m:ctrlPr>
                          </m:sSupPr>
                          <m:e>
                            <m:r>
                              <a:rPr lang="vi-VN" b="1" i="1">
                                <a:latin typeface="Cambria Math" panose="02040503050406030204" pitchFamily="18" charset="0"/>
                                <a:ea typeface="Cambria Math" panose="02040503050406030204" pitchFamily="18" charset="0"/>
                              </a:rPr>
                              <m:t>𝟐</m:t>
                            </m:r>
                          </m:e>
                          <m:sup>
                            <m:r>
                              <a:rPr lang="vi-VN" b="1" i="1">
                                <a:latin typeface="Cambria Math" panose="02040503050406030204" pitchFamily="18" charset="0"/>
                                <a:ea typeface="Cambria Math" panose="02040503050406030204" pitchFamily="18" charset="0"/>
                              </a:rPr>
                              <m:t>𝟐</m:t>
                            </m:r>
                          </m:sup>
                        </m:sSup>
                        <m:r>
                          <a:rPr lang="vi-VN" b="1" i="1">
                            <a:latin typeface="Cambria Math" panose="02040503050406030204" pitchFamily="18" charset="0"/>
                            <a:ea typeface="Cambria Math" panose="02040503050406030204" pitchFamily="18" charset="0"/>
                          </a:rPr>
                          <m:t>+</m:t>
                        </m:r>
                        <m:sSup>
                          <m:sSupPr>
                            <m:ctrlPr>
                              <a:rPr lang="en-US" b="1" i="1">
                                <a:latin typeface="Cambria Math" panose="02040503050406030204" pitchFamily="18" charset="0"/>
                                <a:ea typeface="Cambria Math" panose="02040503050406030204" pitchFamily="18" charset="0"/>
                              </a:rPr>
                            </m:ctrlPr>
                          </m:sSupPr>
                          <m:e>
                            <m:r>
                              <a:rPr lang="vi-VN" b="1" i="1">
                                <a:latin typeface="Cambria Math" panose="02040503050406030204" pitchFamily="18" charset="0"/>
                                <a:ea typeface="Cambria Math" panose="02040503050406030204" pitchFamily="18" charset="0"/>
                              </a:rPr>
                              <m:t>𝟒</m:t>
                            </m:r>
                          </m:e>
                          <m:sup>
                            <m:r>
                              <a:rPr lang="vi-VN" b="1" i="1">
                                <a:latin typeface="Cambria Math" panose="02040503050406030204" pitchFamily="18" charset="0"/>
                                <a:ea typeface="Cambria Math" panose="02040503050406030204" pitchFamily="18" charset="0"/>
                              </a:rPr>
                              <m:t>𝟐</m:t>
                            </m:r>
                          </m:sup>
                        </m:sSup>
                      </m:e>
                    </m:rad>
                    <m:r>
                      <a:rPr lang="vi-VN" b="1" i="1">
                        <a:latin typeface="Cambria Math" panose="02040503050406030204" pitchFamily="18" charset="0"/>
                        <a:ea typeface="Cambria Math" panose="02040503050406030204" pitchFamily="18" charset="0"/>
                      </a:rPr>
                      <m:t>=</m:t>
                    </m:r>
                    <m:r>
                      <a:rPr lang="vi-VN" b="1" i="1">
                        <a:latin typeface="Cambria Math" panose="02040503050406030204" pitchFamily="18" charset="0"/>
                        <a:ea typeface="Cambria Math" panose="02040503050406030204" pitchFamily="18" charset="0"/>
                      </a:rPr>
                      <m:t>𝟐</m:t>
                    </m:r>
                    <m:rad>
                      <m:radPr>
                        <m:degHide m:val="on"/>
                        <m:ctrlPr>
                          <a:rPr lang="en-US" b="1" i="1">
                            <a:latin typeface="Cambria Math" panose="02040503050406030204" pitchFamily="18" charset="0"/>
                            <a:ea typeface="Cambria Math" panose="02040503050406030204" pitchFamily="18" charset="0"/>
                          </a:rPr>
                        </m:ctrlPr>
                      </m:radPr>
                      <m:deg/>
                      <m:e>
                        <m:r>
                          <a:rPr lang="vi-VN" b="1" i="1">
                            <a:latin typeface="Cambria Math" panose="02040503050406030204" pitchFamily="18" charset="0"/>
                            <a:ea typeface="Cambria Math" panose="02040503050406030204" pitchFamily="18" charset="0"/>
                          </a:rPr>
                          <m:t>𝟓</m:t>
                        </m:r>
                      </m:e>
                    </m:rad>
                    <m:r>
                      <m:rPr>
                        <m:nor/>
                      </m:rPr>
                      <a:rPr lang="fr-FR" b="1">
                        <a:latin typeface="Tahoma" panose="020B0604030504040204" pitchFamily="34" charset="0"/>
                        <a:ea typeface="Tahoma" panose="020B0604030504040204" pitchFamily="34" charset="0"/>
                        <a:cs typeface="Tahoma" panose="020B0604030504040204" pitchFamily="34" charset="0"/>
                      </a:rPr>
                      <m:t>.</m:t>
                    </m:r>
                  </m:oMath>
                </a14:m>
                <a:endParaRPr lang="fr-FR" b="1">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1200"/>
                  </a:spcBef>
                </a:pPr>
                <a14:m>
                  <m:oMath xmlns:m="http://schemas.openxmlformats.org/officeDocument/2006/math">
                    <m:r>
                      <a:rPr lang="vi-VN" b="1" i="1">
                        <a:latin typeface="Cambria Math" panose="02040503050406030204" pitchFamily="18" charset="0"/>
                        <a:ea typeface="Cambria Math" panose="02040503050406030204" pitchFamily="18" charset="0"/>
                      </a:rPr>
                      <m:t>𝑩</m:t>
                    </m:r>
                    <m:r>
                      <a:rPr lang="en-US" b="1" i="1" smtClean="0">
                        <a:latin typeface="Cambria Math" panose="02040503050406030204" pitchFamily="18" charset="0"/>
                        <a:ea typeface="Cambria Math" panose="02040503050406030204" pitchFamily="18" charset="0"/>
                      </a:rPr>
                      <m:t>𝑪</m:t>
                    </m:r>
                    <m:r>
                      <a:rPr lang="vi-VN" b="1" i="1">
                        <a:latin typeface="Cambria Math" panose="02040503050406030204" pitchFamily="18" charset="0"/>
                        <a:ea typeface="Cambria Math" panose="02040503050406030204" pitchFamily="18" charset="0"/>
                      </a:rPr>
                      <m:t>=</m:t>
                    </m:r>
                    <m:d>
                      <m:dPr>
                        <m:begChr m:val="|"/>
                        <m:endChr m:val="|"/>
                        <m:ctrlPr>
                          <a:rPr lang="en-US" b="1" i="1">
                            <a:latin typeface="Cambria Math" panose="02040503050406030204" pitchFamily="18" charset="0"/>
                            <a:ea typeface="Cambria Math" panose="02040503050406030204" pitchFamily="18" charset="0"/>
                          </a:rPr>
                        </m:ctrlPr>
                      </m:dPr>
                      <m:e>
                        <m:acc>
                          <m:accPr>
                            <m:chr m:val="⃗"/>
                            <m:ctrlPr>
                              <a:rPr lang="en-US" b="1" i="1">
                                <a:latin typeface="Cambria Math" panose="02040503050406030204" pitchFamily="18" charset="0"/>
                                <a:ea typeface="Cambria Math" panose="02040503050406030204" pitchFamily="18" charset="0"/>
                              </a:rPr>
                            </m:ctrlPr>
                          </m:accPr>
                          <m:e>
                            <m:r>
                              <a:rPr lang="vi-VN" b="1" i="1">
                                <a:latin typeface="Cambria Math" panose="02040503050406030204" pitchFamily="18" charset="0"/>
                                <a:ea typeface="Cambria Math" panose="02040503050406030204" pitchFamily="18" charset="0"/>
                              </a:rPr>
                              <m:t>𝑩</m:t>
                            </m:r>
                            <m:r>
                              <a:rPr lang="en-US" b="1" i="1" smtClean="0">
                                <a:latin typeface="Cambria Math" panose="02040503050406030204" pitchFamily="18" charset="0"/>
                                <a:ea typeface="Cambria Math" panose="02040503050406030204" pitchFamily="18" charset="0"/>
                              </a:rPr>
                              <m:t>𝑪</m:t>
                            </m:r>
                          </m:e>
                        </m:acc>
                      </m:e>
                    </m:d>
                    <m:r>
                      <a:rPr lang="vi-VN" b="1" i="1">
                        <a:latin typeface="Cambria Math" panose="02040503050406030204" pitchFamily="18" charset="0"/>
                        <a:ea typeface="Cambria Math" panose="02040503050406030204" pitchFamily="18" charset="0"/>
                      </a:rPr>
                      <m:t>=</m:t>
                    </m:r>
                    <m:rad>
                      <m:radPr>
                        <m:degHide m:val="on"/>
                        <m:ctrlPr>
                          <a:rPr lang="en-US" b="1" i="1">
                            <a:latin typeface="Cambria Math" panose="02040503050406030204" pitchFamily="18" charset="0"/>
                            <a:ea typeface="Cambria Math" panose="02040503050406030204" pitchFamily="18" charset="0"/>
                          </a:rPr>
                        </m:ctrlPr>
                      </m:radPr>
                      <m:deg/>
                      <m:e>
                        <m:sSup>
                          <m:sSupPr>
                            <m:ctrlPr>
                              <a:rPr lang="en-US" b="1" i="1">
                                <a:latin typeface="Cambria Math" panose="02040503050406030204" pitchFamily="18" charset="0"/>
                                <a:ea typeface="Cambria Math" panose="02040503050406030204" pitchFamily="18" charset="0"/>
                              </a:rPr>
                            </m:ctrlPr>
                          </m:sSupPr>
                          <m:e>
                            <m:r>
                              <a:rPr lang="en-US" b="1" i="1" smtClean="0">
                                <a:latin typeface="Cambria Math" panose="02040503050406030204" pitchFamily="18" charset="0"/>
                                <a:ea typeface="Cambria Math" panose="02040503050406030204" pitchFamily="18" charset="0"/>
                              </a:rPr>
                              <m:t>𝟒</m:t>
                            </m:r>
                          </m:e>
                          <m:sup>
                            <m:r>
                              <a:rPr lang="vi-VN" b="1" i="1">
                                <a:latin typeface="Cambria Math" panose="02040503050406030204" pitchFamily="18" charset="0"/>
                                <a:ea typeface="Cambria Math" panose="02040503050406030204" pitchFamily="18" charset="0"/>
                              </a:rPr>
                              <m:t>𝟐</m:t>
                            </m:r>
                          </m:sup>
                        </m:sSup>
                        <m:r>
                          <a:rPr lang="vi-VN" b="1" i="1">
                            <a:latin typeface="Cambria Math" panose="02040503050406030204" pitchFamily="18" charset="0"/>
                            <a:ea typeface="Cambria Math" panose="02040503050406030204" pitchFamily="18" charset="0"/>
                          </a:rPr>
                          <m:t>+</m:t>
                        </m:r>
                        <m:sSup>
                          <m:sSupPr>
                            <m:ctrlPr>
                              <a:rPr lang="en-US" b="1" i="1">
                                <a:latin typeface="Cambria Math" panose="02040503050406030204" pitchFamily="18" charset="0"/>
                                <a:ea typeface="Cambria Math" panose="02040503050406030204" pitchFamily="18" charset="0"/>
                              </a:rPr>
                            </m:ctrlPr>
                          </m:sSupPr>
                          <m:e>
                            <m:r>
                              <a:rPr lang="en-US" b="1" i="1" smtClean="0">
                                <a:latin typeface="Cambria Math" panose="02040503050406030204" pitchFamily="18" charset="0"/>
                                <a:ea typeface="Cambria Math" panose="02040503050406030204" pitchFamily="18" charset="0"/>
                              </a:rPr>
                              <m:t>𝟐</m:t>
                            </m:r>
                          </m:e>
                          <m:sup>
                            <m:r>
                              <a:rPr lang="vi-VN" b="1" i="1">
                                <a:latin typeface="Cambria Math" panose="02040503050406030204" pitchFamily="18" charset="0"/>
                                <a:ea typeface="Cambria Math" panose="02040503050406030204" pitchFamily="18" charset="0"/>
                              </a:rPr>
                              <m:t>𝟐</m:t>
                            </m:r>
                          </m:sup>
                        </m:sSup>
                      </m:e>
                    </m:rad>
                    <m:r>
                      <a:rPr lang="vi-VN" b="1" i="1">
                        <a:latin typeface="Cambria Math" panose="02040503050406030204" pitchFamily="18" charset="0"/>
                        <a:ea typeface="Cambria Math" panose="02040503050406030204" pitchFamily="18" charset="0"/>
                      </a:rPr>
                      <m:t>=</m:t>
                    </m:r>
                    <m:r>
                      <a:rPr lang="vi-VN" b="1" i="1">
                        <a:latin typeface="Cambria Math" panose="02040503050406030204" pitchFamily="18" charset="0"/>
                        <a:ea typeface="Cambria Math" panose="02040503050406030204" pitchFamily="18" charset="0"/>
                      </a:rPr>
                      <m:t>𝟐</m:t>
                    </m:r>
                    <m:rad>
                      <m:radPr>
                        <m:degHide m:val="on"/>
                        <m:ctrlPr>
                          <a:rPr lang="en-US" b="1" i="1">
                            <a:latin typeface="Cambria Math" panose="02040503050406030204" pitchFamily="18" charset="0"/>
                            <a:ea typeface="Cambria Math" panose="02040503050406030204" pitchFamily="18" charset="0"/>
                          </a:rPr>
                        </m:ctrlPr>
                      </m:radPr>
                      <m:deg/>
                      <m:e>
                        <m:r>
                          <a:rPr lang="vi-VN" b="1" i="1">
                            <a:latin typeface="Cambria Math" panose="02040503050406030204" pitchFamily="18" charset="0"/>
                            <a:ea typeface="Cambria Math" panose="02040503050406030204" pitchFamily="18" charset="0"/>
                          </a:rPr>
                          <m:t>𝟓</m:t>
                        </m:r>
                      </m:e>
                    </m:rad>
                    <m:r>
                      <m:rPr>
                        <m:nor/>
                      </m:rPr>
                      <a:rPr lang="fr-FR" b="1">
                        <a:latin typeface="Tahoma" panose="020B0604030504040204" pitchFamily="34" charset="0"/>
                        <a:ea typeface="Tahoma" panose="020B0604030504040204" pitchFamily="34" charset="0"/>
                        <a:cs typeface="Tahoma" panose="020B0604030504040204" pitchFamily="34" charset="0"/>
                      </a:rPr>
                      <m:t>.</m:t>
                    </m:r>
                  </m:oMath>
                </a14:m>
                <a:endParaRPr lang="fr-FR"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1200"/>
                  </a:spcBef>
                  <a:buNone/>
                </a:pPr>
                <a14:m>
                  <m:oMath xmlns:m="http://schemas.openxmlformats.org/officeDocument/2006/math">
                    <m:r>
                      <a:rPr lang="en-US" b="1" i="1">
                        <a:latin typeface="Cambria Math" panose="02040503050406030204" pitchFamily="18" charset="0"/>
                        <a:ea typeface="Cambria Math" panose="02040503050406030204" pitchFamily="18" charset="0"/>
                      </a:rPr>
                      <m:t>⟹</m:t>
                    </m:r>
                  </m:oMath>
                </a14:m>
                <a:r>
                  <a:rPr lang="vi-VN"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vi-VN" b="1" i="1">
                        <a:latin typeface="Cambria Math" panose="02040503050406030204" pitchFamily="18" charset="0"/>
                        <a:ea typeface="Cambria Math" panose="02040503050406030204" pitchFamily="18" charset="0"/>
                      </a:rPr>
                      <m:t>𝑨𝑩</m:t>
                    </m:r>
                    <m:r>
                      <a:rPr lang="vi-VN"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𝑩𝑪</m:t>
                    </m:r>
                  </m:oMath>
                </a14:m>
                <a:r>
                  <a:rPr lang="fr-FR"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spcBef>
                    <a:spcPts val="1200"/>
                  </a:spcBef>
                  <a:buNone/>
                </a:pPr>
                <a:r>
                  <a:rPr lang="fr-FR" b="1">
                    <a:latin typeface="Tahoma" panose="020B0604030504040204" pitchFamily="34" charset="0"/>
                    <a:ea typeface="Tahoma" panose="020B0604030504040204" pitchFamily="34" charset="0"/>
                    <a:cs typeface="Tahoma" panose="020B0604030504040204" pitchFamily="34" charset="0"/>
                  </a:rPr>
                  <a:t>b) Hai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𝑨𝑩</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e>
                    </m:d>
                  </m:oMath>
                </a14:m>
                <a:r>
                  <a:rPr lang="fr-FR"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smtClean="0">
                            <a:latin typeface="Cambria Math" panose="02040503050406030204" pitchFamily="18" charset="0"/>
                            <a:ea typeface="Cambria Math" panose="02040503050406030204" pitchFamily="18" charset="0"/>
                          </a:rPr>
                          <m:t>𝑨𝑪</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𝟔</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𝟔</m:t>
                        </m:r>
                      </m:e>
                    </m:d>
                  </m:oMath>
                </a14:m>
                <a:r>
                  <a:rPr lang="fr-FR" b="1">
                    <a:latin typeface="Tahoma" panose="020B0604030504040204" pitchFamily="34" charset="0"/>
                    <a:ea typeface="Tahoma" panose="020B0604030504040204" pitchFamily="34" charset="0"/>
                    <a:cs typeface="Tahoma" panose="020B0604030504040204" pitchFamily="34" charset="0"/>
                  </a:rPr>
                  <a:t> không cùng phương (vì </a:t>
                </a:r>
                <a14:m>
                  <m:oMath xmlns:m="http://schemas.openxmlformats.org/officeDocument/2006/math">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𝟐</m:t>
                        </m:r>
                      </m:num>
                      <m:den>
                        <m:r>
                          <a:rPr lang="en-US" b="1" i="1" smtClean="0">
                            <a:latin typeface="Cambria Math" panose="02040503050406030204" pitchFamily="18" charset="0"/>
                            <a:ea typeface="Cambria Math" panose="02040503050406030204" pitchFamily="18" charset="0"/>
                          </a:rPr>
                          <m:t>𝟔</m:t>
                        </m:r>
                      </m:den>
                    </m:f>
                    <m:r>
                      <a:rPr lang="en-US" b="1" i="1">
                        <a:latin typeface="Cambria Math" panose="02040503050406030204" pitchFamily="18" charset="0"/>
                        <a:ea typeface="Cambria Math" panose="02040503050406030204" pitchFamily="18" charset="0"/>
                      </a:rPr>
                      <m:t>≠</m:t>
                    </m:r>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𝟒</m:t>
                        </m:r>
                      </m:num>
                      <m:den>
                        <m:r>
                          <a:rPr lang="en-US" b="1" i="1" smtClean="0">
                            <a:latin typeface="Cambria Math" panose="02040503050406030204" pitchFamily="18" charset="0"/>
                            <a:ea typeface="Cambria Math" panose="02040503050406030204" pitchFamily="18" charset="0"/>
                          </a:rPr>
                          <m:t>𝟔</m:t>
                        </m:r>
                      </m:den>
                    </m:f>
                  </m:oMath>
                </a14:m>
                <a:r>
                  <a:rPr lang="fr-FR"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spcBef>
                    <a:spcPts val="1200"/>
                  </a:spcBef>
                  <a:buNone/>
                </a:pPr>
                <a:r>
                  <a:rPr lang="fr-FR" b="1">
                    <a:latin typeface="Tahoma" panose="020B0604030504040204" pitchFamily="34" charset="0"/>
                    <a:ea typeface="Tahoma" panose="020B0604030504040204" pitchFamily="34" charset="0"/>
                    <a:cs typeface="Tahoma" panose="020B0604030504040204" pitchFamily="34" charset="0"/>
                  </a:rPr>
                  <a:t>Do đó </a:t>
                </a:r>
                <a14:m>
                  <m:oMath xmlns:m="http://schemas.openxmlformats.org/officeDocument/2006/math">
                    <m:r>
                      <a:rPr lang="en-US" b="1" i="1">
                        <a:latin typeface="Cambria Math" panose="02040503050406030204" pitchFamily="18" charset="0"/>
                        <a:ea typeface="Cambria Math" panose="020405030504060302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𝑪</m:t>
                    </m:r>
                  </m:oMath>
                </a14:m>
                <a:r>
                  <a:rPr lang="en-US" b="1">
                    <a:latin typeface="Tahoma" panose="020B0604030504040204" pitchFamily="34" charset="0"/>
                    <a:ea typeface="Tahoma" panose="020B0604030504040204" pitchFamily="34" charset="0"/>
                    <a:cs typeface="Tahoma" panose="020B0604030504040204" pitchFamily="34" charset="0"/>
                  </a:rPr>
                  <a:t> không thẳng hàng.</a:t>
                </a:r>
                <a:endParaRPr lang="fr-FR"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 name="Content Placeholder 2">
                <a:extLst>
                  <a:ext uri="{FF2B5EF4-FFF2-40B4-BE49-F238E27FC236}">
                    <a16:creationId xmlns:a16="http://schemas.microsoft.com/office/drawing/2014/main" id="{89433443-F7C6-4FAD-8BCF-22C0992B6D9C}"/>
                  </a:ext>
                </a:extLst>
              </p:cNvPr>
              <p:cNvSpPr txBox="1">
                <a:spLocks noRot="1" noChangeAspect="1" noMove="1" noResize="1" noEditPoints="1" noAdjustHandles="1" noChangeArrowheads="1" noChangeShapeType="1" noTextEdit="1"/>
              </p:cNvSpPr>
              <p:nvPr/>
            </p:nvSpPr>
            <p:spPr>
              <a:xfrm>
                <a:off x="13335000" y="2743201"/>
                <a:ext cx="10744200" cy="10744199"/>
              </a:xfrm>
              <a:prstGeom prst="rect">
                <a:avLst/>
              </a:prstGeom>
              <a:blipFill>
                <a:blip r:embed="rId4"/>
                <a:stretch>
                  <a:fillRect l="-2551" t="-793" b="-1926"/>
                </a:stretch>
              </a:blipFill>
              <a:ln>
                <a:solidFill>
                  <a:srgbClr val="00B0F0"/>
                </a:solidFill>
              </a:ln>
            </p:spPr>
            <p:txBody>
              <a:bodyPr/>
              <a:lstStyle/>
              <a:p>
                <a:r>
                  <a:rPr lang="en-US">
                    <a:noFill/>
                  </a:rPr>
                  <a:t> </a:t>
                </a:r>
              </a:p>
            </p:txBody>
          </p:sp>
        </mc:Fallback>
      </mc:AlternateContent>
      <p:sp>
        <p:nvSpPr>
          <p:cNvPr id="137" name="Rounded Rectangle 13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41" name="TextBox 14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7922010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1000"/>
                                        <p:tgtEl>
                                          <p:spTgt spid="99"/>
                                        </p:tgtEl>
                                      </p:cBhvr>
                                    </p:animEffect>
                                    <p:anim calcmode="lin" valueType="num">
                                      <p:cBhvr>
                                        <p:cTn id="8" dur="1000" fill="hold"/>
                                        <p:tgtEl>
                                          <p:spTgt spid="99"/>
                                        </p:tgtEl>
                                        <p:attrNameLst>
                                          <p:attrName>ppt_x</p:attrName>
                                        </p:attrNameLst>
                                      </p:cBhvr>
                                      <p:tavLst>
                                        <p:tav tm="0">
                                          <p:val>
                                            <p:strVal val="#ppt_x"/>
                                          </p:val>
                                        </p:tav>
                                        <p:tav tm="100000">
                                          <p:val>
                                            <p:strVal val="#ppt_x"/>
                                          </p:val>
                                        </p:tav>
                                      </p:tavLst>
                                    </p:anim>
                                    <p:anim calcmode="lin" valueType="num">
                                      <p:cBhvr>
                                        <p:cTn id="9"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9">
                                            <p:txEl>
                                              <p:pRg st="0" end="0"/>
                                            </p:txEl>
                                          </p:spTgt>
                                        </p:tgtEl>
                                        <p:attrNameLst>
                                          <p:attrName>style.visibility</p:attrName>
                                        </p:attrNameLst>
                                      </p:cBhvr>
                                      <p:to>
                                        <p:strVal val="visible"/>
                                      </p:to>
                                    </p:set>
                                    <p:animEffect transition="in" filter="fade">
                                      <p:cBhvr>
                                        <p:cTn id="14" dur="1000"/>
                                        <p:tgtEl>
                                          <p:spTgt spid="99">
                                            <p:txEl>
                                              <p:pRg st="0" end="0"/>
                                            </p:txEl>
                                          </p:spTgt>
                                        </p:tgtEl>
                                      </p:cBhvr>
                                    </p:animEffect>
                                    <p:anim calcmode="lin" valueType="num">
                                      <p:cBhvr>
                                        <p:cTn id="15" dur="1000" fill="hold"/>
                                        <p:tgtEl>
                                          <p:spTgt spid="9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9">
                                            <p:txEl>
                                              <p:pRg st="1" end="1"/>
                                            </p:txEl>
                                          </p:spTgt>
                                        </p:tgtEl>
                                        <p:attrNameLst>
                                          <p:attrName>style.visibility</p:attrName>
                                        </p:attrNameLst>
                                      </p:cBhvr>
                                      <p:to>
                                        <p:strVal val="visible"/>
                                      </p:to>
                                    </p:set>
                                    <p:animEffect transition="in" filter="fade">
                                      <p:cBhvr>
                                        <p:cTn id="21" dur="1000"/>
                                        <p:tgtEl>
                                          <p:spTgt spid="99">
                                            <p:txEl>
                                              <p:pRg st="1" end="1"/>
                                            </p:txEl>
                                          </p:spTgt>
                                        </p:tgtEl>
                                      </p:cBhvr>
                                    </p:animEffect>
                                    <p:anim calcmode="lin" valueType="num">
                                      <p:cBhvr>
                                        <p:cTn id="22" dur="1000" fill="hold"/>
                                        <p:tgtEl>
                                          <p:spTgt spid="9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9">
                                            <p:txEl>
                                              <p:pRg st="3" end="3"/>
                                            </p:txEl>
                                          </p:spTgt>
                                        </p:tgtEl>
                                        <p:attrNameLst>
                                          <p:attrName>style.visibility</p:attrName>
                                        </p:attrNameLst>
                                      </p:cBhvr>
                                      <p:to>
                                        <p:strVal val="visible"/>
                                      </p:to>
                                    </p:set>
                                    <p:animEffect transition="in" filter="fade">
                                      <p:cBhvr>
                                        <p:cTn id="28" dur="1000"/>
                                        <p:tgtEl>
                                          <p:spTgt spid="99">
                                            <p:txEl>
                                              <p:pRg st="3" end="3"/>
                                            </p:txEl>
                                          </p:spTgt>
                                        </p:tgtEl>
                                      </p:cBhvr>
                                    </p:animEffect>
                                    <p:anim calcmode="lin" valueType="num">
                                      <p:cBhvr>
                                        <p:cTn id="29" dur="1000" fill="hold"/>
                                        <p:tgtEl>
                                          <p:spTgt spid="9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9">
                                            <p:txEl>
                                              <p:pRg st="4" end="4"/>
                                            </p:txEl>
                                          </p:spTgt>
                                        </p:tgtEl>
                                        <p:attrNameLst>
                                          <p:attrName>style.visibility</p:attrName>
                                        </p:attrNameLst>
                                      </p:cBhvr>
                                      <p:to>
                                        <p:strVal val="visible"/>
                                      </p:to>
                                    </p:set>
                                    <p:animEffect transition="in" filter="fade">
                                      <p:cBhvr>
                                        <p:cTn id="35" dur="1000"/>
                                        <p:tgtEl>
                                          <p:spTgt spid="99">
                                            <p:txEl>
                                              <p:pRg st="4" end="4"/>
                                            </p:txEl>
                                          </p:spTgt>
                                        </p:tgtEl>
                                      </p:cBhvr>
                                    </p:animEffect>
                                    <p:anim calcmode="lin" valueType="num">
                                      <p:cBhvr>
                                        <p:cTn id="36" dur="1000" fill="hold"/>
                                        <p:tgtEl>
                                          <p:spTgt spid="99">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9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99">
                                            <p:txEl>
                                              <p:pRg st="5" end="5"/>
                                            </p:txEl>
                                          </p:spTgt>
                                        </p:tgtEl>
                                        <p:attrNameLst>
                                          <p:attrName>style.visibility</p:attrName>
                                        </p:attrNameLst>
                                      </p:cBhvr>
                                      <p:to>
                                        <p:strVal val="visible"/>
                                      </p:to>
                                    </p:set>
                                    <p:animEffect transition="in" filter="fade">
                                      <p:cBhvr>
                                        <p:cTn id="42" dur="1000"/>
                                        <p:tgtEl>
                                          <p:spTgt spid="99">
                                            <p:txEl>
                                              <p:pRg st="5" end="5"/>
                                            </p:txEl>
                                          </p:spTgt>
                                        </p:tgtEl>
                                      </p:cBhvr>
                                    </p:animEffect>
                                    <p:anim calcmode="lin" valueType="num">
                                      <p:cBhvr>
                                        <p:cTn id="43" dur="1000" fill="hold"/>
                                        <p:tgtEl>
                                          <p:spTgt spid="99">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9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99">
                                            <p:txEl>
                                              <p:pRg st="6" end="6"/>
                                            </p:txEl>
                                          </p:spTgt>
                                        </p:tgtEl>
                                        <p:attrNameLst>
                                          <p:attrName>style.visibility</p:attrName>
                                        </p:attrNameLst>
                                      </p:cBhvr>
                                      <p:to>
                                        <p:strVal val="visible"/>
                                      </p:to>
                                    </p:set>
                                    <p:animEffect transition="in" filter="fade">
                                      <p:cBhvr>
                                        <p:cTn id="49" dur="1000"/>
                                        <p:tgtEl>
                                          <p:spTgt spid="99">
                                            <p:txEl>
                                              <p:pRg st="6" end="6"/>
                                            </p:txEl>
                                          </p:spTgt>
                                        </p:tgtEl>
                                      </p:cBhvr>
                                    </p:animEffect>
                                    <p:anim calcmode="lin" valueType="num">
                                      <p:cBhvr>
                                        <p:cTn id="50" dur="1000" fill="hold"/>
                                        <p:tgtEl>
                                          <p:spTgt spid="99">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9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99">
                                            <p:txEl>
                                              <p:pRg st="7" end="7"/>
                                            </p:txEl>
                                          </p:spTgt>
                                        </p:tgtEl>
                                        <p:attrNameLst>
                                          <p:attrName>style.visibility</p:attrName>
                                        </p:attrNameLst>
                                      </p:cBhvr>
                                      <p:to>
                                        <p:strVal val="visible"/>
                                      </p:to>
                                    </p:set>
                                    <p:animEffect transition="in" filter="fade">
                                      <p:cBhvr>
                                        <p:cTn id="56" dur="1000"/>
                                        <p:tgtEl>
                                          <p:spTgt spid="99">
                                            <p:txEl>
                                              <p:pRg st="7" end="7"/>
                                            </p:txEl>
                                          </p:spTgt>
                                        </p:tgtEl>
                                      </p:cBhvr>
                                    </p:animEffect>
                                    <p:anim calcmode="lin" valueType="num">
                                      <p:cBhvr>
                                        <p:cTn id="57" dur="1000" fill="hold"/>
                                        <p:tgtEl>
                                          <p:spTgt spid="99">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9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fade">
                                      <p:cBhvr>
                                        <p:cTn id="63" dur="1000"/>
                                        <p:tgtEl>
                                          <p:spTgt spid="4"/>
                                        </p:tgtEl>
                                      </p:cBhvr>
                                    </p:animEffect>
                                    <p:anim calcmode="lin" valueType="num">
                                      <p:cBhvr>
                                        <p:cTn id="64" dur="1000" fill="hold"/>
                                        <p:tgtEl>
                                          <p:spTgt spid="4"/>
                                        </p:tgtEl>
                                        <p:attrNameLst>
                                          <p:attrName>ppt_x</p:attrName>
                                        </p:attrNameLst>
                                      </p:cBhvr>
                                      <p:tavLst>
                                        <p:tav tm="0">
                                          <p:val>
                                            <p:strVal val="#ppt_x"/>
                                          </p:val>
                                        </p:tav>
                                        <p:tav tm="100000">
                                          <p:val>
                                            <p:strVal val="#ppt_x"/>
                                          </p:val>
                                        </p:tav>
                                      </p:tavLst>
                                    </p:anim>
                                    <p:anim calcmode="lin" valueType="num">
                                      <p:cBhvr>
                                        <p:cTn id="6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4">
                                            <p:txEl>
                                              <p:pRg st="0" end="0"/>
                                            </p:txEl>
                                          </p:spTgt>
                                        </p:tgtEl>
                                        <p:attrNameLst>
                                          <p:attrName>style.visibility</p:attrName>
                                        </p:attrNameLst>
                                      </p:cBhvr>
                                      <p:to>
                                        <p:strVal val="visible"/>
                                      </p:to>
                                    </p:set>
                                    <p:animEffect transition="in" filter="fade">
                                      <p:cBhvr>
                                        <p:cTn id="70" dur="1000"/>
                                        <p:tgtEl>
                                          <p:spTgt spid="4">
                                            <p:txEl>
                                              <p:pRg st="0" end="0"/>
                                            </p:txEl>
                                          </p:spTgt>
                                        </p:tgtEl>
                                      </p:cBhvr>
                                    </p:animEffect>
                                    <p:anim calcmode="lin" valueType="num">
                                      <p:cBhvr>
                                        <p:cTn id="71"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4">
                                            <p:txEl>
                                              <p:pRg st="1" end="1"/>
                                            </p:txEl>
                                          </p:spTgt>
                                        </p:tgtEl>
                                        <p:attrNameLst>
                                          <p:attrName>style.visibility</p:attrName>
                                        </p:attrNameLst>
                                      </p:cBhvr>
                                      <p:to>
                                        <p:strVal val="visible"/>
                                      </p:to>
                                    </p:set>
                                    <p:animEffect transition="in" filter="fade">
                                      <p:cBhvr>
                                        <p:cTn id="77" dur="1000"/>
                                        <p:tgtEl>
                                          <p:spTgt spid="4">
                                            <p:txEl>
                                              <p:pRg st="1" end="1"/>
                                            </p:txEl>
                                          </p:spTgt>
                                        </p:tgtEl>
                                      </p:cBhvr>
                                    </p:animEffect>
                                    <p:anim calcmode="lin" valueType="num">
                                      <p:cBhvr>
                                        <p:cTn id="7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4">
                                            <p:txEl>
                                              <p:pRg st="2" end="2"/>
                                            </p:txEl>
                                          </p:spTgt>
                                        </p:tgtEl>
                                        <p:attrNameLst>
                                          <p:attrName>style.visibility</p:attrName>
                                        </p:attrNameLst>
                                      </p:cBhvr>
                                      <p:to>
                                        <p:strVal val="visible"/>
                                      </p:to>
                                    </p:set>
                                    <p:animEffect transition="in" filter="fade">
                                      <p:cBhvr>
                                        <p:cTn id="84" dur="1000"/>
                                        <p:tgtEl>
                                          <p:spTgt spid="4">
                                            <p:txEl>
                                              <p:pRg st="2" end="2"/>
                                            </p:txEl>
                                          </p:spTgt>
                                        </p:tgtEl>
                                      </p:cBhvr>
                                    </p:animEffect>
                                    <p:anim calcmode="lin" valueType="num">
                                      <p:cBhvr>
                                        <p:cTn id="8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4">
                                            <p:txEl>
                                              <p:pRg st="3" end="3"/>
                                            </p:txEl>
                                          </p:spTgt>
                                        </p:tgtEl>
                                        <p:attrNameLst>
                                          <p:attrName>style.visibility</p:attrName>
                                        </p:attrNameLst>
                                      </p:cBhvr>
                                      <p:to>
                                        <p:strVal val="visible"/>
                                      </p:to>
                                    </p:set>
                                    <p:animEffect transition="in" filter="fade">
                                      <p:cBhvr>
                                        <p:cTn id="91" dur="1000"/>
                                        <p:tgtEl>
                                          <p:spTgt spid="4">
                                            <p:txEl>
                                              <p:pRg st="3" end="3"/>
                                            </p:txEl>
                                          </p:spTgt>
                                        </p:tgtEl>
                                      </p:cBhvr>
                                    </p:animEffect>
                                    <p:anim calcmode="lin" valueType="num">
                                      <p:cBhvr>
                                        <p:cTn id="9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4">
                                            <p:txEl>
                                              <p:pRg st="4" end="4"/>
                                            </p:txEl>
                                          </p:spTgt>
                                        </p:tgtEl>
                                        <p:attrNameLst>
                                          <p:attrName>style.visibility</p:attrName>
                                        </p:attrNameLst>
                                      </p:cBhvr>
                                      <p:to>
                                        <p:strVal val="visible"/>
                                      </p:to>
                                    </p:set>
                                    <p:animEffect transition="in" filter="fade">
                                      <p:cBhvr>
                                        <p:cTn id="98" dur="1000"/>
                                        <p:tgtEl>
                                          <p:spTgt spid="4">
                                            <p:txEl>
                                              <p:pRg st="4" end="4"/>
                                            </p:txEl>
                                          </p:spTgt>
                                        </p:tgtEl>
                                      </p:cBhvr>
                                    </p:animEffect>
                                    <p:anim calcmode="lin" valueType="num">
                                      <p:cBhvr>
                                        <p:cTn id="9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5" end="5"/>
                                            </p:txEl>
                                          </p:spTgt>
                                        </p:tgtEl>
                                        <p:attrNameLst>
                                          <p:attrName>style.visibility</p:attrName>
                                        </p:attrNameLst>
                                      </p:cBhvr>
                                      <p:to>
                                        <p:strVal val="visible"/>
                                      </p:to>
                                    </p:set>
                                    <p:animEffect transition="in" filter="fade">
                                      <p:cBhvr>
                                        <p:cTn id="105" dur="1000"/>
                                        <p:tgtEl>
                                          <p:spTgt spid="4">
                                            <p:txEl>
                                              <p:pRg st="5" end="5"/>
                                            </p:txEl>
                                          </p:spTgt>
                                        </p:tgtEl>
                                      </p:cBhvr>
                                    </p:animEffect>
                                    <p:anim calcmode="lin" valueType="num">
                                      <p:cBhvr>
                                        <p:cTn id="10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nodeType="clickEffect">
                                  <p:stCondLst>
                                    <p:cond delay="0"/>
                                  </p:stCondLst>
                                  <p:childTnLst>
                                    <p:set>
                                      <p:cBhvr>
                                        <p:cTn id="111" dur="1" fill="hold">
                                          <p:stCondLst>
                                            <p:cond delay="0"/>
                                          </p:stCondLst>
                                        </p:cTn>
                                        <p:tgtEl>
                                          <p:spTgt spid="4">
                                            <p:txEl>
                                              <p:pRg st="6" end="6"/>
                                            </p:txEl>
                                          </p:spTgt>
                                        </p:tgtEl>
                                        <p:attrNameLst>
                                          <p:attrName>style.visibility</p:attrName>
                                        </p:attrNameLst>
                                      </p:cBhvr>
                                      <p:to>
                                        <p:strVal val="visible"/>
                                      </p:to>
                                    </p:set>
                                    <p:animEffect transition="in" filter="fade">
                                      <p:cBhvr>
                                        <p:cTn id="112" dur="1000"/>
                                        <p:tgtEl>
                                          <p:spTgt spid="4">
                                            <p:txEl>
                                              <p:pRg st="6" end="6"/>
                                            </p:txEl>
                                          </p:spTgt>
                                        </p:tgtEl>
                                      </p:cBhvr>
                                    </p:animEffect>
                                    <p:anim calcmode="lin" valueType="num">
                                      <p:cBhvr>
                                        <p:cTn id="11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1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4">
                                            <p:txEl>
                                              <p:pRg st="7" end="7"/>
                                            </p:txEl>
                                          </p:spTgt>
                                        </p:tgtEl>
                                        <p:attrNameLst>
                                          <p:attrName>style.visibility</p:attrName>
                                        </p:attrNameLst>
                                      </p:cBhvr>
                                      <p:to>
                                        <p:strVal val="visible"/>
                                      </p:to>
                                    </p:set>
                                    <p:animEffect transition="in" filter="fade">
                                      <p:cBhvr>
                                        <p:cTn id="119" dur="1000"/>
                                        <p:tgtEl>
                                          <p:spTgt spid="4">
                                            <p:txEl>
                                              <p:pRg st="7" end="7"/>
                                            </p:txEl>
                                          </p:spTgt>
                                        </p:tgtEl>
                                      </p:cBhvr>
                                    </p:animEffect>
                                    <p:anim calcmode="lin" valueType="num">
                                      <p:cBhvr>
                                        <p:cTn id="120"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21"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4">
                                            <p:txEl>
                                              <p:pRg st="8" end="8"/>
                                            </p:txEl>
                                          </p:spTgt>
                                        </p:tgtEl>
                                        <p:attrNameLst>
                                          <p:attrName>style.visibility</p:attrName>
                                        </p:attrNameLst>
                                      </p:cBhvr>
                                      <p:to>
                                        <p:strVal val="visible"/>
                                      </p:to>
                                    </p:set>
                                    <p:animEffect transition="in" filter="fade">
                                      <p:cBhvr>
                                        <p:cTn id="126" dur="1000"/>
                                        <p:tgtEl>
                                          <p:spTgt spid="4">
                                            <p:txEl>
                                              <p:pRg st="8" end="8"/>
                                            </p:txEl>
                                          </p:spTgt>
                                        </p:tgtEl>
                                      </p:cBhvr>
                                    </p:animEffect>
                                    <p:anim calcmode="lin" valueType="num">
                                      <p:cBhvr>
                                        <p:cTn id="127"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28"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nodeType="clickEffect">
                                  <p:stCondLst>
                                    <p:cond delay="0"/>
                                  </p:stCondLst>
                                  <p:childTnLst>
                                    <p:set>
                                      <p:cBhvr>
                                        <p:cTn id="132" dur="1" fill="hold">
                                          <p:stCondLst>
                                            <p:cond delay="0"/>
                                          </p:stCondLst>
                                        </p:cTn>
                                        <p:tgtEl>
                                          <p:spTgt spid="4">
                                            <p:txEl>
                                              <p:pRg st="9" end="9"/>
                                            </p:txEl>
                                          </p:spTgt>
                                        </p:tgtEl>
                                        <p:attrNameLst>
                                          <p:attrName>style.visibility</p:attrName>
                                        </p:attrNameLst>
                                      </p:cBhvr>
                                      <p:to>
                                        <p:strVal val="visible"/>
                                      </p:to>
                                    </p:set>
                                    <p:animEffect transition="in" filter="fade">
                                      <p:cBhvr>
                                        <p:cTn id="133" dur="1000"/>
                                        <p:tgtEl>
                                          <p:spTgt spid="4">
                                            <p:txEl>
                                              <p:pRg st="9" end="9"/>
                                            </p:txEl>
                                          </p:spTgt>
                                        </p:tgtEl>
                                      </p:cBhvr>
                                    </p:animEffect>
                                    <p:anim calcmode="lin" valueType="num">
                                      <p:cBhvr>
                                        <p:cTn id="134"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35"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04800" y="2743201"/>
                <a:ext cx="12649200" cy="107441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spcBef>
                    <a:spcPts val="1200"/>
                  </a:spcBef>
                  <a:buClr>
                    <a:srgbClr val="FF0000"/>
                  </a:buClr>
                  <a:buFont typeface="Wingdings" panose="05000000000000000000" pitchFamily="2" charset="2"/>
                  <a:buChar char="v"/>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Với hai điểm </a:t>
                </a:r>
                <a14:m>
                  <m:oMath xmlns:m="http://schemas.openxmlformats.org/officeDocument/2006/math">
                    <m:r>
                      <a:rPr lang="en-US" b="1" i="1">
                        <a:latin typeface="Cambria Math" panose="02040503050406030204" pitchFamily="18" charset="0"/>
                        <a:ea typeface="Cambria Math" panose="02040503050406030204" pitchFamily="18" charset="0"/>
                      </a:rPr>
                      <m:t>𝑴</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b="1" i="1">
                        <a:latin typeface="Cambria Math" panose="02040503050406030204" pitchFamily="18" charset="0"/>
                        <a:ea typeface="Cambria Math" panose="02040503050406030204" pitchFamily="18" charset="0"/>
                      </a:rPr>
                      <m:t>𝑵</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r>
                          <a:rPr lang="en-US" b="1" i="1">
                            <a:latin typeface="Cambria Math" panose="02040503050406030204" pitchFamily="18" charset="0"/>
                            <a:ea typeface="Cambria Math" panose="02040503050406030204" pitchFamily="18" charset="0"/>
                          </a:rPr>
                          <m:t>′</m:t>
                        </m:r>
                      </m:e>
                    </m:d>
                  </m:oMath>
                </a14:m>
                <a:r>
                  <a:rPr lang="en-US" b="1">
                    <a:latin typeface="Tahoma" panose="020B0604030504040204" pitchFamily="34" charset="0"/>
                    <a:ea typeface="Tahoma" panose="020B0604030504040204" pitchFamily="34" charset="0"/>
                    <a:cs typeface="Tahoma" panose="020B0604030504040204" pitchFamily="34" charset="0"/>
                  </a:rPr>
                  <a:t> thì </a:t>
                </a:r>
                <a14:m>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𝑴𝑵</m:t>
                        </m:r>
                      </m:e>
                    </m:acc>
                    <m:r>
                      <a:rPr lang="en-US" b="1" i="1">
                        <a:solidFill>
                          <a:srgbClr val="FF0000"/>
                        </a:solidFill>
                        <a:latin typeface="Cambria Math" panose="02040503050406030204" pitchFamily="18" charset="0"/>
                        <a:ea typeface="Cambria Math" panose="02040503050406030204" pitchFamily="18" charset="0"/>
                      </a:rPr>
                      <m:t>=</m:t>
                    </m:r>
                    <m:d>
                      <m:dPr>
                        <m:ctrlPr>
                          <a:rPr lang="en-US" b="1" i="1">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𝒚</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 và khoảng cách giữa hai điểm </a:t>
                </a:r>
                <a14:m>
                  <m:oMath xmlns:m="http://schemas.openxmlformats.org/officeDocument/2006/math">
                    <m:r>
                      <a:rPr lang="en-US" b="1" i="1">
                        <a:latin typeface="Cambria Math" panose="02040503050406030204" pitchFamily="18" charset="0"/>
                        <a:ea typeface="Cambria Math" panose="02040503050406030204" pitchFamily="18" charset="0"/>
                      </a:rPr>
                      <m:t>𝑴</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𝑵</m:t>
                    </m:r>
                  </m:oMath>
                </a14:m>
                <a:r>
                  <a:rPr lang="en-US" b="1">
                    <a:latin typeface="Tahoma" panose="020B0604030504040204" pitchFamily="34" charset="0"/>
                    <a:ea typeface="Tahoma" panose="020B0604030504040204" pitchFamily="34" charset="0"/>
                    <a:cs typeface="Tahoma" panose="020B0604030504040204" pitchFamily="34" charset="0"/>
                  </a:rPr>
                  <a:t> là</a:t>
                </a:r>
              </a:p>
              <a:p>
                <a:pPr marL="0" indent="0">
                  <a:lnSpc>
                    <a:spcPct val="100000"/>
                  </a:lnSpc>
                  <a:spcBef>
                    <a:spcPts val="1200"/>
                  </a:spcBef>
                  <a:buClr>
                    <a:srgbClr val="FF0000"/>
                  </a:buClr>
                  <a:buNone/>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ea typeface="Cambria Math" panose="02040503050406030204" pitchFamily="18" charset="0"/>
                        </a:rPr>
                        <m:t>𝑴𝑵</m:t>
                      </m:r>
                      <m:r>
                        <a:rPr lang="en-US" b="1" i="1" smtClean="0">
                          <a:solidFill>
                            <a:srgbClr val="FF0000"/>
                          </a:solidFill>
                          <a:latin typeface="Cambria Math" panose="02040503050406030204" pitchFamily="18" charset="0"/>
                          <a:ea typeface="Cambria Math" panose="02040503050406030204" pitchFamily="18" charset="0"/>
                        </a:rPr>
                        <m:t>=</m:t>
                      </m:r>
                      <m:d>
                        <m:dPr>
                          <m:begChr m:val="|"/>
                          <m:endChr m:val="|"/>
                          <m:ctrlPr>
                            <a:rPr lang="en-US" b="1" i="1">
                              <a:solidFill>
                                <a:srgbClr val="FF0000"/>
                              </a:solidFill>
                              <a:latin typeface="Cambria Math" panose="02040503050406030204" pitchFamily="18" charset="0"/>
                              <a:ea typeface="Cambria Math" panose="02040503050406030204" pitchFamily="18" charset="0"/>
                            </a:rPr>
                          </m:ctrlPr>
                        </m:dPr>
                        <m:e>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en-US" b="1" i="1">
                                  <a:solidFill>
                                    <a:srgbClr val="FF0000"/>
                                  </a:solidFill>
                                  <a:latin typeface="Cambria Math" panose="02040503050406030204" pitchFamily="18" charset="0"/>
                                  <a:ea typeface="Cambria Math" panose="02040503050406030204" pitchFamily="18" charset="0"/>
                                </a:rPr>
                                <m:t>𝑴𝑵</m:t>
                              </m:r>
                            </m:e>
                          </m:acc>
                        </m:e>
                      </m:d>
                      <m:r>
                        <a:rPr lang="en-US" b="1" i="1">
                          <a:solidFill>
                            <a:srgbClr val="FF0000"/>
                          </a:solidFill>
                          <a:latin typeface="Cambria Math" panose="02040503050406030204" pitchFamily="18" charset="0"/>
                          <a:ea typeface="Cambria Math" panose="02040503050406030204" pitchFamily="18" charset="0"/>
                        </a:rPr>
                        <m:t>=</m:t>
                      </m:r>
                      <m:rad>
                        <m:radPr>
                          <m:degHide m:val="on"/>
                          <m:ctrlPr>
                            <a:rPr lang="en-US" b="1" i="1">
                              <a:solidFill>
                                <a:srgbClr val="FF0000"/>
                              </a:solidFill>
                              <a:latin typeface="Cambria Math" panose="02040503050406030204" pitchFamily="18" charset="0"/>
                              <a:ea typeface="Cambria Math" panose="02040503050406030204" pitchFamily="18" charset="0"/>
                            </a:rPr>
                          </m:ctrlPr>
                        </m:radPr>
                        <m:deg/>
                        <m:e>
                          <m:sSup>
                            <m:sSupPr>
                              <m:ctrlPr>
                                <a:rPr lang="en-US" b="1" i="1">
                                  <a:solidFill>
                                    <a:srgbClr val="FF0000"/>
                                  </a:solidFill>
                                  <a:latin typeface="Cambria Math" panose="02040503050406030204" pitchFamily="18" charset="0"/>
                                  <a:ea typeface="Cambria Math" panose="02040503050406030204" pitchFamily="18" charset="0"/>
                                </a:rPr>
                              </m:ctrlPr>
                            </m:sSupPr>
                            <m:e>
                              <m:d>
                                <m:dPr>
                                  <m:ctrlPr>
                                    <a:rPr lang="en-US" b="1" i="1">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𝒙</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𝒙</m:t>
                                  </m:r>
                                </m:e>
                              </m:d>
                            </m:e>
                            <m:sup>
                              <m:r>
                                <a:rPr lang="en-US" b="1" i="1">
                                  <a:solidFill>
                                    <a:srgbClr val="FF0000"/>
                                  </a:solidFill>
                                  <a:latin typeface="Cambria Math" panose="02040503050406030204" pitchFamily="18" charset="0"/>
                                  <a:ea typeface="Cambria Math" panose="02040503050406030204" pitchFamily="18" charset="0"/>
                                </a:rPr>
                                <m:t>𝟐</m:t>
                              </m:r>
                            </m:sup>
                          </m:sSup>
                          <m:r>
                            <a:rPr lang="en-US" b="1" i="1">
                              <a:solidFill>
                                <a:srgbClr val="FF0000"/>
                              </a:solidFill>
                              <a:latin typeface="Cambria Math" panose="02040503050406030204" pitchFamily="18" charset="0"/>
                              <a:ea typeface="Cambria Math" panose="02040503050406030204" pitchFamily="18" charset="0"/>
                            </a:rPr>
                            <m:t>+</m:t>
                          </m:r>
                          <m:sSup>
                            <m:sSupPr>
                              <m:ctrlPr>
                                <a:rPr lang="en-US" b="1" i="1">
                                  <a:solidFill>
                                    <a:srgbClr val="FF0000"/>
                                  </a:solidFill>
                                  <a:latin typeface="Cambria Math" panose="02040503050406030204" pitchFamily="18" charset="0"/>
                                  <a:ea typeface="Cambria Math" panose="02040503050406030204" pitchFamily="18" charset="0"/>
                                </a:rPr>
                              </m:ctrlPr>
                            </m:sSupPr>
                            <m:e>
                              <m:d>
                                <m:dPr>
                                  <m:ctrlPr>
                                    <a:rPr lang="en-US" b="1" i="1">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𝒚</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𝒚</m:t>
                                  </m:r>
                                </m:e>
                              </m:d>
                            </m:e>
                            <m:sup>
                              <m:r>
                                <a:rPr lang="en-US" b="1" i="1">
                                  <a:solidFill>
                                    <a:srgbClr val="FF0000"/>
                                  </a:solidFill>
                                  <a:latin typeface="Cambria Math" panose="02040503050406030204" pitchFamily="18" charset="0"/>
                                  <a:ea typeface="Cambria Math" panose="02040503050406030204" pitchFamily="18" charset="0"/>
                                </a:rPr>
                                <m:t>𝟐</m:t>
                              </m:r>
                            </m:sup>
                          </m:sSup>
                        </m:e>
                      </m:rad>
                      <m:r>
                        <a:rPr lang="en-US" b="1" i="1">
                          <a:solidFill>
                            <a:srgbClr val="FF0000"/>
                          </a:solidFill>
                          <a:latin typeface="Cambria Math" panose="02040503050406030204" pitchFamily="18" charset="0"/>
                          <a:ea typeface="Cambria Math" panose="02040503050406030204" pitchFamily="18" charset="0"/>
                        </a:rPr>
                        <m:t>.</m:t>
                      </m:r>
                    </m:oMath>
                  </m:oMathPara>
                </a14:m>
                <a:endParaRPr lang="en-US" b="1">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1200"/>
                  </a:spcBef>
                  <a:buClr>
                    <a:srgbClr val="FF0000"/>
                  </a:buClr>
                  <a:buNone/>
                </a:pPr>
                <a:endParaRPr lang="en-US" b="1">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1200"/>
                  </a:spcBef>
                  <a:buNone/>
                </a:pPr>
                <a:r>
                  <a:rPr lang="en-US" b="1">
                    <a:solidFill>
                      <a:srgbClr val="FF0000"/>
                    </a:solidFill>
                    <a:latin typeface="Tahoma" panose="020B0604030504040204" pitchFamily="34" charset="0"/>
                    <a:ea typeface="Tahoma" panose="020B0604030504040204" pitchFamily="34" charset="0"/>
                    <a:cs typeface="Tahoma" panose="020B0604030504040204" pitchFamily="34" charset="0"/>
                    <a:sym typeface="Wingdings"/>
                  </a:rPr>
                  <a:t></a:t>
                </a:r>
                <a:r>
                  <a:rPr lang="en-US" b="1">
                    <a:solidFill>
                      <a:srgbClr val="FFFF00"/>
                    </a:solidFill>
                    <a:latin typeface="Tahoma" panose="020B0604030504040204" pitchFamily="34" charset="0"/>
                    <a:ea typeface="Tahoma" panose="020B0604030504040204" pitchFamily="34" charset="0"/>
                    <a:cs typeface="Tahoma" panose="020B0604030504040204" pitchFamily="34" charset="0"/>
                    <a:sym typeface="Wingdings"/>
                  </a:rPr>
                  <a:t> </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VD3: </a:t>
                </a:r>
                <a:r>
                  <a:rPr lang="en-US" b="1">
                    <a:latin typeface="Tahoma" panose="020B0604030504040204" pitchFamily="34" charset="0"/>
                    <a:ea typeface="Tahoma" panose="020B0604030504040204" pitchFamily="34" charset="0"/>
                    <a:cs typeface="Tahoma" panose="020B0604030504040204" pitchFamily="34" charset="0"/>
                  </a:rPr>
                  <a:t>Trong mặt phẳng tọa độ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a:latin typeface="Tahoma" panose="020B0604030504040204" pitchFamily="34" charset="0"/>
                    <a:ea typeface="Tahoma" panose="020B0604030504040204" pitchFamily="34" charset="0"/>
                    <a:cs typeface="Tahoma" panose="020B0604030504040204" pitchFamily="34" charset="0"/>
                  </a:rPr>
                  <a:t>, cho ba điểm </a:t>
                </a:r>
                <a14:m>
                  <m:oMath xmlns:m="http://schemas.openxmlformats.org/officeDocument/2006/math">
                    <m:r>
                      <a:rPr lang="en-US" b="1" i="1">
                        <a:latin typeface="Cambria Math" panose="02040503050406030204" pitchFamily="18" charset="0"/>
                        <a:ea typeface="Cambria Math" panose="02040503050406030204" pitchFamily="18" charset="0"/>
                      </a:rPr>
                      <m:t>𝑨</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𝟏</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𝟑</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𝟐</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𝑪</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𝟕</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𝟒</m:t>
                        </m:r>
                      </m:e>
                    </m:d>
                  </m:oMath>
                </a14:m>
                <a:r>
                  <a:rPr lang="en-US" b="1">
                    <a:latin typeface="Tahoma" panose="020B0604030504040204" pitchFamily="34" charset="0"/>
                    <a:ea typeface="Tahoma" panose="020B0604030504040204" pitchFamily="34" charset="0"/>
                    <a:cs typeface="Tahoma" panose="020B0604030504040204" pitchFamily="34" charset="0"/>
                  </a:rPr>
                  <a:t>.</a:t>
                </a:r>
              </a:p>
              <a:p>
                <a:pPr marL="914400" indent="-914400">
                  <a:lnSpc>
                    <a:spcPct val="100000"/>
                  </a:lnSpc>
                  <a:spcBef>
                    <a:spcPts val="1200"/>
                  </a:spcBef>
                  <a:buAutoNum type="alphaLcParenR"/>
                </a:pPr>
                <a:r>
                  <a:rPr lang="en-US" b="1">
                    <a:latin typeface="Tahoma" panose="020B0604030504040204" pitchFamily="34" charset="0"/>
                    <a:ea typeface="Tahoma" panose="020B0604030504040204" pitchFamily="34" charset="0"/>
                    <a:cs typeface="Tahoma" panose="020B0604030504040204" pitchFamily="34" charset="0"/>
                  </a:rPr>
                  <a:t>Tìm tọa độ của các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𝑨𝑩</m:t>
                        </m:r>
                      </m:e>
                    </m:acc>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𝑩𝑪</m:t>
                        </m:r>
                      </m:e>
                    </m:acc>
                  </m:oMath>
                </a14:m>
                <a:r>
                  <a:rPr lang="en-US" b="1">
                    <a:latin typeface="Tahoma" panose="020B0604030504040204" pitchFamily="34" charset="0"/>
                    <a:ea typeface="Tahoma" panose="020B0604030504040204" pitchFamily="34" charset="0"/>
                    <a:cs typeface="Tahoma" panose="020B0604030504040204" pitchFamily="34" charset="0"/>
                  </a:rPr>
                  <a:t>. </a:t>
                </a:r>
              </a:p>
              <a:p>
                <a:pPr marL="0" indent="0">
                  <a:lnSpc>
                    <a:spcPct val="100000"/>
                  </a:lnSpc>
                  <a:spcBef>
                    <a:spcPts val="1200"/>
                  </a:spcBef>
                  <a:buNone/>
                </a:pPr>
                <a:r>
                  <a:rPr lang="en-US" b="1">
                    <a:latin typeface="Tahoma" panose="020B0604030504040204" pitchFamily="34" charset="0"/>
                    <a:ea typeface="Tahoma" panose="020B0604030504040204" pitchFamily="34" charset="0"/>
                    <a:cs typeface="Tahoma" panose="020B0604030504040204" pitchFamily="34" charset="0"/>
                  </a:rPr>
                  <a:t>So sánh các khoảng cách từ </a:t>
                </a:r>
                <a14:m>
                  <m:oMath xmlns:m="http://schemas.openxmlformats.org/officeDocument/2006/math">
                    <m:r>
                      <a:rPr lang="en-US" b="1" i="1">
                        <a:latin typeface="Cambria Math" panose="02040503050406030204" pitchFamily="18" charset="0"/>
                        <a:ea typeface="Cambria Math" panose="02040503050406030204" pitchFamily="18" charset="0"/>
                      </a:rPr>
                      <m:t>𝑩</m:t>
                    </m:r>
                  </m:oMath>
                </a14:m>
                <a:r>
                  <a:rPr lang="en-US" b="1">
                    <a:latin typeface="Tahoma" panose="020B0604030504040204" pitchFamily="34" charset="0"/>
                    <a:ea typeface="Tahoma" panose="020B0604030504040204" pitchFamily="34" charset="0"/>
                    <a:cs typeface="Tahoma" panose="020B0604030504040204" pitchFamily="34" charset="0"/>
                  </a:rPr>
                  <a:t> tới </a:t>
                </a:r>
                <a14:m>
                  <m:oMath xmlns:m="http://schemas.openxmlformats.org/officeDocument/2006/math">
                    <m:r>
                      <a:rPr lang="en-US" b="1" i="1">
                        <a:latin typeface="Cambria Math" panose="02040503050406030204" pitchFamily="18" charset="0"/>
                        <a:ea typeface="Cambria Math" panose="020405030504060302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b="1" i="1">
                        <a:latin typeface="Cambria Math" panose="02040503050406030204" pitchFamily="18" charset="0"/>
                        <a:ea typeface="Cambria Math" panose="02040503050406030204" pitchFamily="18" charset="0"/>
                      </a:rPr>
                      <m:t>𝑪</m:t>
                    </m:r>
                  </m:oMath>
                </a14:m>
                <a:r>
                  <a:rPr lang="en-US" b="1">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spcBef>
                    <a:spcPts val="1200"/>
                  </a:spcBef>
                  <a:buNone/>
                </a:pPr>
                <a:r>
                  <a:rPr lang="en-US" b="1">
                    <a:latin typeface="Tahoma" panose="020B0604030504040204" pitchFamily="34" charset="0"/>
                    <a:ea typeface="Tahoma" panose="020B0604030504040204" pitchFamily="34" charset="0"/>
                    <a:cs typeface="Tahoma" panose="020B0604030504040204" pitchFamily="34" charset="0"/>
                  </a:rPr>
                  <a:t>b) Ba điểm </a:t>
                </a:r>
                <a14:m>
                  <m:oMath xmlns:m="http://schemas.openxmlformats.org/officeDocument/2006/math">
                    <m:r>
                      <a:rPr lang="en-US" b="1" i="1">
                        <a:latin typeface="Cambria Math" panose="02040503050406030204" pitchFamily="18" charset="0"/>
                        <a:ea typeface="Cambria Math" panose="020405030504060302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𝑪</m:t>
                    </m:r>
                  </m:oMath>
                </a14:m>
                <a:r>
                  <a:rPr lang="en-US" b="1">
                    <a:latin typeface="Tahoma" panose="020B0604030504040204" pitchFamily="34" charset="0"/>
                    <a:ea typeface="Tahoma" panose="020B0604030504040204" pitchFamily="34" charset="0"/>
                    <a:cs typeface="Tahoma" panose="020B0604030504040204" pitchFamily="34" charset="0"/>
                  </a:rPr>
                  <a:t> thẳng hàng không?</a:t>
                </a:r>
              </a:p>
              <a:p>
                <a:pPr marL="0" indent="0">
                  <a:lnSpc>
                    <a:spcPct val="100000"/>
                  </a:lnSpc>
                  <a:spcBef>
                    <a:spcPts val="1200"/>
                  </a:spcBef>
                  <a:buNone/>
                </a:pPr>
                <a:r>
                  <a:rPr lang="en-US" b="1">
                    <a:latin typeface="Tahoma" panose="020B0604030504040204" pitchFamily="34" charset="0"/>
                    <a:ea typeface="Tahoma" panose="020B0604030504040204" pitchFamily="34" charset="0"/>
                    <a:cs typeface="Tahoma" panose="020B0604030504040204" pitchFamily="34" charset="0"/>
                  </a:rPr>
                  <a:t>c) Tìm điểm </a:t>
                </a:r>
                <a14:m>
                  <m:oMath xmlns:m="http://schemas.openxmlformats.org/officeDocument/2006/math">
                    <m:r>
                      <a:rPr lang="en-US" b="1" i="1">
                        <a:latin typeface="Cambria Math" panose="02040503050406030204" pitchFamily="18" charset="0"/>
                        <a:ea typeface="Cambria Math" panose="02040503050406030204" pitchFamily="18" charset="0"/>
                      </a:rPr>
                      <m:t>𝑫</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 để </a:t>
                </a:r>
                <a14:m>
                  <m:oMath xmlns:m="http://schemas.openxmlformats.org/officeDocument/2006/math">
                    <m:r>
                      <a:rPr lang="en-US" b="1" i="1">
                        <a:latin typeface="Cambria Math" panose="02040503050406030204" pitchFamily="18" charset="0"/>
                        <a:ea typeface="Cambria Math" panose="02040503050406030204" pitchFamily="18" charset="0"/>
                      </a:rPr>
                      <m:t>𝑨𝑩𝑪𝑫</m:t>
                    </m:r>
                  </m:oMath>
                </a14:m>
                <a:r>
                  <a:rPr lang="en-US" b="1">
                    <a:latin typeface="Tahoma" panose="020B0604030504040204" pitchFamily="34" charset="0"/>
                    <a:ea typeface="Tahoma" panose="020B0604030504040204" pitchFamily="34" charset="0"/>
                    <a:cs typeface="Tahoma" panose="020B0604030504040204" pitchFamily="34" charset="0"/>
                  </a:rPr>
                  <a:t> là một hình thoi.</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04800" y="2743201"/>
                <a:ext cx="12649200" cy="10744199"/>
              </a:xfrm>
              <a:prstGeom prst="rect">
                <a:avLst/>
              </a:prstGeom>
              <a:blipFill>
                <a:blip r:embed="rId3"/>
                <a:stretch>
                  <a:fillRect l="-2167" t="-850" r="-1107"/>
                </a:stretch>
              </a:blipFill>
              <a:ln>
                <a:solidFill>
                  <a:srgbClr val="00B0F0"/>
                </a:solidFill>
              </a:ln>
            </p:spPr>
            <p:txBody>
              <a:bodyPr/>
              <a:lstStyle/>
              <a:p>
                <a:r>
                  <a:rPr lang="en-US">
                    <a:noFill/>
                  </a:rPr>
                  <a:t> </a:t>
                </a:r>
              </a:p>
            </p:txBody>
          </p:sp>
        </mc:Fallback>
      </mc:AlternateContent>
      <p:sp>
        <p:nvSpPr>
          <p:cNvPr id="5" name="Title 1">
            <a:extLst>
              <a:ext uri="{FF2B5EF4-FFF2-40B4-BE49-F238E27FC236}">
                <a16:creationId xmlns:a16="http://schemas.microsoft.com/office/drawing/2014/main" id="{91EFB9E1-C2C8-4179-962F-C0CDC30C73C0}"/>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9433443-F7C6-4FAD-8BCF-22C0992B6D9C}"/>
                  </a:ext>
                </a:extLst>
              </p:cNvPr>
              <p:cNvSpPr txBox="1">
                <a:spLocks/>
              </p:cNvSpPr>
              <p:nvPr/>
            </p:nvSpPr>
            <p:spPr>
              <a:xfrm>
                <a:off x="13335000" y="2743201"/>
                <a:ext cx="10744200" cy="107441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0000"/>
                  </a:lnSpc>
                  <a:spcBef>
                    <a:spcPts val="1200"/>
                  </a:spcBef>
                  <a:buClr>
                    <a:srgbClr val="FF0000"/>
                  </a:buClr>
                  <a:buFont typeface="Wingdings" panose="05000000000000000000" pitchFamily="2" charset="2"/>
                  <a:buChar char="Ø"/>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Hướng dẫn:</a:t>
                </a:r>
              </a:p>
              <a:p>
                <a:pPr marL="0" indent="0">
                  <a:lnSpc>
                    <a:spcPct val="100000"/>
                  </a:lnSpc>
                  <a:spcBef>
                    <a:spcPts val="1200"/>
                  </a:spcBef>
                  <a:buNone/>
                </a:pPr>
                <a:r>
                  <a:rPr lang="fr-FR" b="1">
                    <a:latin typeface="Tahoma" panose="020B0604030504040204" pitchFamily="34" charset="0"/>
                    <a:ea typeface="Tahoma" panose="020B0604030504040204" pitchFamily="34" charset="0"/>
                    <a:cs typeface="Tahoma" panose="020B0604030504040204" pitchFamily="34" charset="0"/>
                  </a:rPr>
                  <a:t>c) </a:t>
                </a:r>
              </a:p>
              <a:p>
                <a:pPr marL="0" indent="0">
                  <a:lnSpc>
                    <a:spcPct val="100000"/>
                  </a:lnSpc>
                  <a:spcBef>
                    <a:spcPts val="1200"/>
                  </a:spcBef>
                  <a:buNone/>
                </a:pPr>
                <a:r>
                  <a:rPr lang="en-US" b="1">
                    <a:solidFill>
                      <a:schemeClr val="tx1"/>
                    </a:solidFill>
                    <a:latin typeface="Tahoma" panose="020B0604030504040204" pitchFamily="34" charset="0"/>
                    <a:ea typeface="Tahoma" panose="020B0604030504040204" pitchFamily="34" charset="0"/>
                    <a:cs typeface="Tahoma" panose="020B0604030504040204" pitchFamily="34" charset="0"/>
                  </a:rPr>
                  <a:t>Các điểm </a:t>
                </a:r>
                <a14:m>
                  <m:oMath xmlns:m="http://schemas.openxmlformats.org/officeDocument/2006/math">
                    <m:r>
                      <a:rPr lang="vi-VN" b="1" i="1">
                        <a:solidFill>
                          <a:schemeClr val="tx1"/>
                        </a:solidFill>
                        <a:latin typeface="Cambria Math" panose="02040503050406030204" pitchFamily="18" charset="0"/>
                        <a:ea typeface="Cambria Math" panose="02040503050406030204" pitchFamily="18" charset="0"/>
                      </a:rPr>
                      <m:t>𝑨</m:t>
                    </m:r>
                    <m:r>
                      <a:rPr lang="vi-VN" b="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𝑩</m:t>
                    </m:r>
                    <m:r>
                      <a:rPr lang="vi-VN" b="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𝑪</m:t>
                    </m:r>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không thẳng hàng và </a:t>
                </a:r>
                <a14:m>
                  <m:oMath xmlns:m="http://schemas.openxmlformats.org/officeDocument/2006/math">
                    <m:r>
                      <a:rPr lang="vi-VN" b="1" i="1">
                        <a:latin typeface="Cambria Math" panose="02040503050406030204" pitchFamily="18" charset="0"/>
                        <a:ea typeface="Cambria Math" panose="02040503050406030204" pitchFamily="18" charset="0"/>
                      </a:rPr>
                      <m:t>𝑩</m:t>
                    </m:r>
                    <m:r>
                      <a:rPr lang="en-US" b="1" i="1" smtClean="0">
                        <a:latin typeface="Cambria Math" panose="02040503050406030204" pitchFamily="18" charset="0"/>
                        <a:ea typeface="Cambria Math" panose="02040503050406030204" pitchFamily="18" charset="0"/>
                      </a:rPr>
                      <m:t>𝑨</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𝑩𝑪</m:t>
                    </m:r>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nên </a:t>
                </a:r>
                <a14:m>
                  <m:oMath xmlns:m="http://schemas.openxmlformats.org/officeDocument/2006/math">
                    <m:r>
                      <a:rPr lang="vi-VN" b="1" i="1">
                        <a:solidFill>
                          <a:schemeClr val="tx1"/>
                        </a:solidFill>
                        <a:latin typeface="Cambria Math" panose="02040503050406030204" pitchFamily="18" charset="0"/>
                        <a:ea typeface="Cambria Math" panose="02040503050406030204" pitchFamily="18" charset="0"/>
                      </a:rPr>
                      <m:t>𝑨𝑩𝑪𝑫</m:t>
                    </m:r>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là một hình </a:t>
                </a:r>
                <a:r>
                  <a:rPr lang="en-US" b="1">
                    <a:latin typeface="Tahoma" panose="020B0604030504040204" pitchFamily="34" charset="0"/>
                    <a:ea typeface="Tahoma" panose="020B0604030504040204" pitchFamily="34" charset="0"/>
                    <a:cs typeface="Tahoma" panose="020B0604030504040204" pitchFamily="34" charset="0"/>
                  </a:rPr>
                  <a:t>thoi </a:t>
                </a:r>
                <a14:m>
                  <m:oMath xmlns:m="http://schemas.openxmlformats.org/officeDocument/2006/math">
                    <m:r>
                      <a:rPr lang="vi-VN" b="1" i="1">
                        <a:latin typeface="Cambria Math" panose="02040503050406030204" pitchFamily="18" charset="0"/>
                        <a:ea typeface="Cambria Math" panose="02040503050406030204" pitchFamily="18" charset="0"/>
                      </a:rPr>
                      <m:t>⇔</m:t>
                    </m:r>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smtClean="0">
                            <a:solidFill>
                              <a:srgbClr val="FF0000"/>
                            </a:solidFill>
                            <a:latin typeface="Cambria Math" panose="02040503050406030204" pitchFamily="18" charset="0"/>
                            <a:ea typeface="Cambria Math" panose="02040503050406030204" pitchFamily="18" charset="0"/>
                          </a:rPr>
                        </m:ctrlPr>
                      </m:accPr>
                      <m:e>
                        <m:r>
                          <a:rPr lang="vi-VN" b="1" i="1">
                            <a:solidFill>
                              <a:srgbClr val="FF0000"/>
                            </a:solidFill>
                            <a:latin typeface="Cambria Math" panose="02040503050406030204" pitchFamily="18" charset="0"/>
                            <a:ea typeface="Cambria Math" panose="02040503050406030204" pitchFamily="18" charset="0"/>
                          </a:rPr>
                          <m:t>𝑨𝑫</m:t>
                        </m:r>
                      </m:e>
                    </m:acc>
                    <m:r>
                      <a:rPr lang="vi-VN" b="1" i="1">
                        <a:solidFill>
                          <a:srgbClr val="FF0000"/>
                        </a:solidFill>
                        <a:latin typeface="Cambria Math" panose="02040503050406030204" pitchFamily="18" charset="0"/>
                        <a:ea typeface="Cambria Math" panose="02040503050406030204" pitchFamily="18" charset="0"/>
                      </a:rPr>
                      <m:t>=</m:t>
                    </m:r>
                    <m:acc>
                      <m:accPr>
                        <m:chr m:val="⃗"/>
                        <m:ctrlPr>
                          <a:rPr lang="en-US" b="1" i="1">
                            <a:solidFill>
                              <a:srgbClr val="FF0000"/>
                            </a:solidFill>
                            <a:latin typeface="Cambria Math" panose="02040503050406030204" pitchFamily="18" charset="0"/>
                            <a:ea typeface="Cambria Math" panose="02040503050406030204" pitchFamily="18" charset="0"/>
                          </a:rPr>
                        </m:ctrlPr>
                      </m:accPr>
                      <m:e>
                        <m:r>
                          <a:rPr lang="vi-VN" b="1" i="1">
                            <a:solidFill>
                              <a:srgbClr val="FF0000"/>
                            </a:solidFill>
                            <a:latin typeface="Cambria Math" panose="02040503050406030204" pitchFamily="18" charset="0"/>
                            <a:ea typeface="Cambria Math" panose="02040503050406030204" pitchFamily="18" charset="0"/>
                          </a:rPr>
                          <m:t>𝑩𝑪</m:t>
                        </m:r>
                      </m:e>
                    </m:acc>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spcBef>
                    <a:spcPts val="1200"/>
                  </a:spcBef>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1200"/>
                  </a:spcBef>
                  <a:buNone/>
                </a:pPr>
                <a:endParaRPr lang="en-US" b="1">
                  <a:solidFill>
                    <a:schemeClr val="tx1"/>
                  </a:solidFill>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spcBef>
                    <a:spcPts val="1200"/>
                  </a:spcBef>
                  <a:buNone/>
                </a:pPr>
                <a:endParaRPr lang="en-US" b="1">
                  <a:solidFill>
                    <a:schemeClr val="tx1"/>
                  </a:solidFill>
                  <a:latin typeface="Tahoma" panose="020B0604030504040204" pitchFamily="34" charset="0"/>
                  <a:ea typeface="Tahoma" panose="020B0604030504040204" pitchFamily="34" charset="0"/>
                  <a:cs typeface="Tahoma" panose="020B0604030504040204" pitchFamily="34" charset="0"/>
                </a:endParaRPr>
              </a:p>
              <a:p>
                <a:pPr>
                  <a:spcAft>
                    <a:spcPts val="0"/>
                  </a:spcAft>
                </a:pPr>
                <a14:m>
                  <m:oMath xmlns:m="http://schemas.openxmlformats.org/officeDocument/2006/math">
                    <m:acc>
                      <m:accPr>
                        <m:chr m:val="⃗"/>
                        <m:ctrlPr>
                          <a:rPr lang="en-US" b="1" i="1">
                            <a:solidFill>
                              <a:schemeClr val="tx1"/>
                            </a:solidFill>
                            <a:latin typeface="Cambria Math" panose="02040503050406030204" pitchFamily="18" charset="0"/>
                            <a:ea typeface="Cambria Math" panose="02040503050406030204" pitchFamily="18" charset="0"/>
                          </a:rPr>
                        </m:ctrlPr>
                      </m:accPr>
                      <m:e>
                        <m:r>
                          <a:rPr lang="vi-VN" b="1" i="1">
                            <a:solidFill>
                              <a:schemeClr val="tx1"/>
                            </a:solidFill>
                            <a:latin typeface="Cambria Math" panose="02040503050406030204" pitchFamily="18" charset="0"/>
                            <a:ea typeface="Cambria Math" panose="02040503050406030204" pitchFamily="18" charset="0"/>
                          </a:rPr>
                          <m:t>𝑨𝑫</m:t>
                        </m:r>
                      </m:e>
                    </m:acc>
                    <m:r>
                      <a:rPr lang="vi-VN" b="1" i="1">
                        <a:solidFill>
                          <a:schemeClr val="tx1"/>
                        </a:solidFill>
                        <a:latin typeface="Cambria Math" panose="02040503050406030204" pitchFamily="18" charset="0"/>
                        <a:ea typeface="Cambria Math" panose="02040503050406030204" pitchFamily="18" charset="0"/>
                      </a:rPr>
                      <m:t>=</m:t>
                    </m:r>
                    <m:d>
                      <m:dPr>
                        <m:ctrlPr>
                          <a:rPr lang="en-US" b="1" i="1">
                            <a:solidFill>
                              <a:schemeClr val="tx1"/>
                            </a:solidFill>
                            <a:latin typeface="Cambria Math" panose="02040503050406030204" pitchFamily="18" charset="0"/>
                            <a:ea typeface="Cambria Math" panose="02040503050406030204" pitchFamily="18" charset="0"/>
                          </a:rPr>
                        </m:ctrlPr>
                      </m:dPr>
                      <m:e>
                        <m:r>
                          <a:rPr lang="vi-VN" b="1" i="1">
                            <a:solidFill>
                              <a:schemeClr val="tx1"/>
                            </a:solidFill>
                            <a:latin typeface="Cambria Math" panose="02040503050406030204" pitchFamily="18" charset="0"/>
                            <a:ea typeface="Cambria Math" panose="02040503050406030204" pitchFamily="18" charset="0"/>
                          </a:rPr>
                          <m:t>𝒙</m:t>
                        </m:r>
                        <m:r>
                          <a:rPr lang="vi-VN" b="1" i="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𝟏</m:t>
                        </m:r>
                        <m:r>
                          <a:rPr lang="vi-VN" b="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𝒚</m:t>
                        </m:r>
                        <m:r>
                          <a:rPr lang="vi-VN" b="1" i="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𝟐</m:t>
                        </m:r>
                      </m:e>
                    </m:d>
                    <m:r>
                      <a:rPr lang="vi-VN" b="1">
                        <a:solidFill>
                          <a:schemeClr val="tx1"/>
                        </a:solidFill>
                        <a:latin typeface="Cambria Math" panose="02040503050406030204" pitchFamily="18" charset="0"/>
                        <a:ea typeface="Cambria Math" panose="02040503050406030204" pitchFamily="18" charset="0"/>
                      </a:rPr>
                      <m:t>,</m:t>
                    </m:r>
                    <m:r>
                      <a:rPr lang="en-US" b="1" i="0" smtClean="0">
                        <a:solidFill>
                          <a:schemeClr val="tx1"/>
                        </a:solidFill>
                        <a:latin typeface="Cambria Math" panose="02040503050406030204" pitchFamily="18" charset="0"/>
                        <a:ea typeface="Cambria Math" panose="02040503050406030204" pitchFamily="18" charset="0"/>
                      </a:rPr>
                      <m:t>  </m:t>
                    </m:r>
                    <m:acc>
                      <m:accPr>
                        <m:chr m:val="⃗"/>
                        <m:ctrlPr>
                          <a:rPr lang="en-US" b="1" i="1">
                            <a:solidFill>
                              <a:schemeClr val="tx1"/>
                            </a:solidFill>
                            <a:latin typeface="Cambria Math" panose="02040503050406030204" pitchFamily="18" charset="0"/>
                            <a:ea typeface="Cambria Math" panose="02040503050406030204" pitchFamily="18" charset="0"/>
                          </a:rPr>
                        </m:ctrlPr>
                      </m:accPr>
                      <m:e>
                        <m:r>
                          <a:rPr lang="vi-VN" b="1" i="1">
                            <a:solidFill>
                              <a:schemeClr val="tx1"/>
                            </a:solidFill>
                            <a:latin typeface="Cambria Math" panose="02040503050406030204" pitchFamily="18" charset="0"/>
                            <a:ea typeface="Cambria Math" panose="02040503050406030204" pitchFamily="18" charset="0"/>
                          </a:rPr>
                          <m:t>𝑩𝑪</m:t>
                        </m:r>
                      </m:e>
                    </m:acc>
                    <m:r>
                      <a:rPr lang="vi-VN" b="1" i="1">
                        <a:solidFill>
                          <a:schemeClr val="tx1"/>
                        </a:solidFill>
                        <a:latin typeface="Cambria Math" panose="02040503050406030204" pitchFamily="18" charset="0"/>
                        <a:ea typeface="Cambria Math" panose="02040503050406030204" pitchFamily="18" charset="0"/>
                      </a:rPr>
                      <m:t>=</m:t>
                    </m:r>
                    <m:d>
                      <m:dPr>
                        <m:ctrlPr>
                          <a:rPr lang="en-US" b="1" i="1">
                            <a:solidFill>
                              <a:schemeClr val="tx1"/>
                            </a:solidFill>
                            <a:latin typeface="Cambria Math" panose="02040503050406030204" pitchFamily="18" charset="0"/>
                            <a:ea typeface="Cambria Math" panose="02040503050406030204" pitchFamily="18" charset="0"/>
                          </a:rPr>
                        </m:ctrlPr>
                      </m:dPr>
                      <m:e>
                        <m:r>
                          <a:rPr lang="vi-VN" b="1" i="1">
                            <a:solidFill>
                              <a:schemeClr val="tx1"/>
                            </a:solidFill>
                            <a:latin typeface="Cambria Math" panose="02040503050406030204" pitchFamily="18" charset="0"/>
                            <a:ea typeface="Cambria Math" panose="02040503050406030204" pitchFamily="18" charset="0"/>
                          </a:rPr>
                          <m:t>𝟒</m:t>
                        </m:r>
                        <m:r>
                          <a:rPr lang="vi-VN" b="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𝟐</m:t>
                        </m:r>
                      </m:e>
                    </m:d>
                  </m:oMath>
                </a14:m>
                <a:endParaRPr lang="en-US" b="1">
                  <a:solidFill>
                    <a:schemeClr val="tx1"/>
                  </a:solidFill>
                  <a:latin typeface="Tahoma" panose="020B0604030504040204" pitchFamily="34" charset="0"/>
                  <a:ea typeface="Tahoma" panose="020B0604030504040204" pitchFamily="34" charset="0"/>
                  <a:cs typeface="Tahoma" panose="020B0604030504040204" pitchFamily="34" charset="0"/>
                </a:endParaRPr>
              </a:p>
              <a:p>
                <a:pPr>
                  <a:spcAft>
                    <a:spcPts val="0"/>
                  </a:spcAft>
                </a:pPr>
                <a14:m>
                  <m:oMath xmlns:m="http://schemas.openxmlformats.org/officeDocument/2006/math">
                    <m:acc>
                      <m:accPr>
                        <m:chr m:val="⃗"/>
                        <m:ctrlPr>
                          <a:rPr lang="en-US" b="1" i="1">
                            <a:solidFill>
                              <a:schemeClr val="tx1"/>
                            </a:solidFill>
                            <a:latin typeface="Cambria Math" panose="02040503050406030204" pitchFamily="18" charset="0"/>
                            <a:ea typeface="Cambria Math" panose="02040503050406030204" pitchFamily="18" charset="0"/>
                          </a:rPr>
                        </m:ctrlPr>
                      </m:accPr>
                      <m:e>
                        <m:r>
                          <a:rPr lang="vi-VN" b="1" i="1">
                            <a:solidFill>
                              <a:schemeClr val="tx1"/>
                            </a:solidFill>
                            <a:latin typeface="Cambria Math" panose="02040503050406030204" pitchFamily="18" charset="0"/>
                            <a:ea typeface="Cambria Math" panose="02040503050406030204" pitchFamily="18" charset="0"/>
                          </a:rPr>
                          <m:t>𝑨𝑫</m:t>
                        </m:r>
                      </m:e>
                    </m:acc>
                    <m:r>
                      <a:rPr lang="vi-VN" b="1" i="1">
                        <a:solidFill>
                          <a:schemeClr val="tx1"/>
                        </a:solidFill>
                        <a:latin typeface="Cambria Math" panose="02040503050406030204" pitchFamily="18" charset="0"/>
                        <a:ea typeface="Cambria Math" panose="02040503050406030204" pitchFamily="18" charset="0"/>
                      </a:rPr>
                      <m:t>=</m:t>
                    </m:r>
                    <m:acc>
                      <m:accPr>
                        <m:chr m:val="⃗"/>
                        <m:ctrlPr>
                          <a:rPr lang="en-US" b="1" i="1">
                            <a:solidFill>
                              <a:schemeClr val="tx1"/>
                            </a:solidFill>
                            <a:latin typeface="Cambria Math" panose="02040503050406030204" pitchFamily="18" charset="0"/>
                            <a:ea typeface="Cambria Math" panose="02040503050406030204" pitchFamily="18" charset="0"/>
                          </a:rPr>
                        </m:ctrlPr>
                      </m:accPr>
                      <m:e>
                        <m:r>
                          <a:rPr lang="vi-VN" b="1" i="1">
                            <a:solidFill>
                              <a:schemeClr val="tx1"/>
                            </a:solidFill>
                            <a:latin typeface="Cambria Math" panose="02040503050406030204" pitchFamily="18" charset="0"/>
                            <a:ea typeface="Cambria Math" panose="02040503050406030204" pitchFamily="18" charset="0"/>
                          </a:rPr>
                          <m:t>𝑩𝑪</m:t>
                        </m:r>
                      </m:e>
                    </m:acc>
                    <m:r>
                      <a:rPr lang="vi-VN" b="1" i="1">
                        <a:solidFill>
                          <a:schemeClr val="tx1"/>
                        </a:solidFill>
                        <a:latin typeface="Cambria Math" panose="02040503050406030204" pitchFamily="18" charset="0"/>
                        <a:ea typeface="Cambria Math" panose="02040503050406030204" pitchFamily="18" charset="0"/>
                      </a:rPr>
                      <m:t>⇔</m:t>
                    </m:r>
                    <m:d>
                      <m:dPr>
                        <m:begChr m:val="{"/>
                        <m:endChr m:val=""/>
                        <m:ctrlPr>
                          <a:rPr lang="en-US" b="1" i="1">
                            <a:solidFill>
                              <a:schemeClr val="tx1"/>
                            </a:solidFill>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b="1" i="1">
                                <a:solidFill>
                                  <a:schemeClr val="tx1"/>
                                </a:solidFill>
                                <a:latin typeface="Cambria Math" panose="02040503050406030204" pitchFamily="18" charset="0"/>
                                <a:ea typeface="Cambria Math" panose="02040503050406030204" pitchFamily="18" charset="0"/>
                              </a:rPr>
                            </m:ctrlPr>
                          </m:mPr>
                          <m:mr>
                            <m:e>
                              <m:r>
                                <a:rPr lang="vi-VN" b="1" i="1">
                                  <a:solidFill>
                                    <a:schemeClr val="tx1"/>
                                  </a:solidFill>
                                  <a:latin typeface="Cambria Math" panose="02040503050406030204" pitchFamily="18" charset="0"/>
                                  <a:ea typeface="Cambria Math" panose="02040503050406030204" pitchFamily="18" charset="0"/>
                                </a:rPr>
                                <m:t>𝒙</m:t>
                              </m:r>
                              <m:r>
                                <a:rPr lang="vi-VN" b="1" i="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𝟏</m:t>
                              </m:r>
                              <m:r>
                                <a:rPr lang="vi-VN" b="1" i="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𝟒</m:t>
                              </m:r>
                            </m:e>
                          </m:mr>
                          <m:mr>
                            <m:e>
                              <m:r>
                                <a:rPr lang="vi-VN" b="1" i="1">
                                  <a:solidFill>
                                    <a:schemeClr val="tx1"/>
                                  </a:solidFill>
                                  <a:latin typeface="Cambria Math" panose="02040503050406030204" pitchFamily="18" charset="0"/>
                                  <a:ea typeface="Cambria Math" panose="02040503050406030204" pitchFamily="18" charset="0"/>
                                </a:rPr>
                                <m:t>𝒚</m:t>
                              </m:r>
                              <m:r>
                                <a:rPr lang="vi-VN" b="1" i="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𝟐</m:t>
                              </m:r>
                              <m:r>
                                <a:rPr lang="vi-VN" b="1" i="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𝟐</m:t>
                              </m:r>
                            </m:e>
                          </m:mr>
                        </m:m>
                      </m:e>
                    </m:d>
                    <m:r>
                      <a:rPr lang="vi-VN" b="1" i="1">
                        <a:solidFill>
                          <a:schemeClr val="tx1"/>
                        </a:solidFill>
                        <a:latin typeface="Cambria Math" panose="02040503050406030204" pitchFamily="18" charset="0"/>
                        <a:ea typeface="Cambria Math" panose="02040503050406030204" pitchFamily="18" charset="0"/>
                      </a:rPr>
                      <m:t>⇔</m:t>
                    </m:r>
                    <m:d>
                      <m:dPr>
                        <m:begChr m:val="{"/>
                        <m:endChr m:val=""/>
                        <m:ctrlPr>
                          <a:rPr lang="en-US" b="1" i="1">
                            <a:solidFill>
                              <a:schemeClr val="tx1"/>
                            </a:solidFill>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b="1" i="1">
                                <a:solidFill>
                                  <a:schemeClr val="tx1"/>
                                </a:solidFill>
                                <a:latin typeface="Cambria Math" panose="02040503050406030204" pitchFamily="18" charset="0"/>
                                <a:ea typeface="Cambria Math" panose="02040503050406030204" pitchFamily="18" charset="0"/>
                              </a:rPr>
                            </m:ctrlPr>
                          </m:mPr>
                          <m:mr>
                            <m:e>
                              <m:r>
                                <a:rPr lang="vi-VN" b="1" i="1">
                                  <a:solidFill>
                                    <a:schemeClr val="tx1"/>
                                  </a:solidFill>
                                  <a:latin typeface="Cambria Math" panose="02040503050406030204" pitchFamily="18" charset="0"/>
                                  <a:ea typeface="Cambria Math" panose="02040503050406030204" pitchFamily="18" charset="0"/>
                                </a:rPr>
                                <m:t>𝒙</m:t>
                              </m:r>
                              <m:r>
                                <a:rPr lang="vi-VN" b="1" i="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𝟓</m:t>
                              </m:r>
                            </m:e>
                          </m:mr>
                          <m:mr>
                            <m:e>
                              <m:r>
                                <a:rPr lang="vi-VN" b="1" i="1">
                                  <a:solidFill>
                                    <a:schemeClr val="tx1"/>
                                  </a:solidFill>
                                  <a:latin typeface="Cambria Math" panose="02040503050406030204" pitchFamily="18" charset="0"/>
                                  <a:ea typeface="Cambria Math" panose="02040503050406030204" pitchFamily="18" charset="0"/>
                                </a:rPr>
                                <m:t>𝒚</m:t>
                              </m:r>
                              <m:r>
                                <a:rPr lang="vi-VN" b="1" i="1">
                                  <a:solidFill>
                                    <a:schemeClr val="tx1"/>
                                  </a:solidFill>
                                  <a:latin typeface="Cambria Math" panose="02040503050406030204" pitchFamily="18" charset="0"/>
                                  <a:ea typeface="Cambria Math" panose="02040503050406030204" pitchFamily="18" charset="0"/>
                                </a:rPr>
                                <m:t>=</m:t>
                              </m:r>
                              <m:r>
                                <a:rPr lang="vi-VN" b="1" i="1">
                                  <a:solidFill>
                                    <a:schemeClr val="tx1"/>
                                  </a:solidFill>
                                  <a:latin typeface="Cambria Math" panose="02040503050406030204" pitchFamily="18" charset="0"/>
                                  <a:ea typeface="Cambria Math" panose="02040503050406030204" pitchFamily="18" charset="0"/>
                                </a:rPr>
                                <m:t>𝟎</m:t>
                              </m:r>
                              <m:r>
                                <a:rPr lang="vi-VN" b="1">
                                  <a:solidFill>
                                    <a:schemeClr val="tx1"/>
                                  </a:solidFill>
                                  <a:latin typeface="Cambria Math" panose="02040503050406030204" pitchFamily="18" charset="0"/>
                                  <a:ea typeface="Cambria Math" panose="02040503050406030204" pitchFamily="18" charset="0"/>
                                </a:rPr>
                                <m:t>.</m:t>
                              </m:r>
                            </m:e>
                          </m:mr>
                        </m:m>
                      </m:e>
                    </m:d>
                  </m:oMath>
                </a14:m>
                <a:endParaRPr lang="en-US" b="1">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US" b="1">
                    <a:solidFill>
                      <a:schemeClr val="tx1"/>
                    </a:solidFill>
                    <a:latin typeface="Tahoma" panose="020B0604030504040204" pitchFamily="34" charset="0"/>
                    <a:ea typeface="Tahoma" panose="020B0604030504040204" pitchFamily="34" charset="0"/>
                    <a:cs typeface="Tahoma" panose="020B0604030504040204" pitchFamily="34" charset="0"/>
                  </a:rPr>
                  <a:t>Vậy </a:t>
                </a:r>
                <a14:m>
                  <m:oMath xmlns:m="http://schemas.openxmlformats.org/officeDocument/2006/math">
                    <m:r>
                      <a:rPr lang="en-US" b="1" i="1">
                        <a:solidFill>
                          <a:schemeClr val="tx1"/>
                        </a:solidFill>
                        <a:latin typeface="Cambria Math" panose="02040503050406030204" pitchFamily="18" charset="0"/>
                        <a:ea typeface="Cambria Math" panose="02040503050406030204" pitchFamily="18" charset="0"/>
                      </a:rPr>
                      <m:t>𝑫</m:t>
                    </m:r>
                    <m:d>
                      <m:dPr>
                        <m:ctrlPr>
                          <a:rPr lang="en-US" b="1" i="1">
                            <a:solidFill>
                              <a:schemeClr val="tx1"/>
                            </a:solidFill>
                            <a:latin typeface="Cambria Math" panose="02040503050406030204" pitchFamily="18" charset="0"/>
                            <a:ea typeface="Cambria Math" panose="02040503050406030204" pitchFamily="18" charset="0"/>
                          </a:rPr>
                        </m:ctrlPr>
                      </m:dPr>
                      <m:e>
                        <m:r>
                          <a:rPr lang="en-US" b="1" i="1" smtClean="0">
                            <a:solidFill>
                              <a:schemeClr val="tx1"/>
                            </a:solidFill>
                            <a:latin typeface="Cambria Math" panose="02040503050406030204" pitchFamily="18" charset="0"/>
                            <a:ea typeface="Cambria Math" panose="02040503050406030204" pitchFamily="18" charset="0"/>
                          </a:rPr>
                          <m:t>𝟓</m:t>
                        </m:r>
                        <m:r>
                          <a:rPr lang="vi-VN" b="1" i="1">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𝟎</m:t>
                        </m:r>
                      </m:e>
                    </m:d>
                  </m:oMath>
                </a14:m>
                <a:r>
                  <a:rPr lang="en-US" b="1">
                    <a:solidFill>
                      <a:schemeClr val="tx1"/>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 name="Content Placeholder 2">
                <a:extLst>
                  <a:ext uri="{FF2B5EF4-FFF2-40B4-BE49-F238E27FC236}">
                    <a16:creationId xmlns:a16="http://schemas.microsoft.com/office/drawing/2014/main" id="{89433443-F7C6-4FAD-8BCF-22C0992B6D9C}"/>
                  </a:ext>
                </a:extLst>
              </p:cNvPr>
              <p:cNvSpPr txBox="1">
                <a:spLocks noRot="1" noChangeAspect="1" noMove="1" noResize="1" noEditPoints="1" noAdjustHandles="1" noChangeArrowheads="1" noChangeShapeType="1" noTextEdit="1"/>
              </p:cNvSpPr>
              <p:nvPr/>
            </p:nvSpPr>
            <p:spPr>
              <a:xfrm>
                <a:off x="13335000" y="2743201"/>
                <a:ext cx="10744200" cy="10744199"/>
              </a:xfrm>
              <a:prstGeom prst="rect">
                <a:avLst/>
              </a:prstGeom>
              <a:blipFill>
                <a:blip r:embed="rId4"/>
                <a:stretch>
                  <a:fillRect l="-2551" t="-793" r="-2721" b="-340"/>
                </a:stretch>
              </a:blipFill>
              <a:ln>
                <a:solidFill>
                  <a:srgbClr val="00B0F0"/>
                </a:solidFill>
              </a:ln>
            </p:spPr>
            <p:txBody>
              <a:bodyPr/>
              <a:lstStyle/>
              <a:p>
                <a:r>
                  <a:rPr lang="en-US">
                    <a:noFill/>
                  </a:rPr>
                  <a:t> </a:t>
                </a:r>
              </a:p>
            </p:txBody>
          </p:sp>
        </mc:Fallback>
      </mc:AlternateContent>
      <p:pic>
        <p:nvPicPr>
          <p:cNvPr id="6" name="Picture 5" descr="Red lights in the dark&#10;&#10;Description automatically generated with low confidence">
            <a:extLst>
              <a:ext uri="{FF2B5EF4-FFF2-40B4-BE49-F238E27FC236}">
                <a16:creationId xmlns:a16="http://schemas.microsoft.com/office/drawing/2014/main" id="{3B536EB8-5B2E-4039-BE29-C400B32B98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221200" y="6324600"/>
            <a:ext cx="6052407" cy="35814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7763884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1000"/>
                                        <p:tgtEl>
                                          <p:spTgt spid="4">
                                            <p:txEl>
                                              <p:pRg st="6" end="6"/>
                                            </p:txEl>
                                          </p:spTgt>
                                        </p:tgtEl>
                                      </p:cBhvr>
                                    </p:animEffect>
                                    <p:anim calcmode="lin" valueType="num">
                                      <p:cBhvr>
                                        <p:cTn id="2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fade">
                                      <p:cBhvr>
                                        <p:cTn id="35" dur="1000"/>
                                        <p:tgtEl>
                                          <p:spTgt spid="4">
                                            <p:txEl>
                                              <p:pRg st="7" end="7"/>
                                            </p:txEl>
                                          </p:spTgt>
                                        </p:tgtEl>
                                      </p:cBhvr>
                                    </p:animEffect>
                                    <p:anim calcmode="lin" valueType="num">
                                      <p:cBhvr>
                                        <p:cTn id="36"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1000"/>
                                        <p:tgtEl>
                                          <p:spTgt spid="4">
                                            <p:txEl>
                                              <p:pRg st="8" end="8"/>
                                            </p:txEl>
                                          </p:spTgt>
                                        </p:tgtEl>
                                      </p:cBhvr>
                                    </p:animEffect>
                                    <p:anim calcmode="lin" valueType="num">
                                      <p:cBhvr>
                                        <p:cTn id="4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04800" y="2743201"/>
                <a:ext cx="11582400" cy="107441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buClr>
                    <a:srgbClr val="FF0000"/>
                  </a:buClr>
                  <a:buFont typeface="Wingdings" panose="05000000000000000000" pitchFamily="2" charset="2"/>
                  <a:buChar char="v"/>
                </a:pPr>
                <a:r>
                  <a:rPr lang="en-US" b="1">
                    <a:solidFill>
                      <a:srgbClr val="FF0000"/>
                    </a:solidFill>
                    <a:latin typeface="Tahoma" panose="020B0604030504040204" pitchFamily="34" charset="0"/>
                    <a:ea typeface="Tahoma" panose="020B0604030504040204" pitchFamily="34" charset="0"/>
                    <a:cs typeface="Tahoma" panose="020B0604030504040204" pitchFamily="34" charset="0"/>
                    <a:sym typeface="Wingdings"/>
                  </a:rPr>
                  <a:t> Luyện tập 2</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lnSpc>
                    <a:spcPct val="150000"/>
                  </a:lnSpc>
                  <a:spcBef>
                    <a:spcPts val="0"/>
                  </a:spcBef>
                  <a:buClr>
                    <a:srgbClr val="FF0000"/>
                  </a:buClr>
                  <a:buNone/>
                </a:pPr>
                <a:r>
                  <a:rPr lang="en-US" b="1">
                    <a:latin typeface="Tahoma" panose="020B0604030504040204" pitchFamily="34" charset="0"/>
                    <a:ea typeface="Tahoma" panose="020B0604030504040204" pitchFamily="34" charset="0"/>
                    <a:cs typeface="Tahoma" panose="020B0604030504040204" pitchFamily="34" charset="0"/>
                  </a:rPr>
                  <a:t>Trong mặt phẳng tọa độ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a:latin typeface="Tahoma" panose="020B0604030504040204" pitchFamily="34" charset="0"/>
                    <a:ea typeface="Tahoma" panose="020B0604030504040204" pitchFamily="34" charset="0"/>
                    <a:cs typeface="Tahoma" panose="020B0604030504040204" pitchFamily="34" charset="0"/>
                  </a:rPr>
                  <a:t>, cho hai điểm </a:t>
                </a:r>
                <a14:m>
                  <m:oMath xmlns:m="http://schemas.openxmlformats.org/officeDocument/2006/math">
                    <m:r>
                      <a:rPr lang="en-US" b="1" i="1">
                        <a:latin typeface="Cambria Math" panose="02040503050406030204" pitchFamily="18" charset="0"/>
                        <a:ea typeface="Cambria Math" panose="02040503050406030204" pitchFamily="18" charset="0"/>
                      </a:rPr>
                      <m:t>𝑨</m:t>
                    </m:r>
                    <m:d>
                      <m:dPr>
                        <m:ctrlPr>
                          <a:rPr lang="en-US" b="1" i="1">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𝟏</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𝟑</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𝟑</m:t>
                        </m:r>
                      </m:e>
                    </m:d>
                  </m:oMath>
                </a14:m>
                <a:r>
                  <a:rPr lang="en-US" b="1">
                    <a:latin typeface="Tahoma" panose="020B0604030504040204" pitchFamily="34" charset="0"/>
                    <a:ea typeface="Tahoma" panose="020B0604030504040204" pitchFamily="34" charset="0"/>
                    <a:cs typeface="Tahoma" panose="020B0604030504040204" pitchFamily="34" charset="0"/>
                  </a:rPr>
                  <a:t>. </a:t>
                </a:r>
              </a:p>
              <a:p>
                <a:pPr marL="0" indent="0">
                  <a:lnSpc>
                    <a:spcPct val="150000"/>
                  </a:lnSpc>
                  <a:buNone/>
                </a:pPr>
                <a:r>
                  <a:rPr lang="en-US" b="1">
                    <a:latin typeface="Tahoma" panose="020B0604030504040204" pitchFamily="34" charset="0"/>
                    <a:ea typeface="Tahoma" panose="020B0604030504040204" pitchFamily="34" charset="0"/>
                    <a:cs typeface="Tahoma" panose="020B0604030504040204" pitchFamily="34" charset="0"/>
                  </a:rPr>
                  <a:t>a) Các điểm </a:t>
                </a:r>
                <a14:m>
                  <m:oMath xmlns:m="http://schemas.openxmlformats.org/officeDocument/2006/math">
                    <m:r>
                      <a:rPr lang="en-US" b="1" i="1">
                        <a:latin typeface="Cambria Math" panose="02040503050406030204" pitchFamily="18" charset="0"/>
                        <a:ea typeface="Cambria Math" panose="02040503050406030204" pitchFamily="18" charset="0"/>
                      </a:rPr>
                      <m:t>𝑶</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oMath>
                </a14:m>
                <a:r>
                  <a:rPr lang="en-US" b="1">
                    <a:latin typeface="Tahoma" panose="020B0604030504040204" pitchFamily="34" charset="0"/>
                    <a:ea typeface="Tahoma" panose="020B0604030504040204" pitchFamily="34" charset="0"/>
                    <a:cs typeface="Tahoma" panose="020B0604030504040204" pitchFamily="34" charset="0"/>
                  </a:rPr>
                  <a:t> có thẳng hàng không?</a:t>
                </a:r>
              </a:p>
              <a:p>
                <a:pPr marL="0" indent="0">
                  <a:lnSpc>
                    <a:spcPct val="150000"/>
                  </a:lnSpc>
                  <a:buNone/>
                </a:pPr>
                <a:r>
                  <a:rPr lang="en-US" b="1">
                    <a:latin typeface="Tahoma" panose="020B0604030504040204" pitchFamily="34" charset="0"/>
                    <a:ea typeface="Tahoma" panose="020B0604030504040204" pitchFamily="34" charset="0"/>
                    <a:cs typeface="Tahoma" panose="020B0604030504040204" pitchFamily="34" charset="0"/>
                  </a:rPr>
                  <a:t>b) Tìm điểm </a:t>
                </a:r>
                <a14:m>
                  <m:oMath xmlns:m="http://schemas.openxmlformats.org/officeDocument/2006/math">
                    <m:r>
                      <a:rPr lang="en-US" b="1" i="1">
                        <a:latin typeface="Cambria Math" panose="02040503050406030204" pitchFamily="18" charset="0"/>
                        <a:ea typeface="Cambria Math" panose="02040503050406030204" pitchFamily="18" charset="0"/>
                      </a:rPr>
                      <m:t>𝑴</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 để </a:t>
                </a:r>
                <a14:m>
                  <m:oMath xmlns:m="http://schemas.openxmlformats.org/officeDocument/2006/math">
                    <m:r>
                      <a:rPr lang="en-US" b="1" i="1">
                        <a:latin typeface="Cambria Math" panose="02040503050406030204" pitchFamily="18" charset="0"/>
                        <a:ea typeface="Cambria Math" panose="02040503050406030204" pitchFamily="18" charset="0"/>
                      </a:rPr>
                      <m:t>𝑶𝑨𝑩𝑴</m:t>
                    </m:r>
                  </m:oMath>
                </a14:m>
                <a:r>
                  <a:rPr lang="en-US" b="1">
                    <a:latin typeface="Tahoma" panose="020B0604030504040204" pitchFamily="34" charset="0"/>
                    <a:ea typeface="Tahoma" panose="020B0604030504040204" pitchFamily="34" charset="0"/>
                    <a:cs typeface="Tahoma" panose="020B0604030504040204" pitchFamily="34" charset="0"/>
                  </a:rPr>
                  <a:t> là một hình bình hành.</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04800" y="2743201"/>
                <a:ext cx="11582400" cy="10744199"/>
              </a:xfrm>
              <a:prstGeom prst="rect">
                <a:avLst/>
              </a:prstGeom>
              <a:blipFill>
                <a:blip r:embed="rId3"/>
                <a:stretch>
                  <a:fillRect l="-2313" r="-2944"/>
                </a:stretch>
              </a:blipFill>
              <a:ln>
                <a:solidFill>
                  <a:srgbClr val="00B0F0"/>
                </a:solidFill>
              </a:ln>
            </p:spPr>
            <p:txBody>
              <a:bodyPr/>
              <a:lstStyle/>
              <a:p>
                <a:r>
                  <a:rPr lang="en-US">
                    <a:noFill/>
                  </a:rPr>
                  <a:t> </a:t>
                </a:r>
              </a:p>
            </p:txBody>
          </p:sp>
        </mc:Fallback>
      </mc:AlternateContent>
      <p:sp>
        <p:nvSpPr>
          <p:cNvPr id="5" name="Title 1">
            <a:extLst>
              <a:ext uri="{FF2B5EF4-FFF2-40B4-BE49-F238E27FC236}">
                <a16:creationId xmlns:a16="http://schemas.microsoft.com/office/drawing/2014/main" id="{91EFB9E1-C2C8-4179-962F-C0CDC30C73C0}"/>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9433443-F7C6-4FAD-8BCF-22C0992B6D9C}"/>
                  </a:ext>
                </a:extLst>
              </p:cNvPr>
              <p:cNvSpPr txBox="1">
                <a:spLocks/>
              </p:cNvSpPr>
              <p:nvPr/>
            </p:nvSpPr>
            <p:spPr>
              <a:xfrm>
                <a:off x="12192000" y="2743201"/>
                <a:ext cx="11887200" cy="107441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just">
                  <a:lnSpc>
                    <a:spcPct val="150000"/>
                  </a:lnSpc>
                  <a:spcBef>
                    <a:spcPts val="1200"/>
                  </a:spcBef>
                  <a:buClr>
                    <a:srgbClr val="FF0000"/>
                  </a:buClr>
                  <a:buFont typeface="Wingdings" panose="05000000000000000000" pitchFamily="2" charset="2"/>
                  <a:buChar char="Ø"/>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Hướng dẫn:</a:t>
                </a:r>
              </a:p>
              <a:p>
                <a:pPr marL="0" indent="0" algn="just">
                  <a:lnSpc>
                    <a:spcPct val="150000"/>
                  </a:lnSpc>
                  <a:spcBef>
                    <a:spcPts val="1200"/>
                  </a:spcBef>
                  <a:buNone/>
                </a:pPr>
                <a:r>
                  <a:rPr lang="fr-FR" b="1">
                    <a:latin typeface="Tahoma" panose="020B0604030504040204" pitchFamily="34" charset="0"/>
                    <a:ea typeface="Tahoma" panose="020B0604030504040204" pitchFamily="34" charset="0"/>
                    <a:cs typeface="Tahoma" panose="020B0604030504040204" pitchFamily="34" charset="0"/>
                  </a:rPr>
                  <a:t>a) Ta có</a:t>
                </a:r>
              </a:p>
              <a:p>
                <a:pPr>
                  <a:lnSpc>
                    <a:spcPct val="150000"/>
                  </a:lnSpc>
                </a:pPr>
                <a:r>
                  <a:rPr lang="en-US" b="1">
                    <a:latin typeface="Tahoma" panose="020B0604030504040204" pitchFamily="34" charset="0"/>
                    <a:ea typeface="Tahoma" panose="020B0604030504040204" pitchFamily="34" charset="0"/>
                    <a:cs typeface="Tahoma" panose="020B0604030504040204" pitchFamily="34" charset="0"/>
                  </a:rPr>
                  <a:t>Hai vectơ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𝑶𝑨</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𝑶𝑩</m:t>
                        </m:r>
                      </m:e>
                    </m:acc>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𝟑</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𝟑</m:t>
                        </m:r>
                      </m:e>
                    </m:d>
                  </m:oMath>
                </a14:m>
                <a:r>
                  <a:rPr lang="en-US" b="1">
                    <a:latin typeface="Tahoma" panose="020B0604030504040204" pitchFamily="34" charset="0"/>
                    <a:ea typeface="Tahoma" panose="020B0604030504040204" pitchFamily="34" charset="0"/>
                    <a:cs typeface="Tahoma" panose="020B0604030504040204" pitchFamily="34" charset="0"/>
                  </a:rPr>
                  <a:t> không cùng phương (vì </a:t>
                </a:r>
                <a14:m>
                  <m:oMath xmlns:m="http://schemas.openxmlformats.org/officeDocument/2006/math">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𝟐</m:t>
                        </m:r>
                      </m:num>
                      <m:den>
                        <m:r>
                          <a:rPr lang="en-US" b="1" i="1">
                            <a:latin typeface="Cambria Math" panose="02040503050406030204" pitchFamily="18" charset="0"/>
                            <a:ea typeface="Cambria Math" panose="02040503050406030204" pitchFamily="18" charset="0"/>
                          </a:rPr>
                          <m:t>𝟑</m:t>
                        </m:r>
                      </m:den>
                    </m:f>
                    <m:r>
                      <a:rPr lang="en-US" b="1" i="1">
                        <a:latin typeface="Cambria Math" panose="02040503050406030204" pitchFamily="18" charset="0"/>
                        <a:ea typeface="Cambria Math" panose="02040503050406030204" pitchFamily="18" charset="0"/>
                      </a:rPr>
                      <m:t>≠</m:t>
                    </m:r>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𝟏</m:t>
                        </m:r>
                      </m:num>
                      <m:den>
                        <m:r>
                          <a:rPr lang="en-US" b="1" i="1">
                            <a:latin typeface="Cambria Math" panose="02040503050406030204" pitchFamily="18" charset="0"/>
                            <a:ea typeface="Cambria Math" panose="02040503050406030204" pitchFamily="18" charset="0"/>
                          </a:rPr>
                          <m:t>𝟑</m:t>
                        </m:r>
                      </m:den>
                    </m:f>
                  </m:oMath>
                </a14:m>
                <a:r>
                  <a:rPr lang="en-US" b="1">
                    <a:latin typeface="Tahoma" panose="020B0604030504040204" pitchFamily="34" charset="0"/>
                    <a:ea typeface="Tahoma" panose="020B0604030504040204" pitchFamily="34" charset="0"/>
                    <a:cs typeface="Tahoma" panose="020B0604030504040204" pitchFamily="34" charset="0"/>
                  </a:rPr>
                  <a:t>)</a:t>
                </a:r>
              </a:p>
              <a:p>
                <a:pPr>
                  <a:lnSpc>
                    <a:spcPct val="150000"/>
                  </a:lnSpc>
                </a:pPr>
                <a:r>
                  <a:rPr lang="en-US" b="1">
                    <a:latin typeface="Tahoma" panose="020B0604030504040204" pitchFamily="34" charset="0"/>
                    <a:ea typeface="Tahoma" panose="020B0604030504040204" pitchFamily="34" charset="0"/>
                    <a:cs typeface="Tahoma" panose="020B0604030504040204" pitchFamily="34" charset="0"/>
                  </a:rPr>
                  <a:t>Do đó các điểm </a:t>
                </a:r>
                <a14:m>
                  <m:oMath xmlns:m="http://schemas.openxmlformats.org/officeDocument/2006/math">
                    <m:r>
                      <a:rPr lang="en-US" b="1" i="1">
                        <a:latin typeface="Cambria Math" panose="02040503050406030204" pitchFamily="18" charset="0"/>
                        <a:ea typeface="Cambria Math" panose="02040503050406030204" pitchFamily="18" charset="0"/>
                      </a:rPr>
                      <m:t>𝑶</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oMath>
                </a14:m>
                <a:r>
                  <a:rPr lang="en-US" b="1">
                    <a:latin typeface="Tahoma" panose="020B0604030504040204" pitchFamily="34" charset="0"/>
                    <a:ea typeface="Tahoma" panose="020B0604030504040204" pitchFamily="34" charset="0"/>
                    <a:cs typeface="Tahoma" panose="020B0604030504040204" pitchFamily="34" charset="0"/>
                  </a:rPr>
                  <a:t> không cùng nằm trên một đường thẳng. </a:t>
                </a:r>
              </a:p>
              <a:p>
                <a:pPr>
                  <a:lnSpc>
                    <a:spcPct val="150000"/>
                  </a:lnSpc>
                </a:pPr>
                <a:r>
                  <a:rPr lang="en-US" b="1">
                    <a:latin typeface="Tahoma" panose="020B0604030504040204" pitchFamily="34" charset="0"/>
                    <a:ea typeface="Tahoma" panose="020B0604030504040204" pitchFamily="34" charset="0"/>
                    <a:cs typeface="Tahoma" panose="020B0604030504040204" pitchFamily="34" charset="0"/>
                  </a:rPr>
                  <a:t>Vậy </a:t>
                </a:r>
                <a14:m>
                  <m:oMath xmlns:m="http://schemas.openxmlformats.org/officeDocument/2006/math">
                    <m:r>
                      <a:rPr lang="en-US" b="1" i="1">
                        <a:latin typeface="Cambria Math" panose="02040503050406030204" pitchFamily="18" charset="0"/>
                        <a:ea typeface="Cambria Math" panose="02040503050406030204" pitchFamily="18" charset="0"/>
                      </a:rPr>
                      <m:t>𝑶</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oMath>
                </a14:m>
                <a:r>
                  <a:rPr lang="en-US" b="1">
                    <a:latin typeface="Tahoma" panose="020B0604030504040204" pitchFamily="34" charset="0"/>
                    <a:ea typeface="Tahoma" panose="020B0604030504040204" pitchFamily="34" charset="0"/>
                    <a:cs typeface="Tahoma" panose="020B0604030504040204" pitchFamily="34" charset="0"/>
                  </a:rPr>
                  <a:t> không thẳng hàng.</a:t>
                </a:r>
              </a:p>
            </p:txBody>
          </p:sp>
        </mc:Choice>
        <mc:Fallback xmlns="">
          <p:sp>
            <p:nvSpPr>
              <p:cNvPr id="4" name="Content Placeholder 2">
                <a:extLst>
                  <a:ext uri="{FF2B5EF4-FFF2-40B4-BE49-F238E27FC236}">
                    <a16:creationId xmlns:a16="http://schemas.microsoft.com/office/drawing/2014/main" id="{89433443-F7C6-4FAD-8BCF-22C0992B6D9C}"/>
                  </a:ext>
                </a:extLst>
              </p:cNvPr>
              <p:cNvSpPr txBox="1">
                <a:spLocks noRot="1" noChangeAspect="1" noMove="1" noResize="1" noEditPoints="1" noAdjustHandles="1" noChangeArrowheads="1" noChangeShapeType="1" noTextEdit="1"/>
              </p:cNvSpPr>
              <p:nvPr/>
            </p:nvSpPr>
            <p:spPr>
              <a:xfrm>
                <a:off x="12192000" y="2743201"/>
                <a:ext cx="11887200" cy="10744199"/>
              </a:xfrm>
              <a:prstGeom prst="rect">
                <a:avLst/>
              </a:prstGeom>
              <a:blipFill>
                <a:blip r:embed="rId4"/>
                <a:stretch>
                  <a:fillRect l="-2254"/>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963213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1000"/>
                                        <p:tgtEl>
                                          <p:spTgt spid="99"/>
                                        </p:tgtEl>
                                      </p:cBhvr>
                                    </p:animEffect>
                                    <p:anim calcmode="lin" valueType="num">
                                      <p:cBhvr>
                                        <p:cTn id="8" dur="1000" fill="hold"/>
                                        <p:tgtEl>
                                          <p:spTgt spid="99"/>
                                        </p:tgtEl>
                                        <p:attrNameLst>
                                          <p:attrName>ppt_x</p:attrName>
                                        </p:attrNameLst>
                                      </p:cBhvr>
                                      <p:tavLst>
                                        <p:tav tm="0">
                                          <p:val>
                                            <p:strVal val="#ppt_x"/>
                                          </p:val>
                                        </p:tav>
                                        <p:tav tm="100000">
                                          <p:val>
                                            <p:strVal val="#ppt_x"/>
                                          </p:val>
                                        </p:tav>
                                      </p:tavLst>
                                    </p:anim>
                                    <p:anim calcmode="lin" valueType="num">
                                      <p:cBhvr>
                                        <p:cTn id="9" dur="1000" fill="hold"/>
                                        <p:tgtEl>
                                          <p:spTgt spid="9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9">
                                            <p:txEl>
                                              <p:pRg st="0" end="0"/>
                                            </p:txEl>
                                          </p:spTgt>
                                        </p:tgtEl>
                                        <p:attrNameLst>
                                          <p:attrName>style.visibility</p:attrName>
                                        </p:attrNameLst>
                                      </p:cBhvr>
                                      <p:to>
                                        <p:strVal val="visible"/>
                                      </p:to>
                                    </p:set>
                                    <p:animEffect transition="in" filter="fade">
                                      <p:cBhvr>
                                        <p:cTn id="13" dur="1000"/>
                                        <p:tgtEl>
                                          <p:spTgt spid="99">
                                            <p:txEl>
                                              <p:pRg st="0" end="0"/>
                                            </p:txEl>
                                          </p:spTgt>
                                        </p:tgtEl>
                                      </p:cBhvr>
                                    </p:animEffect>
                                    <p:anim calcmode="lin" valueType="num">
                                      <p:cBhvr>
                                        <p:cTn id="14" dur="1000" fill="hold"/>
                                        <p:tgtEl>
                                          <p:spTgt spid="99">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99">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99">
                                            <p:txEl>
                                              <p:pRg st="1" end="1"/>
                                            </p:txEl>
                                          </p:spTgt>
                                        </p:tgtEl>
                                        <p:attrNameLst>
                                          <p:attrName>style.visibility</p:attrName>
                                        </p:attrNameLst>
                                      </p:cBhvr>
                                      <p:to>
                                        <p:strVal val="visible"/>
                                      </p:to>
                                    </p:set>
                                    <p:animEffect transition="in" filter="fade">
                                      <p:cBhvr>
                                        <p:cTn id="19" dur="1000"/>
                                        <p:tgtEl>
                                          <p:spTgt spid="99">
                                            <p:txEl>
                                              <p:pRg st="1" end="1"/>
                                            </p:txEl>
                                          </p:spTgt>
                                        </p:tgtEl>
                                      </p:cBhvr>
                                    </p:animEffect>
                                    <p:anim calcmode="lin" valueType="num">
                                      <p:cBhvr>
                                        <p:cTn id="20" dur="1000" fill="hold"/>
                                        <p:tgtEl>
                                          <p:spTgt spid="99">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99">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99">
                                            <p:txEl>
                                              <p:pRg st="2" end="2"/>
                                            </p:txEl>
                                          </p:spTgt>
                                        </p:tgtEl>
                                        <p:attrNameLst>
                                          <p:attrName>style.visibility</p:attrName>
                                        </p:attrNameLst>
                                      </p:cBhvr>
                                      <p:to>
                                        <p:strVal val="visible"/>
                                      </p:to>
                                    </p:set>
                                    <p:animEffect transition="in" filter="fade">
                                      <p:cBhvr>
                                        <p:cTn id="25" dur="1000"/>
                                        <p:tgtEl>
                                          <p:spTgt spid="99">
                                            <p:txEl>
                                              <p:pRg st="2" end="2"/>
                                            </p:txEl>
                                          </p:spTgt>
                                        </p:tgtEl>
                                      </p:cBhvr>
                                    </p:animEffect>
                                    <p:anim calcmode="lin" valueType="num">
                                      <p:cBhvr>
                                        <p:cTn id="26" dur="1000" fill="hold"/>
                                        <p:tgtEl>
                                          <p:spTgt spid="99">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99">
                                            <p:txEl>
                                              <p:pRg st="2" end="2"/>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99">
                                            <p:txEl>
                                              <p:pRg st="3" end="3"/>
                                            </p:txEl>
                                          </p:spTgt>
                                        </p:tgtEl>
                                        <p:attrNameLst>
                                          <p:attrName>style.visibility</p:attrName>
                                        </p:attrNameLst>
                                      </p:cBhvr>
                                      <p:to>
                                        <p:strVal val="visible"/>
                                      </p:to>
                                    </p:set>
                                    <p:animEffect transition="in" filter="fade">
                                      <p:cBhvr>
                                        <p:cTn id="31" dur="1000"/>
                                        <p:tgtEl>
                                          <p:spTgt spid="99">
                                            <p:txEl>
                                              <p:pRg st="3" end="3"/>
                                            </p:txEl>
                                          </p:spTgt>
                                        </p:tgtEl>
                                      </p:cBhvr>
                                    </p:animEffect>
                                    <p:anim calcmode="lin" valueType="num">
                                      <p:cBhvr>
                                        <p:cTn id="32" dur="1000" fill="hold"/>
                                        <p:tgtEl>
                                          <p:spTgt spid="99">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99">
                                            <p:txEl>
                                              <p:pRg st="3" end="3"/>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anim calcmode="lin" valueType="num">
                                      <p:cBhvr>
                                        <p:cTn id="38" dur="1000" fill="hold"/>
                                        <p:tgtEl>
                                          <p:spTgt spid="4"/>
                                        </p:tgtEl>
                                        <p:attrNameLst>
                                          <p:attrName>ppt_x</p:attrName>
                                        </p:attrNameLst>
                                      </p:cBhvr>
                                      <p:tavLst>
                                        <p:tav tm="0">
                                          <p:val>
                                            <p:strVal val="#ppt_x"/>
                                          </p:val>
                                        </p:tav>
                                        <p:tav tm="100000">
                                          <p:val>
                                            <p:strVal val="#ppt_x"/>
                                          </p:val>
                                        </p:tav>
                                      </p:tavLst>
                                    </p:anim>
                                    <p:anim calcmode="lin" valueType="num">
                                      <p:cBhvr>
                                        <p:cTn id="39" dur="1000" fill="hold"/>
                                        <p:tgtEl>
                                          <p:spTgt spid="4"/>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nodeType="after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Effect transition="in" filter="fade">
                                      <p:cBhvr>
                                        <p:cTn id="43" dur="1000"/>
                                        <p:tgtEl>
                                          <p:spTgt spid="4">
                                            <p:txEl>
                                              <p:pRg st="0" end="0"/>
                                            </p:txEl>
                                          </p:spTgt>
                                        </p:tgtEl>
                                      </p:cBhvr>
                                    </p:animEffect>
                                    <p:anim calcmode="lin" valueType="num">
                                      <p:cBhvr>
                                        <p:cTn id="4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4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4">
                                            <p:txEl>
                                              <p:pRg st="1" end="1"/>
                                            </p:txEl>
                                          </p:spTgt>
                                        </p:tgtEl>
                                        <p:attrNameLst>
                                          <p:attrName>style.visibility</p:attrName>
                                        </p:attrNameLst>
                                      </p:cBhvr>
                                      <p:to>
                                        <p:strVal val="visible"/>
                                      </p:to>
                                    </p:set>
                                    <p:animEffect transition="in" filter="fade">
                                      <p:cBhvr>
                                        <p:cTn id="50" dur="1000"/>
                                        <p:tgtEl>
                                          <p:spTgt spid="4">
                                            <p:txEl>
                                              <p:pRg st="1" end="1"/>
                                            </p:txEl>
                                          </p:spTgt>
                                        </p:tgtEl>
                                      </p:cBhvr>
                                    </p:animEffect>
                                    <p:anim calcmode="lin" valueType="num">
                                      <p:cBhvr>
                                        <p:cTn id="5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2"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4">
                                            <p:txEl>
                                              <p:pRg st="2" end="2"/>
                                            </p:txEl>
                                          </p:spTgt>
                                        </p:tgtEl>
                                        <p:attrNameLst>
                                          <p:attrName>style.visibility</p:attrName>
                                        </p:attrNameLst>
                                      </p:cBhvr>
                                      <p:to>
                                        <p:strVal val="visible"/>
                                      </p:to>
                                    </p:set>
                                    <p:animEffect transition="in" filter="fade">
                                      <p:cBhvr>
                                        <p:cTn id="57" dur="1000"/>
                                        <p:tgtEl>
                                          <p:spTgt spid="4">
                                            <p:txEl>
                                              <p:pRg st="2" end="2"/>
                                            </p:txEl>
                                          </p:spTgt>
                                        </p:tgtEl>
                                      </p:cBhvr>
                                    </p:animEffect>
                                    <p:anim calcmode="lin" valueType="num">
                                      <p:cBhvr>
                                        <p:cTn id="5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5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4">
                                            <p:txEl>
                                              <p:pRg st="3" end="3"/>
                                            </p:txEl>
                                          </p:spTgt>
                                        </p:tgtEl>
                                        <p:attrNameLst>
                                          <p:attrName>style.visibility</p:attrName>
                                        </p:attrNameLst>
                                      </p:cBhvr>
                                      <p:to>
                                        <p:strVal val="visible"/>
                                      </p:to>
                                    </p:set>
                                    <p:animEffect transition="in" filter="fade">
                                      <p:cBhvr>
                                        <p:cTn id="64" dur="1000"/>
                                        <p:tgtEl>
                                          <p:spTgt spid="4">
                                            <p:txEl>
                                              <p:pRg st="3" end="3"/>
                                            </p:txEl>
                                          </p:spTgt>
                                        </p:tgtEl>
                                      </p:cBhvr>
                                    </p:animEffect>
                                    <p:anim calcmode="lin" valueType="num">
                                      <p:cBhvr>
                                        <p:cTn id="6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4">
                                            <p:txEl>
                                              <p:pRg st="4" end="4"/>
                                            </p:txEl>
                                          </p:spTgt>
                                        </p:tgtEl>
                                        <p:attrNameLst>
                                          <p:attrName>style.visibility</p:attrName>
                                        </p:attrNameLst>
                                      </p:cBhvr>
                                      <p:to>
                                        <p:strVal val="visible"/>
                                      </p:to>
                                    </p:set>
                                    <p:animEffect transition="in" filter="fade">
                                      <p:cBhvr>
                                        <p:cTn id="71" dur="1000"/>
                                        <p:tgtEl>
                                          <p:spTgt spid="4">
                                            <p:txEl>
                                              <p:pRg st="4" end="4"/>
                                            </p:txEl>
                                          </p:spTgt>
                                        </p:tgtEl>
                                      </p:cBhvr>
                                    </p:animEffect>
                                    <p:anim calcmode="lin" valueType="num">
                                      <p:cBhvr>
                                        <p:cTn id="7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7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04800" y="2743201"/>
                <a:ext cx="11582400" cy="107441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buClr>
                    <a:srgbClr val="FF0000"/>
                  </a:buClr>
                  <a:buFont typeface="Wingdings" panose="05000000000000000000" pitchFamily="2" charset="2"/>
                  <a:buChar char="1"/>
                </a:pPr>
                <a:r>
                  <a:rPr lang="en-US" b="1">
                    <a:solidFill>
                      <a:srgbClr val="FF0000"/>
                    </a:solidFill>
                    <a:latin typeface="Tahoma" panose="020B0604030504040204" pitchFamily="34" charset="0"/>
                    <a:ea typeface="Tahoma" panose="020B0604030504040204" pitchFamily="34" charset="0"/>
                    <a:cs typeface="Tahoma" panose="020B0604030504040204" pitchFamily="34" charset="0"/>
                    <a:sym typeface="Wingdings"/>
                  </a:rPr>
                  <a:t> Luyện tập 2</a:t>
                </a: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lnSpc>
                    <a:spcPct val="150000"/>
                  </a:lnSpc>
                  <a:spcBef>
                    <a:spcPts val="0"/>
                  </a:spcBef>
                  <a:buClr>
                    <a:srgbClr val="FF0000"/>
                  </a:buClr>
                  <a:buNone/>
                </a:pPr>
                <a:r>
                  <a:rPr lang="en-US" b="1">
                    <a:latin typeface="Tahoma" panose="020B0604030504040204" pitchFamily="34" charset="0"/>
                    <a:ea typeface="Tahoma" panose="020B0604030504040204" pitchFamily="34" charset="0"/>
                    <a:cs typeface="Tahoma" panose="020B0604030504040204" pitchFamily="34" charset="0"/>
                  </a:rPr>
                  <a:t>Trong mặt phẳng tọa độ </a:t>
                </a:r>
                <a14:m>
                  <m:oMath xmlns:m="http://schemas.openxmlformats.org/officeDocument/2006/math">
                    <m:r>
                      <a:rPr lang="en-US" b="1" i="1">
                        <a:latin typeface="Cambria Math" panose="02040503050406030204" pitchFamily="18" charset="0"/>
                        <a:ea typeface="Cambria Math" panose="02040503050406030204" pitchFamily="18" charset="0"/>
                      </a:rPr>
                      <m:t>𝑶𝒙𝒚</m:t>
                    </m:r>
                  </m:oMath>
                </a14:m>
                <a:r>
                  <a:rPr lang="en-US" b="1">
                    <a:latin typeface="Tahoma" panose="020B0604030504040204" pitchFamily="34" charset="0"/>
                    <a:ea typeface="Tahoma" panose="020B0604030504040204" pitchFamily="34" charset="0"/>
                    <a:cs typeface="Tahoma" panose="020B0604030504040204" pitchFamily="34" charset="0"/>
                  </a:rPr>
                  <a:t>, cho hai điểm </a:t>
                </a:r>
                <a14:m>
                  <m:oMath xmlns:m="http://schemas.openxmlformats.org/officeDocument/2006/math">
                    <m:r>
                      <a:rPr lang="en-US" b="1" i="1">
                        <a:latin typeface="Cambria Math" panose="02040503050406030204" pitchFamily="18" charset="0"/>
                        <a:ea typeface="Cambria Math" panose="02040503050406030204" pitchFamily="18" charset="0"/>
                      </a:rPr>
                      <m:t>𝑨</m:t>
                    </m:r>
                    <m:d>
                      <m:dPr>
                        <m:ctrlPr>
                          <a:rPr lang="en-US" b="1" i="1">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𝟐</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𝟏</m:t>
                        </m:r>
                      </m:e>
                    </m:d>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𝟑</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𝟑</m:t>
                        </m:r>
                      </m:e>
                    </m:d>
                  </m:oMath>
                </a14:m>
                <a:r>
                  <a:rPr lang="en-US" b="1">
                    <a:latin typeface="Tahoma" panose="020B0604030504040204" pitchFamily="34" charset="0"/>
                    <a:ea typeface="Tahoma" panose="020B0604030504040204" pitchFamily="34" charset="0"/>
                    <a:cs typeface="Tahoma" panose="020B0604030504040204" pitchFamily="34" charset="0"/>
                  </a:rPr>
                  <a:t>. </a:t>
                </a:r>
              </a:p>
              <a:p>
                <a:pPr marL="0" indent="0">
                  <a:lnSpc>
                    <a:spcPct val="150000"/>
                  </a:lnSpc>
                  <a:buNone/>
                </a:pPr>
                <a:r>
                  <a:rPr lang="en-US" b="1">
                    <a:latin typeface="Tahoma" panose="020B0604030504040204" pitchFamily="34" charset="0"/>
                    <a:ea typeface="Tahoma" panose="020B0604030504040204" pitchFamily="34" charset="0"/>
                    <a:cs typeface="Tahoma" panose="020B0604030504040204" pitchFamily="34" charset="0"/>
                  </a:rPr>
                  <a:t>a) Các điểm </a:t>
                </a:r>
                <a14:m>
                  <m:oMath xmlns:m="http://schemas.openxmlformats.org/officeDocument/2006/math">
                    <m:r>
                      <a:rPr lang="en-US" b="1" i="1">
                        <a:latin typeface="Cambria Math" panose="02040503050406030204" pitchFamily="18" charset="0"/>
                        <a:ea typeface="Cambria Math" panose="02040503050406030204" pitchFamily="18" charset="0"/>
                      </a:rPr>
                      <m:t>𝑶</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oMath>
                </a14:m>
                <a:r>
                  <a:rPr lang="en-US" b="1">
                    <a:latin typeface="Tahoma" panose="020B0604030504040204" pitchFamily="34" charset="0"/>
                    <a:ea typeface="Tahoma" panose="020B0604030504040204" pitchFamily="34" charset="0"/>
                    <a:cs typeface="Tahoma" panose="020B0604030504040204" pitchFamily="34" charset="0"/>
                  </a:rPr>
                  <a:t> có thẳng hàng không?</a:t>
                </a:r>
              </a:p>
              <a:p>
                <a:pPr marL="0" indent="0">
                  <a:lnSpc>
                    <a:spcPct val="150000"/>
                  </a:lnSpc>
                  <a:buNone/>
                </a:pPr>
                <a:r>
                  <a:rPr lang="en-US" b="1">
                    <a:latin typeface="Tahoma" panose="020B0604030504040204" pitchFamily="34" charset="0"/>
                    <a:ea typeface="Tahoma" panose="020B0604030504040204" pitchFamily="34" charset="0"/>
                    <a:cs typeface="Tahoma" panose="020B0604030504040204" pitchFamily="34" charset="0"/>
                  </a:rPr>
                  <a:t>b) Tìm điểm </a:t>
                </a:r>
                <a14:m>
                  <m:oMath xmlns:m="http://schemas.openxmlformats.org/officeDocument/2006/math">
                    <m:r>
                      <a:rPr lang="en-US" b="1" i="1">
                        <a:latin typeface="Cambria Math" panose="02040503050406030204" pitchFamily="18" charset="0"/>
                        <a:ea typeface="Cambria Math" panose="02040503050406030204" pitchFamily="18" charset="0"/>
                      </a:rPr>
                      <m:t>𝑴</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oMath>
                </a14:m>
                <a:r>
                  <a:rPr lang="en-US" b="1">
                    <a:latin typeface="Tahoma" panose="020B0604030504040204" pitchFamily="34" charset="0"/>
                    <a:ea typeface="Tahoma" panose="020B0604030504040204" pitchFamily="34" charset="0"/>
                    <a:cs typeface="Tahoma" panose="020B0604030504040204" pitchFamily="34" charset="0"/>
                  </a:rPr>
                  <a:t> để </a:t>
                </a:r>
                <a14:m>
                  <m:oMath xmlns:m="http://schemas.openxmlformats.org/officeDocument/2006/math">
                    <m:r>
                      <a:rPr lang="en-US" b="1" i="1">
                        <a:latin typeface="Cambria Math" panose="02040503050406030204" pitchFamily="18" charset="0"/>
                        <a:ea typeface="Cambria Math" panose="02040503050406030204" pitchFamily="18" charset="0"/>
                      </a:rPr>
                      <m:t>𝑶𝑨𝑩𝑴</m:t>
                    </m:r>
                  </m:oMath>
                </a14:m>
                <a:r>
                  <a:rPr lang="en-US" b="1">
                    <a:latin typeface="Tahoma" panose="020B0604030504040204" pitchFamily="34" charset="0"/>
                    <a:ea typeface="Tahoma" panose="020B0604030504040204" pitchFamily="34" charset="0"/>
                    <a:cs typeface="Tahoma" panose="020B0604030504040204" pitchFamily="34" charset="0"/>
                  </a:rPr>
                  <a:t> là một hình bình hành.</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04800" y="2743201"/>
                <a:ext cx="11582400" cy="10744199"/>
              </a:xfrm>
              <a:prstGeom prst="rect">
                <a:avLst/>
              </a:prstGeom>
              <a:blipFill>
                <a:blip r:embed="rId3"/>
                <a:stretch>
                  <a:fillRect l="-2313" r="-2944"/>
                </a:stretch>
              </a:blipFill>
              <a:ln>
                <a:solidFill>
                  <a:srgbClr val="00B0F0"/>
                </a:solidFill>
              </a:ln>
            </p:spPr>
            <p:txBody>
              <a:bodyPr/>
              <a:lstStyle/>
              <a:p>
                <a:r>
                  <a:rPr lang="en-US">
                    <a:noFill/>
                  </a:rPr>
                  <a:t> </a:t>
                </a:r>
              </a:p>
            </p:txBody>
          </p:sp>
        </mc:Fallback>
      </mc:AlternateContent>
      <p:sp>
        <p:nvSpPr>
          <p:cNvPr id="5" name="Title 1">
            <a:extLst>
              <a:ext uri="{FF2B5EF4-FFF2-40B4-BE49-F238E27FC236}">
                <a16:creationId xmlns:a16="http://schemas.microsoft.com/office/drawing/2014/main" id="{91EFB9E1-C2C8-4179-962F-C0CDC30C73C0}"/>
              </a:ext>
            </a:extLst>
          </p:cNvPr>
          <p:cNvSpPr txBox="1">
            <a:spLocks/>
          </p:cNvSpPr>
          <p:nvPr/>
        </p:nvSpPr>
        <p:spPr>
          <a:xfrm>
            <a:off x="323850" y="1809750"/>
            <a:ext cx="16002000" cy="762000"/>
          </a:xfrm>
          <a:prstGeom prst="rect">
            <a:avLst/>
          </a:prstGeom>
          <a:solidFill>
            <a:schemeClr val="bg1">
              <a:lumMod val="95000"/>
            </a:schemeClr>
          </a:solidFill>
          <a:ln>
            <a:solidFill>
              <a:schemeClr val="tx2">
                <a:lumMod val="20000"/>
                <a:lumOff val="80000"/>
              </a:schemeClr>
            </a:solidFill>
          </a:ln>
        </p:spPr>
        <p:txBody>
          <a:bodyPr tIns="91440" bIns="91440" anchor="ctr" anchorCtr="0"/>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ahoma" panose="020B0604030504040204" pitchFamily="34" charset="0"/>
                <a:ea typeface="Tahoma" panose="020B0604030504040204" pitchFamily="34" charset="0"/>
                <a:cs typeface="Tahoma" panose="020B0604030504040204" pitchFamily="34" charset="0"/>
              </a:rPr>
              <a:t>2</a:t>
            </a:r>
            <a:r>
              <a:rPr lang="vi-VN" sz="4800" b="1">
                <a:latin typeface="Tahoma" panose="020B0604030504040204" pitchFamily="34" charset="0"/>
                <a:ea typeface="Tahoma" panose="020B0604030504040204" pitchFamily="34" charset="0"/>
                <a:cs typeface="Tahoma" panose="020B0604030504040204" pitchFamily="34" charset="0"/>
              </a:rPr>
              <a:t>. BIỂU THỨC TỌA ĐỘ CỦA CÁC PHÉP TOÁN VECTƠ</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9433443-F7C6-4FAD-8BCF-22C0992B6D9C}"/>
                  </a:ext>
                </a:extLst>
              </p:cNvPr>
              <p:cNvSpPr txBox="1">
                <a:spLocks/>
              </p:cNvSpPr>
              <p:nvPr/>
            </p:nvSpPr>
            <p:spPr>
              <a:xfrm>
                <a:off x="12192000" y="2743201"/>
                <a:ext cx="11887200" cy="10744199"/>
              </a:xfrm>
              <a:prstGeom prst="rect">
                <a:avLst/>
              </a:prstGeom>
              <a:solidFill>
                <a:srgbClr val="D6F7FE"/>
              </a:solidFill>
              <a:ln>
                <a:solidFill>
                  <a:srgbClr val="00B0F0"/>
                </a:solidFill>
              </a:ln>
            </p:spPr>
            <p:txBody>
              <a:bodyPr tIns="91440" bIns="9144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just">
                  <a:lnSpc>
                    <a:spcPct val="100000"/>
                  </a:lnSpc>
                  <a:spcBef>
                    <a:spcPts val="1200"/>
                  </a:spcBef>
                  <a:buClr>
                    <a:srgbClr val="FF0000"/>
                  </a:buClr>
                  <a:buFont typeface="Wingdings" panose="05000000000000000000" pitchFamily="2" charset="2"/>
                  <a:buChar char="Ø"/>
                </a:pPr>
                <a:r>
                  <a:rPr lang="fr-FR" b="1">
                    <a:solidFill>
                      <a:srgbClr val="FF0000"/>
                    </a:solidFill>
                    <a:latin typeface="Tahoma" panose="020B0604030504040204" pitchFamily="34" charset="0"/>
                    <a:ea typeface="Tahoma" panose="020B0604030504040204" pitchFamily="34" charset="0"/>
                    <a:cs typeface="Tahoma" panose="020B0604030504040204" pitchFamily="34" charset="0"/>
                  </a:rPr>
                  <a:t> Hướng dẫn:</a:t>
                </a:r>
              </a:p>
              <a:p>
                <a:pPr marL="0" indent="0" algn="just">
                  <a:lnSpc>
                    <a:spcPct val="100000"/>
                  </a:lnSpc>
                  <a:spcBef>
                    <a:spcPts val="1200"/>
                  </a:spcBef>
                  <a:buNone/>
                </a:pPr>
                <a:r>
                  <a:rPr lang="fr-FR" b="1">
                    <a:latin typeface="Tahoma" panose="020B0604030504040204" pitchFamily="34" charset="0"/>
                    <a:ea typeface="Tahoma" panose="020B0604030504040204" pitchFamily="34" charset="0"/>
                    <a:cs typeface="Tahoma" panose="020B0604030504040204" pitchFamily="34" charset="0"/>
                  </a:rPr>
                  <a:t>b)</a:t>
                </a:r>
              </a:p>
              <a:p>
                <a:pPr marL="0" indent="0" algn="just">
                  <a:lnSpc>
                    <a:spcPct val="100000"/>
                  </a:lnSpc>
                  <a:spcBef>
                    <a:spcPts val="1200"/>
                  </a:spcBef>
                  <a:buNone/>
                </a:pPr>
                <a:endParaRPr lang="fr-FR" b="1">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1200"/>
                  </a:spcBef>
                  <a:buNone/>
                </a:pPr>
                <a:endParaRPr lang="fr-FR" b="1">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1200"/>
                  </a:spcBef>
                  <a:buNone/>
                </a:pPr>
                <a:endParaRPr lang="fr-FR" b="1">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b="1">
                    <a:latin typeface="Tahoma" panose="020B0604030504040204" pitchFamily="34" charset="0"/>
                    <a:ea typeface="Tahoma" panose="020B0604030504040204" pitchFamily="34" charset="0"/>
                    <a:cs typeface="Tahoma" panose="020B0604030504040204" pitchFamily="34" charset="0"/>
                  </a:rPr>
                  <a:t>Các điểm </a:t>
                </a:r>
                <a14:m>
                  <m:oMath xmlns:m="http://schemas.openxmlformats.org/officeDocument/2006/math">
                    <m:r>
                      <a:rPr lang="en-US" b="1" i="1">
                        <a:latin typeface="Cambria Math" panose="02040503050406030204" pitchFamily="18" charset="0"/>
                        <a:ea typeface="Cambria Math" panose="02040503050406030204" pitchFamily="18" charset="0"/>
                      </a:rPr>
                      <m:t>𝑶</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mbria Math" panose="02040503050406030204" pitchFamily="18" charset="0"/>
                      </a:rPr>
                      <m:t>𝑩</m:t>
                    </m:r>
                  </m:oMath>
                </a14:m>
                <a:r>
                  <a:rPr lang="en-US" b="1">
                    <a:latin typeface="Tahoma" panose="020B0604030504040204" pitchFamily="34" charset="0"/>
                    <a:ea typeface="Tahoma" panose="020B0604030504040204" pitchFamily="34" charset="0"/>
                    <a:cs typeface="Tahoma" panose="020B0604030504040204" pitchFamily="34" charset="0"/>
                  </a:rPr>
                  <a:t> không thẳng hàng nên </a:t>
                </a:r>
                <a14:m>
                  <m:oMath xmlns:m="http://schemas.openxmlformats.org/officeDocument/2006/math">
                    <m:r>
                      <a:rPr lang="en-US" b="1" i="1">
                        <a:latin typeface="Cambria Math" panose="02040503050406030204" pitchFamily="18" charset="0"/>
                        <a:ea typeface="Cambria Math" panose="02040503050406030204" pitchFamily="18" charset="0"/>
                      </a:rPr>
                      <m:t>𝑶𝑨𝑩𝑴</m:t>
                    </m:r>
                  </m:oMath>
                </a14:m>
                <a:r>
                  <a:rPr lang="en-US" b="1">
                    <a:latin typeface="Tahoma" panose="020B0604030504040204" pitchFamily="34" charset="0"/>
                    <a:ea typeface="Tahoma" panose="020B0604030504040204" pitchFamily="34" charset="0"/>
                    <a:cs typeface="Tahoma" panose="020B0604030504040204" pitchFamily="34" charset="0"/>
                  </a:rPr>
                  <a:t> là một hình bình hành khi và chỉ khi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r>
                      <a:rPr lang="en-US" b="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𝑨𝑩</m:t>
                        </m:r>
                      </m:e>
                    </m:acc>
                  </m:oMath>
                </a14:m>
                <a:r>
                  <a:rPr lang="en-US" b="1">
                    <a:latin typeface="Tahoma" panose="020B0604030504040204" pitchFamily="34" charset="0"/>
                    <a:ea typeface="Tahoma" panose="020B0604030504040204" pitchFamily="34" charset="0"/>
                    <a:cs typeface="Tahoma" panose="020B0604030504040204" pitchFamily="34" charset="0"/>
                  </a:rPr>
                  <a:t>.</a:t>
                </a:r>
              </a:p>
              <a:p>
                <a:pPr>
                  <a:spcAft>
                    <a:spcPts val="0"/>
                  </a:spcAft>
                </a:pP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𝑶𝑴</m:t>
                        </m:r>
                      </m:e>
                    </m:acc>
                    <m:r>
                      <a:rPr lang="vi-VN"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vi-VN"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𝒚</m:t>
                        </m:r>
                      </m:e>
                    </m:d>
                    <m:r>
                      <a:rPr lang="vi-VN"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  </m:t>
                    </m:r>
                    <m:acc>
                      <m:accPr>
                        <m:chr m:val="⃗"/>
                        <m:ctrlPr>
                          <a:rPr lang="en-US" b="1" i="1">
                            <a:latin typeface="Cambria Math" panose="02040503050406030204" pitchFamily="18" charset="0"/>
                            <a:ea typeface="Cambria Math" panose="02040503050406030204" pitchFamily="18" charset="0"/>
                          </a:rPr>
                        </m:ctrlPr>
                      </m:accPr>
                      <m:e>
                        <m:r>
                          <a:rPr lang="vi-VN" b="1" i="1">
                            <a:latin typeface="Cambria Math" panose="02040503050406030204" pitchFamily="18" charset="0"/>
                            <a:ea typeface="Cambria Math" panose="02040503050406030204" pitchFamily="18" charset="0"/>
                          </a:rPr>
                          <m:t>𝑨</m:t>
                        </m:r>
                        <m:r>
                          <a:rPr lang="en-US" b="1" i="1">
                            <a:latin typeface="Cambria Math" panose="02040503050406030204" pitchFamily="18" charset="0"/>
                            <a:ea typeface="Cambria Math" panose="02040503050406030204" pitchFamily="18" charset="0"/>
                          </a:rPr>
                          <m:t>𝑩</m:t>
                        </m:r>
                      </m:e>
                    </m:acc>
                    <m:r>
                      <a:rPr lang="vi-VN"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vi-VN" b="1" i="1">
                            <a:latin typeface="Cambria Math" panose="02040503050406030204" pitchFamily="18" charset="0"/>
                            <a:ea typeface="Cambria Math" panose="02040503050406030204" pitchFamily="18" charset="0"/>
                          </a:rPr>
                          <m:t>𝟏</m:t>
                        </m:r>
                        <m:r>
                          <a:rPr lang="vi-VN" b="1" i="1">
                            <a:latin typeface="Cambria Math" panose="02040503050406030204" pitchFamily="18" charset="0"/>
                            <a:ea typeface="Cambria Math" panose="02040503050406030204" pitchFamily="18" charset="0"/>
                          </a:rPr>
                          <m:t>;</m:t>
                        </m:r>
                        <m:r>
                          <a:rPr lang="vi-VN" b="1" i="1">
                            <a:latin typeface="Cambria Math" panose="02040503050406030204" pitchFamily="18" charset="0"/>
                            <a:ea typeface="Cambria Math" panose="02040503050406030204" pitchFamily="18" charset="0"/>
                          </a:rPr>
                          <m:t>𝟐</m:t>
                        </m:r>
                      </m:e>
                    </m:d>
                  </m:oMath>
                </a14:m>
                <a:endParaRPr lang="en-US" b="1" i="1">
                  <a:latin typeface="Tahoma" panose="020B0604030504040204" pitchFamily="34" charset="0"/>
                  <a:ea typeface="Tahoma" panose="020B0604030504040204" pitchFamily="34" charset="0"/>
                  <a:cs typeface="Tahoma" panose="020B0604030504040204" pitchFamily="34" charset="0"/>
                </a:endParaRPr>
              </a:p>
              <a:p>
                <a:pPr>
                  <a:spcAft>
                    <a:spcPts val="0"/>
                  </a:spcAft>
                </a:pP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smtClean="0">
                            <a:latin typeface="Cambria Math" panose="02040503050406030204" pitchFamily="18" charset="0"/>
                            <a:ea typeface="Cambria Math" panose="02040503050406030204" pitchFamily="18" charset="0"/>
                          </a:rPr>
                          <m:t>𝑶𝑴</m:t>
                        </m:r>
                      </m:e>
                    </m:acc>
                    <m:r>
                      <a:rPr lang="vi-VN" b="1" i="1">
                        <a:latin typeface="Cambria Math" panose="02040503050406030204" pitchFamily="18" charset="0"/>
                        <a:ea typeface="Cambria Math" panose="02040503050406030204" pitchFamily="18" charset="0"/>
                      </a:rPr>
                      <m:t>=</m:t>
                    </m:r>
                    <m:acc>
                      <m:accPr>
                        <m:chr m:val="⃗"/>
                        <m:ctrlPr>
                          <a:rPr lang="en-US" b="1" i="1">
                            <a:latin typeface="Cambria Math" panose="02040503050406030204" pitchFamily="18" charset="0"/>
                            <a:ea typeface="Cambria Math" panose="02040503050406030204" pitchFamily="18" charset="0"/>
                          </a:rPr>
                        </m:ctrlPr>
                      </m:accPr>
                      <m:e>
                        <m:r>
                          <a:rPr lang="en-US" b="1" i="1" smtClean="0">
                            <a:latin typeface="Cambria Math" panose="02040503050406030204" pitchFamily="18" charset="0"/>
                            <a:ea typeface="Cambria Math" panose="02040503050406030204" pitchFamily="18" charset="0"/>
                          </a:rPr>
                          <m:t>𝑨𝑩</m:t>
                        </m:r>
                      </m:e>
                    </m:acc>
                    <m:r>
                      <a:rPr lang="vi-VN" b="1" i="1">
                        <a:latin typeface="Cambria Math" panose="02040503050406030204" pitchFamily="18" charset="0"/>
                        <a:ea typeface="Cambria Math" panose="02040503050406030204" pitchFamily="18" charset="0"/>
                      </a:rPr>
                      <m:t>⇔</m:t>
                    </m:r>
                    <m:d>
                      <m:dPr>
                        <m:begChr m:val="{"/>
                        <m:endChr m:val=""/>
                        <m:ctrlPr>
                          <a:rPr lang="en-US" b="1"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b="1" i="1">
                                <a:latin typeface="Cambria Math" panose="02040503050406030204" pitchFamily="18" charset="0"/>
                                <a:ea typeface="Cambria Math" panose="02040503050406030204" pitchFamily="18" charset="0"/>
                              </a:rPr>
                            </m:ctrlPr>
                          </m:mPr>
                          <m:mr>
                            <m:e>
                              <m:r>
                                <a:rPr lang="vi-VN" b="1" i="1">
                                  <a:latin typeface="Cambria Math" panose="02040503050406030204" pitchFamily="18" charset="0"/>
                                  <a:ea typeface="Cambria Math" panose="02040503050406030204" pitchFamily="18" charset="0"/>
                                </a:rPr>
                                <m:t>𝒙</m:t>
                              </m:r>
                              <m:r>
                                <a:rPr lang="vi-VN"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𝟏</m:t>
                              </m:r>
                            </m:e>
                          </m:mr>
                          <m:mr>
                            <m:e>
                              <m:r>
                                <a:rPr lang="vi-VN" b="1" i="1">
                                  <a:latin typeface="Cambria Math" panose="02040503050406030204" pitchFamily="18" charset="0"/>
                                  <a:ea typeface="Cambria Math" panose="02040503050406030204" pitchFamily="18" charset="0"/>
                                </a:rPr>
                                <m:t>𝒚</m:t>
                              </m:r>
                              <m:r>
                                <a:rPr lang="vi-VN" b="1" i="1">
                                  <a:latin typeface="Cambria Math" panose="02040503050406030204" pitchFamily="18" charset="0"/>
                                  <a:ea typeface="Cambria Math" panose="02040503050406030204" pitchFamily="18" charset="0"/>
                                </a:rPr>
                                <m:t>=</m:t>
                              </m:r>
                              <m:r>
                                <a:rPr lang="vi-VN" b="1" i="1">
                                  <a:latin typeface="Cambria Math" panose="02040503050406030204" pitchFamily="18" charset="0"/>
                                  <a:ea typeface="Cambria Math" panose="02040503050406030204" pitchFamily="18" charset="0"/>
                                </a:rPr>
                                <m:t>𝟐</m:t>
                              </m:r>
                            </m:e>
                          </m:mr>
                        </m:m>
                      </m:e>
                    </m:d>
                  </m:oMath>
                </a14:m>
                <a:endParaRPr lang="en-US" b="1">
                  <a:latin typeface="Tahoma" panose="020B0604030504040204" pitchFamily="34" charset="0"/>
                  <a:ea typeface="Tahoma" panose="020B0604030504040204" pitchFamily="34" charset="0"/>
                  <a:cs typeface="Tahoma" panose="020B0604030504040204" pitchFamily="34" charset="0"/>
                </a:endParaRPr>
              </a:p>
              <a:p>
                <a:r>
                  <a:rPr lang="en-US" b="1">
                    <a:latin typeface="Tahoma" panose="020B0604030504040204" pitchFamily="34" charset="0"/>
                    <a:ea typeface="Tahoma" panose="020B0604030504040204" pitchFamily="34" charset="0"/>
                    <a:cs typeface="Tahoma" panose="020B0604030504040204" pitchFamily="34" charset="0"/>
                  </a:rPr>
                  <a:t>Vậy </a:t>
                </a:r>
                <a14:m>
                  <m:oMath xmlns:m="http://schemas.openxmlformats.org/officeDocument/2006/math">
                    <m:r>
                      <a:rPr lang="en-US" b="1" i="1" smtClean="0">
                        <a:latin typeface="Cambria Math" panose="02040503050406030204" pitchFamily="18" charset="0"/>
                        <a:ea typeface="Cambria Math" panose="02040503050406030204" pitchFamily="18" charset="0"/>
                      </a:rPr>
                      <m:t>𝑴</m:t>
                    </m:r>
                    <m:d>
                      <m:dPr>
                        <m:ctrlPr>
                          <a:rPr lang="en-US" b="1" i="1">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𝟏</m:t>
                        </m:r>
                        <m:r>
                          <a:rPr lang="vi-VN"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𝟐</m:t>
                        </m:r>
                      </m:e>
                    </m:d>
                  </m:oMath>
                </a14:m>
                <a:r>
                  <a:rPr lang="en-US" b="1">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 name="Content Placeholder 2">
                <a:extLst>
                  <a:ext uri="{FF2B5EF4-FFF2-40B4-BE49-F238E27FC236}">
                    <a16:creationId xmlns:a16="http://schemas.microsoft.com/office/drawing/2014/main" id="{89433443-F7C6-4FAD-8BCF-22C0992B6D9C}"/>
                  </a:ext>
                </a:extLst>
              </p:cNvPr>
              <p:cNvSpPr txBox="1">
                <a:spLocks noRot="1" noChangeAspect="1" noMove="1" noResize="1" noEditPoints="1" noAdjustHandles="1" noChangeArrowheads="1" noChangeShapeType="1" noTextEdit="1"/>
              </p:cNvSpPr>
              <p:nvPr/>
            </p:nvSpPr>
            <p:spPr>
              <a:xfrm>
                <a:off x="12192000" y="2743201"/>
                <a:ext cx="11887200" cy="10744199"/>
              </a:xfrm>
              <a:prstGeom prst="rect">
                <a:avLst/>
              </a:prstGeom>
              <a:blipFill>
                <a:blip r:embed="rId4"/>
                <a:stretch>
                  <a:fillRect l="-2254" t="-793" r="-3279" b="-1303"/>
                </a:stretch>
              </a:blipFill>
              <a:ln>
                <a:solidFill>
                  <a:srgbClr val="00B0F0"/>
                </a:solidFill>
              </a:ln>
            </p:spPr>
            <p:txBody>
              <a:bodyPr/>
              <a:lstStyle/>
              <a:p>
                <a:r>
                  <a:rPr lang="en-US">
                    <a:noFill/>
                  </a:rPr>
                  <a:t> </a:t>
                </a:r>
              </a:p>
            </p:txBody>
          </p:sp>
        </mc:Fallback>
      </mc:AlternateContent>
      <p:pic>
        <p:nvPicPr>
          <p:cNvPr id="6" name="Picture 5" descr="Red lights in the dark&#10;&#10;Description automatically generated with low confidence">
            <a:extLst>
              <a:ext uri="{FF2B5EF4-FFF2-40B4-BE49-F238E27FC236}">
                <a16:creationId xmlns:a16="http://schemas.microsoft.com/office/drawing/2014/main" id="{A0C344ED-9A66-4FC3-924F-12F9EE1A63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30400" y="3893955"/>
            <a:ext cx="5735070" cy="3268845"/>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326919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1000"/>
                                        <p:tgtEl>
                                          <p:spTgt spid="4">
                                            <p:txEl>
                                              <p:pRg st="5" end="5"/>
                                            </p:txEl>
                                          </p:spTgt>
                                        </p:tgtEl>
                                      </p:cBhvr>
                                    </p:animEffect>
                                    <p:anim calcmode="lin" valueType="num">
                                      <p:cBhvr>
                                        <p:cTn id="2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1000"/>
                                        <p:tgtEl>
                                          <p:spTgt spid="4">
                                            <p:txEl>
                                              <p:pRg st="6" end="6"/>
                                            </p:txEl>
                                          </p:spTgt>
                                        </p:tgtEl>
                                      </p:cBhvr>
                                    </p:animEffect>
                                    <p:anim calcmode="lin" valueType="num">
                                      <p:cBhvr>
                                        <p:cTn id="2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fade">
                                      <p:cBhvr>
                                        <p:cTn id="35" dur="1000"/>
                                        <p:tgtEl>
                                          <p:spTgt spid="4">
                                            <p:txEl>
                                              <p:pRg st="7" end="7"/>
                                            </p:txEl>
                                          </p:spTgt>
                                        </p:tgtEl>
                                      </p:cBhvr>
                                    </p:animEffect>
                                    <p:anim calcmode="lin" valueType="num">
                                      <p:cBhvr>
                                        <p:cTn id="36"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1000"/>
                                        <p:tgtEl>
                                          <p:spTgt spid="4">
                                            <p:txEl>
                                              <p:pRg st="8" end="8"/>
                                            </p:txEl>
                                          </p:spTgt>
                                        </p:tgtEl>
                                      </p:cBhvr>
                                    </p:animEffect>
                                    <p:anim calcmode="lin" valueType="num">
                                      <p:cBhvr>
                                        <p:cTn id="4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2514603" y="1103119"/>
                <a:ext cx="21717000" cy="247141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vi-VN" sz="4600" b="1" dirty="0">
                    <a:solidFill>
                      <a:srgbClr val="FF0000"/>
                    </a:solidFill>
                    <a:latin typeface="Tahoma" panose="020B0604030504040204" pitchFamily="34" charset="0"/>
                    <a:ea typeface="Tahoma" panose="020B0604030504040204" pitchFamily="34" charset="0"/>
                    <a:cs typeface="Tahoma" panose="020B0604030504040204" pitchFamily="34" charset="0"/>
                  </a:rPr>
                  <a:t>Ví dụ 4: </a:t>
                </a:r>
                <a:r>
                  <a:rPr lang="en-US" sz="4600" b="1" dirty="0" err="1">
                    <a:latin typeface="Tahoma" panose="020B0604030504040204" pitchFamily="34" charset="0"/>
                    <a:ea typeface="Tahoma" panose="020B0604030504040204" pitchFamily="34" charset="0"/>
                    <a:cs typeface="Tahoma" panose="020B0604030504040204" pitchFamily="34" charset="0"/>
                  </a:rPr>
                  <a:t>Trong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mặt</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phẳng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tọa</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độ</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a:latin typeface="Cambria Math" panose="02040503050406030204" pitchFamily="18" charset="0"/>
                        <a:ea typeface="Calibri" panose="020F0502020204030204" pitchFamily="34" charset="0"/>
                        <a:cs typeface="Times New Roman" panose="02020603050405020304" pitchFamily="18" charset="0"/>
                      </a:rPr>
                      <m:t>𝑶𝒙𝒚</m:t>
                    </m:r>
                  </m:oMath>
                </a14:m>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cho</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ba</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điểm</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a:latin typeface="Cambria Math" panose="02040503050406030204" pitchFamily="18" charset="0"/>
                        <a:ea typeface="Calibri" panose="020F0502020204030204" pitchFamily="34" charset="0"/>
                        <a:cs typeface="Times New Roman" panose="02020603050405020304" pitchFamily="18" charset="0"/>
                      </a:rPr>
                      <m:t>𝑨</m:t>
                    </m:r>
                    <m:d>
                      <m:dPr>
                        <m:ctrlPr>
                          <a:rPr lang="en-US" sz="4600" b="1" i="1">
                            <a:latin typeface="Cambria Math" panose="02040503050406030204" pitchFamily="18" charset="0"/>
                            <a:ea typeface="Calibri" panose="020F0502020204030204" pitchFamily="34" charset="0"/>
                            <a:cs typeface="Times New Roman" panose="02020603050405020304" pitchFamily="18" charset="0"/>
                          </a:rPr>
                        </m:ctrlPr>
                      </m:dPr>
                      <m:e>
                        <m:r>
                          <a:rPr lang="en-US" sz="4600" b="1" i="1">
                            <a:latin typeface="Cambria Math" panose="02040503050406030204" pitchFamily="18" charset="0"/>
                            <a:ea typeface="Calibri" panose="020F0502020204030204" pitchFamily="34" charset="0"/>
                            <a:cs typeface="Times New Roman" panose="02020603050405020304" pitchFamily="18" charset="0"/>
                          </a:rPr>
                          <m:t>𝟏</m:t>
                        </m:r>
                        <m:r>
                          <a:rPr lang="en-US" sz="4600" b="1" i="1">
                            <a:latin typeface="Cambria Math" panose="02040503050406030204" pitchFamily="18" charset="0"/>
                            <a:ea typeface="Calibri" panose="020F0502020204030204" pitchFamily="34" charset="0"/>
                            <a:cs typeface="Times New Roman" panose="02020603050405020304" pitchFamily="18" charset="0"/>
                          </a:rPr>
                          <m:t>;</m:t>
                        </m:r>
                        <m:r>
                          <a:rPr lang="en-US" sz="4600" b="1" i="1">
                            <a:latin typeface="Cambria Math" panose="02040503050406030204" pitchFamily="18" charset="0"/>
                            <a:ea typeface="Calibri" panose="020F0502020204030204" pitchFamily="34" charset="0"/>
                            <a:cs typeface="Times New Roman" panose="02020603050405020304" pitchFamily="18" charset="0"/>
                          </a:rPr>
                          <m:t>𝟑</m:t>
                        </m:r>
                      </m:e>
                    </m:d>
                  </m:oMath>
                </a14:m>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a:latin typeface="Cambria Math" panose="02040503050406030204" pitchFamily="18" charset="0"/>
                        <a:ea typeface="Calibri" panose="020F0502020204030204" pitchFamily="34" charset="0"/>
                        <a:cs typeface="Times New Roman" panose="02020603050405020304" pitchFamily="18" charset="0"/>
                      </a:rPr>
                      <m:t>𝑩</m:t>
                    </m:r>
                    <m:d>
                      <m:dPr>
                        <m:ctrlPr>
                          <a:rPr lang="en-US" sz="4600" b="1" i="1">
                            <a:latin typeface="Cambria Math" panose="02040503050406030204" pitchFamily="18" charset="0"/>
                            <a:ea typeface="Calibri" panose="020F0502020204030204" pitchFamily="34" charset="0"/>
                            <a:cs typeface="Times New Roman" panose="02020603050405020304" pitchFamily="18" charset="0"/>
                          </a:rPr>
                        </m:ctrlPr>
                      </m:dPr>
                      <m:e>
                        <m:r>
                          <a:rPr lang="en-US" sz="4600" b="1" i="1">
                            <a:latin typeface="Cambria Math" panose="02040503050406030204" pitchFamily="18" charset="0"/>
                            <a:ea typeface="Calibri" panose="020F0502020204030204" pitchFamily="34" charset="0"/>
                            <a:cs typeface="Times New Roman" panose="02020603050405020304" pitchFamily="18" charset="0"/>
                          </a:rPr>
                          <m:t>−</m:t>
                        </m:r>
                        <m:r>
                          <a:rPr lang="en-US" sz="4600" b="1" i="1">
                            <a:latin typeface="Cambria Math" panose="02040503050406030204" pitchFamily="18" charset="0"/>
                            <a:ea typeface="Calibri" panose="020F0502020204030204" pitchFamily="34" charset="0"/>
                            <a:cs typeface="Times New Roman" panose="02020603050405020304" pitchFamily="18" charset="0"/>
                          </a:rPr>
                          <m:t>𝟐</m:t>
                        </m:r>
                        <m:r>
                          <a:rPr lang="en-US" sz="4600" b="1" i="1">
                            <a:latin typeface="Cambria Math" panose="02040503050406030204" pitchFamily="18" charset="0"/>
                            <a:ea typeface="Calibri" panose="020F0502020204030204" pitchFamily="34" charset="0"/>
                            <a:cs typeface="Times New Roman" panose="02020603050405020304" pitchFamily="18" charset="0"/>
                          </a:rPr>
                          <m:t>;</m:t>
                        </m:r>
                        <m:r>
                          <a:rPr lang="en-US" sz="4600" b="1" i="1">
                            <a:latin typeface="Cambria Math" panose="02040503050406030204" pitchFamily="18" charset="0"/>
                            <a:ea typeface="Calibri" panose="020F0502020204030204" pitchFamily="34" charset="0"/>
                            <a:cs typeface="Times New Roman" panose="02020603050405020304" pitchFamily="18" charset="0"/>
                          </a:rPr>
                          <m:t>𝟔</m:t>
                        </m:r>
                      </m:e>
                    </m:d>
                  </m:oMath>
                </a14:m>
                <a:r>
                  <a:rPr lang="en-US" sz="4600" b="1"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r>
                      <a:rPr lang="en-US" sz="4600" b="1" i="1">
                        <a:latin typeface="Cambria Math" panose="02040503050406030204" pitchFamily="18" charset="0"/>
                        <a:ea typeface="Calibri" panose="020F0502020204030204" pitchFamily="34" charset="0"/>
                        <a:cs typeface="Times New Roman" panose="02020603050405020304" pitchFamily="18" charset="0"/>
                      </a:rPr>
                      <m:t>𝑪</m:t>
                    </m:r>
                    <m:d>
                      <m:dPr>
                        <m:ctrlPr>
                          <a:rPr lang="en-US" sz="4600" b="1" i="1">
                            <a:latin typeface="Cambria Math" panose="02040503050406030204" pitchFamily="18" charset="0"/>
                            <a:ea typeface="Calibri" panose="020F0502020204030204" pitchFamily="34" charset="0"/>
                            <a:cs typeface="Times New Roman" panose="02020603050405020304" pitchFamily="18" charset="0"/>
                          </a:rPr>
                        </m:ctrlPr>
                      </m:dPr>
                      <m:e>
                        <m:r>
                          <a:rPr lang="en-US" sz="4600" b="1" i="1">
                            <a:latin typeface="Cambria Math" panose="02040503050406030204" pitchFamily="18" charset="0"/>
                            <a:ea typeface="Calibri" panose="020F0502020204030204" pitchFamily="34" charset="0"/>
                            <a:cs typeface="Times New Roman" panose="02020603050405020304" pitchFamily="18" charset="0"/>
                          </a:rPr>
                          <m:t>𝟓</m:t>
                        </m:r>
                        <m:r>
                          <a:rPr lang="en-US" sz="4600" b="1" i="1">
                            <a:latin typeface="Cambria Math" panose="02040503050406030204" pitchFamily="18" charset="0"/>
                            <a:ea typeface="Calibri" panose="020F0502020204030204" pitchFamily="34" charset="0"/>
                            <a:cs typeface="Times New Roman" panose="02020603050405020304" pitchFamily="18" charset="0"/>
                          </a:rPr>
                          <m:t>;</m:t>
                        </m:r>
                        <m:r>
                          <a:rPr lang="en-US" sz="4600" b="1" i="1">
                            <a:latin typeface="Cambria Math" panose="02040503050406030204" pitchFamily="18" charset="0"/>
                            <a:ea typeface="Calibri" panose="020F0502020204030204" pitchFamily="34" charset="0"/>
                            <a:cs typeface="Times New Roman" panose="02020603050405020304" pitchFamily="18" charset="0"/>
                          </a:rPr>
                          <m:t>𝟏</m:t>
                        </m:r>
                      </m:e>
                    </m:d>
                  </m:oMath>
                </a14:m>
                <a:r>
                  <a:rPr lang="en-US" sz="4600" b="1" dirty="0">
                    <a:latin typeface="Tahoma" panose="020B0604030504040204" pitchFamily="34" charset="0"/>
                    <a:ea typeface="Tahoma" panose="020B0604030504040204" pitchFamily="34" charset="0"/>
                    <a:cs typeface="Tahoma" panose="020B0604030504040204" pitchFamily="34" charset="0"/>
                  </a:rPr>
                  <a:t>.</a:t>
                </a:r>
              </a:p>
              <a:p>
                <a:pPr>
                  <a:lnSpc>
                    <a:spcPct val="107000"/>
                  </a:lnSpc>
                  <a:spcAft>
                    <a:spcPts val="800"/>
                  </a:spcAft>
                </a:pPr>
                <a:r>
                  <a:rPr lang="en-US" sz="4600" b="1" dirty="0">
                    <a:latin typeface="Tahoma" panose="020B0604030504040204" pitchFamily="34" charset="0"/>
                    <a:ea typeface="Tahoma" panose="020B0604030504040204" pitchFamily="34" charset="0"/>
                    <a:cs typeface="Tahoma" panose="020B0604030504040204" pitchFamily="34" charset="0"/>
                  </a:rPr>
                  <a:t>a) </a:t>
                </a:r>
                <a:r>
                  <a:rPr lang="en-US" sz="4600" b="1" dirty="0" err="1">
                    <a:latin typeface="Tahoma" panose="020B0604030504040204" pitchFamily="34" charset="0"/>
                    <a:ea typeface="Tahoma" panose="020B0604030504040204" pitchFamily="34" charset="0"/>
                    <a:cs typeface="Tahoma" panose="020B0604030504040204" pitchFamily="34" charset="0"/>
                  </a:rPr>
                  <a:t>Tìm</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tọa</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độ</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trung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điểm</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a:latin typeface="Cambria Math" panose="02040503050406030204" pitchFamily="18" charset="0"/>
                        <a:ea typeface="Calibri" panose="020F0502020204030204" pitchFamily="34" charset="0"/>
                        <a:cs typeface="Times New Roman" panose="02020603050405020304" pitchFamily="18" charset="0"/>
                      </a:rPr>
                      <m:t>𝑰</m:t>
                    </m:r>
                  </m:oMath>
                </a14:m>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của</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đoạn</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thẳng</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a:latin typeface="Cambria Math" panose="02040503050406030204" pitchFamily="18" charset="0"/>
                        <a:ea typeface="Calibri" panose="020F0502020204030204" pitchFamily="34" charset="0"/>
                        <a:cs typeface="Times New Roman" panose="02020603050405020304" pitchFamily="18" charset="0"/>
                      </a:rPr>
                      <m:t>𝑨𝑩</m:t>
                    </m:r>
                  </m:oMath>
                </a14:m>
                <a:r>
                  <a:rPr lang="en-US" sz="4600" b="1" dirty="0">
                    <a:latin typeface="Tahoma" panose="020B0604030504040204" pitchFamily="34" charset="0"/>
                    <a:ea typeface="Tahoma" panose="020B0604030504040204" pitchFamily="34" charset="0"/>
                    <a:cs typeface="Tahoma" panose="020B0604030504040204" pitchFamily="34" charset="0"/>
                  </a:rPr>
                  <a:t>.</a:t>
                </a:r>
              </a:p>
              <a:p>
                <a:pPr>
                  <a:lnSpc>
                    <a:spcPct val="107000"/>
                  </a:lnSpc>
                  <a:spcAft>
                    <a:spcPts val="800"/>
                  </a:spcAft>
                </a:pPr>
                <a:r>
                  <a:rPr lang="en-US" sz="4600" b="1" dirty="0">
                    <a:latin typeface="Tahoma" panose="020B0604030504040204" pitchFamily="34" charset="0"/>
                    <a:ea typeface="Tahoma" panose="020B0604030504040204" pitchFamily="34" charset="0"/>
                    <a:cs typeface="Tahoma" panose="020B0604030504040204" pitchFamily="34" charset="0"/>
                  </a:rPr>
                  <a:t>b) </a:t>
                </a:r>
                <a:r>
                  <a:rPr lang="en-US" sz="4600" b="1" dirty="0" err="1">
                    <a:latin typeface="Tahoma" panose="020B0604030504040204" pitchFamily="34" charset="0"/>
                    <a:ea typeface="Tahoma" panose="020B0604030504040204" pitchFamily="34" charset="0"/>
                    <a:cs typeface="Tahoma" panose="020B0604030504040204" pitchFamily="34" charset="0"/>
                  </a:rPr>
                  <a:t>Tìm</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tọa</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độ</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trọng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tâm</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a:latin typeface="Cambria Math" panose="02040503050406030204" pitchFamily="18" charset="0"/>
                        <a:ea typeface="Calibri" panose="020F0502020204030204" pitchFamily="34" charset="0"/>
                        <a:cs typeface="Times New Roman" panose="02020603050405020304" pitchFamily="18" charset="0"/>
                      </a:rPr>
                      <m:t>𝑮</m:t>
                    </m:r>
                  </m:oMath>
                </a14:m>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của</a:t>
                </a:r>
                <a:r>
                  <a:rPr lang="en-US" sz="4600" b="1" dirty="0">
                    <a:latin typeface="Tahoma" panose="020B0604030504040204" pitchFamily="34" charset="0"/>
                    <a:ea typeface="Tahoma" panose="020B0604030504040204" pitchFamily="34" charset="0"/>
                    <a:cs typeface="Tahoma" panose="020B0604030504040204" pitchFamily="34" charset="0"/>
                  </a:rPr>
                  <a:t> tam </a:t>
                </a:r>
                <a:r>
                  <a:rPr lang="en-US" sz="4600" b="1" dirty="0" err="1">
                    <a:latin typeface="Tahoma" panose="020B0604030504040204" pitchFamily="34" charset="0"/>
                    <a:ea typeface="Tahoma" panose="020B0604030504040204" pitchFamily="34" charset="0"/>
                    <a:cs typeface="Tahoma" panose="020B0604030504040204" pitchFamily="34" charset="0"/>
                  </a:rPr>
                  <a:t>giác</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a:latin typeface="Cambria Math" panose="02040503050406030204" pitchFamily="18" charset="0"/>
                        <a:ea typeface="Calibri" panose="020F0502020204030204" pitchFamily="34" charset="0"/>
                        <a:cs typeface="Times New Roman" panose="02020603050405020304" pitchFamily="18" charset="0"/>
                      </a:rPr>
                      <m:t>𝑨𝑩𝑪</m:t>
                    </m:r>
                  </m:oMath>
                </a14:m>
                <a:r>
                  <a:rPr lang="en-US" sz="4600" b="1" dirty="0">
                    <a:latin typeface="Tahoma" panose="020B0604030504040204" pitchFamily="34" charset="0"/>
                    <a:ea typeface="Tahoma" panose="020B0604030504040204" pitchFamily="34" charset="0"/>
                    <a:cs typeface="Tahoma" panose="020B0604030504040204" pitchFamily="34" charset="0"/>
                  </a:rPr>
                  <a:t>.</a:t>
                </a:r>
              </a:p>
              <a:p>
                <a:endParaRPr lang="en-US" dirty="0"/>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2514603" y="1103119"/>
                <a:ext cx="21717000" cy="2471419"/>
              </a:xfrm>
              <a:prstGeom prst="rect">
                <a:avLst/>
              </a:prstGeom>
              <a:blipFill>
                <a:blip r:embed="rId3"/>
                <a:stretch>
                  <a:fillRect l="-1178" t="-5897" r="-898" b="-12531"/>
                </a:stretch>
              </a:blipFill>
              <a:ln>
                <a:solidFill>
                  <a:schemeClr val="tx2">
                    <a:lumMod val="20000"/>
                    <a:lumOff val="8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81000" y="3657600"/>
                <a:ext cx="23622000" cy="97536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vi-VN" sz="4400" b="1" dirty="0">
                    <a:solidFill>
                      <a:srgbClr val="385623"/>
                    </a:solidFill>
                    <a:latin typeface="Tahoma" panose="020B0604030504040204" pitchFamily="34" charset="0"/>
                    <a:ea typeface="Tahoma" panose="020B0604030504040204" pitchFamily="34" charset="0"/>
                    <a:cs typeface="Tahoma" panose="020B0604030504040204" pitchFamily="34" charset="0"/>
                  </a:rPr>
                  <a:t>a)</a:t>
                </a:r>
                <a:r>
                  <a:rPr lang="en-US" sz="4400" b="1" dirty="0">
                    <a:solidFill>
                      <a:srgbClr val="385623"/>
                    </a:solidFill>
                    <a:latin typeface="Tahoma" panose="020B0604030504040204" pitchFamily="34" charset="0"/>
                    <a:ea typeface="Tahoma" panose="020B0604030504040204" pitchFamily="34" charset="0"/>
                    <a:cs typeface="Tahoma" panose="020B0604030504040204" pitchFamily="34" charset="0"/>
                  </a:rPr>
                  <a:t> </a:t>
                </a:r>
                <a:r>
                  <a:rPr lang="vi-VN" sz="4400" b="1" dirty="0">
                    <a:solidFill>
                      <a:srgbClr val="000000"/>
                    </a:solidFill>
                    <a:latin typeface="Tahoma" panose="020B0604030504040204" pitchFamily="34" charset="0"/>
                    <a:ea typeface="Tahoma" panose="020B0604030504040204" pitchFamily="34" charset="0"/>
                    <a:cs typeface="Tahoma" panose="020B0604030504040204" pitchFamily="34" charset="0"/>
                  </a:rPr>
                  <a:t>Điểm </a:t>
                </a:r>
                <a14:m>
                  <m:oMath xmlns:m="http://schemas.openxmlformats.org/officeDocument/2006/math">
                    <m:r>
                      <a:rPr lang="vi-VN" sz="4400" b="1" i="1">
                        <a:latin typeface="Cambria Math" panose="02040503050406030204" pitchFamily="18" charset="0"/>
                        <a:ea typeface="Calibri" panose="020F0502020204030204" pitchFamily="34" charset="0"/>
                        <a:cs typeface="Times New Roman" panose="02020603050405020304" pitchFamily="18" charset="0"/>
                      </a:rPr>
                      <m:t>𝑰</m:t>
                    </m:r>
                    <m:d>
                      <m:dPr>
                        <m:ctrlPr>
                          <a:rPr lang="en-US" sz="4400" b="1" i="1">
                            <a:latin typeface="Cambria Math" panose="02040503050406030204" pitchFamily="18" charset="0"/>
                            <a:ea typeface="Calibri" panose="020F0502020204030204" pitchFamily="34" charset="0"/>
                            <a:cs typeface="Times New Roman" panose="02020603050405020304" pitchFamily="18" charset="0"/>
                          </a:rPr>
                        </m:ctrlPr>
                      </m:dPr>
                      <m:e>
                        <m:r>
                          <a:rPr lang="vi-VN" sz="4400" b="1" i="1">
                            <a:latin typeface="Cambria Math" panose="02040503050406030204" pitchFamily="18" charset="0"/>
                            <a:ea typeface="Calibri" panose="020F0502020204030204" pitchFamily="34" charset="0"/>
                            <a:cs typeface="Times New Roman" panose="02020603050405020304" pitchFamily="18" charset="0"/>
                          </a:rPr>
                          <m:t>𝒙</m:t>
                        </m:r>
                        <m:r>
                          <a:rPr lang="vi-VN" sz="4400" b="1" i="1">
                            <a:latin typeface="Cambria Math" panose="02040503050406030204" pitchFamily="18" charset="0"/>
                            <a:ea typeface="Calibri" panose="020F0502020204030204" pitchFamily="34" charset="0"/>
                            <a:cs typeface="Times New Roman" panose="02020603050405020304" pitchFamily="18" charset="0"/>
                          </a:rPr>
                          <m:t>;</m:t>
                        </m:r>
                        <m:r>
                          <a:rPr lang="vi-VN" sz="4400" b="1" i="1">
                            <a:latin typeface="Cambria Math" panose="02040503050406030204" pitchFamily="18" charset="0"/>
                            <a:ea typeface="Calibri" panose="020F0502020204030204" pitchFamily="34" charset="0"/>
                            <a:cs typeface="Times New Roman" panose="02020603050405020304" pitchFamily="18" charset="0"/>
                          </a:rPr>
                          <m:t>𝒚</m:t>
                        </m:r>
                      </m:e>
                    </m:d>
                  </m:oMath>
                </a14:m>
                <a:r>
                  <a:rPr lang="vi-VN" sz="4400" b="1" dirty="0">
                    <a:solidFill>
                      <a:srgbClr val="000000"/>
                    </a:solidFill>
                    <a:latin typeface="Tahoma" panose="020B0604030504040204" pitchFamily="34" charset="0"/>
                    <a:ea typeface="Tahoma" panose="020B0604030504040204" pitchFamily="34" charset="0"/>
                    <a:cs typeface="Tahoma" panose="020B0604030504040204" pitchFamily="34" charset="0"/>
                  </a:rPr>
                  <a:t> là trung điểm của đoạn thẳng </a:t>
                </a:r>
                <a:r>
                  <a:rPr lang="vi-VN" sz="4400" b="1" i="1" dirty="0">
                    <a:solidFill>
                      <a:srgbClr val="000000"/>
                    </a:solidFill>
                    <a:latin typeface="Tahoma" panose="020B0604030504040204" pitchFamily="34" charset="0"/>
                    <a:ea typeface="Tahoma" panose="020B0604030504040204" pitchFamily="34" charset="0"/>
                    <a:cs typeface="Tahoma" panose="020B0604030504040204" pitchFamily="34" charset="0"/>
                  </a:rPr>
                  <a:t>AB</a:t>
                </a:r>
                <a:r>
                  <a:rPr lang="vi-VN" sz="4400" b="1" dirty="0">
                    <a:solidFill>
                      <a:srgbClr val="000000"/>
                    </a:solidFill>
                    <a:latin typeface="Tahoma" panose="020B0604030504040204" pitchFamily="34" charset="0"/>
                    <a:ea typeface="Tahoma" panose="020B0604030504040204" pitchFamily="34" charset="0"/>
                    <a:cs typeface="Tahoma" panose="020B0604030504040204" pitchFamily="34" charset="0"/>
                  </a:rPr>
                  <a:t>  khi </a:t>
                </a:r>
                <a:r>
                  <a:rPr lang="vi-VN" sz="4400" b="1" dirty="0">
                    <a:solidFill>
                      <a:srgbClr val="2A2A2A"/>
                    </a:solidFill>
                    <a:latin typeface="Tahoma" panose="020B0604030504040204" pitchFamily="34" charset="0"/>
                    <a:ea typeface="Tahoma" panose="020B0604030504040204" pitchFamily="34" charset="0"/>
                    <a:cs typeface="Tahoma" panose="020B0604030504040204" pitchFamily="34" charset="0"/>
                  </a:rPr>
                  <a:t>và </a:t>
                </a:r>
                <a:r>
                  <a:rPr lang="en-US" sz="4400" b="1" dirty="0" err="1">
                    <a:solidFill>
                      <a:srgbClr val="2A2A2A"/>
                    </a:solidFill>
                    <a:latin typeface="Tahoma" panose="020B0604030504040204" pitchFamily="34" charset="0"/>
                    <a:ea typeface="Tahoma" panose="020B0604030504040204" pitchFamily="34" charset="0"/>
                    <a:cs typeface="Tahoma" panose="020B0604030504040204" pitchFamily="34" charset="0"/>
                  </a:rPr>
                  <a:t>chỉ</a:t>
                </a:r>
                <a:r>
                  <a:rPr lang="en-US" sz="4400" b="1" dirty="0">
                    <a:solidFill>
                      <a:srgbClr val="2A2A2A"/>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2A2A2A"/>
                    </a:solidFill>
                    <a:latin typeface="Tahoma" panose="020B0604030504040204" pitchFamily="34" charset="0"/>
                    <a:ea typeface="Tahoma" panose="020B0604030504040204" pitchFamily="34" charset="0"/>
                    <a:cs typeface="Tahoma" panose="020B0604030504040204" pitchFamily="34" charset="0"/>
                  </a:rPr>
                  <a:t>khi</a:t>
                </a:r>
                <a:r>
                  <a:rPr lang="en-US" sz="4400" b="1" dirty="0">
                    <a:solidFill>
                      <a:srgbClr val="2A2A2A"/>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ea typeface="Calibri" panose="020F0502020204030204" pitchFamily="34" charset="0"/>
                          </a:rPr>
                        </m:ctrlPr>
                      </m:accPr>
                      <m:e>
                        <m:r>
                          <a:rPr lang="en-US" sz="4400" b="1" i="1">
                            <a:latin typeface="Cambria Math" panose="02040503050406030204" pitchFamily="18" charset="0"/>
                            <a:ea typeface="Calibri" panose="020F0502020204030204" pitchFamily="34" charset="0"/>
                          </a:rPr>
                          <m:t>𝑰𝑨</m:t>
                        </m:r>
                      </m:e>
                    </m:acc>
                    <m:r>
                      <a:rPr lang="en-US" sz="4400" b="1" i="1">
                        <a:latin typeface="Cambria Math" panose="02040503050406030204" pitchFamily="18" charset="0"/>
                        <a:ea typeface="Calibri" panose="020F0502020204030204" pitchFamily="34" charset="0"/>
                      </a:rPr>
                      <m:t>+</m:t>
                    </m:r>
                    <m:acc>
                      <m:accPr>
                        <m:chr m:val="⃗"/>
                        <m:ctrlPr>
                          <a:rPr lang="en-US" sz="4400" b="1" i="1">
                            <a:latin typeface="Cambria Math" panose="02040503050406030204" pitchFamily="18" charset="0"/>
                            <a:ea typeface="Calibri" panose="020F0502020204030204" pitchFamily="34" charset="0"/>
                          </a:rPr>
                        </m:ctrlPr>
                      </m:accPr>
                      <m:e>
                        <m:r>
                          <a:rPr lang="en-US" sz="4400" b="1" i="1">
                            <a:latin typeface="Cambria Math" panose="02040503050406030204" pitchFamily="18" charset="0"/>
                            <a:ea typeface="Calibri" panose="020F0502020204030204" pitchFamily="34" charset="0"/>
                          </a:rPr>
                          <m:t>𝑰𝑩</m:t>
                        </m:r>
                      </m:e>
                    </m:acc>
                    <m:r>
                      <a:rPr lang="en-US" sz="4400" b="1" i="1">
                        <a:latin typeface="Cambria Math" panose="02040503050406030204" pitchFamily="18" charset="0"/>
                        <a:ea typeface="Calibri" panose="020F0502020204030204" pitchFamily="34" charset="0"/>
                      </a:rPr>
                      <m:t>=</m:t>
                    </m:r>
                    <m:r>
                      <a:rPr lang="en-US" sz="4400" b="1" i="1">
                        <a:latin typeface="Cambria Math" panose="02040503050406030204" pitchFamily="18" charset="0"/>
                        <a:ea typeface="Calibri" panose="020F0502020204030204" pitchFamily="34" charset="0"/>
                      </a:rPr>
                      <m:t>𝟎</m:t>
                    </m:r>
                    <m:d>
                      <m:dPr>
                        <m:ctrlPr>
                          <a:rPr lang="en-US" sz="4400" b="1" i="1">
                            <a:latin typeface="Cambria Math" panose="02040503050406030204" pitchFamily="18" charset="0"/>
                            <a:ea typeface="Calibri" panose="020F0502020204030204" pitchFamily="34" charset="0"/>
                          </a:rPr>
                        </m:ctrlPr>
                      </m:dPr>
                      <m:e>
                        <m:r>
                          <a:rPr lang="en-US" sz="4400" b="1" i="1">
                            <a:latin typeface="Cambria Math" panose="02040503050406030204" pitchFamily="18" charset="0"/>
                            <a:ea typeface="Calibri" panose="020F0502020204030204" pitchFamily="34" charset="0"/>
                          </a:rPr>
                          <m:t>∗</m:t>
                        </m:r>
                      </m:e>
                    </m:d>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7000"/>
                  </a:lnSpc>
                  <a:spcAft>
                    <a:spcPts val="800"/>
                  </a:spcAft>
                </a:pPr>
                <a:r>
                  <a:rPr lang="en-US" sz="4400" b="1" dirty="0" err="1">
                    <a:latin typeface="Tahoma" panose="020B0604030504040204" pitchFamily="34" charset="0"/>
                    <a:ea typeface="Tahoma" panose="020B0604030504040204" pitchFamily="34" charset="0"/>
                    <a:cs typeface="Tahoma" panose="020B0604030504040204" pitchFamily="34" charset="0"/>
                  </a:rPr>
                  <a:t>Mặt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khác</a:t>
                </a:r>
                <a:r>
                  <a:rPr lang="vi-VN" sz="4400" b="1" dirty="0">
                    <a:latin typeface="Tahoma" panose="020B0604030504040204" pitchFamily="34" charset="0"/>
                    <a:ea typeface="Tahoma" panose="020B0604030504040204" pitchFamily="34" charset="0"/>
                    <a:cs typeface="Tahoma" panose="020B0604030504040204" pitchFamily="34" charset="0"/>
                  </a:rPr>
                  <a:t> </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latin typeface="Cambria Math" panose="02040503050406030204" pitchFamily="18" charset="0"/>
                            <a:ea typeface="Calibri" panose="020F0502020204030204" pitchFamily="34" charset="0"/>
                            <a:cs typeface="Times New Roman" panose="02020603050405020304" pitchFamily="18" charset="0"/>
                          </a:rPr>
                          <m:t>𝑰𝑨</m:t>
                        </m:r>
                      </m:e>
                    </m:acc>
                    <m:r>
                      <a:rPr lang="en-US" sz="4400" b="1" i="1">
                        <a:latin typeface="Cambria Math" panose="02040503050406030204" pitchFamily="18" charset="0"/>
                        <a:ea typeface="Calibri" panose="020F0502020204030204" pitchFamily="34" charset="0"/>
                        <a:cs typeface="Times New Roman" panose="02020603050405020304" pitchFamily="18" charset="0"/>
                      </a:rPr>
                      <m:t>=</m:t>
                    </m:r>
                    <m:d>
                      <m:dPr>
                        <m:ctrlPr>
                          <a:rPr lang="en-US" sz="4400" b="1" i="1">
                            <a:latin typeface="Cambria Math" panose="02040503050406030204" pitchFamily="18" charset="0"/>
                            <a:ea typeface="Calibri" panose="020F0502020204030204" pitchFamily="34" charset="0"/>
                            <a:cs typeface="Times New Roman" panose="02020603050405020304" pitchFamily="18" charset="0"/>
                          </a:rPr>
                        </m:ctrlPr>
                      </m:dPr>
                      <m:e>
                        <m:r>
                          <a:rPr lang="en-US" sz="4400" b="1" i="1">
                            <a:latin typeface="Cambria Math" panose="02040503050406030204" pitchFamily="18" charset="0"/>
                            <a:ea typeface="Calibri" panose="020F0502020204030204" pitchFamily="34" charset="0"/>
                            <a:cs typeface="Times New Roman" panose="02020603050405020304" pitchFamily="18" charset="0"/>
                          </a:rPr>
                          <m:t>𝟏</m:t>
                        </m:r>
                        <m:r>
                          <a:rPr lang="en-US" sz="4400" b="1" i="1">
                            <a:latin typeface="Cambria Math" panose="02040503050406030204" pitchFamily="18" charset="0"/>
                            <a:ea typeface="Calibri" panose="020F0502020204030204" pitchFamily="34" charset="0"/>
                            <a:cs typeface="Times New Roman" panose="02020603050405020304" pitchFamily="18" charset="0"/>
                          </a:rPr>
                          <m:t>−</m:t>
                        </m:r>
                        <m:r>
                          <a:rPr lang="en-US" sz="4400" b="1" i="1">
                            <a:latin typeface="Cambria Math" panose="02040503050406030204" pitchFamily="18" charset="0"/>
                            <a:ea typeface="Calibri" panose="020F0502020204030204" pitchFamily="34" charset="0"/>
                            <a:cs typeface="Times New Roman" panose="02020603050405020304" pitchFamily="18" charset="0"/>
                          </a:rPr>
                          <m:t>𝒙</m:t>
                        </m:r>
                        <m:r>
                          <a:rPr lang="en-US" sz="4400" b="1" i="1">
                            <a:latin typeface="Cambria Math" panose="02040503050406030204" pitchFamily="18" charset="0"/>
                            <a:ea typeface="Calibri" panose="020F0502020204030204" pitchFamily="34" charset="0"/>
                            <a:cs typeface="Times New Roman" panose="02020603050405020304" pitchFamily="18" charset="0"/>
                          </a:rPr>
                          <m:t>;</m:t>
                        </m:r>
                        <m:r>
                          <a:rPr lang="en-US" sz="4400" b="1" i="1">
                            <a:latin typeface="Cambria Math" panose="02040503050406030204" pitchFamily="18" charset="0"/>
                            <a:ea typeface="Calibri" panose="020F0502020204030204" pitchFamily="34" charset="0"/>
                            <a:cs typeface="Times New Roman" panose="02020603050405020304" pitchFamily="18" charset="0"/>
                          </a:rPr>
                          <m:t>𝟑</m:t>
                        </m:r>
                        <m:r>
                          <a:rPr lang="en-US" sz="4400" b="1" i="1">
                            <a:latin typeface="Cambria Math" panose="02040503050406030204" pitchFamily="18" charset="0"/>
                            <a:ea typeface="Calibri" panose="020F0502020204030204" pitchFamily="34" charset="0"/>
                            <a:cs typeface="Times New Roman" panose="02020603050405020304" pitchFamily="18" charset="0"/>
                          </a:rPr>
                          <m:t>−</m:t>
                        </m:r>
                        <m:r>
                          <a:rPr lang="en-US" sz="4400" b="1" i="1">
                            <a:latin typeface="Cambria Math" panose="02040503050406030204" pitchFamily="18" charset="0"/>
                            <a:ea typeface="Calibri" panose="020F0502020204030204" pitchFamily="34" charset="0"/>
                            <a:cs typeface="Times New Roman" panose="02020603050405020304" pitchFamily="18" charset="0"/>
                          </a:rPr>
                          <m:t>𝒚</m:t>
                        </m:r>
                      </m:e>
                    </m:d>
                    <m:r>
                      <a:rPr lang="en-US" sz="4400" b="1" i="1">
                        <a:latin typeface="Cambria Math" panose="02040503050406030204" pitchFamily="18" charset="0"/>
                        <a:ea typeface="Calibri" panose="020F0502020204030204" pitchFamily="34" charset="0"/>
                        <a:cs typeface="Times New Roman" panose="02020603050405020304" pitchFamily="18" charset="0"/>
                      </a:rPr>
                      <m:t>,</m:t>
                    </m:r>
                  </m:oMath>
                </a14:m>
                <a:r>
                  <a:rPr lang="vi-VN" sz="4400" b="1" i="1" dirty="0">
                    <a:latin typeface="Tahoma" panose="020B0604030504040204" pitchFamily="34" charset="0"/>
                    <a:ea typeface="Tahoma" panose="020B0604030504040204" pitchFamily="34" charset="0"/>
                    <a:cs typeface="Tahoma" panose="020B0604030504040204" pitchFamily="34" charset="0"/>
                  </a:rPr>
                  <a:t> </a:t>
                </a:r>
                <a:r>
                  <a:rPr lang="vi-VN"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latin typeface="Cambria Math" panose="02040503050406030204" pitchFamily="18" charset="0"/>
                            <a:ea typeface="Calibri" panose="020F0502020204030204" pitchFamily="34" charset="0"/>
                            <a:cs typeface="Times New Roman" panose="02020603050405020304" pitchFamily="18" charset="0"/>
                          </a:rPr>
                          <m:t>𝑰𝑩</m:t>
                        </m:r>
                      </m:e>
                    </m:acc>
                    <m:r>
                      <a:rPr lang="en-US" sz="4400" b="1" i="1">
                        <a:latin typeface="Cambria Math" panose="02040503050406030204" pitchFamily="18" charset="0"/>
                        <a:ea typeface="Calibri" panose="020F0502020204030204" pitchFamily="34" charset="0"/>
                        <a:cs typeface="Times New Roman" panose="02020603050405020304" pitchFamily="18" charset="0"/>
                      </a:rPr>
                      <m:t>=</m:t>
                    </m:r>
                    <m:d>
                      <m:dPr>
                        <m:ctrlPr>
                          <a:rPr lang="en-US" sz="4400" b="1" i="1">
                            <a:latin typeface="Cambria Math" panose="02040503050406030204" pitchFamily="18" charset="0"/>
                            <a:ea typeface="Calibri" panose="020F0502020204030204" pitchFamily="34" charset="0"/>
                            <a:cs typeface="Times New Roman" panose="02020603050405020304" pitchFamily="18" charset="0"/>
                          </a:rPr>
                        </m:ctrlPr>
                      </m:dPr>
                      <m:e>
                        <m:r>
                          <a:rPr lang="en-US" sz="4400" b="1" i="1">
                            <a:latin typeface="Cambria Math" panose="02040503050406030204" pitchFamily="18" charset="0"/>
                            <a:ea typeface="Calibri" panose="020F0502020204030204" pitchFamily="34" charset="0"/>
                            <a:cs typeface="Times New Roman" panose="02020603050405020304" pitchFamily="18" charset="0"/>
                          </a:rPr>
                          <m:t>−</m:t>
                        </m:r>
                        <m:r>
                          <a:rPr lang="en-US" sz="4400" b="1" i="1">
                            <a:latin typeface="Cambria Math" panose="02040503050406030204" pitchFamily="18" charset="0"/>
                            <a:ea typeface="Calibri" panose="020F0502020204030204" pitchFamily="34" charset="0"/>
                            <a:cs typeface="Times New Roman" panose="02020603050405020304" pitchFamily="18" charset="0"/>
                          </a:rPr>
                          <m:t>𝟐</m:t>
                        </m:r>
                        <m:r>
                          <a:rPr lang="en-US" sz="4400" b="1" i="1">
                            <a:latin typeface="Cambria Math" panose="02040503050406030204" pitchFamily="18" charset="0"/>
                            <a:ea typeface="Calibri" panose="020F0502020204030204" pitchFamily="34" charset="0"/>
                            <a:cs typeface="Times New Roman" panose="02020603050405020304" pitchFamily="18" charset="0"/>
                          </a:rPr>
                          <m:t>−</m:t>
                        </m:r>
                        <m:r>
                          <a:rPr lang="en-US" sz="4400" b="1" i="1">
                            <a:latin typeface="Cambria Math" panose="02040503050406030204" pitchFamily="18" charset="0"/>
                            <a:ea typeface="Calibri" panose="020F0502020204030204" pitchFamily="34" charset="0"/>
                            <a:cs typeface="Times New Roman" panose="02020603050405020304" pitchFamily="18" charset="0"/>
                          </a:rPr>
                          <m:t>𝒙</m:t>
                        </m:r>
                        <m:r>
                          <a:rPr lang="en-US" sz="4400" b="1" i="1">
                            <a:latin typeface="Cambria Math" panose="02040503050406030204" pitchFamily="18" charset="0"/>
                            <a:ea typeface="Calibri" panose="020F0502020204030204" pitchFamily="34" charset="0"/>
                            <a:cs typeface="Times New Roman" panose="02020603050405020304" pitchFamily="18" charset="0"/>
                          </a:rPr>
                          <m:t>;</m:t>
                        </m:r>
                        <m:r>
                          <a:rPr lang="en-US" sz="4400" b="1" i="1">
                            <a:latin typeface="Cambria Math" panose="02040503050406030204" pitchFamily="18" charset="0"/>
                            <a:ea typeface="Calibri" panose="020F0502020204030204" pitchFamily="34" charset="0"/>
                            <a:cs typeface="Times New Roman" panose="02020603050405020304" pitchFamily="18" charset="0"/>
                          </a:rPr>
                          <m:t>𝟔</m:t>
                        </m:r>
                        <m:r>
                          <a:rPr lang="en-US" sz="4400" b="1" i="1">
                            <a:latin typeface="Cambria Math" panose="02040503050406030204" pitchFamily="18" charset="0"/>
                            <a:ea typeface="Calibri" panose="020F0502020204030204" pitchFamily="34" charset="0"/>
                            <a:cs typeface="Times New Roman" panose="02020603050405020304" pitchFamily="18" charset="0"/>
                          </a:rPr>
                          <m:t>−</m:t>
                        </m:r>
                        <m:r>
                          <a:rPr lang="en-US" sz="4400" b="1" i="1">
                            <a:latin typeface="Cambria Math" panose="02040503050406030204" pitchFamily="18" charset="0"/>
                            <a:ea typeface="Calibri" panose="020F0502020204030204" pitchFamily="34" charset="0"/>
                            <a:cs typeface="Times New Roman" panose="02020603050405020304" pitchFamily="18" charset="0"/>
                          </a:rPr>
                          <m:t>𝒚</m:t>
                        </m:r>
                      </m:e>
                    </m:d>
                    <m:r>
                      <a:rPr lang="en-US" sz="4400" b="1" i="1">
                        <a:latin typeface="Cambria Math" panose="02040503050406030204" pitchFamily="18" charset="0"/>
                        <a:ea typeface="Calibri" panose="020F0502020204030204" pitchFamily="34" charset="0"/>
                        <a:cs typeface="Times New Roman" panose="02020603050405020304" pitchFamily="18" charset="0"/>
                      </a:rPr>
                      <m:t>⇒</m:t>
                    </m:r>
                  </m:oMath>
                </a14:m>
                <a:r>
                  <a:rPr lang="vi-VN" sz="4400" b="1" i="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latin typeface="Cambria Math" panose="02040503050406030204" pitchFamily="18" charset="0"/>
                            <a:ea typeface="Calibri" panose="020F0502020204030204" pitchFamily="34" charset="0"/>
                            <a:cs typeface="Times New Roman" panose="02020603050405020304" pitchFamily="18" charset="0"/>
                          </a:rPr>
                          <m:t>𝑰𝑨</m:t>
                        </m:r>
                      </m:e>
                    </m:acc>
                    <m:r>
                      <a:rPr lang="en-US" sz="4400" b="1"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latin typeface="Cambria Math" panose="02040503050406030204" pitchFamily="18" charset="0"/>
                            <a:ea typeface="Calibri" panose="020F0502020204030204" pitchFamily="34" charset="0"/>
                            <a:cs typeface="Times New Roman" panose="02020603050405020304" pitchFamily="18" charset="0"/>
                          </a:rPr>
                          <m:t>𝑰𝑩</m:t>
                        </m:r>
                      </m:e>
                    </m:acc>
                    <m:r>
                      <a:rPr lang="en-US" sz="4400" b="1" i="1">
                        <a:latin typeface="Cambria Math" panose="02040503050406030204" pitchFamily="18" charset="0"/>
                        <a:ea typeface="Calibri" panose="020F0502020204030204" pitchFamily="34" charset="0"/>
                        <a:cs typeface="Times New Roman" panose="02020603050405020304" pitchFamily="18" charset="0"/>
                      </a:rPr>
                      <m:t>=</m:t>
                    </m:r>
                    <m:d>
                      <m:dPr>
                        <m:ctrlPr>
                          <a:rPr lang="en-US" sz="4400" b="1" i="1">
                            <a:latin typeface="Cambria Math" panose="02040503050406030204" pitchFamily="18" charset="0"/>
                            <a:ea typeface="Calibri" panose="020F0502020204030204" pitchFamily="34" charset="0"/>
                            <a:cs typeface="Times New Roman" panose="02020603050405020304" pitchFamily="18" charset="0"/>
                          </a:rPr>
                        </m:ctrlPr>
                      </m:dPr>
                      <m:e>
                        <m:r>
                          <a:rPr lang="en-US" sz="4400" b="1" i="1">
                            <a:latin typeface="Cambria Math" panose="02040503050406030204" pitchFamily="18" charset="0"/>
                            <a:ea typeface="Calibri" panose="020F0502020204030204" pitchFamily="34" charset="0"/>
                            <a:cs typeface="Times New Roman" panose="02020603050405020304" pitchFamily="18" charset="0"/>
                          </a:rPr>
                          <m:t>−</m:t>
                        </m:r>
                        <m:r>
                          <a:rPr lang="en-US" sz="4400" b="1" i="1">
                            <a:latin typeface="Cambria Math" panose="02040503050406030204" pitchFamily="18" charset="0"/>
                            <a:ea typeface="Calibri" panose="020F0502020204030204" pitchFamily="34" charset="0"/>
                            <a:cs typeface="Times New Roman" panose="02020603050405020304" pitchFamily="18" charset="0"/>
                          </a:rPr>
                          <m:t>𝟏</m:t>
                        </m:r>
                        <m:r>
                          <a:rPr lang="en-US" sz="4400" b="1" i="1">
                            <a:latin typeface="Cambria Math" panose="02040503050406030204" pitchFamily="18" charset="0"/>
                            <a:ea typeface="Calibri" panose="020F0502020204030204" pitchFamily="34" charset="0"/>
                            <a:cs typeface="Times New Roman" panose="02020603050405020304" pitchFamily="18" charset="0"/>
                          </a:rPr>
                          <m:t>−</m:t>
                        </m:r>
                        <m:r>
                          <a:rPr lang="en-US" sz="4400" b="1" i="1">
                            <a:latin typeface="Cambria Math" panose="02040503050406030204" pitchFamily="18" charset="0"/>
                            <a:ea typeface="Calibri" panose="020F0502020204030204" pitchFamily="34" charset="0"/>
                            <a:cs typeface="Times New Roman" panose="02020603050405020304" pitchFamily="18" charset="0"/>
                          </a:rPr>
                          <m:t>𝟐</m:t>
                        </m:r>
                        <m:r>
                          <a:rPr lang="en-US" sz="4400" b="1" i="1">
                            <a:latin typeface="Cambria Math" panose="02040503050406030204" pitchFamily="18" charset="0"/>
                            <a:ea typeface="Calibri" panose="020F0502020204030204" pitchFamily="34" charset="0"/>
                            <a:cs typeface="Times New Roman" panose="02020603050405020304" pitchFamily="18" charset="0"/>
                          </a:rPr>
                          <m:t>𝒙</m:t>
                        </m:r>
                        <m:r>
                          <a:rPr lang="en-US" sz="4400" b="1" i="1">
                            <a:latin typeface="Cambria Math" panose="02040503050406030204" pitchFamily="18" charset="0"/>
                            <a:ea typeface="Calibri" panose="020F0502020204030204" pitchFamily="34" charset="0"/>
                            <a:cs typeface="Times New Roman" panose="02020603050405020304" pitchFamily="18" charset="0"/>
                          </a:rPr>
                          <m:t>;</m:t>
                        </m:r>
                        <m:r>
                          <a:rPr lang="en-US" sz="4400" b="1" i="1">
                            <a:latin typeface="Cambria Math" panose="02040503050406030204" pitchFamily="18" charset="0"/>
                            <a:ea typeface="Calibri" panose="020F0502020204030204" pitchFamily="34" charset="0"/>
                            <a:cs typeface="Times New Roman" panose="02020603050405020304" pitchFamily="18" charset="0"/>
                          </a:rPr>
                          <m:t>𝟗</m:t>
                        </m:r>
                        <m:r>
                          <a:rPr lang="en-US" sz="4400" b="1" i="1">
                            <a:latin typeface="Cambria Math" panose="02040503050406030204" pitchFamily="18" charset="0"/>
                            <a:ea typeface="Calibri" panose="020F0502020204030204" pitchFamily="34" charset="0"/>
                            <a:cs typeface="Times New Roman" panose="02020603050405020304" pitchFamily="18" charset="0"/>
                          </a:rPr>
                          <m:t>−</m:t>
                        </m:r>
                        <m:r>
                          <a:rPr lang="en-US" sz="4400" b="1" i="1">
                            <a:latin typeface="Cambria Math" panose="02040503050406030204" pitchFamily="18" charset="0"/>
                            <a:ea typeface="Calibri" panose="020F0502020204030204" pitchFamily="34" charset="0"/>
                            <a:cs typeface="Times New Roman" panose="02020603050405020304" pitchFamily="18" charset="0"/>
                          </a:rPr>
                          <m:t>𝟐</m:t>
                        </m:r>
                        <m:r>
                          <a:rPr lang="en-US" sz="4400" b="1" i="1">
                            <a:latin typeface="Cambria Math" panose="02040503050406030204" pitchFamily="18" charset="0"/>
                            <a:ea typeface="Calibri" panose="020F0502020204030204" pitchFamily="34" charset="0"/>
                            <a:cs typeface="Times New Roman" panose="02020603050405020304" pitchFamily="18" charset="0"/>
                          </a:rPr>
                          <m:t>𝒚</m:t>
                        </m:r>
                      </m:e>
                    </m:d>
                  </m:oMath>
                </a14:m>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a:latin typeface="Tahoma" panose="020B0604030504040204" pitchFamily="34" charset="0"/>
                    <a:ea typeface="Tahoma" panose="020B0604030504040204" pitchFamily="34" charset="0"/>
                    <a:cs typeface="Tahoma" panose="020B0604030504040204" pitchFamily="34" charset="0"/>
                  </a:rPr>
                  <a:t>Do </a:t>
                </a:r>
                <a:r>
                  <a:rPr lang="en-US" sz="4400" b="1" dirty="0" err="1">
                    <a:latin typeface="Tahoma" panose="020B0604030504040204" pitchFamily="34" charset="0"/>
                    <a:ea typeface="Tahoma" panose="020B0604030504040204" pitchFamily="34" charset="0"/>
                    <a:cs typeface="Tahoma" panose="020B0604030504040204" pitchFamily="34" charset="0"/>
                  </a:rPr>
                  <a:t>đó</a:t>
                </a:r>
                <a:r>
                  <a:rPr lang="en-US" sz="4400" b="1" dirty="0">
                    <a:latin typeface="Tahoma" panose="020B0604030504040204" pitchFamily="34" charset="0"/>
                    <a:ea typeface="Tahoma" panose="020B0604030504040204" pitchFamily="34" charset="0"/>
                    <a:cs typeface="Tahoma" panose="020B0604030504040204" pitchFamily="34" charset="0"/>
                  </a:rPr>
                  <a:t>, (*) </a:t>
                </a:r>
                <a:r>
                  <a:rPr lang="en-US" sz="4400" b="1" dirty="0" err="1">
                    <a:latin typeface="Tahoma" panose="020B0604030504040204" pitchFamily="34" charset="0"/>
                    <a:ea typeface="Tahoma" panose="020B0604030504040204" pitchFamily="34" charset="0"/>
                    <a:cs typeface="Tahoma" panose="020B0604030504040204" pitchFamily="34" charset="0"/>
                  </a:rPr>
                  <a:t>tương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latin typeface="Cambria Math" panose="02040503050406030204" pitchFamily="18" charset="0"/>
                          </a:rPr>
                        </m:ctrlPr>
                      </m:dPr>
                      <m:e>
                        <m:eqArr>
                          <m:eqArrPr>
                            <m:ctrlPr>
                              <a:rPr lang="en-US" sz="4400" b="1" i="1">
                                <a:latin typeface="Cambria Math" panose="02040503050406030204" pitchFamily="18" charset="0"/>
                              </a:rPr>
                            </m:ctrlPr>
                          </m:eqArrPr>
                          <m:e>
                            <m:r>
                              <a:rPr lang="en-US" sz="4400" b="1" i="1">
                                <a:latin typeface="Cambria Math" panose="02040503050406030204" pitchFamily="18" charset="0"/>
                              </a:rPr>
                              <m:t>−</m:t>
                            </m:r>
                            <m:r>
                              <a:rPr lang="en-US" sz="4400" b="1" i="1">
                                <a:latin typeface="Cambria Math" panose="02040503050406030204" pitchFamily="18" charset="0"/>
                              </a:rPr>
                              <m:t>𝟏</m:t>
                            </m:r>
                            <m:r>
                              <a:rPr lang="en-US" sz="4400" b="1" i="1">
                                <a:latin typeface="Cambria Math" panose="02040503050406030204" pitchFamily="18" charset="0"/>
                              </a:rPr>
                              <m:t>−</m:t>
                            </m:r>
                            <m:r>
                              <a:rPr lang="en-US" sz="4400" b="1" i="1">
                                <a:latin typeface="Cambria Math" panose="02040503050406030204" pitchFamily="18" charset="0"/>
                              </a:rPr>
                              <m:t>𝟐</m:t>
                            </m:r>
                            <m:r>
                              <a:rPr lang="en-US" sz="4400" b="1" i="1">
                                <a:latin typeface="Cambria Math" panose="02040503050406030204" pitchFamily="18" charset="0"/>
                              </a:rPr>
                              <m:t>𝒙</m:t>
                            </m:r>
                            <m:r>
                              <a:rPr lang="en-US" sz="4400" b="1" i="1">
                                <a:latin typeface="Cambria Math" panose="02040503050406030204" pitchFamily="18" charset="0"/>
                              </a:rPr>
                              <m:t>=</m:t>
                            </m:r>
                            <m:r>
                              <a:rPr lang="en-US" sz="4400" b="1" i="1">
                                <a:latin typeface="Cambria Math" panose="02040503050406030204" pitchFamily="18" charset="0"/>
                              </a:rPr>
                              <m:t>𝟎</m:t>
                            </m:r>
                          </m:e>
                          <m:e>
                            <m:r>
                              <a:rPr lang="en-US" sz="4400" b="1" i="1">
                                <a:latin typeface="Cambria Math" panose="02040503050406030204" pitchFamily="18" charset="0"/>
                              </a:rPr>
                              <m:t>𝟗</m:t>
                            </m:r>
                            <m:r>
                              <a:rPr lang="en-US" sz="4400" b="1" i="1">
                                <a:latin typeface="Cambria Math" panose="02040503050406030204" pitchFamily="18" charset="0"/>
                              </a:rPr>
                              <m:t>−</m:t>
                            </m:r>
                            <m:r>
                              <a:rPr lang="en-US" sz="4400" b="1" i="1">
                                <a:latin typeface="Cambria Math" panose="02040503050406030204" pitchFamily="18" charset="0"/>
                              </a:rPr>
                              <m:t>𝟐</m:t>
                            </m:r>
                            <m:r>
                              <a:rPr lang="en-US" sz="4400" b="1" i="1">
                                <a:latin typeface="Cambria Math" panose="02040503050406030204" pitchFamily="18" charset="0"/>
                              </a:rPr>
                              <m:t>𝒚</m:t>
                            </m:r>
                            <m:r>
                              <a:rPr lang="en-US" sz="4400" b="1" i="1">
                                <a:latin typeface="Cambria Math" panose="02040503050406030204" pitchFamily="18" charset="0"/>
                              </a:rPr>
                              <m:t>=</m:t>
                            </m:r>
                            <m:r>
                              <a:rPr lang="en-US" sz="4400" b="1" i="1">
                                <a:latin typeface="Cambria Math" panose="02040503050406030204" pitchFamily="18" charset="0"/>
                              </a:rPr>
                              <m:t>𝟎</m:t>
                            </m:r>
                          </m:e>
                        </m:eqArr>
                      </m:e>
                    </m:d>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eqArr>
                          <m:eqArrPr>
                            <m:ctrlPr>
                              <a:rPr lang="en-US" sz="4400" b="1" i="1">
                                <a:latin typeface="Cambria Math" panose="02040503050406030204" pitchFamily="18" charset="0"/>
                              </a:rPr>
                            </m:ctrlPr>
                          </m:eqArrPr>
                          <m:e>
                            <m:r>
                              <a:rPr lang="en-US" sz="4400" b="1" i="1">
                                <a:latin typeface="Cambria Math" panose="02040503050406030204" pitchFamily="18" charset="0"/>
                              </a:rPr>
                              <m:t>𝒙</m:t>
                            </m:r>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𝟏</m:t>
                                </m:r>
                              </m:num>
                              <m:den>
                                <m:r>
                                  <a:rPr lang="en-US" sz="4400" b="1" i="1">
                                    <a:latin typeface="Cambria Math" panose="02040503050406030204" pitchFamily="18" charset="0"/>
                                  </a:rPr>
                                  <m:t>𝟐</m:t>
                                </m:r>
                              </m:den>
                            </m:f>
                          </m:e>
                          <m:e>
                            <m:r>
                              <a:rPr lang="en-US" sz="4400" b="1" i="1">
                                <a:latin typeface="Cambria Math" panose="02040503050406030204" pitchFamily="18" charset="0"/>
                              </a:rPr>
                              <m:t>𝒚</m:t>
                            </m:r>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𝟗</m:t>
                                </m:r>
                              </m:num>
                              <m:den>
                                <m:r>
                                  <a:rPr lang="en-US" sz="4400" b="1" i="1">
                                    <a:latin typeface="Cambria Math" panose="02040503050406030204" pitchFamily="18" charset="0"/>
                                  </a:rPr>
                                  <m:t>𝟐</m:t>
                                </m:r>
                              </m:den>
                            </m:f>
                          </m:e>
                        </m:eqArr>
                      </m:e>
                    </m:d>
                  </m:oMath>
                </a14:m>
                <a:r>
                  <a:rPr lang="en-US" sz="4400" b="1" dirty="0">
                    <a:latin typeface="Tahoma" panose="020B0604030504040204" pitchFamily="34" charset="0"/>
                    <a:ea typeface="Tahoma" panose="020B0604030504040204" pitchFamily="34" charset="0"/>
                    <a:cs typeface="Tahoma" panose="020B0604030504040204" pitchFamily="34" charset="0"/>
                  </a:rPr>
                  <a:t>.</a:t>
                </a:r>
                <a:r>
                  <a:rPr lang="vi-VN"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Vậy</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𝑰</m:t>
                    </m:r>
                    <m:d>
                      <m:dPr>
                        <m:ctrlPr>
                          <a:rPr lang="en-US" sz="4400" b="1" i="1">
                            <a:latin typeface="Cambria Math" panose="02040503050406030204" pitchFamily="18" charset="0"/>
                          </a:rPr>
                        </m:ctrlPr>
                      </m:dPr>
                      <m:e>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𝟏</m:t>
                            </m:r>
                          </m:num>
                          <m:den>
                            <m:r>
                              <a:rPr lang="en-US" sz="4400" b="1" i="1">
                                <a:latin typeface="Cambria Math" panose="02040503050406030204" pitchFamily="18" charset="0"/>
                              </a:rPr>
                              <m:t>𝟐</m:t>
                            </m:r>
                          </m:den>
                        </m:f>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𝟗</m:t>
                            </m:r>
                          </m:num>
                          <m:den>
                            <m:r>
                              <a:rPr lang="en-US" sz="4400" b="1" i="1">
                                <a:latin typeface="Cambria Math" panose="02040503050406030204" pitchFamily="18" charset="0"/>
                              </a:rPr>
                              <m:t>𝟐</m:t>
                            </m:r>
                          </m:den>
                        </m:f>
                      </m:e>
                    </m:d>
                  </m:oMath>
                </a14:m>
                <a:r>
                  <a:rPr lang="en-US" sz="4400" b="1" dirty="0">
                    <a:latin typeface="Tahoma" panose="020B0604030504040204" pitchFamily="34" charset="0"/>
                    <a:ea typeface="Tahoma" panose="020B0604030504040204" pitchFamily="34" charset="0"/>
                    <a:cs typeface="Tahoma" panose="020B0604030504040204" pitchFamily="34" charset="0"/>
                  </a:rPr>
                  <a:t>.	</a:t>
                </a:r>
              </a:p>
              <a:p>
                <a:pPr marL="0" indent="0">
                  <a:buNone/>
                </a:pPr>
                <a:r>
                  <a:rPr lang="vi-VN" sz="4400" b="1" dirty="0">
                    <a:solidFill>
                      <a:srgbClr val="385623"/>
                    </a:solidFill>
                    <a:latin typeface="Tahoma" panose="020B0604030504040204" pitchFamily="34" charset="0"/>
                    <a:ea typeface="Tahoma" panose="020B0604030504040204" pitchFamily="34" charset="0"/>
                    <a:cs typeface="Tahoma" panose="020B0604030504040204" pitchFamily="34" charset="0"/>
                  </a:rPr>
                  <a:t>b)</a:t>
                </a:r>
                <a:r>
                  <a:rPr lang="en-US" sz="4400" b="1" dirty="0">
                    <a:solidFill>
                      <a:srgbClr val="385623"/>
                    </a:solidFill>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𝑮</m:t>
                    </m:r>
                    <m:d>
                      <m:dPr>
                        <m:ctrlPr>
                          <a:rPr lang="en-US" sz="4400" b="1" i="1">
                            <a:latin typeface="Cambria Math" panose="02040503050406030204" pitchFamily="18" charset="0"/>
                          </a:rPr>
                        </m:ctrlPr>
                      </m:dPr>
                      <m:e>
                        <m:r>
                          <a:rPr lang="en-US" sz="4400" b="1" i="1">
                            <a:latin typeface="Cambria Math" panose="02040503050406030204" pitchFamily="18" charset="0"/>
                          </a:rPr>
                          <m:t>𝒙</m:t>
                        </m:r>
                        <m:r>
                          <a:rPr lang="en-US" sz="4400" b="1" i="1">
                            <a:latin typeface="Cambria Math" panose="02040503050406030204" pitchFamily="18" charset="0"/>
                          </a:rPr>
                          <m:t>;</m:t>
                        </m:r>
                        <m:r>
                          <a:rPr lang="en-US" sz="4400" b="1" i="1">
                            <a:latin typeface="Cambria Math" panose="02040503050406030204" pitchFamily="18" charset="0"/>
                          </a:rPr>
                          <m:t>𝒚</m:t>
                        </m:r>
                      </m:e>
                    </m:d>
                  </m:oMath>
                </a14:m>
                <a:r>
                  <a:rPr lang="vi-VN"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trọng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tâm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của</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smtClean="0">
                        <a:latin typeface="Cambria Math" panose="02040503050406030204" pitchFamily="18" charset="0"/>
                        <a:ea typeface="Cambria Math" panose="02040503050406030204" pitchFamily="18" charset="0"/>
                      </a:rPr>
                      <m:t>∆</m:t>
                    </m:r>
                    <m:r>
                      <a:rPr lang="en-US" sz="4400" b="1" i="1">
                        <a:latin typeface="Cambria Math" panose="02040503050406030204" pitchFamily="18" charset="0"/>
                      </a:rPr>
                      <m:t>𝑨𝑩𝑪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chỉ</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khi</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𝑮𝑨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𝑮𝑩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𝑮𝑪</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𝟎</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vi-VN" sz="4400" b="1"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Mặt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khác</a:t>
                </a:r>
                <a:r>
                  <a:rPr lang="vi-VN"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𝑮𝑨</m:t>
                        </m:r>
                      </m:e>
                    </m:acc>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𝟏</m:t>
                        </m:r>
                        <m:r>
                          <a:rPr lang="en-US" sz="4400" b="1" i="1">
                            <a:latin typeface="Cambria Math" panose="02040503050406030204" pitchFamily="18" charset="0"/>
                          </a:rPr>
                          <m:t>−</m:t>
                        </m:r>
                        <m:r>
                          <a:rPr lang="en-US" sz="4400" b="1" i="1">
                            <a:latin typeface="Cambria Math" panose="02040503050406030204" pitchFamily="18" charset="0"/>
                          </a:rPr>
                          <m:t>𝒙</m:t>
                        </m:r>
                        <m:r>
                          <a:rPr lang="en-US" sz="4400" b="1" i="1">
                            <a:latin typeface="Cambria Math" panose="02040503050406030204" pitchFamily="18" charset="0"/>
                          </a:rPr>
                          <m:t>;</m:t>
                        </m:r>
                        <m:r>
                          <a:rPr lang="en-US" sz="4400" b="1" i="1">
                            <a:latin typeface="Cambria Math" panose="02040503050406030204" pitchFamily="18" charset="0"/>
                          </a:rPr>
                          <m:t>𝟑</m:t>
                        </m:r>
                        <m:r>
                          <a:rPr lang="en-US" sz="4400" b="1" i="1">
                            <a:latin typeface="Cambria Math" panose="02040503050406030204" pitchFamily="18" charset="0"/>
                          </a:rPr>
                          <m:t>−</m:t>
                        </m:r>
                        <m:r>
                          <a:rPr lang="en-US" sz="4400" b="1" i="1">
                            <a:latin typeface="Cambria Math" panose="02040503050406030204" pitchFamily="18" charset="0"/>
                          </a:rPr>
                          <m:t>𝒚</m:t>
                        </m:r>
                      </m:e>
                    </m:d>
                    <m:r>
                      <a:rPr lang="en-US" sz="4400" b="1" i="1">
                        <a:latin typeface="Cambria Math" panose="02040503050406030204" pitchFamily="18" charset="0"/>
                      </a:rPr>
                      <m:t>,</m:t>
                    </m:r>
                  </m:oMath>
                </a14:m>
                <a:r>
                  <a:rPr lang="vi-VN"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𝑮𝑩</m:t>
                        </m:r>
                      </m:e>
                    </m:acc>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m:t>
                        </m:r>
                        <m:r>
                          <a:rPr lang="en-US" sz="4400" b="1" i="1">
                            <a:latin typeface="Cambria Math" panose="02040503050406030204" pitchFamily="18" charset="0"/>
                          </a:rPr>
                          <m:t>𝟐</m:t>
                        </m:r>
                        <m:r>
                          <a:rPr lang="en-US" sz="4400" b="1" i="1">
                            <a:latin typeface="Cambria Math" panose="02040503050406030204" pitchFamily="18" charset="0"/>
                          </a:rPr>
                          <m:t>−</m:t>
                        </m:r>
                        <m:r>
                          <a:rPr lang="en-US" sz="4400" b="1" i="1">
                            <a:latin typeface="Cambria Math" panose="02040503050406030204" pitchFamily="18" charset="0"/>
                          </a:rPr>
                          <m:t>𝒙</m:t>
                        </m:r>
                        <m:r>
                          <a:rPr lang="en-US" sz="4400" b="1" i="1">
                            <a:latin typeface="Cambria Math" panose="02040503050406030204" pitchFamily="18" charset="0"/>
                          </a:rPr>
                          <m:t>;</m:t>
                        </m:r>
                        <m:r>
                          <a:rPr lang="en-US" sz="4400" b="1" i="1">
                            <a:latin typeface="Cambria Math" panose="02040503050406030204" pitchFamily="18" charset="0"/>
                          </a:rPr>
                          <m:t>𝟔</m:t>
                        </m:r>
                        <m:r>
                          <a:rPr lang="en-US" sz="4400" b="1" i="1">
                            <a:latin typeface="Cambria Math" panose="02040503050406030204" pitchFamily="18" charset="0"/>
                          </a:rPr>
                          <m:t>−</m:t>
                        </m:r>
                        <m:r>
                          <a:rPr lang="en-US" sz="4400" b="1" i="1">
                            <a:latin typeface="Cambria Math" panose="02040503050406030204" pitchFamily="18" charset="0"/>
                          </a:rPr>
                          <m:t>𝒚</m:t>
                        </m:r>
                      </m:e>
                    </m:d>
                    <m:r>
                      <a:rPr lang="en-US" sz="4400" b="1" i="1">
                        <a:latin typeface="Cambria Math" panose="02040503050406030204" pitchFamily="18" charset="0"/>
                      </a:rPr>
                      <m:t>,</m:t>
                    </m:r>
                  </m:oMath>
                </a14:m>
                <a:r>
                  <a:rPr lang="vi-VN"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𝑮𝑪</m:t>
                        </m:r>
                      </m:e>
                    </m:acc>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𝟓</m:t>
                        </m:r>
                        <m:r>
                          <a:rPr lang="en-US" sz="4400" b="1" i="1">
                            <a:latin typeface="Cambria Math" panose="02040503050406030204" pitchFamily="18" charset="0"/>
                          </a:rPr>
                          <m:t>−</m:t>
                        </m:r>
                        <m:r>
                          <a:rPr lang="en-US" sz="4400" b="1" i="1">
                            <a:latin typeface="Cambria Math" panose="02040503050406030204" pitchFamily="18" charset="0"/>
                          </a:rPr>
                          <m:t>𝒙</m:t>
                        </m:r>
                        <m:r>
                          <a:rPr lang="en-US" sz="4400" b="1" i="1">
                            <a:latin typeface="Cambria Math" panose="02040503050406030204" pitchFamily="18" charset="0"/>
                          </a:rPr>
                          <m:t>;</m:t>
                        </m:r>
                        <m:r>
                          <a:rPr lang="en-US" sz="4400" b="1" i="1">
                            <a:latin typeface="Cambria Math" panose="02040503050406030204" pitchFamily="18" charset="0"/>
                          </a:rPr>
                          <m:t>𝟏</m:t>
                        </m:r>
                        <m:r>
                          <a:rPr lang="en-US" sz="4400" b="1" i="1">
                            <a:latin typeface="Cambria Math" panose="02040503050406030204" pitchFamily="18" charset="0"/>
                          </a:rPr>
                          <m:t>−</m:t>
                        </m:r>
                        <m:r>
                          <a:rPr lang="en-US" sz="4400" b="1" i="1">
                            <a:latin typeface="Cambria Math" panose="02040503050406030204" pitchFamily="18" charset="0"/>
                          </a:rPr>
                          <m:t>𝒚</m:t>
                        </m:r>
                      </m:e>
                    </m:d>
                    <m:r>
                      <a:rPr lang="vi-VN" sz="4400" b="1" i="1" smtClean="0">
                        <a:latin typeface="Cambria Math" panose="02040503050406030204" pitchFamily="18" charset="0"/>
                      </a:rPr>
                      <m:t>.</m:t>
                    </m:r>
                  </m:oMath>
                </a14:m>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vi-VN" sz="4400" b="1" dirty="0">
                    <a:latin typeface="Tahoma" panose="020B0604030504040204" pitchFamily="34" charset="0"/>
                    <a:ea typeface="Tahoma" panose="020B0604030504040204" pitchFamily="34" charset="0"/>
                    <a:cs typeface="Tahoma" panose="020B0604030504040204" pitchFamily="34" charset="0"/>
                  </a:rPr>
                  <a:t>Suy ra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𝑮𝑨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𝑮𝑩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𝑮𝑪</m:t>
                        </m:r>
                      </m:e>
                    </m:acc>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𝟒</m:t>
                        </m:r>
                        <m:r>
                          <a:rPr lang="en-US" sz="4400" b="1" i="1">
                            <a:latin typeface="Cambria Math" panose="02040503050406030204" pitchFamily="18" charset="0"/>
                          </a:rPr>
                          <m:t>−</m:t>
                        </m:r>
                        <m:r>
                          <a:rPr lang="en-US" sz="4400" b="1" i="1">
                            <a:latin typeface="Cambria Math" panose="02040503050406030204" pitchFamily="18" charset="0"/>
                          </a:rPr>
                          <m:t>𝟑</m:t>
                        </m:r>
                        <m:r>
                          <a:rPr lang="en-US" sz="4400" b="1" i="1">
                            <a:latin typeface="Cambria Math" panose="02040503050406030204" pitchFamily="18" charset="0"/>
                          </a:rPr>
                          <m:t>𝒙</m:t>
                        </m:r>
                        <m:r>
                          <a:rPr lang="en-US" sz="4400" b="1" i="1">
                            <a:latin typeface="Cambria Math" panose="02040503050406030204" pitchFamily="18" charset="0"/>
                          </a:rPr>
                          <m:t>;</m:t>
                        </m:r>
                        <m:r>
                          <a:rPr lang="en-US" sz="4400" b="1" i="1">
                            <a:latin typeface="Cambria Math" panose="02040503050406030204" pitchFamily="18" charset="0"/>
                          </a:rPr>
                          <m:t>𝟏𝟎</m:t>
                        </m:r>
                        <m:r>
                          <a:rPr lang="en-US" sz="4400" b="1" i="1">
                            <a:latin typeface="Cambria Math" panose="02040503050406030204" pitchFamily="18" charset="0"/>
                          </a:rPr>
                          <m:t>−</m:t>
                        </m:r>
                        <m:r>
                          <a:rPr lang="en-US" sz="4400" b="1" i="1">
                            <a:latin typeface="Cambria Math" panose="02040503050406030204" pitchFamily="18" charset="0"/>
                          </a:rPr>
                          <m:t>𝟑</m:t>
                        </m:r>
                        <m:r>
                          <a:rPr lang="en-US" sz="4400" b="1" i="1">
                            <a:latin typeface="Cambria Math" panose="02040503050406030204" pitchFamily="18" charset="0"/>
                          </a:rPr>
                          <m:t>𝒚</m:t>
                        </m:r>
                      </m:e>
                    </m:d>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r>
                  <a:rPr lang="en-US" sz="4600" b="1" dirty="0">
                    <a:latin typeface="Tahoma" panose="020B0604030504040204" pitchFamily="34" charset="0"/>
                    <a:ea typeface="Tahoma" panose="020B0604030504040204" pitchFamily="34" charset="0"/>
                    <a:cs typeface="Tahoma" panose="020B0604030504040204" pitchFamily="34" charset="0"/>
                  </a:rPr>
                  <a:t>Do </a:t>
                </a:r>
                <a:r>
                  <a:rPr lang="en-US" sz="4600" b="1" dirty="0" err="1">
                    <a:latin typeface="Tahoma" panose="020B0604030504040204" pitchFamily="34" charset="0"/>
                    <a:ea typeface="Tahoma" panose="020B0604030504040204" pitchFamily="34" charset="0"/>
                    <a:cs typeface="Tahoma" panose="020B0604030504040204" pitchFamily="34" charset="0"/>
                  </a:rPr>
                  <a:t>đó</a:t>
                </a:r>
                <a:r>
                  <a:rPr lang="en-US" sz="4600" b="1" dirty="0">
                    <a:latin typeface="Tahoma" panose="020B0604030504040204" pitchFamily="34" charset="0"/>
                    <a:ea typeface="Tahoma" panose="020B0604030504040204" pitchFamily="34" charset="0"/>
                    <a:cs typeface="Tahoma" panose="020B0604030504040204" pitchFamily="34" charset="0"/>
                  </a:rPr>
                  <a:t>, (**) </a:t>
                </a:r>
                <a:r>
                  <a:rPr lang="en-US" sz="4600" b="1" dirty="0" err="1">
                    <a:latin typeface="Tahoma" panose="020B0604030504040204" pitchFamily="34" charset="0"/>
                    <a:ea typeface="Tahoma" panose="020B0604030504040204" pitchFamily="34" charset="0"/>
                    <a:cs typeface="Tahoma" panose="020B0604030504040204" pitchFamily="34" charset="0"/>
                  </a:rPr>
                  <a:t>tương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đương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với</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600" b="1" i="1">
                            <a:latin typeface="Cambria Math" panose="02040503050406030204" pitchFamily="18" charset="0"/>
                          </a:rPr>
                        </m:ctrlPr>
                      </m:dPr>
                      <m:e>
                        <m:eqArr>
                          <m:eqArrPr>
                            <m:ctrlPr>
                              <a:rPr lang="en-US" sz="4600" b="1" i="1">
                                <a:latin typeface="Cambria Math" panose="02040503050406030204" pitchFamily="18" charset="0"/>
                              </a:rPr>
                            </m:ctrlPr>
                          </m:eqArrPr>
                          <m:e>
                            <m:r>
                              <a:rPr lang="en-US" sz="4600" b="1" i="1">
                                <a:latin typeface="Cambria Math" panose="02040503050406030204" pitchFamily="18" charset="0"/>
                              </a:rPr>
                              <m:t>𝟒</m:t>
                            </m:r>
                            <m:r>
                              <a:rPr lang="en-US" sz="4600" b="1" i="1">
                                <a:latin typeface="Cambria Math" panose="02040503050406030204" pitchFamily="18" charset="0"/>
                              </a:rPr>
                              <m:t>−</m:t>
                            </m:r>
                            <m:r>
                              <a:rPr lang="en-US" sz="4600" b="1" i="1">
                                <a:latin typeface="Cambria Math" panose="02040503050406030204" pitchFamily="18" charset="0"/>
                              </a:rPr>
                              <m:t>𝟑</m:t>
                            </m:r>
                            <m:r>
                              <a:rPr lang="en-US" sz="4600" b="1" i="1">
                                <a:latin typeface="Cambria Math" panose="02040503050406030204" pitchFamily="18" charset="0"/>
                              </a:rPr>
                              <m:t>𝒙</m:t>
                            </m:r>
                            <m:r>
                              <a:rPr lang="en-US" sz="4600" b="1" i="1">
                                <a:latin typeface="Cambria Math" panose="02040503050406030204" pitchFamily="18" charset="0"/>
                              </a:rPr>
                              <m:t>=</m:t>
                            </m:r>
                            <m:r>
                              <a:rPr lang="en-US" sz="4600" b="1" i="1">
                                <a:latin typeface="Cambria Math" panose="02040503050406030204" pitchFamily="18" charset="0"/>
                              </a:rPr>
                              <m:t>𝟎</m:t>
                            </m:r>
                          </m:e>
                          <m:e>
                            <m:r>
                              <a:rPr lang="en-US" sz="4600" b="1" i="1">
                                <a:latin typeface="Cambria Math" panose="02040503050406030204" pitchFamily="18" charset="0"/>
                              </a:rPr>
                              <m:t>𝟏𝟎</m:t>
                            </m:r>
                            <m:r>
                              <a:rPr lang="en-US" sz="4600" b="1" i="1">
                                <a:latin typeface="Cambria Math" panose="02040503050406030204" pitchFamily="18" charset="0"/>
                              </a:rPr>
                              <m:t>−</m:t>
                            </m:r>
                            <m:r>
                              <a:rPr lang="en-US" sz="4600" b="1" i="1">
                                <a:latin typeface="Cambria Math" panose="02040503050406030204" pitchFamily="18" charset="0"/>
                              </a:rPr>
                              <m:t>𝟑</m:t>
                            </m:r>
                            <m:r>
                              <a:rPr lang="en-US" sz="4600" b="1" i="1">
                                <a:latin typeface="Cambria Math" panose="02040503050406030204" pitchFamily="18" charset="0"/>
                              </a:rPr>
                              <m:t>𝒚</m:t>
                            </m:r>
                            <m:r>
                              <a:rPr lang="en-US" sz="4600" b="1" i="1">
                                <a:latin typeface="Cambria Math" panose="02040503050406030204" pitchFamily="18" charset="0"/>
                              </a:rPr>
                              <m:t>=</m:t>
                            </m:r>
                            <m:r>
                              <a:rPr lang="en-US" sz="4600" b="1" i="1">
                                <a:latin typeface="Cambria Math" panose="02040503050406030204" pitchFamily="18" charset="0"/>
                              </a:rPr>
                              <m:t>𝟎</m:t>
                            </m:r>
                          </m:e>
                        </m:eqArr>
                      </m:e>
                    </m:d>
                    <m:r>
                      <a:rPr lang="en-US" sz="4600" b="1" i="1">
                        <a:latin typeface="Cambria Math" panose="02040503050406030204" pitchFamily="18" charset="0"/>
                      </a:rPr>
                      <m:t>⇔</m:t>
                    </m:r>
                    <m:d>
                      <m:dPr>
                        <m:begChr m:val="{"/>
                        <m:endChr m:val=""/>
                        <m:ctrlPr>
                          <a:rPr lang="en-US" sz="4600" b="1" i="1">
                            <a:latin typeface="Cambria Math" panose="02040503050406030204" pitchFamily="18" charset="0"/>
                          </a:rPr>
                        </m:ctrlPr>
                      </m:dPr>
                      <m:e>
                        <m:eqArr>
                          <m:eqArrPr>
                            <m:ctrlPr>
                              <a:rPr lang="en-US" sz="4600" b="1" i="1">
                                <a:latin typeface="Cambria Math" panose="02040503050406030204" pitchFamily="18" charset="0"/>
                              </a:rPr>
                            </m:ctrlPr>
                          </m:eqArrPr>
                          <m:e>
                            <m:r>
                              <a:rPr lang="en-US" sz="4600" b="1" i="1">
                                <a:latin typeface="Cambria Math" panose="02040503050406030204" pitchFamily="18" charset="0"/>
                              </a:rPr>
                              <m:t>𝒙</m:t>
                            </m:r>
                            <m:r>
                              <a:rPr lang="en-US" sz="4600" b="1" i="1">
                                <a:latin typeface="Cambria Math" panose="02040503050406030204" pitchFamily="18" charset="0"/>
                              </a:rPr>
                              <m:t>=</m:t>
                            </m:r>
                            <m:f>
                              <m:fPr>
                                <m:ctrlPr>
                                  <a:rPr lang="en-US" sz="4600" b="1" i="1">
                                    <a:latin typeface="Cambria Math" panose="02040503050406030204" pitchFamily="18" charset="0"/>
                                  </a:rPr>
                                </m:ctrlPr>
                              </m:fPr>
                              <m:num>
                                <m:r>
                                  <a:rPr lang="en-US" sz="4600" b="1" i="1">
                                    <a:latin typeface="Cambria Math" panose="02040503050406030204" pitchFamily="18" charset="0"/>
                                  </a:rPr>
                                  <m:t>𝟒</m:t>
                                </m:r>
                              </m:num>
                              <m:den>
                                <m:r>
                                  <a:rPr lang="en-US" sz="4600" b="1" i="1">
                                    <a:latin typeface="Cambria Math" panose="02040503050406030204" pitchFamily="18" charset="0"/>
                                  </a:rPr>
                                  <m:t>𝟑</m:t>
                                </m:r>
                              </m:den>
                            </m:f>
                          </m:e>
                          <m:e>
                            <m:r>
                              <a:rPr lang="en-US" sz="4600" b="1" i="1">
                                <a:latin typeface="Cambria Math" panose="02040503050406030204" pitchFamily="18" charset="0"/>
                              </a:rPr>
                              <m:t>𝒚</m:t>
                            </m:r>
                            <m:r>
                              <a:rPr lang="en-US" sz="4600" b="1" i="1">
                                <a:latin typeface="Cambria Math" panose="02040503050406030204" pitchFamily="18" charset="0"/>
                              </a:rPr>
                              <m:t>=</m:t>
                            </m:r>
                            <m:f>
                              <m:fPr>
                                <m:ctrlPr>
                                  <a:rPr lang="en-US" sz="4600" b="1" i="1">
                                    <a:latin typeface="Cambria Math" panose="02040503050406030204" pitchFamily="18" charset="0"/>
                                  </a:rPr>
                                </m:ctrlPr>
                              </m:fPr>
                              <m:num>
                                <m:r>
                                  <a:rPr lang="en-US" sz="4600" b="1" i="1">
                                    <a:latin typeface="Cambria Math" panose="02040503050406030204" pitchFamily="18" charset="0"/>
                                  </a:rPr>
                                  <m:t>𝟏𝟎</m:t>
                                </m:r>
                              </m:num>
                              <m:den>
                                <m:r>
                                  <a:rPr lang="en-US" sz="4600" b="1" i="1">
                                    <a:latin typeface="Cambria Math" panose="02040503050406030204" pitchFamily="18" charset="0"/>
                                  </a:rPr>
                                  <m:t>𝟑</m:t>
                                </m:r>
                              </m:den>
                            </m:f>
                          </m:e>
                        </m:eqArr>
                      </m:e>
                    </m:d>
                  </m:oMath>
                </a14:m>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Vậy</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a:latin typeface="Cambria Math" panose="02040503050406030204" pitchFamily="18" charset="0"/>
                      </a:rPr>
                      <m:t>𝑮</m:t>
                    </m:r>
                    <m:d>
                      <m:dPr>
                        <m:ctrlPr>
                          <a:rPr lang="en-US" sz="4600" b="1" i="1">
                            <a:latin typeface="Cambria Math" panose="02040503050406030204" pitchFamily="18" charset="0"/>
                          </a:rPr>
                        </m:ctrlPr>
                      </m:dPr>
                      <m:e>
                        <m:f>
                          <m:fPr>
                            <m:ctrlPr>
                              <a:rPr lang="en-US" sz="4600" b="1" i="1">
                                <a:latin typeface="Cambria Math" panose="02040503050406030204" pitchFamily="18" charset="0"/>
                              </a:rPr>
                            </m:ctrlPr>
                          </m:fPr>
                          <m:num>
                            <m:r>
                              <a:rPr lang="en-US" sz="4600" b="1" i="1">
                                <a:latin typeface="Cambria Math" panose="02040503050406030204" pitchFamily="18" charset="0"/>
                              </a:rPr>
                              <m:t>𝟒</m:t>
                            </m:r>
                          </m:num>
                          <m:den>
                            <m:r>
                              <a:rPr lang="en-US" sz="4600" b="1" i="1">
                                <a:latin typeface="Cambria Math" panose="02040503050406030204" pitchFamily="18" charset="0"/>
                              </a:rPr>
                              <m:t>𝟑</m:t>
                            </m:r>
                          </m:den>
                        </m:f>
                        <m:r>
                          <a:rPr lang="en-US" sz="4600" b="1" i="1">
                            <a:latin typeface="Cambria Math" panose="02040503050406030204" pitchFamily="18" charset="0"/>
                          </a:rPr>
                          <m:t>;</m:t>
                        </m:r>
                        <m:f>
                          <m:fPr>
                            <m:ctrlPr>
                              <a:rPr lang="en-US" sz="4600" b="1" i="1">
                                <a:latin typeface="Cambria Math" panose="02040503050406030204" pitchFamily="18" charset="0"/>
                              </a:rPr>
                            </m:ctrlPr>
                          </m:fPr>
                          <m:num>
                            <m:r>
                              <a:rPr lang="en-US" sz="4600" b="1" i="1">
                                <a:latin typeface="Cambria Math" panose="02040503050406030204" pitchFamily="18" charset="0"/>
                              </a:rPr>
                              <m:t>𝟏𝟎</m:t>
                            </m:r>
                          </m:num>
                          <m:den>
                            <m:r>
                              <a:rPr lang="en-US" sz="4600" b="1" i="1">
                                <a:latin typeface="Cambria Math" panose="02040503050406030204" pitchFamily="18" charset="0"/>
                              </a:rPr>
                              <m:t>𝟑</m:t>
                            </m:r>
                          </m:den>
                        </m:f>
                      </m:e>
                    </m:d>
                  </m:oMath>
                </a14:m>
                <a:r>
                  <a:rPr lang="en-US" sz="46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81000" y="3657600"/>
                <a:ext cx="23622000" cy="9753600"/>
              </a:xfrm>
              <a:prstGeom prst="rect">
                <a:avLst/>
              </a:prstGeom>
              <a:blipFill>
                <a:blip r:embed="rId4"/>
                <a:stretch>
                  <a:fillRect l="-1032" t="-1186" b="-3683"/>
                </a:stretch>
              </a:blipFill>
              <a:ln>
                <a:solidFill>
                  <a:srgbClr val="00B0F0"/>
                </a:solidFill>
              </a:ln>
            </p:spPr>
            <p:txBody>
              <a:bodyPr/>
              <a:lstStyle/>
              <a:p>
                <a:r>
                  <a:rPr lang="en-US">
                    <a:noFill/>
                  </a:rPr>
                  <a:t> </a:t>
                </a:r>
              </a:p>
            </p:txBody>
          </p:sp>
        </mc:Fallback>
      </mc:AlternateContent>
      <p:pic>
        <p:nvPicPr>
          <p:cNvPr id="14" name="Picture 13">
            <a:extLst>
              <a:ext uri="{FF2B5EF4-FFF2-40B4-BE49-F238E27FC236}">
                <a16:creationId xmlns:a16="http://schemas.microsoft.com/office/drawing/2014/main" id="{4D838A39-DC0F-4CAA-B685-A448DFBE39D8}"/>
              </a:ext>
            </a:extLst>
          </p:cNvPr>
          <p:cNvPicPr/>
          <p:nvPr/>
        </p:nvPicPr>
        <p:blipFill>
          <a:blip r:embed="rId5"/>
          <a:stretch>
            <a:fillRect/>
          </a:stretch>
        </p:blipFill>
        <p:spPr>
          <a:xfrm>
            <a:off x="16764000" y="2009656"/>
            <a:ext cx="7239000" cy="1419344"/>
          </a:xfrm>
          <a:prstGeom prst="rect">
            <a:avLst/>
          </a:prstGeom>
        </p:spPr>
      </p:pic>
      <p:sp>
        <p:nvSpPr>
          <p:cNvPr id="45" name="Rectangle 33">
            <a:extLst>
              <a:ext uri="{FF2B5EF4-FFF2-40B4-BE49-F238E27FC236}">
                <a16:creationId xmlns:a16="http://schemas.microsoft.com/office/drawing/2014/main" id="{FC933ED9-94B1-4F46-A3BF-4C2E10ACBF95}"/>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6" name="Freeform 20">
            <a:extLst>
              <a:ext uri="{FF2B5EF4-FFF2-40B4-BE49-F238E27FC236}">
                <a16:creationId xmlns:a16="http://schemas.microsoft.com/office/drawing/2014/main" id="{5D6FBD04-7F02-4795-8903-48EA347C65D5}"/>
              </a:ext>
            </a:extLst>
          </p:cNvPr>
          <p:cNvSpPr>
            <a:spLocks/>
          </p:cNvSpPr>
          <p:nvPr/>
        </p:nvSpPr>
        <p:spPr bwMode="auto">
          <a:xfrm rot="16200000" flipV="1">
            <a:off x="850328" y="1993328"/>
            <a:ext cx="966341" cy="2362202"/>
          </a:xfrm>
          <a:prstGeom prst="round1Rect">
            <a:avLst/>
          </a:prstGeom>
          <a:solidFill>
            <a:srgbClr val="DAE3F3"/>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57" name="TextBox 56">
            <a:extLst>
              <a:ext uri="{FF2B5EF4-FFF2-40B4-BE49-F238E27FC236}">
                <a16:creationId xmlns:a16="http://schemas.microsoft.com/office/drawing/2014/main" id="{1175597E-487A-4761-98B5-C84B33CA29B1}"/>
              </a:ext>
            </a:extLst>
          </p:cNvPr>
          <p:cNvSpPr txBox="1"/>
          <p:nvPr/>
        </p:nvSpPr>
        <p:spPr>
          <a:xfrm>
            <a:off x="152397" y="2774319"/>
            <a:ext cx="2247904" cy="800219"/>
          </a:xfrm>
          <a:prstGeom prst="rect">
            <a:avLst/>
          </a:prstGeom>
          <a:solidFill>
            <a:srgbClr val="DAE3F3"/>
          </a:solid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Giải:</a:t>
            </a:r>
            <a:endParaRPr lang="en-US" sz="4600" b="1" dirty="0">
              <a:solidFill>
                <a:prstClr val="black"/>
              </a:solidFill>
              <a:latin typeface="Tahoma" pitchFamily="34" charset="0"/>
              <a:ea typeface="Tahoma" pitchFamily="34" charset="0"/>
              <a:cs typeface="Tahoma" pitchFamily="34"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244988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500"/>
                            </p:stCondLst>
                            <p:childTnLst>
                              <p:par>
                                <p:cTn id="13" presetID="1" presetClass="entr" presetSubtype="0" fill="hold" grpId="0" nodeType="after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99">
                                            <p:txEl>
                                              <p:pRg st="0" end="0"/>
                                            </p:txEl>
                                          </p:spTgt>
                                        </p:tgtEl>
                                        <p:attrNameLst>
                                          <p:attrName>style.visibility</p:attrName>
                                        </p:attrNameLst>
                                      </p:cBhvr>
                                      <p:to>
                                        <p:strVal val="visible"/>
                                      </p:to>
                                    </p:set>
                                    <p:animEffect transition="in" filter="wipe(up)">
                                      <p:cBhvr>
                                        <p:cTn id="24" dur="500"/>
                                        <p:tgtEl>
                                          <p:spTgt spid="99">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99">
                                            <p:txEl>
                                              <p:pRg st="1" end="1"/>
                                            </p:txEl>
                                          </p:spTgt>
                                        </p:tgtEl>
                                        <p:attrNameLst>
                                          <p:attrName>style.visibility</p:attrName>
                                        </p:attrNameLst>
                                      </p:cBhvr>
                                      <p:to>
                                        <p:strVal val="visible"/>
                                      </p:to>
                                    </p:set>
                                    <p:animEffect transition="in" filter="wipe(up)">
                                      <p:cBhvr>
                                        <p:cTn id="29" dur="500"/>
                                        <p:tgtEl>
                                          <p:spTgt spid="99">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99">
                                            <p:txEl>
                                              <p:pRg st="2" end="2"/>
                                            </p:txEl>
                                          </p:spTgt>
                                        </p:tgtEl>
                                        <p:attrNameLst>
                                          <p:attrName>style.visibility</p:attrName>
                                        </p:attrNameLst>
                                      </p:cBhvr>
                                      <p:to>
                                        <p:strVal val="visible"/>
                                      </p:to>
                                    </p:set>
                                    <p:animEffect transition="in" filter="wipe(up)">
                                      <p:cBhvr>
                                        <p:cTn id="34" dur="500"/>
                                        <p:tgtEl>
                                          <p:spTgt spid="99">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99">
                                            <p:txEl>
                                              <p:pRg st="3" end="3"/>
                                            </p:txEl>
                                          </p:spTgt>
                                        </p:tgtEl>
                                        <p:attrNameLst>
                                          <p:attrName>style.visibility</p:attrName>
                                        </p:attrNameLst>
                                      </p:cBhvr>
                                      <p:to>
                                        <p:strVal val="visible"/>
                                      </p:to>
                                    </p:set>
                                    <p:animEffect transition="in" filter="wipe(up)">
                                      <p:cBhvr>
                                        <p:cTn id="39" dur="500"/>
                                        <p:tgtEl>
                                          <p:spTgt spid="99">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99">
                                            <p:txEl>
                                              <p:pRg st="4" end="4"/>
                                            </p:txEl>
                                          </p:spTgt>
                                        </p:tgtEl>
                                        <p:attrNameLst>
                                          <p:attrName>style.visibility</p:attrName>
                                        </p:attrNameLst>
                                      </p:cBhvr>
                                      <p:to>
                                        <p:strVal val="visible"/>
                                      </p:to>
                                    </p:set>
                                    <p:animEffect transition="in" filter="wipe(up)">
                                      <p:cBhvr>
                                        <p:cTn id="44" dur="500"/>
                                        <p:tgtEl>
                                          <p:spTgt spid="99">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99">
                                            <p:txEl>
                                              <p:pRg st="5" end="5"/>
                                            </p:txEl>
                                          </p:spTgt>
                                        </p:tgtEl>
                                        <p:attrNameLst>
                                          <p:attrName>style.visibility</p:attrName>
                                        </p:attrNameLst>
                                      </p:cBhvr>
                                      <p:to>
                                        <p:strVal val="visible"/>
                                      </p:to>
                                    </p:set>
                                    <p:animEffect transition="in" filter="wipe(up)">
                                      <p:cBhvr>
                                        <p:cTn id="49" dur="500"/>
                                        <p:tgtEl>
                                          <p:spTgt spid="99">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99">
                                            <p:txEl>
                                              <p:pRg st="6" end="6"/>
                                            </p:txEl>
                                          </p:spTgt>
                                        </p:tgtEl>
                                        <p:attrNameLst>
                                          <p:attrName>style.visibility</p:attrName>
                                        </p:attrNameLst>
                                      </p:cBhvr>
                                      <p:to>
                                        <p:strVal val="visible"/>
                                      </p:to>
                                    </p:set>
                                    <p:animEffect transition="in" filter="fade">
                                      <p:cBhvr>
                                        <p:cTn id="54" dur="500"/>
                                        <p:tgtEl>
                                          <p:spTgt spid="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56" grpId="0" animBg="1"/>
      <p:bldP spid="5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359321" y="1800310"/>
                <a:ext cx="23676521" cy="147629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lvl="0"/>
                <a:r>
                  <a:rPr lang="en-US" sz="4800" b="1" dirty="0" err="1">
                    <a:latin typeface="Tahoma" panose="020B0604030504040204" pitchFamily="34" charset="0"/>
                    <a:ea typeface="Tahoma" panose="020B0604030504040204" pitchFamily="34" charset="0"/>
                    <a:cs typeface="Tahoma" panose="020B0604030504040204" pitchFamily="34" charset="0"/>
                  </a:rPr>
                  <a:t>Từ</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thông</a:t>
                </a:r>
                <a:r>
                  <a:rPr lang="en-US" sz="4800" b="1" dirty="0">
                    <a:latin typeface="Tahoma" panose="020B0604030504040204" pitchFamily="34" charset="0"/>
                    <a:ea typeface="Tahoma" panose="020B0604030504040204" pitchFamily="34" charset="0"/>
                    <a:cs typeface="Tahoma" panose="020B0604030504040204" pitchFamily="34" charset="0"/>
                  </a:rPr>
                  <a:t> tin </a:t>
                </a:r>
                <a:r>
                  <a:rPr lang="en-US" sz="4800" b="1" dirty="0" err="1">
                    <a:latin typeface="Tahoma" panose="020B0604030504040204" pitchFamily="34" charset="0"/>
                    <a:ea typeface="Tahoma" panose="020B0604030504040204" pitchFamily="34" charset="0"/>
                    <a:cs typeface="Tahoma" panose="020B0604030504040204" pitchFamily="34" charset="0"/>
                  </a:rPr>
                  <a:t>dự</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báo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bão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đưa</a:t>
                </a:r>
                <a:r>
                  <a:rPr lang="en-US" sz="4800" b="1" dirty="0">
                    <a:latin typeface="Tahoma" panose="020B0604030504040204" pitchFamily="34" charset="0"/>
                    <a:ea typeface="Tahoma" panose="020B0604030504040204" pitchFamily="34" charset="0"/>
                    <a:cs typeface="Tahoma" panose="020B0604030504040204" pitchFamily="34" charset="0"/>
                  </a:rPr>
                  <a:t> ra ở </a:t>
                </a:r>
                <a:r>
                  <a:rPr lang="en-US" sz="4800" b="1" dirty="0" err="1">
                    <a:latin typeface="Tahoma" panose="020B0604030504040204" pitchFamily="34" charset="0"/>
                    <a:ea typeface="Tahoma" panose="020B0604030504040204" pitchFamily="34" charset="0"/>
                    <a:cs typeface="Tahoma" panose="020B0604030504040204" pitchFamily="34" charset="0"/>
                  </a:rPr>
                  <a:t>đầu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bài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học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hãy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xác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định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trí</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tâm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bão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thời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9 </a:t>
                </a:r>
                <a:r>
                  <a:rPr lang="en-US" sz="4800" b="1" dirty="0" err="1">
                    <a:latin typeface="Tahoma" panose="020B0604030504040204" pitchFamily="34" charset="0"/>
                    <a:ea typeface="Tahoma" panose="020B0604030504040204" pitchFamily="34" charset="0"/>
                    <a:cs typeface="Tahoma" panose="020B0604030504040204" pitchFamily="34" charset="0"/>
                  </a:rPr>
                  <a:t>giờ</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khoảng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thời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gian</a:t>
                </a:r>
                <a:r>
                  <a:rPr lang="en-US" sz="4800" b="1" dirty="0">
                    <a:latin typeface="Tahoma" panose="020B0604030504040204" pitchFamily="34" charset="0"/>
                    <a:ea typeface="Tahoma" panose="020B0604030504040204" pitchFamily="34" charset="0"/>
                    <a:cs typeface="Tahoma" panose="020B0604030504040204" pitchFamily="34" charset="0"/>
                  </a:rPr>
                  <a:t> 12 </a:t>
                </a:r>
                <a:r>
                  <a:rPr lang="en-US" sz="4800" b="1" dirty="0" err="1">
                    <a:latin typeface="Tahoma" panose="020B0604030504040204" pitchFamily="34" charset="0"/>
                    <a:ea typeface="Tahoma" panose="020B0604030504040204" pitchFamily="34" charset="0"/>
                    <a:cs typeface="Tahoma" panose="020B0604030504040204" pitchFamily="34" charset="0"/>
                  </a:rPr>
                  <a:t>giờ</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dự</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báo</a:t>
                </a:r>
                <a:r>
                  <a:rPr lang="en-US" sz="4800" b="1" dirty="0">
                    <a:latin typeface="Tahoma" panose="020B0604030504040204" pitchFamily="34" charset="0"/>
                    <a:ea typeface="Tahoma" panose="020B0604030504040204" pitchFamily="34" charset="0"/>
                    <a:cs typeface="Tahoma" panose="020B0604030504040204" pitchFamily="34" charset="0"/>
                  </a:rPr>
                  <a:t>.</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359321" y="1800310"/>
                <a:ext cx="23676521" cy="1476290"/>
              </a:xfrm>
              <a:prstGeom prst="rect">
                <a:avLst/>
              </a:prstGeom>
              <a:blipFill>
                <a:blip r:embed="rId3"/>
                <a:stretch>
                  <a:fillRect l="-1158" t="-13878" r="-1055" b="-15918"/>
                </a:stretch>
              </a:blipFill>
              <a:ln>
                <a:solidFill>
                  <a:schemeClr val="tx2">
                    <a:lumMod val="20000"/>
                    <a:lumOff val="8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96898" y="4250837"/>
                <a:ext cx="14285902" cy="9168303"/>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dirty="0">
                    <a:latin typeface="Tahoma" panose="020B0604030504040204" pitchFamily="34" charset="0"/>
                    <a:ea typeface="Tahoma" panose="020B0604030504040204" pitchFamily="34" charset="0"/>
                    <a:cs typeface="Tahoma" panose="020B0604030504040204" pitchFamily="34" charset="0"/>
                  </a:rPr>
                  <a:t>Gọi </a:t>
                </a:r>
                <a14:m>
                  <m:oMath xmlns:m="http://schemas.openxmlformats.org/officeDocument/2006/math">
                    <m:r>
                      <a:rPr lang="en-US" b="1" i="1">
                        <a:latin typeface="Cambria Math" panose="02040503050406030204" pitchFamily="18" charset="0"/>
                      </a:rPr>
                      <m:t>𝑴</m:t>
                    </m:r>
                    <m:d>
                      <m:dPr>
                        <m:ctrlPr>
                          <a:rPr lang="en-US" b="1" i="1">
                            <a:latin typeface="Cambria Math" panose="02040503050406030204" pitchFamily="18" charset="0"/>
                          </a:rPr>
                        </m:ctrlPr>
                      </m:dPr>
                      <m:e>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𝒚</m:t>
                        </m:r>
                      </m:e>
                    </m:d>
                    <m:r>
                      <a:rPr lang="en-US" b="1" i="0" smtClean="0">
                        <a:latin typeface="Cambria Math" panose="02040503050406030204" pitchFamily="18" charset="0"/>
                      </a:rPr>
                      <m:t>, </m:t>
                    </m:r>
                  </m:oMath>
                </a14:m>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rPr>
                      <m:t>𝒙</m:t>
                    </m:r>
                    <m:r>
                      <a:rPr lang="en-US" b="1" i="1">
                        <a:latin typeface="Cambria Math" panose="02040503050406030204" pitchFamily="18" charset="0"/>
                      </a:rPr>
                      <m:t>∈</m:t>
                    </m:r>
                    <m:d>
                      <m:dPr>
                        <m:ctrlPr>
                          <a:rPr lang="en-US" b="1" i="1">
                            <a:latin typeface="Cambria Math" panose="02040503050406030204" pitchFamily="18" charset="0"/>
                          </a:rPr>
                        </m:ctrlPr>
                      </m:dPr>
                      <m:e>
                        <m:r>
                          <a:rPr lang="en-US" b="1" i="1">
                            <a:latin typeface="Cambria Math" panose="02040503050406030204" pitchFamily="18" charset="0"/>
                          </a:rPr>
                          <m:t>𝟏𝟑</m:t>
                        </m:r>
                        <m:r>
                          <a:rPr lang="en-US" b="1" i="1">
                            <a:latin typeface="Cambria Math" panose="02040503050406030204" pitchFamily="18" charset="0"/>
                          </a:rPr>
                          <m:t>,</m:t>
                        </m:r>
                        <m:r>
                          <a:rPr lang="en-US" b="1" i="1">
                            <a:latin typeface="Cambria Math" panose="02040503050406030204" pitchFamily="18" charset="0"/>
                          </a:rPr>
                          <m:t>𝟖</m:t>
                        </m:r>
                        <m:r>
                          <a:rPr lang="en-US" b="1" i="1">
                            <a:latin typeface="Cambria Math" panose="02040503050406030204" pitchFamily="18" charset="0"/>
                          </a:rPr>
                          <m:t>;</m:t>
                        </m:r>
                        <m:r>
                          <a:rPr lang="en-US" b="1" i="1">
                            <a:latin typeface="Cambria Math" panose="02040503050406030204" pitchFamily="18" charset="0"/>
                          </a:rPr>
                          <m:t>𝟏𝟒</m:t>
                        </m:r>
                        <m:r>
                          <a:rPr lang="en-US" b="1" i="1">
                            <a:latin typeface="Cambria Math" panose="02040503050406030204" pitchFamily="18" charset="0"/>
                          </a:rPr>
                          <m:t>,</m:t>
                        </m:r>
                        <m:r>
                          <a:rPr lang="en-US" b="1" i="1">
                            <a:latin typeface="Cambria Math" panose="02040503050406030204" pitchFamily="18" charset="0"/>
                          </a:rPr>
                          <m:t>𝟏</m:t>
                        </m:r>
                      </m:e>
                    </m:d>
                    <m:r>
                      <a:rPr lang="en-US" b="1" i="1" smtClean="0">
                        <a:latin typeface="Cambria Math" panose="02040503050406030204" pitchFamily="18" charset="0"/>
                      </a:rPr>
                      <m:t>,</m:t>
                    </m:r>
                    <m:r>
                      <a:rPr lang="en-US" b="1" i="1">
                        <a:latin typeface="Cambria Math" panose="02040503050406030204" pitchFamily="18" charset="0"/>
                      </a:rPr>
                      <m:t>𝒚</m:t>
                    </m:r>
                    <m:d>
                      <m:dPr>
                        <m:ctrlPr>
                          <a:rPr lang="en-US" b="1" i="1">
                            <a:latin typeface="Cambria Math" panose="02040503050406030204" pitchFamily="18" charset="0"/>
                          </a:rPr>
                        </m:ctrlPr>
                      </m:dPr>
                      <m:e>
                        <m:r>
                          <a:rPr lang="en-US" b="1" i="1">
                            <a:latin typeface="Cambria Math" panose="02040503050406030204" pitchFamily="18" charset="0"/>
                          </a:rPr>
                          <m:t>𝟏𝟎𝟔</m:t>
                        </m:r>
                        <m:r>
                          <a:rPr lang="en-US" b="1" i="1">
                            <a:latin typeface="Cambria Math" panose="02040503050406030204" pitchFamily="18" charset="0"/>
                          </a:rPr>
                          <m:t>,</m:t>
                        </m:r>
                        <m:r>
                          <a:rPr lang="en-US" b="1" i="1">
                            <a:latin typeface="Cambria Math" panose="02040503050406030204" pitchFamily="18" charset="0"/>
                          </a:rPr>
                          <m:t>𝟑</m:t>
                        </m:r>
                        <m:r>
                          <a:rPr lang="en-US" b="1" i="1">
                            <a:latin typeface="Cambria Math" panose="02040503050406030204" pitchFamily="18" charset="0"/>
                          </a:rPr>
                          <m:t>;</m:t>
                        </m:r>
                        <m:r>
                          <a:rPr lang="en-US" b="1" i="1">
                            <a:latin typeface="Cambria Math" panose="02040503050406030204" pitchFamily="18" charset="0"/>
                          </a:rPr>
                          <m:t>𝟏𝟎𝟖</m:t>
                        </m:r>
                        <m:r>
                          <a:rPr lang="en-US" b="1" i="1">
                            <a:latin typeface="Cambria Math" panose="02040503050406030204" pitchFamily="18" charset="0"/>
                          </a:rPr>
                          <m:t>,</m:t>
                        </m:r>
                        <m:r>
                          <a:rPr lang="en-US" b="1" i="1">
                            <a:latin typeface="Cambria Math" panose="02040503050406030204" pitchFamily="18" charset="0"/>
                          </a:rPr>
                          <m:t>𝟑</m:t>
                        </m:r>
                      </m:e>
                    </m:d>
                  </m:oMath>
                </a14:m>
                <a:r>
                  <a:rPr lang="en-US" b="1" dirty="0">
                    <a:latin typeface="Tahoma" panose="020B0604030504040204" pitchFamily="34" charset="0"/>
                    <a:ea typeface="Tahoma" panose="020B0604030504040204" pitchFamily="34" charset="0"/>
                    <a:cs typeface="Tahoma" panose="020B0604030504040204" pitchFamily="34" charset="0"/>
                  </a:rPr>
                  <a:t>).</a:t>
                </a:r>
              </a:p>
              <a:p>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d>
                      <m:dPr>
                        <m:ctrlPr>
                          <a:rPr lang="en-US" b="1" i="1">
                            <a:latin typeface="Cambria Math" panose="02040503050406030204" pitchFamily="18" charset="0"/>
                          </a:rPr>
                        </m:ctrlPr>
                      </m:dPr>
                      <m:e>
                        <m:r>
                          <a:rPr lang="en-US" b="1" i="1">
                            <a:latin typeface="Cambria Math" panose="02040503050406030204" pitchFamily="18" charset="0"/>
                          </a:rPr>
                          <m:t>𝟎</m:t>
                        </m:r>
                        <m:r>
                          <a:rPr lang="en-US" b="1" i="1">
                            <a:latin typeface="Cambria Math" panose="02040503050406030204" pitchFamily="18" charset="0"/>
                          </a:rPr>
                          <m:t>,</m:t>
                        </m:r>
                        <m:r>
                          <a:rPr lang="en-US" b="1" i="1">
                            <a:latin typeface="Cambria Math" panose="02040503050406030204" pitchFamily="18" charset="0"/>
                          </a:rPr>
                          <m:t>𝟑</m:t>
                        </m:r>
                        <m:r>
                          <a:rPr lang="en-US" b="1" i="1">
                            <a:latin typeface="Cambria Math" panose="02040503050406030204" pitchFamily="18" charset="0"/>
                          </a:rPr>
                          <m:t>;−</m:t>
                        </m:r>
                        <m:r>
                          <a:rPr lang="en-US" b="1" i="1">
                            <a:latin typeface="Cambria Math" panose="02040503050406030204" pitchFamily="18" charset="0"/>
                          </a:rPr>
                          <m:t>𝟐</m:t>
                        </m:r>
                      </m:e>
                    </m:d>
                    <m:r>
                      <a:rPr lang="en-US" b="1" i="1">
                        <a:latin typeface="Cambria Math" panose="02040503050406030204" pitchFamily="18" charset="0"/>
                      </a:rPr>
                      <m:t>⇒</m:t>
                    </m:r>
                    <m:r>
                      <a:rPr lang="en-US" b="1" i="1">
                        <a:latin typeface="Cambria Math" panose="02040503050406030204" pitchFamily="18" charset="0"/>
                      </a:rPr>
                      <m:t>𝑨𝑩</m:t>
                    </m:r>
                    <m:r>
                      <a:rPr lang="en-US" b="1" i="1" smtClean="0">
                        <a:latin typeface="Cambria Math" panose="02040503050406030204" pitchFamily="18" charset="0"/>
                      </a:rPr>
                      <m:t>=</m:t>
                    </m:r>
                    <m:rad>
                      <m:radPr>
                        <m:degHide m:val="on"/>
                        <m:ctrlPr>
                          <a:rPr lang="en-US" b="1" i="1">
                            <a:latin typeface="Cambria Math" panose="02040503050406030204" pitchFamily="18" charset="0"/>
                          </a:rPr>
                        </m:ctrlPr>
                      </m:radPr>
                      <m:deg/>
                      <m:e>
                        <m:r>
                          <a:rPr lang="en-US" b="1" i="1">
                            <a:latin typeface="Cambria Math" panose="02040503050406030204" pitchFamily="18" charset="0"/>
                          </a:rPr>
                          <m:t>𝟎</m:t>
                        </m:r>
                        <m:r>
                          <a:rPr lang="en-US" b="1"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𝟑</m:t>
                            </m:r>
                          </m:e>
                          <m:sup>
                            <m:r>
                              <a:rPr lang="en-US" b="1" i="1">
                                <a:latin typeface="Cambria Math" panose="02040503050406030204" pitchFamily="18" charset="0"/>
                              </a:rPr>
                              <m:t>𝟐</m:t>
                            </m:r>
                          </m:sup>
                        </m:sSup>
                        <m:r>
                          <a:rPr lang="en-US" b="1" i="1">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r>
                                  <a:rPr lang="en-US" b="1" i="1">
                                    <a:latin typeface="Cambria Math" panose="02040503050406030204" pitchFamily="18" charset="0"/>
                                  </a:rPr>
                                  <m:t>−</m:t>
                                </m:r>
                                <m:r>
                                  <a:rPr lang="en-US" b="1" i="1">
                                    <a:latin typeface="Cambria Math" panose="02040503050406030204" pitchFamily="18" charset="0"/>
                                  </a:rPr>
                                  <m:t>𝟐</m:t>
                                </m:r>
                              </m:e>
                            </m:d>
                          </m:e>
                          <m:sup>
                            <m:r>
                              <a:rPr lang="en-US" b="1" i="1">
                                <a:latin typeface="Cambria Math" panose="02040503050406030204" pitchFamily="18" charset="0"/>
                              </a:rPr>
                              <m:t>𝟐</m:t>
                            </m:r>
                          </m:sup>
                        </m:sSup>
                      </m:e>
                    </m:rad>
                    <m:r>
                      <a:rPr lang="en-US" b="1" i="1">
                        <a:latin typeface="Cambria Math" panose="02040503050406030204" pitchFamily="18" charset="0"/>
                      </a:rPr>
                      <m:t>=</m:t>
                    </m:r>
                    <m:rad>
                      <m:radPr>
                        <m:degHide m:val="on"/>
                        <m:ctrlPr>
                          <a:rPr lang="en-US" b="1" i="1">
                            <a:latin typeface="Cambria Math" panose="02040503050406030204" pitchFamily="18" charset="0"/>
                          </a:rPr>
                        </m:ctrlPr>
                      </m:radPr>
                      <m:deg/>
                      <m:e>
                        <m:r>
                          <a:rPr lang="en-US" b="1" i="1">
                            <a:latin typeface="Cambria Math" panose="02040503050406030204" pitchFamily="18" charset="0"/>
                          </a:rPr>
                          <m:t>𝟒</m:t>
                        </m:r>
                        <m:r>
                          <a:rPr lang="en-US" b="1" i="1">
                            <a:latin typeface="Cambria Math" panose="02040503050406030204" pitchFamily="18" charset="0"/>
                          </a:rPr>
                          <m:t>,</m:t>
                        </m:r>
                        <m:r>
                          <a:rPr lang="en-US" b="1" i="1">
                            <a:latin typeface="Cambria Math" panose="02040503050406030204" pitchFamily="18" charset="0"/>
                          </a:rPr>
                          <m:t>𝟎𝟗</m:t>
                        </m:r>
                      </m:e>
                    </m:rad>
                  </m:oMath>
                </a14:m>
                <a:r>
                  <a:rPr lang="en-US" b="1" dirty="0">
                    <a:latin typeface="Tahoma" panose="020B0604030504040204" pitchFamily="34" charset="0"/>
                    <a:ea typeface="Tahoma" panose="020B0604030504040204" pitchFamily="34" charset="0"/>
                    <a:cs typeface="Tahoma" panose="020B0604030504040204" pitchFamily="34" charset="0"/>
                  </a:rPr>
                  <a:t>.</a:t>
                </a:r>
              </a:p>
              <a:p>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𝑨𝑴</m:t>
                        </m:r>
                      </m:e>
                    </m:acc>
                    <m:r>
                      <a:rPr lang="en-US" b="1" i="1">
                        <a:latin typeface="Cambria Math" panose="02040503050406030204" pitchFamily="18" charset="0"/>
                      </a:rPr>
                      <m:t>=</m:t>
                    </m:r>
                    <m:d>
                      <m:dPr>
                        <m:ctrlPr>
                          <a:rPr lang="en-US" b="1" i="1">
                            <a:latin typeface="Cambria Math" panose="02040503050406030204" pitchFamily="18" charset="0"/>
                          </a:rPr>
                        </m:ctrlPr>
                      </m:dPr>
                      <m:e>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𝟏𝟑</m:t>
                        </m:r>
                        <m:r>
                          <a:rPr lang="en-US" b="1" i="1">
                            <a:latin typeface="Cambria Math" panose="02040503050406030204" pitchFamily="18" charset="0"/>
                          </a:rPr>
                          <m:t>,</m:t>
                        </m:r>
                        <m:r>
                          <a:rPr lang="en-US" b="1" i="1">
                            <a:latin typeface="Cambria Math" panose="02040503050406030204" pitchFamily="18" charset="0"/>
                          </a:rPr>
                          <m:t>𝟖</m:t>
                        </m:r>
                        <m:r>
                          <a:rPr lang="en-US" b="1" i="1">
                            <a:latin typeface="Cambria Math" panose="02040503050406030204" pitchFamily="18" charset="0"/>
                          </a:rPr>
                          <m:t>;</m:t>
                        </m:r>
                        <m:r>
                          <a:rPr lang="en-US" b="1" i="1">
                            <a:latin typeface="Cambria Math" panose="02040503050406030204" pitchFamily="18" charset="0"/>
                          </a:rPr>
                          <m:t>𝒚</m:t>
                        </m:r>
                        <m:r>
                          <a:rPr lang="en-US" b="1" i="1">
                            <a:latin typeface="Cambria Math" panose="02040503050406030204" pitchFamily="18" charset="0"/>
                          </a:rPr>
                          <m:t>−</m:t>
                        </m:r>
                        <m:r>
                          <a:rPr lang="en-US" b="1" i="1">
                            <a:latin typeface="Cambria Math" panose="02040503050406030204" pitchFamily="18" charset="0"/>
                          </a:rPr>
                          <m:t>𝟏𝟎𝟖</m:t>
                        </m:r>
                        <m:r>
                          <a:rPr lang="en-US" b="1" i="1">
                            <a:latin typeface="Cambria Math" panose="02040503050406030204" pitchFamily="18" charset="0"/>
                          </a:rPr>
                          <m:t>,</m:t>
                        </m:r>
                        <m:r>
                          <a:rPr lang="en-US" b="1" i="1">
                            <a:latin typeface="Cambria Math" panose="02040503050406030204" pitchFamily="18" charset="0"/>
                          </a:rPr>
                          <m:t>𝟑</m:t>
                        </m:r>
                      </m:e>
                    </m:d>
                  </m:oMath>
                </a14:m>
                <a:r>
                  <a:rPr lang="en-US" b="1" dirty="0">
                    <a:latin typeface="Tahoma" panose="020B0604030504040204" pitchFamily="34" charset="0"/>
                    <a:ea typeface="Tahoma" panose="020B0604030504040204" pitchFamily="34" charset="0"/>
                    <a:cs typeface="Tahoma" panose="020B0604030504040204" pitchFamily="34" charset="0"/>
                  </a:rPr>
                  <a:t>.</a:t>
                </a:r>
              </a:p>
              <a:p>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𝑨𝑴</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cùng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𝟏𝟑</m:t>
                        </m:r>
                        <m:r>
                          <a:rPr lang="en-US" b="1" i="1">
                            <a:latin typeface="Cambria Math" panose="02040503050406030204" pitchFamily="18" charset="0"/>
                          </a:rPr>
                          <m:t>,</m:t>
                        </m:r>
                        <m:r>
                          <a:rPr lang="en-US" b="1" i="1">
                            <a:latin typeface="Cambria Math" panose="02040503050406030204" pitchFamily="18" charset="0"/>
                          </a:rPr>
                          <m:t>𝟖</m:t>
                        </m:r>
                      </m:num>
                      <m:den>
                        <m:r>
                          <a:rPr lang="en-US" b="1" i="1">
                            <a:latin typeface="Cambria Math" panose="02040503050406030204" pitchFamily="18" charset="0"/>
                          </a:rPr>
                          <m:t>𝟎</m:t>
                        </m:r>
                        <m:r>
                          <a:rPr lang="en-US" b="1" i="1">
                            <a:latin typeface="Cambria Math" panose="02040503050406030204" pitchFamily="18" charset="0"/>
                          </a:rPr>
                          <m:t>,</m:t>
                        </m:r>
                        <m:r>
                          <a:rPr lang="en-US" b="1" i="1">
                            <a:latin typeface="Cambria Math" panose="02040503050406030204" pitchFamily="18" charset="0"/>
                          </a:rPr>
                          <m:t>𝟑</m:t>
                        </m:r>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𝒚</m:t>
                        </m:r>
                        <m:r>
                          <a:rPr lang="en-US" b="1" i="1">
                            <a:latin typeface="Cambria Math" panose="02040503050406030204" pitchFamily="18" charset="0"/>
                          </a:rPr>
                          <m:t>−</m:t>
                        </m:r>
                        <m:r>
                          <a:rPr lang="en-US" b="1" i="1">
                            <a:latin typeface="Cambria Math" panose="02040503050406030204" pitchFamily="18" charset="0"/>
                          </a:rPr>
                          <m:t>𝟏𝟎𝟖</m:t>
                        </m:r>
                        <m:r>
                          <a:rPr lang="en-US" b="1" i="1">
                            <a:latin typeface="Cambria Math" panose="02040503050406030204" pitchFamily="18" charset="0"/>
                          </a:rPr>
                          <m:t>,</m:t>
                        </m:r>
                        <m:r>
                          <a:rPr lang="en-US" b="1" i="1">
                            <a:latin typeface="Cambria Math" panose="02040503050406030204" pitchFamily="18" charset="0"/>
                          </a:rPr>
                          <m:t>𝟑</m:t>
                        </m:r>
                      </m:num>
                      <m:den>
                        <m:r>
                          <a:rPr lang="en-US" b="1" i="1">
                            <a:latin typeface="Cambria Math" panose="02040503050406030204" pitchFamily="18" charset="0"/>
                          </a:rPr>
                          <m:t>−</m:t>
                        </m:r>
                        <m:r>
                          <a:rPr lang="en-US" b="1" i="1">
                            <a:latin typeface="Cambria Math" panose="02040503050406030204" pitchFamily="18" charset="0"/>
                          </a:rPr>
                          <m:t>𝟐</m:t>
                        </m:r>
                      </m:den>
                    </m:f>
                  </m:oMath>
                </a14:m>
                <a:r>
                  <a:rPr lang="en-US" b="1" dirty="0">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rPr>
                      <m:t>⇔</m:t>
                    </m:r>
                    <m:r>
                      <a:rPr lang="en-US" b="1" i="1">
                        <a:latin typeface="Cambria Math" panose="02040503050406030204" pitchFamily="18" charset="0"/>
                      </a:rPr>
                      <m:t>𝒚</m:t>
                    </m:r>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𝟔𝟎</m:t>
                        </m:r>
                        <m:r>
                          <a:rPr lang="en-US" b="1" i="1">
                            <a:latin typeface="Cambria Math" panose="02040503050406030204" pitchFamily="18" charset="0"/>
                          </a:rPr>
                          <m:t>,</m:t>
                        </m:r>
                        <m:r>
                          <a:rPr lang="en-US" b="1" i="1">
                            <a:latin typeface="Cambria Math" panose="02040503050406030204" pitchFamily="18" charset="0"/>
                          </a:rPr>
                          <m:t>𝟎𝟗</m:t>
                        </m:r>
                      </m:num>
                      <m:den>
                        <m:r>
                          <a:rPr lang="en-US" b="1" i="1">
                            <a:latin typeface="Cambria Math" panose="02040503050406030204" pitchFamily="18" charset="0"/>
                          </a:rPr>
                          <m:t>𝟎</m:t>
                        </m:r>
                        <m:r>
                          <a:rPr lang="en-US" b="1" i="1">
                            <a:latin typeface="Cambria Math" panose="02040503050406030204" pitchFamily="18" charset="0"/>
                          </a:rPr>
                          <m:t>,</m:t>
                        </m:r>
                        <m:r>
                          <a:rPr lang="en-US" b="1" i="1">
                            <a:latin typeface="Cambria Math" panose="02040503050406030204" pitchFamily="18" charset="0"/>
                          </a:rPr>
                          <m:t>𝟑</m:t>
                        </m:r>
                      </m:den>
                    </m:f>
                  </m:oMath>
                </a14:m>
                <a:r>
                  <a:rPr lang="en-US" b="1" dirty="0">
                    <a:latin typeface="Tahoma" panose="020B0604030504040204" pitchFamily="34" charset="0"/>
                    <a:ea typeface="Tahoma" panose="020B0604030504040204" pitchFamily="34" charset="0"/>
                    <a:cs typeface="Tahoma" panose="020B0604030504040204" pitchFamily="34" charset="0"/>
                  </a:rPr>
                  <a:t>.</a:t>
                </a:r>
              </a:p>
              <a:p>
                <a:r>
                  <a:rPr lang="en-US" b="1" dirty="0" err="1">
                    <a:latin typeface="Tahoma" panose="020B0604030504040204" pitchFamily="34" charset="0"/>
                    <a:ea typeface="Tahoma" panose="020B0604030504040204" pitchFamily="34" charset="0"/>
                    <a:cs typeface="Tahoma" panose="020B0604030504040204" pitchFamily="34" charset="0"/>
                  </a:rPr>
                  <a:t>Quãng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cơn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bão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sau</a:t>
                </a:r>
                <a:r>
                  <a:rPr lang="en-US" b="1" dirty="0">
                    <a:latin typeface="Tahoma" panose="020B0604030504040204" pitchFamily="34" charset="0"/>
                    <a:ea typeface="Tahoma" panose="020B0604030504040204" pitchFamily="34" charset="0"/>
                    <a:cs typeface="Tahoma" panose="020B0604030504040204" pitchFamily="34" charset="0"/>
                  </a:rPr>
                  <a:t> 9 </a:t>
                </a:r>
                <a:r>
                  <a:rPr lang="en-US" b="1" dirty="0" err="1">
                    <a:latin typeface="Tahoma" panose="020B0604030504040204" pitchFamily="34" charset="0"/>
                    <a:ea typeface="Tahoma" panose="020B0604030504040204" pitchFamily="34" charset="0"/>
                    <a:cs typeface="Tahoma" panose="020B0604030504040204" pitchFamily="34" charset="0"/>
                  </a:rPr>
                  <a:t>giờ</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lgn="ctr">
                  <a:buNone/>
                </a:pP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f>
                      <m:fPr>
                        <m:ctrlPr>
                          <a:rPr lang="en-US" b="1" i="1">
                            <a:latin typeface="Cambria Math" panose="02040503050406030204" pitchFamily="18" charset="0"/>
                          </a:rPr>
                        </m:ctrlPr>
                      </m:fPr>
                      <m:num>
                        <m:rad>
                          <m:radPr>
                            <m:degHide m:val="on"/>
                            <m:ctrlPr>
                              <a:rPr lang="en-US" b="1" i="1">
                                <a:latin typeface="Cambria Math" panose="02040503050406030204" pitchFamily="18" charset="0"/>
                              </a:rPr>
                            </m:ctrlPr>
                          </m:radPr>
                          <m:deg/>
                          <m:e>
                            <m:r>
                              <a:rPr lang="en-US" b="1" i="1">
                                <a:latin typeface="Cambria Math" panose="02040503050406030204" pitchFamily="18" charset="0"/>
                              </a:rPr>
                              <m:t>𝟒</m:t>
                            </m:r>
                            <m:r>
                              <a:rPr lang="en-US" b="1" i="1">
                                <a:latin typeface="Cambria Math" panose="02040503050406030204" pitchFamily="18" charset="0"/>
                              </a:rPr>
                              <m:t>,</m:t>
                            </m:r>
                            <m:r>
                              <a:rPr lang="en-US" b="1" i="1">
                                <a:latin typeface="Cambria Math" panose="02040503050406030204" pitchFamily="18" charset="0"/>
                              </a:rPr>
                              <m:t>𝟎𝟗</m:t>
                            </m:r>
                          </m:e>
                        </m:rad>
                      </m:num>
                      <m:den>
                        <m:r>
                          <a:rPr lang="en-US" b="1" i="1">
                            <a:latin typeface="Cambria Math" panose="02040503050406030204" pitchFamily="18" charset="0"/>
                          </a:rPr>
                          <m:t>𝟏𝟐</m:t>
                        </m:r>
                      </m:den>
                    </m:f>
                    <m:r>
                      <a:rPr lang="en-US" b="1" i="1">
                        <a:latin typeface="Cambria Math" panose="02040503050406030204" pitchFamily="18" charset="0"/>
                      </a:rPr>
                      <m:t>.</m:t>
                    </m:r>
                    <m:r>
                      <a:rPr lang="en-US" b="1" i="1">
                        <a:latin typeface="Cambria Math" panose="02040503050406030204" pitchFamily="18" charset="0"/>
                      </a:rPr>
                      <m:t>𝟗</m:t>
                    </m:r>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𝟑</m:t>
                        </m:r>
                        <m:rad>
                          <m:radPr>
                            <m:degHide m:val="on"/>
                            <m:ctrlPr>
                              <a:rPr lang="en-US" b="1" i="1">
                                <a:latin typeface="Cambria Math" panose="02040503050406030204" pitchFamily="18" charset="0"/>
                              </a:rPr>
                            </m:ctrlPr>
                          </m:radPr>
                          <m:deg/>
                          <m:e>
                            <m:r>
                              <a:rPr lang="en-US" b="1" i="1">
                                <a:latin typeface="Cambria Math" panose="02040503050406030204" pitchFamily="18" charset="0"/>
                              </a:rPr>
                              <m:t>𝟒</m:t>
                            </m:r>
                            <m:r>
                              <a:rPr lang="en-US" b="1" i="1">
                                <a:latin typeface="Cambria Math" panose="02040503050406030204" pitchFamily="18" charset="0"/>
                              </a:rPr>
                              <m:t>,</m:t>
                            </m:r>
                            <m:r>
                              <a:rPr lang="en-US" b="1" i="1">
                                <a:latin typeface="Cambria Math" panose="02040503050406030204" pitchFamily="18" charset="0"/>
                              </a:rPr>
                              <m:t>𝟎𝟗</m:t>
                            </m:r>
                          </m:e>
                        </m:rad>
                      </m:num>
                      <m:den>
                        <m:r>
                          <a:rPr lang="en-US" b="1" i="1">
                            <a:latin typeface="Cambria Math" panose="02040503050406030204" pitchFamily="18" charset="0"/>
                          </a:rPr>
                          <m:t>𝟒</m:t>
                        </m:r>
                      </m:den>
                    </m:f>
                  </m:oMath>
                </a14:m>
                <a:r>
                  <a:rPr kumimoji="0" lang="en-US"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496898" y="4250837"/>
                <a:ext cx="14285902" cy="9168303"/>
              </a:xfrm>
              <a:prstGeom prst="rect">
                <a:avLst/>
              </a:prstGeom>
              <a:blipFill>
                <a:blip r:embed="rId4"/>
                <a:stretch>
                  <a:fillRect l="-1748" t="-2324" r="-1791"/>
                </a:stretch>
              </a:blipFill>
              <a:ln>
                <a:solidFill>
                  <a:srgbClr val="00B0F0"/>
                </a:solidFill>
              </a:ln>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4630400" y="3276601"/>
            <a:ext cx="9525000" cy="101425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1828800" rtl="0" eaLnBrk="1" fontAlgn="auto" latinLnBrk="0" hangingPunct="1">
              <a:lnSpc>
                <a:spcPct val="90000"/>
              </a:lnSpc>
              <a:spcBef>
                <a:spcPts val="2000"/>
              </a:spcBef>
              <a:spcAft>
                <a:spcPts val="0"/>
              </a:spcAft>
              <a:buClrTx/>
              <a:buSzTx/>
              <a:buNone/>
              <a:tabLst/>
              <a:defRPr/>
            </a:pPr>
            <a:endParaRPr kumimoji="0" lang="en-US" sz="4800" b="0" i="0" u="none" strike="noStrike" kern="1200" cap="none" spc="0" normalizeH="0" baseline="0" noProof="0" dirty="0">
              <a:ln>
                <a:noFill/>
              </a:ln>
              <a:solidFill>
                <a:prstClr val="black"/>
              </a:solidFill>
              <a:effectLst/>
              <a:uLnTx/>
              <a:uFillTx/>
              <a:latin typeface="Tomaho"/>
              <a:ea typeface="+mn-ea"/>
              <a:cs typeface="+mn-cs"/>
            </a:endParaRPr>
          </a:p>
        </p:txBody>
      </p:sp>
      <p:grpSp>
        <p:nvGrpSpPr>
          <p:cNvPr id="27" name="Group 26">
            <a:extLst>
              <a:ext uri="{FF2B5EF4-FFF2-40B4-BE49-F238E27FC236}">
                <a16:creationId xmlns:a16="http://schemas.microsoft.com/office/drawing/2014/main" id="{47D60863-385B-4E62-802C-F08FCAA19F2D}"/>
              </a:ext>
            </a:extLst>
          </p:cNvPr>
          <p:cNvGrpSpPr/>
          <p:nvPr/>
        </p:nvGrpSpPr>
        <p:grpSpPr>
          <a:xfrm>
            <a:off x="-37301" y="1134655"/>
            <a:ext cx="2743200" cy="685800"/>
            <a:chOff x="22440" y="59287"/>
            <a:chExt cx="850471" cy="230002"/>
          </a:xfrm>
        </p:grpSpPr>
        <p:grpSp>
          <p:nvGrpSpPr>
            <p:cNvPr id="28" name="Group 27">
              <a:extLst>
                <a:ext uri="{FF2B5EF4-FFF2-40B4-BE49-F238E27FC236}">
                  <a16:creationId xmlns:a16="http://schemas.microsoft.com/office/drawing/2014/main" id="{2A36DAC6-10DB-4254-9F70-FF98E9557DF6}"/>
                </a:ext>
              </a:extLst>
            </p:cNvPr>
            <p:cNvGrpSpPr/>
            <p:nvPr/>
          </p:nvGrpSpPr>
          <p:grpSpPr>
            <a:xfrm>
              <a:off x="22440" y="59287"/>
              <a:ext cx="850471" cy="181322"/>
              <a:chOff x="31572" y="60276"/>
              <a:chExt cx="1196628" cy="224395"/>
            </a:xfrm>
          </p:grpSpPr>
          <p:sp>
            <p:nvSpPr>
              <p:cNvPr id="30" name="Arrow: Pentagon 29">
                <a:extLst>
                  <a:ext uri="{FF2B5EF4-FFF2-40B4-BE49-F238E27FC236}">
                    <a16:creationId xmlns:a16="http://schemas.microsoft.com/office/drawing/2014/main" id="{0073BDC7-7A67-4A14-A04C-DBA00B24C78E}"/>
                  </a:ext>
                </a:extLst>
              </p:cNvPr>
              <p:cNvSpPr/>
              <p:nvPr/>
            </p:nvSpPr>
            <p:spPr>
              <a:xfrm>
                <a:off x="204585" y="62042"/>
                <a:ext cx="1023615" cy="222629"/>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en-US" sz="1000" b="1" kern="1200">
                    <a:solidFill>
                      <a:srgbClr val="0000CC"/>
                    </a:solidFill>
                    <a:effectLst/>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1" name="Arrow: Chevron 30">
                <a:extLst>
                  <a:ext uri="{FF2B5EF4-FFF2-40B4-BE49-F238E27FC236}">
                    <a16:creationId xmlns:a16="http://schemas.microsoft.com/office/drawing/2014/main" id="{ACAF0981-9CD0-482B-AA6F-AC00F848D614}"/>
                  </a:ext>
                </a:extLst>
              </p:cNvPr>
              <p:cNvSpPr/>
              <p:nvPr/>
            </p:nvSpPr>
            <p:spPr>
              <a:xfrm>
                <a:off x="31572" y="60341"/>
                <a:ext cx="162630" cy="19606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2" name="Arrow: Chevron 31">
                <a:extLst>
                  <a:ext uri="{FF2B5EF4-FFF2-40B4-BE49-F238E27FC236}">
                    <a16:creationId xmlns:a16="http://schemas.microsoft.com/office/drawing/2014/main" id="{BECC14F0-20E9-486E-8687-5DE8E14F6942}"/>
                  </a:ext>
                </a:extLst>
              </p:cNvPr>
              <p:cNvSpPr/>
              <p:nvPr/>
            </p:nvSpPr>
            <p:spPr>
              <a:xfrm>
                <a:off x="116273" y="60276"/>
                <a:ext cx="176766" cy="196062"/>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29" name="TextBox 56">
              <a:extLst>
                <a:ext uri="{FF2B5EF4-FFF2-40B4-BE49-F238E27FC236}">
                  <a16:creationId xmlns:a16="http://schemas.microsoft.com/office/drawing/2014/main" id="{C939EDA2-E4FC-4E2B-BB1E-CC7B543BBB2A}"/>
                </a:ext>
              </a:extLst>
            </p:cNvPr>
            <p:cNvSpPr txBox="1"/>
            <p:nvPr/>
          </p:nvSpPr>
          <p:spPr>
            <a:xfrm>
              <a:off x="188057" y="59287"/>
              <a:ext cx="684854" cy="230002"/>
            </a:xfrm>
            <a:prstGeom prst="rect">
              <a:avLst/>
            </a:prstGeom>
            <a:noFill/>
          </p:spPr>
          <p:txBody>
            <a:bodyPr wrap="square">
              <a:noAutofit/>
            </a:bodyPr>
            <a:lstStyle/>
            <a:p>
              <a:pPr>
                <a:lnSpc>
                  <a:spcPct val="107000"/>
                </a:lnSpc>
                <a:spcAft>
                  <a:spcPts val="800"/>
                </a:spcAft>
              </a:pPr>
              <a:r>
                <a:rPr lang="en-US" sz="30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Vận</a:t>
              </a:r>
              <a:r>
                <a:rPr lang="en-US" sz="30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lang="en-US" sz="30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dụng</a:t>
              </a:r>
              <a:r>
                <a:rPr lang="en-US" sz="30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a:t>
              </a:r>
              <a:endParaRPr lang="en-US" sz="3000" dirty="0">
                <a:effectLst/>
                <a:latin typeface="Tahoma" panose="020B0604030504040204" pitchFamily="34" charset="0"/>
                <a:ea typeface="Tahoma" panose="020B0604030504040204" pitchFamily="34" charset="0"/>
                <a:cs typeface="Tahoma" panose="020B0604030504040204" pitchFamily="34" charset="0"/>
              </a:endParaRPr>
            </a:p>
          </p:txBody>
        </p:sp>
      </p:grpSp>
      <p:pic>
        <p:nvPicPr>
          <p:cNvPr id="22" name="Picture 21">
            <a:extLst>
              <a:ext uri="{FF2B5EF4-FFF2-40B4-BE49-F238E27FC236}">
                <a16:creationId xmlns:a16="http://schemas.microsoft.com/office/drawing/2014/main" id="{53C3564F-8CCB-4FDA-A64A-F294A2DE4896}"/>
              </a:ext>
            </a:extLst>
          </p:cNvPr>
          <p:cNvPicPr/>
          <p:nvPr/>
        </p:nvPicPr>
        <p:blipFill>
          <a:blip r:embed="rId5"/>
          <a:stretch>
            <a:fillRect/>
          </a:stretch>
        </p:blipFill>
        <p:spPr>
          <a:xfrm>
            <a:off x="17297400" y="9732034"/>
            <a:ext cx="2286000" cy="3665540"/>
          </a:xfrm>
          <a:prstGeom prst="rect">
            <a:avLst/>
          </a:prstGeom>
        </p:spPr>
      </p:pic>
      <mc:AlternateContent xmlns:mc="http://schemas.openxmlformats.org/markup-compatibility/2006" xmlns:a14="http://schemas.microsoft.com/office/drawing/2010/main">
        <mc:Choice Requires="a14">
          <p:sp>
            <p:nvSpPr>
              <p:cNvPr id="24" name="Speech Bubble: Rectangle with Corners Rounded 23">
                <a:extLst>
                  <a:ext uri="{FF2B5EF4-FFF2-40B4-BE49-F238E27FC236}">
                    <a16:creationId xmlns:a16="http://schemas.microsoft.com/office/drawing/2014/main" id="{74C04CD1-9D50-40DD-A714-58D8B68A716E}"/>
                  </a:ext>
                </a:extLst>
              </p:cNvPr>
              <p:cNvSpPr/>
              <p:nvPr/>
            </p:nvSpPr>
            <p:spPr>
              <a:xfrm>
                <a:off x="14630400" y="3270849"/>
                <a:ext cx="9483096" cy="6215349"/>
              </a:xfrm>
              <a:prstGeom prst="wedgeRoundRectCallou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just">
                  <a:lnSpc>
                    <a:spcPct val="107000"/>
                  </a:lnSpc>
                  <a:spcAft>
                    <a:spcPts val="800"/>
                  </a:spcAft>
                </a:pP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Trong</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12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giờ</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tâm</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bão</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dự</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báo</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di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chuyển</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thẳng</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đều</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𝐴</m:t>
                    </m:r>
                    <m:d>
                      <m:dPr>
                        <m:ctrlP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dPr>
                      <m:e>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13,8;108,3</m:t>
                        </m:r>
                      </m:e>
                    </m:d>
                  </m:oMath>
                </a14:m>
                <a:r>
                  <a:rPr lang="en-US" sz="4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tới</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vị</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trí</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toạ</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độ</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𝐵</m:t>
                    </m:r>
                    <m:d>
                      <m:dPr>
                        <m:ctrlP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dPr>
                      <m:e>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14,1;106,3</m:t>
                        </m:r>
                      </m:e>
                    </m:d>
                  </m:oMath>
                </a14:m>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Gọi</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toạ</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độ</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𝑀</m:t>
                    </m:r>
                  </m:oMath>
                </a14:m>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d>
                      <m:dPr>
                        <m:ctrlP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dPr>
                      <m:e>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𝑥</m:t>
                        </m:r>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𝑦</m:t>
                        </m:r>
                      </m:e>
                    </m:d>
                  </m:oMath>
                </a14:m>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Bạn</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hãy</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tìm</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mối</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liên</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giữa</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hai</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vectơ</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acc>
                      <m:accPr>
                        <m:chr m:val="⃗"/>
                        <m:ctrlPr>
                          <a:rPr lang="en-US" sz="4800" i="1">
                            <a:effectLst/>
                            <a:latin typeface="Cambria Math" panose="02040503050406030204" pitchFamily="18" charset="0"/>
                            <a:ea typeface="Calibri" panose="020F0502020204030204" pitchFamily="34" charset="0"/>
                            <a:cs typeface="Tahoma" panose="020B0604030504040204" pitchFamily="34" charset="0"/>
                          </a:rPr>
                        </m:ctrlPr>
                      </m:accPr>
                      <m:e>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𝐴𝑀</m:t>
                        </m:r>
                      </m:e>
                    </m:acc>
                  </m:oMath>
                </a14:m>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acc>
                      <m:accPr>
                        <m:chr m:val="⃗"/>
                        <m:ctrlPr>
                          <a:rPr lang="en-US" sz="4800" i="1">
                            <a:effectLst/>
                            <a:latin typeface="Cambria Math" panose="02040503050406030204" pitchFamily="18" charset="0"/>
                            <a:ea typeface="Calibri" panose="020F0502020204030204" pitchFamily="34" charset="0"/>
                            <a:cs typeface="Tahoma" panose="020B0604030504040204" pitchFamily="34" charset="0"/>
                          </a:rPr>
                        </m:ctrlPr>
                      </m:accPr>
                      <m:e>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𝐴𝐵</m:t>
                        </m:r>
                      </m:e>
                    </m:acc>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 </m:t>
                    </m:r>
                  </m:oMath>
                </a14:m>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rồi</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thể</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hiện</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mối</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quan</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hệ</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đó</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theo</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toạ</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độ</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để</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tìm</a:t>
                </a:r>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𝑥</m:t>
                    </m:r>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r>
                      <a:rPr lang="en-US" sz="48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𝑦</m:t>
                    </m:r>
                  </m:oMath>
                </a14:m>
                <a:r>
                  <a:rPr lang="en-US" sz="4800" dirty="0">
                    <a:solidFill>
                      <a:srgbClr val="6600FF"/>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24" name="Speech Bubble: Rectangle with Corners Rounded 23">
                <a:extLst>
                  <a:ext uri="{FF2B5EF4-FFF2-40B4-BE49-F238E27FC236}">
                    <a16:creationId xmlns:a16="http://schemas.microsoft.com/office/drawing/2014/main" id="{74C04CD1-9D50-40DD-A714-58D8B68A716E}"/>
                  </a:ext>
                </a:extLst>
              </p:cNvPr>
              <p:cNvSpPr>
                <a:spLocks noRot="1" noChangeAspect="1" noMove="1" noResize="1" noEditPoints="1" noAdjustHandles="1" noChangeArrowheads="1" noChangeShapeType="1" noTextEdit="1"/>
              </p:cNvSpPr>
              <p:nvPr/>
            </p:nvSpPr>
            <p:spPr>
              <a:xfrm>
                <a:off x="14630400" y="3270849"/>
                <a:ext cx="9483096" cy="6215349"/>
              </a:xfrm>
              <a:prstGeom prst="wedgeRoundRectCallout">
                <a:avLst/>
              </a:prstGeom>
              <a:blipFill>
                <a:blip r:embed="rId6"/>
                <a:stretch>
                  <a:fillRect t="-3307"/>
                </a:stretch>
              </a:blipFill>
            </p:spPr>
            <p:txBody>
              <a:bodyPr/>
              <a:lstStyle/>
              <a:p>
                <a:r>
                  <a:rPr lang="en-US">
                    <a:noFill/>
                  </a:rPr>
                  <a:t> </a:t>
                </a:r>
              </a:p>
            </p:txBody>
          </p:sp>
        </mc:Fallback>
      </mc:AlternateContent>
      <p:sp>
        <p:nvSpPr>
          <p:cNvPr id="26" name="Freeform 20">
            <a:extLst>
              <a:ext uri="{FF2B5EF4-FFF2-40B4-BE49-F238E27FC236}">
                <a16:creationId xmlns:a16="http://schemas.microsoft.com/office/drawing/2014/main" id="{8643E262-BDC8-45EC-B66F-E8850B76189C}"/>
              </a:ext>
            </a:extLst>
          </p:cNvPr>
          <p:cNvSpPr>
            <a:spLocks/>
          </p:cNvSpPr>
          <p:nvPr/>
        </p:nvSpPr>
        <p:spPr bwMode="auto">
          <a:xfrm rot="16200000" flipV="1">
            <a:off x="6659751" y="2151575"/>
            <a:ext cx="966341" cy="3106218"/>
          </a:xfrm>
          <a:prstGeom prst="round1Rect">
            <a:avLst/>
          </a:prstGeom>
          <a:solidFill>
            <a:srgbClr val="DAE3F3"/>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33" name="TextBox 32">
            <a:extLst>
              <a:ext uri="{FF2B5EF4-FFF2-40B4-BE49-F238E27FC236}">
                <a16:creationId xmlns:a16="http://schemas.microsoft.com/office/drawing/2014/main" id="{5C8CE8FA-63A9-41A6-AB34-D3CBA27CDC49}"/>
              </a:ext>
            </a:extLst>
          </p:cNvPr>
          <p:cNvSpPr txBox="1"/>
          <p:nvPr/>
        </p:nvSpPr>
        <p:spPr>
          <a:xfrm>
            <a:off x="5562600" y="3340394"/>
            <a:ext cx="2978124" cy="800219"/>
          </a:xfrm>
          <a:prstGeom prst="rect">
            <a:avLst/>
          </a:prstGeom>
          <a:solidFill>
            <a:srgbClr val="DAE3F3"/>
          </a:solid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34" name="Picture 33">
            <a:extLst>
              <a:ext uri="{FF2B5EF4-FFF2-40B4-BE49-F238E27FC236}">
                <a16:creationId xmlns:a16="http://schemas.microsoft.com/office/drawing/2014/main" id="{576CA542-4007-4B88-B7B6-CEF4F86D94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7950" t="14860" r="18922" b="25555"/>
          <a:stretch/>
        </p:blipFill>
        <p:spPr>
          <a:xfrm>
            <a:off x="4478451" y="3193790"/>
            <a:ext cx="1097756" cy="1079473"/>
          </a:xfrm>
          <a:prstGeom prst="round2DiagRect">
            <a:avLst>
              <a:gd name="adj1" fmla="val 27632"/>
              <a:gd name="adj2" fmla="val 0"/>
            </a:avLst>
          </a:prstGeom>
          <a:solidFill>
            <a:srgbClr val="DAE3F3"/>
          </a:solidFill>
          <a:ln w="38100" cap="sq">
            <a:solidFill>
              <a:schemeClr val="accent6">
                <a:lumMod val="50000"/>
              </a:schemeClr>
            </a:solidFill>
            <a:miter lim="800000"/>
          </a:ln>
          <a:effectLst>
            <a:outerShdw blurRad="254000" algn="tl" rotWithShape="0">
              <a:srgbClr val="000000">
                <a:alpha val="43000"/>
              </a:srgbClr>
            </a:outerShdw>
          </a:effectLst>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9134007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nodePh="1">
                                  <p:stCondLst>
                                    <p:cond delay="0"/>
                                  </p:stCondLst>
                                  <p:endCondLst>
                                    <p:cond evt="begin" delay="0">
                                      <p:tn val="15"/>
                                    </p:cond>
                                  </p:end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wipe(up)">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99"/>
                                        </p:tgtEl>
                                        <p:attrNameLst>
                                          <p:attrName>style.visibility</p:attrName>
                                        </p:attrNameLst>
                                      </p:cBhvr>
                                      <p:to>
                                        <p:strVal val="visible"/>
                                      </p:to>
                                    </p:set>
                                    <p:animEffect transition="in" filter="wipe(up)">
                                      <p:cBhvr>
                                        <p:cTn id="42" dur="500"/>
                                        <p:tgtEl>
                                          <p:spTgt spid="9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99">
                                            <p:txEl>
                                              <p:pRg st="0" end="0"/>
                                            </p:txEl>
                                          </p:spTgt>
                                        </p:tgtEl>
                                        <p:attrNameLst>
                                          <p:attrName>style.visibility</p:attrName>
                                        </p:attrNameLst>
                                      </p:cBhvr>
                                      <p:to>
                                        <p:strVal val="visible"/>
                                      </p:to>
                                    </p:set>
                                    <p:animEffect transition="in" filter="wipe(up)">
                                      <p:cBhvr>
                                        <p:cTn id="47" dur="500"/>
                                        <p:tgtEl>
                                          <p:spTgt spid="9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99">
                                            <p:txEl>
                                              <p:pRg st="1" end="1"/>
                                            </p:txEl>
                                          </p:spTgt>
                                        </p:tgtEl>
                                        <p:attrNameLst>
                                          <p:attrName>style.visibility</p:attrName>
                                        </p:attrNameLst>
                                      </p:cBhvr>
                                      <p:to>
                                        <p:strVal val="visible"/>
                                      </p:to>
                                    </p:set>
                                    <p:animEffect transition="in" filter="wipe(up)">
                                      <p:cBhvr>
                                        <p:cTn id="52" dur="500"/>
                                        <p:tgtEl>
                                          <p:spTgt spid="99">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99">
                                            <p:txEl>
                                              <p:pRg st="2" end="2"/>
                                            </p:txEl>
                                          </p:spTgt>
                                        </p:tgtEl>
                                        <p:attrNameLst>
                                          <p:attrName>style.visibility</p:attrName>
                                        </p:attrNameLst>
                                      </p:cBhvr>
                                      <p:to>
                                        <p:strVal val="visible"/>
                                      </p:to>
                                    </p:set>
                                    <p:animEffect transition="in" filter="wipe(up)">
                                      <p:cBhvr>
                                        <p:cTn id="57" dur="500"/>
                                        <p:tgtEl>
                                          <p:spTgt spid="99">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99">
                                            <p:txEl>
                                              <p:pRg st="3" end="3"/>
                                            </p:txEl>
                                          </p:spTgt>
                                        </p:tgtEl>
                                        <p:attrNameLst>
                                          <p:attrName>style.visibility</p:attrName>
                                        </p:attrNameLst>
                                      </p:cBhvr>
                                      <p:to>
                                        <p:strVal val="visible"/>
                                      </p:to>
                                    </p:set>
                                    <p:animEffect transition="in" filter="wipe(up)">
                                      <p:cBhvr>
                                        <p:cTn id="62" dur="500"/>
                                        <p:tgtEl>
                                          <p:spTgt spid="99">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99">
                                            <p:txEl>
                                              <p:pRg st="4" end="4"/>
                                            </p:txEl>
                                          </p:spTgt>
                                        </p:tgtEl>
                                        <p:attrNameLst>
                                          <p:attrName>style.visibility</p:attrName>
                                        </p:attrNameLst>
                                      </p:cBhvr>
                                      <p:to>
                                        <p:strVal val="visible"/>
                                      </p:to>
                                    </p:set>
                                    <p:animEffect transition="in" filter="wipe(up)">
                                      <p:cBhvr>
                                        <p:cTn id="67" dur="500"/>
                                        <p:tgtEl>
                                          <p:spTgt spid="99">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99">
                                            <p:txEl>
                                              <p:pRg st="5" end="5"/>
                                            </p:txEl>
                                          </p:spTgt>
                                        </p:tgtEl>
                                        <p:attrNameLst>
                                          <p:attrName>style.visibility</p:attrName>
                                        </p:attrNameLst>
                                      </p:cBhvr>
                                      <p:to>
                                        <p:strVal val="visible"/>
                                      </p:to>
                                    </p:set>
                                    <p:animEffect transition="in" filter="wipe(up)">
                                      <p:cBhvr>
                                        <p:cTn id="72" dur="500"/>
                                        <p:tgtEl>
                                          <p:spTgt spid="99">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99">
                                            <p:txEl>
                                              <p:pRg st="6" end="6"/>
                                            </p:txEl>
                                          </p:spTgt>
                                        </p:tgtEl>
                                        <p:attrNameLst>
                                          <p:attrName>style.visibility</p:attrName>
                                        </p:attrNameLst>
                                      </p:cBhvr>
                                      <p:to>
                                        <p:strVal val="visible"/>
                                      </p:to>
                                    </p:set>
                                    <p:animEffect transition="in" filter="wipe(up)">
                                      <p:cBhvr>
                                        <p:cTn id="77" dur="500"/>
                                        <p:tgtEl>
                                          <p:spTgt spid="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P spid="24" grpId="0" animBg="1"/>
      <p:bldP spid="26" grpId="0" animBg="1"/>
      <p:bldP spid="3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95300" y="1981200"/>
                <a:ext cx="23393400" cy="103632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dirty="0">
                    <a:latin typeface="Tahoma" panose="020B0604030504040204" pitchFamily="34" charset="0"/>
                    <a:ea typeface="Tahoma" panose="020B0604030504040204" pitchFamily="34" charset="0"/>
                    <a:cs typeface="Tahoma" panose="020B0604030504040204" pitchFamily="34" charset="0"/>
                  </a:rPr>
                  <a:t>Ta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rPr>
                      <m:t>𝑨𝑴</m:t>
                    </m:r>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𝟑</m:t>
                        </m:r>
                        <m:rad>
                          <m:radPr>
                            <m:degHide m:val="on"/>
                            <m:ctrlPr>
                              <a:rPr lang="en-US" b="1" i="1">
                                <a:latin typeface="Cambria Math" panose="02040503050406030204" pitchFamily="18" charset="0"/>
                              </a:rPr>
                            </m:ctrlPr>
                          </m:radPr>
                          <m:deg/>
                          <m:e>
                            <m:r>
                              <a:rPr lang="en-US" b="1" i="1">
                                <a:latin typeface="Cambria Math" panose="02040503050406030204" pitchFamily="18" charset="0"/>
                              </a:rPr>
                              <m:t>𝟒</m:t>
                            </m:r>
                            <m:r>
                              <a:rPr lang="en-US" b="1" i="1">
                                <a:latin typeface="Cambria Math" panose="02040503050406030204" pitchFamily="18" charset="0"/>
                              </a:rPr>
                              <m:t>,</m:t>
                            </m:r>
                            <m:r>
                              <a:rPr lang="en-US" b="1" i="1">
                                <a:latin typeface="Cambria Math" panose="02040503050406030204" pitchFamily="18" charset="0"/>
                              </a:rPr>
                              <m:t>𝟎𝟗</m:t>
                            </m:r>
                          </m:e>
                        </m:rad>
                      </m:num>
                      <m:den>
                        <m:r>
                          <a:rPr lang="en-US" b="1" i="1">
                            <a:latin typeface="Cambria Math" panose="02040503050406030204" pitchFamily="18" charset="0"/>
                          </a:rPr>
                          <m:t>𝟒</m:t>
                        </m:r>
                      </m:den>
                    </m:f>
                    <m:r>
                      <a:rPr lang="en-US" b="1" i="1">
                        <a:latin typeface="Cambria Math" panose="02040503050406030204" pitchFamily="18" charset="0"/>
                      </a:rPr>
                      <m:t>⇔</m:t>
                    </m:r>
                    <m:rad>
                      <m:radPr>
                        <m:degHide m:val="on"/>
                        <m:ctrlPr>
                          <a:rPr lang="en-US" b="1" i="1">
                            <a:latin typeface="Cambria Math" panose="02040503050406030204" pitchFamily="18" charset="0"/>
                          </a:rPr>
                        </m:ctrlPr>
                      </m:radPr>
                      <m:deg/>
                      <m:e>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𝟏𝟑</m:t>
                                </m:r>
                                <m:r>
                                  <a:rPr lang="en-US" b="1" i="1">
                                    <a:latin typeface="Cambria Math" panose="02040503050406030204" pitchFamily="18" charset="0"/>
                                  </a:rPr>
                                  <m:t>,</m:t>
                                </m:r>
                                <m:r>
                                  <a:rPr lang="en-US" b="1" i="1">
                                    <a:latin typeface="Cambria Math" panose="02040503050406030204" pitchFamily="18" charset="0"/>
                                  </a:rPr>
                                  <m:t>𝟖</m:t>
                                </m:r>
                              </m:e>
                            </m:d>
                          </m:e>
                          <m:sup>
                            <m:r>
                              <a:rPr lang="en-US" b="1" i="1">
                                <a:latin typeface="Cambria Math" panose="02040503050406030204" pitchFamily="18" charset="0"/>
                              </a:rPr>
                              <m:t>𝟐</m:t>
                            </m:r>
                          </m:sup>
                        </m:sSup>
                        <m:r>
                          <a:rPr lang="en-US" b="1" i="1">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r>
                                  <a:rPr lang="en-US" b="1" i="1">
                                    <a:latin typeface="Cambria Math" panose="02040503050406030204" pitchFamily="18" charset="0"/>
                                  </a:rPr>
                                  <m:t>𝒚</m:t>
                                </m:r>
                                <m:r>
                                  <a:rPr lang="en-US" b="1" i="1">
                                    <a:latin typeface="Cambria Math" panose="02040503050406030204" pitchFamily="18" charset="0"/>
                                  </a:rPr>
                                  <m:t>−</m:t>
                                </m:r>
                                <m:r>
                                  <a:rPr lang="en-US" b="1" i="1">
                                    <a:latin typeface="Cambria Math" panose="02040503050406030204" pitchFamily="18" charset="0"/>
                                  </a:rPr>
                                  <m:t>𝟏𝟎𝟖</m:t>
                                </m:r>
                                <m:r>
                                  <a:rPr lang="en-US" b="1" i="1">
                                    <a:latin typeface="Cambria Math" panose="02040503050406030204" pitchFamily="18" charset="0"/>
                                  </a:rPr>
                                  <m:t>,</m:t>
                                </m:r>
                                <m:r>
                                  <a:rPr lang="en-US" b="1" i="1">
                                    <a:latin typeface="Cambria Math" panose="02040503050406030204" pitchFamily="18" charset="0"/>
                                  </a:rPr>
                                  <m:t>𝟑</m:t>
                                </m:r>
                              </m:e>
                            </m:d>
                          </m:e>
                          <m:sup>
                            <m:r>
                              <a:rPr lang="en-US" b="1" i="1">
                                <a:latin typeface="Cambria Math" panose="02040503050406030204" pitchFamily="18" charset="0"/>
                              </a:rPr>
                              <m:t>𝟐</m:t>
                            </m:r>
                          </m:sup>
                        </m:sSup>
                      </m:e>
                    </m:rad>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𝟑</m:t>
                        </m:r>
                        <m:rad>
                          <m:radPr>
                            <m:degHide m:val="on"/>
                            <m:ctrlPr>
                              <a:rPr lang="en-US" b="1" i="1">
                                <a:latin typeface="Cambria Math" panose="02040503050406030204" pitchFamily="18" charset="0"/>
                              </a:rPr>
                            </m:ctrlPr>
                          </m:radPr>
                          <m:deg/>
                          <m:e>
                            <m:r>
                              <a:rPr lang="en-US" b="1" i="1">
                                <a:latin typeface="Cambria Math" panose="02040503050406030204" pitchFamily="18" charset="0"/>
                              </a:rPr>
                              <m:t>𝟒</m:t>
                            </m:r>
                            <m:r>
                              <a:rPr lang="en-US" b="1" i="1">
                                <a:latin typeface="Cambria Math" panose="02040503050406030204" pitchFamily="18" charset="0"/>
                              </a:rPr>
                              <m:t>,</m:t>
                            </m:r>
                            <m:r>
                              <a:rPr lang="en-US" b="1" i="1">
                                <a:latin typeface="Cambria Math" panose="02040503050406030204" pitchFamily="18" charset="0"/>
                              </a:rPr>
                              <m:t>𝟎𝟗</m:t>
                            </m:r>
                          </m:e>
                        </m:rad>
                      </m:num>
                      <m:den>
                        <m:r>
                          <a:rPr lang="en-US" b="1" i="1">
                            <a:latin typeface="Cambria Math" panose="02040503050406030204" pitchFamily="18" charset="0"/>
                          </a:rPr>
                          <m:t>𝟒</m:t>
                        </m:r>
                      </m:den>
                    </m:f>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buNone/>
                </a:pPr>
                <a14:m>
                  <m:oMath xmlns:m="http://schemas.openxmlformats.org/officeDocument/2006/math">
                    <m:r>
                      <a:rPr lang="en-US" b="1" i="1">
                        <a:latin typeface="Cambria Math" panose="02040503050406030204" pitchFamily="18" charset="0"/>
                      </a:rPr>
                      <m:t>⇔</m:t>
                    </m:r>
                    <m:rad>
                      <m:radPr>
                        <m:degHide m:val="on"/>
                        <m:ctrlPr>
                          <a:rPr lang="en-US" b="1" i="1">
                            <a:latin typeface="Cambria Math" panose="02040503050406030204" pitchFamily="18" charset="0"/>
                          </a:rPr>
                        </m:ctrlPr>
                      </m:radPr>
                      <m:deg/>
                      <m:e>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𝟏𝟑</m:t>
                                </m:r>
                                <m:r>
                                  <a:rPr lang="en-US" b="1" i="1">
                                    <a:latin typeface="Cambria Math" panose="02040503050406030204" pitchFamily="18" charset="0"/>
                                  </a:rPr>
                                  <m:t>,</m:t>
                                </m:r>
                                <m:r>
                                  <a:rPr lang="en-US" b="1" i="1">
                                    <a:latin typeface="Cambria Math" panose="02040503050406030204" pitchFamily="18" charset="0"/>
                                  </a:rPr>
                                  <m:t>𝟖</m:t>
                                </m:r>
                              </m:e>
                            </m:d>
                          </m:e>
                          <m:sup>
                            <m:r>
                              <a:rPr lang="en-US" b="1" i="1">
                                <a:latin typeface="Cambria Math" panose="02040503050406030204" pitchFamily="18" charset="0"/>
                              </a:rPr>
                              <m:t>𝟐</m:t>
                            </m:r>
                          </m:sup>
                        </m:sSup>
                        <m:r>
                          <a:rPr lang="en-US" b="1" i="1">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f>
                                  <m:fPr>
                                    <m:ctrlPr>
                                      <a:rPr lang="en-US" b="1" i="1">
                                        <a:latin typeface="Cambria Math" panose="02040503050406030204" pitchFamily="18" charset="0"/>
                                      </a:rPr>
                                    </m:ctrlPr>
                                  </m:fPr>
                                  <m:num>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𝟔𝟎</m:t>
                                    </m:r>
                                    <m:r>
                                      <a:rPr lang="en-US" b="1" i="1">
                                        <a:latin typeface="Cambria Math" panose="02040503050406030204" pitchFamily="18" charset="0"/>
                                      </a:rPr>
                                      <m:t>,</m:t>
                                    </m:r>
                                    <m:r>
                                      <a:rPr lang="en-US" b="1" i="1">
                                        <a:latin typeface="Cambria Math" panose="02040503050406030204" pitchFamily="18" charset="0"/>
                                      </a:rPr>
                                      <m:t>𝟗</m:t>
                                    </m:r>
                                  </m:num>
                                  <m:den>
                                    <m:r>
                                      <a:rPr lang="en-US" b="1" i="1">
                                        <a:latin typeface="Cambria Math" panose="02040503050406030204" pitchFamily="18" charset="0"/>
                                      </a:rPr>
                                      <m:t>𝟎</m:t>
                                    </m:r>
                                    <m:r>
                                      <a:rPr lang="en-US" b="1" i="1">
                                        <a:latin typeface="Cambria Math" panose="02040503050406030204" pitchFamily="18" charset="0"/>
                                      </a:rPr>
                                      <m:t>,</m:t>
                                    </m:r>
                                    <m:r>
                                      <a:rPr lang="en-US" b="1" i="1">
                                        <a:latin typeface="Cambria Math" panose="02040503050406030204" pitchFamily="18" charset="0"/>
                                      </a:rPr>
                                      <m:t>𝟑</m:t>
                                    </m:r>
                                  </m:den>
                                </m:f>
                                <m:r>
                                  <a:rPr lang="en-US" b="1" i="1">
                                    <a:latin typeface="Cambria Math" panose="02040503050406030204" pitchFamily="18" charset="0"/>
                                  </a:rPr>
                                  <m:t>−</m:t>
                                </m:r>
                                <m:r>
                                  <a:rPr lang="en-US" b="1" i="1">
                                    <a:latin typeface="Cambria Math" panose="02040503050406030204" pitchFamily="18" charset="0"/>
                                  </a:rPr>
                                  <m:t>𝟏𝟎𝟖</m:t>
                                </m:r>
                                <m:r>
                                  <a:rPr lang="en-US" b="1" i="1">
                                    <a:latin typeface="Cambria Math" panose="02040503050406030204" pitchFamily="18" charset="0"/>
                                  </a:rPr>
                                  <m:t>,</m:t>
                                </m:r>
                                <m:r>
                                  <a:rPr lang="en-US" b="1" i="1">
                                    <a:latin typeface="Cambria Math" panose="02040503050406030204" pitchFamily="18" charset="0"/>
                                  </a:rPr>
                                  <m:t>𝟑</m:t>
                                </m:r>
                              </m:e>
                            </m:d>
                          </m:e>
                          <m:sup>
                            <m:r>
                              <a:rPr lang="en-US" b="1" i="1">
                                <a:latin typeface="Cambria Math" panose="02040503050406030204" pitchFamily="18" charset="0"/>
                              </a:rPr>
                              <m:t>𝟐</m:t>
                            </m:r>
                          </m:sup>
                        </m:sSup>
                      </m:e>
                    </m:rad>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𝟑</m:t>
                        </m:r>
                        <m:rad>
                          <m:radPr>
                            <m:degHide m:val="on"/>
                            <m:ctrlPr>
                              <a:rPr lang="en-US" b="1" i="1">
                                <a:latin typeface="Cambria Math" panose="02040503050406030204" pitchFamily="18" charset="0"/>
                              </a:rPr>
                            </m:ctrlPr>
                          </m:radPr>
                          <m:deg/>
                          <m:e>
                            <m:r>
                              <a:rPr lang="en-US" b="1" i="1">
                                <a:latin typeface="Cambria Math" panose="02040503050406030204" pitchFamily="18" charset="0"/>
                              </a:rPr>
                              <m:t>𝟒</m:t>
                            </m:r>
                            <m:r>
                              <a:rPr lang="en-US" b="1" i="1">
                                <a:latin typeface="Cambria Math" panose="02040503050406030204" pitchFamily="18" charset="0"/>
                              </a:rPr>
                              <m:t>,</m:t>
                            </m:r>
                            <m:r>
                              <a:rPr lang="en-US" b="1" i="1">
                                <a:latin typeface="Cambria Math" panose="02040503050406030204" pitchFamily="18" charset="0"/>
                              </a:rPr>
                              <m:t>𝟎𝟗</m:t>
                            </m:r>
                          </m:e>
                        </m:rad>
                      </m:num>
                      <m:den>
                        <m:r>
                          <a:rPr lang="en-US" b="1" i="1">
                            <a:latin typeface="Cambria Math" panose="02040503050406030204" pitchFamily="18" charset="0"/>
                          </a:rPr>
                          <m:t>𝟒</m:t>
                        </m:r>
                      </m:den>
                    </m:f>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buNone/>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𝟏𝟑</m:t>
                              </m:r>
                              <m:r>
                                <a:rPr lang="en-US" b="1" i="1">
                                  <a:latin typeface="Cambria Math" panose="02040503050406030204" pitchFamily="18" charset="0"/>
                                </a:rPr>
                                <m:t>,</m:t>
                              </m:r>
                              <m:r>
                                <a:rPr lang="en-US" b="1" i="1">
                                  <a:latin typeface="Cambria Math" panose="02040503050406030204" pitchFamily="18" charset="0"/>
                                </a:rPr>
                                <m:t>𝟖</m:t>
                              </m:r>
                            </m:e>
                          </m:d>
                        </m:e>
                        <m:sup>
                          <m:r>
                            <a:rPr lang="en-US" b="1" i="1">
                              <a:latin typeface="Cambria Math" panose="02040503050406030204" pitchFamily="18" charset="0"/>
                            </a:rPr>
                            <m:t>𝟐</m:t>
                          </m:r>
                        </m:sup>
                      </m:sSup>
                      <m:r>
                        <a:rPr lang="en-US" b="1" i="1">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f>
                                <m:fPr>
                                  <m:ctrlPr>
                                    <a:rPr lang="en-US" b="1" i="1">
                                      <a:latin typeface="Cambria Math" panose="02040503050406030204" pitchFamily="18" charset="0"/>
                                    </a:rPr>
                                  </m:ctrlPr>
                                </m:fPr>
                                <m:num>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𝟔𝟎</m:t>
                                  </m:r>
                                  <m:r>
                                    <a:rPr lang="en-US" b="1" i="1">
                                      <a:latin typeface="Cambria Math" panose="02040503050406030204" pitchFamily="18" charset="0"/>
                                    </a:rPr>
                                    <m:t>,</m:t>
                                  </m:r>
                                  <m:r>
                                    <a:rPr lang="en-US" b="1" i="1">
                                      <a:latin typeface="Cambria Math" panose="02040503050406030204" pitchFamily="18" charset="0"/>
                                    </a:rPr>
                                    <m:t>𝟗</m:t>
                                  </m:r>
                                </m:num>
                                <m:den>
                                  <m:r>
                                    <a:rPr lang="en-US" b="1" i="1">
                                      <a:latin typeface="Cambria Math" panose="02040503050406030204" pitchFamily="18" charset="0"/>
                                    </a:rPr>
                                    <m:t>𝟎</m:t>
                                  </m:r>
                                  <m:r>
                                    <a:rPr lang="en-US" b="1" i="1">
                                      <a:latin typeface="Cambria Math" panose="02040503050406030204" pitchFamily="18" charset="0"/>
                                    </a:rPr>
                                    <m:t>,</m:t>
                                  </m:r>
                                  <m:r>
                                    <a:rPr lang="en-US" b="1" i="1">
                                      <a:latin typeface="Cambria Math" panose="02040503050406030204" pitchFamily="18" charset="0"/>
                                    </a:rPr>
                                    <m:t>𝟑</m:t>
                                  </m:r>
                                </m:den>
                              </m:f>
                              <m:r>
                                <a:rPr lang="en-US" b="1" i="1">
                                  <a:latin typeface="Cambria Math" panose="02040503050406030204" pitchFamily="18" charset="0"/>
                                </a:rPr>
                                <m:t>−</m:t>
                              </m:r>
                              <m:r>
                                <a:rPr lang="en-US" b="1" i="1">
                                  <a:latin typeface="Cambria Math" panose="02040503050406030204" pitchFamily="18" charset="0"/>
                                </a:rPr>
                                <m:t>𝟏𝟎𝟖</m:t>
                              </m:r>
                              <m:r>
                                <a:rPr lang="en-US" b="1" i="1">
                                  <a:latin typeface="Cambria Math" panose="02040503050406030204" pitchFamily="18" charset="0"/>
                                </a:rPr>
                                <m:t>,</m:t>
                              </m:r>
                              <m:r>
                                <a:rPr lang="en-US" b="1" i="1">
                                  <a:latin typeface="Cambria Math" panose="02040503050406030204" pitchFamily="18" charset="0"/>
                                </a:rPr>
                                <m:t>𝟑</m:t>
                              </m:r>
                            </m:e>
                          </m:d>
                        </m:e>
                        <m:sup>
                          <m:r>
                            <a:rPr lang="en-US" b="1" i="1">
                              <a:latin typeface="Cambria Math" panose="02040503050406030204" pitchFamily="18" charset="0"/>
                            </a:rPr>
                            <m:t>𝟐</m:t>
                          </m:r>
                        </m:sup>
                      </m:sSup>
                      <m:r>
                        <a:rPr lang="en-US" b="1" i="1">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f>
                                <m:fPr>
                                  <m:ctrlPr>
                                    <a:rPr lang="en-US" b="1" i="1">
                                      <a:latin typeface="Cambria Math" panose="02040503050406030204" pitchFamily="18" charset="0"/>
                                    </a:rPr>
                                  </m:ctrlPr>
                                </m:fPr>
                                <m:num>
                                  <m:r>
                                    <a:rPr lang="en-US" b="1" i="1">
                                      <a:latin typeface="Cambria Math" panose="02040503050406030204" pitchFamily="18" charset="0"/>
                                    </a:rPr>
                                    <m:t>𝟑</m:t>
                                  </m:r>
                                  <m:rad>
                                    <m:radPr>
                                      <m:degHide m:val="on"/>
                                      <m:ctrlPr>
                                        <a:rPr lang="en-US" b="1" i="1">
                                          <a:latin typeface="Cambria Math" panose="02040503050406030204" pitchFamily="18" charset="0"/>
                                        </a:rPr>
                                      </m:ctrlPr>
                                    </m:radPr>
                                    <m:deg/>
                                    <m:e>
                                      <m:r>
                                        <a:rPr lang="en-US" b="1" i="1">
                                          <a:latin typeface="Cambria Math" panose="02040503050406030204" pitchFamily="18" charset="0"/>
                                        </a:rPr>
                                        <m:t>𝟒</m:t>
                                      </m:r>
                                      <m:r>
                                        <a:rPr lang="en-US" b="1" i="1">
                                          <a:latin typeface="Cambria Math" panose="02040503050406030204" pitchFamily="18" charset="0"/>
                                        </a:rPr>
                                        <m:t>,</m:t>
                                      </m:r>
                                      <m:r>
                                        <a:rPr lang="en-US" b="1" i="1">
                                          <a:latin typeface="Cambria Math" panose="02040503050406030204" pitchFamily="18" charset="0"/>
                                        </a:rPr>
                                        <m:t>𝟎𝟗</m:t>
                                      </m:r>
                                    </m:e>
                                  </m:rad>
                                </m:num>
                                <m:den>
                                  <m:r>
                                    <a:rPr lang="en-US" b="1" i="1">
                                      <a:latin typeface="Cambria Math" panose="02040503050406030204" pitchFamily="18" charset="0"/>
                                    </a:rPr>
                                    <m:t>𝟒</m:t>
                                  </m:r>
                                </m:den>
                              </m:f>
                            </m:e>
                          </m:d>
                        </m:e>
                        <m:sup>
                          <m:r>
                            <a:rPr lang="en-US" b="1" i="1">
                              <a:latin typeface="Cambria Math" panose="02040503050406030204" pitchFamily="18" charset="0"/>
                            </a:rPr>
                            <m:t>𝟐</m:t>
                          </m:r>
                        </m:sup>
                      </m:sSup>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𝟑𝟔</m:t>
                          </m:r>
                          <m:r>
                            <a:rPr lang="en-US" b="1" i="1">
                              <a:latin typeface="Cambria Math" panose="02040503050406030204" pitchFamily="18" charset="0"/>
                            </a:rPr>
                            <m:t>,</m:t>
                          </m:r>
                          <m:r>
                            <a:rPr lang="en-US" b="1" i="1">
                              <a:latin typeface="Cambria Math" panose="02040503050406030204" pitchFamily="18" charset="0"/>
                            </a:rPr>
                            <m:t>𝟖𝟏</m:t>
                          </m:r>
                        </m:num>
                        <m:den>
                          <m:r>
                            <a:rPr lang="en-US" b="1" i="1">
                              <a:latin typeface="Cambria Math" panose="02040503050406030204" pitchFamily="18" charset="0"/>
                            </a:rPr>
                            <m:t>𝟏𝟔</m:t>
                          </m:r>
                        </m:den>
                      </m:f>
                    </m:oMath>
                  </m:oMathPara>
                </a14:m>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14:m>
                  <m:oMath xmlns:m="http://schemas.openxmlformats.org/officeDocument/2006/math">
                    <m:r>
                      <a:rPr lang="en-US" b="1" i="1">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𝟏𝟑</m:t>
                            </m:r>
                            <m:r>
                              <a:rPr lang="en-US" b="1" i="1">
                                <a:latin typeface="Cambria Math" panose="02040503050406030204" pitchFamily="18" charset="0"/>
                              </a:rPr>
                              <m:t>,</m:t>
                            </m:r>
                            <m:r>
                              <a:rPr lang="en-US" b="1" i="1">
                                <a:latin typeface="Cambria Math" panose="02040503050406030204" pitchFamily="18" charset="0"/>
                              </a:rPr>
                              <m:t>𝟖</m:t>
                            </m:r>
                          </m:e>
                        </m:d>
                      </m:e>
                      <m:sup>
                        <m:r>
                          <a:rPr lang="en-US" b="1" i="1">
                            <a:latin typeface="Cambria Math" panose="02040503050406030204" pitchFamily="18" charset="0"/>
                          </a:rPr>
                          <m:t>𝟐</m:t>
                        </m:r>
                      </m:sup>
                    </m:sSup>
                    <m:r>
                      <a:rPr lang="en-US" b="1" i="1">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f>
                              <m:fPr>
                                <m:ctrlPr>
                                  <a:rPr lang="en-US" b="1" i="1">
                                    <a:latin typeface="Cambria Math" panose="02040503050406030204" pitchFamily="18" charset="0"/>
                                  </a:rPr>
                                </m:ctrlPr>
                              </m:fPr>
                              <m:num>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𝟐𝟕</m:t>
                                </m:r>
                                <m:r>
                                  <a:rPr lang="en-US" b="1" i="1">
                                    <a:latin typeface="Cambria Math" panose="02040503050406030204" pitchFamily="18" charset="0"/>
                                  </a:rPr>
                                  <m:t>,</m:t>
                                </m:r>
                                <m:r>
                                  <a:rPr lang="en-US" b="1" i="1">
                                    <a:latin typeface="Cambria Math" panose="02040503050406030204" pitchFamily="18" charset="0"/>
                                  </a:rPr>
                                  <m:t>𝟔</m:t>
                                </m:r>
                              </m:num>
                              <m:den>
                                <m:r>
                                  <a:rPr lang="en-US" b="1" i="1">
                                    <a:latin typeface="Cambria Math" panose="02040503050406030204" pitchFamily="18" charset="0"/>
                                  </a:rPr>
                                  <m:t>𝟎</m:t>
                                </m:r>
                                <m:r>
                                  <a:rPr lang="en-US" b="1" i="1">
                                    <a:latin typeface="Cambria Math" panose="02040503050406030204" pitchFamily="18" charset="0"/>
                                  </a:rPr>
                                  <m:t>,</m:t>
                                </m:r>
                                <m:r>
                                  <a:rPr lang="en-US" b="1" i="1">
                                    <a:latin typeface="Cambria Math" panose="02040503050406030204" pitchFamily="18" charset="0"/>
                                  </a:rPr>
                                  <m:t>𝟑</m:t>
                                </m:r>
                              </m:den>
                            </m:f>
                          </m:e>
                        </m:d>
                      </m:e>
                      <m:sup>
                        <m:r>
                          <a:rPr lang="en-US" b="1" i="1">
                            <a:latin typeface="Cambria Math" panose="02040503050406030204" pitchFamily="18" charset="0"/>
                          </a:rPr>
                          <m:t>𝟐</m:t>
                        </m:r>
                      </m:sup>
                    </m:sSup>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𝟑𝟔</m:t>
                        </m:r>
                        <m:r>
                          <a:rPr lang="en-US" b="1" i="1">
                            <a:latin typeface="Cambria Math" panose="02040503050406030204" pitchFamily="18" charset="0"/>
                          </a:rPr>
                          <m:t>,</m:t>
                        </m:r>
                        <m:r>
                          <a:rPr lang="en-US" b="1" i="1">
                            <a:latin typeface="Cambria Math" panose="02040503050406030204" pitchFamily="18" charset="0"/>
                          </a:rPr>
                          <m:t>𝟖𝟏</m:t>
                        </m:r>
                      </m:num>
                      <m:den>
                        <m:r>
                          <a:rPr lang="en-US" b="1" i="1">
                            <a:latin typeface="Cambria Math" panose="02040503050406030204" pitchFamily="18" charset="0"/>
                          </a:rPr>
                          <m:t>𝟏𝟔</m:t>
                        </m:r>
                      </m:den>
                    </m:f>
                  </m:oMath>
                </a14:m>
                <a:r>
                  <a:rPr lang="en-US" b="1" dirty="0">
                    <a:latin typeface="Tahoma" panose="020B0604030504040204" pitchFamily="34" charset="0"/>
                    <a:ea typeface="Tahoma" panose="020B0604030504040204" pitchFamily="34" charset="0"/>
                    <a:cs typeface="Tahoma" panose="020B0604030504040204" pitchFamily="34" charset="0"/>
                  </a:rPr>
                  <a:t>.</a:t>
                </a:r>
              </a:p>
              <a:p>
                <a:r>
                  <a:rPr lang="en-US" b="1" dirty="0" err="1">
                    <a:latin typeface="Tahoma" panose="020B0604030504040204" pitchFamily="34" charset="0"/>
                    <a:ea typeface="Tahoma" panose="020B0604030504040204" pitchFamily="34" charset="0"/>
                    <a:cs typeface="Tahoma" panose="020B0604030504040204" pitchFamily="34" charset="0"/>
                  </a:rPr>
                  <a:t>Dùng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chức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năng</a:t>
                </a:r>
                <a:r>
                  <a:rPr lang="en-US" b="1" dirty="0">
                    <a:latin typeface="Tahoma" panose="020B0604030504040204" pitchFamily="34" charset="0"/>
                    <a:ea typeface="Tahoma" panose="020B0604030504040204" pitchFamily="34" charset="0"/>
                    <a:cs typeface="Tahoma" panose="020B0604030504040204" pitchFamily="34" charset="0"/>
                  </a:rPr>
                  <a:t> SLOVE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MTCT ta </a:t>
                </a:r>
                <a:r>
                  <a:rPr lang="en-US" b="1" dirty="0" err="1">
                    <a:latin typeface="Tahoma" panose="020B0604030504040204" pitchFamily="34" charset="0"/>
                    <a:ea typeface="Tahoma" panose="020B0604030504040204" pitchFamily="34" charset="0"/>
                    <a:cs typeface="Tahoma" panose="020B0604030504040204" pitchFamily="34" charset="0"/>
                  </a:rPr>
                  <a:t>tìm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nghiệm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b="1" i="1" smtClean="0">
                            <a:latin typeface="Cambria Math" panose="02040503050406030204" pitchFamily="18" charset="0"/>
                          </a:rPr>
                        </m:ctrlPr>
                      </m:dPr>
                      <m:e>
                        <m:eqArr>
                          <m:eqArrPr>
                            <m:ctrlPr>
                              <a:rPr lang="en-US" b="1" i="1">
                                <a:latin typeface="Cambria Math" panose="02040503050406030204" pitchFamily="18" charset="0"/>
                              </a:rPr>
                            </m:ctrlPr>
                          </m:eqArrPr>
                          <m:e>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𝟏𝟑</m:t>
                            </m:r>
                            <m:r>
                              <a:rPr lang="en-US" b="1" i="1">
                                <a:latin typeface="Cambria Math" panose="02040503050406030204" pitchFamily="18" charset="0"/>
                              </a:rPr>
                              <m:t>,</m:t>
                            </m:r>
                            <m:r>
                              <a:rPr lang="en-US" b="1" i="1">
                                <a:latin typeface="Cambria Math" panose="02040503050406030204" pitchFamily="18" charset="0"/>
                              </a:rPr>
                              <m:t>𝟓𝟕𝟓</m:t>
                            </m:r>
                            <m:r>
                              <a:rPr lang="en-US" b="1" i="1" smtClean="0">
                                <a:latin typeface="Cambria Math" panose="02040503050406030204" pitchFamily="18" charset="0"/>
                              </a:rPr>
                              <m:t>    </m:t>
                            </m:r>
                            <m:d>
                              <m:dPr>
                                <m:ctrlPr>
                                  <a:rPr lang="en-US" b="1" i="1">
                                    <a:latin typeface="Cambria Math" panose="02040503050406030204" pitchFamily="18" charset="0"/>
                                  </a:rPr>
                                </m:ctrlPr>
                              </m:dPr>
                              <m:e>
                                <m:r>
                                  <m:rPr>
                                    <m:nor/>
                                  </m:rPr>
                                  <a:rPr lang="en-US" b="1" dirty="0">
                                    <a:latin typeface="Tahoma" panose="020B0604030504040204" pitchFamily="34" charset="0"/>
                                    <a:ea typeface="Tahoma" panose="020B0604030504040204" pitchFamily="34" charset="0"/>
                                    <a:cs typeface="Tahoma" panose="020B0604030504040204" pitchFamily="34" charset="0"/>
                                  </a:rPr>
                                  <m:t>lo</m:t>
                                </m:r>
                                <m:r>
                                  <m:rPr>
                                    <m:nor/>
                                  </m:rPr>
                                  <a:rPr lang="en-US" b="1" dirty="0">
                                    <a:latin typeface="Tahoma" panose="020B0604030504040204" pitchFamily="34" charset="0"/>
                                    <a:ea typeface="Tahoma" panose="020B0604030504040204" pitchFamily="34" charset="0"/>
                                    <a:cs typeface="Tahoma" panose="020B0604030504040204" pitchFamily="34" charset="0"/>
                                  </a:rPr>
                                  <m:t>ạ</m:t>
                                </m:r>
                                <m:r>
                                  <m:rPr>
                                    <m:nor/>
                                  </m:rPr>
                                  <a:rPr lang="en-US" b="1" dirty="0">
                                    <a:latin typeface="Tahoma" panose="020B0604030504040204" pitchFamily="34" charset="0"/>
                                    <a:ea typeface="Tahoma" panose="020B0604030504040204" pitchFamily="34" charset="0"/>
                                    <a:cs typeface="Tahoma" panose="020B0604030504040204" pitchFamily="34" charset="0"/>
                                  </a:rPr>
                                  <m:t>i</m:t>
                                </m:r>
                              </m:e>
                            </m:d>
                          </m:e>
                          <m:e>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𝟏𝟒</m:t>
                            </m:r>
                            <m:r>
                              <a:rPr lang="en-US" b="1" i="1">
                                <a:latin typeface="Cambria Math" panose="02040503050406030204" pitchFamily="18" charset="0"/>
                              </a:rPr>
                              <m:t>,</m:t>
                            </m:r>
                            <m:r>
                              <a:rPr lang="en-US" b="1" i="1">
                                <a:latin typeface="Cambria Math" panose="02040503050406030204" pitchFamily="18" charset="0"/>
                              </a:rPr>
                              <m:t>𝟎𝟐𝟓</m:t>
                            </m:r>
                            <m:r>
                              <a:rPr lang="en-US" b="1" i="1">
                                <a:latin typeface="Cambria Math" panose="02040503050406030204" pitchFamily="18" charset="0"/>
                              </a:rPr>
                              <m:t>⇒</m:t>
                            </m:r>
                            <m:r>
                              <a:rPr lang="en-US" b="1" i="1">
                                <a:latin typeface="Cambria Math" panose="02040503050406030204" pitchFamily="18" charset="0"/>
                              </a:rPr>
                              <m:t>𝒚</m:t>
                            </m:r>
                            <m:r>
                              <a:rPr lang="en-US" b="1" i="1">
                                <a:latin typeface="Cambria Math" panose="02040503050406030204" pitchFamily="18" charset="0"/>
                              </a:rPr>
                              <m:t>=</m:t>
                            </m:r>
                            <m:r>
                              <a:rPr lang="en-US" b="1" i="1">
                                <a:latin typeface="Cambria Math" panose="02040503050406030204" pitchFamily="18" charset="0"/>
                              </a:rPr>
                              <m:t>𝟏𝟎𝟔</m:t>
                            </m:r>
                            <m:r>
                              <a:rPr lang="en-US" b="1" i="1">
                                <a:latin typeface="Cambria Math" panose="02040503050406030204" pitchFamily="18" charset="0"/>
                              </a:rPr>
                              <m:t>,</m:t>
                            </m:r>
                            <m:r>
                              <a:rPr lang="en-US" b="1" i="1">
                                <a:latin typeface="Cambria Math" panose="02040503050406030204" pitchFamily="18" charset="0"/>
                              </a:rPr>
                              <m:t>𝟖</m:t>
                            </m:r>
                          </m:e>
                        </m:eqArr>
                      </m:e>
                    </m:d>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Vậy</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rPr>
                      <m:t>𝑴</m:t>
                    </m:r>
                    <m:d>
                      <m:dPr>
                        <m:ctrlPr>
                          <a:rPr lang="en-US" b="1" i="1">
                            <a:latin typeface="Cambria Math" panose="02040503050406030204" pitchFamily="18" charset="0"/>
                          </a:rPr>
                        </m:ctrlPr>
                      </m:dPr>
                      <m:e>
                        <m:r>
                          <a:rPr lang="en-US" b="1" i="1">
                            <a:latin typeface="Cambria Math" panose="02040503050406030204" pitchFamily="18" charset="0"/>
                          </a:rPr>
                          <m:t>𝟏𝟒</m:t>
                        </m:r>
                        <m:r>
                          <a:rPr lang="en-US" b="1" i="1">
                            <a:latin typeface="Cambria Math" panose="02040503050406030204" pitchFamily="18" charset="0"/>
                          </a:rPr>
                          <m:t>,</m:t>
                        </m:r>
                        <m:r>
                          <a:rPr lang="en-US" b="1" i="1">
                            <a:latin typeface="Cambria Math" panose="02040503050406030204" pitchFamily="18" charset="0"/>
                          </a:rPr>
                          <m:t>𝟎𝟐𝟓</m:t>
                        </m:r>
                        <m:r>
                          <a:rPr lang="en-US" b="1" i="1">
                            <a:latin typeface="Cambria Math" panose="02040503050406030204" pitchFamily="18" charset="0"/>
                          </a:rPr>
                          <m:t>;</m:t>
                        </m:r>
                        <m:r>
                          <a:rPr lang="en-US" b="1" i="1">
                            <a:latin typeface="Cambria Math" panose="02040503050406030204" pitchFamily="18" charset="0"/>
                          </a:rPr>
                          <m:t>𝟏𝟎𝟔</m:t>
                        </m:r>
                        <m:r>
                          <a:rPr lang="en-US" b="1" i="1">
                            <a:latin typeface="Cambria Math" panose="02040503050406030204" pitchFamily="18" charset="0"/>
                          </a:rPr>
                          <m:t>,</m:t>
                        </m:r>
                        <m:r>
                          <a:rPr lang="en-US" b="1" i="1">
                            <a:latin typeface="Cambria Math" panose="02040503050406030204" pitchFamily="18" charset="0"/>
                          </a:rPr>
                          <m:t>𝟖</m:t>
                        </m:r>
                      </m:e>
                    </m:d>
                  </m:oMath>
                </a14:m>
                <a:r>
                  <a:rPr lang="en-US"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495300" y="1981200"/>
                <a:ext cx="23393400" cy="10363200"/>
              </a:xfrm>
              <a:prstGeom prst="rect">
                <a:avLst/>
              </a:prstGeom>
              <a:blipFill>
                <a:blip r:embed="rId3"/>
                <a:stretch>
                  <a:fillRect l="-1042"/>
                </a:stretch>
              </a:blipFill>
              <a:ln>
                <a:solidFill>
                  <a:srgbClr val="00B0F0"/>
                </a:solidFill>
              </a:ln>
            </p:spPr>
            <p:txBody>
              <a:bodyPr/>
              <a:lstStyle/>
              <a:p>
                <a:r>
                  <a:rPr lang="en-US">
                    <a:noFill/>
                  </a:rPr>
                  <a:t> </a:t>
                </a:r>
              </a:p>
            </p:txBody>
          </p:sp>
        </mc:Fallback>
      </mc:AlternateContent>
      <p:sp>
        <p:nvSpPr>
          <p:cNvPr id="45" name="Rectangle 33">
            <a:extLst>
              <a:ext uri="{FF2B5EF4-FFF2-40B4-BE49-F238E27FC236}">
                <a16:creationId xmlns:a16="http://schemas.microsoft.com/office/drawing/2014/main" id="{FC933ED9-94B1-4F46-A3BF-4C2E10ACBF95}"/>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5296947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9">
                                            <p:txEl>
                                              <p:pRg st="0" end="0"/>
                                            </p:txEl>
                                          </p:spTgt>
                                        </p:tgtEl>
                                        <p:attrNameLst>
                                          <p:attrName>style.visibility</p:attrName>
                                        </p:attrNameLst>
                                      </p:cBhvr>
                                      <p:to>
                                        <p:strVal val="visible"/>
                                      </p:to>
                                    </p:set>
                                    <p:animEffect transition="in" filter="wipe(up)">
                                      <p:cBhvr>
                                        <p:cTn id="12" dur="500"/>
                                        <p:tgtEl>
                                          <p:spTgt spid="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9">
                                            <p:txEl>
                                              <p:pRg st="1" end="1"/>
                                            </p:txEl>
                                          </p:spTgt>
                                        </p:tgtEl>
                                        <p:attrNameLst>
                                          <p:attrName>style.visibility</p:attrName>
                                        </p:attrNameLst>
                                      </p:cBhvr>
                                      <p:to>
                                        <p:strVal val="visible"/>
                                      </p:to>
                                    </p:set>
                                    <p:animEffect transition="in" filter="wipe(up)">
                                      <p:cBhvr>
                                        <p:cTn id="17" dur="500"/>
                                        <p:tgtEl>
                                          <p:spTgt spid="9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9">
                                            <p:txEl>
                                              <p:pRg st="2" end="2"/>
                                            </p:txEl>
                                          </p:spTgt>
                                        </p:tgtEl>
                                        <p:attrNameLst>
                                          <p:attrName>style.visibility</p:attrName>
                                        </p:attrNameLst>
                                      </p:cBhvr>
                                      <p:to>
                                        <p:strVal val="visible"/>
                                      </p:to>
                                    </p:set>
                                    <p:animEffect transition="in" filter="wipe(up)">
                                      <p:cBhvr>
                                        <p:cTn id="22" dur="500"/>
                                        <p:tgtEl>
                                          <p:spTgt spid="9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9">
                                            <p:txEl>
                                              <p:pRg st="3" end="3"/>
                                            </p:txEl>
                                          </p:spTgt>
                                        </p:tgtEl>
                                        <p:attrNameLst>
                                          <p:attrName>style.visibility</p:attrName>
                                        </p:attrNameLst>
                                      </p:cBhvr>
                                      <p:to>
                                        <p:strVal val="visible"/>
                                      </p:to>
                                    </p:set>
                                    <p:animEffect transition="in" filter="wipe(up)">
                                      <p:cBhvr>
                                        <p:cTn id="27" dur="500"/>
                                        <p:tgtEl>
                                          <p:spTgt spid="9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99">
                                            <p:txEl>
                                              <p:pRg st="4" end="4"/>
                                            </p:txEl>
                                          </p:spTgt>
                                        </p:tgtEl>
                                        <p:attrNameLst>
                                          <p:attrName>style.visibility</p:attrName>
                                        </p:attrNameLst>
                                      </p:cBhvr>
                                      <p:to>
                                        <p:strVal val="visible"/>
                                      </p:to>
                                    </p:set>
                                    <p:animEffect transition="in" filter="wipe(up)">
                                      <p:cBhvr>
                                        <p:cTn id="32" dur="500"/>
                                        <p:tgtEl>
                                          <p:spTgt spid="9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9">
                                            <p:txEl>
                                              <p:pRg st="5" end="5"/>
                                            </p:txEl>
                                          </p:spTgt>
                                        </p:tgtEl>
                                        <p:attrNameLst>
                                          <p:attrName>style.visibility</p:attrName>
                                        </p:attrNameLst>
                                      </p:cBhvr>
                                      <p:to>
                                        <p:strVal val="visible"/>
                                      </p:to>
                                    </p:set>
                                    <p:animEffect transition="in" filter="wipe(up)">
                                      <p:cBhvr>
                                        <p:cTn id="37" dur="500"/>
                                        <p:tgtEl>
                                          <p:spTgt spid="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467983" y="2764439"/>
                <a:ext cx="23393400" cy="2339855"/>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err="1">
                    <a:solidFill>
                      <a:srgbClr val="FF0000"/>
                    </a:solidFill>
                  </a:rPr>
                  <a:t>Chú</a:t>
                </a:r>
                <a:r>
                  <a:rPr lang="en-US" b="1" dirty="0">
                    <a:solidFill>
                      <a:srgbClr val="FF0000"/>
                    </a:solidFill>
                  </a:rPr>
                  <a:t> ý</a:t>
                </a:r>
                <a:r>
                  <a:rPr lang="vi-VN" dirty="0">
                    <a:solidFill>
                      <a:srgbClr val="FF0000"/>
                    </a:solidFill>
                  </a:rPr>
                  <a:t>: </a:t>
                </a:r>
                <a:r>
                  <a:rPr lang="vi-VN"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Trung</a:t>
                </a:r>
                <a:r>
                  <a:rPr lang="en-US" b="1" dirty="0">
                    <a:latin typeface="Tahoma" panose="020B0604030504040204" pitchFamily="34" charset="0"/>
                    <a:ea typeface="Tahoma" panose="020B0604030504040204" pitchFamily="34" charset="0"/>
                    <a:cs typeface="Tahoma" panose="020B0604030504040204" pitchFamily="34" charset="0"/>
                  </a:rPr>
                  <a:t> đ</a:t>
                </a:r>
                <a:r>
                  <a:rPr lang="vi-VN" b="1" dirty="0">
                    <a:latin typeface="Tahoma" panose="020B0604030504040204" pitchFamily="34" charset="0"/>
                    <a:ea typeface="Tahoma" panose="020B0604030504040204" pitchFamily="34" charset="0"/>
                    <a:cs typeface="Tahoma" panose="020B0604030504040204" pitchFamily="34" charset="0"/>
                  </a:rPr>
                  <a:t>iể</a:t>
                </a:r>
                <a:r>
                  <a:rPr lang="en-US" b="1" dirty="0">
                    <a:latin typeface="Tahoma" panose="020B0604030504040204" pitchFamily="34" charset="0"/>
                    <a:ea typeface="Tahoma" panose="020B0604030504040204" pitchFamily="34" charset="0"/>
                    <a:cs typeface="Tahoma" panose="020B0604030504040204" pitchFamily="34" charset="0"/>
                  </a:rPr>
                  <a:t>m </a:t>
                </a:r>
                <a14:m>
                  <m:oMath xmlns:m="http://schemas.openxmlformats.org/officeDocument/2006/math">
                    <m:r>
                      <a:rPr lang="en-US" b="1" i="1">
                        <a:latin typeface="Cambria Math" panose="02040503050406030204" pitchFamily="18" charset="0"/>
                      </a:rPr>
                      <m:t>𝑴</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đoạn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rPr>
                      <m:t>𝑨𝑩</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toạ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b="1" i="1">
                            <a:latin typeface="Cambria Math" panose="02040503050406030204" pitchFamily="18" charset="0"/>
                          </a:rPr>
                        </m:ctrlPr>
                      </m:dPr>
                      <m:e>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𝑨</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𝑩</m:t>
                                </m:r>
                              </m:sub>
                            </m:sSub>
                          </m:num>
                          <m:den>
                            <m:r>
                              <a:rPr lang="en-US" b="1" i="1">
                                <a:latin typeface="Cambria Math" panose="02040503050406030204" pitchFamily="18" charset="0"/>
                              </a:rPr>
                              <m:t>𝟐</m:t>
                            </m:r>
                          </m:den>
                        </m:f>
                        <m:r>
                          <a:rPr lang="en-US" b="1" i="1">
                            <a:latin typeface="Cambria Math" panose="02040503050406030204" pitchFamily="18" charset="0"/>
                          </a:rPr>
                          <m:t>;</m:t>
                        </m:r>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𝒚</m:t>
                                </m:r>
                              </m:e>
                              <m:sub>
                                <m:r>
                                  <a:rPr lang="en-US" b="1" i="1">
                                    <a:latin typeface="Cambria Math" panose="02040503050406030204" pitchFamily="18" charset="0"/>
                                  </a:rPr>
                                  <m:t>𝑨</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𝒚</m:t>
                                </m:r>
                              </m:e>
                              <m:sub>
                                <m:r>
                                  <a:rPr lang="en-US" b="1" i="1">
                                    <a:latin typeface="Cambria Math" panose="02040503050406030204" pitchFamily="18" charset="0"/>
                                  </a:rPr>
                                  <m:t>𝑩</m:t>
                                </m:r>
                              </m:sub>
                            </m:sSub>
                          </m:num>
                          <m:den>
                            <m:r>
                              <a:rPr lang="en-US" b="1" i="1">
                                <a:latin typeface="Cambria Math" panose="02040503050406030204" pitchFamily="18" charset="0"/>
                              </a:rPr>
                              <m:t>𝟐</m:t>
                            </m:r>
                          </m:den>
                        </m:f>
                      </m:e>
                    </m:d>
                  </m:oMath>
                </a14:m>
                <a:r>
                  <a:rPr lang="en-US" b="1" dirty="0">
                    <a:latin typeface="Tahoma" panose="020B0604030504040204" pitchFamily="34" charset="0"/>
                    <a:ea typeface="Tahoma" panose="020B0604030504040204" pitchFamily="34" charset="0"/>
                    <a:cs typeface="Tahoma" panose="020B0604030504040204" pitchFamily="34" charset="0"/>
                  </a:rPr>
                  <a:t>.</a:t>
                </a:r>
                <a:endParaRPr lang="vi-VN" b="1" dirty="0">
                  <a:latin typeface="Tahoma" panose="020B0604030504040204" pitchFamily="34" charset="0"/>
                  <a:ea typeface="Tahoma" panose="020B0604030504040204" pitchFamily="34" charset="0"/>
                  <a:cs typeface="Tahoma" panose="020B0604030504040204" pitchFamily="34" charset="0"/>
                </a:endParaRPr>
              </a:p>
              <a:p>
                <a:r>
                  <a:rPr lang="vi-VN" b="1" dirty="0">
                    <a:latin typeface="Tahoma" panose="020B0604030504040204" pitchFamily="34" charset="0"/>
                    <a:ea typeface="Tahoma" panose="020B0604030504040204" pitchFamily="34" charset="0"/>
                    <a:cs typeface="Tahoma" panose="020B0604030504040204" pitchFamily="34" charset="0"/>
                  </a:rPr>
                  <a:t>-</a:t>
                </a:r>
                <a:r>
                  <a:rPr lang="en-US" b="1" dirty="0" err="1">
                    <a:latin typeface="Tahoma" panose="020B0604030504040204" pitchFamily="34" charset="0"/>
                    <a:ea typeface="Tahoma" panose="020B0604030504040204" pitchFamily="34" charset="0"/>
                    <a:cs typeface="Tahoma" panose="020B0604030504040204" pitchFamily="34" charset="0"/>
                  </a:rPr>
                  <a:t>Trọng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tâm</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rPr>
                      <m:t>𝑮</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tam </a:t>
                </a:r>
                <a:r>
                  <a:rPr lang="en-US" b="1" dirty="0" err="1">
                    <a:latin typeface="Tahoma" panose="020B0604030504040204" pitchFamily="34" charset="0"/>
                    <a:ea typeface="Tahoma" panose="020B0604030504040204" pitchFamily="34" charset="0"/>
                    <a:cs typeface="Tahoma" panose="020B0604030504040204" pitchFamily="34" charset="0"/>
                  </a:rPr>
                  <a:t>giác</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rPr>
                      <m:t>𝑨𝑩𝑪</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toạ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b="1" i="1">
                            <a:latin typeface="Cambria Math" panose="02040503050406030204" pitchFamily="18" charset="0"/>
                          </a:rPr>
                        </m:ctrlPr>
                      </m:dPr>
                      <m:e>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𝑨</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𝑩</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𝑪</m:t>
                                </m:r>
                              </m:sub>
                            </m:sSub>
                          </m:num>
                          <m:den>
                            <m:r>
                              <a:rPr lang="en-US" b="1" i="1">
                                <a:latin typeface="Cambria Math" panose="02040503050406030204" pitchFamily="18" charset="0"/>
                              </a:rPr>
                              <m:t>𝟑</m:t>
                            </m:r>
                          </m:den>
                        </m:f>
                        <m:r>
                          <a:rPr lang="en-US" b="1" i="1">
                            <a:latin typeface="Cambria Math" panose="02040503050406030204" pitchFamily="18" charset="0"/>
                          </a:rPr>
                          <m:t>;</m:t>
                        </m:r>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𝒚</m:t>
                                </m:r>
                              </m:e>
                              <m:sub>
                                <m:r>
                                  <a:rPr lang="en-US" b="1" i="1">
                                    <a:latin typeface="Cambria Math" panose="02040503050406030204" pitchFamily="18" charset="0"/>
                                  </a:rPr>
                                  <m:t>𝑨</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𝒚</m:t>
                                </m:r>
                              </m:e>
                              <m:sub>
                                <m:r>
                                  <a:rPr lang="en-US" b="1" i="1">
                                    <a:latin typeface="Cambria Math" panose="02040503050406030204" pitchFamily="18" charset="0"/>
                                  </a:rPr>
                                  <m:t>𝑩</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𝒚</m:t>
                                </m:r>
                              </m:e>
                              <m:sub>
                                <m:r>
                                  <a:rPr lang="en-US" b="1" i="1">
                                    <a:latin typeface="Cambria Math" panose="02040503050406030204" pitchFamily="18" charset="0"/>
                                  </a:rPr>
                                  <m:t>𝑪</m:t>
                                </m:r>
                              </m:sub>
                            </m:sSub>
                          </m:num>
                          <m:den>
                            <m:r>
                              <a:rPr lang="en-US" b="1" i="1">
                                <a:latin typeface="Cambria Math" panose="02040503050406030204" pitchFamily="18" charset="0"/>
                              </a:rPr>
                              <m:t>𝟑</m:t>
                            </m:r>
                          </m:den>
                        </m:f>
                      </m:e>
                    </m:d>
                  </m:oMath>
                </a14:m>
                <a:r>
                  <a:rPr lang="en-US" b="1" dirty="0">
                    <a:latin typeface="Tahoma" panose="020B0604030504040204" pitchFamily="34" charset="0"/>
                    <a:ea typeface="Tahoma" panose="020B0604030504040204" pitchFamily="34" charset="0"/>
                    <a:cs typeface="Tahoma" panose="020B0604030504040204" pitchFamily="34" charset="0"/>
                  </a:rPr>
                  <a:t>.</a:t>
                </a:r>
                <a:endParaRPr lang="vi-VN" b="1" dirty="0">
                  <a:latin typeface="Tahoma" panose="020B0604030504040204" pitchFamily="34" charset="0"/>
                  <a:ea typeface="Tahoma" panose="020B0604030504040204" pitchFamily="34" charset="0"/>
                  <a:cs typeface="Tahoma" panose="020B0604030504040204" pitchFamily="34" charset="0"/>
                </a:endParaRPr>
              </a:p>
              <a:p>
                <a:r>
                  <a:rPr lang="vi-VN" dirty="0"/>
                  <a:t> </a:t>
                </a:r>
                <a:endParaRPr lang="en-US" dirty="0"/>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467983" y="2764439"/>
                <a:ext cx="23393400" cy="2339855"/>
              </a:xfrm>
              <a:prstGeom prst="rect">
                <a:avLst/>
              </a:prstGeom>
              <a:blipFill>
                <a:blip r:embed="rId3"/>
                <a:stretch>
                  <a:fillRect l="-1381" t="-3368" b="-5699"/>
                </a:stretch>
              </a:blipFill>
              <a:ln>
                <a:solidFill>
                  <a:schemeClr val="tx2">
                    <a:lumMod val="20000"/>
                    <a:lumOff val="80000"/>
                  </a:schemeClr>
                </a:solidFill>
              </a:ln>
            </p:spPr>
            <p:txBody>
              <a:bodyPr/>
              <a:lstStyle/>
              <a:p>
                <a:r>
                  <a:rPr lang="en-US">
                    <a:noFill/>
                  </a:rPr>
                  <a:t> </a:t>
                </a:r>
              </a:p>
            </p:txBody>
          </p:sp>
        </mc:Fallback>
      </mc:AlternateContent>
      <p:sp>
        <p:nvSpPr>
          <p:cNvPr id="45" name="Rectangle 33">
            <a:extLst>
              <a:ext uri="{FF2B5EF4-FFF2-40B4-BE49-F238E27FC236}">
                <a16:creationId xmlns:a16="http://schemas.microsoft.com/office/drawing/2014/main" id="{FC933ED9-94B1-4F46-A3BF-4C2E10ACBF95}"/>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Title 1">
            <a:extLst>
              <a:ext uri="{FF2B5EF4-FFF2-40B4-BE49-F238E27FC236}">
                <a16:creationId xmlns:a16="http://schemas.microsoft.com/office/drawing/2014/main" id="{34DB4C0F-AB3E-43A6-85DA-18F74C5B01B8}"/>
              </a:ext>
            </a:extLst>
          </p:cNvPr>
          <p:cNvSpPr txBox="1">
            <a:spLocks/>
          </p:cNvSpPr>
          <p:nvPr/>
        </p:nvSpPr>
        <p:spPr>
          <a:xfrm>
            <a:off x="495300" y="5715000"/>
            <a:ext cx="23393400" cy="3669102"/>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marL="685800" indent="-685800" algn="just">
              <a:buFontTx/>
              <a:buChar char="-"/>
            </a:pPr>
            <a:r>
              <a:rPr lang="en-US" sz="4800" b="1" dirty="0" err="1">
                <a:latin typeface="Tahoma" panose="020B0604030504040204" pitchFamily="34" charset="0"/>
                <a:ea typeface="Tahoma" panose="020B0604030504040204" pitchFamily="34" charset="0"/>
                <a:cs typeface="Tahoma" panose="020B0604030504040204" pitchFamily="34" charset="0"/>
              </a:rPr>
              <a:t>Để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hiện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phần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Đất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bản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đồ</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người</a:t>
            </a:r>
            <a:r>
              <a:rPr lang="en-US" sz="4800" b="1" dirty="0">
                <a:latin typeface="Tahoma" panose="020B0604030504040204" pitchFamily="34" charset="0"/>
                <a:ea typeface="Tahoma" panose="020B0604030504040204" pitchFamily="34" charset="0"/>
                <a:cs typeface="Tahoma" panose="020B0604030504040204" pitchFamily="34" charset="0"/>
              </a:rPr>
              <a:t> ta </a:t>
            </a:r>
            <a:r>
              <a:rPr lang="en-US" sz="4800" b="1" dirty="0" err="1">
                <a:latin typeface="Tahoma" panose="020B0604030504040204" pitchFamily="34" charset="0"/>
                <a:ea typeface="Tahoma" panose="020B0604030504040204" pitchFamily="34" charset="0"/>
                <a:cs typeface="Tahoma" panose="020B0604030504040204" pitchFamily="34" charset="0"/>
              </a:rPr>
              <a:t>dùng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phép</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chiếu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bản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đồ</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với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nhất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định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giữa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bản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vẽ</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thực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địa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thường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quy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định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với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từng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loại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bản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đồ</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về</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nguyên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tắc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phạm</a:t>
            </a:r>
            <a:r>
              <a:rPr lang="en-US" sz="4800" b="1" dirty="0">
                <a:latin typeface="Tahoma" panose="020B0604030504040204" pitchFamily="34" charset="0"/>
                <a:ea typeface="Tahoma" panose="020B0604030504040204" pitchFamily="34" charset="0"/>
                <a:cs typeface="Tahoma" panose="020B0604030504040204" pitchFamily="34" charset="0"/>
              </a:rPr>
              <a:t> vi </a:t>
            </a:r>
            <a:r>
              <a:rPr lang="en-US" sz="4800" b="1" dirty="0" err="1">
                <a:latin typeface="Tahoma" panose="020B0604030504040204" pitchFamily="34" charset="0"/>
                <a:ea typeface="Tahoma" panose="020B0604030504040204" pitchFamily="34" charset="0"/>
                <a:cs typeface="Tahoma" panose="020B0604030504040204" pitchFamily="34" charset="0"/>
              </a:rPr>
              <a:t>thể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hiện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càng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hẹp</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thì</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càng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chính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xác</a:t>
            </a:r>
            <a:r>
              <a:rPr lang="en-US" sz="4800" b="1" dirty="0">
                <a:latin typeface="Tahoma" panose="020B0604030504040204" pitchFamily="34" charset="0"/>
                <a:ea typeface="Tahoma" panose="020B0604030504040204" pitchFamily="34" charset="0"/>
                <a:cs typeface="Tahoma" panose="020B0604030504040204" pitchFamily="34" charset="0"/>
              </a:rPr>
              <a:t>.</a:t>
            </a:r>
          </a:p>
          <a:p>
            <a:pPr marL="685800" indent="-685800" algn="just">
              <a:buFontTx/>
              <a:buChar char="-"/>
            </a:pP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vận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dụng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này</a:t>
            </a:r>
            <a:r>
              <a:rPr lang="en-US" sz="4800" b="1" dirty="0">
                <a:latin typeface="Tahoma" panose="020B0604030504040204" pitchFamily="34" charset="0"/>
                <a:ea typeface="Tahoma" panose="020B0604030504040204" pitchFamily="34" charset="0"/>
                <a:cs typeface="Tahoma" panose="020B0604030504040204" pitchFamily="34" charset="0"/>
              </a:rPr>
              <a:t>, ta </a:t>
            </a:r>
            <a:r>
              <a:rPr lang="en-US" sz="4800" b="1" dirty="0" err="1">
                <a:latin typeface="Tahoma" panose="020B0604030504040204" pitchFamily="34" charset="0"/>
                <a:ea typeface="Tahoma" panose="020B0604030504040204" pitchFamily="34" charset="0"/>
                <a:cs typeface="Tahoma" panose="020B0604030504040204" pitchFamily="34" charset="0"/>
              </a:rPr>
              <a:t>chỉ</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tính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toán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phạm</a:t>
            </a:r>
            <a:r>
              <a:rPr lang="en-US" sz="4800" b="1" dirty="0">
                <a:latin typeface="Tahoma" panose="020B0604030504040204" pitchFamily="34" charset="0"/>
                <a:ea typeface="Tahoma" panose="020B0604030504040204" pitchFamily="34" charset="0"/>
                <a:cs typeface="Tahoma" panose="020B0604030504040204" pitchFamily="34" charset="0"/>
              </a:rPr>
              <a:t> vi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đoạn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đường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ngắn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tâm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bão</a:t>
            </a:r>
            <a:r>
              <a:rPr lang="en-US" sz="4800" b="1" dirty="0">
                <a:latin typeface="Tahoma" panose="020B0604030504040204" pitchFamily="34" charset="0"/>
                <a:ea typeface="Tahoma" panose="020B0604030504040204" pitchFamily="34" charset="0"/>
                <a:cs typeface="Tahoma" panose="020B0604030504040204" pitchFamily="34" charset="0"/>
              </a:rPr>
              <a:t>.</a:t>
            </a:r>
          </a:p>
        </p:txBody>
      </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407906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3200400" y="1758547"/>
                <a:ext cx="19659600" cy="2339855"/>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4.16.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mặt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𝟑</m:t>
                        </m:r>
                      </m:e>
                    </m:d>
                    <m:r>
                      <a:rPr lang="en-US" sz="4800" b="1" i="1">
                        <a:latin typeface="Cambria Math" panose="02040503050406030204" pitchFamily="18" charset="0"/>
                      </a:rPr>
                      <m:t>,</m:t>
                    </m:r>
                    <m:r>
                      <a:rPr lang="en-US" sz="4800" b="1" i="1">
                        <a:latin typeface="Cambria Math" panose="02040503050406030204" pitchFamily="18" charset="0"/>
                      </a:rPr>
                      <m:t>𝑵</m:t>
                    </m:r>
                    <m:d>
                      <m:dPr>
                        <m:ctrlPr>
                          <a:rPr lang="en-US" sz="4800" b="1" i="1">
                            <a:latin typeface="Cambria Math" panose="02040503050406030204" pitchFamily="18" charset="0"/>
                          </a:rPr>
                        </m:ctrlPr>
                      </m:dPr>
                      <m:e>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a) </a:t>
                </a:r>
                <a:r>
                  <a:rPr lang="en-US" sz="4800" b="1" dirty="0" err="1">
                    <a:latin typeface="Tahoma" panose="020B0604030504040204" pitchFamily="34" charset="0"/>
                    <a:ea typeface="Tahoma" panose="020B0604030504040204" pitchFamily="34" charset="0"/>
                    <a:cs typeface="Tahoma" panose="020B0604030504040204" pitchFamily="34" charset="0"/>
                  </a:rPr>
                  <a:t>Tính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dài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đoạn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thẳng</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𝑶𝑴</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𝑶𝑵</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𝑴𝑵</m:t>
                    </m:r>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b) </a:t>
                </a:r>
                <a:r>
                  <a:rPr lang="en-US" sz="4800" b="1" dirty="0" err="1">
                    <a:latin typeface="Tahoma" panose="020B0604030504040204" pitchFamily="34" charset="0"/>
                    <a:ea typeface="Tahoma" panose="020B0604030504040204" pitchFamily="34" charset="0"/>
                    <a:cs typeface="Tahoma" panose="020B0604030504040204" pitchFamily="34" charset="0"/>
                  </a:rPr>
                  <a:t>Chứng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minh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rằng</a:t>
                </a:r>
                <a:r>
                  <a:rPr lang="en-US" sz="4800" b="1" dirty="0">
                    <a:latin typeface="Tahoma" panose="020B0604030504040204" pitchFamily="34" charset="0"/>
                    <a:ea typeface="Tahoma" panose="020B0604030504040204" pitchFamily="34" charset="0"/>
                    <a:cs typeface="Tahoma" panose="020B0604030504040204" pitchFamily="34" charset="0"/>
                  </a:rPr>
                  <a:t> tam </a:t>
                </a:r>
                <a:r>
                  <a:rPr lang="en-US" sz="4800" b="1" dirty="0" err="1">
                    <a:latin typeface="Tahoma" panose="020B0604030504040204" pitchFamily="34" charset="0"/>
                    <a:ea typeface="Tahoma" panose="020B0604030504040204" pitchFamily="34" charset="0"/>
                    <a:cs typeface="Tahoma" panose="020B0604030504040204" pitchFamily="34" charset="0"/>
                  </a:rPr>
                  <a:t>giác</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𝑶𝑴𝑵</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vuông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cân</a:t>
                </a:r>
                <a:r>
                  <a:rPr lang="en-US" sz="4800" b="1" dirty="0">
                    <a:latin typeface="Tahoma" panose="020B0604030504040204" pitchFamily="34" charset="0"/>
                    <a:ea typeface="Tahoma" panose="020B0604030504040204" pitchFamily="34" charset="0"/>
                    <a:cs typeface="Tahoma" panose="020B0604030504040204" pitchFamily="34" charset="0"/>
                  </a:rPr>
                  <a:t>.</a:t>
                </a:r>
              </a:p>
              <a:p>
                <a:r>
                  <a:rPr lang="vi-VN" sz="4800" dirty="0">
                    <a:latin typeface="Tahoma" panose="020B0604030504040204" pitchFamily="34" charset="0"/>
                    <a:ea typeface="Tahoma" panose="020B0604030504040204" pitchFamily="34" charset="0"/>
                    <a:cs typeface="Tahoma" panose="020B0604030504040204" pitchFamily="34" charset="0"/>
                  </a:rPr>
                  <a:t> </a:t>
                </a:r>
                <a:endParaRPr lang="en-US"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3200400" y="1758547"/>
                <a:ext cx="19659600" cy="2339855"/>
              </a:xfrm>
              <a:prstGeom prst="rect">
                <a:avLst/>
              </a:prstGeom>
              <a:blipFill>
                <a:blip r:embed="rId3"/>
                <a:stretch>
                  <a:fillRect l="-1363" t="-9067" r="-930" b="-1554"/>
                </a:stretch>
              </a:blipFill>
              <a:ln>
                <a:solidFill>
                  <a:schemeClr val="tx2">
                    <a:lumMod val="20000"/>
                    <a:lumOff val="80000"/>
                  </a:schemeClr>
                </a:solidFill>
              </a:ln>
            </p:spPr>
            <p:txBody>
              <a:bodyPr/>
              <a:lstStyle/>
              <a:p>
                <a:r>
                  <a:rPr lang="en-US">
                    <a:noFill/>
                  </a:rPr>
                  <a:t> </a:t>
                </a:r>
              </a:p>
            </p:txBody>
          </p:sp>
        </mc:Fallback>
      </mc:AlternateContent>
      <p:sp>
        <p:nvSpPr>
          <p:cNvPr id="45" name="Rectangle 33">
            <a:extLst>
              <a:ext uri="{FF2B5EF4-FFF2-40B4-BE49-F238E27FC236}">
                <a16:creationId xmlns:a16="http://schemas.microsoft.com/office/drawing/2014/main" id="{FC933ED9-94B1-4F46-A3BF-4C2E10ACBF95}"/>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5" name="Title 1">
                <a:extLst>
                  <a:ext uri="{FF2B5EF4-FFF2-40B4-BE49-F238E27FC236}">
                    <a16:creationId xmlns:a16="http://schemas.microsoft.com/office/drawing/2014/main" id="{34DB4C0F-AB3E-43A6-85DA-18F74C5B01B8}"/>
                  </a:ext>
                </a:extLst>
              </p:cNvPr>
              <p:cNvSpPr txBox="1">
                <a:spLocks/>
              </p:cNvSpPr>
              <p:nvPr/>
            </p:nvSpPr>
            <p:spPr>
              <a:xfrm>
                <a:off x="3200400" y="5268448"/>
                <a:ext cx="19659600" cy="7914152"/>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50000"/>
                  </a:lnSpc>
                  <a:spcAft>
                    <a:spcPts val="800"/>
                  </a:spcAft>
                </a:pPr>
                <a:r>
                  <a:rPr lang="en-US" sz="4800" b="1" dirty="0">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𝑶𝑴</m:t>
                    </m:r>
                    <m:r>
                      <a:rPr lang="en-US" sz="4800" b="1" i="1">
                        <a:latin typeface="Cambria Math" panose="02040503050406030204" pitchFamily="18" charset="0"/>
                        <a:ea typeface="Calibri" panose="020F0502020204030204" pitchFamily="34" charset="0"/>
                        <a:cs typeface="Tahoma" panose="020B0604030504040204" pitchFamily="34" charset="0"/>
                      </a:rPr>
                      <m:t>=</m:t>
                    </m:r>
                    <m:rad>
                      <m:radPr>
                        <m:degHide m:val="on"/>
                        <m:ctrlPr>
                          <a:rPr lang="en-US" sz="4800" b="1" i="1">
                            <a:latin typeface="Cambria Math" panose="02040503050406030204" pitchFamily="18" charset="0"/>
                            <a:ea typeface="Calibri" panose="020F0502020204030204" pitchFamily="34" charset="0"/>
                            <a:cs typeface="Tahoma" panose="020B0604030504040204" pitchFamily="34" charset="0"/>
                          </a:rPr>
                        </m:ctrlPr>
                      </m:radPr>
                      <m:deg/>
                      <m:e>
                        <m:sSup>
                          <m:sSupPr>
                            <m:ctrlPr>
                              <a:rPr lang="en-US" sz="4800" b="1" i="1">
                                <a:latin typeface="Cambria Math" panose="02040503050406030204" pitchFamily="18" charset="0"/>
                                <a:ea typeface="Calibri" panose="020F0502020204030204" pitchFamily="34" charset="0"/>
                                <a:cs typeface="Tahoma" panose="020B0604030504040204" pitchFamily="34" charset="0"/>
                              </a:rPr>
                            </m:ctrlPr>
                          </m:sSupPr>
                          <m:e>
                            <m:r>
                              <a:rPr lang="en-US" sz="4800" b="1" i="1">
                                <a:latin typeface="Cambria Math" panose="02040503050406030204" pitchFamily="18" charset="0"/>
                                <a:ea typeface="Calibri" panose="020F0502020204030204" pitchFamily="34" charset="0"/>
                                <a:cs typeface="Tahoma" panose="020B0604030504040204" pitchFamily="34" charset="0"/>
                              </a:rPr>
                              <m:t>𝟏</m:t>
                            </m:r>
                          </m:e>
                          <m:sup>
                            <m:r>
                              <a:rPr lang="en-US" sz="4800" b="1" i="1">
                                <a:latin typeface="Cambria Math" panose="02040503050406030204" pitchFamily="18" charset="0"/>
                                <a:ea typeface="Calibri" panose="020F0502020204030204" pitchFamily="34" charset="0"/>
                                <a:cs typeface="Tahoma" panose="020B0604030504040204" pitchFamily="34" charset="0"/>
                              </a:rPr>
                              <m:t>𝟐</m:t>
                            </m:r>
                          </m:sup>
                        </m:sSup>
                        <m:r>
                          <a:rPr lang="en-US" sz="4800" b="1" i="1">
                            <a:latin typeface="Cambria Math" panose="02040503050406030204" pitchFamily="18" charset="0"/>
                            <a:ea typeface="Calibri" panose="020F0502020204030204" pitchFamily="34" charset="0"/>
                            <a:cs typeface="Tahoma" panose="020B0604030504040204" pitchFamily="34" charset="0"/>
                          </a:rPr>
                          <m:t>+</m:t>
                        </m:r>
                        <m:sSup>
                          <m:sSupPr>
                            <m:ctrlPr>
                              <a:rPr lang="en-US" sz="4800" b="1" i="1">
                                <a:latin typeface="Cambria Math" panose="02040503050406030204" pitchFamily="18" charset="0"/>
                                <a:ea typeface="Calibri" panose="020F0502020204030204" pitchFamily="34" charset="0"/>
                                <a:cs typeface="Tahoma" panose="020B0604030504040204" pitchFamily="34" charset="0"/>
                              </a:rPr>
                            </m:ctrlPr>
                          </m:sSupPr>
                          <m:e>
                            <m:r>
                              <a:rPr lang="en-US" sz="4800" b="1" i="1">
                                <a:latin typeface="Cambria Math" panose="02040503050406030204" pitchFamily="18" charset="0"/>
                                <a:ea typeface="Calibri" panose="020F0502020204030204" pitchFamily="34" charset="0"/>
                                <a:cs typeface="Tahoma" panose="020B0604030504040204" pitchFamily="34" charset="0"/>
                              </a:rPr>
                              <m:t>𝟑</m:t>
                            </m:r>
                          </m:e>
                          <m:sup>
                            <m:r>
                              <a:rPr lang="en-US" sz="4800" b="1" i="1">
                                <a:latin typeface="Cambria Math" panose="02040503050406030204" pitchFamily="18" charset="0"/>
                                <a:ea typeface="Calibri" panose="020F0502020204030204" pitchFamily="34" charset="0"/>
                                <a:cs typeface="Tahoma" panose="020B0604030504040204" pitchFamily="34" charset="0"/>
                              </a:rPr>
                              <m:t>𝟐</m:t>
                            </m:r>
                          </m:sup>
                        </m:sSup>
                      </m:e>
                    </m:rad>
                    <m:r>
                      <a:rPr lang="en-US" sz="4800" b="1" i="1">
                        <a:latin typeface="Cambria Math" panose="02040503050406030204" pitchFamily="18" charset="0"/>
                        <a:ea typeface="Calibri" panose="020F0502020204030204" pitchFamily="34" charset="0"/>
                        <a:cs typeface="Tahoma" panose="020B0604030504040204" pitchFamily="34" charset="0"/>
                      </a:rPr>
                      <m:t>=</m:t>
                    </m:r>
                    <m:rad>
                      <m:radPr>
                        <m:degHide m:val="on"/>
                        <m:ctrlPr>
                          <a:rPr lang="en-US" sz="4800" b="1" i="1">
                            <a:latin typeface="Cambria Math" panose="02040503050406030204" pitchFamily="18" charset="0"/>
                            <a:ea typeface="Calibri" panose="020F0502020204030204" pitchFamily="34" charset="0"/>
                            <a:cs typeface="Tahoma" panose="020B0604030504040204" pitchFamily="34" charset="0"/>
                          </a:rPr>
                        </m:ctrlPr>
                      </m:radPr>
                      <m:deg/>
                      <m:e>
                        <m:r>
                          <a:rPr lang="en-US" sz="4800" b="1" i="1">
                            <a:latin typeface="Cambria Math" panose="02040503050406030204" pitchFamily="18" charset="0"/>
                            <a:ea typeface="Calibri" panose="020F0502020204030204" pitchFamily="34" charset="0"/>
                            <a:cs typeface="Tahoma" panose="020B0604030504040204" pitchFamily="34" charset="0"/>
                          </a:rPr>
                          <m:t>𝟏𝟎</m:t>
                        </m:r>
                      </m:e>
                    </m:rad>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𝑶𝑵</m:t>
                    </m:r>
                    <m:r>
                      <a:rPr lang="en-US" sz="4800" b="1" i="1">
                        <a:latin typeface="Cambria Math" panose="02040503050406030204" pitchFamily="18" charset="0"/>
                        <a:ea typeface="Calibri" panose="020F0502020204030204" pitchFamily="34" charset="0"/>
                        <a:cs typeface="Tahoma" panose="020B0604030504040204" pitchFamily="34" charset="0"/>
                      </a:rPr>
                      <m:t>=</m:t>
                    </m:r>
                    <m:rad>
                      <m:radPr>
                        <m:degHide m:val="on"/>
                        <m:ctrlPr>
                          <a:rPr lang="en-US" sz="4800" b="1" i="1">
                            <a:latin typeface="Cambria Math" panose="02040503050406030204" pitchFamily="18" charset="0"/>
                            <a:ea typeface="Calibri" panose="020F0502020204030204" pitchFamily="34" charset="0"/>
                            <a:cs typeface="Tahoma" panose="020B0604030504040204" pitchFamily="34" charset="0"/>
                          </a:rPr>
                        </m:ctrlPr>
                      </m:radPr>
                      <m:deg/>
                      <m:e>
                        <m:sSup>
                          <m:sSupPr>
                            <m:ctrlPr>
                              <a:rPr lang="en-US" sz="4800" b="1" i="1">
                                <a:latin typeface="Cambria Math" panose="02040503050406030204" pitchFamily="18" charset="0"/>
                                <a:ea typeface="Calibri" panose="020F0502020204030204" pitchFamily="34" charset="0"/>
                                <a:cs typeface="Tahoma" panose="020B0604030504040204" pitchFamily="34" charset="0"/>
                              </a:rPr>
                            </m:ctrlPr>
                          </m:sSupPr>
                          <m:e>
                            <m:r>
                              <a:rPr lang="en-US" sz="4800" b="1" i="1">
                                <a:latin typeface="Cambria Math" panose="02040503050406030204" pitchFamily="18" charset="0"/>
                                <a:ea typeface="Calibri" panose="020F0502020204030204" pitchFamily="34" charset="0"/>
                                <a:cs typeface="Tahoma" panose="020B0604030504040204" pitchFamily="34" charset="0"/>
                              </a:rPr>
                              <m:t>𝟒</m:t>
                            </m:r>
                          </m:e>
                          <m:sup>
                            <m:r>
                              <a:rPr lang="en-US" sz="4800" b="1" i="1">
                                <a:latin typeface="Cambria Math" panose="02040503050406030204" pitchFamily="18" charset="0"/>
                                <a:ea typeface="Calibri" panose="020F0502020204030204" pitchFamily="34" charset="0"/>
                                <a:cs typeface="Tahoma" panose="020B0604030504040204" pitchFamily="34" charset="0"/>
                              </a:rPr>
                              <m:t>𝟐</m:t>
                            </m:r>
                          </m:sup>
                        </m:sSup>
                        <m:r>
                          <a:rPr lang="en-US" sz="4800" b="1" i="1">
                            <a:latin typeface="Cambria Math" panose="02040503050406030204" pitchFamily="18" charset="0"/>
                            <a:ea typeface="Calibri" panose="020F0502020204030204" pitchFamily="34" charset="0"/>
                            <a:cs typeface="Tahoma" panose="020B0604030504040204" pitchFamily="34" charset="0"/>
                          </a:rPr>
                          <m:t>+</m:t>
                        </m:r>
                        <m:sSup>
                          <m:sSupPr>
                            <m:ctrlPr>
                              <a:rPr lang="en-US" sz="4800" b="1" i="1">
                                <a:latin typeface="Cambria Math" panose="02040503050406030204" pitchFamily="18" charset="0"/>
                                <a:ea typeface="Calibri" panose="020F0502020204030204" pitchFamily="34" charset="0"/>
                                <a:cs typeface="Tahoma" panose="020B0604030504040204" pitchFamily="34" charset="0"/>
                              </a:rPr>
                            </m:ctrlPr>
                          </m:sSupPr>
                          <m:e>
                            <m:r>
                              <a:rPr lang="en-US" sz="4800" b="1" i="1">
                                <a:latin typeface="Cambria Math" panose="02040503050406030204" pitchFamily="18" charset="0"/>
                                <a:ea typeface="Calibri" panose="020F0502020204030204" pitchFamily="34" charset="0"/>
                                <a:cs typeface="Tahoma" panose="020B0604030504040204" pitchFamily="34" charset="0"/>
                              </a:rPr>
                              <m:t>𝟐</m:t>
                            </m:r>
                          </m:e>
                          <m:sup>
                            <m:r>
                              <a:rPr lang="en-US" sz="4800" b="1" i="1">
                                <a:latin typeface="Cambria Math" panose="02040503050406030204" pitchFamily="18" charset="0"/>
                                <a:ea typeface="Calibri" panose="020F0502020204030204" pitchFamily="34" charset="0"/>
                                <a:cs typeface="Tahoma" panose="020B0604030504040204" pitchFamily="34" charset="0"/>
                              </a:rPr>
                              <m:t>𝟐</m:t>
                            </m:r>
                          </m:sup>
                        </m:sSup>
                      </m:e>
                    </m:rad>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𝟐</m:t>
                    </m:r>
                    <m:rad>
                      <m:radPr>
                        <m:degHide m:val="on"/>
                        <m:ctrlPr>
                          <a:rPr lang="en-US" sz="4800" b="1" i="1">
                            <a:latin typeface="Cambria Math" panose="02040503050406030204" pitchFamily="18" charset="0"/>
                            <a:ea typeface="Calibri" panose="020F0502020204030204" pitchFamily="34" charset="0"/>
                            <a:cs typeface="Tahoma" panose="020B0604030504040204" pitchFamily="34" charset="0"/>
                          </a:rPr>
                        </m:ctrlPr>
                      </m:radPr>
                      <m:deg/>
                      <m:e>
                        <m:r>
                          <a:rPr lang="en-US" sz="4800" b="1" i="1">
                            <a:latin typeface="Cambria Math" panose="02040503050406030204" pitchFamily="18" charset="0"/>
                            <a:ea typeface="Calibri" panose="020F0502020204030204" pitchFamily="34" charset="0"/>
                            <a:cs typeface="Tahoma" panose="020B0604030504040204" pitchFamily="34" charset="0"/>
                          </a:rPr>
                          <m:t>𝟓</m:t>
                        </m:r>
                      </m:e>
                    </m:rad>
                  </m:oMath>
                </a14:m>
                <a:r>
                  <a:rPr lang="en-US" sz="4800" b="1" dirty="0">
                    <a:latin typeface="Tahoma" panose="020B0604030504040204" pitchFamily="34" charset="0"/>
                    <a:ea typeface="Tahoma" panose="020B0604030504040204" pitchFamily="34" charset="0"/>
                    <a:cs typeface="Tahoma" panose="020B0604030504040204" pitchFamily="34" charset="0"/>
                  </a:rPr>
                  <a:t>.</a:t>
                </a:r>
              </a:p>
              <a:p>
                <a:pPr>
                  <a:lnSpc>
                    <a:spcPct val="150000"/>
                  </a:lnSpc>
                  <a:spcAft>
                    <a:spcPts val="800"/>
                  </a:spcAft>
                </a:pPr>
                <a:r>
                  <a:rPr lang="en-US" sz="4800" b="1" dirty="0">
                    <a:latin typeface="Tahoma" panose="020B0604030504040204" pitchFamily="34" charset="0"/>
                    <a:ea typeface="Tahoma" panose="020B0604030504040204" pitchFamily="34" charset="0"/>
                    <a:cs typeface="Tahoma" panose="020B0604030504040204" pitchFamily="34" charset="0"/>
                  </a:rPr>
                  <a:t>b)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𝑴𝑵</m:t>
                    </m:r>
                    <m:r>
                      <a:rPr lang="en-US" sz="4800" b="1" i="1">
                        <a:latin typeface="Cambria Math" panose="02040503050406030204" pitchFamily="18" charset="0"/>
                        <a:ea typeface="Calibri" panose="020F0502020204030204" pitchFamily="34" charset="0"/>
                        <a:cs typeface="Tahoma" panose="020B0604030504040204" pitchFamily="34" charset="0"/>
                      </a:rPr>
                      <m:t>=</m:t>
                    </m:r>
                    <m:rad>
                      <m:radPr>
                        <m:degHide m:val="on"/>
                        <m:ctrlPr>
                          <a:rPr lang="en-US" sz="4800" b="1" i="1">
                            <a:latin typeface="Cambria Math" panose="02040503050406030204" pitchFamily="18" charset="0"/>
                            <a:ea typeface="Calibri" panose="020F0502020204030204" pitchFamily="34" charset="0"/>
                            <a:cs typeface="Tahoma" panose="020B0604030504040204" pitchFamily="34" charset="0"/>
                          </a:rPr>
                        </m:ctrlPr>
                      </m:radPr>
                      <m:deg/>
                      <m:e>
                        <m:sSup>
                          <m:sSupPr>
                            <m:ctrlPr>
                              <a:rPr lang="en-US" sz="4800" b="1" i="1">
                                <a:latin typeface="Cambria Math" panose="02040503050406030204" pitchFamily="18" charset="0"/>
                                <a:ea typeface="Calibri" panose="020F0502020204030204" pitchFamily="34" charset="0"/>
                                <a:cs typeface="Tahoma" panose="020B0604030504040204" pitchFamily="34" charset="0"/>
                              </a:rPr>
                            </m:ctrlPr>
                          </m:sSupPr>
                          <m:e>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𝟒</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𝟏</m:t>
                                </m:r>
                              </m:e>
                            </m:d>
                          </m:e>
                          <m:sup>
                            <m:r>
                              <a:rPr lang="en-US" sz="4800" b="1" i="1">
                                <a:latin typeface="Cambria Math" panose="02040503050406030204" pitchFamily="18" charset="0"/>
                                <a:ea typeface="Calibri" panose="020F0502020204030204" pitchFamily="34" charset="0"/>
                                <a:cs typeface="Tahoma" panose="020B0604030504040204" pitchFamily="34" charset="0"/>
                              </a:rPr>
                              <m:t>𝟐</m:t>
                            </m:r>
                          </m:sup>
                        </m:sSup>
                        <m:r>
                          <a:rPr lang="en-US" sz="4800" b="1" i="1">
                            <a:latin typeface="Cambria Math" panose="02040503050406030204" pitchFamily="18" charset="0"/>
                            <a:ea typeface="Calibri" panose="020F0502020204030204" pitchFamily="34" charset="0"/>
                            <a:cs typeface="Tahoma" panose="020B0604030504040204" pitchFamily="34" charset="0"/>
                          </a:rPr>
                          <m:t>+</m:t>
                        </m:r>
                        <m:sSup>
                          <m:sSupPr>
                            <m:ctrlPr>
                              <a:rPr lang="en-US" sz="4800" b="1" i="1">
                                <a:latin typeface="Cambria Math" panose="02040503050406030204" pitchFamily="18" charset="0"/>
                                <a:ea typeface="Calibri" panose="020F0502020204030204" pitchFamily="34" charset="0"/>
                                <a:cs typeface="Tahoma" panose="020B0604030504040204" pitchFamily="34" charset="0"/>
                              </a:rPr>
                            </m:ctrlPr>
                          </m:sSupPr>
                          <m:e>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𝟐</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𝟑</m:t>
                                </m:r>
                              </m:e>
                            </m:d>
                          </m:e>
                          <m:sup>
                            <m:r>
                              <a:rPr lang="en-US" sz="4800" b="1" i="1">
                                <a:latin typeface="Cambria Math" panose="02040503050406030204" pitchFamily="18" charset="0"/>
                                <a:ea typeface="Calibri" panose="020F0502020204030204" pitchFamily="34" charset="0"/>
                                <a:cs typeface="Tahoma" panose="020B0604030504040204" pitchFamily="34" charset="0"/>
                              </a:rPr>
                              <m:t>𝟐</m:t>
                            </m:r>
                          </m:sup>
                        </m:sSup>
                      </m:e>
                    </m:rad>
                    <m:r>
                      <a:rPr lang="en-US" sz="4800" b="1" i="1">
                        <a:latin typeface="Cambria Math" panose="02040503050406030204" pitchFamily="18" charset="0"/>
                        <a:ea typeface="Calibri" panose="020F0502020204030204" pitchFamily="34" charset="0"/>
                        <a:cs typeface="Tahoma" panose="020B0604030504040204" pitchFamily="34" charset="0"/>
                      </a:rPr>
                      <m:t>=</m:t>
                    </m:r>
                    <m:rad>
                      <m:radPr>
                        <m:degHide m:val="on"/>
                        <m:ctrlPr>
                          <a:rPr lang="en-US" sz="4800" b="1" i="1">
                            <a:latin typeface="Cambria Math" panose="02040503050406030204" pitchFamily="18" charset="0"/>
                            <a:ea typeface="Calibri" panose="020F0502020204030204" pitchFamily="34" charset="0"/>
                            <a:cs typeface="Tahoma" panose="020B0604030504040204" pitchFamily="34" charset="0"/>
                          </a:rPr>
                        </m:ctrlPr>
                      </m:radPr>
                      <m:deg/>
                      <m:e>
                        <m:r>
                          <a:rPr lang="en-US" sz="4800" b="1" i="1">
                            <a:latin typeface="Cambria Math" panose="02040503050406030204" pitchFamily="18" charset="0"/>
                            <a:ea typeface="Calibri" panose="020F0502020204030204" pitchFamily="34" charset="0"/>
                            <a:cs typeface="Tahoma" panose="020B0604030504040204" pitchFamily="34" charset="0"/>
                          </a:rPr>
                          <m:t>𝟏𝟎</m:t>
                        </m:r>
                      </m:e>
                    </m:rad>
                  </m:oMath>
                </a14:m>
                <a:r>
                  <a:rPr lang="en-US" sz="4800" b="1" dirty="0">
                    <a:latin typeface="Tahoma" panose="020B0604030504040204" pitchFamily="34" charset="0"/>
                    <a:ea typeface="Tahoma" panose="020B0604030504040204" pitchFamily="34" charset="0"/>
                    <a:cs typeface="Tahoma" panose="020B0604030504040204" pitchFamily="34" charset="0"/>
                  </a:rPr>
                  <a:t>.</a:t>
                </a:r>
              </a:p>
              <a:p>
                <a:pPr>
                  <a:lnSpc>
                    <a:spcPct val="150000"/>
                  </a:lnSpc>
                  <a:spcAft>
                    <a:spcPts val="800"/>
                  </a:spcAft>
                </a:pPr>
                <a:r>
                  <a:rPr lang="en-US" sz="4800" b="1" dirty="0" err="1">
                    <a:latin typeface="Tahoma" panose="020B0604030504040204" pitchFamily="34" charset="0"/>
                    <a:ea typeface="Tahoma" panose="020B0604030504040204" pitchFamily="34" charset="0"/>
                    <a:cs typeface="Tahoma" panose="020B0604030504040204" pitchFamily="34" charset="0"/>
                  </a:rPr>
                  <a:t>Vì</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𝑶</m:t>
                    </m:r>
                    <m:sSup>
                      <m:sSupPr>
                        <m:ctrlPr>
                          <a:rPr lang="en-US" sz="4800" b="1" i="1">
                            <a:latin typeface="Cambria Math" panose="02040503050406030204" pitchFamily="18" charset="0"/>
                            <a:ea typeface="Calibri" panose="020F0502020204030204" pitchFamily="34" charset="0"/>
                            <a:cs typeface="Tahoma" panose="020B0604030504040204" pitchFamily="34" charset="0"/>
                          </a:rPr>
                        </m:ctrlPr>
                      </m:sSupPr>
                      <m:e>
                        <m:r>
                          <a:rPr lang="en-US" sz="4800" b="1" i="1">
                            <a:latin typeface="Cambria Math" panose="02040503050406030204" pitchFamily="18" charset="0"/>
                            <a:ea typeface="Calibri" panose="020F0502020204030204" pitchFamily="34" charset="0"/>
                            <a:cs typeface="Tahoma" panose="020B0604030504040204" pitchFamily="34" charset="0"/>
                          </a:rPr>
                          <m:t>𝑴</m:t>
                        </m:r>
                      </m:e>
                      <m:sup>
                        <m:r>
                          <a:rPr lang="en-US" sz="4800" b="1" i="1">
                            <a:latin typeface="Cambria Math" panose="02040503050406030204" pitchFamily="18" charset="0"/>
                            <a:ea typeface="Calibri" panose="020F0502020204030204" pitchFamily="34" charset="0"/>
                            <a:cs typeface="Tahoma" panose="020B0604030504040204" pitchFamily="34" charset="0"/>
                          </a:rPr>
                          <m:t>𝟐</m:t>
                        </m:r>
                      </m:sup>
                    </m:sSup>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𝑴</m:t>
                    </m:r>
                    <m:sSup>
                      <m:sSupPr>
                        <m:ctrlPr>
                          <a:rPr lang="en-US" sz="4800" b="1" i="1">
                            <a:latin typeface="Cambria Math" panose="02040503050406030204" pitchFamily="18" charset="0"/>
                            <a:ea typeface="Calibri" panose="020F0502020204030204" pitchFamily="34" charset="0"/>
                            <a:cs typeface="Tahoma" panose="020B0604030504040204" pitchFamily="34" charset="0"/>
                          </a:rPr>
                        </m:ctrlPr>
                      </m:sSupPr>
                      <m:e>
                        <m:r>
                          <a:rPr lang="en-US" sz="4800" b="1" i="1">
                            <a:latin typeface="Cambria Math" panose="02040503050406030204" pitchFamily="18" charset="0"/>
                            <a:ea typeface="Calibri" panose="020F0502020204030204" pitchFamily="34" charset="0"/>
                            <a:cs typeface="Tahoma" panose="020B0604030504040204" pitchFamily="34" charset="0"/>
                          </a:rPr>
                          <m:t>𝑵</m:t>
                        </m:r>
                      </m:e>
                      <m:sup>
                        <m:r>
                          <a:rPr lang="en-US" sz="4800" b="1" i="1">
                            <a:latin typeface="Cambria Math" panose="02040503050406030204" pitchFamily="18" charset="0"/>
                            <a:ea typeface="Calibri" panose="020F0502020204030204" pitchFamily="34" charset="0"/>
                            <a:cs typeface="Tahoma" panose="020B0604030504040204" pitchFamily="34" charset="0"/>
                          </a:rPr>
                          <m:t>𝟐</m:t>
                        </m:r>
                      </m:sup>
                    </m:sSup>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𝟐𝟎</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𝑶</m:t>
                    </m:r>
                    <m:sSup>
                      <m:sSupPr>
                        <m:ctrlPr>
                          <a:rPr lang="en-US" sz="4800" b="1" i="1">
                            <a:latin typeface="Cambria Math" panose="02040503050406030204" pitchFamily="18" charset="0"/>
                            <a:ea typeface="Calibri" panose="020F0502020204030204" pitchFamily="34" charset="0"/>
                            <a:cs typeface="Tahoma" panose="020B0604030504040204" pitchFamily="34" charset="0"/>
                          </a:rPr>
                        </m:ctrlPr>
                      </m:sSupPr>
                      <m:e>
                        <m:r>
                          <a:rPr lang="en-US" sz="4800" b="1" i="1">
                            <a:latin typeface="Cambria Math" panose="02040503050406030204" pitchFamily="18" charset="0"/>
                            <a:ea typeface="Calibri" panose="020F0502020204030204" pitchFamily="34" charset="0"/>
                            <a:cs typeface="Tahoma" panose="020B0604030504040204" pitchFamily="34" charset="0"/>
                          </a:rPr>
                          <m:t>𝑵</m:t>
                        </m:r>
                      </m:e>
                      <m:sup>
                        <m:r>
                          <a:rPr lang="en-US" sz="4800" b="1" i="1">
                            <a:latin typeface="Cambria Math" panose="02040503050406030204" pitchFamily="18" charset="0"/>
                            <a:ea typeface="Calibri" panose="020F0502020204030204" pitchFamily="34" charset="0"/>
                            <a:cs typeface="Tahoma" panose="020B0604030504040204" pitchFamily="34" charset="0"/>
                          </a:rPr>
                          <m:t>𝟐</m:t>
                        </m:r>
                      </m:sup>
                    </m:sSup>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nên</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mbria Math" panose="02040503050406030204" pitchFamily="18"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𝑶𝑴𝑵</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vuông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tại</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𝑴</m:t>
                    </m:r>
                    <m:r>
                      <a:rPr lang="en-US" sz="4800" b="1" i="0" smtClean="0">
                        <a:latin typeface="Cambria Math" panose="02040503050406030204" pitchFamily="18" charset="0"/>
                        <a:ea typeface="Calibri" panose="020F0502020204030204" pitchFamily="34" charset="0"/>
                        <a:cs typeface="Tahoma" panose="020B0604030504040204" pitchFamily="34" charset="0"/>
                      </a:rPr>
                      <m:t>.</m:t>
                    </m:r>
                  </m:oMath>
                </a14:m>
                <a:endParaRPr lang="en-US" sz="4800" b="1" dirty="0">
                  <a:latin typeface="Tahoma" panose="020B0604030504040204" pitchFamily="34" charset="0"/>
                  <a:ea typeface="Calibri" panose="020F0502020204030204" pitchFamily="34" charset="0"/>
                  <a:cs typeface="Tahoma" panose="020B0604030504040204" pitchFamily="34" charset="0"/>
                </a:endParaRPr>
              </a:p>
              <a:p>
                <a:pPr>
                  <a:lnSpc>
                    <a:spcPct val="150000"/>
                  </a:lnSpc>
                  <a:spcAft>
                    <a:spcPts val="800"/>
                  </a:spcAft>
                </a:pPr>
                <a:r>
                  <a:rPr lang="en-US" sz="4800" b="1" dirty="0" err="1">
                    <a:latin typeface="Tahoma" panose="020B0604030504040204" pitchFamily="34" charset="0"/>
                    <a:ea typeface="Tahoma" panose="020B0604030504040204" pitchFamily="34" charset="0"/>
                    <a:cs typeface="Tahoma" panose="020B0604030504040204" pitchFamily="34" charset="0"/>
                  </a:rPr>
                  <a:t>Mà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𝑶𝑴</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𝑴𝑵</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nên</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smtClean="0">
                        <a:latin typeface="Cambria Math" panose="02040503050406030204" pitchFamily="18" charset="0"/>
                        <a:ea typeface="Cambria Math" panose="02040503050406030204" pitchFamily="18"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𝑶𝑴𝑵</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vuông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tại</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𝑴</m:t>
                    </m:r>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5" name="Title 1">
                <a:extLst>
                  <a:ext uri="{FF2B5EF4-FFF2-40B4-BE49-F238E27FC236}">
                    <a16:creationId xmlns:a16="http://schemas.microsoft.com/office/drawing/2014/main" id="{34DB4C0F-AB3E-43A6-85DA-18F74C5B01B8}"/>
                  </a:ext>
                </a:extLst>
              </p:cNvPr>
              <p:cNvSpPr txBox="1">
                <a:spLocks noRot="1" noChangeAspect="1" noMove="1" noResize="1" noEditPoints="1" noAdjustHandles="1" noChangeArrowheads="1" noChangeShapeType="1" noTextEdit="1"/>
              </p:cNvSpPr>
              <p:nvPr/>
            </p:nvSpPr>
            <p:spPr>
              <a:xfrm>
                <a:off x="3200400" y="5268448"/>
                <a:ext cx="19659600" cy="7914152"/>
              </a:xfrm>
              <a:prstGeom prst="rect">
                <a:avLst/>
              </a:prstGeom>
              <a:blipFill>
                <a:blip r:embed="rId4"/>
                <a:stretch>
                  <a:fillRect l="-1363"/>
                </a:stretch>
              </a:blipFill>
              <a:ln>
                <a:solidFill>
                  <a:schemeClr val="tx2">
                    <a:lumMod val="20000"/>
                    <a:lumOff val="80000"/>
                  </a:schemeClr>
                </a:solidFill>
              </a:ln>
            </p:spPr>
            <p:txBody>
              <a:bodyPr/>
              <a:lstStyle/>
              <a:p>
                <a:r>
                  <a:rPr lang="en-US">
                    <a:noFill/>
                  </a:rPr>
                  <a:t> </a:t>
                </a:r>
              </a:p>
            </p:txBody>
          </p:sp>
        </mc:Fallback>
      </mc:AlternateContent>
      <p:grpSp>
        <p:nvGrpSpPr>
          <p:cNvPr id="7" name="Group 6">
            <a:extLst>
              <a:ext uri="{FF2B5EF4-FFF2-40B4-BE49-F238E27FC236}">
                <a16:creationId xmlns:a16="http://schemas.microsoft.com/office/drawing/2014/main" id="{E5B1057C-ACAA-4040-B4BE-81C7B33C52BD}"/>
              </a:ext>
            </a:extLst>
          </p:cNvPr>
          <p:cNvGrpSpPr/>
          <p:nvPr/>
        </p:nvGrpSpPr>
        <p:grpSpPr>
          <a:xfrm>
            <a:off x="-72644" y="1602026"/>
            <a:ext cx="3118290" cy="978566"/>
            <a:chOff x="-288924" y="1922269"/>
            <a:chExt cx="3118854" cy="978565"/>
          </a:xfrm>
        </p:grpSpPr>
        <p:sp>
          <p:nvSpPr>
            <p:cNvPr id="8" name="Rounded Rectangle 2">
              <a:extLst>
                <a:ext uri="{FF2B5EF4-FFF2-40B4-BE49-F238E27FC236}">
                  <a16:creationId xmlns:a16="http://schemas.microsoft.com/office/drawing/2014/main" id="{42D9E206-B275-440A-A5CC-3B88C433A793}"/>
                </a:ext>
              </a:extLst>
            </p:cNvPr>
            <p:cNvSpPr/>
            <p:nvPr/>
          </p:nvSpPr>
          <p:spPr>
            <a:xfrm>
              <a:off x="-288924" y="2052547"/>
              <a:ext cx="3107350" cy="812813"/>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TextBox 8">
              <a:extLst>
                <a:ext uri="{FF2B5EF4-FFF2-40B4-BE49-F238E27FC236}">
                  <a16:creationId xmlns:a16="http://schemas.microsoft.com/office/drawing/2014/main" id="{19715A7D-43E2-4626-AB04-A4C5D46D4ADC}"/>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itchFamily="34" charset="0"/>
                <a:ea typeface="Tahoma" pitchFamily="34" charset="0"/>
                <a:cs typeface="Tahoma" pitchFamily="34" charset="0"/>
              </a:endParaRPr>
            </a:p>
          </p:txBody>
        </p:sp>
        <p:sp>
          <p:nvSpPr>
            <p:cNvPr id="10" name="TextBox 9">
              <a:extLst>
                <a:ext uri="{FF2B5EF4-FFF2-40B4-BE49-F238E27FC236}">
                  <a16:creationId xmlns:a16="http://schemas.microsoft.com/office/drawing/2014/main" id="{0C26A0C8-8D95-47DD-B53D-5B1240979929}"/>
                </a:ext>
              </a:extLst>
            </p:cNvPr>
            <p:cNvSpPr txBox="1"/>
            <p:nvPr/>
          </p:nvSpPr>
          <p:spPr>
            <a:xfrm>
              <a:off x="-277420" y="2069838"/>
              <a:ext cx="3107350"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a:t>
              </a:r>
              <a:r>
                <a:rPr lang="en-US" sz="4800" b="1" dirty="0">
                  <a:solidFill>
                    <a:srgbClr val="FFFF00"/>
                  </a:solidFill>
                  <a:latin typeface="Tahoma" pitchFamily="34" charset="0"/>
                  <a:ea typeface="Tahoma" pitchFamily="34" charset="0"/>
                  <a:cs typeface="Tahoma" pitchFamily="34" charset="0"/>
                </a:rPr>
                <a:t>BÀI TẬP</a:t>
              </a:r>
            </a:p>
          </p:txBody>
        </p:sp>
      </p:grpSp>
      <p:sp>
        <p:nvSpPr>
          <p:cNvPr id="12" name="Freeform 20">
            <a:extLst>
              <a:ext uri="{FF2B5EF4-FFF2-40B4-BE49-F238E27FC236}">
                <a16:creationId xmlns:a16="http://schemas.microsoft.com/office/drawing/2014/main" id="{EE63F1AC-86ED-40F7-B2B6-B7D3ADDAF24E}"/>
              </a:ext>
            </a:extLst>
          </p:cNvPr>
          <p:cNvSpPr>
            <a:spLocks/>
          </p:cNvSpPr>
          <p:nvPr/>
        </p:nvSpPr>
        <p:spPr bwMode="auto">
          <a:xfrm rot="16200000" flipV="1">
            <a:off x="2144378" y="3220468"/>
            <a:ext cx="847461" cy="2712681"/>
          </a:xfrm>
          <a:prstGeom prst="round1Rect">
            <a:avLst/>
          </a:prstGeom>
          <a:solidFill>
            <a:srgbClr val="DAE3F3"/>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13" name="TextBox 12">
            <a:extLst>
              <a:ext uri="{FF2B5EF4-FFF2-40B4-BE49-F238E27FC236}">
                <a16:creationId xmlns:a16="http://schemas.microsoft.com/office/drawing/2014/main" id="{FFFF3373-39F7-412E-977B-70DDD3FE332B}"/>
              </a:ext>
            </a:extLst>
          </p:cNvPr>
          <p:cNvSpPr txBox="1"/>
          <p:nvPr/>
        </p:nvSpPr>
        <p:spPr>
          <a:xfrm>
            <a:off x="1298706" y="4210087"/>
            <a:ext cx="2462457" cy="800219"/>
          </a:xfrm>
          <a:prstGeom prst="rect">
            <a:avLst/>
          </a:prstGeom>
          <a:solidFill>
            <a:srgbClr val="DAE3F3"/>
          </a:solid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14" name="Picture 13">
            <a:extLst>
              <a:ext uri="{FF2B5EF4-FFF2-40B4-BE49-F238E27FC236}">
                <a16:creationId xmlns:a16="http://schemas.microsoft.com/office/drawing/2014/main" id="{00E8A9D4-A133-4FE5-BC91-F638DD0B5FA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950" t="14860" r="18922" b="25555"/>
          <a:stretch/>
        </p:blipFill>
        <p:spPr>
          <a:xfrm>
            <a:off x="236800" y="4142266"/>
            <a:ext cx="897592" cy="946675"/>
          </a:xfrm>
          <a:prstGeom prst="round2DiagRect">
            <a:avLst>
              <a:gd name="adj1" fmla="val 27632"/>
              <a:gd name="adj2" fmla="val 0"/>
            </a:avLst>
          </a:prstGeom>
          <a:solidFill>
            <a:srgbClr val="DAE3F3"/>
          </a:solidFill>
          <a:ln w="38100" cap="sq">
            <a:solidFill>
              <a:schemeClr val="accent6">
                <a:lumMod val="50000"/>
              </a:schemeClr>
            </a:solidFill>
            <a:miter lim="800000"/>
          </a:ln>
          <a:effectLst>
            <a:outerShdw blurRad="254000" algn="tl" rotWithShape="0">
              <a:srgbClr val="000000">
                <a:alpha val="43000"/>
              </a:srgbClr>
            </a:outerShdw>
          </a:effectLst>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537773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fade">
                                      <p:cBhvr>
                                        <p:cTn id="27" dur="5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
                                            <p:txEl>
                                              <p:pRg st="2" end="2"/>
                                            </p:txEl>
                                          </p:spTgt>
                                        </p:tgtEl>
                                        <p:attrNameLst>
                                          <p:attrName>style.visibility</p:attrName>
                                        </p:attrNameLst>
                                      </p:cBhvr>
                                      <p:to>
                                        <p:strVal val="visible"/>
                                      </p:to>
                                    </p:set>
                                    <p:animEffect transition="in" filter="fade">
                                      <p:cBhvr>
                                        <p:cTn id="36" dur="500"/>
                                        <p:tgtEl>
                                          <p:spTgt spid="5">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xEl>
                                              <p:pRg st="3" end="3"/>
                                            </p:txEl>
                                          </p:spTgt>
                                        </p:tgtEl>
                                        <p:attrNameLst>
                                          <p:attrName>style.visibility</p:attrName>
                                        </p:attrNameLst>
                                      </p:cBhvr>
                                      <p:to>
                                        <p:strVal val="visible"/>
                                      </p:to>
                                    </p:set>
                                    <p:animEffect transition="in" filter="fade">
                                      <p:cBhvr>
                                        <p:cTn id="41"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5" grpId="0" animBg="1"/>
      <p:bldP spid="12" grpId="0" animBg="1"/>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2362200" y="1691770"/>
                <a:ext cx="21784052" cy="3562565"/>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4.17.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mặt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vectơ</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𝒂</m:t>
                        </m:r>
                      </m:e>
                    </m:acc>
                    <m:r>
                      <a:rPr lang="en-US" sz="4800" b="1" i="1">
                        <a:latin typeface="Cambria Math" panose="02040503050406030204" pitchFamily="18" charset="0"/>
                      </a:rPr>
                      <m:t>=</m:t>
                    </m:r>
                    <m:r>
                      <a:rPr lang="en-US" sz="4800" b="1" i="1">
                        <a:latin typeface="Cambria Math" panose="02040503050406030204" pitchFamily="18" charset="0"/>
                      </a:rPr>
                      <m:t>𝟑</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𝒊</m:t>
                        </m:r>
                      </m:e>
                    </m:acc>
                    <m:r>
                      <a:rPr lang="en-US" sz="4800" b="1" i="1">
                        <a:latin typeface="Cambria Math" panose="02040503050406030204" pitchFamily="18" charset="0"/>
                      </a:rPr>
                      <m:t>−</m:t>
                    </m:r>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𝒋</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𝒃</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𝟏</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𝟔</m:t>
                        </m:r>
                      </m:e>
                    </m:d>
                    <m:r>
                      <a:rPr lang="en-US" sz="4800" b="1" i="1">
                        <a:latin typeface="Cambria Math" panose="02040503050406030204" pitchFamily="18" charset="0"/>
                      </a:rPr>
                      <m:t>,</m:t>
                    </m:r>
                    <m:r>
                      <a:rPr lang="en-US" sz="4800" b="1" i="1">
                        <a:latin typeface="Cambria Math" panose="02040503050406030204" pitchFamily="18" charset="0"/>
                      </a:rPr>
                      <m:t>𝑵</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a) </a:t>
                </a:r>
                <a:r>
                  <a:rPr lang="en-US" sz="4800" b="1" dirty="0" err="1">
                    <a:latin typeface="Tahoma" panose="020B0604030504040204" pitchFamily="34" charset="0"/>
                    <a:ea typeface="Tahoma" panose="020B0604030504040204" pitchFamily="34" charset="0"/>
                    <a:cs typeface="Tahoma" panose="020B0604030504040204" pitchFamily="34" charset="0"/>
                  </a:rPr>
                  <a:t>Tìm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mối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liên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hệ</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giữa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vectơ</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𝑴𝑵</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𝒂</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𝒃</m:t>
                        </m:r>
                      </m:e>
                    </m:acc>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b)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m:t>
                    </m:r>
                    <m:r>
                      <a:rPr lang="en-US" sz="4800" b="1" i="1">
                        <a:latin typeface="Cambria Math" panose="02040503050406030204" pitchFamily="18" charset="0"/>
                      </a:rPr>
                      <m:t>,</m:t>
                    </m:r>
                    <m:r>
                      <a:rPr lang="en-US" sz="4800" b="1" i="1">
                        <a:latin typeface="Cambria Math" panose="02040503050406030204" pitchFamily="18" charset="0"/>
                      </a:rPr>
                      <m:t>𝑴</m:t>
                    </m:r>
                    <m:r>
                      <a:rPr lang="en-US" sz="4800" b="1" i="1">
                        <a:latin typeface="Cambria Math" panose="02040503050406030204" pitchFamily="18" charset="0"/>
                      </a:rPr>
                      <m:t>,</m:t>
                    </m:r>
                    <m:r>
                      <a:rPr lang="en-US" sz="4800" b="1" i="1">
                        <a:latin typeface="Cambria Math" panose="02040503050406030204" pitchFamily="18" charset="0"/>
                      </a:rPr>
                      <m:t>𝑵</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hàng</a:t>
                </a:r>
                <a:r>
                  <a:rPr lang="en-US" sz="4800" b="1" dirty="0">
                    <a:latin typeface="Tahoma" panose="020B0604030504040204" pitchFamily="34" charset="0"/>
                    <a:ea typeface="Tahoma" panose="020B0604030504040204" pitchFamily="34" charset="0"/>
                    <a:cs typeface="Tahoma" panose="020B0604030504040204" pitchFamily="34" charset="0"/>
                  </a:rPr>
                  <a:t> hay </a:t>
                </a:r>
                <a:r>
                  <a:rPr lang="en-US" sz="4800" b="1" dirty="0" err="1">
                    <a:latin typeface="Tahoma" panose="020B0604030504040204" pitchFamily="34" charset="0"/>
                    <a:ea typeface="Tahoma" panose="020B0604030504040204" pitchFamily="34" charset="0"/>
                    <a:cs typeface="Tahoma" panose="020B0604030504040204" pitchFamily="34" charset="0"/>
                  </a:rPr>
                  <a:t>không</a:t>
                </a:r>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c) </a:t>
                </a:r>
                <a:r>
                  <a:rPr lang="en-US" sz="4800" b="1" dirty="0" err="1">
                    <a:latin typeface="Tahoma" panose="020B0604030504040204" pitchFamily="34" charset="0"/>
                    <a:ea typeface="Tahoma" panose="020B0604030504040204" pitchFamily="34" charset="0"/>
                    <a:cs typeface="Tahoma" panose="020B0604030504040204" pitchFamily="34" charset="0"/>
                  </a:rPr>
                  <a:t>Tìm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điềm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𝑷</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để</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𝑶𝑴𝑵𝑷</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hành</a:t>
                </a:r>
                <a:r>
                  <a:rPr lang="en-US" sz="4800" b="1" dirty="0">
                    <a:latin typeface="Tahoma" panose="020B0604030504040204" pitchFamily="34" charset="0"/>
                    <a:ea typeface="Tahoma" panose="020B0604030504040204" pitchFamily="34" charset="0"/>
                    <a:cs typeface="Tahoma" panose="020B0604030504040204" pitchFamily="34" charset="0"/>
                  </a:rPr>
                  <a:t>.</a:t>
                </a:r>
              </a:p>
              <a:p>
                <a:r>
                  <a:rPr lang="vi-VN" sz="4800" b="1" dirty="0" smtClean="0">
                    <a:latin typeface="Tahoma" panose="020B0604030504040204" pitchFamily="34" charset="0"/>
                    <a:ea typeface="Tahoma" panose="020B0604030504040204" pitchFamily="34" charset="0"/>
                    <a:cs typeface="Tahoma" panose="020B0604030504040204" pitchFamily="34" charset="0"/>
                  </a:rPr>
                  <a:t> </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2362200" y="1691770"/>
                <a:ext cx="21784052" cy="3562565"/>
              </a:xfrm>
              <a:prstGeom prst="rect">
                <a:avLst/>
              </a:prstGeom>
              <a:blipFill>
                <a:blip r:embed="rId3"/>
                <a:stretch>
                  <a:fillRect l="-1259" t="-3242" b="-9215"/>
                </a:stretch>
              </a:blipFill>
              <a:ln>
                <a:solidFill>
                  <a:schemeClr val="tx2">
                    <a:lumMod val="20000"/>
                    <a:lumOff val="80000"/>
                  </a:schemeClr>
                </a:solidFill>
              </a:ln>
            </p:spPr>
            <p:txBody>
              <a:bodyPr/>
              <a:lstStyle/>
              <a:p>
                <a:r>
                  <a:rPr lang="en-US">
                    <a:noFill/>
                  </a:rPr>
                  <a:t> </a:t>
                </a:r>
              </a:p>
            </p:txBody>
          </p:sp>
        </mc:Fallback>
      </mc:AlternateContent>
      <p:sp>
        <p:nvSpPr>
          <p:cNvPr id="45" name="Rectangle 33">
            <a:extLst>
              <a:ext uri="{FF2B5EF4-FFF2-40B4-BE49-F238E27FC236}">
                <a16:creationId xmlns:a16="http://schemas.microsoft.com/office/drawing/2014/main" id="{FC933ED9-94B1-4F46-A3BF-4C2E10ACBF95}"/>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5" name="Title 1">
                <a:extLst>
                  <a:ext uri="{FF2B5EF4-FFF2-40B4-BE49-F238E27FC236}">
                    <a16:creationId xmlns:a16="http://schemas.microsoft.com/office/drawing/2014/main" id="{34DB4C0F-AB3E-43A6-85DA-18F74C5B01B8}"/>
                  </a:ext>
                </a:extLst>
              </p:cNvPr>
              <p:cNvSpPr txBox="1">
                <a:spLocks/>
              </p:cNvSpPr>
              <p:nvPr/>
            </p:nvSpPr>
            <p:spPr>
              <a:xfrm>
                <a:off x="228600" y="6392623"/>
                <a:ext cx="23393400" cy="7155222"/>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dirty="0" smtClean="0">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𝑴𝑵</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𝟔</m:t>
                        </m:r>
                        <m:r>
                          <a:rPr lang="en-US" sz="4800" b="1" i="1">
                            <a:latin typeface="Cambria Math" panose="02040503050406030204" pitchFamily="18" charset="0"/>
                          </a:rPr>
                          <m:t>;−</m:t>
                        </m:r>
                        <m:r>
                          <a:rPr lang="en-US" sz="4800" b="1" i="1">
                            <a:latin typeface="Cambria Math" panose="02040503050406030204" pitchFamily="18" charset="0"/>
                          </a:rPr>
                          <m:t>𝟗</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𝒂</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𝟐</m:t>
                        </m:r>
                      </m:e>
                    </m:d>
                    <m:r>
                      <a:rPr lang="en-US" sz="4800" b="1" i="1">
                        <a:latin typeface="Cambria Math" panose="02040503050406030204" pitchFamily="18" charset="0"/>
                      </a:rPr>
                      <m:t>⇒</m:t>
                    </m:r>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𝒂</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𝟔</m:t>
                        </m:r>
                        <m:r>
                          <a:rPr lang="en-US" sz="4800" b="1" i="1">
                            <a:latin typeface="Cambria Math" panose="02040503050406030204" pitchFamily="18" charset="0"/>
                          </a:rPr>
                          <m:t>;−</m:t>
                        </m:r>
                        <m:r>
                          <a:rPr lang="en-US" sz="4800" b="1" i="1">
                            <a:latin typeface="Cambria Math" panose="02040503050406030204" pitchFamily="18" charset="0"/>
                          </a:rPr>
                          <m:t>𝟒</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𝒂</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𝒃</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err="1">
                    <a:latin typeface="Tahoma" panose="020B0604030504040204" pitchFamily="34" charset="0"/>
                    <a:ea typeface="Tahoma" panose="020B0604030504040204" pitchFamily="34" charset="0"/>
                    <a:cs typeface="Tahoma" panose="020B0604030504040204" pitchFamily="34" charset="0"/>
                  </a:rPr>
                  <a:t>Suy</a:t>
                </a:r>
                <a:r>
                  <a:rPr lang="en-US" sz="4800" b="1" dirty="0">
                    <a:latin typeface="Tahoma" panose="020B0604030504040204" pitchFamily="34" charset="0"/>
                    <a:ea typeface="Tahoma" panose="020B0604030504040204" pitchFamily="34" charset="0"/>
                    <a:cs typeface="Tahoma" panose="020B0604030504040204" pitchFamily="34" charset="0"/>
                  </a:rPr>
                  <a:t> ra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𝑴𝑵</m:t>
                        </m:r>
                      </m:e>
                    </m:acc>
                    <m:r>
                      <a:rPr lang="en-US" sz="4800" b="1" i="1">
                        <a:latin typeface="Cambria Math" panose="02040503050406030204" pitchFamily="18" charset="0"/>
                      </a:rPr>
                      <m:t>=</m:t>
                    </m:r>
                    <m:r>
                      <a:rPr lang="en-US" sz="4800" b="1" i="1">
                        <a:latin typeface="Cambria Math" panose="02040503050406030204" pitchFamily="18" charset="0"/>
                      </a:rPr>
                      <m:t>𝟑</m:t>
                    </m:r>
                    <m:d>
                      <m:dPr>
                        <m:ctrlPr>
                          <a:rPr lang="en-US" sz="4800" b="1" i="1">
                            <a:latin typeface="Cambria Math" panose="02040503050406030204" pitchFamily="18" charset="0"/>
                          </a:rPr>
                        </m:ctrlPr>
                      </m:dPr>
                      <m:e>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𝒂</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𝒃</m:t>
                            </m:r>
                          </m:e>
                        </m:acc>
                      </m:e>
                    </m:d>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smtClean="0">
                    <a:latin typeface="Tahoma" panose="020B0604030504040204" pitchFamily="34" charset="0"/>
                    <a:ea typeface="Tahoma" panose="020B0604030504040204" pitchFamily="34" charset="0"/>
                    <a:cs typeface="Tahoma" panose="020B0604030504040204" pitchFamily="34" charset="0"/>
                  </a:rPr>
                  <a:t>b</a:t>
                </a:r>
                <a:r>
                  <a:rPr lang="en-US" sz="4800" b="1" dirty="0">
                    <a:latin typeface="Tahoma" panose="020B0604030504040204" pitchFamily="34" charset="0"/>
                    <a:ea typeface="Tahoma" panose="020B0604030504040204" pitchFamily="34" charset="0"/>
                    <a:cs typeface="Tahoma" panose="020B0604030504040204" pitchFamily="34" charset="0"/>
                  </a:rPr>
                  <a:t>) Ta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𝑶𝑴</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𝟔</m:t>
                        </m:r>
                      </m:e>
                    </m:d>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𝑶𝑵</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err="1">
                    <a:latin typeface="Tahoma" panose="020B0604030504040204" pitchFamily="34" charset="0"/>
                    <a:ea typeface="Tahoma" panose="020B0604030504040204" pitchFamily="34" charset="0"/>
                    <a:cs typeface="Tahoma" panose="020B0604030504040204" pitchFamily="34" charset="0"/>
                  </a:rPr>
                  <a:t>Vì</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f>
                      <m:fPr>
                        <m:ctrlPr>
                          <a:rPr lang="en-US" sz="4800" b="1" i="1">
                            <a:latin typeface="Cambria Math" panose="02040503050406030204" pitchFamily="18" charset="0"/>
                          </a:rPr>
                        </m:ctrlPr>
                      </m:fPr>
                      <m:num>
                        <m:r>
                          <a:rPr lang="en-US" sz="4800" b="1" i="1">
                            <a:latin typeface="Cambria Math" panose="02040503050406030204" pitchFamily="18" charset="0"/>
                          </a:rPr>
                          <m:t>−</m:t>
                        </m:r>
                        <m:r>
                          <a:rPr lang="en-US" sz="4800" b="1" i="1">
                            <a:latin typeface="Cambria Math" panose="02040503050406030204" pitchFamily="18" charset="0"/>
                          </a:rPr>
                          <m:t>𝟑</m:t>
                        </m:r>
                      </m:num>
                      <m:den>
                        <m:r>
                          <a:rPr lang="en-US" sz="4800" b="1" i="1">
                            <a:latin typeface="Cambria Math" panose="02040503050406030204" pitchFamily="18" charset="0"/>
                          </a:rPr>
                          <m:t>𝟑</m:t>
                        </m:r>
                      </m:den>
                    </m:f>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𝟔</m:t>
                        </m:r>
                      </m:num>
                      <m:den>
                        <m:r>
                          <a:rPr lang="en-US" sz="4800" b="1" i="1">
                            <a:latin typeface="Cambria Math" panose="02040503050406030204" pitchFamily="18" charset="0"/>
                          </a:rPr>
                          <m:t>−</m:t>
                        </m:r>
                        <m:r>
                          <a:rPr lang="en-US" sz="4800" b="1" i="1">
                            <a:latin typeface="Cambria Math" panose="02040503050406030204" pitchFamily="18" charset="0"/>
                          </a:rPr>
                          <m:t>𝟑</m:t>
                        </m:r>
                      </m:den>
                    </m:f>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nên</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𝑶𝑴</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𝑶𝑵</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cùng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phương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suy</a:t>
                </a:r>
                <a:r>
                  <a:rPr lang="en-US" sz="4800" b="1" dirty="0">
                    <a:latin typeface="Tahoma" panose="020B0604030504040204" pitchFamily="34" charset="0"/>
                    <a:ea typeface="Tahoma" panose="020B0604030504040204" pitchFamily="34" charset="0"/>
                    <a:cs typeface="Tahoma" panose="020B0604030504040204" pitchFamily="34" charset="0"/>
                  </a:rPr>
                  <a:t> ra </a:t>
                </a:r>
                <a14:m>
                  <m:oMath xmlns:m="http://schemas.openxmlformats.org/officeDocument/2006/math">
                    <m:r>
                      <a:rPr lang="en-US" sz="4800" b="1" i="1">
                        <a:latin typeface="Cambria Math" panose="02040503050406030204" pitchFamily="18" charset="0"/>
                      </a:rPr>
                      <m:t>𝑶</m:t>
                    </m:r>
                    <m:r>
                      <a:rPr lang="en-US" sz="4800" b="1" i="1">
                        <a:latin typeface="Cambria Math" panose="02040503050406030204" pitchFamily="18" charset="0"/>
                      </a:rPr>
                      <m:t>,</m:t>
                    </m:r>
                    <m:r>
                      <a:rPr lang="en-US" sz="4800" b="1" i="1">
                        <a:latin typeface="Cambria Math" panose="02040503050406030204" pitchFamily="18" charset="0"/>
                      </a:rPr>
                      <m:t>𝑴</m:t>
                    </m:r>
                    <m:r>
                      <a:rPr lang="en-US" sz="4800" b="1" i="1">
                        <a:latin typeface="Cambria Math" panose="02040503050406030204" pitchFamily="18" charset="0"/>
                      </a:rPr>
                      <m:t>,</m:t>
                    </m:r>
                    <m:r>
                      <a:rPr lang="en-US" sz="4800" b="1" i="1">
                        <a:latin typeface="Cambria Math" panose="02040503050406030204" pitchFamily="18" charset="0"/>
                      </a:rPr>
                      <m:t>𝑵</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hàng</a:t>
                </a:r>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c) Ta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𝑶𝑴</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𝟔</m:t>
                        </m:r>
                      </m:e>
                    </m:d>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𝑷𝑵</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𝒚</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Do </a:t>
                </a:r>
                <a:r>
                  <a:rPr lang="en-US" sz="4800" b="1" dirty="0" err="1">
                    <a:latin typeface="Tahoma" panose="020B0604030504040204" pitchFamily="34" charset="0"/>
                    <a:ea typeface="Tahoma" panose="020B0604030504040204" pitchFamily="34" charset="0"/>
                    <a:cs typeface="Tahoma" panose="020B0604030504040204" pitchFamily="34" charset="0"/>
                  </a:rPr>
                  <a:t>đó</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𝑶𝑴𝑵𝑷</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hành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chỉ</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khi</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𝑶𝑴</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𝑷𝑵</m:t>
                        </m:r>
                      </m:e>
                    </m:acc>
                  </m:oMath>
                </a14:m>
                <a:endParaRPr lang="en-US" sz="4800" b="1" i="1" dirty="0"/>
              </a:p>
              <a:p>
                <a14:m>
                  <m:oMath xmlns:m="http://schemas.openxmlformats.org/officeDocument/2006/math">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𝒙</m:t>
                            </m:r>
                          </m:e>
                          <m:e>
                            <m:r>
                              <a:rPr lang="en-US" sz="4800" b="1" i="1">
                                <a:latin typeface="Cambria Math" panose="02040503050406030204" pitchFamily="18" charset="0"/>
                              </a:rPr>
                              <m:t>𝟔</m:t>
                            </m:r>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𝒚</m:t>
                            </m:r>
                          </m:e>
                        </m:eqArr>
                      </m:e>
                    </m:d>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𝟔</m:t>
                            </m:r>
                          </m:e>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𝟗</m:t>
                            </m:r>
                          </m:e>
                        </m:eqArr>
                      </m:e>
                    </m:d>
                    <m:r>
                      <a:rPr lang="en-US" sz="4800" b="1" i="1">
                        <a:latin typeface="Cambria Math" panose="02040503050406030204" pitchFamily="18" charset="0"/>
                      </a:rPr>
                      <m:t>⇒</m:t>
                    </m:r>
                    <m:r>
                      <a:rPr lang="en-US" sz="4800" b="1" i="1">
                        <a:latin typeface="Cambria Math" panose="02040503050406030204" pitchFamily="18" charset="0"/>
                      </a:rPr>
                      <m:t>𝑷</m:t>
                    </m:r>
                    <m:d>
                      <m:dPr>
                        <m:ctrlPr>
                          <a:rPr lang="en-US" sz="4800" b="1" i="1">
                            <a:latin typeface="Cambria Math" panose="02040503050406030204" pitchFamily="18" charset="0"/>
                          </a:rPr>
                        </m:ctrlPr>
                      </m:dPr>
                      <m:e>
                        <m:r>
                          <a:rPr lang="en-US" sz="4800" b="1" i="1">
                            <a:latin typeface="Cambria Math" panose="02040503050406030204" pitchFamily="18" charset="0"/>
                          </a:rPr>
                          <m:t>𝟔</m:t>
                        </m:r>
                        <m:r>
                          <a:rPr lang="en-US" sz="4800" b="1" i="1">
                            <a:latin typeface="Cambria Math" panose="02040503050406030204" pitchFamily="18" charset="0"/>
                          </a:rPr>
                          <m:t>;−</m:t>
                        </m:r>
                        <m:r>
                          <a:rPr lang="en-US" sz="4800" b="1" i="1">
                            <a:latin typeface="Cambria Math" panose="02040503050406030204" pitchFamily="18" charset="0"/>
                          </a:rPr>
                          <m:t>𝟗</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5" name="Title 1">
                <a:extLst>
                  <a:ext uri="{FF2B5EF4-FFF2-40B4-BE49-F238E27FC236}">
                    <a16:creationId xmlns:a16="http://schemas.microsoft.com/office/drawing/2014/main" id="{34DB4C0F-AB3E-43A6-85DA-18F74C5B01B8}"/>
                  </a:ext>
                </a:extLst>
              </p:cNvPr>
              <p:cNvSpPr txBox="1">
                <a:spLocks noRot="1" noChangeAspect="1" noMove="1" noResize="1" noEditPoints="1" noAdjustHandles="1" noChangeArrowheads="1" noChangeShapeType="1" noTextEdit="1"/>
              </p:cNvSpPr>
              <p:nvPr/>
            </p:nvSpPr>
            <p:spPr>
              <a:xfrm>
                <a:off x="228600" y="6392623"/>
                <a:ext cx="23393400" cy="7155222"/>
              </a:xfrm>
              <a:prstGeom prst="rect">
                <a:avLst/>
              </a:prstGeom>
              <a:blipFill>
                <a:blip r:embed="rId4"/>
                <a:stretch>
                  <a:fillRect l="-1172" t="-1617" r="-234"/>
                </a:stretch>
              </a:blipFill>
              <a:ln>
                <a:solidFill>
                  <a:schemeClr val="tx2">
                    <a:lumMod val="20000"/>
                    <a:lumOff val="80000"/>
                  </a:schemeClr>
                </a:solidFill>
              </a:ln>
            </p:spPr>
            <p:txBody>
              <a:bodyPr/>
              <a:lstStyle/>
              <a:p>
                <a:r>
                  <a:rPr lang="en-US">
                    <a:noFill/>
                  </a:rPr>
                  <a:t> </a:t>
                </a:r>
              </a:p>
            </p:txBody>
          </p:sp>
        </mc:Fallback>
      </mc:AlternateContent>
      <p:grpSp>
        <p:nvGrpSpPr>
          <p:cNvPr id="7" name="Group 6">
            <a:extLst>
              <a:ext uri="{FF2B5EF4-FFF2-40B4-BE49-F238E27FC236}">
                <a16:creationId xmlns:a16="http://schemas.microsoft.com/office/drawing/2014/main" id="{E5B1057C-ACAA-4040-B4BE-81C7B33C52BD}"/>
              </a:ext>
            </a:extLst>
          </p:cNvPr>
          <p:cNvGrpSpPr/>
          <p:nvPr/>
        </p:nvGrpSpPr>
        <p:grpSpPr>
          <a:xfrm>
            <a:off x="-350482" y="1602026"/>
            <a:ext cx="2712683" cy="943092"/>
            <a:chOff x="-566812" y="1922269"/>
            <a:chExt cx="2713173" cy="943091"/>
          </a:xfrm>
        </p:grpSpPr>
        <p:sp>
          <p:nvSpPr>
            <p:cNvPr id="8" name="Rounded Rectangle 2">
              <a:extLst>
                <a:ext uri="{FF2B5EF4-FFF2-40B4-BE49-F238E27FC236}">
                  <a16:creationId xmlns:a16="http://schemas.microsoft.com/office/drawing/2014/main" id="{42D9E206-B275-440A-A5CC-3B88C433A793}"/>
                </a:ext>
              </a:extLst>
            </p:cNvPr>
            <p:cNvSpPr/>
            <p:nvPr/>
          </p:nvSpPr>
          <p:spPr>
            <a:xfrm>
              <a:off x="-288924" y="2052547"/>
              <a:ext cx="2435283" cy="812813"/>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TextBox 8">
              <a:extLst>
                <a:ext uri="{FF2B5EF4-FFF2-40B4-BE49-F238E27FC236}">
                  <a16:creationId xmlns:a16="http://schemas.microsoft.com/office/drawing/2014/main" id="{19715A7D-43E2-4626-AB04-A4C5D46D4ADC}"/>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itchFamily="34" charset="0"/>
                <a:ea typeface="Tahoma" pitchFamily="34" charset="0"/>
                <a:cs typeface="Tahoma" pitchFamily="34" charset="0"/>
              </a:endParaRPr>
            </a:p>
          </p:txBody>
        </p:sp>
        <p:sp>
          <p:nvSpPr>
            <p:cNvPr id="10" name="TextBox 9">
              <a:extLst>
                <a:ext uri="{FF2B5EF4-FFF2-40B4-BE49-F238E27FC236}">
                  <a16:creationId xmlns:a16="http://schemas.microsoft.com/office/drawing/2014/main" id="{0C26A0C8-8D95-47DD-B53D-5B1240979929}"/>
                </a:ext>
              </a:extLst>
            </p:cNvPr>
            <p:cNvSpPr txBox="1"/>
            <p:nvPr/>
          </p:nvSpPr>
          <p:spPr>
            <a:xfrm>
              <a:off x="-566812" y="1962023"/>
              <a:ext cx="271317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a:t>
              </a:r>
              <a:r>
                <a:rPr lang="en-US" sz="4000" b="1" dirty="0">
                  <a:solidFill>
                    <a:srgbClr val="FFFF00"/>
                  </a:solidFill>
                  <a:latin typeface="Tahoma" pitchFamily="34" charset="0"/>
                  <a:ea typeface="Tahoma" pitchFamily="34" charset="0"/>
                  <a:cs typeface="Tahoma" pitchFamily="34" charset="0"/>
                </a:rPr>
                <a:t>BÀI TẬP</a:t>
              </a:r>
            </a:p>
          </p:txBody>
        </p:sp>
      </p:grpSp>
      <p:sp>
        <p:nvSpPr>
          <p:cNvPr id="12" name="Freeform 20">
            <a:extLst>
              <a:ext uri="{FF2B5EF4-FFF2-40B4-BE49-F238E27FC236}">
                <a16:creationId xmlns:a16="http://schemas.microsoft.com/office/drawing/2014/main" id="{EE63F1AC-86ED-40F7-B2B6-B7D3ADDAF24E}"/>
              </a:ext>
            </a:extLst>
          </p:cNvPr>
          <p:cNvSpPr>
            <a:spLocks/>
          </p:cNvSpPr>
          <p:nvPr/>
        </p:nvSpPr>
        <p:spPr bwMode="auto">
          <a:xfrm rot="16200000" flipV="1">
            <a:off x="2231316" y="4467139"/>
            <a:ext cx="847461" cy="2712681"/>
          </a:xfrm>
          <a:prstGeom prst="round1Rect">
            <a:avLst/>
          </a:prstGeom>
          <a:solidFill>
            <a:srgbClr val="DAE3F3"/>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13" name="TextBox 12">
            <a:extLst>
              <a:ext uri="{FF2B5EF4-FFF2-40B4-BE49-F238E27FC236}">
                <a16:creationId xmlns:a16="http://schemas.microsoft.com/office/drawing/2014/main" id="{FFFF3373-39F7-412E-977B-70DDD3FE332B}"/>
              </a:ext>
            </a:extLst>
          </p:cNvPr>
          <p:cNvSpPr txBox="1"/>
          <p:nvPr/>
        </p:nvSpPr>
        <p:spPr>
          <a:xfrm>
            <a:off x="1385644" y="5456758"/>
            <a:ext cx="2462457" cy="800219"/>
          </a:xfrm>
          <a:prstGeom prst="rect">
            <a:avLst/>
          </a:prstGeom>
          <a:solidFill>
            <a:srgbClr val="DAE3F3"/>
          </a:solid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14" name="Picture 13">
            <a:extLst>
              <a:ext uri="{FF2B5EF4-FFF2-40B4-BE49-F238E27FC236}">
                <a16:creationId xmlns:a16="http://schemas.microsoft.com/office/drawing/2014/main" id="{00E8A9D4-A133-4FE5-BC91-F638DD0B5FA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950" t="14860" r="18922" b="25555"/>
          <a:stretch/>
        </p:blipFill>
        <p:spPr>
          <a:xfrm>
            <a:off x="323738" y="5388937"/>
            <a:ext cx="897592" cy="946675"/>
          </a:xfrm>
          <a:prstGeom prst="round2DiagRect">
            <a:avLst>
              <a:gd name="adj1" fmla="val 27632"/>
              <a:gd name="adj2" fmla="val 0"/>
            </a:avLst>
          </a:prstGeom>
          <a:solidFill>
            <a:srgbClr val="DAE3F3"/>
          </a:solidFill>
          <a:ln w="38100" cap="sq">
            <a:solidFill>
              <a:schemeClr val="accent6">
                <a:lumMod val="50000"/>
              </a:schemeClr>
            </a:solidFill>
            <a:miter lim="800000"/>
          </a:ln>
          <a:effectLst>
            <a:outerShdw blurRad="254000" algn="tl" rotWithShape="0">
              <a:srgbClr val="000000">
                <a:alpha val="43000"/>
              </a:srgbClr>
            </a:outerShdw>
          </a:effectLst>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276253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down)">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wipe(down)">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wipe(down)">
                                      <p:cBhvr>
                                        <p:cTn id="32" dur="5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Effect transition="in" filter="wipe(down)">
                                      <p:cBhvr>
                                        <p:cTn id="37" dur="500"/>
                                        <p:tgtEl>
                                          <p:spTgt spid="5">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xEl>
                                              <p:pRg st="4" end="4"/>
                                            </p:txEl>
                                          </p:spTgt>
                                        </p:tgtEl>
                                        <p:attrNameLst>
                                          <p:attrName>style.visibility</p:attrName>
                                        </p:attrNameLst>
                                      </p:cBhvr>
                                      <p:to>
                                        <p:strVal val="visible"/>
                                      </p:to>
                                    </p:set>
                                    <p:animEffect transition="in" filter="wipe(down)">
                                      <p:cBhvr>
                                        <p:cTn id="42" dur="500"/>
                                        <p:tgtEl>
                                          <p:spTgt spid="5">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animEffect transition="in" filter="wipe(down)">
                                      <p:cBhvr>
                                        <p:cTn id="47" dur="500"/>
                                        <p:tgtEl>
                                          <p:spTgt spid="5">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5">
                                            <p:txEl>
                                              <p:pRg st="6" end="6"/>
                                            </p:txEl>
                                          </p:spTgt>
                                        </p:tgtEl>
                                        <p:attrNameLst>
                                          <p:attrName>style.visibility</p:attrName>
                                        </p:attrNameLst>
                                      </p:cBhvr>
                                      <p:to>
                                        <p:strVal val="visible"/>
                                      </p:to>
                                    </p:set>
                                    <p:animEffect transition="in" filter="wipe(down)">
                                      <p:cBhvr>
                                        <p:cTn id="5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12"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460062" y="1779557"/>
                <a:ext cx="23390538" cy="4004355"/>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4.18.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mặt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0" smtClean="0">
                        <a:latin typeface="Cambria Math" panose="02040503050406030204" pitchFamily="18" charset="0"/>
                      </a:rPr>
                      <m:t>                               </m:t>
                    </m:r>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𝟑</m:t>
                        </m:r>
                      </m:e>
                    </m:d>
                    <m:r>
                      <a:rPr lang="en-US" sz="4800" b="1" i="1">
                        <a:latin typeface="Cambria Math" panose="02040503050406030204" pitchFamily="18" charset="0"/>
                      </a:rPr>
                      <m:t>,</m:t>
                    </m:r>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𝟒</m:t>
                        </m:r>
                      </m:e>
                    </m:d>
                    <m:r>
                      <a:rPr lang="en-US" sz="4800" b="1" i="1">
                        <a:latin typeface="Cambria Math" panose="02040503050406030204" pitchFamily="18" charset="0"/>
                      </a:rPr>
                      <m:t>,</m:t>
                    </m:r>
                    <m:r>
                      <a:rPr lang="en-US" sz="4800" b="1" i="1">
                        <a:latin typeface="Cambria Math" panose="02040503050406030204" pitchFamily="18" charset="0"/>
                      </a:rPr>
                      <m:t>𝑪</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a) </a:t>
                </a:r>
                <a:r>
                  <a:rPr lang="en-US" sz="4800" b="1" dirty="0" err="1">
                    <a:latin typeface="Tahoma" panose="020B0604030504040204" pitchFamily="34" charset="0"/>
                    <a:ea typeface="Tahoma" panose="020B0604030504040204" pitchFamily="34" charset="0"/>
                    <a:cs typeface="Tahoma" panose="020B0604030504040204" pitchFamily="34" charset="0"/>
                  </a:rPr>
                  <a:t>Hãy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chứng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minh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rằng</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r>
                      <a:rPr lang="en-US" sz="4800" b="1" i="1">
                        <a:latin typeface="Cambria Math" panose="02040503050406030204" pitchFamily="18" charset="0"/>
                      </a:rPr>
                      <m:t>,</m:t>
                    </m:r>
                    <m:r>
                      <a:rPr lang="en-US" sz="4800" b="1" i="1">
                        <a:latin typeface="Cambria Math" panose="02040503050406030204" pitchFamily="18" charset="0"/>
                      </a:rPr>
                      <m:t>𝑩</m:t>
                    </m:r>
                    <m:r>
                      <a:rPr lang="en-US" sz="4800" b="1" i="1">
                        <a:latin typeface="Cambria Math" panose="02040503050406030204" pitchFamily="18" charset="0"/>
                      </a:rPr>
                      <m:t>,</m:t>
                    </m:r>
                    <m:r>
                      <a:rPr lang="en-US" sz="4800" b="1" i="1">
                        <a:latin typeface="Cambria Math" panose="02040503050406030204" pitchFamily="18" charset="0"/>
                      </a:rPr>
                      <m:t>𝑪</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đỉnh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tam </a:t>
                </a:r>
                <a:r>
                  <a:rPr lang="en-US" sz="4800" b="1" dirty="0" err="1">
                    <a:latin typeface="Tahoma" panose="020B0604030504040204" pitchFamily="34" charset="0"/>
                    <a:ea typeface="Tahoma" panose="020B0604030504040204" pitchFamily="34" charset="0"/>
                    <a:cs typeface="Tahoma" panose="020B0604030504040204" pitchFamily="34" charset="0"/>
                  </a:rPr>
                  <a:t>giác</a:t>
                </a:r>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b) </a:t>
                </a:r>
                <a:r>
                  <a:rPr lang="en-US" sz="4800" b="1" dirty="0" err="1">
                    <a:latin typeface="Tahoma" panose="020B0604030504040204" pitchFamily="34" charset="0"/>
                    <a:ea typeface="Tahoma" panose="020B0604030504040204" pitchFamily="34" charset="0"/>
                    <a:cs typeface="Tahoma" panose="020B0604030504040204" pitchFamily="34" charset="0"/>
                  </a:rPr>
                  <a:t>Tìm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trung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đoạn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thẳng</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m:t>
                    </m:r>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c) </a:t>
                </a:r>
                <a:r>
                  <a:rPr lang="en-US" sz="4800" b="1" dirty="0" err="1">
                    <a:latin typeface="Tahoma" panose="020B0604030504040204" pitchFamily="34" charset="0"/>
                    <a:ea typeface="Tahoma" panose="020B0604030504040204" pitchFamily="34" charset="0"/>
                    <a:cs typeface="Tahoma" panose="020B0604030504040204" pitchFamily="34" charset="0"/>
                  </a:rPr>
                  <a:t>Tìm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trọng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tâm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𝑮</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smtClean="0">
                        <a:latin typeface="Cambria Math" panose="02040503050406030204" pitchFamily="18" charset="0"/>
                        <a:ea typeface="Cambria Math" panose="02040503050406030204" pitchFamily="18" charset="0"/>
                      </a:rPr>
                      <m:t>∆</m:t>
                    </m:r>
                    <m:r>
                      <a:rPr lang="en-US" sz="4800" b="1" i="1">
                        <a:latin typeface="Cambria Math" panose="02040503050406030204" pitchFamily="18" charset="0"/>
                      </a:rPr>
                      <m:t>𝑨𝑩𝑪</m:t>
                    </m:r>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d) </a:t>
                </a:r>
                <a:r>
                  <a:rPr lang="en-US" sz="4800" b="1" dirty="0" err="1">
                    <a:latin typeface="Tahoma" panose="020B0604030504040204" pitchFamily="34" charset="0"/>
                    <a:ea typeface="Tahoma" panose="020B0604030504040204" pitchFamily="34" charset="0"/>
                    <a:cs typeface="Tahoma" panose="020B0604030504040204" pitchFamily="34" charset="0"/>
                  </a:rPr>
                  <a:t>Tìm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𝑫</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để</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𝟎</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trọng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tâm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mbria Math" panose="02040503050406030204" pitchFamily="18" charset="0"/>
                      </a:rPr>
                      <m:t>∆</m:t>
                    </m:r>
                    <m:r>
                      <a:rPr lang="en-US" sz="4800" b="1" i="1">
                        <a:latin typeface="Cambria Math" panose="02040503050406030204" pitchFamily="18" charset="0"/>
                      </a:rPr>
                      <m:t>𝑨𝑩𝑫</m:t>
                    </m:r>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460062" y="1779557"/>
                <a:ext cx="23390538" cy="4004355"/>
              </a:xfrm>
              <a:prstGeom prst="rect">
                <a:avLst/>
              </a:prstGeom>
              <a:blipFill>
                <a:blip r:embed="rId3"/>
                <a:stretch>
                  <a:fillRect l="-1146" t="-5311" b="-8649"/>
                </a:stretch>
              </a:blipFill>
              <a:ln>
                <a:solidFill>
                  <a:schemeClr val="tx2">
                    <a:lumMod val="20000"/>
                    <a:lumOff val="80000"/>
                  </a:schemeClr>
                </a:solidFill>
              </a:ln>
            </p:spPr>
            <p:txBody>
              <a:bodyPr/>
              <a:lstStyle/>
              <a:p>
                <a:r>
                  <a:rPr lang="en-US">
                    <a:noFill/>
                  </a:rPr>
                  <a:t> </a:t>
                </a:r>
              </a:p>
            </p:txBody>
          </p:sp>
        </mc:Fallback>
      </mc:AlternateContent>
      <p:sp>
        <p:nvSpPr>
          <p:cNvPr id="45" name="Rectangle 33">
            <a:extLst>
              <a:ext uri="{FF2B5EF4-FFF2-40B4-BE49-F238E27FC236}">
                <a16:creationId xmlns:a16="http://schemas.microsoft.com/office/drawing/2014/main" id="{FC933ED9-94B1-4F46-A3BF-4C2E10ACBF95}"/>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5" name="Title 1">
                <a:extLst>
                  <a:ext uri="{FF2B5EF4-FFF2-40B4-BE49-F238E27FC236}">
                    <a16:creationId xmlns:a16="http://schemas.microsoft.com/office/drawing/2014/main" id="{34DB4C0F-AB3E-43A6-85DA-18F74C5B01B8}"/>
                  </a:ext>
                </a:extLst>
              </p:cNvPr>
              <p:cNvSpPr txBox="1">
                <a:spLocks/>
              </p:cNvSpPr>
              <p:nvPr/>
            </p:nvSpPr>
            <p:spPr>
              <a:xfrm>
                <a:off x="228600" y="6392623"/>
                <a:ext cx="12865887" cy="7155222"/>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dirty="0">
                    <a:latin typeface="Tahoma" panose="020B0604030504040204" pitchFamily="34" charset="0"/>
                    <a:ea typeface="Tahoma" panose="020B0604030504040204" pitchFamily="34" charset="0"/>
                    <a:cs typeface="Tahoma" panose="020B0604030504040204" pitchFamily="34" charset="0"/>
                  </a:rPr>
                  <a:t>a) Ta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ea typeface="Calibri" panose="020F0502020204030204" pitchFamily="34" charset="0"/>
                            <a:cs typeface="Tahoma" panose="020B0604030504040204" pitchFamily="34" charset="0"/>
                          </a:rPr>
                        </m:ctrlPr>
                      </m:accPr>
                      <m:e>
                        <m:r>
                          <a:rPr lang="en-US" sz="4800" b="1" i="1">
                            <a:latin typeface="Cambria Math" panose="02040503050406030204" pitchFamily="18" charset="0"/>
                            <a:ea typeface="Calibri" panose="020F0502020204030204" pitchFamily="34" charset="0"/>
                            <a:cs typeface="Tahoma" panose="020B0604030504040204" pitchFamily="34" charset="0"/>
                          </a:rPr>
                          <m:t>𝑨𝑩</m:t>
                        </m:r>
                      </m:e>
                    </m:acc>
                    <m:r>
                      <a:rPr lang="en-US" sz="4800" b="1" i="1">
                        <a:latin typeface="Cambria Math" panose="02040503050406030204" pitchFamily="18" charset="0"/>
                        <a:ea typeface="Calibri" panose="020F0502020204030204" pitchFamily="34" charset="0"/>
                        <a:cs typeface="Tahoma" panose="020B0604030504040204" pitchFamily="34" charset="0"/>
                      </a:rPr>
                      <m:t>=</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𝟏</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𝟏</m:t>
                        </m:r>
                      </m:e>
                    </m:d>
                    <m:r>
                      <a:rPr lang="en-US" sz="4800" b="1" i="1">
                        <a:latin typeface="Cambria Math" panose="02040503050406030204" pitchFamily="18" charset="0"/>
                        <a:ea typeface="Calibri" panose="020F0502020204030204" pitchFamily="34" charset="0"/>
                        <a:cs typeface="Tahoma" panose="020B0604030504040204" pitchFamily="34" charset="0"/>
                      </a:rPr>
                      <m:t>;</m:t>
                    </m:r>
                    <m:acc>
                      <m:accPr>
                        <m:chr m:val="⃗"/>
                        <m:ctrlPr>
                          <a:rPr lang="en-US" sz="4800" b="1" i="1">
                            <a:latin typeface="Cambria Math" panose="02040503050406030204" pitchFamily="18" charset="0"/>
                            <a:ea typeface="Calibri" panose="020F0502020204030204" pitchFamily="34" charset="0"/>
                            <a:cs typeface="Tahoma" panose="020B0604030504040204" pitchFamily="34" charset="0"/>
                          </a:rPr>
                        </m:ctrlPr>
                      </m:accPr>
                      <m:e>
                        <m:r>
                          <a:rPr lang="en-US" sz="4800" b="1" i="1">
                            <a:latin typeface="Cambria Math" panose="02040503050406030204" pitchFamily="18" charset="0"/>
                            <a:ea typeface="Calibri" panose="020F0502020204030204" pitchFamily="34" charset="0"/>
                            <a:cs typeface="Tahoma" panose="020B0604030504040204" pitchFamily="34" charset="0"/>
                          </a:rPr>
                          <m:t>𝑨𝑪</m:t>
                        </m:r>
                      </m:e>
                    </m:acc>
                    <m:r>
                      <a:rPr lang="en-US" sz="4800" b="1" i="1">
                        <a:latin typeface="Cambria Math" panose="02040503050406030204" pitchFamily="18" charset="0"/>
                        <a:ea typeface="Calibri" panose="020F0502020204030204" pitchFamily="34" charset="0"/>
                        <a:cs typeface="Tahoma" panose="020B0604030504040204" pitchFamily="34" charset="0"/>
                      </a:rPr>
                      <m:t>=</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𝟒</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𝟏</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a:p>
                <a:pPr>
                  <a:lnSpc>
                    <a:spcPct val="107000"/>
                  </a:lnSpc>
                  <a:spcAft>
                    <a:spcPts val="800"/>
                  </a:spcAft>
                </a:pPr>
                <a:r>
                  <a:rPr lang="en-US" sz="4800" b="1" dirty="0" err="1">
                    <a:latin typeface="Tahoma" panose="020B0604030504040204" pitchFamily="34" charset="0"/>
                    <a:ea typeface="Tahoma" panose="020B0604030504040204" pitchFamily="34" charset="0"/>
                    <a:cs typeface="Tahoma" panose="020B0604030504040204" pitchFamily="34" charset="0"/>
                  </a:rPr>
                  <a:t>Vì</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𝟏</m:t>
                        </m:r>
                      </m:num>
                      <m:den>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𝟒</m:t>
                        </m:r>
                      </m:den>
                    </m:f>
                    <m:r>
                      <a:rPr lang="en-US" sz="4800" b="1" i="1">
                        <a:latin typeface="Cambria Math" panose="02040503050406030204" pitchFamily="18" charset="0"/>
                        <a:ea typeface="Calibri" panose="020F0502020204030204" pitchFamily="34" charset="0"/>
                        <a:cs typeface="Tahoma" panose="020B0604030504040204" pitchFamily="34" charset="0"/>
                      </a:rPr>
                      <m:t>≠</m:t>
                    </m:r>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𝟏</m:t>
                        </m:r>
                      </m:num>
                      <m:den>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𝟏</m:t>
                        </m:r>
                      </m:den>
                    </m:f>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nên</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ea typeface="Calibri" panose="020F0502020204030204" pitchFamily="34" charset="0"/>
                            <a:cs typeface="Tahoma" panose="020B0604030504040204" pitchFamily="34" charset="0"/>
                          </a:rPr>
                        </m:ctrlPr>
                      </m:accPr>
                      <m:e>
                        <m:r>
                          <a:rPr lang="en-US" sz="4800" b="1" i="1">
                            <a:latin typeface="Cambria Math" panose="02040503050406030204" pitchFamily="18" charset="0"/>
                            <a:ea typeface="Calibri" panose="020F0502020204030204" pitchFamily="34" charset="0"/>
                            <a:cs typeface="Tahoma" panose="020B0604030504040204" pitchFamily="34" charset="0"/>
                          </a:rPr>
                          <m:t>𝑨𝑩</m:t>
                        </m:r>
                      </m:e>
                    </m:acc>
                    <m:r>
                      <a:rPr lang="en-US" sz="4800" b="1" i="1">
                        <a:latin typeface="Cambria Math" panose="02040503050406030204" pitchFamily="18" charset="0"/>
                        <a:ea typeface="Calibri" panose="020F0502020204030204" pitchFamily="34" charset="0"/>
                        <a:cs typeface="Tahoma" panose="020B0604030504040204" pitchFamily="34" charset="0"/>
                      </a:rPr>
                      <m:t>;</m:t>
                    </m:r>
                    <m:acc>
                      <m:accPr>
                        <m:chr m:val="⃗"/>
                        <m:ctrlPr>
                          <a:rPr lang="en-US" sz="4800" b="1" i="1">
                            <a:latin typeface="Cambria Math" panose="02040503050406030204" pitchFamily="18" charset="0"/>
                            <a:ea typeface="Calibri" panose="020F0502020204030204" pitchFamily="34" charset="0"/>
                            <a:cs typeface="Tahoma" panose="020B0604030504040204" pitchFamily="34" charset="0"/>
                          </a:rPr>
                        </m:ctrlPr>
                      </m:accPr>
                      <m:e>
                        <m:r>
                          <a:rPr lang="en-US" sz="4800" b="1" i="1">
                            <a:latin typeface="Cambria Math" panose="02040503050406030204" pitchFamily="18" charset="0"/>
                            <a:ea typeface="Calibri" panose="020F0502020204030204" pitchFamily="34" charset="0"/>
                            <a:cs typeface="Tahoma" panose="020B0604030504040204" pitchFamily="34" charset="0"/>
                          </a:rPr>
                          <m:t>𝑨𝑪</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cùng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phương</a:t>
                </a:r>
                <a:r>
                  <a:rPr lang="en-US" sz="4800" b="1" dirty="0">
                    <a:latin typeface="Tahoma" panose="020B0604030504040204" pitchFamily="34" charset="0"/>
                    <a:ea typeface="Tahoma" panose="020B0604030504040204" pitchFamily="34" charset="0"/>
                    <a:cs typeface="Tahoma" panose="020B0604030504040204" pitchFamily="34" charset="0"/>
                  </a:rPr>
                  <a:t>.</a:t>
                </a:r>
              </a:p>
              <a:p>
                <a:pPr>
                  <a:lnSpc>
                    <a:spcPct val="107000"/>
                  </a:lnSpc>
                  <a:spcAft>
                    <a:spcPts val="800"/>
                  </a:spcAft>
                </a:pPr>
                <a:r>
                  <a:rPr lang="en-US" sz="4800" b="1" dirty="0" err="1">
                    <a:latin typeface="Tahoma" panose="020B0604030504040204" pitchFamily="34" charset="0"/>
                    <a:ea typeface="Tahoma" panose="020B0604030504040204" pitchFamily="34" charset="0"/>
                    <a:cs typeface="Tahoma" panose="020B0604030504040204" pitchFamily="34" charset="0"/>
                  </a:rPr>
                  <a:t>Suy</a:t>
                </a:r>
                <a:r>
                  <a:rPr lang="en-US" sz="4800" b="1" dirty="0">
                    <a:latin typeface="Tahoma" panose="020B0604030504040204" pitchFamily="34" charset="0"/>
                    <a:ea typeface="Tahoma" panose="020B0604030504040204" pitchFamily="34" charset="0"/>
                    <a:cs typeface="Tahoma" panose="020B0604030504040204" pitchFamily="34" charset="0"/>
                  </a:rPr>
                  <a:t> ra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𝑨</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𝑩</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𝑪</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đỉnh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tam </a:t>
                </a:r>
                <a:r>
                  <a:rPr lang="en-US" sz="4800" b="1" dirty="0" err="1">
                    <a:latin typeface="Tahoma" panose="020B0604030504040204" pitchFamily="34" charset="0"/>
                    <a:ea typeface="Tahoma" panose="020B0604030504040204" pitchFamily="34" charset="0"/>
                    <a:cs typeface="Tahoma" panose="020B0604030504040204" pitchFamily="34" charset="0"/>
                  </a:rPr>
                  <a:t>giác</a:t>
                </a:r>
                <a:r>
                  <a:rPr lang="en-US" sz="4800" b="1" dirty="0">
                    <a:latin typeface="Tahoma" panose="020B0604030504040204" pitchFamily="34" charset="0"/>
                    <a:ea typeface="Tahoma" panose="020B0604030504040204" pitchFamily="34" charset="0"/>
                    <a:cs typeface="Tahoma" panose="020B0604030504040204" pitchFamily="34" charset="0"/>
                  </a:rPr>
                  <a:t>.</a:t>
                </a:r>
              </a:p>
              <a:p>
                <a:pPr>
                  <a:lnSpc>
                    <a:spcPct val="107000"/>
                  </a:lnSpc>
                  <a:spcAft>
                    <a:spcPts val="800"/>
                  </a:spcAft>
                </a:pPr>
                <a:r>
                  <a:rPr lang="en-US" sz="4800" b="1" dirty="0">
                    <a:latin typeface="Tahoma" panose="020B0604030504040204" pitchFamily="34" charset="0"/>
                    <a:ea typeface="Tahoma" panose="020B0604030504040204" pitchFamily="34" charset="0"/>
                    <a:cs typeface="Tahoma" panose="020B0604030504040204" pitchFamily="34" charset="0"/>
                  </a:rPr>
                  <a:t>b) </a:t>
                </a:r>
                <a14:m>
                  <m:oMath xmlns:m="http://schemas.openxmlformats.org/officeDocument/2006/math">
                    <m:d>
                      <m:dPr>
                        <m:begChr m:val="{"/>
                        <m:endChr m:val=""/>
                        <m:ctrlPr>
                          <a:rPr lang="en-US" sz="4800" b="1" i="1">
                            <a:latin typeface="Cambria Math" panose="02040503050406030204" pitchFamily="18" charset="0"/>
                            <a:ea typeface="Calibri" panose="020F0502020204030204" pitchFamily="34" charset="0"/>
                            <a:cs typeface="Tahoma" panose="020B0604030504040204" pitchFamily="34" charset="0"/>
                          </a:rPr>
                        </m:ctrlPr>
                      </m:dPr>
                      <m:e>
                        <m:eqArr>
                          <m:eqArrPr>
                            <m:ctrlPr>
                              <a:rPr lang="en-US" sz="4800" b="1" i="1">
                                <a:latin typeface="Cambria Math" panose="02040503050406030204" pitchFamily="18" charset="0"/>
                                <a:ea typeface="Calibri" panose="020F0502020204030204" pitchFamily="34" charset="0"/>
                                <a:cs typeface="Tahoma" panose="020B0604030504040204" pitchFamily="34" charset="0"/>
                              </a:rPr>
                            </m:ctrlPr>
                          </m:eqArrPr>
                          <m:e>
                            <m:r>
                              <a:rPr lang="en-US" sz="4800" b="1" i="1">
                                <a:latin typeface="Cambria Math" panose="02040503050406030204" pitchFamily="18" charset="0"/>
                                <a:ea typeface="Calibri" panose="020F0502020204030204" pitchFamily="34" charset="0"/>
                                <a:cs typeface="Tahoma" panose="020B0604030504040204" pitchFamily="34" charset="0"/>
                              </a:rPr>
                              <m:t>&amp;</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𝒙</m:t>
                                </m:r>
                              </m:e>
                              <m:sub>
                                <m:r>
                                  <a:rPr lang="en-US" sz="4800" b="1" i="1">
                                    <a:latin typeface="Cambria Math" panose="02040503050406030204" pitchFamily="18" charset="0"/>
                                    <a:ea typeface="Calibri" panose="020F0502020204030204" pitchFamily="34" charset="0"/>
                                    <a:cs typeface="Tahoma" panose="020B0604030504040204" pitchFamily="34" charset="0"/>
                                  </a:rPr>
                                  <m:t>𝑴</m:t>
                                </m:r>
                              </m:sub>
                            </m:sSub>
                            <m:r>
                              <a:rPr lang="en-US" sz="4800" b="1" i="1">
                                <a:latin typeface="Cambria Math" panose="02040503050406030204" pitchFamily="18" charset="0"/>
                                <a:ea typeface="Calibri" panose="020F0502020204030204" pitchFamily="34" charset="0"/>
                                <a:cs typeface="Tahoma" panose="020B0604030504040204" pitchFamily="34" charset="0"/>
                              </a:rPr>
                              <m:t>=</m:t>
                            </m:r>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𝟏</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𝟐</m:t>
                                </m:r>
                              </m:num>
                              <m:den>
                                <m:r>
                                  <a:rPr lang="en-US" sz="4800" b="1" i="1">
                                    <a:latin typeface="Cambria Math" panose="02040503050406030204" pitchFamily="18" charset="0"/>
                                    <a:ea typeface="Calibri" panose="020F0502020204030204" pitchFamily="34" charset="0"/>
                                    <a:cs typeface="Tahoma" panose="020B0604030504040204" pitchFamily="34" charset="0"/>
                                  </a:rPr>
                                  <m:t>𝟐</m:t>
                                </m:r>
                              </m:den>
                            </m:f>
                            <m:r>
                              <a:rPr lang="en-US" sz="4800" b="1" i="1">
                                <a:latin typeface="Cambria Math" panose="02040503050406030204" pitchFamily="18" charset="0"/>
                                <a:ea typeface="Calibri" panose="020F0502020204030204" pitchFamily="34" charset="0"/>
                                <a:cs typeface="Tahoma" panose="020B0604030504040204" pitchFamily="34" charset="0"/>
                              </a:rPr>
                              <m:t>=</m:t>
                            </m:r>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𝟑</m:t>
                                </m:r>
                              </m:num>
                              <m:den>
                                <m:r>
                                  <a:rPr lang="en-US" sz="4800" b="1" i="1">
                                    <a:latin typeface="Cambria Math" panose="02040503050406030204" pitchFamily="18" charset="0"/>
                                    <a:ea typeface="Calibri" panose="020F0502020204030204" pitchFamily="34" charset="0"/>
                                    <a:cs typeface="Tahoma" panose="020B0604030504040204" pitchFamily="34" charset="0"/>
                                  </a:rPr>
                                  <m:t>𝟐</m:t>
                                </m:r>
                              </m:den>
                            </m:f>
                          </m:e>
                          <m:e>
                            <m:r>
                              <a:rPr lang="en-US" sz="4800" b="1" i="1">
                                <a:latin typeface="Cambria Math" panose="02040503050406030204" pitchFamily="18" charset="0"/>
                                <a:ea typeface="Calibri" panose="020F0502020204030204" pitchFamily="34" charset="0"/>
                                <a:cs typeface="Tahoma" panose="020B0604030504040204" pitchFamily="34" charset="0"/>
                              </a:rPr>
                              <m:t>&amp;</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𝒚</m:t>
                                </m:r>
                              </m:e>
                              <m:sub>
                                <m:r>
                                  <a:rPr lang="en-US" sz="4800" b="1" i="1">
                                    <a:latin typeface="Cambria Math" panose="02040503050406030204" pitchFamily="18" charset="0"/>
                                    <a:ea typeface="Calibri" panose="020F0502020204030204" pitchFamily="34" charset="0"/>
                                    <a:cs typeface="Tahoma" panose="020B0604030504040204" pitchFamily="34" charset="0"/>
                                  </a:rPr>
                                  <m:t>𝑴</m:t>
                                </m:r>
                              </m:sub>
                            </m:sSub>
                            <m:r>
                              <a:rPr lang="en-US" sz="4800" b="1" i="1">
                                <a:latin typeface="Cambria Math" panose="02040503050406030204" pitchFamily="18" charset="0"/>
                                <a:ea typeface="Calibri" panose="020F0502020204030204" pitchFamily="34" charset="0"/>
                                <a:cs typeface="Tahoma" panose="020B0604030504040204" pitchFamily="34" charset="0"/>
                              </a:rPr>
                              <m:t>=</m:t>
                            </m:r>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𝟑</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𝟒</m:t>
                                </m:r>
                              </m:num>
                              <m:den>
                                <m:r>
                                  <a:rPr lang="en-US" sz="4800" b="1" i="1">
                                    <a:latin typeface="Cambria Math" panose="02040503050406030204" pitchFamily="18" charset="0"/>
                                    <a:ea typeface="Calibri" panose="020F0502020204030204" pitchFamily="34" charset="0"/>
                                    <a:cs typeface="Tahoma" panose="020B0604030504040204" pitchFamily="34" charset="0"/>
                                  </a:rPr>
                                  <m:t>𝟐</m:t>
                                </m:r>
                              </m:den>
                            </m:f>
                            <m:r>
                              <a:rPr lang="en-US" sz="4800" b="1" i="1">
                                <a:latin typeface="Cambria Math" panose="02040503050406030204" pitchFamily="18" charset="0"/>
                                <a:ea typeface="Calibri" panose="020F0502020204030204" pitchFamily="34" charset="0"/>
                                <a:cs typeface="Tahoma" panose="020B0604030504040204" pitchFamily="34" charset="0"/>
                              </a:rPr>
                              <m:t>=</m:t>
                            </m:r>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𝟕</m:t>
                                </m:r>
                              </m:num>
                              <m:den>
                                <m:r>
                                  <a:rPr lang="en-US" sz="4800" b="1" i="1">
                                    <a:latin typeface="Cambria Math" panose="02040503050406030204" pitchFamily="18" charset="0"/>
                                    <a:ea typeface="Calibri" panose="020F0502020204030204" pitchFamily="34" charset="0"/>
                                    <a:cs typeface="Tahoma" panose="020B0604030504040204" pitchFamily="34" charset="0"/>
                                  </a:rPr>
                                  <m:t>𝟐</m:t>
                                </m:r>
                              </m:den>
                            </m:f>
                          </m:e>
                        </m:eqArr>
                      </m:e>
                    </m:d>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𝑴</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𝟑</m:t>
                            </m:r>
                          </m:num>
                          <m:den>
                            <m:r>
                              <a:rPr lang="en-US" sz="4800" b="1" i="1">
                                <a:latin typeface="Cambria Math" panose="02040503050406030204" pitchFamily="18" charset="0"/>
                                <a:ea typeface="Calibri" panose="020F0502020204030204" pitchFamily="34" charset="0"/>
                                <a:cs typeface="Tahoma" panose="020B0604030504040204" pitchFamily="34" charset="0"/>
                              </a:rPr>
                              <m:t>𝟐</m:t>
                            </m:r>
                          </m:den>
                        </m:f>
                        <m:r>
                          <a:rPr lang="en-US" sz="4800" b="1" i="1">
                            <a:latin typeface="Cambria Math" panose="02040503050406030204" pitchFamily="18" charset="0"/>
                            <a:ea typeface="Calibri" panose="020F0502020204030204" pitchFamily="34" charset="0"/>
                            <a:cs typeface="Tahoma" panose="020B0604030504040204" pitchFamily="34" charset="0"/>
                          </a:rPr>
                          <m:t>;</m:t>
                        </m:r>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𝟕</m:t>
                            </m:r>
                          </m:num>
                          <m:den>
                            <m:r>
                              <a:rPr lang="en-US" sz="4800" b="1" i="1">
                                <a:latin typeface="Cambria Math" panose="02040503050406030204" pitchFamily="18" charset="0"/>
                                <a:ea typeface="Calibri" panose="020F0502020204030204" pitchFamily="34" charset="0"/>
                                <a:cs typeface="Tahoma" panose="020B0604030504040204" pitchFamily="34" charset="0"/>
                              </a:rPr>
                              <m:t>𝟐</m:t>
                            </m:r>
                          </m:den>
                        </m:f>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5" name="Title 1">
                <a:extLst>
                  <a:ext uri="{FF2B5EF4-FFF2-40B4-BE49-F238E27FC236}">
                    <a16:creationId xmlns:a16="http://schemas.microsoft.com/office/drawing/2014/main" id="{34DB4C0F-AB3E-43A6-85DA-18F74C5B01B8}"/>
                  </a:ext>
                </a:extLst>
              </p:cNvPr>
              <p:cNvSpPr txBox="1">
                <a:spLocks noRot="1" noChangeAspect="1" noMove="1" noResize="1" noEditPoints="1" noAdjustHandles="1" noChangeArrowheads="1" noChangeShapeType="1" noTextEdit="1"/>
              </p:cNvSpPr>
              <p:nvPr/>
            </p:nvSpPr>
            <p:spPr>
              <a:xfrm>
                <a:off x="228600" y="6392623"/>
                <a:ext cx="12865887" cy="7155222"/>
              </a:xfrm>
              <a:prstGeom prst="rect">
                <a:avLst/>
              </a:prstGeom>
              <a:blipFill>
                <a:blip r:embed="rId4"/>
                <a:stretch>
                  <a:fillRect l="-2131" t="-1021" r="-1752"/>
                </a:stretch>
              </a:blipFill>
              <a:ln>
                <a:solidFill>
                  <a:schemeClr val="tx2">
                    <a:lumMod val="20000"/>
                    <a:lumOff val="80000"/>
                  </a:schemeClr>
                </a:solidFill>
              </a:ln>
            </p:spPr>
            <p:txBody>
              <a:bodyPr/>
              <a:lstStyle/>
              <a:p>
                <a:r>
                  <a:rPr lang="en-US">
                    <a:noFill/>
                  </a:rPr>
                  <a:t> </a:t>
                </a:r>
              </a:p>
            </p:txBody>
          </p:sp>
        </mc:Fallback>
      </mc:AlternateContent>
      <p:grpSp>
        <p:nvGrpSpPr>
          <p:cNvPr id="7" name="Group 6">
            <a:extLst>
              <a:ext uri="{FF2B5EF4-FFF2-40B4-BE49-F238E27FC236}">
                <a16:creationId xmlns:a16="http://schemas.microsoft.com/office/drawing/2014/main" id="{E5B1057C-ACAA-4040-B4BE-81C7B33C52BD}"/>
              </a:ext>
            </a:extLst>
          </p:cNvPr>
          <p:cNvGrpSpPr/>
          <p:nvPr/>
        </p:nvGrpSpPr>
        <p:grpSpPr>
          <a:xfrm>
            <a:off x="-72644" y="1602026"/>
            <a:ext cx="3118290" cy="978566"/>
            <a:chOff x="-288924" y="1922269"/>
            <a:chExt cx="3118854" cy="978565"/>
          </a:xfrm>
        </p:grpSpPr>
        <p:sp>
          <p:nvSpPr>
            <p:cNvPr id="8" name="Rounded Rectangle 2">
              <a:extLst>
                <a:ext uri="{FF2B5EF4-FFF2-40B4-BE49-F238E27FC236}">
                  <a16:creationId xmlns:a16="http://schemas.microsoft.com/office/drawing/2014/main" id="{42D9E206-B275-440A-A5CC-3B88C433A793}"/>
                </a:ext>
              </a:extLst>
            </p:cNvPr>
            <p:cNvSpPr/>
            <p:nvPr/>
          </p:nvSpPr>
          <p:spPr>
            <a:xfrm>
              <a:off x="-288924" y="2052547"/>
              <a:ext cx="3107350" cy="812813"/>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TextBox 8">
              <a:extLst>
                <a:ext uri="{FF2B5EF4-FFF2-40B4-BE49-F238E27FC236}">
                  <a16:creationId xmlns:a16="http://schemas.microsoft.com/office/drawing/2014/main" id="{19715A7D-43E2-4626-AB04-A4C5D46D4ADC}"/>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itchFamily="34" charset="0"/>
                <a:ea typeface="Tahoma" pitchFamily="34" charset="0"/>
                <a:cs typeface="Tahoma" pitchFamily="34" charset="0"/>
              </a:endParaRPr>
            </a:p>
          </p:txBody>
        </p:sp>
        <p:sp>
          <p:nvSpPr>
            <p:cNvPr id="10" name="TextBox 9">
              <a:extLst>
                <a:ext uri="{FF2B5EF4-FFF2-40B4-BE49-F238E27FC236}">
                  <a16:creationId xmlns:a16="http://schemas.microsoft.com/office/drawing/2014/main" id="{0C26A0C8-8D95-47DD-B53D-5B1240979929}"/>
                </a:ext>
              </a:extLst>
            </p:cNvPr>
            <p:cNvSpPr txBox="1"/>
            <p:nvPr/>
          </p:nvSpPr>
          <p:spPr>
            <a:xfrm>
              <a:off x="-277420" y="2069838"/>
              <a:ext cx="3107350"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a:t>
              </a:r>
              <a:r>
                <a:rPr lang="en-US" sz="4800" b="1" dirty="0">
                  <a:solidFill>
                    <a:srgbClr val="FFFF00"/>
                  </a:solidFill>
                  <a:latin typeface="Tahoma" pitchFamily="34" charset="0"/>
                  <a:ea typeface="Tahoma" pitchFamily="34" charset="0"/>
                  <a:cs typeface="Tahoma" pitchFamily="34" charset="0"/>
                </a:rPr>
                <a:t>BÀI TẬP</a:t>
              </a:r>
            </a:p>
          </p:txBody>
        </p:sp>
      </p:grpSp>
      <p:sp>
        <p:nvSpPr>
          <p:cNvPr id="12" name="Freeform 20">
            <a:extLst>
              <a:ext uri="{FF2B5EF4-FFF2-40B4-BE49-F238E27FC236}">
                <a16:creationId xmlns:a16="http://schemas.microsoft.com/office/drawing/2014/main" id="{EE63F1AC-86ED-40F7-B2B6-B7D3ADDAF24E}"/>
              </a:ext>
            </a:extLst>
          </p:cNvPr>
          <p:cNvSpPr>
            <a:spLocks/>
          </p:cNvSpPr>
          <p:nvPr/>
        </p:nvSpPr>
        <p:spPr bwMode="auto">
          <a:xfrm rot="16200000" flipV="1">
            <a:off x="1999542" y="4806078"/>
            <a:ext cx="686064" cy="2712681"/>
          </a:xfrm>
          <a:prstGeom prst="round1Rect">
            <a:avLst/>
          </a:prstGeom>
          <a:solidFill>
            <a:srgbClr val="DAE3F3"/>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13" name="TextBox 12">
            <a:extLst>
              <a:ext uri="{FF2B5EF4-FFF2-40B4-BE49-F238E27FC236}">
                <a16:creationId xmlns:a16="http://schemas.microsoft.com/office/drawing/2014/main" id="{FFFF3373-39F7-412E-977B-70DDD3FE332B}"/>
              </a:ext>
            </a:extLst>
          </p:cNvPr>
          <p:cNvSpPr txBox="1"/>
          <p:nvPr/>
        </p:nvSpPr>
        <p:spPr>
          <a:xfrm>
            <a:off x="1088460" y="5736010"/>
            <a:ext cx="2508228" cy="769441"/>
          </a:xfrm>
          <a:prstGeom prst="rect">
            <a:avLst/>
          </a:prstGeom>
          <a:solidFill>
            <a:srgbClr val="DAE3F3"/>
          </a:solidFill>
        </p:spPr>
        <p:txBody>
          <a:bodyPr wrap="square" rtlCol="0">
            <a:spAutoFit/>
          </a:bodyPr>
          <a:lstStyle/>
          <a:p>
            <a:pPr algn="ctr"/>
            <a:r>
              <a:rPr lang="vi-VN" sz="4400" b="1" dirty="0">
                <a:solidFill>
                  <a:prstClr val="black"/>
                </a:solidFill>
                <a:latin typeface="Tahoma" pitchFamily="34" charset="0"/>
                <a:ea typeface="Tahoma" pitchFamily="34" charset="0"/>
                <a:cs typeface="Tahoma" pitchFamily="34" charset="0"/>
              </a:rPr>
              <a:t>Bài giải</a:t>
            </a:r>
            <a:endParaRPr lang="en-US" sz="4400" b="1" dirty="0">
              <a:solidFill>
                <a:prstClr val="black"/>
              </a:solidFill>
              <a:latin typeface="Tahoma" pitchFamily="34" charset="0"/>
              <a:ea typeface="Tahoma" pitchFamily="34" charset="0"/>
              <a:cs typeface="Tahoma" pitchFamily="34" charset="0"/>
            </a:endParaRPr>
          </a:p>
        </p:txBody>
      </p:sp>
      <p:pic>
        <p:nvPicPr>
          <p:cNvPr id="14" name="Picture 13">
            <a:extLst>
              <a:ext uri="{FF2B5EF4-FFF2-40B4-BE49-F238E27FC236}">
                <a16:creationId xmlns:a16="http://schemas.microsoft.com/office/drawing/2014/main" id="{00E8A9D4-A133-4FE5-BC91-F638DD0B5FA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950" t="14860" r="18922" b="25555"/>
          <a:stretch/>
        </p:blipFill>
        <p:spPr>
          <a:xfrm>
            <a:off x="11266" y="5827471"/>
            <a:ext cx="897592" cy="766383"/>
          </a:xfrm>
          <a:prstGeom prst="round2DiagRect">
            <a:avLst>
              <a:gd name="adj1" fmla="val 27632"/>
              <a:gd name="adj2" fmla="val 0"/>
            </a:avLst>
          </a:prstGeom>
          <a:solidFill>
            <a:srgbClr val="DAE3F3"/>
          </a:solidFill>
          <a:ln w="38100" cap="sq">
            <a:solidFill>
              <a:schemeClr val="accent6">
                <a:lumMod val="50000"/>
              </a:schemeClr>
            </a:solidFill>
            <a:miter lim="800000"/>
          </a:ln>
          <a:effectLst>
            <a:outerShdw blurRad="254000" algn="tl" rotWithShape="0">
              <a:srgbClr val="000000">
                <a:alpha val="43000"/>
              </a:srgbClr>
            </a:outerShdw>
          </a:effectLst>
        </p:spPr>
      </p:pic>
      <mc:AlternateContent xmlns:mc="http://schemas.openxmlformats.org/markup-compatibility/2006" xmlns:a14="http://schemas.microsoft.com/office/drawing/2010/main">
        <mc:Choice Requires="a14">
          <p:sp>
            <p:nvSpPr>
              <p:cNvPr id="16" name="Title 1">
                <a:extLst>
                  <a:ext uri="{FF2B5EF4-FFF2-40B4-BE49-F238E27FC236}">
                    <a16:creationId xmlns:a16="http://schemas.microsoft.com/office/drawing/2014/main" id="{26E59A69-9AF9-4A55-9DEC-193CF3743110}"/>
                  </a:ext>
                </a:extLst>
              </p:cNvPr>
              <p:cNvSpPr txBox="1">
                <a:spLocks/>
              </p:cNvSpPr>
              <p:nvPr/>
            </p:nvSpPr>
            <p:spPr>
              <a:xfrm>
                <a:off x="13030200" y="6392623"/>
                <a:ext cx="11212136" cy="7155222"/>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dirty="0">
                    <a:latin typeface="Tahoma" panose="020B0604030504040204" pitchFamily="34" charset="0"/>
                    <a:ea typeface="Tahoma" panose="020B0604030504040204" pitchFamily="34" charset="0"/>
                    <a:cs typeface="Tahoma" panose="020B0604030504040204" pitchFamily="34" charset="0"/>
                  </a:rPr>
                  <a:t>c) </a:t>
                </a:r>
                <a14:m>
                  <m:oMath xmlns:m="http://schemas.openxmlformats.org/officeDocument/2006/math">
                    <m:d>
                      <m:dPr>
                        <m:begChr m:val="{"/>
                        <m:endChr m:val=""/>
                        <m:ctrlPr>
                          <a:rPr lang="en-US" sz="4800" b="1" i="1">
                            <a:latin typeface="Cambria Math" panose="02040503050406030204" pitchFamily="18" charset="0"/>
                            <a:ea typeface="Calibri" panose="020F0502020204030204" pitchFamily="34" charset="0"/>
                            <a:cs typeface="Tahoma" panose="020B0604030504040204" pitchFamily="34" charset="0"/>
                          </a:rPr>
                        </m:ctrlPr>
                      </m:dPr>
                      <m:e>
                        <m:eqArr>
                          <m:eqArrPr>
                            <m:ctrlPr>
                              <a:rPr lang="en-US" sz="4800" b="1" i="1">
                                <a:latin typeface="Cambria Math" panose="02040503050406030204" pitchFamily="18" charset="0"/>
                                <a:ea typeface="Calibri" panose="020F0502020204030204" pitchFamily="34" charset="0"/>
                                <a:cs typeface="Tahoma" panose="020B0604030504040204" pitchFamily="34" charset="0"/>
                              </a:rPr>
                            </m:ctrlPr>
                          </m:eqArrPr>
                          <m:e>
                            <m:r>
                              <a:rPr lang="en-US" sz="4800" b="1" i="1">
                                <a:latin typeface="Cambria Math" panose="02040503050406030204" pitchFamily="18" charset="0"/>
                                <a:ea typeface="Calibri" panose="020F0502020204030204" pitchFamily="34" charset="0"/>
                                <a:cs typeface="Tahoma" panose="020B0604030504040204" pitchFamily="34" charset="0"/>
                              </a:rPr>
                              <m:t>&amp;</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𝒙</m:t>
                                </m:r>
                              </m:e>
                              <m:sub>
                                <m:r>
                                  <a:rPr lang="en-US" sz="4800" b="1" i="1">
                                    <a:latin typeface="Cambria Math" panose="02040503050406030204" pitchFamily="18" charset="0"/>
                                    <a:ea typeface="Calibri" panose="020F0502020204030204" pitchFamily="34" charset="0"/>
                                    <a:cs typeface="Tahoma" panose="020B0604030504040204" pitchFamily="34" charset="0"/>
                                  </a:rPr>
                                  <m:t>𝑮</m:t>
                                </m:r>
                              </m:sub>
                            </m:sSub>
                            <m:r>
                              <a:rPr lang="en-US" sz="4800" b="1" i="1">
                                <a:latin typeface="Cambria Math" panose="02040503050406030204" pitchFamily="18" charset="0"/>
                                <a:ea typeface="Calibri" panose="020F0502020204030204" pitchFamily="34" charset="0"/>
                                <a:cs typeface="Tahoma" panose="020B0604030504040204" pitchFamily="34" charset="0"/>
                              </a:rPr>
                              <m:t>=</m:t>
                            </m:r>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𝟏</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𝟐</m:t>
                                </m:r>
                                <m:r>
                                  <a:rPr lang="en-US" sz="4800" b="1" i="1">
                                    <a:latin typeface="Cambria Math" panose="02040503050406030204" pitchFamily="18" charset="0"/>
                                    <a:ea typeface="Calibri" panose="020F0502020204030204" pitchFamily="34" charset="0"/>
                                    <a:cs typeface="Tahoma" panose="020B0604030504040204" pitchFamily="34" charset="0"/>
                                  </a:rPr>
                                  <m:t>+</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𝟑</m:t>
                                    </m:r>
                                  </m:e>
                                </m:d>
                              </m:num>
                              <m:den>
                                <m:r>
                                  <a:rPr lang="en-US" sz="4800" b="1" i="1" smtClean="0">
                                    <a:latin typeface="Cambria Math" panose="02040503050406030204" pitchFamily="18" charset="0"/>
                                    <a:ea typeface="Calibri" panose="020F0502020204030204" pitchFamily="34" charset="0"/>
                                    <a:cs typeface="Tahoma" panose="020B0604030504040204" pitchFamily="34" charset="0"/>
                                  </a:rPr>
                                  <m:t>𝟑</m:t>
                                </m:r>
                              </m:den>
                            </m:f>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𝟎</m:t>
                            </m:r>
                          </m:e>
                          <m:e>
                            <m:r>
                              <a:rPr lang="en-US" sz="4800" b="1" i="1">
                                <a:latin typeface="Cambria Math" panose="02040503050406030204" pitchFamily="18" charset="0"/>
                                <a:ea typeface="Calibri" panose="020F0502020204030204" pitchFamily="34" charset="0"/>
                                <a:cs typeface="Tahoma" panose="020B0604030504040204" pitchFamily="34" charset="0"/>
                              </a:rPr>
                              <m:t>&amp;</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𝒚</m:t>
                                </m:r>
                              </m:e>
                              <m:sub>
                                <m:r>
                                  <a:rPr lang="en-US" sz="4800" b="1" i="1">
                                    <a:latin typeface="Cambria Math" panose="02040503050406030204" pitchFamily="18" charset="0"/>
                                    <a:ea typeface="Calibri" panose="020F0502020204030204" pitchFamily="34" charset="0"/>
                                    <a:cs typeface="Tahoma" panose="020B0604030504040204" pitchFamily="34" charset="0"/>
                                  </a:rPr>
                                  <m:t>𝑮</m:t>
                                </m:r>
                              </m:sub>
                            </m:sSub>
                            <m:r>
                              <a:rPr lang="en-US" sz="4800" b="1" i="1">
                                <a:latin typeface="Cambria Math" panose="02040503050406030204" pitchFamily="18" charset="0"/>
                                <a:ea typeface="Calibri" panose="020F0502020204030204" pitchFamily="34" charset="0"/>
                                <a:cs typeface="Tahoma" panose="020B0604030504040204" pitchFamily="34" charset="0"/>
                              </a:rPr>
                              <m:t>=</m:t>
                            </m:r>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𝟑</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𝟒</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𝟐</m:t>
                                </m:r>
                              </m:num>
                              <m:den>
                                <m:r>
                                  <a:rPr lang="en-US" sz="4800" b="1" i="1" smtClean="0">
                                    <a:latin typeface="Cambria Math" panose="02040503050406030204" pitchFamily="18" charset="0"/>
                                    <a:ea typeface="Calibri" panose="020F0502020204030204" pitchFamily="34" charset="0"/>
                                    <a:cs typeface="Tahoma" panose="020B0604030504040204" pitchFamily="34" charset="0"/>
                                  </a:rPr>
                                  <m:t>𝟑</m:t>
                                </m:r>
                              </m:den>
                            </m:f>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smtClean="0">
                                <a:latin typeface="Cambria Math" panose="02040503050406030204" pitchFamily="18" charset="0"/>
                                <a:ea typeface="Calibri" panose="020F0502020204030204" pitchFamily="34" charset="0"/>
                                <a:cs typeface="Tahoma" panose="020B0604030504040204" pitchFamily="34" charset="0"/>
                              </a:rPr>
                              <m:t>𝟑</m:t>
                            </m:r>
                          </m:e>
                        </m:eqArr>
                      </m:e>
                    </m:d>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𝑮</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𝟎</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smtClean="0">
                            <a:latin typeface="Cambria Math" panose="02040503050406030204" pitchFamily="18" charset="0"/>
                            <a:ea typeface="Calibri" panose="020F0502020204030204" pitchFamily="34" charset="0"/>
                            <a:cs typeface="Tahoma" panose="020B0604030504040204" pitchFamily="34" charset="0"/>
                          </a:rPr>
                          <m:t>𝟑</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a:p>
                <a:pPr>
                  <a:lnSpc>
                    <a:spcPct val="107000"/>
                  </a:lnSpc>
                  <a:spcAft>
                    <a:spcPts val="800"/>
                  </a:spcAft>
                </a:pPr>
                <a:r>
                  <a:rPr lang="en-US" sz="4800" b="1" dirty="0">
                    <a:latin typeface="Tahoma" panose="020B0604030504040204" pitchFamily="34" charset="0"/>
                    <a:ea typeface="Tahoma" panose="020B0604030504040204" pitchFamily="34" charset="0"/>
                    <a:cs typeface="Tahoma" panose="020B0604030504040204" pitchFamily="34" charset="0"/>
                  </a:rPr>
                  <a:t>d) </a:t>
                </a:r>
                <a:r>
                  <a:rPr lang="en-US" sz="4800" b="1" dirty="0" err="1">
                    <a:latin typeface="Tahoma" panose="020B0604030504040204" pitchFamily="34" charset="0"/>
                    <a:ea typeface="Tahoma" panose="020B0604030504040204" pitchFamily="34" charset="0"/>
                    <a:cs typeface="Tahoma" panose="020B0604030504040204" pitchFamily="34" charset="0"/>
                  </a:rPr>
                  <a:t>Gọi</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𝑫</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𝒙</m:t>
                            </m:r>
                          </m:e>
                          <m:sub>
                            <m:r>
                              <a:rPr lang="en-US" sz="4800" b="1" i="1">
                                <a:latin typeface="Cambria Math" panose="02040503050406030204" pitchFamily="18" charset="0"/>
                                <a:ea typeface="Calibri" panose="020F0502020204030204" pitchFamily="34" charset="0"/>
                                <a:cs typeface="Tahoma" panose="020B0604030504040204" pitchFamily="34" charset="0"/>
                              </a:rPr>
                              <m:t>𝑫</m:t>
                            </m:r>
                          </m:sub>
                        </m:sSub>
                        <m:r>
                          <a:rPr lang="en-US" sz="4800" b="1" i="1">
                            <a:latin typeface="Cambria Math" panose="02040503050406030204" pitchFamily="18" charset="0"/>
                            <a:ea typeface="Calibri" panose="020F0502020204030204" pitchFamily="34" charset="0"/>
                            <a:cs typeface="Tahoma" panose="020B0604030504040204" pitchFamily="34" charset="0"/>
                          </a:rPr>
                          <m:t>;</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𝒚</m:t>
                            </m:r>
                          </m:e>
                          <m:sub>
                            <m:r>
                              <a:rPr lang="en-US" sz="4800" b="1" i="1">
                                <a:latin typeface="Cambria Math" panose="02040503050406030204" pitchFamily="18" charset="0"/>
                                <a:ea typeface="Calibri" panose="020F0502020204030204" pitchFamily="34" charset="0"/>
                                <a:cs typeface="Tahoma" panose="020B0604030504040204" pitchFamily="34" charset="0"/>
                              </a:rPr>
                              <m:t>𝑫</m:t>
                            </m:r>
                          </m:sub>
                        </m:sSub>
                      </m:e>
                    </m:d>
                  </m:oMath>
                </a14:m>
                <a:r>
                  <a:rPr lang="en-US" sz="4800" b="1" dirty="0">
                    <a:latin typeface="Tahoma" panose="020B0604030504040204" pitchFamily="34" charset="0"/>
                    <a:ea typeface="Tahoma" panose="020B0604030504040204" pitchFamily="34" charset="0"/>
                    <a:cs typeface="Tahoma" panose="020B0604030504040204" pitchFamily="34" charset="0"/>
                  </a:rPr>
                  <a:t>. Ta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a:t>
                </a:r>
                <a:endParaRPr lang="en-US" sz="4800" b="1" i="1" dirty="0">
                  <a:latin typeface="Cambria Math" panose="02040503050406030204" pitchFamily="18" charset="0"/>
                  <a:ea typeface="Calibri" panose="020F0502020204030204" pitchFamily="34" charset="0"/>
                  <a:cs typeface="Tahoma" panose="020B0604030504040204" pitchFamily="34" charset="0"/>
                </a:endParaRPr>
              </a:p>
              <a:p>
                <a:pPr>
                  <a:lnSpc>
                    <a:spcPct val="107000"/>
                  </a:lnSpc>
                  <a:spcAft>
                    <a:spcPts val="800"/>
                  </a:spcAft>
                </a:pPr>
                <a14:m>
                  <m:oMath xmlns:m="http://schemas.openxmlformats.org/officeDocument/2006/math">
                    <m:d>
                      <m:dPr>
                        <m:begChr m:val="{"/>
                        <m:endChr m:val=""/>
                        <m:ctrlPr>
                          <a:rPr lang="en-US" sz="4800" b="1" i="1">
                            <a:latin typeface="Cambria Math" panose="02040503050406030204" pitchFamily="18" charset="0"/>
                            <a:ea typeface="Calibri" panose="020F0502020204030204" pitchFamily="34" charset="0"/>
                            <a:cs typeface="Tahoma" panose="020B0604030504040204" pitchFamily="34" charset="0"/>
                          </a:rPr>
                        </m:ctrlPr>
                      </m:dPr>
                      <m:e>
                        <m:eqArr>
                          <m:eqArrPr>
                            <m:ctrlPr>
                              <a:rPr lang="en-US" sz="4800" b="1" i="1">
                                <a:latin typeface="Cambria Math" panose="02040503050406030204" pitchFamily="18" charset="0"/>
                                <a:ea typeface="Calibri" panose="020F0502020204030204" pitchFamily="34" charset="0"/>
                                <a:cs typeface="Tahoma" panose="020B0604030504040204" pitchFamily="34" charset="0"/>
                              </a:rPr>
                            </m:ctrlPr>
                          </m:eqArrPr>
                          <m:e>
                            <m:r>
                              <a:rPr lang="en-US" sz="4800" b="1" i="1">
                                <a:latin typeface="Cambria Math" panose="02040503050406030204" pitchFamily="18" charset="0"/>
                                <a:ea typeface="Calibri" panose="020F0502020204030204" pitchFamily="34" charset="0"/>
                                <a:cs typeface="Tahoma" panose="020B0604030504040204" pitchFamily="34" charset="0"/>
                              </a:rPr>
                              <m:t>&amp;</m:t>
                            </m:r>
                            <m:r>
                              <a:rPr lang="en-US" sz="4800" b="1" i="1">
                                <a:latin typeface="Cambria Math" panose="02040503050406030204" pitchFamily="18" charset="0"/>
                                <a:ea typeface="Calibri" panose="020F0502020204030204" pitchFamily="34" charset="0"/>
                                <a:cs typeface="Tahoma" panose="020B0604030504040204" pitchFamily="34" charset="0"/>
                              </a:rPr>
                              <m:t>𝟎</m:t>
                            </m:r>
                            <m:r>
                              <a:rPr lang="en-US" sz="4800" b="1" i="1">
                                <a:latin typeface="Cambria Math" panose="02040503050406030204" pitchFamily="18" charset="0"/>
                                <a:ea typeface="Calibri" panose="020F0502020204030204" pitchFamily="34" charset="0"/>
                                <a:cs typeface="Tahoma" panose="020B0604030504040204" pitchFamily="34" charset="0"/>
                              </a:rPr>
                              <m:t>=</m:t>
                            </m:r>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𝟏</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𝟐</m:t>
                                </m:r>
                                <m:r>
                                  <a:rPr lang="en-US" sz="4800" b="1" i="1">
                                    <a:latin typeface="Cambria Math" panose="02040503050406030204" pitchFamily="18" charset="0"/>
                                    <a:ea typeface="Calibri" panose="020F0502020204030204" pitchFamily="34" charset="0"/>
                                    <a:cs typeface="Tahoma" panose="020B0604030504040204" pitchFamily="34" charset="0"/>
                                  </a:rPr>
                                  <m:t>+</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𝒙</m:t>
                                    </m:r>
                                  </m:e>
                                  <m:sub>
                                    <m:r>
                                      <a:rPr lang="en-US" sz="4800" b="1" i="1">
                                        <a:latin typeface="Cambria Math" panose="02040503050406030204" pitchFamily="18" charset="0"/>
                                        <a:ea typeface="Calibri" panose="020F0502020204030204" pitchFamily="34" charset="0"/>
                                        <a:cs typeface="Tahoma" panose="020B0604030504040204" pitchFamily="34" charset="0"/>
                                      </a:rPr>
                                      <m:t>𝑫</m:t>
                                    </m:r>
                                  </m:sub>
                                </m:sSub>
                              </m:num>
                              <m:den>
                                <m:r>
                                  <a:rPr lang="en-US" sz="4800" b="1" i="1">
                                    <a:latin typeface="Cambria Math" panose="02040503050406030204" pitchFamily="18" charset="0"/>
                                    <a:ea typeface="Calibri" panose="020F0502020204030204" pitchFamily="34" charset="0"/>
                                    <a:cs typeface="Tahoma" panose="020B0604030504040204" pitchFamily="34" charset="0"/>
                                  </a:rPr>
                                  <m:t>𝟑</m:t>
                                </m:r>
                              </m:den>
                            </m:f>
                          </m:e>
                          <m:e>
                            <m:r>
                              <a:rPr lang="en-US" sz="4800" b="1" i="1">
                                <a:latin typeface="Cambria Math" panose="02040503050406030204" pitchFamily="18" charset="0"/>
                                <a:ea typeface="Calibri" panose="020F0502020204030204" pitchFamily="34" charset="0"/>
                                <a:cs typeface="Tahoma" panose="020B0604030504040204" pitchFamily="34" charset="0"/>
                              </a:rPr>
                              <m:t>&amp;</m:t>
                            </m:r>
                            <m:r>
                              <a:rPr lang="en-US" sz="4800" b="1" i="1">
                                <a:latin typeface="Cambria Math" panose="02040503050406030204" pitchFamily="18" charset="0"/>
                                <a:ea typeface="Calibri" panose="020F0502020204030204" pitchFamily="34" charset="0"/>
                                <a:cs typeface="Tahoma" panose="020B0604030504040204" pitchFamily="34" charset="0"/>
                              </a:rPr>
                              <m:t>𝟎</m:t>
                            </m:r>
                            <m:r>
                              <a:rPr lang="en-US" sz="4800" b="1" i="1">
                                <a:latin typeface="Cambria Math" panose="02040503050406030204" pitchFamily="18" charset="0"/>
                                <a:ea typeface="Calibri" panose="020F0502020204030204" pitchFamily="34" charset="0"/>
                                <a:cs typeface="Tahoma" panose="020B0604030504040204" pitchFamily="34" charset="0"/>
                              </a:rPr>
                              <m:t>=</m:t>
                            </m:r>
                            <m:f>
                              <m:fPr>
                                <m:ctrlPr>
                                  <a:rPr lang="en-US" sz="4800" b="1" i="1">
                                    <a:latin typeface="Cambria Math" panose="02040503050406030204" pitchFamily="18" charset="0"/>
                                    <a:ea typeface="Calibri" panose="020F0502020204030204" pitchFamily="34" charset="0"/>
                                    <a:cs typeface="Tahoma" panose="020B0604030504040204" pitchFamily="34" charset="0"/>
                                  </a:rPr>
                                </m:ctrlPr>
                              </m:fPr>
                              <m:num>
                                <m:r>
                                  <a:rPr lang="en-US" sz="4800" b="1" i="1">
                                    <a:latin typeface="Cambria Math" panose="02040503050406030204" pitchFamily="18" charset="0"/>
                                    <a:ea typeface="Calibri" panose="020F0502020204030204" pitchFamily="34" charset="0"/>
                                    <a:cs typeface="Tahoma" panose="020B0604030504040204" pitchFamily="34" charset="0"/>
                                  </a:rPr>
                                  <m:t>𝟑</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𝟒</m:t>
                                </m:r>
                                <m:r>
                                  <a:rPr lang="en-US" sz="4800" b="1" i="1">
                                    <a:latin typeface="Cambria Math" panose="02040503050406030204" pitchFamily="18" charset="0"/>
                                    <a:ea typeface="Calibri" panose="020F0502020204030204" pitchFamily="34" charset="0"/>
                                    <a:cs typeface="Tahoma" panose="020B0604030504040204" pitchFamily="34" charset="0"/>
                                  </a:rPr>
                                  <m:t>+</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𝒚</m:t>
                                    </m:r>
                                  </m:e>
                                  <m:sub>
                                    <m:r>
                                      <a:rPr lang="en-US" sz="4800" b="1" i="1">
                                        <a:latin typeface="Cambria Math" panose="02040503050406030204" pitchFamily="18" charset="0"/>
                                        <a:ea typeface="Calibri" panose="020F0502020204030204" pitchFamily="34" charset="0"/>
                                        <a:cs typeface="Tahoma" panose="020B0604030504040204" pitchFamily="34" charset="0"/>
                                      </a:rPr>
                                      <m:t>𝑫</m:t>
                                    </m:r>
                                  </m:sub>
                                </m:sSub>
                              </m:num>
                              <m:den>
                                <m:r>
                                  <a:rPr lang="en-US" sz="4800" b="1" i="1">
                                    <a:latin typeface="Cambria Math" panose="02040503050406030204" pitchFamily="18" charset="0"/>
                                    <a:ea typeface="Calibri" panose="020F0502020204030204" pitchFamily="34" charset="0"/>
                                    <a:cs typeface="Tahoma" panose="020B0604030504040204" pitchFamily="34" charset="0"/>
                                  </a:rPr>
                                  <m:t>𝟑</m:t>
                                </m:r>
                              </m:den>
                            </m:f>
                          </m:e>
                        </m:eqArr>
                      </m:e>
                    </m:d>
                    <m:r>
                      <a:rPr lang="en-US" sz="4800" b="1" i="1">
                        <a:latin typeface="Cambria Math" panose="02040503050406030204" pitchFamily="18" charset="0"/>
                        <a:ea typeface="Calibri" panose="020F0502020204030204" pitchFamily="34" charset="0"/>
                        <a:cs typeface="Tahoma" panose="020B0604030504040204" pitchFamily="34" charset="0"/>
                      </a:rPr>
                      <m:t>⇔</m:t>
                    </m:r>
                    <m:d>
                      <m:dPr>
                        <m:begChr m:val="{"/>
                        <m:endChr m:val=""/>
                        <m:ctrlPr>
                          <a:rPr lang="en-US" sz="4800" b="1" i="1">
                            <a:latin typeface="Cambria Math" panose="02040503050406030204" pitchFamily="18" charset="0"/>
                            <a:ea typeface="Calibri" panose="020F0502020204030204" pitchFamily="34" charset="0"/>
                            <a:cs typeface="Tahoma" panose="020B0604030504040204" pitchFamily="34" charset="0"/>
                          </a:rPr>
                        </m:ctrlPr>
                      </m:dPr>
                      <m:e>
                        <m:eqArr>
                          <m:eqArrPr>
                            <m:ctrlPr>
                              <a:rPr lang="en-US" sz="4800" b="1" i="1">
                                <a:latin typeface="Cambria Math" panose="02040503050406030204" pitchFamily="18" charset="0"/>
                                <a:ea typeface="Calibri" panose="020F0502020204030204" pitchFamily="34" charset="0"/>
                                <a:cs typeface="Tahoma" panose="020B0604030504040204" pitchFamily="34" charset="0"/>
                              </a:rPr>
                            </m:ctrlPr>
                          </m:eqArrPr>
                          <m:e>
                            <m:r>
                              <a:rPr lang="en-US" sz="4800" b="1" i="1">
                                <a:latin typeface="Cambria Math" panose="02040503050406030204" pitchFamily="18" charset="0"/>
                                <a:ea typeface="Calibri" panose="020F0502020204030204" pitchFamily="34" charset="0"/>
                                <a:cs typeface="Tahoma" panose="020B0604030504040204" pitchFamily="34" charset="0"/>
                              </a:rPr>
                              <m:t>&amp;</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𝒙</m:t>
                                </m:r>
                              </m:e>
                              <m:sub>
                                <m:r>
                                  <a:rPr lang="en-US" sz="4800" b="1" i="1">
                                    <a:latin typeface="Cambria Math" panose="02040503050406030204" pitchFamily="18" charset="0"/>
                                    <a:ea typeface="Calibri" panose="020F0502020204030204" pitchFamily="34" charset="0"/>
                                    <a:cs typeface="Tahoma" panose="020B0604030504040204" pitchFamily="34" charset="0"/>
                                  </a:rPr>
                                  <m:t>𝑫</m:t>
                                </m:r>
                              </m:sub>
                            </m:sSub>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𝟑</m:t>
                            </m:r>
                          </m:e>
                          <m:e>
                            <m:r>
                              <a:rPr lang="en-US" sz="4800" b="1" i="1">
                                <a:latin typeface="Cambria Math" panose="02040503050406030204" pitchFamily="18" charset="0"/>
                                <a:ea typeface="Calibri" panose="020F0502020204030204" pitchFamily="34" charset="0"/>
                                <a:cs typeface="Tahoma" panose="020B0604030504040204" pitchFamily="34" charset="0"/>
                              </a:rPr>
                              <m:t>&amp;</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𝒚</m:t>
                                </m:r>
                              </m:e>
                              <m:sub>
                                <m:r>
                                  <a:rPr lang="en-US" sz="4800" b="1" i="1">
                                    <a:latin typeface="Cambria Math" panose="02040503050406030204" pitchFamily="18" charset="0"/>
                                    <a:ea typeface="Calibri" panose="020F0502020204030204" pitchFamily="34" charset="0"/>
                                    <a:cs typeface="Tahoma" panose="020B0604030504040204" pitchFamily="34" charset="0"/>
                                  </a:rPr>
                                  <m:t>𝑫</m:t>
                                </m:r>
                              </m:sub>
                            </m:sSub>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𝟕</m:t>
                            </m:r>
                          </m:e>
                        </m:eqArr>
                      </m:e>
                    </m:d>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𝑫</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𝟑</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𝟕</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6" name="Title 1">
                <a:extLst>
                  <a:ext uri="{FF2B5EF4-FFF2-40B4-BE49-F238E27FC236}">
                    <a16:creationId xmlns:a16="http://schemas.microsoft.com/office/drawing/2014/main" id="{26E59A69-9AF9-4A55-9DEC-193CF3743110}"/>
                  </a:ext>
                </a:extLst>
              </p:cNvPr>
              <p:cNvSpPr txBox="1">
                <a:spLocks noRot="1" noChangeAspect="1" noMove="1" noResize="1" noEditPoints="1" noAdjustHandles="1" noChangeArrowheads="1" noChangeShapeType="1" noTextEdit="1"/>
              </p:cNvSpPr>
              <p:nvPr/>
            </p:nvSpPr>
            <p:spPr>
              <a:xfrm>
                <a:off x="13030200" y="6392623"/>
                <a:ext cx="11212136" cy="7155222"/>
              </a:xfrm>
              <a:prstGeom prst="rect">
                <a:avLst/>
              </a:prstGeom>
              <a:blipFill>
                <a:blip r:embed="rId6"/>
                <a:stretch>
                  <a:fillRect l="-2444" r="-598"/>
                </a:stretch>
              </a:blipFill>
              <a:ln>
                <a:solidFill>
                  <a:schemeClr val="tx2">
                    <a:lumMod val="20000"/>
                    <a:lumOff val="80000"/>
                  </a:schemeClr>
                </a:solidFill>
              </a:ln>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CE1912C3-F0DD-4EBD-95D2-C58768DD75F3}"/>
              </a:ext>
            </a:extLst>
          </p:cNvPr>
          <p:cNvCxnSpPr>
            <a:cxnSpLocks/>
          </p:cNvCxnSpPr>
          <p:nvPr/>
        </p:nvCxnSpPr>
        <p:spPr>
          <a:xfrm flipH="1">
            <a:off x="13012536" y="6392623"/>
            <a:ext cx="17664" cy="7155222"/>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7038396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fade">
                                      <p:cBhvr>
                                        <p:cTn id="32" dur="5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animEffect transition="in" filter="fade">
                                      <p:cBhvr>
                                        <p:cTn id="45" dur="500"/>
                                        <p:tgtEl>
                                          <p:spTgt spid="5">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up)">
                                      <p:cBhvr>
                                        <p:cTn id="50" dur="10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6">
                                            <p:txEl>
                                              <p:pRg st="0" end="0"/>
                                            </p:txEl>
                                          </p:spTgt>
                                        </p:tgtEl>
                                        <p:attrNameLst>
                                          <p:attrName>style.visibility</p:attrName>
                                        </p:attrNameLst>
                                      </p:cBhvr>
                                      <p:to>
                                        <p:strVal val="visible"/>
                                      </p:to>
                                    </p:set>
                                    <p:animEffect transition="in" filter="fade">
                                      <p:cBhvr>
                                        <p:cTn id="55" dur="500"/>
                                        <p:tgtEl>
                                          <p:spTgt spid="16">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6">
                                            <p:txEl>
                                              <p:pRg st="1" end="1"/>
                                            </p:txEl>
                                          </p:spTgt>
                                        </p:tgtEl>
                                        <p:attrNameLst>
                                          <p:attrName>style.visibility</p:attrName>
                                        </p:attrNameLst>
                                      </p:cBhvr>
                                      <p:to>
                                        <p:strVal val="visible"/>
                                      </p:to>
                                    </p:set>
                                    <p:animEffect transition="in" filter="fade">
                                      <p:cBhvr>
                                        <p:cTn id="60" dur="500"/>
                                        <p:tgtEl>
                                          <p:spTgt spid="16">
                                            <p:txEl>
                                              <p:pRg st="1" end="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6">
                                            <p:txEl>
                                              <p:pRg st="2" end="2"/>
                                            </p:txEl>
                                          </p:spTgt>
                                        </p:tgtEl>
                                        <p:attrNameLst>
                                          <p:attrName>style.visibility</p:attrName>
                                        </p:attrNameLst>
                                      </p:cBhvr>
                                      <p:to>
                                        <p:strVal val="visible"/>
                                      </p:to>
                                    </p:set>
                                    <p:animEffect transition="in" filter="fade">
                                      <p:cBhvr>
                                        <p:cTn id="65"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5" grpId="0" animBg="1"/>
      <p:bldP spid="12" grpId="0" animBg="1"/>
      <p:bldP spid="13" grpId="0" animBg="1"/>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457200" y="1758547"/>
                <a:ext cx="23469600" cy="2813453"/>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just"/>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4.19. </a:t>
                </a:r>
                <a:r>
                  <a:rPr lang="en-US" sz="4800" b="1" dirty="0" err="1">
                    <a:latin typeface="Tahoma" panose="020B0604030504040204" pitchFamily="34" charset="0"/>
                    <a:ea typeface="Tahoma" panose="020B0604030504040204" pitchFamily="34" charset="0"/>
                    <a:cs typeface="Tahoma" panose="020B0604030504040204" pitchFamily="34" charset="0"/>
                  </a:rPr>
                  <a:t>Sự</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chuyển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tàu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thủy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hiện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mặt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như</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Tàu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khởi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hành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từ</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trí</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US" sz="4800" b="1" dirty="0">
                    <a:latin typeface="Tahoma" panose="020B0604030504040204" pitchFamily="34" charset="0"/>
                    <a:ea typeface="Tahoma" panose="020B0604030504040204" pitchFamily="34" charset="0"/>
                    <a:cs typeface="Tahoma" panose="020B0604030504040204" pitchFamily="34" charset="0"/>
                  </a:rPr>
                  <a:t>chuyển </a:t>
                </a:r>
                <a:r>
                  <a:rPr lang="en-US" sz="4800" b="1" dirty="0" err="1">
                    <a:latin typeface="Tahoma" panose="020B0604030504040204" pitchFamily="34" charset="0"/>
                    <a:ea typeface="Tahoma" panose="020B0604030504040204" pitchFamily="34" charset="0"/>
                    <a:cs typeface="Tahoma" panose="020B0604030504040204" pitchFamily="34" charset="0"/>
                  </a:rPr>
                  <a:t>động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đều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với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vận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tốc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tính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theo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giờ</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biểu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bởi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vectơ</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𝒗</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𝟒</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Xác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định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trí</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tàu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mặt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thời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khởi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hành</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𝟓</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giờ</a:t>
                </a:r>
                <a:r>
                  <a:rPr lang="en-US" sz="4800" b="1" dirty="0">
                    <a:latin typeface="Tahoma" panose="020B0604030504040204" pitchFamily="34" charset="0"/>
                    <a:ea typeface="Tahoma" panose="020B0604030504040204" pitchFamily="34" charset="0"/>
                    <a:cs typeface="Tahoma" panose="020B0604030504040204" pitchFamily="34" charset="0"/>
                  </a:rPr>
                  <a:t>.</a:t>
                </a:r>
                <a:r>
                  <a:rPr lang="vi-VN" sz="4800" b="1" dirty="0">
                    <a:latin typeface="Tahoma" panose="020B0604030504040204" pitchFamily="34" charset="0"/>
                    <a:ea typeface="Tahoma" panose="020B0604030504040204" pitchFamily="34" charset="0"/>
                    <a:cs typeface="Tahoma" panose="020B0604030504040204" pitchFamily="34" charset="0"/>
                  </a:rPr>
                  <a:t> </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457200" y="1758547"/>
                <a:ext cx="23469600" cy="2813453"/>
              </a:xfrm>
              <a:prstGeom prst="rect">
                <a:avLst/>
              </a:prstGeom>
              <a:blipFill>
                <a:blip r:embed="rId3"/>
                <a:stretch>
                  <a:fillRect l="-1142" t="-7328" r="-1142" b="-7759"/>
                </a:stretch>
              </a:blipFill>
              <a:ln>
                <a:solidFill>
                  <a:schemeClr val="tx2">
                    <a:lumMod val="20000"/>
                    <a:lumOff val="80000"/>
                  </a:schemeClr>
                </a:solidFill>
              </a:ln>
            </p:spPr>
            <p:txBody>
              <a:bodyPr/>
              <a:lstStyle/>
              <a:p>
                <a:r>
                  <a:rPr lang="en-US">
                    <a:noFill/>
                  </a:rPr>
                  <a:t> </a:t>
                </a:r>
              </a:p>
            </p:txBody>
          </p:sp>
        </mc:Fallback>
      </mc:AlternateContent>
      <p:sp>
        <p:nvSpPr>
          <p:cNvPr id="45" name="Rectangle 33">
            <a:extLst>
              <a:ext uri="{FF2B5EF4-FFF2-40B4-BE49-F238E27FC236}">
                <a16:creationId xmlns:a16="http://schemas.microsoft.com/office/drawing/2014/main" id="{FC933ED9-94B1-4F46-A3BF-4C2E10ACBF95}"/>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5" name="Title 1">
                <a:extLst>
                  <a:ext uri="{FF2B5EF4-FFF2-40B4-BE49-F238E27FC236}">
                    <a16:creationId xmlns:a16="http://schemas.microsoft.com/office/drawing/2014/main" id="{34DB4C0F-AB3E-43A6-85DA-18F74C5B01B8}"/>
                  </a:ext>
                </a:extLst>
              </p:cNvPr>
              <p:cNvSpPr txBox="1">
                <a:spLocks/>
              </p:cNvSpPr>
              <p:nvPr/>
            </p:nvSpPr>
            <p:spPr>
              <a:xfrm>
                <a:off x="173050" y="5307427"/>
                <a:ext cx="12235991" cy="800001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dirty="0">
                    <a:latin typeface="Tahoma" panose="020B0604030504040204" pitchFamily="34" charset="0"/>
                    <a:ea typeface="Tahoma" panose="020B0604030504040204" pitchFamily="34" charset="0"/>
                    <a:cs typeface="Tahoma" panose="020B0604030504040204" pitchFamily="34" charset="0"/>
                  </a:rPr>
                  <a:t>Gọi </a:t>
                </a:r>
                <a14:m>
                  <m:oMath xmlns:m="http://schemas.openxmlformats.org/officeDocument/2006/math">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e>
                    </m:d>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&gt;</m:t>
                    </m:r>
                    <m:r>
                      <a:rPr lang="en-US" sz="4800" b="1" i="1">
                        <a:latin typeface="Cambria Math" panose="02040503050406030204" pitchFamily="18" charset="0"/>
                      </a:rPr>
                      <m:t>𝟎</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a:t>
                </a:r>
              </a:p>
              <a:p>
                <a:pPr algn="ctr"/>
                <a14:m>
                  <m:oMath xmlns:m="http://schemas.openxmlformats.org/officeDocument/2006/math">
                    <m:d>
                      <m:dPr>
                        <m:begChr m:val="|"/>
                        <m:endChr m:val="|"/>
                        <m:ctrlPr>
                          <a:rPr lang="en-US" sz="4800" b="1" i="1">
                            <a:latin typeface="Cambria Math" panose="02040503050406030204" pitchFamily="18" charset="0"/>
                          </a:rPr>
                        </m:ctrlPr>
                      </m:dPr>
                      <m:e>
                        <m:acc>
                          <m:accPr>
                            <m:chr m:val="⃗"/>
                            <m:ctrlPr>
                              <a:rPr lang="en-US" sz="4800" b="1" i="1">
                                <a:latin typeface="Cambria Math" panose="02040503050406030204" pitchFamily="18" charset="0"/>
                              </a:rPr>
                            </m:ctrlPr>
                          </m:accPr>
                          <m:e>
                            <m:r>
                              <a:rPr lang="en-US" sz="4800" b="1" i="1">
                                <a:latin typeface="Cambria Math" panose="02040503050406030204" pitchFamily="18" charset="0"/>
                              </a:rPr>
                              <m:t>𝒗</m:t>
                            </m:r>
                          </m:e>
                        </m:acc>
                      </m:e>
                    </m:d>
                    <m:r>
                      <a:rPr lang="en-US" sz="4800" b="1" i="1">
                        <a:latin typeface="Cambria Math" panose="02040503050406030204" pitchFamily="18" charset="0"/>
                      </a:rPr>
                      <m:t>=</m:t>
                    </m:r>
                    <m:rad>
                      <m:radPr>
                        <m:degHide m:val="on"/>
                        <m:ctrlPr>
                          <a:rPr lang="en-US" sz="4800" b="1" i="1">
                            <a:latin typeface="Cambria Math" panose="02040503050406030204" pitchFamily="18" charset="0"/>
                          </a:rPr>
                        </m:ctrlPr>
                      </m:radPr>
                      <m:deg/>
                      <m:e>
                        <m:sSup>
                          <m:sSupPr>
                            <m:ctrlPr>
                              <a:rPr lang="en-US" sz="4800" b="1" i="1">
                                <a:latin typeface="Cambria Math" panose="02040503050406030204" pitchFamily="18" charset="0"/>
                              </a:rPr>
                            </m:ctrlPr>
                          </m:sSupPr>
                          <m:e>
                            <m:r>
                              <a:rPr lang="en-US" sz="4800" b="1" i="1">
                                <a:latin typeface="Cambria Math" panose="02040503050406030204" pitchFamily="18" charset="0"/>
                              </a:rPr>
                              <m:t>𝟑</m:t>
                            </m:r>
                          </m:e>
                          <m:sup>
                            <m:r>
                              <a:rPr lang="en-US" sz="4800" b="1" i="1">
                                <a:latin typeface="Cambria Math" panose="02040503050406030204" pitchFamily="18" charset="0"/>
                              </a:rPr>
                              <m:t>𝟐</m:t>
                            </m:r>
                          </m:sup>
                        </m:sSup>
                        <m:r>
                          <a:rPr lang="en-US" sz="4800" b="1" i="1">
                            <a:latin typeface="Cambria Math" panose="02040503050406030204" pitchFamily="18" charset="0"/>
                          </a:rPr>
                          <m:t>+</m:t>
                        </m:r>
                        <m:sSup>
                          <m:sSupPr>
                            <m:ctrlPr>
                              <a:rPr lang="en-US" sz="4800" b="1" i="1">
                                <a:latin typeface="Cambria Math" panose="02040503050406030204" pitchFamily="18" charset="0"/>
                              </a:rPr>
                            </m:ctrlPr>
                          </m:sSupPr>
                          <m:e>
                            <m:r>
                              <a:rPr lang="en-US" sz="4800" b="1" i="1">
                                <a:latin typeface="Cambria Math" panose="02040503050406030204" pitchFamily="18" charset="0"/>
                              </a:rPr>
                              <m:t>𝟒</m:t>
                            </m:r>
                          </m:e>
                          <m:sup>
                            <m:r>
                              <a:rPr lang="en-US" sz="4800" b="1" i="1">
                                <a:latin typeface="Cambria Math" panose="02040503050406030204" pitchFamily="18" charset="0"/>
                              </a:rPr>
                              <m:t>𝟐</m:t>
                            </m:r>
                          </m:sup>
                        </m:sSup>
                      </m:e>
                    </m:rad>
                    <m:r>
                      <a:rPr lang="en-US" sz="4800" b="1" i="1">
                        <a:latin typeface="Cambria Math" panose="02040503050406030204" pitchFamily="18" charset="0"/>
                      </a:rPr>
                      <m:t>=</m:t>
                    </m:r>
                    <m:r>
                      <a:rPr lang="en-US" sz="4800" b="1" i="1">
                        <a:latin typeface="Cambria Math" panose="02040503050406030204" pitchFamily="18" charset="0"/>
                      </a:rPr>
                      <m:t>𝟓</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err="1">
                    <a:latin typeface="Tahoma" panose="020B0604030504040204" pitchFamily="34" charset="0"/>
                    <a:ea typeface="Tahoma" panose="020B0604030504040204" pitchFamily="34" charset="0"/>
                    <a:cs typeface="Tahoma" panose="020B0604030504040204" pitchFamily="34" charset="0"/>
                  </a:rPr>
                  <a:t>Quảng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đường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tàu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thủy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chạy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sau</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𝟓</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giờ</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𝟓</m:t>
                    </m:r>
                    <m:r>
                      <a:rPr lang="en-US" sz="4800" b="1" i="1">
                        <a:latin typeface="Cambria Math" panose="02040503050406030204" pitchFamily="18" charset="0"/>
                      </a:rPr>
                      <m:t>.</m:t>
                    </m:r>
                    <m:r>
                      <a:rPr lang="en-US" sz="4800" b="1" i="1">
                        <a:latin typeface="Cambria Math" panose="02040503050406030204" pitchFamily="18" charset="0"/>
                      </a:rPr>
                      <m:t>𝟓</m:t>
                    </m:r>
                    <m:r>
                      <a:rPr lang="en-US" sz="4800" b="1" i="1">
                        <a:latin typeface="Cambria Math" panose="02040503050406030204" pitchFamily="18" charset="0"/>
                      </a:rPr>
                      <m:t>=</m:t>
                    </m:r>
                    <m:r>
                      <a:rPr lang="en-US" sz="4800" b="1" i="1">
                        <a:latin typeface="Cambria Math" panose="02040503050406030204" pitchFamily="18" charset="0"/>
                      </a:rPr>
                      <m:t>𝟕</m:t>
                    </m:r>
                    <m:r>
                      <a:rPr lang="en-US" sz="4800" b="1" i="1">
                        <a:latin typeface="Cambria Math" panose="02040503050406030204" pitchFamily="18" charset="0"/>
                      </a:rPr>
                      <m:t>,</m:t>
                    </m:r>
                    <m:r>
                      <a:rPr lang="en-US" sz="4800" b="1" i="1">
                        <a:latin typeface="Cambria Math" panose="02040503050406030204" pitchFamily="18" charset="0"/>
                      </a:rPr>
                      <m:t>𝟓</m:t>
                    </m:r>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Ta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800" b="1" i="1">
                            <a:latin typeface="Cambria Math" panose="02040503050406030204" pitchFamily="18" charset="0"/>
                          </a:rPr>
                        </m:ctrlPr>
                      </m:dPr>
                      <m:e>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e>
                    </m:d>
                    <m:r>
                      <a:rPr lang="en-US" sz="4800" b="1" i="1">
                        <a:latin typeface="Cambria Math" panose="02040503050406030204" pitchFamily="18" charset="0"/>
                      </a:rPr>
                      <m:t>=</m:t>
                    </m:r>
                    <m:rad>
                      <m:radPr>
                        <m:degHide m:val="on"/>
                        <m:ctrlPr>
                          <a:rPr lang="en-US" sz="4800" b="1" i="1">
                            <a:latin typeface="Cambria Math" panose="02040503050406030204" pitchFamily="18" charset="0"/>
                          </a:rPr>
                        </m:ctrlPr>
                      </m:radPr>
                      <m:deg/>
                      <m:e>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m:t>
                                </m:r>
                              </m:e>
                            </m:d>
                          </m:e>
                          <m:sup>
                            <m:r>
                              <a:rPr lang="en-US" sz="4800" b="1" i="1">
                                <a:latin typeface="Cambria Math" panose="02040503050406030204" pitchFamily="18" charset="0"/>
                              </a:rPr>
                              <m:t>𝟐</m:t>
                            </m:r>
                          </m:sup>
                        </m:sSup>
                        <m:r>
                          <a:rPr lang="en-US" sz="4800" b="1" i="1">
                            <a:latin typeface="Cambria Math" panose="02040503050406030204" pitchFamily="18" charset="0"/>
                          </a:rPr>
                          <m:t>+</m:t>
                        </m:r>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𝟐</m:t>
                                </m:r>
                              </m:e>
                            </m:d>
                          </m:e>
                          <m:sup>
                            <m:r>
                              <a:rPr lang="en-US" sz="4800" b="1" i="1">
                                <a:latin typeface="Cambria Math" panose="02040503050406030204" pitchFamily="18" charset="0"/>
                              </a:rPr>
                              <m:t>𝟐</m:t>
                            </m:r>
                          </m:sup>
                        </m:sSup>
                      </m:e>
                    </m:rad>
                    <m:r>
                      <a:rPr lang="en-US" sz="4800" b="1" i="1">
                        <a:latin typeface="Cambria Math" panose="02040503050406030204" pitchFamily="18" charset="0"/>
                      </a:rPr>
                      <m:t>=</m:t>
                    </m:r>
                    <m:r>
                      <a:rPr lang="en-US" sz="4800" b="1" i="1">
                        <a:latin typeface="Cambria Math" panose="02040503050406030204" pitchFamily="18" charset="0"/>
                      </a:rPr>
                      <m:t>𝟕</m:t>
                    </m:r>
                    <m:r>
                      <a:rPr lang="en-US" sz="4800" b="1" i="1">
                        <a:latin typeface="Cambria Math" panose="02040503050406030204" pitchFamily="18" charset="0"/>
                      </a:rPr>
                      <m:t>,</m:t>
                    </m:r>
                    <m:r>
                      <a:rPr lang="en-US" sz="4800" b="1" i="1">
                        <a:latin typeface="Cambria Math" panose="02040503050406030204" pitchFamily="18" charset="0"/>
                      </a:rPr>
                      <m:t>𝟓</m:t>
                    </m:r>
                  </m:oMath>
                </a14:m>
                <a:endParaRPr lang="en-US" sz="4800" b="1" i="1" dirty="0">
                  <a:latin typeface="Tahoma" panose="020B0604030504040204" pitchFamily="34" charset="0"/>
                  <a:ea typeface="Tahoma" panose="020B0604030504040204" pitchFamily="34" charset="0"/>
                  <a:cs typeface="Tahoma" panose="020B0604030504040204" pitchFamily="34" charset="0"/>
                </a:endParaRPr>
              </a:p>
              <a:p>
                <a:pPr algn="ctr"/>
                <a14:m>
                  <m:oMath xmlns:m="http://schemas.openxmlformats.org/officeDocument/2006/math">
                    <m:r>
                      <a:rPr lang="en-US" sz="4800" b="1" i="1">
                        <a:latin typeface="Cambria Math" panose="02040503050406030204" pitchFamily="18" charset="0"/>
                      </a:rPr>
                      <m:t>⇔</m:t>
                    </m:r>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m:t>
                            </m:r>
                          </m:e>
                        </m:d>
                      </m:e>
                      <m:sup>
                        <m:r>
                          <a:rPr lang="en-US" sz="4800" b="1" i="1">
                            <a:latin typeface="Cambria Math" panose="02040503050406030204" pitchFamily="18" charset="0"/>
                          </a:rPr>
                          <m:t>𝟐</m:t>
                        </m:r>
                      </m:sup>
                    </m:sSup>
                    <m:r>
                      <a:rPr lang="en-US" sz="4800" b="1" i="1">
                        <a:latin typeface="Cambria Math" panose="02040503050406030204" pitchFamily="18" charset="0"/>
                      </a:rPr>
                      <m:t>+</m:t>
                    </m:r>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𝟐</m:t>
                            </m:r>
                          </m:e>
                        </m:d>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𝟕</m:t>
                    </m:r>
                    <m:r>
                      <a:rPr lang="en-US" sz="4800" b="1" i="1">
                        <a:latin typeface="Cambria Math" panose="02040503050406030204" pitchFamily="18" charset="0"/>
                      </a:rPr>
                      <m:t>,</m:t>
                    </m:r>
                    <m:sSup>
                      <m:sSupPr>
                        <m:ctrlPr>
                          <a:rPr lang="en-US" sz="4800" b="1" i="1">
                            <a:latin typeface="Cambria Math" panose="02040503050406030204" pitchFamily="18" charset="0"/>
                          </a:rPr>
                        </m:ctrlPr>
                      </m:sSupPr>
                      <m:e>
                        <m:r>
                          <a:rPr lang="en-US" sz="4800" b="1" i="1">
                            <a:latin typeface="Cambria Math" panose="02040503050406030204" pitchFamily="18" charset="0"/>
                          </a:rPr>
                          <m:t>𝟓</m:t>
                        </m:r>
                      </m:e>
                      <m:sup>
                        <m:r>
                          <a:rPr lang="en-US" sz="4800" b="1" i="1">
                            <a:latin typeface="Cambria Math" panose="02040503050406030204" pitchFamily="18" charset="0"/>
                          </a:rPr>
                          <m:t>𝟐</m:t>
                        </m:r>
                      </m:sup>
                    </m:sSup>
                    <m:r>
                      <a:rPr lang="en-US" sz="4800" b="1" i="1" smtClean="0">
                        <a:latin typeface="Cambria Math" panose="02040503050406030204" pitchFamily="18" charset="0"/>
                      </a:rPr>
                      <m:t>  </m:t>
                    </m:r>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a:t>
                </a:r>
              </a:p>
              <a:p>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𝒗</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cùng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phương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nên</a:t>
                </a:r>
                <a:r>
                  <a:rPr lang="en-US" sz="4800" b="1" dirty="0">
                    <a:latin typeface="Tahoma" panose="020B0604030504040204" pitchFamily="34" charset="0"/>
                    <a:ea typeface="Tahoma" panose="020B0604030504040204" pitchFamily="34" charset="0"/>
                    <a:cs typeface="Tahoma" panose="020B0604030504040204" pitchFamily="34" charset="0"/>
                  </a:rPr>
                  <a:t> </a:t>
                </a:r>
              </a:p>
              <a:p>
                <a:pPr algn="ctr"/>
                <a14:m>
                  <m:oMath xmlns:m="http://schemas.openxmlformats.org/officeDocument/2006/math">
                    <m:f>
                      <m:fPr>
                        <m:ctrlPr>
                          <a:rPr lang="en-US" sz="4800" b="1" i="1">
                            <a:latin typeface="Cambria Math" panose="02040503050406030204" pitchFamily="18" charset="0"/>
                          </a:rPr>
                        </m:ctrlPr>
                      </m:fPr>
                      <m:num>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m:t>
                        </m:r>
                      </m:num>
                      <m:den>
                        <m:r>
                          <a:rPr lang="en-US" sz="4800" b="1" i="1">
                            <a:latin typeface="Cambria Math" panose="02040503050406030204" pitchFamily="18" charset="0"/>
                          </a:rPr>
                          <m:t>𝟑</m:t>
                        </m:r>
                      </m:den>
                    </m:f>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𝟐</m:t>
                        </m:r>
                      </m:num>
                      <m:den>
                        <m:r>
                          <a:rPr lang="en-US" sz="4800" b="1" i="1">
                            <a:latin typeface="Cambria Math" panose="02040503050406030204" pitchFamily="18" charset="0"/>
                          </a:rPr>
                          <m:t>𝟒</m:t>
                        </m:r>
                      </m:den>
                    </m:f>
                    <m:r>
                      <a:rPr lang="en-US" sz="4800" b="1" i="1">
                        <a:latin typeface="Cambria Math" panose="02040503050406030204" pitchFamily="18" charset="0"/>
                      </a:rPr>
                      <m:t>⇔</m:t>
                    </m:r>
                    <m:r>
                      <a:rPr lang="en-US" sz="4800" b="1" i="1">
                        <a:latin typeface="Cambria Math" panose="02040503050406030204" pitchFamily="18" charset="0"/>
                      </a:rPr>
                      <m:t>𝒙</m:t>
                    </m:r>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𝟑</m:t>
                        </m:r>
                      </m:num>
                      <m:den>
                        <m:r>
                          <a:rPr lang="en-US" sz="4800" b="1" i="1">
                            <a:latin typeface="Cambria Math" panose="02040503050406030204" pitchFamily="18" charset="0"/>
                          </a:rPr>
                          <m:t>𝟒</m:t>
                        </m:r>
                      </m:den>
                    </m:f>
                    <m:r>
                      <a:rPr lang="en-US" sz="4800" b="1" i="1">
                        <a:latin typeface="Cambria Math" panose="02040503050406030204" pitchFamily="18" charset="0"/>
                      </a:rPr>
                      <m:t>𝒚</m:t>
                    </m:r>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𝟏</m:t>
                        </m:r>
                      </m:num>
                      <m:den>
                        <m:r>
                          <a:rPr lang="en-US" sz="4800" b="1" i="1">
                            <a:latin typeface="Cambria Math" panose="02040503050406030204" pitchFamily="18" charset="0"/>
                          </a:rPr>
                          <m:t>𝟐</m:t>
                        </m:r>
                      </m:den>
                    </m:f>
                    <m:r>
                      <a:rPr lang="en-US" sz="4800" b="1" i="1" smtClean="0">
                        <a:latin typeface="Cambria Math" panose="02040503050406030204" pitchFamily="18" charset="0"/>
                      </a:rPr>
                      <m:t>  </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err="1">
                    <a:latin typeface="Tahoma" panose="020B0604030504040204" pitchFamily="34" charset="0"/>
                    <a:ea typeface="Tahoma" panose="020B0604030504040204" pitchFamily="34" charset="0"/>
                    <a:cs typeface="Tahoma" panose="020B0604030504040204" pitchFamily="34" charset="0"/>
                  </a:rPr>
                  <a:t>Thay</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sz="4800" b="1" i="1">
                            <a:latin typeface="Cambria Math" panose="02040503050406030204" pitchFamily="18" charset="0"/>
                          </a:rPr>
                        </m:ctrlPr>
                      </m:dPr>
                      <m:e>
                        <m:r>
                          <a:rPr lang="en-US" sz="4800" b="1" i="1">
                            <a:latin typeface="Cambria Math" panose="02040503050406030204" pitchFamily="18" charset="0"/>
                          </a:rPr>
                          <m:t>𝟐</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vào</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sz="4800" b="1" i="1">
                            <a:latin typeface="Cambria Math" panose="02040503050406030204" pitchFamily="18" charset="0"/>
                          </a:rPr>
                        </m:ctrlPr>
                      </m:dPr>
                      <m:e>
                        <m:r>
                          <a:rPr lang="en-US" sz="4800" b="1" i="1">
                            <a:latin typeface="Cambria Math" panose="02040503050406030204" pitchFamily="18" charset="0"/>
                          </a:rPr>
                          <m:t>𝟏</m:t>
                        </m:r>
                      </m:e>
                    </m:d>
                  </m:oMath>
                </a14:m>
                <a:r>
                  <a:rPr lang="en-US" sz="4800" b="1" dirty="0">
                    <a:latin typeface="Tahoma" panose="020B0604030504040204" pitchFamily="34" charset="0"/>
                    <a:ea typeface="Tahoma" panose="020B0604030504040204" pitchFamily="34" charset="0"/>
                    <a:cs typeface="Tahoma" panose="020B0604030504040204" pitchFamily="34" charset="0"/>
                  </a:rPr>
                  <a:t> ta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endParaRPr lang="en-US" sz="4800" b="1" i="1" dirty="0">
                  <a:latin typeface="Tahoma" panose="020B0604030504040204" pitchFamily="34" charset="0"/>
                  <a:ea typeface="Tahoma" panose="020B0604030504040204" pitchFamily="34" charset="0"/>
                  <a:cs typeface="Tahoma" panose="020B0604030504040204" pitchFamily="34" charset="0"/>
                </a:endParaRPr>
              </a:p>
              <a:p>
                <a:pPr algn="ctr"/>
                <a14:m>
                  <m:oMathPara xmlns:m="http://schemas.openxmlformats.org/officeDocument/2006/math">
                    <m:oMathParaPr>
                      <m:jc m:val="center"/>
                    </m:oMathParaPr>
                    <m:oMath xmlns:m="http://schemas.openxmlformats.org/officeDocument/2006/math">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f>
                                <m:fPr>
                                  <m:ctrlPr>
                                    <a:rPr lang="en-US" sz="4800" b="1" i="1">
                                      <a:latin typeface="Cambria Math" panose="02040503050406030204" pitchFamily="18" charset="0"/>
                                    </a:rPr>
                                  </m:ctrlPr>
                                </m:fPr>
                                <m:num>
                                  <m:r>
                                    <a:rPr lang="en-US" sz="4800" b="1" i="1">
                                      <a:latin typeface="Cambria Math" panose="02040503050406030204" pitchFamily="18" charset="0"/>
                                    </a:rPr>
                                    <m:t>𝟑</m:t>
                                  </m:r>
                                </m:num>
                                <m:den>
                                  <m:r>
                                    <a:rPr lang="en-US" sz="4800" b="1" i="1">
                                      <a:latin typeface="Cambria Math" panose="02040503050406030204" pitchFamily="18" charset="0"/>
                                    </a:rPr>
                                    <m:t>𝟒</m:t>
                                  </m:r>
                                </m:den>
                              </m:f>
                              <m:r>
                                <a:rPr lang="en-US" sz="4800" b="1" i="1">
                                  <a:latin typeface="Cambria Math" panose="02040503050406030204" pitchFamily="18" charset="0"/>
                                </a:rPr>
                                <m:t>𝒚</m:t>
                              </m:r>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𝟏</m:t>
                                  </m:r>
                                </m:num>
                                <m:den>
                                  <m:r>
                                    <a:rPr lang="en-US" sz="4800" b="1" i="1">
                                      <a:latin typeface="Cambria Math" panose="02040503050406030204" pitchFamily="18" charset="0"/>
                                    </a:rPr>
                                    <m:t>𝟐</m:t>
                                  </m:r>
                                </m:den>
                              </m:f>
                              <m:r>
                                <a:rPr lang="en-US" sz="4800" b="1" i="1">
                                  <a:latin typeface="Cambria Math" panose="02040503050406030204" pitchFamily="18" charset="0"/>
                                </a:rPr>
                                <m:t>−</m:t>
                              </m:r>
                              <m:r>
                                <a:rPr lang="en-US" sz="4800" b="1" i="1">
                                  <a:latin typeface="Cambria Math" panose="02040503050406030204" pitchFamily="18" charset="0"/>
                                </a:rPr>
                                <m:t>𝟏</m:t>
                              </m:r>
                            </m:e>
                          </m:d>
                        </m:e>
                        <m:sup>
                          <m:r>
                            <a:rPr lang="en-US" sz="4800" b="1" i="1">
                              <a:latin typeface="Cambria Math" panose="02040503050406030204" pitchFamily="18" charset="0"/>
                            </a:rPr>
                            <m:t>𝟐</m:t>
                          </m:r>
                        </m:sup>
                      </m:sSup>
                      <m:r>
                        <a:rPr lang="en-US" sz="4800" b="1" i="1">
                          <a:latin typeface="Cambria Math" panose="02040503050406030204" pitchFamily="18" charset="0"/>
                        </a:rPr>
                        <m:t>+</m:t>
                      </m:r>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𝟐</m:t>
                              </m:r>
                            </m:e>
                          </m:d>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𝟕</m:t>
                      </m:r>
                      <m:r>
                        <a:rPr lang="en-US" sz="4800" b="1" i="1">
                          <a:latin typeface="Cambria Math" panose="02040503050406030204" pitchFamily="18" charset="0"/>
                        </a:rPr>
                        <m:t>,</m:t>
                      </m:r>
                      <m:sSup>
                        <m:sSupPr>
                          <m:ctrlPr>
                            <a:rPr lang="en-US" sz="4800" b="1" i="1">
                              <a:latin typeface="Cambria Math" panose="02040503050406030204" pitchFamily="18" charset="0"/>
                            </a:rPr>
                          </m:ctrlPr>
                        </m:sSupPr>
                        <m:e>
                          <m:r>
                            <a:rPr lang="en-US" sz="4800" b="1" i="1">
                              <a:latin typeface="Cambria Math" panose="02040503050406030204" pitchFamily="18" charset="0"/>
                            </a:rPr>
                            <m:t>𝟓</m:t>
                          </m:r>
                        </m:e>
                        <m:sup>
                          <m:r>
                            <a:rPr lang="en-US" sz="4800" b="1" i="1">
                              <a:latin typeface="Cambria Math" panose="02040503050406030204" pitchFamily="18" charset="0"/>
                            </a:rPr>
                            <m:t>𝟐</m:t>
                          </m:r>
                        </m:sup>
                      </m:sSup>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a:p>
                <a:endParaRPr lang="en-US" sz="4800" b="1" dirty="0"/>
              </a:p>
            </p:txBody>
          </p:sp>
        </mc:Choice>
        <mc:Fallback xmlns="">
          <p:sp>
            <p:nvSpPr>
              <p:cNvPr id="5" name="Title 1">
                <a:extLst>
                  <a:ext uri="{FF2B5EF4-FFF2-40B4-BE49-F238E27FC236}">
                    <a16:creationId xmlns:a16="http://schemas.microsoft.com/office/drawing/2014/main" id="{34DB4C0F-AB3E-43A6-85DA-18F74C5B01B8}"/>
                  </a:ext>
                </a:extLst>
              </p:cNvPr>
              <p:cNvSpPr txBox="1">
                <a:spLocks noRot="1" noChangeAspect="1" noMove="1" noResize="1" noEditPoints="1" noAdjustHandles="1" noChangeArrowheads="1" noChangeShapeType="1" noTextEdit="1"/>
              </p:cNvSpPr>
              <p:nvPr/>
            </p:nvSpPr>
            <p:spPr>
              <a:xfrm>
                <a:off x="173050" y="5307427"/>
                <a:ext cx="12235991" cy="8000010"/>
              </a:xfrm>
              <a:prstGeom prst="rect">
                <a:avLst/>
              </a:prstGeom>
              <a:blipFill>
                <a:blip r:embed="rId4"/>
                <a:stretch>
                  <a:fillRect l="-2189" t="-2664" b="-4566"/>
                </a:stretch>
              </a:blipFill>
              <a:ln>
                <a:solidFill>
                  <a:schemeClr val="tx2">
                    <a:lumMod val="20000"/>
                    <a:lumOff val="80000"/>
                  </a:schemeClr>
                </a:solidFill>
              </a:ln>
            </p:spPr>
            <p:txBody>
              <a:bodyPr/>
              <a:lstStyle/>
              <a:p>
                <a:r>
                  <a:rPr lang="en-US">
                    <a:noFill/>
                  </a:rPr>
                  <a:t> </a:t>
                </a:r>
              </a:p>
            </p:txBody>
          </p:sp>
        </mc:Fallback>
      </mc:AlternateContent>
      <p:grpSp>
        <p:nvGrpSpPr>
          <p:cNvPr id="7" name="Group 6">
            <a:extLst>
              <a:ext uri="{FF2B5EF4-FFF2-40B4-BE49-F238E27FC236}">
                <a16:creationId xmlns:a16="http://schemas.microsoft.com/office/drawing/2014/main" id="{E5B1057C-ACAA-4040-B4BE-81C7B33C52BD}"/>
              </a:ext>
            </a:extLst>
          </p:cNvPr>
          <p:cNvGrpSpPr/>
          <p:nvPr/>
        </p:nvGrpSpPr>
        <p:grpSpPr>
          <a:xfrm>
            <a:off x="-72644" y="1602026"/>
            <a:ext cx="3118290" cy="978566"/>
            <a:chOff x="-288924" y="1922269"/>
            <a:chExt cx="3118854" cy="978565"/>
          </a:xfrm>
        </p:grpSpPr>
        <p:sp>
          <p:nvSpPr>
            <p:cNvPr id="8" name="Rounded Rectangle 2">
              <a:extLst>
                <a:ext uri="{FF2B5EF4-FFF2-40B4-BE49-F238E27FC236}">
                  <a16:creationId xmlns:a16="http://schemas.microsoft.com/office/drawing/2014/main" id="{42D9E206-B275-440A-A5CC-3B88C433A793}"/>
                </a:ext>
              </a:extLst>
            </p:cNvPr>
            <p:cNvSpPr/>
            <p:nvPr/>
          </p:nvSpPr>
          <p:spPr>
            <a:xfrm>
              <a:off x="-288924" y="2052547"/>
              <a:ext cx="3107350" cy="812813"/>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TextBox 8">
              <a:extLst>
                <a:ext uri="{FF2B5EF4-FFF2-40B4-BE49-F238E27FC236}">
                  <a16:creationId xmlns:a16="http://schemas.microsoft.com/office/drawing/2014/main" id="{19715A7D-43E2-4626-AB04-A4C5D46D4ADC}"/>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itchFamily="34" charset="0"/>
                <a:ea typeface="Tahoma" pitchFamily="34" charset="0"/>
                <a:cs typeface="Tahoma" pitchFamily="34" charset="0"/>
              </a:endParaRPr>
            </a:p>
          </p:txBody>
        </p:sp>
        <p:sp>
          <p:nvSpPr>
            <p:cNvPr id="10" name="TextBox 9">
              <a:extLst>
                <a:ext uri="{FF2B5EF4-FFF2-40B4-BE49-F238E27FC236}">
                  <a16:creationId xmlns:a16="http://schemas.microsoft.com/office/drawing/2014/main" id="{0C26A0C8-8D95-47DD-B53D-5B1240979929}"/>
                </a:ext>
              </a:extLst>
            </p:cNvPr>
            <p:cNvSpPr txBox="1"/>
            <p:nvPr/>
          </p:nvSpPr>
          <p:spPr>
            <a:xfrm>
              <a:off x="-277420" y="2069838"/>
              <a:ext cx="3107350"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a:t>
              </a:r>
              <a:r>
                <a:rPr lang="en-US" sz="4800" b="1" dirty="0">
                  <a:solidFill>
                    <a:srgbClr val="FFFF00"/>
                  </a:solidFill>
                  <a:latin typeface="Tahoma" pitchFamily="34" charset="0"/>
                  <a:ea typeface="Tahoma" pitchFamily="34" charset="0"/>
                  <a:cs typeface="Tahoma" pitchFamily="34" charset="0"/>
                </a:rPr>
                <a:t>BÀI TẬP</a:t>
              </a:r>
            </a:p>
          </p:txBody>
        </p:sp>
      </p:grpSp>
      <p:sp>
        <p:nvSpPr>
          <p:cNvPr id="12" name="Freeform 20">
            <a:extLst>
              <a:ext uri="{FF2B5EF4-FFF2-40B4-BE49-F238E27FC236}">
                <a16:creationId xmlns:a16="http://schemas.microsoft.com/office/drawing/2014/main" id="{EE63F1AC-86ED-40F7-B2B6-B7D3ADDAF24E}"/>
              </a:ext>
            </a:extLst>
          </p:cNvPr>
          <p:cNvSpPr>
            <a:spLocks/>
          </p:cNvSpPr>
          <p:nvPr/>
        </p:nvSpPr>
        <p:spPr bwMode="auto">
          <a:xfrm rot="16200000" flipV="1">
            <a:off x="2139760" y="3655333"/>
            <a:ext cx="686064" cy="2712681"/>
          </a:xfrm>
          <a:prstGeom prst="round1Rect">
            <a:avLst/>
          </a:prstGeom>
          <a:solidFill>
            <a:srgbClr val="DAE3F3"/>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13" name="TextBox 12">
            <a:extLst>
              <a:ext uri="{FF2B5EF4-FFF2-40B4-BE49-F238E27FC236}">
                <a16:creationId xmlns:a16="http://schemas.microsoft.com/office/drawing/2014/main" id="{FFFF3373-39F7-412E-977B-70DDD3FE332B}"/>
              </a:ext>
            </a:extLst>
          </p:cNvPr>
          <p:cNvSpPr txBox="1"/>
          <p:nvPr/>
        </p:nvSpPr>
        <p:spPr>
          <a:xfrm>
            <a:off x="1228678" y="4585265"/>
            <a:ext cx="2508228" cy="769441"/>
          </a:xfrm>
          <a:prstGeom prst="rect">
            <a:avLst/>
          </a:prstGeom>
          <a:solidFill>
            <a:srgbClr val="DAE3F3"/>
          </a:solidFill>
        </p:spPr>
        <p:txBody>
          <a:bodyPr wrap="square" rtlCol="0">
            <a:spAutoFit/>
          </a:bodyPr>
          <a:lstStyle/>
          <a:p>
            <a:pPr algn="ctr"/>
            <a:r>
              <a:rPr lang="vi-VN" sz="4400" b="1" dirty="0">
                <a:solidFill>
                  <a:prstClr val="black"/>
                </a:solidFill>
                <a:latin typeface="Tahoma" pitchFamily="34" charset="0"/>
                <a:ea typeface="Tahoma" pitchFamily="34" charset="0"/>
                <a:cs typeface="Tahoma" pitchFamily="34" charset="0"/>
              </a:rPr>
              <a:t>Bài giải</a:t>
            </a:r>
            <a:endParaRPr lang="en-US" sz="4400" b="1" dirty="0">
              <a:solidFill>
                <a:prstClr val="black"/>
              </a:solidFill>
              <a:latin typeface="Tahoma" pitchFamily="34" charset="0"/>
              <a:ea typeface="Tahoma" pitchFamily="34" charset="0"/>
              <a:cs typeface="Tahoma" pitchFamily="34" charset="0"/>
            </a:endParaRPr>
          </a:p>
        </p:txBody>
      </p:sp>
      <p:pic>
        <p:nvPicPr>
          <p:cNvPr id="14" name="Picture 13">
            <a:extLst>
              <a:ext uri="{FF2B5EF4-FFF2-40B4-BE49-F238E27FC236}">
                <a16:creationId xmlns:a16="http://schemas.microsoft.com/office/drawing/2014/main" id="{00E8A9D4-A133-4FE5-BC91-F638DD0B5FA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950" t="14860" r="18922" b="25555"/>
          <a:stretch/>
        </p:blipFill>
        <p:spPr>
          <a:xfrm>
            <a:off x="151484" y="4676726"/>
            <a:ext cx="897592" cy="766383"/>
          </a:xfrm>
          <a:prstGeom prst="round2DiagRect">
            <a:avLst>
              <a:gd name="adj1" fmla="val 27632"/>
              <a:gd name="adj2" fmla="val 0"/>
            </a:avLst>
          </a:prstGeom>
          <a:solidFill>
            <a:srgbClr val="DAE3F3"/>
          </a:solidFill>
          <a:ln w="38100" cap="sq">
            <a:solidFill>
              <a:schemeClr val="accent6">
                <a:lumMod val="50000"/>
              </a:schemeClr>
            </a:solidFill>
            <a:miter lim="800000"/>
          </a:ln>
          <a:effectLst>
            <a:outerShdw blurRad="254000" algn="tl" rotWithShape="0">
              <a:srgbClr val="000000">
                <a:alpha val="43000"/>
              </a:srgbClr>
            </a:outerShdw>
          </a:effectLst>
        </p:spPr>
      </p:pic>
      <mc:AlternateContent xmlns:mc="http://schemas.openxmlformats.org/markup-compatibility/2006" xmlns:a14="http://schemas.microsoft.com/office/drawing/2010/main">
        <mc:Choice Requires="a14">
          <p:sp>
            <p:nvSpPr>
              <p:cNvPr id="16" name="Title 1">
                <a:extLst>
                  <a:ext uri="{FF2B5EF4-FFF2-40B4-BE49-F238E27FC236}">
                    <a16:creationId xmlns:a16="http://schemas.microsoft.com/office/drawing/2014/main" id="{26E59A69-9AF9-4A55-9DEC-193CF3743110}"/>
                  </a:ext>
                </a:extLst>
              </p:cNvPr>
              <p:cNvSpPr txBox="1">
                <a:spLocks/>
              </p:cNvSpPr>
              <p:nvPr/>
            </p:nvSpPr>
            <p:spPr>
              <a:xfrm>
                <a:off x="14662753" y="9307432"/>
                <a:ext cx="8247224" cy="4031021"/>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14:m>
                  <m:oMathPara xmlns:m="http://schemas.openxmlformats.org/officeDocument/2006/math">
                    <m:oMathParaPr>
                      <m:jc m:val="left"/>
                    </m:oMathParaPr>
                    <m:oMath xmlns:m="http://schemas.openxmlformats.org/officeDocument/2006/math">
                      <m:r>
                        <a:rPr lang="en-US" sz="4800" b="1" i="1" smtClean="0">
                          <a:latin typeface="Cambria Math" panose="02040503050406030204" pitchFamily="18" charset="0"/>
                        </a:rPr>
                        <m:t>⇔</m:t>
                      </m:r>
                      <m:r>
                        <a:rPr lang="en-US" sz="4800" b="1" i="1" smtClean="0">
                          <a:latin typeface="Cambria Math" panose="02040503050406030204" pitchFamily="18" charset="0"/>
                        </a:rPr>
                        <m:t>𝟐𝟓</m:t>
                      </m:r>
                      <m:sSup>
                        <m:sSupPr>
                          <m:ctrlPr>
                            <a:rPr lang="en-US" sz="4800" b="1" i="1">
                              <a:latin typeface="Cambria Math" panose="02040503050406030204" pitchFamily="18" charset="0"/>
                            </a:rPr>
                          </m:ctrlPr>
                        </m:sSupPr>
                        <m:e>
                          <m:r>
                            <a:rPr lang="en-US" sz="4800" b="1" i="1">
                              <a:latin typeface="Cambria Math" panose="02040503050406030204" pitchFamily="18" charset="0"/>
                            </a:rPr>
                            <m:t>𝒚</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𝟏𝟎𝟎</m:t>
                      </m:r>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𝟖𝟎𝟎</m:t>
                      </m:r>
                      <m:r>
                        <a:rPr lang="en-US" sz="4800" b="1" i="1">
                          <a:latin typeface="Cambria Math" panose="02040503050406030204" pitchFamily="18" charset="0"/>
                        </a:rPr>
                        <m:t>=</m:t>
                      </m:r>
                      <m:r>
                        <a:rPr lang="en-US" sz="4800" b="1" i="1">
                          <a:latin typeface="Cambria Math" panose="02040503050406030204" pitchFamily="18" charset="0"/>
                        </a:rPr>
                        <m:t>𝟎</m:t>
                      </m:r>
                    </m:oMath>
                  </m:oMathPara>
                </a14:m>
                <a:endParaRPr lang="en-US" sz="4800" b="1" i="1" dirty="0">
                  <a:latin typeface="Tahoma" panose="020B0604030504040204" pitchFamily="34" charset="0"/>
                  <a:ea typeface="Tahoma" panose="020B0604030504040204" pitchFamily="34" charset="0"/>
                  <a:cs typeface="Tahoma" panose="020B0604030504040204" pitchFamily="34" charset="0"/>
                </a:endParaRPr>
              </a:p>
              <a:p>
                <a14:m>
                  <m:oMath xmlns:m="http://schemas.openxmlformats.org/officeDocument/2006/math">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𝟖</m:t>
                            </m:r>
                            <m:r>
                              <a:rPr lang="en-US" sz="4800" b="1" i="1">
                                <a:latin typeface="Cambria Math" panose="02040503050406030204" pitchFamily="18" charset="0"/>
                              </a:rPr>
                              <m:t>⇒</m:t>
                            </m:r>
                            <m:r>
                              <a:rPr lang="en-US" sz="4800" b="1" i="1">
                                <a:latin typeface="Cambria Math" panose="02040503050406030204" pitchFamily="18" charset="0"/>
                              </a:rPr>
                              <m:t>𝒙</m:t>
                            </m:r>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𝟏𝟏</m:t>
                                </m:r>
                              </m:num>
                              <m:den>
                                <m:r>
                                  <a:rPr lang="en-US" sz="4800" b="1" i="1">
                                    <a:latin typeface="Cambria Math" panose="02040503050406030204" pitchFamily="18" charset="0"/>
                                  </a:rPr>
                                  <m:t>𝟐</m:t>
                                </m:r>
                              </m:den>
                            </m:f>
                          </m:e>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r>
                              <m:rPr>
                                <m:nor/>
                              </m:rPr>
                              <a:rPr lang="en-US" sz="4800" b="1" i="0" smtClean="0">
                                <a:latin typeface="Tahoma" panose="020B0604030504040204" pitchFamily="34" charset="0"/>
                                <a:ea typeface="Tahoma" panose="020B0604030504040204" pitchFamily="34" charset="0"/>
                                <a:cs typeface="Tahoma" panose="020B0604030504040204" pitchFamily="34" charset="0"/>
                              </a:rPr>
                              <m:t>lo</m:t>
                            </m:r>
                            <m:r>
                              <a:rPr lang="en-US" sz="4800" b="1" i="0" smtClean="0">
                                <a:latin typeface="Cambria Math" panose="02040503050406030204" pitchFamily="18" charset="0"/>
                              </a:rPr>
                              <m:t>ạ</m:t>
                            </m:r>
                            <m:r>
                              <a:rPr lang="en-US" sz="4800" b="1" i="0" smtClean="0">
                                <a:latin typeface="Cambria Math" panose="02040503050406030204" pitchFamily="18" charset="0"/>
                              </a:rPr>
                              <m:t>𝐢</m:t>
                            </m:r>
                            <m:r>
                              <a:rPr lang="en-US" sz="4800" b="1">
                                <a:latin typeface="Cambria Math" panose="02040503050406030204" pitchFamily="18" charset="0"/>
                              </a:rPr>
                              <m:t>)</m:t>
                            </m:r>
                          </m:e>
                        </m:eqArr>
                      </m:e>
                    </m:d>
                  </m:oMath>
                </a14:m>
                <a:r>
                  <a:rPr lang="en-US" sz="4800" b="1" dirty="0">
                    <a:latin typeface="Tahoma" panose="020B0604030504040204" pitchFamily="34" charset="0"/>
                    <a:ea typeface="Tahoma" panose="020B0604030504040204" pitchFamily="34" charset="0"/>
                    <a:cs typeface="Tahoma" panose="020B0604030504040204" pitchFamily="34" charset="0"/>
                  </a:rPr>
                  <a:t>.  </a:t>
                </a:r>
              </a:p>
              <a:p>
                <a:r>
                  <a:rPr lang="en-US" sz="4800" b="1" dirty="0" err="1">
                    <a:latin typeface="Tahoma" panose="020B0604030504040204" pitchFamily="34" charset="0"/>
                    <a:ea typeface="Tahoma" panose="020B0604030504040204" pitchFamily="34" charset="0"/>
                    <a:cs typeface="Tahoma" panose="020B0604030504040204" pitchFamily="34" charset="0"/>
                  </a:rPr>
                  <a:t>Vậy</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𝟖</m:t>
                        </m:r>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𝟏𝟏</m:t>
                            </m:r>
                          </m:num>
                          <m:den>
                            <m:r>
                              <a:rPr lang="en-US" sz="4800" b="1" i="1">
                                <a:latin typeface="Cambria Math" panose="02040503050406030204" pitchFamily="18" charset="0"/>
                              </a:rPr>
                              <m:t>𝟐</m:t>
                            </m:r>
                          </m:den>
                        </m:f>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6" name="Title 1">
                <a:extLst>
                  <a:ext uri="{FF2B5EF4-FFF2-40B4-BE49-F238E27FC236}">
                    <a16:creationId xmlns:a16="http://schemas.microsoft.com/office/drawing/2014/main" id="{26E59A69-9AF9-4A55-9DEC-193CF3743110}"/>
                  </a:ext>
                </a:extLst>
              </p:cNvPr>
              <p:cNvSpPr txBox="1">
                <a:spLocks noRot="1" noChangeAspect="1" noMove="1" noResize="1" noEditPoints="1" noAdjustHandles="1" noChangeArrowheads="1" noChangeShapeType="1" noTextEdit="1"/>
              </p:cNvSpPr>
              <p:nvPr/>
            </p:nvSpPr>
            <p:spPr>
              <a:xfrm>
                <a:off x="14662753" y="9307432"/>
                <a:ext cx="8247224" cy="4031021"/>
              </a:xfrm>
              <a:prstGeom prst="rect">
                <a:avLst/>
              </a:prstGeom>
              <a:blipFill>
                <a:blip r:embed="rId6"/>
                <a:stretch>
                  <a:fillRect l="-3247"/>
                </a:stretch>
              </a:blipFill>
              <a:ln>
                <a:solidFill>
                  <a:schemeClr val="tx2">
                    <a:lumMod val="20000"/>
                    <a:lumOff val="80000"/>
                  </a:schemeClr>
                </a:solidFill>
              </a:ln>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CE1912C3-F0DD-4EBD-95D2-C58768DD75F3}"/>
              </a:ext>
            </a:extLst>
          </p:cNvPr>
          <p:cNvCxnSpPr>
            <a:cxnSpLocks/>
          </p:cNvCxnSpPr>
          <p:nvPr/>
        </p:nvCxnSpPr>
        <p:spPr>
          <a:xfrm>
            <a:off x="12409041" y="5307427"/>
            <a:ext cx="0" cy="7867595"/>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pic>
        <p:nvPicPr>
          <p:cNvPr id="15" name="Picture 14">
            <a:extLst>
              <a:ext uri="{FF2B5EF4-FFF2-40B4-BE49-F238E27FC236}">
                <a16:creationId xmlns:a16="http://schemas.microsoft.com/office/drawing/2014/main" id="{A1F1A7A1-DD75-471B-A13B-2B2B4B9C3C58}"/>
              </a:ext>
            </a:extLst>
          </p:cNvPr>
          <p:cNvPicPr/>
          <p:nvPr/>
        </p:nvPicPr>
        <p:blipFill>
          <a:blip r:embed="rId7"/>
          <a:stretch>
            <a:fillRect/>
          </a:stretch>
        </p:blipFill>
        <p:spPr>
          <a:xfrm>
            <a:off x="15773400" y="4882961"/>
            <a:ext cx="4393373" cy="4358263"/>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749361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6" presetClass="entr" presetSubtype="2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arn(inVertical)">
                                      <p:cBhvr>
                                        <p:cTn id="11" dur="500"/>
                                        <p:tgtEl>
                                          <p:spTgt spid="15"/>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up)">
                                      <p:cBhvr>
                                        <p:cTn id="26" dur="10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up)">
                                      <p:cBhvr>
                                        <p:cTn id="31" dur="10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xEl>
                                              <p:pRg st="0" end="0"/>
                                            </p:txEl>
                                          </p:spTgt>
                                        </p:tgtEl>
                                        <p:attrNameLst>
                                          <p:attrName>style.visibility</p:attrName>
                                        </p:attrNameLst>
                                      </p:cBhvr>
                                      <p:to>
                                        <p:strVal val="visible"/>
                                      </p:to>
                                    </p:set>
                                    <p:animEffect transition="in" filter="fade">
                                      <p:cBhvr>
                                        <p:cTn id="41" dur="500"/>
                                        <p:tgtEl>
                                          <p:spTgt spid="5">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
                                            <p:txEl>
                                              <p:pRg st="1" end="1"/>
                                            </p:txEl>
                                          </p:spTgt>
                                        </p:tgtEl>
                                        <p:attrNameLst>
                                          <p:attrName>style.visibility</p:attrName>
                                        </p:attrNameLst>
                                      </p:cBhvr>
                                      <p:to>
                                        <p:strVal val="visible"/>
                                      </p:to>
                                    </p:set>
                                    <p:animEffect transition="in" filter="fade">
                                      <p:cBhvr>
                                        <p:cTn id="46" dur="500"/>
                                        <p:tgtEl>
                                          <p:spTgt spid="5">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animEffect transition="in" filter="fade">
                                      <p:cBhvr>
                                        <p:cTn id="51" dur="500"/>
                                        <p:tgtEl>
                                          <p:spTgt spid="5">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5">
                                            <p:txEl>
                                              <p:pRg st="3" end="3"/>
                                            </p:txEl>
                                          </p:spTgt>
                                        </p:tgtEl>
                                        <p:attrNameLst>
                                          <p:attrName>style.visibility</p:attrName>
                                        </p:attrNameLst>
                                      </p:cBhvr>
                                      <p:to>
                                        <p:strVal val="visible"/>
                                      </p:to>
                                    </p:set>
                                    <p:animEffect transition="in" filter="fade">
                                      <p:cBhvr>
                                        <p:cTn id="56" dur="500"/>
                                        <p:tgtEl>
                                          <p:spTgt spid="5">
                                            <p:txEl>
                                              <p:pRg st="3" end="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5">
                                            <p:txEl>
                                              <p:pRg st="4" end="4"/>
                                            </p:txEl>
                                          </p:spTgt>
                                        </p:tgtEl>
                                        <p:attrNameLst>
                                          <p:attrName>style.visibility</p:attrName>
                                        </p:attrNameLst>
                                      </p:cBhvr>
                                      <p:to>
                                        <p:strVal val="visible"/>
                                      </p:to>
                                    </p:set>
                                    <p:animEffect transition="in" filter="fade">
                                      <p:cBhvr>
                                        <p:cTn id="61" dur="500"/>
                                        <p:tgtEl>
                                          <p:spTgt spid="5">
                                            <p:txEl>
                                              <p:pRg st="4" end="4"/>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5">
                                            <p:txEl>
                                              <p:pRg st="5" end="5"/>
                                            </p:txEl>
                                          </p:spTgt>
                                        </p:tgtEl>
                                        <p:attrNameLst>
                                          <p:attrName>style.visibility</p:attrName>
                                        </p:attrNameLst>
                                      </p:cBhvr>
                                      <p:to>
                                        <p:strVal val="visible"/>
                                      </p:to>
                                    </p:set>
                                    <p:animEffect transition="in" filter="fade">
                                      <p:cBhvr>
                                        <p:cTn id="66" dur="500"/>
                                        <p:tgtEl>
                                          <p:spTgt spid="5">
                                            <p:txEl>
                                              <p:pRg st="5" end="5"/>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5">
                                            <p:txEl>
                                              <p:pRg st="6" end="6"/>
                                            </p:txEl>
                                          </p:spTgt>
                                        </p:tgtEl>
                                        <p:attrNameLst>
                                          <p:attrName>style.visibility</p:attrName>
                                        </p:attrNameLst>
                                      </p:cBhvr>
                                      <p:to>
                                        <p:strVal val="visible"/>
                                      </p:to>
                                    </p:set>
                                    <p:animEffect transition="in" filter="fade">
                                      <p:cBhvr>
                                        <p:cTn id="71" dur="500"/>
                                        <p:tgtEl>
                                          <p:spTgt spid="5">
                                            <p:txEl>
                                              <p:pRg st="6" end="6"/>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5">
                                            <p:txEl>
                                              <p:pRg st="7" end="7"/>
                                            </p:txEl>
                                          </p:spTgt>
                                        </p:tgtEl>
                                        <p:attrNameLst>
                                          <p:attrName>style.visibility</p:attrName>
                                        </p:attrNameLst>
                                      </p:cBhvr>
                                      <p:to>
                                        <p:strVal val="visible"/>
                                      </p:to>
                                    </p:set>
                                    <p:animEffect transition="in" filter="fade">
                                      <p:cBhvr>
                                        <p:cTn id="76" dur="500"/>
                                        <p:tgtEl>
                                          <p:spTgt spid="5">
                                            <p:txEl>
                                              <p:pRg st="7" end="7"/>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
                                            <p:txEl>
                                              <p:pRg st="8" end="8"/>
                                            </p:txEl>
                                          </p:spTgt>
                                        </p:tgtEl>
                                        <p:attrNameLst>
                                          <p:attrName>style.visibility</p:attrName>
                                        </p:attrNameLst>
                                      </p:cBhvr>
                                      <p:to>
                                        <p:strVal val="visible"/>
                                      </p:to>
                                    </p:set>
                                    <p:animEffect transition="in" filter="fade">
                                      <p:cBhvr>
                                        <p:cTn id="81" dur="500"/>
                                        <p:tgtEl>
                                          <p:spTgt spid="5">
                                            <p:txEl>
                                              <p:pRg st="8" end="8"/>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nodeType="clickEffect">
                                  <p:stCondLst>
                                    <p:cond delay="0"/>
                                  </p:stCondLst>
                                  <p:childTnLst>
                                    <p:set>
                                      <p:cBhvr>
                                        <p:cTn id="85" dur="1" fill="hold">
                                          <p:stCondLst>
                                            <p:cond delay="0"/>
                                          </p:stCondLst>
                                        </p:cTn>
                                        <p:tgtEl>
                                          <p:spTgt spid="16">
                                            <p:txEl>
                                              <p:pRg st="0" end="0"/>
                                            </p:txEl>
                                          </p:spTgt>
                                        </p:tgtEl>
                                        <p:attrNameLst>
                                          <p:attrName>style.visibility</p:attrName>
                                        </p:attrNameLst>
                                      </p:cBhvr>
                                      <p:to>
                                        <p:strVal val="visible"/>
                                      </p:to>
                                    </p:set>
                                    <p:animEffect transition="in" filter="barn(inVertical)">
                                      <p:cBhvr>
                                        <p:cTn id="86" dur="500"/>
                                        <p:tgtEl>
                                          <p:spTgt spid="16">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6">
                                            <p:txEl>
                                              <p:pRg st="1" end="1"/>
                                            </p:txEl>
                                          </p:spTgt>
                                        </p:tgtEl>
                                        <p:attrNameLst>
                                          <p:attrName>style.visibility</p:attrName>
                                        </p:attrNameLst>
                                      </p:cBhvr>
                                      <p:to>
                                        <p:strVal val="visible"/>
                                      </p:to>
                                    </p:set>
                                    <p:animEffect transition="in" filter="fade">
                                      <p:cBhvr>
                                        <p:cTn id="91" dur="500"/>
                                        <p:tgtEl>
                                          <p:spTgt spid="16">
                                            <p:txEl>
                                              <p:pRg st="1" end="1"/>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16">
                                            <p:txEl>
                                              <p:pRg st="2" end="2"/>
                                            </p:txEl>
                                          </p:spTgt>
                                        </p:tgtEl>
                                        <p:attrNameLst>
                                          <p:attrName>style.visibility</p:attrName>
                                        </p:attrNameLst>
                                      </p:cBhvr>
                                      <p:to>
                                        <p:strVal val="visible"/>
                                      </p:to>
                                    </p:set>
                                    <p:animEffect transition="in" filter="fade">
                                      <p:cBhvr>
                                        <p:cTn id="96"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5" grpId="0" animBg="1"/>
      <p:bldP spid="12" grpId="0" animBg="1"/>
      <p:bldP spid="13" grpId="0" animBg="1"/>
      <p:bldP spid="1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457200" y="1758547"/>
                <a:ext cx="8763000" cy="351340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just"/>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4.20.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Hình</a:t>
                </a:r>
                <a:r>
                  <a:rPr lang="en-US" sz="4800" b="1" dirty="0">
                    <a:latin typeface="Tahoma" panose="020B0604030504040204" pitchFamily="34" charset="0"/>
                    <a:ea typeface="Tahoma" panose="020B0604030504040204" pitchFamily="34" charset="0"/>
                    <a:cs typeface="Tahoma" panose="020B0604030504040204" pitchFamily="34" charset="0"/>
                  </a:rPr>
                  <a:t> 4.38,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quân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mã</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đang</a:t>
                </a:r>
                <a:r>
                  <a:rPr lang="en-US" sz="4800" b="1" dirty="0">
                    <a:latin typeface="Tahoma" panose="020B0604030504040204" pitchFamily="34" charset="0"/>
                    <a:ea typeface="Tahoma" panose="020B0604030504040204" pitchFamily="34" charset="0"/>
                    <a:cs typeface="Tahoma" panose="020B0604030504040204" pitchFamily="34" charset="0"/>
                  </a:rPr>
                  <a:t> ở </a:t>
                </a:r>
                <a:r>
                  <a:rPr lang="en-US" sz="4800" b="1" dirty="0" err="1">
                    <a:latin typeface="Tahoma" panose="020B0604030504040204" pitchFamily="34" charset="0"/>
                    <a:ea typeface="Tahoma" panose="020B0604030504040204" pitchFamily="34" charset="0"/>
                    <a:cs typeface="Tahoma" panose="020B0604030504040204" pitchFamily="34" charset="0"/>
                  </a:rPr>
                  <a:t>vị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trí</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Hỏi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nước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quân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mã</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đến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những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trí</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nào</a:t>
                </a:r>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457200" y="1758547"/>
                <a:ext cx="8763000" cy="3513406"/>
              </a:xfrm>
              <a:prstGeom prst="rect">
                <a:avLst/>
              </a:prstGeom>
              <a:blipFill>
                <a:blip r:embed="rId3"/>
                <a:stretch>
                  <a:fillRect l="-3056" t="-5872" r="-2986" b="-5181"/>
                </a:stretch>
              </a:blipFill>
              <a:ln>
                <a:solidFill>
                  <a:schemeClr val="tx2">
                    <a:lumMod val="20000"/>
                    <a:lumOff val="80000"/>
                  </a:schemeClr>
                </a:solidFill>
              </a:ln>
            </p:spPr>
            <p:txBody>
              <a:bodyPr/>
              <a:lstStyle/>
              <a:p>
                <a:r>
                  <a:rPr lang="en-US">
                    <a:noFill/>
                  </a:rPr>
                  <a:t> </a:t>
                </a:r>
              </a:p>
            </p:txBody>
          </p:sp>
        </mc:Fallback>
      </mc:AlternateContent>
      <p:sp>
        <p:nvSpPr>
          <p:cNvPr id="45" name="Rectangle 33">
            <a:extLst>
              <a:ext uri="{FF2B5EF4-FFF2-40B4-BE49-F238E27FC236}">
                <a16:creationId xmlns:a16="http://schemas.microsoft.com/office/drawing/2014/main" id="{FC933ED9-94B1-4F46-A3BF-4C2E10ACBF95}"/>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5" name="Title 1">
                <a:extLst>
                  <a:ext uri="{FF2B5EF4-FFF2-40B4-BE49-F238E27FC236}">
                    <a16:creationId xmlns:a16="http://schemas.microsoft.com/office/drawing/2014/main" id="{34DB4C0F-AB3E-43A6-85DA-18F74C5B01B8}"/>
                  </a:ext>
                </a:extLst>
              </p:cNvPr>
              <p:cNvSpPr txBox="1">
                <a:spLocks/>
              </p:cNvSpPr>
              <p:nvPr/>
            </p:nvSpPr>
            <p:spPr>
              <a:xfrm>
                <a:off x="325666" y="7125616"/>
                <a:ext cx="16819550" cy="6119714"/>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just"/>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Quân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mã</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a:latin typeface="Tahoma" panose="020B0604030504040204" pitchFamily="34" charset="0"/>
                    <a:ea typeface="Tahoma" panose="020B0604030504040204" pitchFamily="34" charset="0"/>
                    <a:cs typeface="Tahoma" panose="020B0604030504040204" pitchFamily="34" charset="0"/>
                  </a:rPr>
                  <a:t>di </a:t>
                </a:r>
                <a:r>
                  <a:rPr lang="en-US" sz="4800" b="1" dirty="0" err="1">
                    <a:latin typeface="Tahoma" panose="020B0604030504040204" pitchFamily="34" charset="0"/>
                    <a:ea typeface="Tahoma" panose="020B0604030504040204" pitchFamily="34" charset="0"/>
                    <a:cs typeface="Tahoma" panose="020B0604030504040204" pitchFamily="34" charset="0"/>
                  </a:rPr>
                  <a:t>chuyển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theo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chữ</a:t>
                </a:r>
                <a:r>
                  <a:rPr lang="en-US" sz="4800" b="1" dirty="0">
                    <a:latin typeface="Tahoma" panose="020B0604030504040204" pitchFamily="34" charset="0"/>
                    <a:ea typeface="Tahoma" panose="020B0604030504040204" pitchFamily="34" charset="0"/>
                    <a:cs typeface="Tahoma" panose="020B0604030504040204" pitchFamily="34" charset="0"/>
                  </a:rPr>
                  <a:t> L, </a:t>
                </a:r>
                <a:r>
                  <a:rPr lang="en-US" sz="4800" b="1" dirty="0" err="1">
                    <a:latin typeface="Tahoma" panose="020B0604030504040204" pitchFamily="34" charset="0"/>
                    <a:ea typeface="Tahoma" panose="020B0604030504040204" pitchFamily="34" charset="0"/>
                    <a:cs typeface="Tahoma" panose="020B0604030504040204" pitchFamily="34" charset="0"/>
                  </a:rPr>
                  <a:t>mỗi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nước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gồm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tổng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cộng</a:t>
                </a:r>
                <a:r>
                  <a:rPr lang="en-US" sz="4800" b="1" dirty="0">
                    <a:latin typeface="Tahoma" panose="020B0604030504040204" pitchFamily="34" charset="0"/>
                    <a:ea typeface="Tahoma" panose="020B0604030504040204" pitchFamily="34" charset="0"/>
                    <a:cs typeface="Tahoma" panose="020B0604030504040204" pitchFamily="34" charset="0"/>
                  </a:rPr>
                  <a:t> 3 ô: </a:t>
                </a:r>
                <a:r>
                  <a:rPr lang="en-US" sz="4800" b="1" dirty="0" err="1">
                    <a:latin typeface="Tahoma" panose="020B0604030504040204" pitchFamily="34" charset="0"/>
                    <a:ea typeface="Tahoma" panose="020B0604030504040204" pitchFamily="34" charset="0"/>
                    <a:cs typeface="Tahoma" panose="020B0604030504040204" pitchFamily="34" charset="0"/>
                  </a:rPr>
                  <a:t>tiến</a:t>
                </a:r>
                <a:r>
                  <a:rPr lang="en-US" sz="4800" b="1" dirty="0">
                    <a:latin typeface="Tahoma" panose="020B0604030504040204" pitchFamily="34" charset="0"/>
                    <a:ea typeface="Tahoma" panose="020B0604030504040204" pitchFamily="34" charset="0"/>
                    <a:cs typeface="Tahoma" panose="020B0604030504040204" pitchFamily="34" charset="0"/>
                  </a:rPr>
                  <a:t> 1 ô </a:t>
                </a:r>
                <a:r>
                  <a:rPr lang="en-US" sz="4800" b="1" dirty="0" err="1">
                    <a:latin typeface="Tahoma" panose="020B0604030504040204" pitchFamily="34" charset="0"/>
                    <a:ea typeface="Tahoma" panose="020B0604030504040204" pitchFamily="34" charset="0"/>
                    <a:cs typeface="Tahoma" panose="020B0604030504040204" pitchFamily="34" charset="0"/>
                  </a:rPr>
                  <a:t>rồi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quẹo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hoặc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quẹo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phải</a:t>
                </a:r>
                <a:r>
                  <a:rPr lang="en-US" sz="4800" b="1" dirty="0">
                    <a:latin typeface="Tahoma" panose="020B0604030504040204" pitchFamily="34" charset="0"/>
                    <a:ea typeface="Tahoma" panose="020B0604030504040204" pitchFamily="34" charset="0"/>
                    <a:cs typeface="Tahoma" panose="020B0604030504040204" pitchFamily="34" charset="0"/>
                  </a:rPr>
                  <a:t> 2 ô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tiến</a:t>
                </a:r>
                <a:r>
                  <a:rPr lang="en-US" sz="4800" b="1" dirty="0">
                    <a:latin typeface="Tahoma" panose="020B0604030504040204" pitchFamily="34" charset="0"/>
                    <a:ea typeface="Tahoma" panose="020B0604030504040204" pitchFamily="34" charset="0"/>
                    <a:cs typeface="Tahoma" panose="020B0604030504040204" pitchFamily="34" charset="0"/>
                  </a:rPr>
                  <a:t> 2 ô </a:t>
                </a:r>
                <a:r>
                  <a:rPr lang="en-US" sz="4800" b="1" dirty="0" err="1">
                    <a:latin typeface="Tahoma" panose="020B0604030504040204" pitchFamily="34" charset="0"/>
                    <a:ea typeface="Tahoma" panose="020B0604030504040204" pitchFamily="34" charset="0"/>
                    <a:cs typeface="Tahoma" panose="020B0604030504040204" pitchFamily="34" charset="0"/>
                  </a:rPr>
                  <a:t>rồi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quẹo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hoặc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quẹo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phải</a:t>
                </a:r>
                <a:r>
                  <a:rPr lang="en-US" sz="4800" b="1" dirty="0">
                    <a:latin typeface="Tahoma" panose="020B0604030504040204" pitchFamily="34" charset="0"/>
                    <a:ea typeface="Tahoma" panose="020B0604030504040204" pitchFamily="34" charset="0"/>
                    <a:cs typeface="Tahoma" panose="020B0604030504040204" pitchFamily="34" charset="0"/>
                  </a:rPr>
                  <a:t> 1 ô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với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toàn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quân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cờ</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bàn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cờ</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vua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mã</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cản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bởi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bất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cứ</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quân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nào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nhảy</a:t>
                </a:r>
                <a:r>
                  <a:rPr lang="en-US" sz="4800" b="1" dirty="0">
                    <a:latin typeface="Tahoma" panose="020B0604030504040204" pitchFamily="34" charset="0"/>
                    <a:ea typeface="Tahoma" panose="020B0604030504040204" pitchFamily="34" charset="0"/>
                    <a:cs typeface="Tahoma" panose="020B0604030504040204" pitchFamily="34" charset="0"/>
                  </a:rPr>
                  <a:t> qua </a:t>
                </a:r>
                <a:r>
                  <a:rPr lang="en-US" sz="4800" b="1" dirty="0" err="1">
                    <a:latin typeface="Tahoma" panose="020B0604030504040204" pitchFamily="34" charset="0"/>
                    <a:ea typeface="Tahoma" panose="020B0604030504040204" pitchFamily="34" charset="0"/>
                    <a:cs typeface="Tahoma" panose="020B0604030504040204" pitchFamily="34" charset="0"/>
                  </a:rPr>
                  <a:t>tất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cả</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quân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đường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mình</a:t>
                </a:r>
                <a:r>
                  <a:rPr lang="en-US" sz="4800" b="1" dirty="0">
                    <a:latin typeface="Tahoma" panose="020B0604030504040204" pitchFamily="34" charset="0"/>
                    <a:ea typeface="Tahoma" panose="020B0604030504040204" pitchFamily="34" charset="0"/>
                    <a:cs typeface="Tahoma" panose="020B0604030504040204" pitchFamily="34" charset="0"/>
                  </a:rPr>
                  <a:t>.</a:t>
                </a:r>
              </a:p>
              <a:p>
                <a:pPr algn="just"/>
                <a:r>
                  <a:rPr lang="en-US" sz="4800" b="1" dirty="0" err="1">
                    <a:latin typeface="Tahoma" panose="020B0604030504040204" pitchFamily="34" charset="0"/>
                    <a:ea typeface="Tahoma" panose="020B0604030504040204" pitchFamily="34" charset="0"/>
                    <a:cs typeface="Tahoma" panose="020B0604030504040204" pitchFamily="34" charset="0"/>
                  </a:rPr>
                  <a:t>Vậy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Quân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mã</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thể</a:t>
                </a:r>
                <a:r>
                  <a:rPr lang="en-US" sz="4800" b="1" dirty="0">
                    <a:latin typeface="Tahoma" panose="020B0604030504040204" pitchFamily="34" charset="0"/>
                    <a:ea typeface="Tahoma" panose="020B0604030504040204" pitchFamily="34" charset="0"/>
                    <a:cs typeface="Tahoma" panose="020B0604030504040204" pitchFamily="34" charset="0"/>
                  </a:rPr>
                  <a:t> ở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trí</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sau</a:t>
                </a:r>
                <a:r>
                  <a:rPr lang="en-US" sz="4800" b="1" dirty="0">
                    <a:latin typeface="Tahoma" panose="020B0604030504040204" pitchFamily="34" charset="0"/>
                    <a:ea typeface="Tahoma" panose="020B0604030504040204" pitchFamily="34" charset="0"/>
                    <a:cs typeface="Tahoma" panose="020B0604030504040204" pitchFamily="34" charset="0"/>
                  </a:rPr>
                  <a:t>:</a:t>
                </a:r>
              </a:p>
              <a:p>
                <a:pPr algn="just"/>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𝟒</m:t>
                        </m:r>
                      </m:e>
                    </m:d>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𝟎</m:t>
                        </m:r>
                      </m:e>
                    </m:d>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𝟑</m:t>
                        </m:r>
                      </m:e>
                    </m:d>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𝟏</m:t>
                        </m:r>
                      </m:e>
                    </m:d>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𝟓</m:t>
                        </m:r>
                      </m:e>
                    </m:d>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𝟏</m:t>
                        </m:r>
                      </m:e>
                    </m:d>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𝟒</m:t>
                        </m:r>
                      </m:e>
                    </m:d>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𝟒</m:t>
                        </m:r>
                      </m:e>
                    </m:d>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𝟎</m:t>
                        </m:r>
                      </m:e>
                    </m:d>
                  </m:oMath>
                </a14:m>
                <a:endParaRPr lang="en-US" sz="4800" b="1" dirty="0">
                  <a:latin typeface="Tahoma" panose="020B0604030504040204" pitchFamily="34" charset="0"/>
                  <a:ea typeface="Tahoma" panose="020B0604030504040204" pitchFamily="34" charset="0"/>
                  <a:cs typeface="Tahoma" panose="020B0604030504040204" pitchFamily="34" charset="0"/>
                </a:endParaRPr>
              </a:p>
              <a:p>
                <a:pPr algn="ctr"/>
                <a:endParaRPr lang="en-US" sz="4800" b="1" dirty="0">
                  <a:latin typeface="Tahoma" panose="020B0604030504040204" pitchFamily="34" charset="0"/>
                  <a:ea typeface="Tahoma" panose="020B0604030504040204" pitchFamily="34" charset="0"/>
                  <a:cs typeface="Tahoma" panose="020B0604030504040204" pitchFamily="34" charset="0"/>
                </a:endParaRPr>
              </a:p>
              <a:p>
                <a:endParaRPr lang="en-US" sz="4800" b="1" dirty="0"/>
              </a:p>
            </p:txBody>
          </p:sp>
        </mc:Choice>
        <mc:Fallback xmlns="">
          <p:sp>
            <p:nvSpPr>
              <p:cNvPr id="5" name="Title 1">
                <a:extLst>
                  <a:ext uri="{FF2B5EF4-FFF2-40B4-BE49-F238E27FC236}">
                    <a16:creationId xmlns:a16="http://schemas.microsoft.com/office/drawing/2014/main" id="{34DB4C0F-AB3E-43A6-85DA-18F74C5B01B8}"/>
                  </a:ext>
                </a:extLst>
              </p:cNvPr>
              <p:cNvSpPr txBox="1">
                <a:spLocks noRot="1" noChangeAspect="1" noMove="1" noResize="1" noEditPoints="1" noAdjustHandles="1" noChangeArrowheads="1" noChangeShapeType="1" noTextEdit="1"/>
              </p:cNvSpPr>
              <p:nvPr/>
            </p:nvSpPr>
            <p:spPr>
              <a:xfrm>
                <a:off x="325666" y="7125616"/>
                <a:ext cx="16819550" cy="6119714"/>
              </a:xfrm>
              <a:prstGeom prst="rect">
                <a:avLst/>
              </a:prstGeom>
              <a:blipFill>
                <a:blip r:embed="rId4"/>
                <a:stretch>
                  <a:fillRect l="-1593" t="-3380" r="-1593"/>
                </a:stretch>
              </a:blipFill>
              <a:ln>
                <a:solidFill>
                  <a:schemeClr val="tx2">
                    <a:lumMod val="20000"/>
                    <a:lumOff val="80000"/>
                  </a:schemeClr>
                </a:solidFill>
              </a:ln>
            </p:spPr>
            <p:txBody>
              <a:bodyPr/>
              <a:lstStyle/>
              <a:p>
                <a:r>
                  <a:rPr lang="en-US">
                    <a:noFill/>
                  </a:rPr>
                  <a:t> </a:t>
                </a:r>
              </a:p>
            </p:txBody>
          </p:sp>
        </mc:Fallback>
      </mc:AlternateContent>
      <p:grpSp>
        <p:nvGrpSpPr>
          <p:cNvPr id="7" name="Group 6">
            <a:extLst>
              <a:ext uri="{FF2B5EF4-FFF2-40B4-BE49-F238E27FC236}">
                <a16:creationId xmlns:a16="http://schemas.microsoft.com/office/drawing/2014/main" id="{E5B1057C-ACAA-4040-B4BE-81C7B33C52BD}"/>
              </a:ext>
            </a:extLst>
          </p:cNvPr>
          <p:cNvGrpSpPr/>
          <p:nvPr/>
        </p:nvGrpSpPr>
        <p:grpSpPr>
          <a:xfrm>
            <a:off x="-72644" y="1602026"/>
            <a:ext cx="3118290" cy="978566"/>
            <a:chOff x="-288924" y="1922269"/>
            <a:chExt cx="3118854" cy="978565"/>
          </a:xfrm>
        </p:grpSpPr>
        <p:sp>
          <p:nvSpPr>
            <p:cNvPr id="8" name="Rounded Rectangle 2">
              <a:extLst>
                <a:ext uri="{FF2B5EF4-FFF2-40B4-BE49-F238E27FC236}">
                  <a16:creationId xmlns:a16="http://schemas.microsoft.com/office/drawing/2014/main" id="{42D9E206-B275-440A-A5CC-3B88C433A793}"/>
                </a:ext>
              </a:extLst>
            </p:cNvPr>
            <p:cNvSpPr/>
            <p:nvPr/>
          </p:nvSpPr>
          <p:spPr>
            <a:xfrm>
              <a:off x="-288924" y="2052547"/>
              <a:ext cx="3107350" cy="812813"/>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TextBox 8">
              <a:extLst>
                <a:ext uri="{FF2B5EF4-FFF2-40B4-BE49-F238E27FC236}">
                  <a16:creationId xmlns:a16="http://schemas.microsoft.com/office/drawing/2014/main" id="{19715A7D-43E2-4626-AB04-A4C5D46D4ADC}"/>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itchFamily="34" charset="0"/>
                <a:ea typeface="Tahoma" pitchFamily="34" charset="0"/>
                <a:cs typeface="Tahoma" pitchFamily="34" charset="0"/>
              </a:endParaRPr>
            </a:p>
          </p:txBody>
        </p:sp>
        <p:sp>
          <p:nvSpPr>
            <p:cNvPr id="10" name="TextBox 9">
              <a:extLst>
                <a:ext uri="{FF2B5EF4-FFF2-40B4-BE49-F238E27FC236}">
                  <a16:creationId xmlns:a16="http://schemas.microsoft.com/office/drawing/2014/main" id="{0C26A0C8-8D95-47DD-B53D-5B1240979929}"/>
                </a:ext>
              </a:extLst>
            </p:cNvPr>
            <p:cNvSpPr txBox="1"/>
            <p:nvPr/>
          </p:nvSpPr>
          <p:spPr>
            <a:xfrm>
              <a:off x="-277420" y="2069838"/>
              <a:ext cx="3107350"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a:t>
              </a:r>
              <a:r>
                <a:rPr lang="en-US" sz="4800" b="1" dirty="0">
                  <a:solidFill>
                    <a:srgbClr val="FFFF00"/>
                  </a:solidFill>
                  <a:latin typeface="Tahoma" pitchFamily="34" charset="0"/>
                  <a:ea typeface="Tahoma" pitchFamily="34" charset="0"/>
                  <a:cs typeface="Tahoma" pitchFamily="34" charset="0"/>
                </a:rPr>
                <a:t>BÀI TẬP</a:t>
              </a:r>
            </a:p>
          </p:txBody>
        </p:sp>
      </p:grpSp>
      <p:sp>
        <p:nvSpPr>
          <p:cNvPr id="12" name="Freeform 20">
            <a:extLst>
              <a:ext uri="{FF2B5EF4-FFF2-40B4-BE49-F238E27FC236}">
                <a16:creationId xmlns:a16="http://schemas.microsoft.com/office/drawing/2014/main" id="{EE63F1AC-86ED-40F7-B2B6-B7D3ADDAF24E}"/>
              </a:ext>
            </a:extLst>
          </p:cNvPr>
          <p:cNvSpPr>
            <a:spLocks/>
          </p:cNvSpPr>
          <p:nvPr/>
        </p:nvSpPr>
        <p:spPr bwMode="auto">
          <a:xfrm rot="16200000" flipV="1">
            <a:off x="4568682" y="4827051"/>
            <a:ext cx="686064" cy="2712681"/>
          </a:xfrm>
          <a:prstGeom prst="round1Rect">
            <a:avLst/>
          </a:prstGeom>
          <a:solidFill>
            <a:srgbClr val="DAE3F3"/>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13" name="TextBox 12">
            <a:extLst>
              <a:ext uri="{FF2B5EF4-FFF2-40B4-BE49-F238E27FC236}">
                <a16:creationId xmlns:a16="http://schemas.microsoft.com/office/drawing/2014/main" id="{FFFF3373-39F7-412E-977B-70DDD3FE332B}"/>
              </a:ext>
            </a:extLst>
          </p:cNvPr>
          <p:cNvSpPr txBox="1"/>
          <p:nvPr/>
        </p:nvSpPr>
        <p:spPr>
          <a:xfrm>
            <a:off x="3657600" y="5756983"/>
            <a:ext cx="2508228" cy="769441"/>
          </a:xfrm>
          <a:prstGeom prst="rect">
            <a:avLst/>
          </a:prstGeom>
          <a:solidFill>
            <a:srgbClr val="DAE3F3"/>
          </a:solidFill>
        </p:spPr>
        <p:txBody>
          <a:bodyPr wrap="square" rtlCol="0">
            <a:spAutoFit/>
          </a:bodyPr>
          <a:lstStyle/>
          <a:p>
            <a:pPr algn="ctr"/>
            <a:r>
              <a:rPr lang="vi-VN" sz="4400" b="1" dirty="0">
                <a:solidFill>
                  <a:prstClr val="black"/>
                </a:solidFill>
                <a:latin typeface="Tahoma" pitchFamily="34" charset="0"/>
                <a:ea typeface="Tahoma" pitchFamily="34" charset="0"/>
                <a:cs typeface="Tahoma" pitchFamily="34" charset="0"/>
              </a:rPr>
              <a:t>Bài giải</a:t>
            </a:r>
            <a:endParaRPr lang="en-US" sz="4400" b="1" dirty="0">
              <a:solidFill>
                <a:prstClr val="black"/>
              </a:solidFill>
              <a:latin typeface="Tahoma" pitchFamily="34" charset="0"/>
              <a:ea typeface="Tahoma" pitchFamily="34" charset="0"/>
              <a:cs typeface="Tahoma" pitchFamily="34" charset="0"/>
            </a:endParaRPr>
          </a:p>
        </p:txBody>
      </p:sp>
      <p:pic>
        <p:nvPicPr>
          <p:cNvPr id="14" name="Picture 13">
            <a:extLst>
              <a:ext uri="{FF2B5EF4-FFF2-40B4-BE49-F238E27FC236}">
                <a16:creationId xmlns:a16="http://schemas.microsoft.com/office/drawing/2014/main" id="{00E8A9D4-A133-4FE5-BC91-F638DD0B5FA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950" t="14860" r="18922" b="25555"/>
          <a:stretch/>
        </p:blipFill>
        <p:spPr>
          <a:xfrm>
            <a:off x="2580406" y="5848444"/>
            <a:ext cx="897592" cy="766383"/>
          </a:xfrm>
          <a:prstGeom prst="round2DiagRect">
            <a:avLst>
              <a:gd name="adj1" fmla="val 27632"/>
              <a:gd name="adj2" fmla="val 0"/>
            </a:avLst>
          </a:prstGeom>
          <a:solidFill>
            <a:srgbClr val="DAE3F3"/>
          </a:solidFill>
          <a:ln w="38100" cap="sq">
            <a:solidFill>
              <a:schemeClr val="accent6">
                <a:lumMod val="50000"/>
              </a:schemeClr>
            </a:solidFill>
            <a:miter lim="800000"/>
          </a:ln>
          <a:effectLst>
            <a:outerShdw blurRad="254000" algn="tl" rotWithShape="0">
              <a:srgbClr val="000000">
                <a:alpha val="43000"/>
              </a:srgbClr>
            </a:outerShdw>
          </a:effectLst>
        </p:spPr>
      </p:pic>
      <p:pic>
        <p:nvPicPr>
          <p:cNvPr id="18" name="Picture 17">
            <a:extLst>
              <a:ext uri="{FF2B5EF4-FFF2-40B4-BE49-F238E27FC236}">
                <a16:creationId xmlns:a16="http://schemas.microsoft.com/office/drawing/2014/main" id="{75A887F3-82F1-470D-AA7C-7638313ED1E1}"/>
              </a:ext>
            </a:extLst>
          </p:cNvPr>
          <p:cNvPicPr/>
          <p:nvPr/>
        </p:nvPicPr>
        <p:blipFill>
          <a:blip r:embed="rId6"/>
          <a:stretch>
            <a:fillRect/>
          </a:stretch>
        </p:blipFill>
        <p:spPr>
          <a:xfrm>
            <a:off x="9281281" y="1322176"/>
            <a:ext cx="10650787" cy="5688224"/>
          </a:xfrm>
          <a:prstGeom prst="rect">
            <a:avLst/>
          </a:prstGeom>
        </p:spPr>
      </p:pic>
      <p:pic>
        <p:nvPicPr>
          <p:cNvPr id="19" name="Picture 18">
            <a:extLst>
              <a:ext uri="{FF2B5EF4-FFF2-40B4-BE49-F238E27FC236}">
                <a16:creationId xmlns:a16="http://schemas.microsoft.com/office/drawing/2014/main" id="{193C1FD4-FE19-48EA-A9BC-EC57E57426DB}"/>
              </a:ext>
            </a:extLst>
          </p:cNvPr>
          <p:cNvPicPr/>
          <p:nvPr/>
        </p:nvPicPr>
        <p:blipFill>
          <a:blip r:embed="rId7"/>
          <a:stretch>
            <a:fillRect/>
          </a:stretch>
        </p:blipFill>
        <p:spPr>
          <a:xfrm>
            <a:off x="17163907" y="6624946"/>
            <a:ext cx="6826317" cy="6790927"/>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04481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1"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heel(1)">
                                      <p:cBhvr>
                                        <p:cTn id="11" dur="2000"/>
                                        <p:tgtEl>
                                          <p:spTgt spid="18"/>
                                        </p:tgtEl>
                                      </p:cBhvr>
                                    </p:animEffect>
                                  </p:childTnLst>
                                </p:cTn>
                              </p:par>
                            </p:childTnLst>
                          </p:cTn>
                        </p:par>
                        <p:par>
                          <p:cTn id="12" fill="hold">
                            <p:stCondLst>
                              <p:cond delay="3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up)">
                                      <p:cBhvr>
                                        <p:cTn id="26" dur="10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animEffect transition="in" filter="fade">
                                      <p:cBhvr>
                                        <p:cTn id="31" dur="500"/>
                                        <p:tgtEl>
                                          <p:spTgt spid="5">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xEl>
                                              <p:pRg st="1" end="1"/>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5" grpId="0" animBg="1"/>
      <p:bldP spid="12" grpId="0" animBg="1"/>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620483" y="5105400"/>
            <a:ext cx="23556178" cy="1234536"/>
            <a:chOff x="241306" y="2243792"/>
            <a:chExt cx="11778089"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5400" b="1" i="1">
                          <a:latin typeface="Cambria Math" panose="02040503050406030204" pitchFamily="18" charset="0"/>
                          <a:ea typeface="Calibri" panose="020F0502020204030204" pitchFamily="34" charset="0"/>
                          <a:cs typeface="Times New Roman" panose="02020603050405020304" pitchFamily="18" charset="0"/>
                        </a:rPr>
                        <m:t>𝑴</m:t>
                      </m:r>
                      <m:d>
                        <m:dPr>
                          <m:ctrlPr>
                            <a:rPr lang="en-US" sz="5400" b="1" i="1">
                              <a:latin typeface="Cambria Math" panose="02040503050406030204" pitchFamily="18" charset="0"/>
                              <a:ea typeface="Calibri" panose="020F0502020204030204" pitchFamily="34" charset="0"/>
                              <a:cs typeface="Times New Roman" panose="02020603050405020304" pitchFamily="18" charset="0"/>
                            </a:rPr>
                          </m:ctrlPr>
                        </m:dPr>
                        <m:e>
                          <m:r>
                            <a:rPr lang="en-US" sz="5400" b="1" i="1">
                              <a:latin typeface="Cambria Math" panose="02040503050406030204" pitchFamily="18" charset="0"/>
                              <a:ea typeface="Calibri" panose="020F0502020204030204" pitchFamily="34" charset="0"/>
                              <a:cs typeface="Times New Roman" panose="02020603050405020304" pitchFamily="18" charset="0"/>
                            </a:rPr>
                            <m:t>−</m:t>
                          </m:r>
                          <m:r>
                            <a:rPr lang="en-US" sz="5400" b="1" i="1">
                              <a:latin typeface="Cambria Math" panose="02040503050406030204" pitchFamily="18" charset="0"/>
                              <a:ea typeface="Calibri" panose="020F0502020204030204" pitchFamily="34" charset="0"/>
                              <a:cs typeface="Times New Roman" panose="02020603050405020304" pitchFamily="18" charset="0"/>
                            </a:rPr>
                            <m:t>𝟏</m:t>
                          </m:r>
                          <m:r>
                            <a:rPr lang="en-US" sz="5400" b="1" i="1">
                              <a:latin typeface="Cambria Math" panose="02040503050406030204" pitchFamily="18" charset="0"/>
                              <a:ea typeface="Calibri" panose="020F0502020204030204" pitchFamily="34" charset="0"/>
                              <a:cs typeface="Times New Roman" panose="02020603050405020304" pitchFamily="18" charset="0"/>
                            </a:rPr>
                            <m:t>;</m:t>
                          </m:r>
                          <m:r>
                            <a:rPr lang="en-US" sz="5400" b="1" i="1">
                              <a:latin typeface="Cambria Math" panose="02040503050406030204" pitchFamily="18" charset="0"/>
                              <a:ea typeface="Calibri" panose="020F0502020204030204" pitchFamily="34" charset="0"/>
                              <a:cs typeface="Times New Roman" panose="02020603050405020304" pitchFamily="18" charset="0"/>
                            </a:rPr>
                            <m:t>𝟏𝟖</m:t>
                          </m:r>
                        </m:e>
                      </m:d>
                    </m:oMath>
                  </a14:m>
                  <a:r>
                    <a:rPr lang="en-US" sz="5400" b="1" dirty="0">
                      <a:solidFill>
                        <a:prstClr val="white"/>
                      </a:solidFill>
                      <a:latin typeface="Tahoma" pitchFamily="34" charset="0"/>
                      <a:ea typeface="Tahoma" pitchFamily="34" charset="0"/>
                      <a:cs typeface="Tahoma" pitchFamily="34" charset="0"/>
                    </a:rPr>
                    <a:t>.</a:t>
                  </a: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243792"/>
                  <a:ext cx="2468235" cy="617268"/>
                </a:xfrm>
                <a:prstGeom prst="rect">
                  <a:avLst/>
                </a:prstGeom>
                <a:blipFill>
                  <a:blip r:embed="rId3"/>
                  <a:stretch>
                    <a:fillRect b="-13744"/>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5400" b="1" i="1">
                          <a:latin typeface="Cambria Math" panose="02040503050406030204" pitchFamily="18" charset="0"/>
                          <a:ea typeface="Calibri" panose="020F0502020204030204" pitchFamily="34" charset="0"/>
                          <a:cs typeface="Times New Roman" panose="02020603050405020304" pitchFamily="18" charset="0"/>
                        </a:rPr>
                        <m:t>𝑴</m:t>
                      </m:r>
                      <m:d>
                        <m:dPr>
                          <m:ctrlPr>
                            <a:rPr lang="en-US" sz="5400" b="1" i="1">
                              <a:latin typeface="Cambria Math" panose="02040503050406030204" pitchFamily="18" charset="0"/>
                              <a:ea typeface="Calibri" panose="020F0502020204030204" pitchFamily="34" charset="0"/>
                              <a:cs typeface="Times New Roman" panose="02020603050405020304" pitchFamily="18" charset="0"/>
                            </a:rPr>
                          </m:ctrlPr>
                        </m:dPr>
                        <m:e>
                          <m:r>
                            <a:rPr lang="en-US" sz="5400" b="1" i="1">
                              <a:latin typeface="Cambria Math" panose="02040503050406030204" pitchFamily="18" charset="0"/>
                              <a:ea typeface="Calibri" panose="020F0502020204030204" pitchFamily="34" charset="0"/>
                              <a:cs typeface="Times New Roman" panose="02020603050405020304" pitchFamily="18" charset="0"/>
                            </a:rPr>
                            <m:t>𝟏</m:t>
                          </m:r>
                          <m:r>
                            <a:rPr lang="en-US" sz="5400" b="1" i="1">
                              <a:latin typeface="Cambria Math" panose="02040503050406030204" pitchFamily="18" charset="0"/>
                              <a:ea typeface="Calibri" panose="020F0502020204030204" pitchFamily="34" charset="0"/>
                              <a:cs typeface="Times New Roman" panose="02020603050405020304" pitchFamily="18" charset="0"/>
                            </a:rPr>
                            <m:t>;</m:t>
                          </m:r>
                          <m:r>
                            <a:rPr lang="en-US" sz="5400" b="1" i="1">
                              <a:latin typeface="Cambria Math" panose="02040503050406030204" pitchFamily="18" charset="0"/>
                              <a:ea typeface="Calibri" panose="020F0502020204030204" pitchFamily="34" charset="0"/>
                              <a:cs typeface="Times New Roman" panose="02020603050405020304" pitchFamily="18" charset="0"/>
                            </a:rPr>
                            <m:t>𝟏𝟖</m:t>
                          </m:r>
                        </m:e>
                      </m:d>
                    </m:oMath>
                  </a14:m>
                  <a:r>
                    <a:rPr lang="en-US" sz="5400" b="1" dirty="0">
                      <a:solidFill>
                        <a:prstClr val="white"/>
                      </a:solidFill>
                      <a:latin typeface="Tahoma" pitchFamily="34" charset="0"/>
                      <a:ea typeface="Tahoma" pitchFamily="34" charset="0"/>
                      <a:cs typeface="Tahoma" pitchFamily="34" charset="0"/>
                    </a:rPr>
                    <a:t>.</a:t>
                  </a: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243792"/>
                  <a:ext cx="2468235" cy="617268"/>
                </a:xfrm>
                <a:prstGeom prst="rect">
                  <a:avLst/>
                </a:prstGeom>
                <a:blipFill>
                  <a:blip r:embed="rId4"/>
                  <a:stretch>
                    <a:fillRect b="-13744"/>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5400" b="1" i="1">
                          <a:latin typeface="Cambria Math" panose="02040503050406030204" pitchFamily="18" charset="0"/>
                          <a:ea typeface="Calibri" panose="020F0502020204030204" pitchFamily="34" charset="0"/>
                          <a:cs typeface="Times New Roman" panose="02020603050405020304" pitchFamily="18" charset="0"/>
                        </a:rPr>
                        <m:t>𝑴</m:t>
                      </m:r>
                      <m:d>
                        <m:dPr>
                          <m:ctrlPr>
                            <a:rPr lang="en-US" sz="5400" b="1" i="1">
                              <a:latin typeface="Cambria Math" panose="02040503050406030204" pitchFamily="18" charset="0"/>
                              <a:ea typeface="Calibri" panose="020F0502020204030204" pitchFamily="34" charset="0"/>
                              <a:cs typeface="Times New Roman" panose="02020603050405020304" pitchFamily="18" charset="0"/>
                            </a:rPr>
                          </m:ctrlPr>
                        </m:dPr>
                        <m:e>
                          <m:r>
                            <a:rPr lang="en-US" sz="5400" b="1" i="1">
                              <a:latin typeface="Cambria Math" panose="02040503050406030204" pitchFamily="18" charset="0"/>
                              <a:ea typeface="Calibri" panose="020F0502020204030204" pitchFamily="34" charset="0"/>
                              <a:cs typeface="Times New Roman" panose="02020603050405020304" pitchFamily="18" charset="0"/>
                            </a:rPr>
                            <m:t>𝟏</m:t>
                          </m:r>
                          <m:r>
                            <a:rPr lang="en-US" sz="5400" b="1" i="1">
                              <a:latin typeface="Cambria Math" panose="02040503050406030204" pitchFamily="18" charset="0"/>
                              <a:ea typeface="Calibri" panose="020F0502020204030204" pitchFamily="34" charset="0"/>
                              <a:cs typeface="Times New Roman" panose="02020603050405020304" pitchFamily="18" charset="0"/>
                            </a:rPr>
                            <m:t>;−</m:t>
                          </m:r>
                          <m:r>
                            <a:rPr lang="en-US" sz="5400" b="1" i="1">
                              <a:latin typeface="Cambria Math" panose="02040503050406030204" pitchFamily="18" charset="0"/>
                              <a:ea typeface="Calibri" panose="020F0502020204030204" pitchFamily="34" charset="0"/>
                              <a:cs typeface="Times New Roman" panose="02020603050405020304" pitchFamily="18" charset="0"/>
                            </a:rPr>
                            <m:t>𝟏𝟖</m:t>
                          </m:r>
                        </m:e>
                      </m:d>
                    </m:oMath>
                  </a14:m>
                  <a:r>
                    <a:rPr lang="en-US" sz="5400" b="1" dirty="0">
                      <a:solidFill>
                        <a:prstClr val="white"/>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243792"/>
                  <a:ext cx="2468235" cy="617268"/>
                </a:xfrm>
                <a:prstGeom prst="rect">
                  <a:avLst/>
                </a:prstGeom>
                <a:blipFill>
                  <a:blip r:embed="rId5"/>
                  <a:stretch>
                    <a:fillRect b="-13744"/>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5400" b="1" i="1">
                          <a:latin typeface="Cambria Math" panose="02040503050406030204" pitchFamily="18" charset="0"/>
                          <a:ea typeface="Calibri" panose="020F0502020204030204" pitchFamily="34" charset="0"/>
                          <a:cs typeface="Times New Roman" panose="02020603050405020304" pitchFamily="18" charset="0"/>
                        </a:rPr>
                        <m:t>𝑴</m:t>
                      </m:r>
                      <m:d>
                        <m:dPr>
                          <m:ctrlPr>
                            <a:rPr lang="en-US" sz="5400" b="1" i="1">
                              <a:latin typeface="Cambria Math" panose="02040503050406030204" pitchFamily="18" charset="0"/>
                              <a:ea typeface="Calibri" panose="020F0502020204030204" pitchFamily="34" charset="0"/>
                              <a:cs typeface="Times New Roman" panose="02020603050405020304" pitchFamily="18" charset="0"/>
                            </a:rPr>
                          </m:ctrlPr>
                        </m:dPr>
                        <m:e>
                          <m:r>
                            <a:rPr lang="en-US" sz="5400" b="1" i="1">
                              <a:latin typeface="Cambria Math" panose="02040503050406030204" pitchFamily="18" charset="0"/>
                              <a:ea typeface="Calibri" panose="020F0502020204030204" pitchFamily="34" charset="0"/>
                              <a:cs typeface="Times New Roman" panose="02020603050405020304" pitchFamily="18" charset="0"/>
                            </a:rPr>
                            <m:t>−</m:t>
                          </m:r>
                          <m:r>
                            <a:rPr lang="en-US" sz="5400" b="1" i="1">
                              <a:latin typeface="Cambria Math" panose="02040503050406030204" pitchFamily="18" charset="0"/>
                              <a:ea typeface="Calibri" panose="020F0502020204030204" pitchFamily="34" charset="0"/>
                              <a:cs typeface="Times New Roman" panose="02020603050405020304" pitchFamily="18" charset="0"/>
                            </a:rPr>
                            <m:t>𝟏𝟖</m:t>
                          </m:r>
                          <m:r>
                            <a:rPr lang="en-US" sz="5400" b="1" i="1">
                              <a:latin typeface="Cambria Math" panose="02040503050406030204" pitchFamily="18" charset="0"/>
                              <a:ea typeface="Calibri" panose="020F0502020204030204" pitchFamily="34" charset="0"/>
                              <a:cs typeface="Times New Roman" panose="02020603050405020304" pitchFamily="18" charset="0"/>
                            </a:rPr>
                            <m:t>;</m:t>
                          </m:r>
                          <m:r>
                            <a:rPr lang="en-US" sz="5400" b="1" i="1">
                              <a:latin typeface="Cambria Math" panose="02040503050406030204" pitchFamily="18" charset="0"/>
                              <a:ea typeface="Calibri" panose="020F0502020204030204" pitchFamily="34" charset="0"/>
                              <a:cs typeface="Times New Roman" panose="02020603050405020304" pitchFamily="18" charset="0"/>
                            </a:rPr>
                            <m:t>𝟏</m:t>
                          </m:r>
                        </m:e>
                      </m:d>
                    </m:oMath>
                  </a14:m>
                  <a:r>
                    <a:rPr lang="en-US" sz="5400" b="1" dirty="0">
                      <a:solidFill>
                        <a:prstClr val="white"/>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243792"/>
                  <a:ext cx="2468235" cy="617268"/>
                </a:xfrm>
                <a:prstGeom prst="rect">
                  <a:avLst/>
                </a:prstGeom>
                <a:blipFill>
                  <a:blip r:embed="rId6"/>
                  <a:stretch>
                    <a:fillRect b="-13744"/>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12644429" y="5195768"/>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590803"/>
            <a:ext cx="23943880" cy="2401467"/>
            <a:chOff x="923003" y="3917552"/>
            <a:chExt cx="23943880" cy="2401466"/>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4426857"/>
              <a:ext cx="23594672" cy="1892161"/>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9"/>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1</a:t>
                  </a:r>
                  <a:r>
                    <a:rPr lang="vi-VN" sz="4600" b="1" dirty="0">
                      <a:solidFill>
                        <a:prstClr val="black"/>
                      </a:solidFill>
                      <a:latin typeface="Tahoma" pitchFamily="34" charset="0"/>
                      <a:ea typeface="Tahoma" pitchFamily="34" charset="0"/>
                      <a:cs typeface="Tahoma" pitchFamily="34" charset="0"/>
                    </a:rPr>
                    <a:t> </a:t>
                  </a:r>
                  <a:endParaRPr lang="en-US" sz="4600" b="1" dirty="0">
                    <a:solidFill>
                      <a:prstClr val="black"/>
                    </a:solidFill>
                    <a:latin typeface="Tahoma" pitchFamily="34" charset="0"/>
                    <a:ea typeface="Tahoma" pitchFamily="34" charset="0"/>
                    <a:cs typeface="Tahoma" pitchFamily="34" charset="0"/>
                  </a:endParaRP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852864" y="6936076"/>
                <a:ext cx="6043736" cy="830997"/>
              </a:xfrm>
              <a:prstGeom prst="rect">
                <a:avLst/>
              </a:prstGeom>
              <a:noFill/>
            </p:spPr>
            <p:txBody>
              <a:bodyPr wrap="square">
                <a:spAutoFit/>
              </a:bodyP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Gọi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852864" y="6936076"/>
                <a:ext cx="6043736" cy="830997"/>
              </a:xfrm>
              <a:prstGeom prst="rect">
                <a:avLst/>
              </a:prstGeom>
              <a:blipFill>
                <a:blip r:embed="rId8"/>
                <a:stretch>
                  <a:fillRect l="-1613" t="-17647" r="-2218"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4302314" y="3058461"/>
                <a:ext cx="18847826" cy="1797159"/>
              </a:xfrm>
              <a:prstGeom prst="rect">
                <a:avLst/>
              </a:prstGeom>
              <a:noFill/>
            </p:spPr>
            <p:txBody>
              <a:bodyPr wrap="square">
                <a:spAutoFit/>
              </a:bodyPr>
              <a:lstStyle/>
              <a:p>
                <a:pPr marL="629920" indent="-629920" algn="just">
                  <a:lnSpc>
                    <a:spcPct val="115000"/>
                  </a:lnSpc>
                  <a:spcAft>
                    <a:spcPts val="800"/>
                  </a:spcAft>
                  <a:tabLst>
                    <a:tab pos="629920" algn="l"/>
                  </a:tabLst>
                </a:pP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hệ</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𝑶𝒙𝒚</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𝑨</m:t>
                    </m:r>
                    <m:d>
                      <m:dPr>
                        <m:ctrlPr>
                          <a:rPr lang="en-US" sz="4800" b="1" i="1">
                            <a:latin typeface="Cambria Math" panose="02040503050406030204" pitchFamily="18" charset="0"/>
                            <a:ea typeface="Calibri" panose="020F0502020204030204" pitchFamily="34" charset="0"/>
                            <a:cs typeface="Times New Roman" panose="02020603050405020304" pitchFamily="18" charset="0"/>
                          </a:rPr>
                        </m:ctrlPr>
                      </m:dPr>
                      <m:e>
                        <m:r>
                          <a:rPr lang="en-US" sz="4800" b="1" i="1">
                            <a:latin typeface="Cambria Math" panose="02040503050406030204" pitchFamily="18" charset="0"/>
                            <a:ea typeface="Calibri" panose="020F0502020204030204" pitchFamily="34" charset="0"/>
                            <a:cs typeface="Times New Roman" panose="02020603050405020304" pitchFamily="18" charset="0"/>
                          </a:rPr>
                          <m:t>𝟏</m:t>
                        </m:r>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𝟑</m:t>
                        </m:r>
                      </m:e>
                    </m:d>
                    <m:r>
                      <a:rPr lang="en-US" sz="4800" b="1" i="1">
                        <a:latin typeface="Cambria Math" panose="02040503050406030204" pitchFamily="18" charset="0"/>
                        <a:ea typeface="Calibri" panose="020F0502020204030204" pitchFamily="34" charset="0"/>
                        <a:cs typeface="Times New Roman" panose="020206030504050203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𝑩</m:t>
                    </m:r>
                    <m:d>
                      <m:dPr>
                        <m:ctrlPr>
                          <a:rPr lang="en-US" sz="4800" b="1" i="1">
                            <a:latin typeface="Cambria Math" panose="02040503050406030204" pitchFamily="18" charset="0"/>
                            <a:ea typeface="Calibri" panose="020F0502020204030204" pitchFamily="34" charset="0"/>
                            <a:cs typeface="Times New Roman" panose="02020603050405020304" pitchFamily="18" charset="0"/>
                          </a:rPr>
                        </m:ctrlPr>
                      </m:dPr>
                      <m:e>
                        <m:r>
                          <a:rPr lang="en-US" sz="4800" b="1" i="1">
                            <a:latin typeface="Cambria Math" panose="02040503050406030204" pitchFamily="18" charset="0"/>
                            <a:ea typeface="Calibri" panose="020F0502020204030204" pitchFamily="34" charset="0"/>
                            <a:cs typeface="Times New Roman" panose="02020603050405020304" pitchFamily="18" charset="0"/>
                          </a:rPr>
                          <m:t>𝟒</m:t>
                        </m:r>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𝟎</m:t>
                        </m:r>
                      </m:e>
                    </m:d>
                    <m:r>
                      <a:rPr lang="en-US" sz="4800" b="1" i="1">
                        <a:latin typeface="Cambria Math" panose="02040503050406030204" pitchFamily="18" charset="0"/>
                        <a:ea typeface="Calibri" panose="020F0502020204030204" pitchFamily="34" charset="0"/>
                        <a:cs typeface="Times New Roman" panose="020206030504050203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𝑪</m:t>
                    </m:r>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𝟐</m:t>
                    </m:r>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𝟓</m:t>
                    </m:r>
                    <m:r>
                      <a:rPr lang="en-US" sz="4800" b="1" i="1">
                        <a:latin typeface="Cambria Math" panose="02040503050406030204" pitchFamily="18" charset="0"/>
                        <a:ea typeface="Calibri" panose="020F0502020204030204" pitchFamily="34" charset="0"/>
                        <a:cs typeface="Times New Roman" panose="020206030504050203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Tìm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i="1" dirty="0">
                    <a:latin typeface="Tahoma" panose="020B0604030504040204" pitchFamily="34" charset="0"/>
                    <a:ea typeface="Tahoma" panose="020B0604030504040204" pitchFamily="34" charset="0"/>
                    <a:cs typeface="Tahoma" panose="020B0604030504040204" pitchFamily="34" charset="0"/>
                  </a:rPr>
                  <a:t>M</a:t>
                </a:r>
                <a:r>
                  <a:rPr lang="en-US" sz="4800" b="1" dirty="0">
                    <a:latin typeface="Tahoma" panose="020B0604030504040204" pitchFamily="34" charset="0"/>
                    <a:ea typeface="Tahoma" panose="020B0604030504040204" pitchFamily="34" charset="0"/>
                    <a:cs typeface="Tahoma" panose="020B0604030504040204" pitchFamily="34" charset="0"/>
                  </a:rPr>
                  <a:t> </a:t>
                </a:r>
                <a:r>
                  <a:rPr lang="vi-VN"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thỏa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mãn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hệ</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thức</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ea typeface="Calibri" panose="020F0502020204030204" pitchFamily="34" charset="0"/>
                            <a:cs typeface="Times New Roman" panose="02020603050405020304" pitchFamily="18" charset="0"/>
                          </a:rPr>
                        </m:ctrlPr>
                      </m:accPr>
                      <m:e>
                        <m:r>
                          <a:rPr lang="en-US" sz="4800" b="1" i="1">
                            <a:latin typeface="Cambria Math" panose="02040503050406030204" pitchFamily="18" charset="0"/>
                            <a:ea typeface="Calibri" panose="020F0502020204030204" pitchFamily="34" charset="0"/>
                            <a:cs typeface="Times New Roman" panose="02020603050405020304" pitchFamily="18" charset="0"/>
                          </a:rPr>
                          <m:t>𝑴𝑨</m:t>
                        </m:r>
                      </m:e>
                    </m:acc>
                    <m:r>
                      <a:rPr lang="en-US" sz="4800" b="1"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800" b="1" i="1">
                            <a:latin typeface="Cambria Math" panose="02040503050406030204" pitchFamily="18" charset="0"/>
                            <a:ea typeface="Calibri" panose="020F0502020204030204" pitchFamily="34" charset="0"/>
                            <a:cs typeface="Times New Roman" panose="02020603050405020304" pitchFamily="18" charset="0"/>
                          </a:rPr>
                        </m:ctrlPr>
                      </m:accPr>
                      <m:e>
                        <m:r>
                          <a:rPr lang="en-US" sz="4800" b="1" i="1">
                            <a:latin typeface="Cambria Math" panose="02040503050406030204" pitchFamily="18" charset="0"/>
                            <a:ea typeface="Calibri" panose="020F0502020204030204" pitchFamily="34" charset="0"/>
                            <a:cs typeface="Times New Roman" panose="02020603050405020304" pitchFamily="18" charset="0"/>
                          </a:rPr>
                          <m:t>𝑴𝑩</m:t>
                        </m:r>
                      </m:e>
                    </m:acc>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𝟑</m:t>
                    </m:r>
                    <m:acc>
                      <m:accPr>
                        <m:chr m:val="⃗"/>
                        <m:ctrlPr>
                          <a:rPr lang="en-US" sz="4800" b="1" i="1">
                            <a:latin typeface="Cambria Math" panose="02040503050406030204" pitchFamily="18" charset="0"/>
                            <a:ea typeface="Calibri" panose="020F0502020204030204" pitchFamily="34" charset="0"/>
                            <a:cs typeface="Times New Roman" panose="02020603050405020304" pitchFamily="18" charset="0"/>
                          </a:rPr>
                        </m:ctrlPr>
                      </m:accPr>
                      <m:e>
                        <m:r>
                          <a:rPr lang="en-US" sz="4800" b="1" i="1">
                            <a:latin typeface="Cambria Math" panose="02040503050406030204" pitchFamily="18" charset="0"/>
                            <a:ea typeface="Calibri" panose="020F0502020204030204" pitchFamily="34" charset="0"/>
                            <a:cs typeface="Times New Roman" panose="02020603050405020304" pitchFamily="18" charset="0"/>
                          </a:rPr>
                          <m:t>𝑴𝑪</m:t>
                        </m:r>
                      </m:e>
                    </m:acc>
                    <m:r>
                      <a:rPr lang="en-US" sz="4800" b="1"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800" b="1" i="1">
                            <a:latin typeface="Cambria Math" panose="02040503050406030204" pitchFamily="18" charset="0"/>
                            <a:ea typeface="Calibri" panose="020F0502020204030204" pitchFamily="34" charset="0"/>
                            <a:cs typeface="Times New Roman" panose="02020603050405020304" pitchFamily="18" charset="0"/>
                          </a:rPr>
                        </m:ctrlPr>
                      </m:accPr>
                      <m:e>
                        <m:r>
                          <a:rPr lang="en-US" sz="4800" b="1" i="1">
                            <a:latin typeface="Cambria Math" panose="02040503050406030204" pitchFamily="18" charset="0"/>
                            <a:ea typeface="Calibri" panose="020F0502020204030204" pitchFamily="34" charset="0"/>
                            <a:cs typeface="Times New Roman" panose="02020603050405020304" pitchFamily="18" charset="0"/>
                          </a:rPr>
                          <m:t>𝟎</m:t>
                        </m:r>
                      </m:e>
                    </m:acc>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4302314" y="3058461"/>
                <a:ext cx="18847826" cy="1797159"/>
              </a:xfrm>
              <a:prstGeom prst="rect">
                <a:avLst/>
              </a:prstGeom>
              <a:blipFill>
                <a:blip r:embed="rId9"/>
                <a:stretch>
                  <a:fillRect l="-1488" t="-6102" r="-1455" b="-16610"/>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669002" y="1685889"/>
            <a:ext cx="982961" cy="754053"/>
          </a:xfrm>
          <a:prstGeom prst="rect">
            <a:avLst/>
          </a:prstGeom>
          <a:noFill/>
        </p:spPr>
        <p:txBody>
          <a:bodyPr wrap="none" rtlCol="0">
            <a:spAutoFit/>
          </a:bodyPr>
          <a:lstStyle/>
          <a:p>
            <a:pPr algn="ctr"/>
            <a:r>
              <a:rPr lang="en-US" b="1" dirty="0">
                <a:solidFill>
                  <a:prstClr val="white"/>
                </a:solidFill>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807940" y="8110016"/>
                <a:ext cx="19461259" cy="925446"/>
              </a:xfrm>
              <a:prstGeom prst="rect">
                <a:avLst/>
              </a:prstGeom>
              <a:noFill/>
            </p:spPr>
            <p:txBody>
              <a:bodyPr wrap="square">
                <a:spAutoFit/>
              </a:bodyPr>
              <a:lstStyle/>
              <a:p>
                <a:r>
                  <a:rPr lang="en-US" sz="4800" b="1" dirty="0" err="1">
                    <a:latin typeface="Tahoma" panose="020B0604030504040204" pitchFamily="34" charset="0"/>
                    <a:ea typeface="Tahoma" panose="020B0604030504040204" pitchFamily="34" charset="0"/>
                    <a:cs typeface="Tahoma" panose="020B0604030504040204" pitchFamily="34" charset="0"/>
                  </a:rPr>
                  <a:t>Suy</a:t>
                </a:r>
                <a:r>
                  <a:rPr lang="en-US" sz="4800" b="1" dirty="0">
                    <a:latin typeface="Tahoma" panose="020B0604030504040204" pitchFamily="34" charset="0"/>
                    <a:ea typeface="Tahoma" panose="020B0604030504040204" pitchFamily="34" charset="0"/>
                    <a:cs typeface="Tahoma" panose="020B0604030504040204" pitchFamily="34" charset="0"/>
                  </a:rPr>
                  <a:t> ra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𝑴𝑨</m:t>
                        </m:r>
                      </m:e>
                    </m:acc>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𝑴𝑩</m:t>
                        </m:r>
                      </m:e>
                    </m:acc>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𝑴𝑪</m:t>
                        </m:r>
                      </m:e>
                    </m:acc>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𝟓</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807940" y="8110016"/>
                <a:ext cx="19461259" cy="925446"/>
              </a:xfrm>
              <a:prstGeom prst="rect">
                <a:avLst/>
              </a:prstGeom>
              <a:blipFill>
                <a:blip r:embed="rId10"/>
                <a:stretch>
                  <a:fillRect l="-1441" t="-5921" r="-721" b="-32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DB88394-B59F-4019-807A-D69A9C53B86C}"/>
                  </a:ext>
                </a:extLst>
              </p:cNvPr>
              <p:cNvSpPr txBox="1"/>
              <p:nvPr/>
            </p:nvSpPr>
            <p:spPr>
              <a:xfrm>
                <a:off x="807940" y="9420381"/>
                <a:ext cx="22204460" cy="1740028"/>
              </a:xfrm>
              <a:prstGeom prst="rect">
                <a:avLst/>
              </a:prstGeom>
              <a:noFill/>
            </p:spPr>
            <p:txBody>
              <a:bodyPr wrap="square">
                <a:spAutoFit/>
              </a:bodyPr>
              <a:lstStyle/>
              <a:p>
                <a:r>
                  <a:rPr lang="pt-BR" sz="4800" b="1" dirty="0">
                    <a:latin typeface="Tahoma" panose="020B0604030504040204" pitchFamily="34" charset="0"/>
                    <a:ea typeface="Tahoma" panose="020B0604030504040204" pitchFamily="34" charset="0"/>
                    <a:cs typeface="Tahoma" panose="020B0604030504040204" pitchFamily="34" charset="0"/>
                  </a:rPr>
                  <a:t>Ta có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𝑴𝑨</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𝑴𝑩</m:t>
                        </m:r>
                      </m:e>
                    </m:acc>
                    <m:r>
                      <a:rPr lang="en-US" sz="4800" b="1" i="1">
                        <a:latin typeface="Cambria Math" panose="02040503050406030204" pitchFamily="18" charset="0"/>
                      </a:rPr>
                      <m:t>−</m:t>
                    </m:r>
                    <m:r>
                      <a:rPr lang="en-US" sz="4800" b="1" i="1">
                        <a:latin typeface="Cambria Math" panose="02040503050406030204" pitchFamily="18" charset="0"/>
                      </a:rPr>
                      <m:t>𝟑</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𝑴𝑪</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𝟎</m:t>
                        </m:r>
                      </m:e>
                    </m:acc>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𝒙</m:t>
                                </m:r>
                              </m:e>
                            </m:d>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𝒙</m:t>
                                </m:r>
                              </m:e>
                            </m:d>
                            <m:r>
                              <a:rPr lang="en-US" sz="4800" b="1" i="1">
                                <a:latin typeface="Cambria Math" panose="02040503050406030204" pitchFamily="18" charset="0"/>
                              </a:rPr>
                              <m:t>−</m:t>
                            </m:r>
                            <m:r>
                              <a:rPr lang="en-US" sz="4800" b="1" i="1">
                                <a:latin typeface="Cambria Math" panose="02040503050406030204" pitchFamily="18" charset="0"/>
                              </a:rPr>
                              <m:t>𝟑</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𝒙</m:t>
                                </m:r>
                              </m:e>
                            </m:d>
                            <m:r>
                              <a:rPr lang="en-US" sz="4800" b="1" i="1">
                                <a:latin typeface="Cambria Math" panose="02040503050406030204" pitchFamily="18" charset="0"/>
                              </a:rPr>
                              <m:t>=</m:t>
                            </m:r>
                            <m:r>
                              <a:rPr lang="en-US" sz="4800" b="1" i="1">
                                <a:latin typeface="Cambria Math" panose="02040503050406030204" pitchFamily="18" charset="0"/>
                              </a:rPr>
                              <m:t>𝟎</m:t>
                            </m:r>
                          </m:e>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𝟑</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𝟓</m:t>
                                </m:r>
                                <m:r>
                                  <a:rPr lang="en-US" sz="4800" b="1" i="1">
                                    <a:latin typeface="Cambria Math" panose="02040503050406030204" pitchFamily="18" charset="0"/>
                                  </a:rPr>
                                  <m:t>−</m:t>
                                </m:r>
                                <m:r>
                                  <a:rPr lang="en-US" sz="4800" b="1" i="1">
                                    <a:latin typeface="Cambria Math" panose="02040503050406030204" pitchFamily="18" charset="0"/>
                                  </a:rPr>
                                  <m:t>𝒚</m:t>
                                </m:r>
                              </m:e>
                            </m:d>
                            <m:r>
                              <a:rPr lang="en-US" sz="4800" b="1" i="1">
                                <a:latin typeface="Cambria Math" panose="02040503050406030204" pitchFamily="18" charset="0"/>
                              </a:rPr>
                              <m:t>=</m:t>
                            </m:r>
                            <m:r>
                              <a:rPr lang="en-US" sz="4800" b="1" i="1">
                                <a:latin typeface="Cambria Math" panose="02040503050406030204" pitchFamily="18" charset="0"/>
                              </a:rPr>
                              <m:t>𝟎</m:t>
                            </m:r>
                          </m:e>
                        </m:eqArr>
                      </m:e>
                    </m:d>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m:t>
                            </m:r>
                          </m:e>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𝟏𝟖</m:t>
                            </m:r>
                          </m:e>
                        </m:eqArr>
                      </m:e>
                    </m:d>
                    <m:r>
                      <a:rPr lang="en-US" sz="4800" b="1" i="1">
                        <a:latin typeface="Cambria Math" panose="02040503050406030204" pitchFamily="18" charset="0"/>
                      </a:rPr>
                      <m:t>.</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4" name="TextBox 33">
                <a:extLst>
                  <a:ext uri="{FF2B5EF4-FFF2-40B4-BE49-F238E27FC236}">
                    <a16:creationId xmlns:a16="http://schemas.microsoft.com/office/drawing/2014/main" id="{BDB88394-B59F-4019-807A-D69A9C53B86C}"/>
                  </a:ext>
                </a:extLst>
              </p:cNvPr>
              <p:cNvSpPr txBox="1">
                <a:spLocks noRot="1" noChangeAspect="1" noMove="1" noResize="1" noEditPoints="1" noAdjustHandles="1" noChangeArrowheads="1" noChangeShapeType="1" noTextEdit="1"/>
              </p:cNvSpPr>
              <p:nvPr/>
            </p:nvSpPr>
            <p:spPr>
              <a:xfrm>
                <a:off x="807940" y="9420381"/>
                <a:ext cx="22204460" cy="1740028"/>
              </a:xfrm>
              <a:prstGeom prst="rect">
                <a:avLst/>
              </a:prstGeom>
              <a:blipFill>
                <a:blip r:embed="rId11"/>
                <a:stretch>
                  <a:fillRect l="-1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7DE4515-FF66-4917-BABA-9946C4544C0E}"/>
                  </a:ext>
                </a:extLst>
              </p:cNvPr>
              <p:cNvSpPr txBox="1"/>
              <p:nvPr/>
            </p:nvSpPr>
            <p:spPr>
              <a:xfrm>
                <a:off x="992379" y="11312947"/>
                <a:ext cx="4716560" cy="830997"/>
              </a:xfrm>
              <a:prstGeom prst="rect">
                <a:avLst/>
              </a:prstGeom>
              <a:noFill/>
            </p:spPr>
            <p:txBody>
              <a:bodyPr wrap="square">
                <a:spAutoFit/>
              </a:bodyPr>
              <a:lstStyle/>
              <a:p>
                <a:r>
                  <a:rPr lang="en-SG" sz="4800" b="1" dirty="0">
                    <a:latin typeface="Tahoma" panose="020B0604030504040204" pitchFamily="34" charset="0"/>
                    <a:ea typeface="Tahoma" panose="020B0604030504040204" pitchFamily="34" charset="0"/>
                    <a:cs typeface="Tahoma" panose="020B0604030504040204" pitchFamily="34" charset="0"/>
                  </a:rPr>
                  <a:t>Vậy </a:t>
                </a: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vi-VN" sz="4800" b="1" i="1" smtClean="0">
                            <a:latin typeface="Cambria Math" panose="02040503050406030204" pitchFamily="18" charset="0"/>
                          </a:rPr>
                          <m:t>𝟏</m:t>
                        </m:r>
                        <m:r>
                          <a:rPr lang="en-US" sz="4800" b="1" i="1">
                            <a:latin typeface="Cambria Math" panose="02040503050406030204" pitchFamily="18" charset="0"/>
                          </a:rPr>
                          <m:t>;−</m:t>
                        </m:r>
                        <m:r>
                          <a:rPr lang="vi-VN" sz="4800" b="1" i="1" smtClean="0">
                            <a:latin typeface="Cambria Math" panose="02040503050406030204" pitchFamily="18" charset="0"/>
                          </a:rPr>
                          <m:t>𝟏𝟖</m:t>
                        </m:r>
                      </m:e>
                    </m:d>
                  </m:oMath>
                </a14:m>
                <a:r>
                  <a:rPr lang="en-SG"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5" name="TextBox 34">
                <a:extLst>
                  <a:ext uri="{FF2B5EF4-FFF2-40B4-BE49-F238E27FC236}">
                    <a16:creationId xmlns:a16="http://schemas.microsoft.com/office/drawing/2014/main" id="{27DE4515-FF66-4917-BABA-9946C4544C0E}"/>
                  </a:ext>
                </a:extLst>
              </p:cNvPr>
              <p:cNvSpPr txBox="1">
                <a:spLocks noRot="1" noChangeAspect="1" noMove="1" noResize="1" noEditPoints="1" noAdjustHandles="1" noChangeArrowheads="1" noChangeShapeType="1" noTextEdit="1"/>
              </p:cNvSpPr>
              <p:nvPr/>
            </p:nvSpPr>
            <p:spPr>
              <a:xfrm>
                <a:off x="992379" y="11312947"/>
                <a:ext cx="4716560" cy="830997"/>
              </a:xfrm>
              <a:prstGeom prst="rect">
                <a:avLst/>
              </a:prstGeom>
              <a:blipFill>
                <a:blip r:embed="rId12"/>
                <a:stretch>
                  <a:fillRect l="-5943" t="-17647" r="-2326" b="-37500"/>
                </a:stretch>
              </a:blipFill>
            </p:spPr>
            <p:txBody>
              <a:bodyPr/>
              <a:lstStyle/>
              <a:p>
                <a:r>
                  <a:rPr lang="en-US">
                    <a:noFill/>
                  </a:rPr>
                  <a:t> </a:t>
                </a:r>
              </a:p>
            </p:txBody>
          </p:sp>
        </mc:Fallback>
      </mc:AlternateContent>
      <p:sp>
        <p:nvSpPr>
          <p:cNvPr id="37" name="Rounded Rectangle 3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1" name="TextBox 4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778687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left)">
                                      <p:cBhvr>
                                        <p:cTn id="21" dur="500"/>
                                        <p:tgtEl>
                                          <p:spTgt spid="3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left)">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left)">
                                      <p:cBhvr>
                                        <p:cTn id="31" dur="500"/>
                                        <p:tgtEl>
                                          <p:spTgt spid="35"/>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4" grpId="0"/>
      <p:bldP spid="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620483" y="5105400"/>
            <a:ext cx="23556178" cy="1234536"/>
            <a:chOff x="241306" y="2243792"/>
            <a:chExt cx="11778089"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𝟓</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US" sz="4800" b="1" dirty="0">
                      <a:solidFill>
                        <a:prstClr val="white"/>
                      </a:solidFill>
                      <a:latin typeface="Tahoma" pitchFamily="34" charset="0"/>
                      <a:ea typeface="Tahoma" pitchFamily="34" charset="0"/>
                      <a:cs typeface="Tahoma" pitchFamily="34" charset="0"/>
                    </a:rPr>
                    <a:t>.</a:t>
                  </a: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243792"/>
                  <a:ext cx="2468235" cy="617268"/>
                </a:xfrm>
                <a:prstGeom prst="rect">
                  <a:avLst/>
                </a:prstGeom>
                <a:blipFill>
                  <a:blip r:embed="rId3"/>
                  <a:stretch>
                    <a:fillRect b="-6635"/>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𝟓</m:t>
                          </m:r>
                        </m:e>
                      </m:d>
                    </m:oMath>
                  </a14:m>
                  <a:r>
                    <a:rPr lang="en-US" sz="4800" b="1" dirty="0">
                      <a:solidFill>
                        <a:prstClr val="white"/>
                      </a:solidFill>
                      <a:latin typeface="Tahoma" pitchFamily="34" charset="0"/>
                      <a:ea typeface="Tahoma" pitchFamily="34" charset="0"/>
                      <a:cs typeface="Tahoma" pitchFamily="34" charset="0"/>
                    </a:rPr>
                    <a:t>.</a:t>
                  </a: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243792"/>
                  <a:ext cx="2468235" cy="617268"/>
                </a:xfrm>
                <a:prstGeom prst="rect">
                  <a:avLst/>
                </a:prstGeom>
                <a:blipFill>
                  <a:blip r:embed="rId4"/>
                  <a:stretch>
                    <a:fillRect b="-6635"/>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𝟓</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243792"/>
                  <a:ext cx="2468235" cy="617268"/>
                </a:xfrm>
                <a:prstGeom prst="rect">
                  <a:avLst/>
                </a:prstGeom>
                <a:blipFill>
                  <a:blip r:embed="rId5"/>
                  <a:stretch>
                    <a:fillRect b="-6635"/>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4800" i="1">
                          <a:latin typeface="Cambria Math" panose="02040503050406030204" pitchFamily="18" charset="0"/>
                        </a:rPr>
                        <m:t>𝑀</m:t>
                      </m:r>
                      <m:d>
                        <m:dPr>
                          <m:ctrlPr>
                            <a:rPr lang="en-US" sz="4800" i="1">
                              <a:latin typeface="Cambria Math" panose="02040503050406030204" pitchFamily="18" charset="0"/>
                            </a:rPr>
                          </m:ctrlPr>
                        </m:dPr>
                        <m:e>
                          <m:r>
                            <a:rPr lang="en-US" sz="4800" i="1">
                              <a:latin typeface="Cambria Math" panose="02040503050406030204" pitchFamily="18" charset="0"/>
                            </a:rPr>
                            <m:t>2;5</m:t>
                          </m:r>
                        </m:e>
                      </m:d>
                    </m:oMath>
                  </a14:m>
                  <a:r>
                    <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243792"/>
                  <a:ext cx="2468235" cy="617268"/>
                </a:xfrm>
                <a:prstGeom prst="rect">
                  <a:avLst/>
                </a:prstGeom>
                <a:blipFill>
                  <a:blip r:embed="rId6"/>
                  <a:stretch>
                    <a:fillRect b="-6635"/>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618684" y="5217735"/>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590803"/>
            <a:ext cx="23943880" cy="2401467"/>
            <a:chOff x="923003" y="3917552"/>
            <a:chExt cx="23943880" cy="2401466"/>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4426857"/>
              <a:ext cx="23594672" cy="1892161"/>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9"/>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a:t>
                  </a:r>
                  <a:r>
                    <a:rPr lang="vi-VN" sz="4600" b="1" dirty="0">
                      <a:solidFill>
                        <a:prstClr val="black"/>
                      </a:solidFill>
                      <a:latin typeface="Tahoma" pitchFamily="34" charset="0"/>
                      <a:ea typeface="Tahoma" pitchFamily="34" charset="0"/>
                      <a:cs typeface="Tahoma" pitchFamily="34" charset="0"/>
                    </a:rPr>
                    <a:t>2 </a:t>
                  </a:r>
                  <a:endParaRPr lang="en-US" sz="4600" b="1" dirty="0">
                    <a:solidFill>
                      <a:prstClr val="black"/>
                    </a:solidFill>
                    <a:latin typeface="Tahoma" pitchFamily="34" charset="0"/>
                    <a:ea typeface="Tahoma" pitchFamily="34" charset="0"/>
                    <a:cs typeface="Tahoma" pitchFamily="34" charset="0"/>
                  </a:endParaRP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852864" y="6936076"/>
                <a:ext cx="6043736" cy="830997"/>
              </a:xfrm>
              <a:prstGeom prst="rect">
                <a:avLst/>
              </a:prstGeom>
              <a:noFill/>
            </p:spPr>
            <p:txBody>
              <a:bodyPr wrap="square">
                <a:spAutoFit/>
              </a:bodyP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Gọi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852864" y="6936076"/>
                <a:ext cx="6043736" cy="830997"/>
              </a:xfrm>
              <a:prstGeom prst="rect">
                <a:avLst/>
              </a:prstGeom>
              <a:blipFill>
                <a:blip r:embed="rId8"/>
                <a:stretch>
                  <a:fillRect l="-1613" t="-17647" r="-2218"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4302314" y="3058461"/>
                <a:ext cx="18847826" cy="1664110"/>
              </a:xfrm>
              <a:prstGeom prst="rect">
                <a:avLst/>
              </a:prstGeom>
              <a:noFill/>
            </p:spPr>
            <p:txBody>
              <a:bodyPr wrap="square">
                <a:spAutoFit/>
              </a:bodyPr>
              <a:lstStyle/>
              <a:p>
                <a:r>
                  <a:rPr lang="en-SG" sz="4800" b="1" dirty="0">
                    <a:latin typeface="Tahoma" panose="020B0604030504040204" pitchFamily="34" charset="0"/>
                    <a:ea typeface="Tahoma" panose="020B0604030504040204" pitchFamily="34" charset="0"/>
                    <a:cs typeface="Tahoma" panose="020B0604030504040204" pitchFamily="34" charset="0"/>
                  </a:rPr>
                  <a:t>Trong </a:t>
                </a:r>
                <a:r>
                  <a:rPr lang="en-SG" sz="4800" b="1" dirty="0" err="1">
                    <a:latin typeface="Tahoma" panose="020B0604030504040204" pitchFamily="34" charset="0"/>
                    <a:ea typeface="Tahoma" panose="020B0604030504040204" pitchFamily="34" charset="0"/>
                    <a:cs typeface="Tahoma" panose="020B0604030504040204" pitchFamily="34" charset="0"/>
                  </a:rPr>
                  <a:t>mặt</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phẳng</a:t>
                </a:r>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oMath>
                </a14:m>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cho</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các</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điểm</a:t>
                </a:r>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𝟏</m:t>
                        </m:r>
                      </m:e>
                    </m:d>
                    <m:r>
                      <a:rPr lang="en-US" sz="4800" b="1" i="1">
                        <a:latin typeface="Cambria Math" panose="02040503050406030204" pitchFamily="18" charset="0"/>
                      </a:rPr>
                      <m:t>,</m:t>
                    </m:r>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𝟎</m:t>
                        </m:r>
                      </m:e>
                    </m:d>
                    <m:r>
                      <a:rPr lang="en-US" sz="4800" b="1" i="1">
                        <a:latin typeface="Cambria Math" panose="02040503050406030204" pitchFamily="18" charset="0"/>
                      </a:rPr>
                      <m:t>,</m:t>
                    </m:r>
                    <m:r>
                      <a:rPr lang="en-US" sz="4800" b="1" i="1">
                        <a:latin typeface="Cambria Math" panose="02040503050406030204" pitchFamily="18" charset="0"/>
                      </a:rPr>
                      <m:t>𝑪</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Tìm</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điểm</a:t>
                </a:r>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oMath>
                </a14:m>
                <a:r>
                  <a:rPr lang="vi-VN"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biết</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rằng</a:t>
                </a:r>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𝑪𝑴</m:t>
                        </m:r>
                      </m:e>
                    </m:acc>
                    <m:r>
                      <a:rPr lang="en-US" sz="4800" b="1" i="1">
                        <a:latin typeface="Cambria Math" panose="02040503050406030204" pitchFamily="18" charset="0"/>
                      </a:rPr>
                      <m:t>+</m:t>
                    </m:r>
                    <m:r>
                      <a:rPr lang="en-US" sz="4800" b="1" i="1">
                        <a:latin typeface="Cambria Math" panose="02040503050406030204" pitchFamily="18" charset="0"/>
                      </a:rPr>
                      <m:t>𝟑</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𝑨𝑪</m:t>
                        </m:r>
                      </m:e>
                    </m:acc>
                    <m:r>
                      <a:rPr lang="en-US" sz="4800" b="1" i="1">
                        <a:latin typeface="Cambria Math" panose="02040503050406030204" pitchFamily="18" charset="0"/>
                      </a:rPr>
                      <m:t>=</m:t>
                    </m:r>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oMath>
                </a14:m>
                <a:r>
                  <a:rPr lang="en-SG"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4302314" y="3058461"/>
                <a:ext cx="18847826" cy="1664110"/>
              </a:xfrm>
              <a:prstGeom prst="rect">
                <a:avLst/>
              </a:prstGeom>
              <a:blipFill>
                <a:blip r:embed="rId9"/>
                <a:stretch>
                  <a:fillRect l="-1488" t="-8791" b="-17949"/>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669002" y="1685889"/>
            <a:ext cx="982961" cy="754053"/>
          </a:xfrm>
          <a:prstGeom prst="rect">
            <a:avLst/>
          </a:prstGeom>
          <a:noFill/>
        </p:spPr>
        <p:txBody>
          <a:bodyPr wrap="none" rtlCol="0">
            <a:spAutoFit/>
          </a:bodyPr>
          <a:lstStyle/>
          <a:p>
            <a:pPr algn="ctr"/>
            <a:r>
              <a:rPr lang="en-US" b="1" dirty="0">
                <a:solidFill>
                  <a:prstClr val="white"/>
                </a:solidFill>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807940" y="8110016"/>
                <a:ext cx="17355847" cy="925446"/>
              </a:xfrm>
              <a:prstGeom prst="rect">
                <a:avLst/>
              </a:prstGeom>
              <a:noFill/>
            </p:spPr>
            <p:txBody>
              <a:bodyPr wrap="square">
                <a:spAutoFit/>
              </a:bodyPr>
              <a:lstStyle/>
              <a:p>
                <a:r>
                  <a:rPr lang="en-SG" sz="4800" b="1" dirty="0">
                    <a:latin typeface="Tahoma" panose="020B0604030504040204" pitchFamily="34" charset="0"/>
                    <a:ea typeface="Tahoma" panose="020B0604030504040204" pitchFamily="34" charset="0"/>
                    <a:cs typeface="Tahoma" panose="020B0604030504040204" pitchFamily="34" charset="0"/>
                  </a:rPr>
                  <a:t>Khi </a:t>
                </a:r>
                <a:r>
                  <a:rPr lang="en-SG" sz="4800" b="1" dirty="0" err="1">
                    <a:latin typeface="Tahoma" panose="020B0604030504040204" pitchFamily="34" charset="0"/>
                    <a:ea typeface="Tahoma" panose="020B0604030504040204" pitchFamily="34" charset="0"/>
                    <a:cs typeface="Tahoma" panose="020B0604030504040204" pitchFamily="34" charset="0"/>
                  </a:rPr>
                  <a:t>đó</a:t>
                </a:r>
                <a:r>
                  <a:rPr lang="en-SG" sz="4800" b="1" dirty="0">
                    <a:latin typeface="Tahoma" panose="020B0604030504040204" pitchFamily="34" charset="0"/>
                    <a:ea typeface="Tahoma" panose="020B0604030504040204" pitchFamily="34" charset="0"/>
                    <a:cs typeface="Tahoma" panose="020B0604030504040204" pitchFamily="34" charset="0"/>
                  </a:rPr>
                  <a:t> ta </a:t>
                </a:r>
                <a:r>
                  <a:rPr lang="en-SG" sz="4800" b="1" dirty="0" err="1">
                    <a:latin typeface="Tahoma" panose="020B0604030504040204" pitchFamily="34" charset="0"/>
                    <a:ea typeface="Tahoma" panose="020B0604030504040204" pitchFamily="34" charset="0"/>
                    <a:cs typeface="Tahoma" panose="020B0604030504040204" pitchFamily="34" charset="0"/>
                  </a:rPr>
                  <a:t>có</a:t>
                </a:r>
                <a:r>
                  <a:rPr lang="en-SG" sz="4800" b="1"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𝑪𝑴</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𝑨𝑪</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SG" sz="4800" b="1" dirty="0">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𝟔</m:t>
                        </m:r>
                        <m:r>
                          <a:rPr lang="en-US" sz="4800" b="1" i="1">
                            <a:latin typeface="Cambria Math" panose="02040503050406030204" pitchFamily="18" charset="0"/>
                          </a:rPr>
                          <m:t>;−</m:t>
                        </m:r>
                        <m:r>
                          <a:rPr lang="en-US" sz="4800" b="1" i="1">
                            <a:latin typeface="Cambria Math" panose="02040503050406030204" pitchFamily="18" charset="0"/>
                          </a:rPr>
                          <m:t>𝟏</m:t>
                        </m:r>
                      </m:e>
                    </m:d>
                  </m:oMath>
                </a14:m>
                <a:r>
                  <a:rPr lang="en-SG"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807940" y="8110016"/>
                <a:ext cx="17355847" cy="925446"/>
              </a:xfrm>
              <a:prstGeom prst="rect">
                <a:avLst/>
              </a:prstGeom>
              <a:blipFill>
                <a:blip r:embed="rId10"/>
                <a:stretch>
                  <a:fillRect l="-1616" t="-5921" r="-667" b="-32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DB88394-B59F-4019-807A-D69A9C53B86C}"/>
                  </a:ext>
                </a:extLst>
              </p:cNvPr>
              <p:cNvSpPr txBox="1"/>
              <p:nvPr/>
            </p:nvSpPr>
            <p:spPr>
              <a:xfrm>
                <a:off x="807940" y="9420381"/>
                <a:ext cx="22204460" cy="1740028"/>
              </a:xfrm>
              <a:prstGeom prst="rect">
                <a:avLst/>
              </a:prstGeom>
              <a:noFill/>
            </p:spPr>
            <p:txBody>
              <a:bodyPr wrap="square">
                <a:spAutoFit/>
              </a:bodyPr>
              <a:lstStyle/>
              <a:p>
                <a:r>
                  <a:rPr lang="en-SG" sz="4800" b="1" dirty="0">
                    <a:latin typeface="Tahoma" panose="020B0604030504040204" pitchFamily="34" charset="0"/>
                    <a:ea typeface="Tahoma" panose="020B0604030504040204" pitchFamily="34" charset="0"/>
                    <a:cs typeface="Tahoma" panose="020B0604030504040204" pitchFamily="34" charset="0"/>
                  </a:rPr>
                  <a:t>Theo </a:t>
                </a:r>
                <a:r>
                  <a:rPr lang="en-SG" sz="4800" b="1" dirty="0" err="1">
                    <a:latin typeface="Tahoma" panose="020B0604030504040204" pitchFamily="34" charset="0"/>
                    <a:ea typeface="Tahoma" panose="020B0604030504040204" pitchFamily="34" charset="0"/>
                    <a:cs typeface="Tahoma" panose="020B0604030504040204" pitchFamily="34" charset="0"/>
                  </a:rPr>
                  <a:t>giả</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thiết</a:t>
                </a:r>
                <a:r>
                  <a:rPr lang="en-SG" sz="4800" b="1" dirty="0">
                    <a:latin typeface="Tahoma" panose="020B0604030504040204" pitchFamily="34" charset="0"/>
                    <a:ea typeface="Tahoma" panose="020B0604030504040204" pitchFamily="34" charset="0"/>
                    <a:cs typeface="Tahoma" panose="020B0604030504040204" pitchFamily="34" charset="0"/>
                  </a:rPr>
                  <a:t> ta </a:t>
                </a:r>
                <a:r>
                  <a:rPr lang="en-SG" sz="4800" b="1" dirty="0" err="1">
                    <a:latin typeface="Tahoma" panose="020B0604030504040204" pitchFamily="34" charset="0"/>
                    <a:ea typeface="Tahoma" panose="020B0604030504040204" pitchFamily="34" charset="0"/>
                    <a:cs typeface="Tahoma" panose="020B0604030504040204" pitchFamily="34" charset="0"/>
                  </a:rPr>
                  <a:t>có</a:t>
                </a:r>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𝑪𝑴</m:t>
                        </m:r>
                      </m:e>
                    </m:acc>
                    <m:r>
                      <a:rPr lang="en-US" sz="4800" b="1" i="1">
                        <a:latin typeface="Cambria Math" panose="02040503050406030204" pitchFamily="18" charset="0"/>
                      </a:rPr>
                      <m:t>+</m:t>
                    </m:r>
                    <m:r>
                      <a:rPr lang="en-US" sz="4800" b="1" i="1">
                        <a:latin typeface="Cambria Math" panose="02040503050406030204" pitchFamily="18" charset="0"/>
                      </a:rPr>
                      <m:t>𝟑</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𝑨𝑪</m:t>
                        </m:r>
                      </m:e>
                    </m:acc>
                    <m:r>
                      <a:rPr lang="en-US" sz="4800" b="1" i="1">
                        <a:latin typeface="Cambria Math" panose="02040503050406030204" pitchFamily="18" charset="0"/>
                      </a:rPr>
                      <m:t>=</m:t>
                    </m:r>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𝟔</m:t>
                            </m:r>
                          </m:e>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𝟏</m:t>
                                </m:r>
                              </m:e>
                            </m:d>
                          </m:e>
                        </m:eqArr>
                      </m:e>
                    </m:d>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𝟐</m:t>
                            </m:r>
                          </m:e>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𝟓</m:t>
                            </m:r>
                          </m:e>
                        </m:eqArr>
                      </m:e>
                    </m:d>
                  </m:oMath>
                </a14:m>
                <a:r>
                  <a:rPr lang="en-SG"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4" name="TextBox 33">
                <a:extLst>
                  <a:ext uri="{FF2B5EF4-FFF2-40B4-BE49-F238E27FC236}">
                    <a16:creationId xmlns:a16="http://schemas.microsoft.com/office/drawing/2014/main" id="{BDB88394-B59F-4019-807A-D69A9C53B86C}"/>
                  </a:ext>
                </a:extLst>
              </p:cNvPr>
              <p:cNvSpPr txBox="1">
                <a:spLocks noRot="1" noChangeAspect="1" noMove="1" noResize="1" noEditPoints="1" noAdjustHandles="1" noChangeArrowheads="1" noChangeShapeType="1" noTextEdit="1"/>
              </p:cNvSpPr>
              <p:nvPr/>
            </p:nvSpPr>
            <p:spPr>
              <a:xfrm>
                <a:off x="807940" y="9420381"/>
                <a:ext cx="22204460" cy="1740028"/>
              </a:xfrm>
              <a:prstGeom prst="rect">
                <a:avLst/>
              </a:prstGeom>
              <a:blipFill>
                <a:blip r:embed="rId11"/>
                <a:stretch>
                  <a:fillRect l="-1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FFA15C6-80FF-45FD-96A6-37A7266C4168}"/>
                  </a:ext>
                </a:extLst>
              </p:cNvPr>
              <p:cNvSpPr txBox="1"/>
              <p:nvPr/>
            </p:nvSpPr>
            <p:spPr>
              <a:xfrm>
                <a:off x="846040" y="11312947"/>
                <a:ext cx="4383789" cy="830997"/>
              </a:xfrm>
              <a:prstGeom prst="rect">
                <a:avLst/>
              </a:prstGeom>
              <a:noFill/>
            </p:spPr>
            <p:txBody>
              <a:bodyPr wrap="square">
                <a:spAutoFit/>
              </a:bodyPr>
              <a:lstStyle/>
              <a:p>
                <a:r>
                  <a:rPr lang="en-SG" sz="4800" b="1" dirty="0" err="1">
                    <a:latin typeface="Tahoma" panose="020B0604030504040204" pitchFamily="34" charset="0"/>
                    <a:ea typeface="Tahoma" panose="020B0604030504040204" pitchFamily="34" charset="0"/>
                    <a:cs typeface="Tahoma" panose="020B0604030504040204" pitchFamily="34" charset="0"/>
                  </a:rPr>
                  <a:t>Vậy</a:t>
                </a:r>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𝟓</m:t>
                        </m:r>
                      </m:e>
                    </m:d>
                  </m:oMath>
                </a14:m>
                <a:r>
                  <a:rPr lang="en-SG"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1" name="TextBox 40">
                <a:extLst>
                  <a:ext uri="{FF2B5EF4-FFF2-40B4-BE49-F238E27FC236}">
                    <a16:creationId xmlns:a16="http://schemas.microsoft.com/office/drawing/2014/main" id="{3FFA15C6-80FF-45FD-96A6-37A7266C4168}"/>
                  </a:ext>
                </a:extLst>
              </p:cNvPr>
              <p:cNvSpPr txBox="1">
                <a:spLocks noRot="1" noChangeAspect="1" noMove="1" noResize="1" noEditPoints="1" noAdjustHandles="1" noChangeArrowheads="1" noChangeShapeType="1" noTextEdit="1"/>
              </p:cNvSpPr>
              <p:nvPr/>
            </p:nvSpPr>
            <p:spPr>
              <a:xfrm>
                <a:off x="846040" y="11312947"/>
                <a:ext cx="4383789" cy="830997"/>
              </a:xfrm>
              <a:prstGeom prst="rect">
                <a:avLst/>
              </a:prstGeom>
              <a:blipFill>
                <a:blip r:embed="rId12"/>
                <a:stretch>
                  <a:fillRect l="-6398" t="-17647" r="-1808" b="-37500"/>
                </a:stretch>
              </a:blipFill>
            </p:spPr>
            <p:txBody>
              <a:bodyPr/>
              <a:lstStyle/>
              <a:p>
                <a:r>
                  <a:rPr lang="en-US">
                    <a:noFill/>
                  </a:rPr>
                  <a:t> </a:t>
                </a:r>
              </a:p>
            </p:txBody>
          </p:sp>
        </mc:Fallback>
      </mc:AlternateContent>
      <p:sp>
        <p:nvSpPr>
          <p:cNvPr id="43" name="Rounded Rectangle 4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7" name="TextBox 4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57598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left)">
                                      <p:cBhvr>
                                        <p:cTn id="21" dur="500"/>
                                        <p:tgtEl>
                                          <p:spTgt spid="3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left)">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wipe(left)">
                                      <p:cBhvr>
                                        <p:cTn id="31" dur="500"/>
                                        <p:tgtEl>
                                          <p:spTgt spid="41"/>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4" grpId="0"/>
      <p:bldP spid="4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620483" y="5105400"/>
            <a:ext cx="23556178" cy="1234536"/>
            <a:chOff x="241306" y="2243792"/>
            <a:chExt cx="11778089"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d>
                        <m:dPr>
                          <m:ctrlPr>
                            <a:rPr lang="en-US" sz="4800" b="1" i="1"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𝟏</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𝟓</m:t>
                          </m:r>
                        </m:e>
                      </m:d>
                    </m:oMath>
                  </a14:m>
                  <a:r>
                    <a:rPr lang="en-US" sz="4800" b="1" dirty="0">
                      <a:solidFill>
                        <a:schemeClr val="bg1"/>
                      </a:solidFill>
                      <a:latin typeface="Tahoma" pitchFamily="34" charset="0"/>
                      <a:ea typeface="Tahoma" pitchFamily="34" charset="0"/>
                      <a:cs typeface="Tahoma" pitchFamily="34" charset="0"/>
                    </a:rPr>
                    <a:t>.</a:t>
                  </a: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243792"/>
                  <a:ext cx="2468235" cy="617268"/>
                </a:xfrm>
                <a:prstGeom prst="rect">
                  <a:avLst/>
                </a:prstGeom>
                <a:blipFill>
                  <a:blip r:embed="rId3"/>
                  <a:stretch>
                    <a:fillRect b="-6635"/>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d>
                        <m:dPr>
                          <m:ctrlPr>
                            <a:rPr lang="en-US" sz="4800" b="1" i="1"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𝟏</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𝟏𝟎</m:t>
                          </m:r>
                        </m:e>
                      </m:d>
                    </m:oMath>
                  </a14:m>
                  <a:r>
                    <a:rPr lang="en-US" sz="4800" b="1" dirty="0">
                      <a:solidFill>
                        <a:prstClr val="white"/>
                      </a:solidFill>
                      <a:latin typeface="Tahoma" pitchFamily="34" charset="0"/>
                      <a:ea typeface="Tahoma" pitchFamily="34" charset="0"/>
                      <a:cs typeface="Tahoma" pitchFamily="34" charset="0"/>
                    </a:rPr>
                    <a:t>.</a:t>
                  </a: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243792"/>
                  <a:ext cx="2468235" cy="617268"/>
                </a:xfrm>
                <a:prstGeom prst="rect">
                  <a:avLst/>
                </a:prstGeom>
                <a:blipFill>
                  <a:blip r:embed="rId4"/>
                  <a:stretch>
                    <a:fillRect b="-6635"/>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d>
                        <m:dPr>
                          <m:ctrlPr>
                            <a:rPr lang="en-US" sz="4800" b="1" i="1"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𝟑</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𝟏</m:t>
                          </m:r>
                        </m:e>
                      </m:d>
                    </m:oMath>
                  </a14:m>
                  <a:r>
                    <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243792"/>
                  <a:ext cx="2468235" cy="617268"/>
                </a:xfrm>
                <a:prstGeom prst="rect">
                  <a:avLst/>
                </a:prstGeom>
                <a:blipFill>
                  <a:blip r:embed="rId5"/>
                  <a:stretch>
                    <a:fillRect b="-6635"/>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d>
                        <m:dPr>
                          <m:ctrlPr>
                            <a:rPr lang="en-US" sz="4800" b="1" i="1"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𝟐</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𝟕</m:t>
                          </m:r>
                        </m:e>
                      </m:d>
                    </m:oMath>
                  </a14:m>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a:t>
                  </a:r>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243792"/>
                  <a:ext cx="2468235" cy="617268"/>
                </a:xfrm>
                <a:prstGeom prst="rect">
                  <a:avLst/>
                </a:prstGeom>
                <a:blipFill>
                  <a:blip r:embed="rId6"/>
                  <a:stretch>
                    <a:fillRect b="-6635"/>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12644429" y="5195768"/>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568581"/>
            <a:ext cx="23943880" cy="2423689"/>
            <a:chOff x="923003" y="3895330"/>
            <a:chExt cx="23943880" cy="2423688"/>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895330"/>
              <a:ext cx="23594672" cy="2423688"/>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9"/>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a:t>
                  </a:r>
                  <a:r>
                    <a:rPr lang="vi-VN" sz="4600" b="1" dirty="0">
                      <a:solidFill>
                        <a:prstClr val="black"/>
                      </a:solidFill>
                      <a:latin typeface="Tahoma" pitchFamily="34" charset="0"/>
                      <a:ea typeface="Tahoma" pitchFamily="34" charset="0"/>
                      <a:cs typeface="Tahoma" pitchFamily="34" charset="0"/>
                    </a:rPr>
                    <a:t>3 </a:t>
                  </a:r>
                  <a:endParaRPr lang="en-US" sz="4600" b="1" dirty="0">
                    <a:solidFill>
                      <a:prstClr val="black"/>
                    </a:solidFill>
                    <a:latin typeface="Tahoma" pitchFamily="34" charset="0"/>
                    <a:ea typeface="Tahoma" pitchFamily="34" charset="0"/>
                    <a:cs typeface="Tahoma" pitchFamily="34" charset="0"/>
                  </a:endParaRP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852863" y="6936076"/>
                <a:ext cx="12368337" cy="830997"/>
              </a:xfrm>
              <a:prstGeom prst="rect">
                <a:avLst/>
              </a:prstGeom>
              <a:noFill/>
            </p:spPr>
            <p:txBody>
              <a:bodyPr wrap="square">
                <a:spAutoFit/>
              </a:bodyP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Ta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Tứ</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14:m>
                  <m:oMath xmlns:m="http://schemas.openxmlformats.org/officeDocument/2006/math">
                    <m:r>
                      <a:rPr lang="vi-VN" sz="4800" b="1" i="0" smtClean="0">
                        <a:latin typeface="Cambria Math" panose="02040503050406030204" pitchFamily="18" charset="0"/>
                      </a:rPr>
                      <m:t> </m:t>
                    </m:r>
                    <m:r>
                      <a:rPr lang="en-US" sz="4800" b="1" i="1">
                        <a:latin typeface="Cambria Math" panose="02040503050406030204" pitchFamily="18" charset="0"/>
                      </a:rPr>
                      <m:t>𝑨𝑷𝑴𝑵</m:t>
                    </m:r>
                  </m:oMath>
                </a14:m>
                <a:r>
                  <a:rPr lang="vi-VN" sz="4800" b="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là </a:t>
                </a:r>
                <a:r>
                  <a:rPr lang="fr-FR" sz="4800" b="1" dirty="0" err="1">
                    <a:latin typeface="Tahoma" panose="020B0604030504040204" pitchFamily="34" charset="0"/>
                    <a:ea typeface="Tahoma" panose="020B0604030504040204" pitchFamily="34" charset="0"/>
                    <a:cs typeface="Tahoma" panose="020B0604030504040204" pitchFamily="34" charset="0"/>
                  </a:rPr>
                  <a:t>hình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hành</a:t>
                </a:r>
                <a:r>
                  <a:rPr lang="vi-VN"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852863" y="6936076"/>
                <a:ext cx="12368337" cy="830997"/>
              </a:xfrm>
              <a:prstGeom prst="rect">
                <a:avLst/>
              </a:prstGeom>
              <a:blipFill>
                <a:blip r:embed="rId8"/>
                <a:stretch>
                  <a:fillRect l="-789" t="-17647" r="-1676"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3080608" y="2697262"/>
                <a:ext cx="20623874" cy="1713739"/>
              </a:xfrm>
              <a:prstGeom prst="rect">
                <a:avLst/>
              </a:prstGeom>
              <a:noFill/>
            </p:spPr>
            <p:txBody>
              <a:bodyPr wrap="square">
                <a:spAutoFit/>
              </a:bodyPr>
              <a:lstStyle/>
              <a:p>
                <a:pPr marL="629920" indent="-629920" algn="just">
                  <a:lnSpc>
                    <a:spcPct val="115000"/>
                  </a:lnSpc>
                  <a:spcAft>
                    <a:spcPts val="800"/>
                  </a:spcAft>
                  <a:tabLst>
                    <a:tab pos="629920" algn="l"/>
                  </a:tabLst>
                </a:pPr>
                <a:r>
                  <a:rPr lang="en-US" sz="4800" b="1" dirty="0">
                    <a:latin typeface="Tahoma" panose="020B0604030504040204" pitchFamily="34" charset="0"/>
                    <a:ea typeface="Tahoma" panose="020B0604030504040204" pitchFamily="34" charset="0"/>
                    <a:cs typeface="Tahoma" panose="020B0604030504040204" pitchFamily="34" charset="0"/>
                  </a:rPr>
                  <a:t>       </a:t>
                </a:r>
                <a:r>
                  <a:rPr lang="vi-VN" sz="4800" b="1" dirty="0">
                    <a:latin typeface="Tahoma" panose="020B0604030504040204" pitchFamily="34" charset="0"/>
                    <a:ea typeface="Tahoma" panose="020B0604030504040204" pitchFamily="34" charset="0"/>
                    <a:cs typeface="Tahoma" panose="020B0604030504040204" pitchFamily="34" charset="0"/>
                  </a:rPr>
                  <a:t>Các điểm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𝑴</m:t>
                    </m:r>
                    <m:d>
                      <m:dPr>
                        <m:ctrlPr>
                          <a:rPr lang="en-US" sz="4800" b="1" i="1">
                            <a:latin typeface="Cambria Math" panose="02040503050406030204" pitchFamily="18" charset="0"/>
                            <a:ea typeface="Calibri" panose="020F0502020204030204" pitchFamily="34" charset="0"/>
                            <a:cs typeface="Times New Roman" panose="02020603050405020304" pitchFamily="18" charset="0"/>
                          </a:rPr>
                        </m:ctrlPr>
                      </m:dPr>
                      <m:e>
                        <m:r>
                          <a:rPr lang="en-US" sz="4800" b="1" i="1">
                            <a:latin typeface="Cambria Math" panose="02040503050406030204" pitchFamily="18" charset="0"/>
                            <a:ea typeface="Calibri" panose="020F0502020204030204" pitchFamily="34" charset="0"/>
                            <a:cs typeface="Times New Roman" panose="02020603050405020304" pitchFamily="18" charset="0"/>
                          </a:rPr>
                          <m:t>𝟐</m:t>
                        </m:r>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𝟑</m:t>
                        </m:r>
                      </m:e>
                    </m:d>
                  </m:oMath>
                </a14:m>
                <a:r>
                  <a:rPr lang="vi-VN"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𝑵</m:t>
                    </m:r>
                    <m:d>
                      <m:dPr>
                        <m:ctrlPr>
                          <a:rPr lang="en-US" sz="4800" b="1" i="1">
                            <a:latin typeface="Cambria Math" panose="02040503050406030204" pitchFamily="18" charset="0"/>
                            <a:ea typeface="Calibri" panose="020F0502020204030204" pitchFamily="34" charset="0"/>
                            <a:cs typeface="Times New Roman" panose="02020603050405020304" pitchFamily="18" charset="0"/>
                          </a:rPr>
                        </m:ctrlPr>
                      </m:dPr>
                      <m:e>
                        <m:r>
                          <a:rPr lang="en-US" sz="4800" b="1" i="1">
                            <a:latin typeface="Cambria Math" panose="02040503050406030204" pitchFamily="18" charset="0"/>
                            <a:ea typeface="Calibri" panose="020F0502020204030204" pitchFamily="34" charset="0"/>
                            <a:cs typeface="Times New Roman" panose="02020603050405020304" pitchFamily="18" charset="0"/>
                          </a:rPr>
                          <m:t>𝟎</m:t>
                        </m:r>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𝟒</m:t>
                        </m:r>
                      </m:e>
                    </m:d>
                  </m:oMath>
                </a14:m>
                <a:r>
                  <a:rPr lang="vi-VN"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𝑷</m:t>
                    </m:r>
                    <m:d>
                      <m:dPr>
                        <m:ctrlPr>
                          <a:rPr lang="en-US" sz="4800" b="1" i="1">
                            <a:latin typeface="Cambria Math" panose="02040503050406030204" pitchFamily="18" charset="0"/>
                            <a:ea typeface="Calibri" panose="020F0502020204030204" pitchFamily="34" charset="0"/>
                            <a:cs typeface="Times New Roman" panose="02020603050405020304" pitchFamily="18" charset="0"/>
                          </a:rPr>
                        </m:ctrlPr>
                      </m:dPr>
                      <m:e>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𝟏</m:t>
                        </m:r>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𝟔</m:t>
                        </m:r>
                      </m:e>
                    </m:d>
                  </m:oMath>
                </a14:m>
                <a:r>
                  <a:rPr lang="vi-VN" sz="4800" b="1" dirty="0">
                    <a:latin typeface="Tahoma" panose="020B0604030504040204" pitchFamily="34" charset="0"/>
                    <a:ea typeface="Tahoma" panose="020B0604030504040204" pitchFamily="34" charset="0"/>
                    <a:cs typeface="Tahoma" panose="020B0604030504040204" pitchFamily="34" charset="0"/>
                  </a:rPr>
                  <a:t> lần lượt là trung điểm các cạnh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𝑩𝑪</m:t>
                    </m:r>
                  </m:oMath>
                </a14:m>
                <a:r>
                  <a:rPr lang="vi-VN"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𝑪𝑨</m:t>
                    </m:r>
                  </m:oMath>
                </a14:m>
                <a:r>
                  <a:rPr lang="vi-VN"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𝑨𝑩</m:t>
                    </m:r>
                  </m:oMath>
                </a14:m>
                <a:r>
                  <a:rPr lang="vi-VN" sz="4800" b="1" dirty="0">
                    <a:latin typeface="Tahoma" panose="020B0604030504040204" pitchFamily="34" charset="0"/>
                    <a:ea typeface="Tahoma" panose="020B0604030504040204" pitchFamily="34" charset="0"/>
                    <a:cs typeface="Tahoma" panose="020B0604030504040204" pitchFamily="34" charset="0"/>
                  </a:rPr>
                  <a:t> của tam giác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𝑨𝑩𝑪</m:t>
                    </m:r>
                  </m:oMath>
                </a14:m>
                <a:r>
                  <a:rPr lang="vi-VN" sz="4800" b="1" dirty="0">
                    <a:latin typeface="Tahoma" panose="020B0604030504040204" pitchFamily="34" charset="0"/>
                    <a:ea typeface="Tahoma" panose="020B0604030504040204" pitchFamily="34" charset="0"/>
                    <a:cs typeface="Tahoma" panose="020B0604030504040204" pitchFamily="34" charset="0"/>
                  </a:rPr>
                  <a:t>. Tọa độ đỉnh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𝑨</m:t>
                    </m:r>
                  </m:oMath>
                </a14:m>
                <a:r>
                  <a:rPr lang="vi-VN" sz="4800" b="1" dirty="0">
                    <a:latin typeface="Tahoma" panose="020B0604030504040204" pitchFamily="34" charset="0"/>
                    <a:ea typeface="Tahoma" panose="020B0604030504040204" pitchFamily="34" charset="0"/>
                    <a:cs typeface="Tahoma" panose="020B0604030504040204" pitchFamily="34" charset="0"/>
                  </a:rPr>
                  <a:t> của tam giác là</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3080608" y="2697262"/>
                <a:ext cx="20623874" cy="1713739"/>
              </a:xfrm>
              <a:prstGeom prst="rect">
                <a:avLst/>
              </a:prstGeom>
              <a:blipFill>
                <a:blip r:embed="rId9"/>
                <a:stretch>
                  <a:fillRect t="-6383" r="-1330" b="-17376"/>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669002" y="1685889"/>
            <a:ext cx="982961" cy="754053"/>
          </a:xfrm>
          <a:prstGeom prst="rect">
            <a:avLst/>
          </a:prstGeom>
          <a:noFill/>
        </p:spPr>
        <p:txBody>
          <a:bodyPr wrap="none" rtlCol="0">
            <a:spAutoFit/>
          </a:bodyPr>
          <a:lstStyle/>
          <a:p>
            <a:pPr algn="ctr"/>
            <a:r>
              <a:rPr lang="en-US" b="1" dirty="0">
                <a:solidFill>
                  <a:prstClr val="white"/>
                </a:solidFill>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807940" y="8110016"/>
                <a:ext cx="15270260" cy="1569660"/>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Nên</a:t>
                </a:r>
                <a:r>
                  <a:rPr lang="vi-VN" sz="4800" b="1" dirty="0">
                    <a:latin typeface="Tahoma" panose="020B0604030504040204" pitchFamily="34" charset="0"/>
                    <a:ea typeface="Tahoma" panose="020B0604030504040204" pitchFamily="34" charset="0"/>
                    <a:cs typeface="Tahoma" panose="020B0604030504040204" pitchFamily="34" charset="0"/>
                  </a:rPr>
                  <a:t> hai đường chéo </a:t>
                </a:r>
                <a14:m>
                  <m:oMath xmlns:m="http://schemas.openxmlformats.org/officeDocument/2006/math">
                    <m:r>
                      <a:rPr lang="en-US" sz="4800" b="1" i="1">
                        <a:latin typeface="Cambria Math" panose="02040503050406030204" pitchFamily="18" charset="0"/>
                      </a:rPr>
                      <m:t>𝑨𝑴</m:t>
                    </m:r>
                  </m:oMath>
                </a14:m>
                <a:r>
                  <a:rPr lang="vi-VN" sz="4800" b="1" dirty="0">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sz="4800" b="1" i="1">
                        <a:latin typeface="Cambria Math" panose="02040503050406030204" pitchFamily="18" charset="0"/>
                      </a:rPr>
                      <m:t>𝑷</m:t>
                    </m:r>
                    <m:r>
                      <a:rPr lang="en-US" sz="4800" b="1" i="1" smtClean="0">
                        <a:latin typeface="Cambria Math" panose="02040503050406030204" pitchFamily="18" charset="0"/>
                      </a:rPr>
                      <m:t>𝑵</m:t>
                    </m:r>
                  </m:oMath>
                </a14:m>
                <a:r>
                  <a:rPr lang="vi-VN" sz="4800" b="1" dirty="0">
                    <a:latin typeface="Tahoma" panose="020B0604030504040204" pitchFamily="34" charset="0"/>
                    <a:ea typeface="Tahoma" panose="020B0604030504040204" pitchFamily="34" charset="0"/>
                    <a:cs typeface="Tahoma" panose="020B0604030504040204" pitchFamily="34" charset="0"/>
                  </a:rPr>
                  <a:t> cắt nhau tại trung điểm mỗi đường.</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807940" y="8110016"/>
                <a:ext cx="15270260" cy="1569660"/>
              </a:xfrm>
              <a:prstGeom prst="rect">
                <a:avLst/>
              </a:prstGeom>
              <a:blipFill>
                <a:blip r:embed="rId10"/>
                <a:stretch>
                  <a:fillRect l="-1836" t="-9302" r="-1796" b="-193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DB88394-B59F-4019-807A-D69A9C53B86C}"/>
                  </a:ext>
                </a:extLst>
              </p:cNvPr>
              <p:cNvSpPr txBox="1"/>
              <p:nvPr/>
            </p:nvSpPr>
            <p:spPr>
              <a:xfrm>
                <a:off x="679518" y="10290083"/>
                <a:ext cx="17851161" cy="1740028"/>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Do </a:t>
                </a:r>
                <a:r>
                  <a:rPr lang="fr-FR" sz="4800" b="1" dirty="0" err="1">
                    <a:latin typeface="Tahoma" panose="020B0604030504040204" pitchFamily="34" charset="0"/>
                    <a:ea typeface="Tahoma" panose="020B0604030504040204" pitchFamily="34" charset="0"/>
                    <a:cs typeface="Tahoma" panose="020B0604030504040204" pitchFamily="34" charset="0"/>
                  </a:rPr>
                  <a:t>đó</a:t>
                </a:r>
                <a14:m>
                  <m:oMath xmlns:m="http://schemas.openxmlformats.org/officeDocument/2006/math">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𝑨</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𝑴</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𝑷</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𝑵</m:t>
                                </m:r>
                              </m:sub>
                            </m:sSub>
                          </m:e>
                          <m:e>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𝑨</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𝑴</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𝑷</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𝑵</m:t>
                                </m:r>
                              </m:sub>
                            </m:sSub>
                          </m:e>
                        </m:eqArr>
                      </m:e>
                    </m:d>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𝑨</m:t>
                                </m:r>
                              </m:sub>
                            </m:sSub>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e>
                          <m:e>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𝑨</m:t>
                                </m:r>
                              </m:sub>
                            </m:sSub>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𝟔</m:t>
                            </m:r>
                          </m:e>
                        </m:eqArr>
                      </m:e>
                    </m:d>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𝑨</m:t>
                                </m:r>
                              </m:sub>
                            </m:sSub>
                            <m:r>
                              <a:rPr lang="en-US" sz="4800" b="1" i="1">
                                <a:latin typeface="Cambria Math" panose="02040503050406030204" pitchFamily="18" charset="0"/>
                              </a:rPr>
                              <m:t>=−</m:t>
                            </m:r>
                            <m:r>
                              <a:rPr lang="en-US" sz="4800" b="1" i="1">
                                <a:latin typeface="Cambria Math" panose="02040503050406030204" pitchFamily="18" charset="0"/>
                              </a:rPr>
                              <m:t>𝟑</m:t>
                            </m:r>
                          </m:e>
                          <m:e>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𝑨</m:t>
                                </m:r>
                              </m:sub>
                            </m:sSub>
                            <m:r>
                              <a:rPr lang="en-US" sz="4800" b="1" i="1">
                                <a:latin typeface="Cambria Math" panose="02040503050406030204" pitchFamily="18" charset="0"/>
                              </a:rPr>
                              <m:t>=−</m:t>
                            </m:r>
                            <m:r>
                              <a:rPr lang="en-US" sz="4800" b="1" i="1">
                                <a:latin typeface="Cambria Math" panose="02040503050406030204" pitchFamily="18" charset="0"/>
                              </a:rPr>
                              <m:t>𝟏</m:t>
                            </m:r>
                          </m:e>
                        </m:eqArr>
                      </m:e>
                    </m:d>
                  </m:oMath>
                </a14:m>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4" name="TextBox 33">
                <a:extLst>
                  <a:ext uri="{FF2B5EF4-FFF2-40B4-BE49-F238E27FC236}">
                    <a16:creationId xmlns:a16="http://schemas.microsoft.com/office/drawing/2014/main" id="{BDB88394-B59F-4019-807A-D69A9C53B86C}"/>
                  </a:ext>
                </a:extLst>
              </p:cNvPr>
              <p:cNvSpPr txBox="1">
                <a:spLocks noRot="1" noChangeAspect="1" noMove="1" noResize="1" noEditPoints="1" noAdjustHandles="1" noChangeArrowheads="1" noChangeShapeType="1" noTextEdit="1"/>
              </p:cNvSpPr>
              <p:nvPr/>
            </p:nvSpPr>
            <p:spPr>
              <a:xfrm>
                <a:off x="679518" y="10290083"/>
                <a:ext cx="17851161" cy="1740028"/>
              </a:xfrm>
              <a:prstGeom prst="rect">
                <a:avLst/>
              </a:prstGeom>
              <a:blipFill>
                <a:blip r:embed="rId11"/>
                <a:stretch>
                  <a:fillRect l="-15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FFA15C6-80FF-45FD-96A6-37A7266C4168}"/>
                  </a:ext>
                </a:extLst>
              </p:cNvPr>
              <p:cNvSpPr txBox="1"/>
              <p:nvPr/>
            </p:nvSpPr>
            <p:spPr>
              <a:xfrm>
                <a:off x="807939" y="12018402"/>
                <a:ext cx="4868960" cy="830997"/>
              </a:xfrm>
              <a:prstGeom prst="rect">
                <a:avLst/>
              </a:prstGeom>
              <a:noFill/>
            </p:spPr>
            <p:txBody>
              <a:bodyPr wrap="square">
                <a:spAutoFit/>
              </a:bodyPr>
              <a:lstStyle/>
              <a:p>
                <a:r>
                  <a:rPr lang="en-SG" sz="4800" b="1" dirty="0">
                    <a:latin typeface="Tahoma" panose="020B0604030504040204" pitchFamily="34" charset="0"/>
                    <a:ea typeface="Tahoma" panose="020B0604030504040204" pitchFamily="34" charset="0"/>
                    <a:cs typeface="Tahoma" panose="020B0604030504040204" pitchFamily="34" charset="0"/>
                  </a:rPr>
                  <a:t>Vậy </a:t>
                </a:r>
                <a14:m>
                  <m:oMath xmlns:m="http://schemas.openxmlformats.org/officeDocument/2006/math">
                    <m:r>
                      <a:rPr lang="vi-VN" sz="4800" b="1" i="1" smtClean="0">
                        <a:latin typeface="Cambria Math" panose="02040503050406030204" pitchFamily="18" charset="0"/>
                      </a:rPr>
                      <m:t>𝑨</m:t>
                    </m:r>
                    <m:d>
                      <m:dPr>
                        <m:ctrlPr>
                          <a:rPr lang="en-US" sz="4800" b="1" i="1">
                            <a:latin typeface="Cambria Math" panose="02040503050406030204" pitchFamily="18" charset="0"/>
                          </a:rPr>
                        </m:ctrlPr>
                      </m:dPr>
                      <m:e>
                        <m:r>
                          <a:rPr lang="vi-VN" sz="4800" b="1" i="1" smtClean="0">
                            <a:latin typeface="Cambria Math" panose="02040503050406030204" pitchFamily="18" charset="0"/>
                          </a:rPr>
                          <m:t>−</m:t>
                        </m:r>
                        <m:r>
                          <a:rPr lang="vi-VN" sz="4800" b="1" i="1" smtClean="0">
                            <a:latin typeface="Cambria Math" panose="02040503050406030204" pitchFamily="18" charset="0"/>
                          </a:rPr>
                          <m:t>𝟑</m:t>
                        </m:r>
                        <m:r>
                          <a:rPr lang="en-US" sz="4800" b="1" i="1">
                            <a:latin typeface="Cambria Math" panose="02040503050406030204" pitchFamily="18" charset="0"/>
                          </a:rPr>
                          <m:t>;−</m:t>
                        </m:r>
                        <m:r>
                          <a:rPr lang="vi-VN" sz="4800" b="1" i="1" smtClean="0">
                            <a:latin typeface="Cambria Math" panose="02040503050406030204" pitchFamily="18" charset="0"/>
                          </a:rPr>
                          <m:t>𝟏</m:t>
                        </m:r>
                      </m:e>
                    </m:d>
                  </m:oMath>
                </a14:m>
                <a:r>
                  <a:rPr lang="en-SG"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1" name="TextBox 40">
                <a:extLst>
                  <a:ext uri="{FF2B5EF4-FFF2-40B4-BE49-F238E27FC236}">
                    <a16:creationId xmlns:a16="http://schemas.microsoft.com/office/drawing/2014/main" id="{3FFA15C6-80FF-45FD-96A6-37A7266C4168}"/>
                  </a:ext>
                </a:extLst>
              </p:cNvPr>
              <p:cNvSpPr txBox="1">
                <a:spLocks noRot="1" noChangeAspect="1" noMove="1" noResize="1" noEditPoints="1" noAdjustHandles="1" noChangeArrowheads="1" noChangeShapeType="1" noTextEdit="1"/>
              </p:cNvSpPr>
              <p:nvPr/>
            </p:nvSpPr>
            <p:spPr>
              <a:xfrm>
                <a:off x="807939" y="12018402"/>
                <a:ext cx="4868960" cy="830997"/>
              </a:xfrm>
              <a:prstGeom prst="rect">
                <a:avLst/>
              </a:prstGeom>
              <a:blipFill>
                <a:blip r:embed="rId12"/>
                <a:stretch>
                  <a:fillRect l="-5764" t="-17647" b="-37500"/>
                </a:stretch>
              </a:blipFill>
            </p:spPr>
            <p:txBody>
              <a:bodyPr/>
              <a:lstStyle/>
              <a:p>
                <a:r>
                  <a:rPr lang="en-US">
                    <a:noFill/>
                  </a:rPr>
                  <a:t> </a:t>
                </a:r>
              </a:p>
            </p:txBody>
          </p:sp>
        </mc:Fallback>
      </mc:AlternateContent>
      <p:pic>
        <p:nvPicPr>
          <p:cNvPr id="35" name="Picture 34">
            <a:extLst>
              <a:ext uri="{FF2B5EF4-FFF2-40B4-BE49-F238E27FC236}">
                <a16:creationId xmlns:a16="http://schemas.microsoft.com/office/drawing/2014/main" id="{C43BC40D-B92A-4012-B16B-A213B96F8BBB}"/>
              </a:ext>
            </a:extLst>
          </p:cNvPr>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7777334" y="6508087"/>
            <a:ext cx="5927148" cy="4851240"/>
          </a:xfrm>
          <a:prstGeom prst="rect">
            <a:avLst/>
          </a:prstGeom>
          <a:noFill/>
          <a:ln>
            <a:noFill/>
          </a:ln>
        </p:spPr>
      </p:pic>
      <p:sp>
        <p:nvSpPr>
          <p:cNvPr id="43" name="Rounded Rectangle 4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7" name="TextBox 4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655435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left)">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5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wipe(left)">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wipe(left)">
                                      <p:cBhvr>
                                        <p:cTn id="35" dur="500"/>
                                        <p:tgtEl>
                                          <p:spTgt spid="41"/>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left)">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4" grpId="0"/>
      <p:bldP spid="4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620483" y="5105400"/>
            <a:ext cx="23556178" cy="1234536"/>
            <a:chOff x="241306" y="2243792"/>
            <a:chExt cx="11778089"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4800" b="1" i="1" smtClean="0">
                          <a:latin typeface="Cambria Math" panose="02040503050406030204" pitchFamily="18" charset="0"/>
                        </a:rPr>
                        <m:t>𝑴</m:t>
                      </m:r>
                      <m:d>
                        <m:dPr>
                          <m:ctrlPr>
                            <a:rPr lang="en-US" sz="4800" b="1" i="1">
                              <a:latin typeface="Cambria Math" panose="02040503050406030204" pitchFamily="18" charset="0"/>
                            </a:rPr>
                          </m:ctrlPr>
                        </m:dPr>
                        <m:e>
                          <m:r>
                            <a:rPr lang="vi-VN" sz="4800" b="1" i="1" smtClean="0">
                              <a:latin typeface="Cambria Math" panose="02040503050406030204" pitchFamily="18" charset="0"/>
                            </a:rPr>
                            <m:t>𝟎</m:t>
                          </m:r>
                          <m:r>
                            <a:rPr lang="en-US" sz="4800" b="1" i="1">
                              <a:latin typeface="Cambria Math" panose="02040503050406030204" pitchFamily="18" charset="0"/>
                            </a:rPr>
                            <m:t>;</m:t>
                          </m:r>
                          <m:f>
                            <m:fPr>
                              <m:ctrlPr>
                                <a:rPr lang="en-US" sz="4800" b="1" i="1" smtClean="0">
                                  <a:latin typeface="Cambria Math" panose="02040503050406030204" pitchFamily="18" charset="0"/>
                                </a:rPr>
                              </m:ctrlPr>
                            </m:fPr>
                            <m:num>
                              <m:r>
                                <a:rPr lang="vi-VN" sz="4800" b="1" i="1" smtClean="0">
                                  <a:latin typeface="Cambria Math" panose="02040503050406030204" pitchFamily="18" charset="0"/>
                                </a:rPr>
                                <m:t>𝟏𝟎</m:t>
                              </m:r>
                            </m:num>
                            <m:den>
                              <m:r>
                                <a:rPr lang="vi-VN" sz="4800" b="1" i="1" smtClean="0">
                                  <a:latin typeface="Cambria Math" panose="02040503050406030204" pitchFamily="18" charset="0"/>
                                </a:rPr>
                                <m:t>𝟑</m:t>
                              </m:r>
                            </m:den>
                          </m:f>
                        </m:e>
                      </m:d>
                    </m:oMath>
                  </a14:m>
                  <a:r>
                    <a:rPr lang="en-US" sz="4800" dirty="0">
                      <a:solidFill>
                        <a:prstClr val="white"/>
                      </a:solidFill>
                      <a:latin typeface="Tahoma" pitchFamily="34" charset="0"/>
                      <a:ea typeface="Tahoma" pitchFamily="34" charset="0"/>
                      <a:cs typeface="Tahoma" pitchFamily="34" charset="0"/>
                    </a:rPr>
                    <a:t>.</a:t>
                  </a: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243792"/>
                  <a:ext cx="2468235" cy="617268"/>
                </a:xfrm>
                <a:prstGeom prst="rect">
                  <a:avLst/>
                </a:prstGeom>
                <a:blipFill>
                  <a:blip r:embed="rId3"/>
                  <a:stretch>
                    <a:fillRect b="-5687"/>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4800" b="1" i="1" smtClean="0">
                          <a:latin typeface="Cambria Math" panose="02040503050406030204" pitchFamily="18" charset="0"/>
                        </a:rPr>
                        <m:t>𝑴</m:t>
                      </m:r>
                      <m:d>
                        <m:dPr>
                          <m:ctrlPr>
                            <a:rPr lang="en-US" sz="4800" b="1" i="1">
                              <a:latin typeface="Cambria Math" panose="02040503050406030204" pitchFamily="18" charset="0"/>
                            </a:rPr>
                          </m:ctrlPr>
                        </m:dPr>
                        <m:e>
                          <m:r>
                            <a:rPr lang="vi-VN" sz="4800" b="1" i="1" smtClean="0">
                              <a:latin typeface="Cambria Math" panose="02040503050406030204" pitchFamily="18" charset="0"/>
                            </a:rPr>
                            <m:t>𝟎</m:t>
                          </m:r>
                          <m:r>
                            <a:rPr lang="en-US" sz="4800" b="1" i="1">
                              <a:latin typeface="Cambria Math" panose="02040503050406030204" pitchFamily="18" charset="0"/>
                            </a:rPr>
                            <m:t>;</m:t>
                          </m:r>
                          <m:r>
                            <a:rPr lang="vi-VN" sz="4800" b="1" i="1" smtClean="0">
                              <a:latin typeface="Cambria Math" panose="02040503050406030204" pitchFamily="18" charset="0"/>
                            </a:rPr>
                            <m:t>𝟑</m:t>
                          </m:r>
                        </m:e>
                      </m:d>
                    </m:oMath>
                  </a14:m>
                  <a:r>
                    <a:rPr lang="en-US" sz="4800" dirty="0">
                      <a:solidFill>
                        <a:prstClr val="white"/>
                      </a:solidFill>
                      <a:latin typeface="Tahoma" pitchFamily="34" charset="0"/>
                      <a:ea typeface="Tahoma" pitchFamily="34" charset="0"/>
                      <a:cs typeface="Tahoma" pitchFamily="34" charset="0"/>
                    </a:rPr>
                    <a:t>.</a:t>
                  </a: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243792"/>
                  <a:ext cx="2468235" cy="617268"/>
                </a:xfrm>
                <a:prstGeom prst="rect">
                  <a:avLst/>
                </a:prstGeom>
                <a:blipFill>
                  <a:blip r:embed="rId4"/>
                  <a:stretch>
                    <a:fillRect b="-6635"/>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4800" b="1" i="1" smtClean="0">
                          <a:latin typeface="Cambria Math" panose="02040503050406030204" pitchFamily="18" charset="0"/>
                        </a:rPr>
                        <m:t>𝑴</m:t>
                      </m:r>
                      <m:d>
                        <m:dPr>
                          <m:ctrlPr>
                            <a:rPr lang="en-US" sz="4800" b="1" i="1">
                              <a:latin typeface="Cambria Math" panose="02040503050406030204" pitchFamily="18" charset="0"/>
                            </a:rPr>
                          </m:ctrlPr>
                        </m:dPr>
                        <m:e>
                          <m:f>
                            <m:fPr>
                              <m:ctrlPr>
                                <a:rPr lang="en-US" sz="4800" b="1" i="1">
                                  <a:latin typeface="Cambria Math" panose="02040503050406030204" pitchFamily="18" charset="0"/>
                                </a:rPr>
                              </m:ctrlPr>
                            </m:fPr>
                            <m:num>
                              <m:r>
                                <a:rPr lang="vi-VN" sz="4800" b="1" i="1" smtClean="0">
                                  <a:latin typeface="Cambria Math" panose="02040503050406030204" pitchFamily="18" charset="0"/>
                                </a:rPr>
                                <m:t>𝟓</m:t>
                              </m:r>
                            </m:num>
                            <m:den>
                              <m:r>
                                <a:rPr lang="vi-VN" sz="4800" b="1" i="1" smtClean="0">
                                  <a:latin typeface="Cambria Math" panose="02040503050406030204" pitchFamily="18" charset="0"/>
                                </a:rPr>
                                <m:t>𝟐</m:t>
                              </m:r>
                            </m:den>
                          </m:f>
                          <m:r>
                            <a:rPr lang="en-US" sz="4800" b="1" i="1">
                              <a:latin typeface="Cambria Math" panose="02040503050406030204" pitchFamily="18" charset="0"/>
                            </a:rPr>
                            <m:t>;</m:t>
                          </m:r>
                          <m:r>
                            <a:rPr lang="vi-VN" sz="4800" b="1" i="1" smtClean="0">
                              <a:latin typeface="Cambria Math" panose="02040503050406030204" pitchFamily="18" charset="0"/>
                            </a:rPr>
                            <m:t>𝟎</m:t>
                          </m:r>
                        </m:e>
                      </m:d>
                    </m:oMath>
                  </a14:m>
                  <a:r>
                    <a:rPr lang="en-US" sz="4800" dirty="0">
                      <a:solidFill>
                        <a:prstClr val="white"/>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243792"/>
                  <a:ext cx="2468235" cy="617268"/>
                </a:xfrm>
                <a:prstGeom prst="rect">
                  <a:avLst/>
                </a:prstGeom>
                <a:blipFill>
                  <a:blip r:embed="rId5"/>
                  <a:stretch>
                    <a:fillRect b="-5687"/>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4800" b="1" i="1" smtClean="0">
                          <a:latin typeface="Cambria Math" panose="02040503050406030204" pitchFamily="18" charset="0"/>
                        </a:rPr>
                        <m:t>𝑴</m:t>
                      </m:r>
                      <m:d>
                        <m:dPr>
                          <m:ctrlPr>
                            <a:rPr lang="en-US" sz="4800" b="1" i="1">
                              <a:latin typeface="Cambria Math" panose="02040503050406030204" pitchFamily="18" charset="0"/>
                            </a:rPr>
                          </m:ctrlPr>
                        </m:dPr>
                        <m:e>
                          <m:r>
                            <a:rPr lang="vi-VN" sz="4800" b="1" i="1" smtClean="0">
                              <a:latin typeface="Cambria Math" panose="02040503050406030204" pitchFamily="18" charset="0"/>
                            </a:rPr>
                            <m:t>𝟎</m:t>
                          </m:r>
                          <m:r>
                            <a:rPr lang="vi-VN" sz="4800" b="1" i="1" smtClean="0">
                              <a:latin typeface="Cambria Math" panose="02040503050406030204" pitchFamily="18" charset="0"/>
                            </a:rPr>
                            <m:t>;</m:t>
                          </m:r>
                          <m:f>
                            <m:fPr>
                              <m:ctrlPr>
                                <a:rPr lang="en-US" sz="4800" b="1" i="1">
                                  <a:latin typeface="Cambria Math" panose="02040503050406030204" pitchFamily="18" charset="0"/>
                                </a:rPr>
                              </m:ctrlPr>
                            </m:fPr>
                            <m:num>
                              <m:r>
                                <a:rPr lang="vi-VN" sz="4800" b="1" i="1">
                                  <a:latin typeface="Cambria Math" panose="02040503050406030204" pitchFamily="18" charset="0"/>
                                </a:rPr>
                                <m:t>𝟓</m:t>
                              </m:r>
                            </m:num>
                            <m:den>
                              <m:r>
                                <a:rPr lang="vi-VN" sz="4800" b="1" i="1">
                                  <a:latin typeface="Cambria Math" panose="02040503050406030204" pitchFamily="18" charset="0"/>
                                </a:rPr>
                                <m:t>𝟐</m:t>
                              </m:r>
                            </m:den>
                          </m:f>
                        </m:e>
                      </m:d>
                    </m:oMath>
                  </a14:m>
                  <a:r>
                    <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243792"/>
                  <a:ext cx="2468235" cy="617268"/>
                </a:xfrm>
                <a:prstGeom prst="rect">
                  <a:avLst/>
                </a:prstGeom>
                <a:blipFill>
                  <a:blip r:embed="rId6"/>
                  <a:stretch>
                    <a:fillRect b="-5687"/>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6623067" y="5219738"/>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590803"/>
            <a:ext cx="23943880" cy="2401467"/>
            <a:chOff x="923003" y="3917552"/>
            <a:chExt cx="23943880" cy="2401466"/>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4426857"/>
              <a:ext cx="23594672" cy="1892161"/>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9"/>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a:t>
                  </a:r>
                  <a:r>
                    <a:rPr lang="vi-VN" sz="4600" b="1" dirty="0">
                      <a:solidFill>
                        <a:prstClr val="black"/>
                      </a:solidFill>
                      <a:latin typeface="Tahoma" pitchFamily="34" charset="0"/>
                      <a:ea typeface="Tahoma" pitchFamily="34" charset="0"/>
                      <a:cs typeface="Tahoma" pitchFamily="34" charset="0"/>
                    </a:rPr>
                    <a:t>4 </a:t>
                  </a:r>
                  <a:endParaRPr lang="en-US" sz="4600" b="1" dirty="0">
                    <a:solidFill>
                      <a:prstClr val="black"/>
                    </a:solidFill>
                    <a:latin typeface="Tahoma" pitchFamily="34" charset="0"/>
                    <a:ea typeface="Tahoma" pitchFamily="34" charset="0"/>
                    <a:cs typeface="Tahoma" pitchFamily="34" charset="0"/>
                  </a:endParaRP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endParaRPr lang="en-US">
                <a:solidFill>
                  <a:prstClr val="white"/>
                </a:solidFill>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852863" y="6936076"/>
                <a:ext cx="10691937" cy="830997"/>
              </a:xfrm>
              <a:prstGeom prst="rect">
                <a:avLst/>
              </a:prstGeom>
              <a:noFill/>
            </p:spPr>
            <p:txBody>
              <a:bodyPr wrap="square">
                <a:spAutoFit/>
              </a:bodyP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Vì</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thuộc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trục</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𝑶𝒚</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nên</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𝒚</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852863" y="6936076"/>
                <a:ext cx="10691937" cy="830997"/>
              </a:xfrm>
              <a:prstGeom prst="rect">
                <a:avLst/>
              </a:prstGeom>
              <a:blipFill>
                <a:blip r:embed="rId8"/>
                <a:stretch>
                  <a:fillRect l="-912" t="-17647"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4302314" y="3058461"/>
                <a:ext cx="19319686" cy="1569660"/>
              </a:xfrm>
              <a:prstGeom prst="rect">
                <a:avLst/>
              </a:prstGeom>
              <a:noFill/>
            </p:spPr>
            <p:txBody>
              <a:bodyPr wrap="square">
                <a:spAutoFit/>
              </a:bodyPr>
              <a:lstStyle/>
              <a:p>
                <a:r>
                  <a:rPr lang="pt-BR" sz="4800" b="1" dirty="0">
                    <a:latin typeface="Tahoma" panose="020B0604030504040204" pitchFamily="34" charset="0"/>
                    <a:ea typeface="Tahoma" panose="020B0604030504040204" pitchFamily="34" charset="0"/>
                    <a:cs typeface="Tahoma" panose="020B0604030504040204" pitchFamily="34" charset="0"/>
                  </a:rPr>
                  <a:t>Cho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𝑨</m:t>
                    </m:r>
                    <m:d>
                      <m:dPr>
                        <m:ctrlPr>
                          <a:rPr lang="en-US" sz="4800" b="1" i="1">
                            <a:latin typeface="Cambria Math" panose="02040503050406030204" pitchFamily="18" charset="0"/>
                            <a:ea typeface="Calibri" panose="020F0502020204030204" pitchFamily="34" charset="0"/>
                            <a:cs typeface="Times New Roman" panose="02020603050405020304" pitchFamily="18" charset="0"/>
                          </a:rPr>
                        </m:ctrlPr>
                      </m:dPr>
                      <m:e>
                        <m:r>
                          <a:rPr lang="en-US" sz="4800" b="1" i="1">
                            <a:latin typeface="Cambria Math" panose="02040503050406030204" pitchFamily="18" charset="0"/>
                            <a:ea typeface="Calibri" panose="020F0502020204030204" pitchFamily="34" charset="0"/>
                            <a:cs typeface="Times New Roman" panose="02020603050405020304" pitchFamily="18" charset="0"/>
                          </a:rPr>
                          <m:t>𝟏</m:t>
                        </m:r>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𝟐</m:t>
                        </m:r>
                      </m:e>
                    </m:d>
                  </m:oMath>
                </a14:m>
                <a:r>
                  <a:rPr lang="pt-B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𝑩</m:t>
                    </m:r>
                    <m:d>
                      <m:dPr>
                        <m:ctrlPr>
                          <a:rPr lang="en-US" sz="4800" b="1" i="1">
                            <a:latin typeface="Cambria Math" panose="02040503050406030204" pitchFamily="18" charset="0"/>
                            <a:ea typeface="Calibri" panose="020F0502020204030204" pitchFamily="34" charset="0"/>
                            <a:cs typeface="Times New Roman" panose="02020603050405020304" pitchFamily="18" charset="0"/>
                          </a:rPr>
                        </m:ctrlPr>
                      </m:dPr>
                      <m:e>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𝟐</m:t>
                        </m:r>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𝟔</m:t>
                        </m:r>
                      </m:e>
                    </m:d>
                  </m:oMath>
                </a14:m>
                <a:r>
                  <a:rPr lang="pt-BR" sz="4800" b="1" dirty="0">
                    <a:latin typeface="Tahoma" panose="020B0604030504040204" pitchFamily="34" charset="0"/>
                    <a:ea typeface="Tahoma" panose="020B0604030504040204" pitchFamily="34" charset="0"/>
                    <a:cs typeface="Tahoma" panose="020B0604030504040204" pitchFamily="34" charset="0"/>
                  </a:rPr>
                  <a:t>. Tìm tọa độ điểm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𝑴</m:t>
                    </m:r>
                  </m:oMath>
                </a14:m>
                <a:r>
                  <a:rPr lang="pt-BR" sz="4800" b="1" dirty="0">
                    <a:latin typeface="Tahoma" panose="020B0604030504040204" pitchFamily="34" charset="0"/>
                    <a:ea typeface="Tahoma" panose="020B0604030504040204" pitchFamily="34" charset="0"/>
                    <a:cs typeface="Tahoma" panose="020B0604030504040204" pitchFamily="34" charset="0"/>
                  </a:rPr>
                  <a:t> thuộc trục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𝑶𝒚</m:t>
                    </m:r>
                  </m:oMath>
                </a14:m>
                <a:r>
                  <a:rPr lang="pt-BR" sz="4800" b="1" dirty="0">
                    <a:latin typeface="Tahoma" panose="020B0604030504040204" pitchFamily="34" charset="0"/>
                    <a:ea typeface="Tahoma" panose="020B0604030504040204" pitchFamily="34" charset="0"/>
                    <a:cs typeface="Tahoma" panose="020B0604030504040204" pitchFamily="34" charset="0"/>
                  </a:rPr>
                  <a:t> sao cho ba điểm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𝑨</m:t>
                    </m:r>
                  </m:oMath>
                </a14:m>
                <a:r>
                  <a:rPr lang="pt-B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𝑩</m:t>
                    </m:r>
                  </m:oMath>
                </a14:m>
                <a:r>
                  <a:rPr lang="pt-B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𝑴</m:t>
                    </m:r>
                  </m:oMath>
                </a14:m>
                <a:r>
                  <a:rPr lang="pt-BR" sz="4800" b="1" dirty="0">
                    <a:latin typeface="Tahoma" panose="020B0604030504040204" pitchFamily="34" charset="0"/>
                    <a:ea typeface="Tahoma" panose="020B0604030504040204" pitchFamily="34" charset="0"/>
                    <a:cs typeface="Tahoma" panose="020B0604030504040204" pitchFamily="34" charset="0"/>
                  </a:rPr>
                  <a:t> thẳng hàng?</a:t>
                </a:r>
                <a:endPar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4302314" y="3058461"/>
                <a:ext cx="19319686" cy="1569660"/>
              </a:xfrm>
              <a:prstGeom prst="rect">
                <a:avLst/>
              </a:prstGeom>
              <a:blipFill>
                <a:blip r:embed="rId9"/>
                <a:stretch>
                  <a:fillRect l="-1452" t="-9339" r="-1010" b="-19455"/>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algn="ctr"/>
            <a:r>
              <a:rPr lang="en-US" dirty="0">
                <a:solidFill>
                  <a:prstClr val="white"/>
                </a:solidFill>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807941" y="8110016"/>
                <a:ext cx="11838286" cy="922753"/>
              </a:xfrm>
              <a:prstGeom prst="rect">
                <a:avLst/>
              </a:prstGeom>
              <a:noFill/>
            </p:spPr>
            <p:txBody>
              <a:bodyPr wrap="square">
                <a:spAutoFit/>
              </a:bodyPr>
              <a:lstStyle/>
              <a:p>
                <a:r>
                  <a:rPr lang="en-US" sz="4800" b="1" dirty="0" err="1">
                    <a:latin typeface="Tahoma" panose="020B0604030504040204" pitchFamily="34" charset="0"/>
                    <a:ea typeface="Tahoma" panose="020B0604030504040204" pitchFamily="34" charset="0"/>
                    <a:cs typeface="Tahoma" panose="020B0604030504040204" pitchFamily="34" charset="0"/>
                  </a:rPr>
                  <a:t>Suy</a:t>
                </a:r>
                <a:r>
                  <a:rPr lang="en-US" sz="4800" b="1" dirty="0">
                    <a:latin typeface="Tahoma" panose="020B0604030504040204" pitchFamily="34" charset="0"/>
                    <a:ea typeface="Tahoma" panose="020B0604030504040204" pitchFamily="34" charset="0"/>
                    <a:cs typeface="Tahoma" panose="020B0604030504040204" pitchFamily="34" charset="0"/>
                  </a:rPr>
                  <a:t> ra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𝑨𝑴</m:t>
                        </m:r>
                      </m:e>
                    </m:acc>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807941" y="8110016"/>
                <a:ext cx="11838286" cy="922753"/>
              </a:xfrm>
              <a:prstGeom prst="rect">
                <a:avLst/>
              </a:prstGeom>
              <a:blipFill>
                <a:blip r:embed="rId10"/>
                <a:stretch>
                  <a:fillRect l="-2369" t="-5921" b="-32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DB88394-B59F-4019-807A-D69A9C53B86C}"/>
                  </a:ext>
                </a:extLst>
              </p:cNvPr>
              <p:cNvSpPr txBox="1"/>
              <p:nvPr/>
            </p:nvSpPr>
            <p:spPr>
              <a:xfrm>
                <a:off x="843752" y="9230355"/>
                <a:ext cx="21025648" cy="1159228"/>
              </a:xfrm>
              <a:prstGeom prst="rect">
                <a:avLst/>
              </a:prstGeom>
              <a:noFill/>
            </p:spPr>
            <p:txBody>
              <a:bodyPr wrap="square">
                <a:spAutoFit/>
              </a:bodyPr>
              <a:lstStyle/>
              <a:p>
                <a:r>
                  <a:rPr lang="en-US" sz="4800" b="1" dirty="0" err="1">
                    <a:latin typeface="Tahoma" panose="020B0604030504040204" pitchFamily="34" charset="0"/>
                    <a:ea typeface="Tahoma" panose="020B0604030504040204" pitchFamily="34" charset="0"/>
                    <a:cs typeface="Tahoma" panose="020B0604030504040204" pitchFamily="34" charset="0"/>
                  </a:rPr>
                  <a:t>Để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hàng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thì</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f>
                      <m:fPr>
                        <m:ctrlPr>
                          <a:rPr lang="en-US" sz="4800" b="1" i="1">
                            <a:latin typeface="Cambria Math" panose="02040503050406030204" pitchFamily="18" charset="0"/>
                          </a:rPr>
                        </m:ctrlPr>
                      </m:fPr>
                      <m:num>
                        <m:r>
                          <a:rPr lang="en-US" sz="4800" b="1" i="1">
                            <a:latin typeface="Cambria Math" panose="02040503050406030204" pitchFamily="18" charset="0"/>
                          </a:rPr>
                          <m:t>−</m:t>
                        </m:r>
                        <m:r>
                          <a:rPr lang="en-US" sz="4800" b="1" i="1">
                            <a:latin typeface="Cambria Math" panose="02040503050406030204" pitchFamily="18" charset="0"/>
                          </a:rPr>
                          <m:t>𝟏</m:t>
                        </m:r>
                      </m:num>
                      <m:den>
                        <m:r>
                          <a:rPr lang="en-US" sz="4800" b="1" i="1">
                            <a:latin typeface="Cambria Math" panose="02040503050406030204" pitchFamily="18" charset="0"/>
                          </a:rPr>
                          <m:t>−</m:t>
                        </m:r>
                        <m:r>
                          <a:rPr lang="en-US" sz="4800" b="1" i="1">
                            <a:latin typeface="Cambria Math" panose="02040503050406030204" pitchFamily="18" charset="0"/>
                          </a:rPr>
                          <m:t>𝟑</m:t>
                        </m:r>
                      </m:den>
                    </m:f>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𝟐</m:t>
                        </m:r>
                      </m:num>
                      <m:den>
                        <m:r>
                          <a:rPr lang="en-US" sz="4800" b="1" i="1">
                            <a:latin typeface="Cambria Math" panose="02040503050406030204" pitchFamily="18" charset="0"/>
                          </a:rPr>
                          <m:t>𝟒</m:t>
                        </m:r>
                      </m:den>
                    </m:f>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4" name="TextBox 33">
                <a:extLst>
                  <a:ext uri="{FF2B5EF4-FFF2-40B4-BE49-F238E27FC236}">
                    <a16:creationId xmlns:a16="http://schemas.microsoft.com/office/drawing/2014/main" id="{BDB88394-B59F-4019-807A-D69A9C53B86C}"/>
                  </a:ext>
                </a:extLst>
              </p:cNvPr>
              <p:cNvSpPr txBox="1">
                <a:spLocks noRot="1" noChangeAspect="1" noMove="1" noResize="1" noEditPoints="1" noAdjustHandles="1" noChangeArrowheads="1" noChangeShapeType="1" noTextEdit="1"/>
              </p:cNvSpPr>
              <p:nvPr/>
            </p:nvSpPr>
            <p:spPr>
              <a:xfrm>
                <a:off x="843752" y="9230355"/>
                <a:ext cx="21025648" cy="1159228"/>
              </a:xfrm>
              <a:prstGeom prst="rect">
                <a:avLst/>
              </a:prstGeom>
              <a:blipFill>
                <a:blip r:embed="rId11"/>
                <a:stretch>
                  <a:fillRect l="-1304" b="-11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FFA15C6-80FF-45FD-96A6-37A7266C4168}"/>
                  </a:ext>
                </a:extLst>
              </p:cNvPr>
              <p:cNvSpPr txBox="1"/>
              <p:nvPr/>
            </p:nvSpPr>
            <p:spPr>
              <a:xfrm>
                <a:off x="843752" y="10526315"/>
                <a:ext cx="4383789" cy="1197764"/>
              </a:xfrm>
              <a:prstGeom prst="rect">
                <a:avLst/>
              </a:prstGeom>
              <a:noFill/>
            </p:spPr>
            <p:txBody>
              <a:bodyPr wrap="square">
                <a:spAutoFit/>
              </a:bodyPr>
              <a:lstStyle/>
              <a:p>
                <a:r>
                  <a:rPr lang="en-US" sz="4800" b="1" dirty="0" err="1">
                    <a:latin typeface="Tahoma" panose="020B0604030504040204" pitchFamily="34" charset="0"/>
                    <a:ea typeface="Tahoma" panose="020B0604030504040204" pitchFamily="34" charset="0"/>
                    <a:cs typeface="Tahoma" panose="020B0604030504040204" pitchFamily="34" charset="0"/>
                  </a:rPr>
                  <a:t>Vậy</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𝟏𝟎</m:t>
                            </m:r>
                          </m:num>
                          <m:den>
                            <m:r>
                              <a:rPr lang="en-US" sz="4800" b="1" i="1">
                                <a:latin typeface="Cambria Math" panose="02040503050406030204" pitchFamily="18" charset="0"/>
                              </a:rPr>
                              <m:t>𝟑</m:t>
                            </m:r>
                          </m:den>
                        </m:f>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1" name="TextBox 40">
                <a:extLst>
                  <a:ext uri="{FF2B5EF4-FFF2-40B4-BE49-F238E27FC236}">
                    <a16:creationId xmlns:a16="http://schemas.microsoft.com/office/drawing/2014/main" id="{3FFA15C6-80FF-45FD-96A6-37A7266C4168}"/>
                  </a:ext>
                </a:extLst>
              </p:cNvPr>
              <p:cNvSpPr txBox="1">
                <a:spLocks noRot="1" noChangeAspect="1" noMove="1" noResize="1" noEditPoints="1" noAdjustHandles="1" noChangeArrowheads="1" noChangeShapeType="1" noTextEdit="1"/>
              </p:cNvSpPr>
              <p:nvPr/>
            </p:nvSpPr>
            <p:spPr>
              <a:xfrm>
                <a:off x="843752" y="10526315"/>
                <a:ext cx="4383789" cy="1197764"/>
              </a:xfrm>
              <a:prstGeom prst="rect">
                <a:avLst/>
              </a:prstGeom>
              <a:blipFill>
                <a:blip r:embed="rId12"/>
                <a:stretch>
                  <a:fillRect l="-6250" b="-96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4688AC4-D438-4248-8A8E-515D4BB48D85}"/>
                  </a:ext>
                </a:extLst>
              </p:cNvPr>
              <p:cNvSpPr txBox="1"/>
              <p:nvPr/>
            </p:nvSpPr>
            <p:spPr>
              <a:xfrm>
                <a:off x="13962157" y="9266624"/>
                <a:ext cx="6938792" cy="1159228"/>
              </a:xfrm>
              <a:prstGeom prst="rect">
                <a:avLst/>
              </a:prstGeom>
              <a:noFill/>
            </p:spPr>
            <p:txBody>
              <a:bodyPr wrap="square">
                <a:spAutoFit/>
              </a:bodyPr>
              <a:lstStyle/>
              <a:p>
                <a14:m>
                  <m:oMath xmlns:m="http://schemas.openxmlformats.org/officeDocument/2006/math">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𝟔</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𝟏𝟎</m:t>
                        </m:r>
                      </m:num>
                      <m:den>
                        <m:r>
                          <a:rPr lang="en-US" sz="4800" b="1" i="1">
                            <a:latin typeface="Cambria Math" panose="02040503050406030204" pitchFamily="18" charset="0"/>
                          </a:rPr>
                          <m:t>𝟑</m:t>
                        </m:r>
                      </m:den>
                    </m:f>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5" name="TextBox 34">
                <a:extLst>
                  <a:ext uri="{FF2B5EF4-FFF2-40B4-BE49-F238E27FC236}">
                    <a16:creationId xmlns:a16="http://schemas.microsoft.com/office/drawing/2014/main" id="{24688AC4-D438-4248-8A8E-515D4BB48D85}"/>
                  </a:ext>
                </a:extLst>
              </p:cNvPr>
              <p:cNvSpPr txBox="1">
                <a:spLocks noRot="1" noChangeAspect="1" noMove="1" noResize="1" noEditPoints="1" noAdjustHandles="1" noChangeArrowheads="1" noChangeShapeType="1" noTextEdit="1"/>
              </p:cNvSpPr>
              <p:nvPr/>
            </p:nvSpPr>
            <p:spPr>
              <a:xfrm>
                <a:off x="13962157" y="9266624"/>
                <a:ext cx="6938792" cy="1159228"/>
              </a:xfrm>
              <a:prstGeom prst="rect">
                <a:avLst/>
              </a:prstGeom>
              <a:blipFill>
                <a:blip r:embed="rId13"/>
                <a:stretch>
                  <a:fillRect r="-2195" b="-11053"/>
                </a:stretch>
              </a:blipFill>
            </p:spPr>
            <p:txBody>
              <a:bodyPr/>
              <a:lstStyle/>
              <a:p>
                <a:r>
                  <a:rPr lang="en-US">
                    <a:noFill/>
                  </a:rPr>
                  <a:t> </a:t>
                </a:r>
              </a:p>
            </p:txBody>
          </p:sp>
        </mc:Fallback>
      </mc:AlternateContent>
      <p:sp>
        <p:nvSpPr>
          <p:cNvPr id="43" name="Rounded Rectangle 4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7" name="TextBox 4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7350591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left)">
                                      <p:cBhvr>
                                        <p:cTn id="21" dur="500"/>
                                        <p:tgtEl>
                                          <p:spTgt spid="3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left)">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left)">
                                      <p:cBhvr>
                                        <p:cTn id="31" dur="500"/>
                                        <p:tgtEl>
                                          <p:spTgt spid="3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wipe(left)">
                                      <p:cBhvr>
                                        <p:cTn id="36" dur="500"/>
                                        <p:tgtEl>
                                          <p:spTgt spid="41"/>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4" grpId="0"/>
      <p:bldP spid="41" grpId="0"/>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387187" y="4793880"/>
            <a:ext cx="23789474" cy="1546056"/>
            <a:chOff x="124658" y="2088032"/>
            <a:chExt cx="11894737" cy="77302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088032"/>
                  <a:ext cx="2468235" cy="77302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𝑰</m:t>
                        </m:r>
                        <m:d>
                          <m:dPr>
                            <m:ctrlP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𝟎</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𝟏𝟒</m:t>
                            </m:r>
                          </m:e>
                        </m:d>
                      </m:oMath>
                    </m:oMathPara>
                  </a14:m>
                  <a:endParaRPr lang="en-US" sz="4800" dirty="0">
                    <a:solidFill>
                      <a:prstClr val="white"/>
                    </a:solidFill>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088032"/>
                  <a:ext cx="2468235" cy="773028"/>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100293" y="2088032"/>
              <a:ext cx="687450" cy="755015"/>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B</a:t>
              </a:r>
              <a:endParaRPr lang="en-US" sz="6400" b="1"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088032"/>
                  <a:ext cx="2468235" cy="77302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prstClr val="white"/>
                            </a:solidFill>
                            <a:latin typeface="Cambria Math" panose="02040503050406030204" pitchFamily="18" charset="0"/>
                            <a:ea typeface="Calibri" panose="020F0502020204030204" pitchFamily="34" charset="0"/>
                            <a:cs typeface="Times New Roman" panose="02020603050405020304" pitchFamily="18" charset="0"/>
                          </a:rPr>
                          <m:t>𝑰</m:t>
                        </m:r>
                        <m:d>
                          <m:dPr>
                            <m:ctrlPr>
                              <a:rPr lang="en-US" sz="4800" b="1" i="1">
                                <a:solidFill>
                                  <a:prstClr val="white"/>
                                </a:solidFill>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prstClr val="white"/>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a:solidFill>
                                      <a:prstClr val="white"/>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a:solidFill>
                                      <a:prstClr val="white"/>
                                    </a:solidFill>
                                    <a:latin typeface="Cambria Math" panose="02040503050406030204" pitchFamily="18" charset="0"/>
                                    <a:ea typeface="Calibri" panose="020F0502020204030204" pitchFamily="34" charset="0"/>
                                    <a:cs typeface="Times New Roman" panose="02020603050405020304" pitchFamily="18" charset="0"/>
                                  </a:rPr>
                                  <m:t>𝟑</m:t>
                                </m:r>
                              </m:num>
                              <m:den>
                                <m:r>
                                  <a:rPr lang="en-US" sz="4800" b="1" i="1">
                                    <a:solidFill>
                                      <a:prstClr val="white"/>
                                    </a:solidFill>
                                    <a:latin typeface="Cambria Math" panose="02040503050406030204" pitchFamily="18" charset="0"/>
                                    <a:ea typeface="Calibri" panose="020F0502020204030204" pitchFamily="34" charset="0"/>
                                    <a:cs typeface="Times New Roman" panose="02020603050405020304" pitchFamily="18" charset="0"/>
                                  </a:rPr>
                                  <m:t>𝟐</m:t>
                                </m:r>
                              </m:den>
                            </m:f>
                            <m:r>
                              <a:rPr lang="en-US" sz="4800" b="1" i="1">
                                <a:solidFill>
                                  <a:prstClr val="white"/>
                                </a:solidFill>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prstClr val="white"/>
                                </a:solidFill>
                                <a:latin typeface="Cambria Math" panose="02040503050406030204" pitchFamily="18" charset="0"/>
                                <a:ea typeface="Calibri" panose="020F0502020204030204" pitchFamily="34" charset="0"/>
                                <a:cs typeface="Times New Roman" panose="02020603050405020304" pitchFamily="18" charset="0"/>
                              </a:rPr>
                              <m:t>𝟐</m:t>
                            </m:r>
                          </m:e>
                        </m:d>
                      </m:oMath>
                    </m:oMathPara>
                  </a14:m>
                  <a:endParaRPr lang="en-US" sz="4800" dirty="0">
                    <a:solidFill>
                      <a:prstClr val="white"/>
                    </a:solidFill>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088032"/>
                  <a:ext cx="2468235" cy="773028"/>
                </a:xfrm>
                <a:prstGeom prst="rect">
                  <a:avLst/>
                </a:prstGeom>
                <a:blipFill>
                  <a:blip r:embed="rId4"/>
                  <a:stretch>
                    <a:fillRect b="-1908"/>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124658" y="2093857"/>
              <a:ext cx="656650" cy="74919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A</a:t>
              </a:r>
              <a:endParaRPr lang="en-US" sz="6400" b="1"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088032"/>
                  <a:ext cx="2468235" cy="77302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𝑰</m:t>
                      </m:r>
                      <m:d>
                        <m:dPr>
                          <m:ctrlP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𝟒</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𝟏𝟎</m:t>
                          </m:r>
                        </m:e>
                      </m:d>
                    </m:oMath>
                  </a14:m>
                  <a:r>
                    <a:rPr lang="vi-VN" sz="4800" dirty="0">
                      <a:solidFill>
                        <a:prstClr val="white"/>
                      </a:solidFill>
                      <a:latin typeface="Tahoma" panose="020B0604030504040204" pitchFamily="34" charset="0"/>
                      <a:ea typeface="Tahoma" panose="020B0604030504040204" pitchFamily="34" charset="0"/>
                      <a:cs typeface="Tahoma" panose="020B0604030504040204" pitchFamily="34" charset="0"/>
                    </a:rPr>
                    <a:t>.</a:t>
                  </a:r>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088032"/>
                  <a:ext cx="2468235" cy="773028"/>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106729" y="2088032"/>
              <a:ext cx="687450" cy="755015"/>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088032"/>
                  <a:ext cx="2468235" cy="77302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𝑰</m:t>
                      </m:r>
                      <m:d>
                        <m:dPr>
                          <m:ctrlP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𝟏</m:t>
                              </m:r>
                            </m:num>
                            <m:den>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𝟐</m:t>
                              </m:r>
                            </m:den>
                          </m:f>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𝟒</m:t>
                          </m:r>
                        </m:e>
                      </m:d>
                    </m:oMath>
                  </a14:m>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a:t>
                  </a:r>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088032"/>
                  <a:ext cx="2468235" cy="773028"/>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113165" y="2088032"/>
              <a:ext cx="687452" cy="755015"/>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12446036" y="4926592"/>
            <a:ext cx="1185485" cy="1302902"/>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Calibri" panose="020F0502020204030204"/>
              </a:rPr>
              <a:t>C</a:t>
            </a:r>
            <a:endParaRPr lang="en-US" sz="6400" b="1"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590803"/>
            <a:ext cx="23943880" cy="2068123"/>
            <a:chOff x="923003" y="3917552"/>
            <a:chExt cx="23943880" cy="2068122"/>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4034357"/>
              <a:ext cx="23594672" cy="1951317"/>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9"/>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a:t>
                  </a:r>
                  <a:r>
                    <a:rPr lang="vi-VN" sz="4600" b="1" dirty="0">
                      <a:solidFill>
                        <a:prstClr val="black"/>
                      </a:solidFill>
                      <a:latin typeface="Tahoma" pitchFamily="34" charset="0"/>
                      <a:ea typeface="Tahoma" pitchFamily="34" charset="0"/>
                      <a:cs typeface="Tahoma" pitchFamily="34" charset="0"/>
                    </a:rPr>
                    <a:t>5 </a:t>
                  </a:r>
                  <a:endParaRPr lang="en-US" sz="4600" b="1" dirty="0">
                    <a:solidFill>
                      <a:prstClr val="black"/>
                    </a:solidFill>
                    <a:latin typeface="Tahoma" pitchFamily="34" charset="0"/>
                    <a:ea typeface="Tahoma" pitchFamily="34" charset="0"/>
                    <a:cs typeface="Tahoma" pitchFamily="34" charset="0"/>
                  </a:endParaRP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endParaRPr lang="en-US">
                <a:solidFill>
                  <a:prstClr val="white"/>
                </a:solidFill>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698568" y="7637491"/>
                <a:ext cx="23258204" cy="2827441"/>
              </a:xfrm>
              <a:prstGeom prst="rect">
                <a:avLst/>
              </a:prstGeom>
              <a:noFill/>
            </p:spPr>
            <p:txBody>
              <a:bodyPr wrap="square">
                <a:spAutoFit/>
              </a:bodyP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vi-VN" sz="4800" b="1" dirty="0">
                    <a:latin typeface="Tahoma" panose="020B0604030504040204" pitchFamily="34" charset="0"/>
                    <a:ea typeface="Tahoma" panose="020B0604030504040204" pitchFamily="34" charset="0"/>
                    <a:cs typeface="Tahoma" panose="020B0604030504040204" pitchFamily="34" charset="0"/>
                  </a:rPr>
                  <a:t>Do </a:t>
                </a:r>
                <a14:m>
                  <m:oMath xmlns:m="http://schemas.openxmlformats.org/officeDocument/2006/math">
                    <m:r>
                      <a:rPr lang="en-US" sz="4800" b="1" i="1">
                        <a:latin typeface="Cambria Math" panose="02040503050406030204" pitchFamily="18" charset="0"/>
                      </a:rPr>
                      <m:t>𝑩</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trung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đoạn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thẳng</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𝑨𝑰</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nên</a:t>
                </a:r>
                <a:r>
                  <a:rPr lang="en-US" sz="4800" b="1" dirty="0">
                    <a:latin typeface="Tahoma" panose="020B0604030504040204" pitchFamily="34" charset="0"/>
                    <a:ea typeface="Tahoma" panose="020B0604030504040204" pitchFamily="34" charset="0"/>
                    <a:cs typeface="Tahoma" panose="020B0604030504040204" pitchFamily="34" charset="0"/>
                  </a:rPr>
                  <a:t> ta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f>
                              <m:fPr>
                                <m:ctrlPr>
                                  <a:rPr lang="en-US" sz="4800" b="1" i="1">
                                    <a:latin typeface="Cambria Math" panose="02040503050406030204" pitchFamily="18" charset="0"/>
                                  </a:rPr>
                                </m:ctrlPr>
                              </m:fPr>
                              <m:num>
                                <m:r>
                                  <a:rPr lang="en-US" sz="4800" b="1" i="1">
                                    <a:latin typeface="Cambria Math" panose="02040503050406030204" pitchFamily="18" charset="0"/>
                                  </a:rPr>
                                  <m:t>𝟐</m:t>
                                </m:r>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𝑰</m:t>
                                    </m:r>
                                  </m:sub>
                                </m:sSub>
                              </m:num>
                              <m:den>
                                <m:r>
                                  <a:rPr lang="en-US" sz="4800" b="1" i="1">
                                    <a:latin typeface="Cambria Math" panose="02040503050406030204" pitchFamily="18" charset="0"/>
                                  </a:rPr>
                                  <m:t>𝟐</m:t>
                                </m:r>
                              </m:den>
                            </m:f>
                            <m:r>
                              <a:rPr lang="en-US" sz="4800" b="1" i="1">
                                <a:latin typeface="Cambria Math" panose="02040503050406030204" pitchFamily="18" charset="0"/>
                              </a:rPr>
                              <m:t>=−</m:t>
                            </m:r>
                            <m:r>
                              <a:rPr lang="en-US" sz="4800" b="1" i="1">
                                <a:latin typeface="Cambria Math" panose="02040503050406030204" pitchFamily="18" charset="0"/>
                              </a:rPr>
                              <m:t>𝟏</m:t>
                            </m:r>
                          </m:e>
                          <m:e>
                            <m:f>
                              <m:fPr>
                                <m:ctrlPr>
                                  <a:rPr lang="en-US" sz="4800" b="1" i="1">
                                    <a:latin typeface="Cambria Math" panose="02040503050406030204" pitchFamily="18" charset="0"/>
                                  </a:rPr>
                                </m:ctrlPr>
                              </m:fPr>
                              <m:num>
                                <m:r>
                                  <a:rPr lang="en-US" sz="4800" b="1" i="1">
                                    <a:latin typeface="Cambria Math" panose="02040503050406030204" pitchFamily="18" charset="0"/>
                                  </a:rPr>
                                  <m:t>𝟐</m:t>
                                </m:r>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𝑰</m:t>
                                    </m:r>
                                  </m:sub>
                                </m:sSub>
                              </m:num>
                              <m:den>
                                <m:r>
                                  <a:rPr lang="en-US" sz="4800" b="1" i="1">
                                    <a:latin typeface="Cambria Math" panose="02040503050406030204" pitchFamily="18" charset="0"/>
                                  </a:rPr>
                                  <m:t>𝟐</m:t>
                                </m:r>
                              </m:den>
                            </m:f>
                            <m:r>
                              <a:rPr lang="en-US" sz="4800" b="1" i="1">
                                <a:latin typeface="Cambria Math" panose="02040503050406030204" pitchFamily="18" charset="0"/>
                              </a:rPr>
                              <m:t>=</m:t>
                            </m:r>
                            <m:r>
                              <a:rPr lang="en-US" sz="4800" b="1" i="1">
                                <a:latin typeface="Cambria Math" panose="02040503050406030204" pitchFamily="18" charset="0"/>
                              </a:rPr>
                              <m:t>𝟔</m:t>
                            </m:r>
                          </m:e>
                        </m:eqArr>
                      </m:e>
                    </m:d>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𝑰</m:t>
                                </m:r>
                              </m:sub>
                            </m:sSub>
                            <m:r>
                              <a:rPr lang="en-US" sz="4800" b="1" i="1">
                                <a:latin typeface="Cambria Math" panose="02040503050406030204" pitchFamily="18" charset="0"/>
                              </a:rPr>
                              <m:t>=−</m:t>
                            </m:r>
                            <m:r>
                              <a:rPr lang="en-US" sz="4800" b="1" i="1">
                                <a:latin typeface="Cambria Math" panose="02040503050406030204" pitchFamily="18" charset="0"/>
                              </a:rPr>
                              <m:t>𝟒</m:t>
                            </m:r>
                          </m:e>
                          <m:e>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𝑰</m:t>
                                </m:r>
                              </m:sub>
                            </m:sSub>
                            <m:r>
                              <a:rPr lang="en-US" sz="4800" b="1" i="1">
                                <a:latin typeface="Cambria Math" panose="02040503050406030204" pitchFamily="18" charset="0"/>
                              </a:rPr>
                              <m:t>=</m:t>
                            </m:r>
                            <m:r>
                              <a:rPr lang="en-US" sz="4800" b="1" i="1">
                                <a:latin typeface="Cambria Math" panose="02040503050406030204" pitchFamily="18" charset="0"/>
                              </a:rPr>
                              <m:t>𝟏𝟎</m:t>
                            </m:r>
                          </m:e>
                        </m:eqArr>
                      </m:e>
                    </m:d>
                  </m:oMath>
                </a14:m>
                <a:r>
                  <a:rPr lang="en-US" sz="4800" b="1"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698568" y="7637491"/>
                <a:ext cx="23258204" cy="2827441"/>
              </a:xfrm>
              <a:prstGeom prst="rect">
                <a:avLst/>
              </a:prstGeom>
              <a:blipFill>
                <a:blip r:embed="rId8"/>
                <a:stretch>
                  <a:fillRect l="-4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4173276" y="2716346"/>
                <a:ext cx="19319686" cy="1713739"/>
              </a:xfrm>
              <a:prstGeom prst="rect">
                <a:avLst/>
              </a:prstGeom>
              <a:noFill/>
            </p:spPr>
            <p:txBody>
              <a:bodyPr wrap="square">
                <a:spAutoFit/>
              </a:bodyPr>
              <a:lstStyle/>
              <a:p>
                <a:pPr marL="629920" indent="-629920" algn="just">
                  <a:lnSpc>
                    <a:spcPct val="115000"/>
                  </a:lnSpc>
                  <a:spcAft>
                    <a:spcPts val="800"/>
                  </a:spcAft>
                  <a:tabLst>
                    <a:tab pos="629920" algn="l"/>
                  </a:tabLst>
                </a:pP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mặt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phẳng</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𝑶𝒙𝒚</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𝑨</m:t>
                    </m:r>
                    <m:d>
                      <m:dPr>
                        <m:ctrlPr>
                          <a:rPr lang="en-US" sz="4800" b="1" i="1">
                            <a:latin typeface="Cambria Math" panose="02040503050406030204" pitchFamily="18" charset="0"/>
                            <a:ea typeface="Calibri" panose="020F0502020204030204" pitchFamily="34" charset="0"/>
                            <a:cs typeface="Times New Roman" panose="02020603050405020304" pitchFamily="18" charset="0"/>
                          </a:rPr>
                        </m:ctrlPr>
                      </m:dPr>
                      <m:e>
                        <m:r>
                          <a:rPr lang="en-US" sz="4800" b="1" i="1">
                            <a:latin typeface="Cambria Math" panose="02040503050406030204" pitchFamily="18" charset="0"/>
                            <a:ea typeface="Calibri" panose="020F0502020204030204" pitchFamily="34" charset="0"/>
                            <a:cs typeface="Times New Roman" panose="02020603050405020304" pitchFamily="18" charset="0"/>
                          </a:rPr>
                          <m:t>𝟐</m:t>
                        </m:r>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𝟐</m:t>
                        </m:r>
                      </m:e>
                    </m:d>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𝑩</m:t>
                    </m:r>
                    <m:d>
                      <m:dPr>
                        <m:ctrlPr>
                          <a:rPr lang="en-US" sz="4800" b="1" i="1">
                            <a:latin typeface="Cambria Math" panose="02040503050406030204" pitchFamily="18" charset="0"/>
                            <a:ea typeface="Calibri" panose="020F0502020204030204" pitchFamily="34" charset="0"/>
                            <a:cs typeface="Times New Roman" panose="02020603050405020304" pitchFamily="18" charset="0"/>
                          </a:rPr>
                        </m:ctrlPr>
                      </m:dPr>
                      <m:e>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𝟏</m:t>
                        </m:r>
                        <m:r>
                          <a:rPr lang="en-US" sz="4800" b="1" i="1">
                            <a:latin typeface="Cambria Math" panose="02040503050406030204" pitchFamily="18" charset="0"/>
                            <a:ea typeface="Calibri" panose="020F0502020204030204" pitchFamily="34" charset="0"/>
                            <a:cs typeface="Times New Roman" panose="02020603050405020304" pitchFamily="18" charset="0"/>
                          </a:rPr>
                          <m:t>;</m:t>
                        </m:r>
                        <m:r>
                          <a:rPr lang="en-US" sz="4800" b="1" i="1">
                            <a:latin typeface="Cambria Math" panose="02040503050406030204" pitchFamily="18" charset="0"/>
                            <a:ea typeface="Calibri" panose="020F0502020204030204" pitchFamily="34" charset="0"/>
                            <a:cs typeface="Times New Roman" panose="02020603050405020304" pitchFamily="18" charset="0"/>
                          </a:rPr>
                          <m:t>𝟔</m:t>
                        </m:r>
                      </m:e>
                    </m:d>
                  </m:oMath>
                </a14:m>
                <a:r>
                  <a:rPr lang="en-US" sz="4800" b="1" dirty="0">
                    <a:latin typeface="Tahoma" panose="020B0604030504040204" pitchFamily="34" charset="0"/>
                    <a:ea typeface="Tahoma" panose="020B0604030504040204" pitchFamily="34" charset="0"/>
                    <a:cs typeface="Tahoma" panose="020B0604030504040204" pitchFamily="34" charset="0"/>
                  </a:rPr>
                  <a:t> . </a:t>
                </a:r>
                <a:r>
                  <a:rPr lang="en-US" sz="4800" b="1" dirty="0" err="1">
                    <a:latin typeface="Tahoma" panose="020B0604030504040204" pitchFamily="34" charset="0"/>
                    <a:ea typeface="Tahoma" panose="020B0604030504040204" pitchFamily="34" charset="0"/>
                    <a:cs typeface="Tahoma" panose="020B0604030504040204" pitchFamily="34" charset="0"/>
                  </a:rPr>
                  <a:t>Tìm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𝑰</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𝑩</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trung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đoạn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thẳng</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𝑨𝑰</m:t>
                    </m:r>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4173276" y="2716346"/>
                <a:ext cx="19319686" cy="1713739"/>
              </a:xfrm>
              <a:prstGeom prst="rect">
                <a:avLst/>
              </a:prstGeom>
              <a:blipFill>
                <a:blip r:embed="rId9"/>
                <a:stretch>
                  <a:fillRect l="-1452" t="-6406" r="-1420" b="-17794"/>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algn="ctr"/>
            <a:r>
              <a:rPr lang="en-US" dirty="0">
                <a:solidFill>
                  <a:prstClr val="white"/>
                </a:solidFill>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FFA15C6-80FF-45FD-96A6-37A7266C4168}"/>
                  </a:ext>
                </a:extLst>
              </p:cNvPr>
              <p:cNvSpPr txBox="1"/>
              <p:nvPr/>
            </p:nvSpPr>
            <p:spPr>
              <a:xfrm>
                <a:off x="862802" y="10505938"/>
                <a:ext cx="8433598" cy="830997"/>
              </a:xfrm>
              <a:prstGeom prst="rect">
                <a:avLst/>
              </a:prstGeom>
              <a:noFill/>
            </p:spPr>
            <p:txBody>
              <a:bodyPr wrap="square">
                <a:spAutoFit/>
              </a:bodyPr>
              <a:lstStyle/>
              <a:p>
                <a:r>
                  <a:rPr lang="en-US" sz="4800" b="1" dirty="0" err="1">
                    <a:latin typeface="Tahoma" panose="020B0604030504040204" pitchFamily="34" charset="0"/>
                    <a:ea typeface="Tahoma" panose="020B0604030504040204" pitchFamily="34" charset="0"/>
                    <a:cs typeface="Tahoma" panose="020B0604030504040204" pitchFamily="34" charset="0"/>
                  </a:rPr>
                  <a:t>Vậy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smtClean="0">
                        <a:latin typeface="Cambria Math" panose="02040503050406030204" pitchFamily="18" charset="0"/>
                      </a:rPr>
                      <m:t>𝑰</m:t>
                    </m:r>
                    <m:d>
                      <m:dPr>
                        <m:ctrlPr>
                          <a:rPr lang="en-US" sz="4800" b="1" i="1">
                            <a:latin typeface="Cambria Math" panose="02040503050406030204" pitchFamily="18" charset="0"/>
                          </a:rPr>
                        </m:ctrlPr>
                      </m:dPr>
                      <m:e>
                        <m:r>
                          <a:rPr lang="vi-VN" sz="4800" b="1" i="1" smtClean="0">
                            <a:latin typeface="Cambria Math" panose="02040503050406030204" pitchFamily="18" charset="0"/>
                          </a:rPr>
                          <m:t>−</m:t>
                        </m:r>
                        <m:r>
                          <a:rPr lang="vi-VN" sz="4800" b="1" i="1" smtClean="0">
                            <a:latin typeface="Cambria Math" panose="02040503050406030204" pitchFamily="18" charset="0"/>
                          </a:rPr>
                          <m:t>𝟒</m:t>
                        </m:r>
                        <m:r>
                          <a:rPr lang="en-US" sz="4800" b="1" i="1">
                            <a:latin typeface="Cambria Math" panose="02040503050406030204" pitchFamily="18" charset="0"/>
                          </a:rPr>
                          <m:t>;</m:t>
                        </m:r>
                        <m:r>
                          <a:rPr lang="vi-VN" sz="4800" b="1" i="1" smtClean="0">
                            <a:latin typeface="Cambria Math" panose="02040503050406030204" pitchFamily="18" charset="0"/>
                          </a:rPr>
                          <m:t>𝟏𝟎</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1" name="TextBox 40">
                <a:extLst>
                  <a:ext uri="{FF2B5EF4-FFF2-40B4-BE49-F238E27FC236}">
                    <a16:creationId xmlns:a16="http://schemas.microsoft.com/office/drawing/2014/main" id="{3FFA15C6-80FF-45FD-96A6-37A7266C4168}"/>
                  </a:ext>
                </a:extLst>
              </p:cNvPr>
              <p:cNvSpPr txBox="1">
                <a:spLocks noRot="1" noChangeAspect="1" noMove="1" noResize="1" noEditPoints="1" noAdjustHandles="1" noChangeArrowheads="1" noChangeShapeType="1" noTextEdit="1"/>
              </p:cNvSpPr>
              <p:nvPr/>
            </p:nvSpPr>
            <p:spPr>
              <a:xfrm>
                <a:off x="862802" y="10505938"/>
                <a:ext cx="8433598" cy="830997"/>
              </a:xfrm>
              <a:prstGeom prst="rect">
                <a:avLst/>
              </a:prstGeom>
              <a:blipFill>
                <a:blip r:embed="rId10"/>
                <a:stretch>
                  <a:fillRect l="-3326" t="-17518" r="-1012" b="-364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D10BD63-D811-42F6-92DF-D79002C488FE}"/>
                  </a:ext>
                </a:extLst>
              </p:cNvPr>
              <p:cNvSpPr txBox="1"/>
              <p:nvPr/>
            </p:nvSpPr>
            <p:spPr>
              <a:xfrm>
                <a:off x="5079601" y="7050840"/>
                <a:ext cx="5969399" cy="830997"/>
              </a:xfrm>
              <a:prstGeom prst="rect">
                <a:avLst/>
              </a:prstGeom>
              <a:noFill/>
            </p:spPr>
            <p:txBody>
              <a:bodyPr wrap="square">
                <a:spAutoFit/>
              </a:bodyPr>
              <a:lstStyle/>
              <a:p>
                <a:r>
                  <a:rPr lang="en-US" sz="4800" b="1" dirty="0">
                    <a:latin typeface="Tahoma" panose="020B0604030504040204" pitchFamily="34" charset="0"/>
                    <a:ea typeface="Tahoma" panose="020B0604030504040204" pitchFamily="34" charset="0"/>
                    <a:cs typeface="Tahoma" panose="020B0604030504040204" pitchFamily="34" charset="0"/>
                  </a:rPr>
                  <a:t>Gọi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smtClean="0">
                        <a:latin typeface="Cambria Math" panose="02040503050406030204" pitchFamily="18" charset="0"/>
                      </a:rPr>
                      <m:t>𝑰</m:t>
                    </m:r>
                    <m:d>
                      <m:dPr>
                        <m:ctrlPr>
                          <a:rPr lang="en-US" sz="4800" b="1" i="1" smtClean="0">
                            <a:latin typeface="Cambria Math" panose="02040503050406030204" pitchFamily="18" charset="0"/>
                          </a:rPr>
                        </m:ctrlPr>
                      </m:dPr>
                      <m:e>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smtClean="0">
                                <a:latin typeface="Cambria Math" panose="02040503050406030204" pitchFamily="18" charset="0"/>
                              </a:rPr>
                              <m:t>𝑰</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smtClean="0">
                                <a:latin typeface="Cambria Math" panose="02040503050406030204" pitchFamily="18" charset="0"/>
                              </a:rPr>
                              <m:t>𝑰</m:t>
                            </m:r>
                          </m:sub>
                        </m:sSub>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4" name="TextBox 33">
                <a:extLst>
                  <a:ext uri="{FF2B5EF4-FFF2-40B4-BE49-F238E27FC236}">
                    <a16:creationId xmlns:a16="http://schemas.microsoft.com/office/drawing/2014/main" id="{FD10BD63-D811-42F6-92DF-D79002C488FE}"/>
                  </a:ext>
                </a:extLst>
              </p:cNvPr>
              <p:cNvSpPr txBox="1">
                <a:spLocks noRot="1" noChangeAspect="1" noMove="1" noResize="1" noEditPoints="1" noAdjustHandles="1" noChangeArrowheads="1" noChangeShapeType="1" noTextEdit="1"/>
              </p:cNvSpPr>
              <p:nvPr/>
            </p:nvSpPr>
            <p:spPr>
              <a:xfrm>
                <a:off x="5079601" y="7050840"/>
                <a:ext cx="5969399" cy="830997"/>
              </a:xfrm>
              <a:prstGeom prst="rect">
                <a:avLst/>
              </a:prstGeom>
              <a:blipFill>
                <a:blip r:embed="rId11"/>
                <a:stretch>
                  <a:fillRect l="-4592" t="-17647" r="-2857" b="-37500"/>
                </a:stretch>
              </a:blipFill>
            </p:spPr>
            <p:txBody>
              <a:bodyPr/>
              <a:lstStyle/>
              <a:p>
                <a:r>
                  <a:rPr lang="en-US">
                    <a:noFill/>
                  </a:rPr>
                  <a:t> </a:t>
                </a:r>
              </a:p>
            </p:txBody>
          </p:sp>
        </mc:Fallback>
      </mc:AlternateContent>
      <p:sp>
        <p:nvSpPr>
          <p:cNvPr id="43" name="Rounded Rectangle 4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7" name="TextBox 4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61918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left)">
                                      <p:cBhvr>
                                        <p:cTn id="21" dur="50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wipe(left)">
                                      <p:cBhvr>
                                        <p:cTn id="26" dur="500"/>
                                        <p:tgtEl>
                                          <p:spTgt spid="41"/>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41" grpId="0"/>
      <p:bldP spid="3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387187" y="4793880"/>
            <a:ext cx="23789474" cy="1546056"/>
            <a:chOff x="124658" y="2088032"/>
            <a:chExt cx="11894737" cy="77302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088032"/>
                  <a:ext cx="2468235" cy="77302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𝑪</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𝟔</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𝟑</m:t>
                            </m:r>
                          </m:e>
                        </m:d>
                        <m:r>
                          <a:rPr lang="en-US" sz="4800" b="1" i="1">
                            <a:solidFill>
                              <a:schemeClr val="bg1"/>
                            </a:solidFill>
                            <a:latin typeface="Cambria Math" panose="02040503050406030204" pitchFamily="18" charset="0"/>
                          </a:rPr>
                          <m:t>.</m:t>
                        </m:r>
                      </m:oMath>
                    </m:oMathPara>
                  </a14:m>
                  <a:endParaRPr lang="en-US" sz="4800" dirty="0">
                    <a:solidFill>
                      <a:prstClr val="white"/>
                    </a:solidFill>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088032"/>
                  <a:ext cx="2468235" cy="773028"/>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100293" y="2088032"/>
              <a:ext cx="687450" cy="755015"/>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B</a:t>
              </a:r>
              <a:endParaRPr lang="en-US" sz="6400" b="1"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088032"/>
                  <a:ext cx="2468235" cy="77302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𝑪</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𝟔</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𝟑</m:t>
                            </m:r>
                          </m:e>
                        </m:d>
                        <m:r>
                          <a:rPr lang="en-US" sz="4800" b="1" i="1">
                            <a:solidFill>
                              <a:schemeClr val="bg1"/>
                            </a:solidFill>
                            <a:latin typeface="Cambria Math" panose="02040503050406030204" pitchFamily="18" charset="0"/>
                          </a:rPr>
                          <m:t>.</m:t>
                        </m:r>
                      </m:oMath>
                    </m:oMathPara>
                  </a14:m>
                  <a:endParaRPr lang="en-US" sz="4800" dirty="0">
                    <a:solidFill>
                      <a:prstClr val="white"/>
                    </a:solidFill>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088032"/>
                  <a:ext cx="2468235" cy="773028"/>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124658" y="2093857"/>
              <a:ext cx="656650" cy="74919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A</a:t>
              </a:r>
              <a:endParaRPr lang="en-US" sz="6400" b="1"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088032"/>
                  <a:ext cx="2468235" cy="77302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𝑪</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𝟔</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𝟑</m:t>
                            </m:r>
                          </m:e>
                        </m:d>
                        <m:r>
                          <a:rPr lang="en-US" sz="4800" b="1" i="1">
                            <a:solidFill>
                              <a:schemeClr val="bg1"/>
                            </a:solidFill>
                            <a:latin typeface="Cambria Math" panose="02040503050406030204" pitchFamily="18" charset="0"/>
                          </a:rPr>
                          <m:t>.</m:t>
                        </m:r>
                      </m:oMath>
                    </m:oMathPara>
                  </a14:m>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088032"/>
                  <a:ext cx="2468235" cy="773028"/>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106729" y="2088032"/>
              <a:ext cx="687450" cy="755015"/>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088032"/>
                  <a:ext cx="2468235" cy="77302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𝑪</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𝟑</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𝟔</m:t>
                            </m:r>
                          </m:e>
                        </m:d>
                        <m:r>
                          <a:rPr lang="en-US" sz="4800" b="1" i="1">
                            <a:solidFill>
                              <a:schemeClr val="bg1"/>
                            </a:solidFill>
                            <a:latin typeface="Cambria Math" panose="02040503050406030204" pitchFamily="18" charset="0"/>
                          </a:rPr>
                          <m:t>.</m:t>
                        </m:r>
                      </m:oMath>
                    </m:oMathPara>
                  </a14:m>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088032"/>
                  <a:ext cx="2468235" cy="773028"/>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113165" y="2088032"/>
              <a:ext cx="687452" cy="755015"/>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12446036" y="4926592"/>
            <a:ext cx="1185485" cy="1302902"/>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Calibri" panose="020F0502020204030204"/>
              </a:rPr>
              <a:t>C</a:t>
            </a:r>
            <a:endParaRPr lang="en-US" sz="6400" b="1"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590803"/>
            <a:ext cx="23943880" cy="2068123"/>
            <a:chOff x="923003" y="3917552"/>
            <a:chExt cx="23943880" cy="2068122"/>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4034357"/>
              <a:ext cx="23594672" cy="1951317"/>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9"/>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6</a:t>
                  </a:r>
                  <a:r>
                    <a:rPr lang="vi-VN" sz="4600" b="1" dirty="0">
                      <a:solidFill>
                        <a:prstClr val="black"/>
                      </a:solidFill>
                      <a:latin typeface="Tahoma" pitchFamily="34" charset="0"/>
                      <a:ea typeface="Tahoma" pitchFamily="34" charset="0"/>
                      <a:cs typeface="Tahoma" pitchFamily="34" charset="0"/>
                    </a:rPr>
                    <a:t> </a:t>
                  </a:r>
                  <a:endParaRPr lang="en-US" sz="4600" b="1" dirty="0">
                    <a:solidFill>
                      <a:prstClr val="black"/>
                    </a:solidFill>
                    <a:latin typeface="Tahoma" pitchFamily="34" charset="0"/>
                    <a:ea typeface="Tahoma" pitchFamily="34" charset="0"/>
                    <a:cs typeface="Tahoma" pitchFamily="34" charset="0"/>
                  </a:endParaRP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endParaRPr lang="en-US">
                <a:solidFill>
                  <a:prstClr val="white"/>
                </a:solidFill>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698568" y="7637491"/>
                <a:ext cx="4330632" cy="830997"/>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Gọi</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𝑪</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e>
                    </m:d>
                    <m:r>
                      <a:rPr lang="en-US" sz="4800" b="1" i="1">
                        <a:latin typeface="Cambria Math" panose="02040503050406030204" pitchFamily="18" charset="0"/>
                      </a:rPr>
                      <m:t>.</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698568" y="7637491"/>
                <a:ext cx="4330632" cy="830997"/>
              </a:xfrm>
              <a:prstGeom prst="rect">
                <a:avLst/>
              </a:prstGeom>
              <a:blipFill>
                <a:blip r:embed="rId8"/>
                <a:stretch>
                  <a:fillRect l="-6479" t="-17647"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4173276" y="2716346"/>
                <a:ext cx="19319686" cy="1569660"/>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Trong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hệ</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tam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𝟔</m:t>
                        </m:r>
                        <m:r>
                          <a:rPr lang="en-US" sz="4800" b="1" i="1">
                            <a:latin typeface="Cambria Math" panose="02040503050406030204" pitchFamily="18" charset="0"/>
                          </a:rPr>
                          <m:t>;</m:t>
                        </m:r>
                        <m:r>
                          <a:rPr lang="en-US" sz="4800" b="1" i="1">
                            <a:latin typeface="Cambria Math" panose="02040503050406030204" pitchFamily="18" charset="0"/>
                          </a:rPr>
                          <m:t>𝟏</m:t>
                        </m:r>
                      </m:e>
                    </m:d>
                    <m:r>
                      <a:rPr lang="en-US" sz="4800" b="1" i="1">
                        <a:latin typeface="Cambria Math" panose="02040503050406030204" pitchFamily="18" charset="0"/>
                      </a:rPr>
                      <m:t>,</m:t>
                    </m:r>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𝟓</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trọng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tâm</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𝑮</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𝟏</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Tìm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đỉnh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𝑪</m:t>
                    </m:r>
                  </m:oMath>
                </a14:m>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4173276" y="2716346"/>
                <a:ext cx="19319686" cy="1569660"/>
              </a:xfrm>
              <a:prstGeom prst="rect">
                <a:avLst/>
              </a:prstGeom>
              <a:blipFill>
                <a:blip r:embed="rId9"/>
                <a:stretch>
                  <a:fillRect l="-1452" t="-9339" b="-19455"/>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algn="ctr"/>
            <a:r>
              <a:rPr lang="en-US" dirty="0">
                <a:solidFill>
                  <a:prstClr val="white"/>
                </a:solidFill>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FFA15C6-80FF-45FD-96A6-37A7266C4168}"/>
                  </a:ext>
                </a:extLst>
              </p:cNvPr>
              <p:cNvSpPr txBox="1"/>
              <p:nvPr/>
            </p:nvSpPr>
            <p:spPr>
              <a:xfrm>
                <a:off x="580382" y="8017328"/>
                <a:ext cx="20320798" cy="2827441"/>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Vì</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𝑮</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trọng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tâm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tam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nên</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f>
                              <m:fPr>
                                <m:ctrlPr>
                                  <a:rPr lang="en-US" sz="4800" b="1" i="1">
                                    <a:latin typeface="Cambria Math" panose="02040503050406030204" pitchFamily="18" charset="0"/>
                                  </a:rPr>
                                </m:ctrlPr>
                              </m:fPr>
                              <m:num>
                                <m:r>
                                  <a:rPr lang="en-US" sz="4800" b="1" i="1">
                                    <a:latin typeface="Cambria Math" panose="02040503050406030204" pitchFamily="18" charset="0"/>
                                  </a:rPr>
                                  <m:t>𝟔</m:t>
                                </m:r>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𝟑</m:t>
                                    </m:r>
                                  </m:e>
                                </m:d>
                                <m:r>
                                  <a:rPr lang="en-US" sz="4800" b="1" i="1">
                                    <a:latin typeface="Cambria Math" panose="02040503050406030204" pitchFamily="18" charset="0"/>
                                  </a:rPr>
                                  <m:t>+</m:t>
                                </m:r>
                                <m:r>
                                  <a:rPr lang="en-US" sz="4800" b="1" i="1">
                                    <a:latin typeface="Cambria Math" panose="02040503050406030204" pitchFamily="18" charset="0"/>
                                  </a:rPr>
                                  <m:t>𝒙</m:t>
                                </m:r>
                              </m:num>
                              <m:den>
                                <m:r>
                                  <a:rPr lang="en-US" sz="4800" b="1" i="1">
                                    <a:latin typeface="Cambria Math" panose="02040503050406030204" pitchFamily="18" charset="0"/>
                                  </a:rPr>
                                  <m:t>𝟑</m:t>
                                </m:r>
                              </m:den>
                            </m:f>
                            <m:r>
                              <a:rPr lang="en-US" sz="4800" b="1" i="1">
                                <a:latin typeface="Cambria Math" panose="02040503050406030204" pitchFamily="18" charset="0"/>
                              </a:rPr>
                              <m:t>=−</m:t>
                            </m:r>
                            <m:r>
                              <a:rPr lang="en-US" sz="4800" b="1" i="1">
                                <a:latin typeface="Cambria Math" panose="02040503050406030204" pitchFamily="18" charset="0"/>
                              </a:rPr>
                              <m:t>𝟏</m:t>
                            </m:r>
                          </m:e>
                          <m:e>
                            <m:f>
                              <m:fPr>
                                <m:ctrlPr>
                                  <a:rPr lang="en-US" sz="4800" b="1" i="1">
                                    <a:latin typeface="Cambria Math" panose="02040503050406030204" pitchFamily="18" charset="0"/>
                                  </a:rPr>
                                </m:ctrlPr>
                              </m:fPr>
                              <m:num>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𝟓</m:t>
                                </m:r>
                                <m:r>
                                  <a:rPr lang="en-US" sz="4800" b="1" i="1">
                                    <a:latin typeface="Cambria Math" panose="02040503050406030204" pitchFamily="18" charset="0"/>
                                  </a:rPr>
                                  <m:t>+</m:t>
                                </m:r>
                                <m:r>
                                  <a:rPr lang="en-US" sz="4800" b="1" i="1">
                                    <a:latin typeface="Cambria Math" panose="02040503050406030204" pitchFamily="18" charset="0"/>
                                  </a:rPr>
                                  <m:t>𝒚</m:t>
                                </m:r>
                              </m:num>
                              <m:den>
                                <m:r>
                                  <a:rPr lang="en-US" sz="4800" b="1" i="1">
                                    <a:latin typeface="Cambria Math" panose="02040503050406030204" pitchFamily="18" charset="0"/>
                                  </a:rPr>
                                  <m:t>𝟑</m:t>
                                </m:r>
                              </m:den>
                            </m:f>
                            <m:r>
                              <a:rPr lang="en-US" sz="4800" b="1" i="1">
                                <a:latin typeface="Cambria Math" panose="02040503050406030204" pitchFamily="18" charset="0"/>
                              </a:rPr>
                              <m:t>=</m:t>
                            </m:r>
                            <m:r>
                              <a:rPr lang="en-US" sz="4800" b="1" i="1">
                                <a:latin typeface="Cambria Math" panose="02040503050406030204" pitchFamily="18" charset="0"/>
                              </a:rPr>
                              <m:t>𝟏</m:t>
                            </m:r>
                          </m:e>
                        </m:eqArr>
                      </m:e>
                    </m:d>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𝟔</m:t>
                            </m:r>
                          </m:e>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𝟑</m:t>
                            </m:r>
                          </m:e>
                        </m:eqArr>
                      </m:e>
                    </m:d>
                    <m:r>
                      <a:rPr lang="en-US" sz="4800" b="1" i="1">
                        <a:latin typeface="Cambria Math" panose="02040503050406030204" pitchFamily="18" charset="0"/>
                      </a:rPr>
                      <m:t>.</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1" name="TextBox 40">
                <a:extLst>
                  <a:ext uri="{FF2B5EF4-FFF2-40B4-BE49-F238E27FC236}">
                    <a16:creationId xmlns:a16="http://schemas.microsoft.com/office/drawing/2014/main" id="{3FFA15C6-80FF-45FD-96A6-37A7266C4168}"/>
                  </a:ext>
                </a:extLst>
              </p:cNvPr>
              <p:cNvSpPr txBox="1">
                <a:spLocks noRot="1" noChangeAspect="1" noMove="1" noResize="1" noEditPoints="1" noAdjustHandles="1" noChangeArrowheads="1" noChangeShapeType="1" noTextEdit="1"/>
              </p:cNvSpPr>
              <p:nvPr/>
            </p:nvSpPr>
            <p:spPr>
              <a:xfrm>
                <a:off x="580382" y="8017328"/>
                <a:ext cx="20320798" cy="2827441"/>
              </a:xfrm>
              <a:prstGeom prst="rect">
                <a:avLst/>
              </a:prstGeom>
              <a:blipFill>
                <a:blip r:embed="rId10"/>
                <a:stretch>
                  <a:fillRect l="-13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D8890F2-AE7F-4D36-9879-B2F60D44255F}"/>
                  </a:ext>
                </a:extLst>
              </p:cNvPr>
              <p:cNvSpPr txBox="1"/>
              <p:nvPr/>
            </p:nvSpPr>
            <p:spPr>
              <a:xfrm>
                <a:off x="586133" y="10393609"/>
                <a:ext cx="8213957" cy="830997"/>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Vậy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đỉnh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𝑪</m:t>
                    </m:r>
                    <m:r>
                      <a:rPr lang="en-US" sz="4800" b="1" i="1" smtClean="0">
                        <a:latin typeface="Cambria Math" panose="02040503050406030204" pitchFamily="18" charset="0"/>
                      </a:rPr>
                      <m:t>(−</m:t>
                    </m:r>
                    <m:r>
                      <a:rPr lang="en-US" sz="4800" b="1" i="1" smtClean="0">
                        <a:latin typeface="Cambria Math" panose="02040503050406030204" pitchFamily="18" charset="0"/>
                      </a:rPr>
                      <m:t>𝟔</m:t>
                    </m:r>
                    <m:r>
                      <a:rPr lang="en-US" sz="4800" b="1" i="1" smtClean="0">
                        <a:latin typeface="Cambria Math" panose="02040503050406030204" pitchFamily="18" charset="0"/>
                      </a:rPr>
                      <m:t>;−</m:t>
                    </m:r>
                    <m:r>
                      <a:rPr lang="en-US" sz="4800" b="1" i="1" smtClean="0">
                        <a:latin typeface="Cambria Math" panose="02040503050406030204" pitchFamily="18" charset="0"/>
                      </a:rPr>
                      <m:t>𝟑</m:t>
                    </m:r>
                    <m:r>
                      <a:rPr lang="en-US" sz="4800" b="1" i="1" smtClean="0">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0" name="TextBox 39">
                <a:extLst>
                  <a:ext uri="{FF2B5EF4-FFF2-40B4-BE49-F238E27FC236}">
                    <a16:creationId xmlns:a16="http://schemas.microsoft.com/office/drawing/2014/main" id="{CD8890F2-AE7F-4D36-9879-B2F60D44255F}"/>
                  </a:ext>
                </a:extLst>
              </p:cNvPr>
              <p:cNvSpPr txBox="1">
                <a:spLocks noRot="1" noChangeAspect="1" noMove="1" noResize="1" noEditPoints="1" noAdjustHandles="1" noChangeArrowheads="1" noChangeShapeType="1" noTextEdit="1"/>
              </p:cNvSpPr>
              <p:nvPr/>
            </p:nvSpPr>
            <p:spPr>
              <a:xfrm>
                <a:off x="586133" y="10393609"/>
                <a:ext cx="8213957" cy="830997"/>
              </a:xfrm>
              <a:prstGeom prst="rect">
                <a:avLst/>
              </a:prstGeom>
              <a:blipFill>
                <a:blip r:embed="rId11"/>
                <a:stretch>
                  <a:fillRect l="-3338" t="-17647" r="-2077" b="-37500"/>
                </a:stretch>
              </a:blipFill>
            </p:spPr>
            <p:txBody>
              <a:bodyPr/>
              <a:lstStyle/>
              <a:p>
                <a:r>
                  <a:rPr lang="en-US">
                    <a:noFill/>
                  </a:rPr>
                  <a:t> </a:t>
                </a:r>
              </a:p>
            </p:txBody>
          </p:sp>
        </mc:Fallback>
      </mc:AlternateContent>
      <p:sp>
        <p:nvSpPr>
          <p:cNvPr id="43" name="Rounded Rectangle 4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7" name="TextBox 4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299384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left)">
                                      <p:cBhvr>
                                        <p:cTn id="21" dur="5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wipe(left)">
                                      <p:cBhvr>
                                        <p:cTn id="26" dur="500"/>
                                        <p:tgtEl>
                                          <p:spTgt spid="40"/>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41" grpId="0"/>
      <p:bldP spid="4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620483" y="5105400"/>
            <a:ext cx="23556178" cy="1234536"/>
            <a:chOff x="241306" y="2243792"/>
            <a:chExt cx="11778089"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𝟐</m:t>
                        </m:r>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243792"/>
                  <a:ext cx="2468235" cy="617268"/>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𝟐</m:t>
                        </m:r>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243792"/>
                  <a:ext cx="2468235" cy="617268"/>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𝟒</m:t>
                        </m:r>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243792"/>
                  <a:ext cx="2468235" cy="617268"/>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𝟖</m:t>
                        </m:r>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243792"/>
                  <a:ext cx="2468235" cy="617268"/>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6623067" y="5219738"/>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467665"/>
            <a:ext cx="23943880" cy="2524605"/>
            <a:chOff x="923003" y="3794414"/>
            <a:chExt cx="23943880" cy="2524604"/>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794414"/>
              <a:ext cx="23594672" cy="2524604"/>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8"/>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7.</a:t>
                  </a: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endParaRPr lang="en-US">
                <a:solidFill>
                  <a:prstClr val="white"/>
                </a:solidFill>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897561" y="7500091"/>
                <a:ext cx="20846034" cy="1740028"/>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Vì</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trung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𝑩𝑪</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nên</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𝑩</m:t>
                                </m:r>
                              </m:sub>
                            </m:sSub>
                            <m:r>
                              <a:rPr lang="en-US" sz="4800" b="1" i="1">
                                <a:latin typeface="Cambria Math" panose="02040503050406030204" pitchFamily="18" charset="0"/>
                              </a:rPr>
                              <m:t>=</m:t>
                            </m:r>
                            <m:r>
                              <a:rPr lang="en-US" sz="4800" b="1" i="1">
                                <a:latin typeface="Cambria Math" panose="02040503050406030204" pitchFamily="18" charset="0"/>
                              </a:rPr>
                              <m:t>𝟐</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𝑴</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𝑪</m:t>
                                </m:r>
                              </m:sub>
                            </m:sSub>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𝟐</m:t>
                                </m:r>
                              </m:e>
                            </m:d>
                            <m:r>
                              <a:rPr lang="en-US" sz="4800" b="1" i="1">
                                <a:latin typeface="Cambria Math" panose="02040503050406030204" pitchFamily="18" charset="0"/>
                              </a:rPr>
                              <m:t>=</m:t>
                            </m:r>
                            <m:r>
                              <a:rPr lang="en-US" sz="4800" b="1" i="1">
                                <a:latin typeface="Cambria Math" panose="02040503050406030204" pitchFamily="18" charset="0"/>
                              </a:rPr>
                              <m:t>𝟔</m:t>
                            </m:r>
                          </m:e>
                          <m:e>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𝑩</m:t>
                                </m:r>
                              </m:sub>
                            </m:sSub>
                            <m:r>
                              <a:rPr lang="en-US" sz="4800" b="1" i="1">
                                <a:latin typeface="Cambria Math" panose="02040503050406030204" pitchFamily="18" charset="0"/>
                              </a:rPr>
                              <m:t>=</m:t>
                            </m:r>
                            <m:r>
                              <a:rPr lang="en-US" sz="4800" b="1" i="1">
                                <a:latin typeface="Cambria Math" panose="02040503050406030204" pitchFamily="18" charset="0"/>
                              </a:rPr>
                              <m:t>𝟐</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𝑴</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𝑪</m:t>
                                </m:r>
                              </m:sub>
                            </m:sSub>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𝟎</m:t>
                            </m:r>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𝟒</m:t>
                                </m:r>
                              </m:e>
                            </m:d>
                            <m:r>
                              <a:rPr lang="en-US" sz="4800" b="1" i="1">
                                <a:latin typeface="Cambria Math" panose="02040503050406030204" pitchFamily="18" charset="0"/>
                              </a:rPr>
                              <m:t>=</m:t>
                            </m:r>
                            <m:r>
                              <a:rPr lang="en-US" sz="4800" b="1" i="1">
                                <a:latin typeface="Cambria Math" panose="02040503050406030204" pitchFamily="18" charset="0"/>
                              </a:rPr>
                              <m:t>𝟒</m:t>
                            </m:r>
                          </m:e>
                        </m:eqArr>
                      </m:e>
                    </m:d>
                    <m:r>
                      <a:rPr lang="en-US" sz="4800" b="1" i="1">
                        <a:latin typeface="Cambria Math" panose="02040503050406030204" pitchFamily="18" charset="0"/>
                      </a:rPr>
                      <m:t>⇒</m:t>
                    </m:r>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𝟔</m:t>
                        </m:r>
                        <m:r>
                          <a:rPr lang="en-US" sz="4800" b="1" i="1">
                            <a:latin typeface="Cambria Math" panose="02040503050406030204" pitchFamily="18" charset="0"/>
                          </a:rPr>
                          <m:t>;</m:t>
                        </m:r>
                        <m:r>
                          <a:rPr lang="en-US" sz="4800" b="1" i="1">
                            <a:latin typeface="Cambria Math" panose="02040503050406030204" pitchFamily="18" charset="0"/>
                          </a:rPr>
                          <m:t>𝟒</m:t>
                        </m:r>
                      </m:e>
                    </m:d>
                    <m:r>
                      <a:rPr lang="en-US" sz="4800" b="1" i="1">
                        <a:latin typeface="Cambria Math" panose="02040503050406030204" pitchFamily="18" charset="0"/>
                      </a:rPr>
                      <m:t>.</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897561" y="7500091"/>
                <a:ext cx="20846034" cy="1740028"/>
              </a:xfrm>
              <a:prstGeom prst="rect">
                <a:avLst/>
              </a:prstGeom>
              <a:blipFill>
                <a:blip r:embed="rId8"/>
                <a:stretch>
                  <a:fillRect l="-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4302314" y="2524889"/>
                <a:ext cx="19940346" cy="2308324"/>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Trong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hệ</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r>
                      <a:rPr lang="en-US" sz="4800" b="1" i="1">
                        <a:latin typeface="Cambria Math" panose="02040503050406030204" pitchFamily="18" charset="0"/>
                      </a:rPr>
                      <m:t>,</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tam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𝑪</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𝟒</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trọng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tâm</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𝑮</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𝟒</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trung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cạnh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𝑩𝑪</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𝟎</m:t>
                        </m:r>
                      </m:e>
                    </m:d>
                    <m:r>
                      <a:rPr lang="en-US" sz="4800" b="1" i="1">
                        <a:latin typeface="Cambria Math" panose="02040503050406030204" pitchFamily="18" charset="0"/>
                      </a:rPr>
                      <m:t>.</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Tổng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hoành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m:t>
                    </m:r>
                  </m:oMath>
                </a14:m>
                <a:r>
                  <a:rPr lang="fr-FR" sz="4800" b="1" dirty="0">
                    <a:latin typeface="Tahoma" panose="020B0604030504040204" pitchFamily="34" charset="0"/>
                    <a:ea typeface="Tahoma" panose="020B0604030504040204" pitchFamily="34" charset="0"/>
                    <a:cs typeface="Tahoma" panose="020B0604030504040204" pitchFamily="34" charset="0"/>
                  </a:rPr>
                  <a:t> là</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4302314" y="2524889"/>
                <a:ext cx="19940346" cy="2308324"/>
              </a:xfrm>
              <a:prstGeom prst="rect">
                <a:avLst/>
              </a:prstGeom>
              <a:blipFill>
                <a:blip r:embed="rId9"/>
                <a:stretch>
                  <a:fillRect l="-1406" t="-6332" b="-12665"/>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algn="ctr"/>
            <a:r>
              <a:rPr lang="en-US" dirty="0">
                <a:solidFill>
                  <a:prstClr val="white"/>
                </a:solidFill>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864888" y="9385169"/>
                <a:ext cx="22572054" cy="1740028"/>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Vì</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𝑮</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trọng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tâm</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smtClean="0">
                        <a:latin typeface="Cambria Math" panose="02040503050406030204" pitchFamily="18" charset="0"/>
                        <a:ea typeface="Cambria Math" panose="02040503050406030204" pitchFamily="18" charset="0"/>
                      </a:rPr>
                      <m:t>∆</m:t>
                    </m:r>
                    <m:r>
                      <a:rPr lang="en-US" sz="4800" b="1" i="1">
                        <a:latin typeface="Cambria Math" panose="02040503050406030204" pitchFamily="18" charset="0"/>
                      </a:rPr>
                      <m:t>𝑨𝑩𝑪</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nên</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𝑨</m:t>
                                </m:r>
                              </m:sub>
                            </m:sSub>
                            <m:r>
                              <a:rPr lang="en-US" sz="4800" b="1" i="1">
                                <a:latin typeface="Cambria Math" panose="02040503050406030204" pitchFamily="18" charset="0"/>
                              </a:rPr>
                              <m:t>=</m:t>
                            </m:r>
                            <m:r>
                              <a:rPr lang="en-US" sz="4800" b="1" i="1">
                                <a:latin typeface="Cambria Math" panose="02040503050406030204" pitchFamily="18" charset="0"/>
                              </a:rPr>
                              <m:t>𝟑</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𝑮</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𝑩</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𝑪</m:t>
                                </m:r>
                              </m:sub>
                            </m:sSub>
                            <m:r>
                              <a:rPr lang="en-US" sz="4800" b="1" i="1">
                                <a:latin typeface="Cambria Math" panose="02040503050406030204" pitchFamily="18" charset="0"/>
                              </a:rPr>
                              <m:t>=−</m:t>
                            </m:r>
                            <m:r>
                              <a:rPr lang="en-US" sz="4800" b="1" i="1">
                                <a:latin typeface="Cambria Math" panose="02040503050406030204" pitchFamily="18" charset="0"/>
                              </a:rPr>
                              <m:t>𝟒</m:t>
                            </m:r>
                          </m:e>
                          <m:e>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𝑨</m:t>
                                </m:r>
                              </m:sub>
                            </m:sSub>
                            <m:r>
                              <a:rPr lang="en-US" sz="4800" b="1" i="1">
                                <a:latin typeface="Cambria Math" panose="02040503050406030204" pitchFamily="18" charset="0"/>
                              </a:rPr>
                              <m:t>=</m:t>
                            </m:r>
                            <m:r>
                              <a:rPr lang="en-US" sz="4800" b="1" i="1">
                                <a:latin typeface="Cambria Math" panose="02040503050406030204" pitchFamily="18" charset="0"/>
                              </a:rPr>
                              <m:t>𝟑</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𝑮</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𝑩</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𝑪</m:t>
                                </m:r>
                              </m:sub>
                            </m:sSub>
                            <m:r>
                              <a:rPr lang="en-US" sz="4800" b="1" i="1">
                                <a:latin typeface="Cambria Math" panose="02040503050406030204" pitchFamily="18" charset="0"/>
                              </a:rPr>
                              <m:t>=</m:t>
                            </m:r>
                            <m:r>
                              <a:rPr lang="en-US" sz="4800" b="1" i="1">
                                <a:latin typeface="Cambria Math" panose="02040503050406030204" pitchFamily="18" charset="0"/>
                              </a:rPr>
                              <m:t>𝟏𝟐</m:t>
                            </m:r>
                          </m:e>
                        </m:eqArr>
                      </m:e>
                    </m:d>
                    <m:r>
                      <a:rPr lang="en-US" sz="4800" b="1" i="1">
                        <a:latin typeface="Cambria Math" panose="02040503050406030204" pitchFamily="18" charset="0"/>
                      </a:rPr>
                      <m:t>⇒</m:t>
                    </m:r>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𝟏𝟐</m:t>
                        </m:r>
                      </m:e>
                    </m:d>
                    <m:r>
                      <a:rPr lang="en-US" sz="4800" b="1" i="1">
                        <a:latin typeface="Cambria Math" panose="02040503050406030204" pitchFamily="18" charset="0"/>
                      </a:rPr>
                      <m:t>.</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864888" y="9385169"/>
                <a:ext cx="22572054" cy="1740028"/>
              </a:xfrm>
              <a:prstGeom prst="rect">
                <a:avLst/>
              </a:prstGeom>
              <a:blipFill>
                <a:blip r:embed="rId10"/>
                <a:stretch>
                  <a:fillRect l="-1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FFA15C6-80FF-45FD-96A6-37A7266C4168}"/>
                  </a:ext>
                </a:extLst>
              </p:cNvPr>
              <p:cNvSpPr txBox="1"/>
              <p:nvPr/>
            </p:nvSpPr>
            <p:spPr>
              <a:xfrm>
                <a:off x="933742" y="11152699"/>
                <a:ext cx="5760265" cy="830997"/>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Suy</a:t>
                </a:r>
                <a:r>
                  <a:rPr lang="fr-FR" sz="4800" b="1" dirty="0">
                    <a:latin typeface="Tahoma" panose="020B0604030504040204" pitchFamily="34" charset="0"/>
                    <a:ea typeface="Tahoma" panose="020B0604030504040204" pitchFamily="34" charset="0"/>
                    <a:cs typeface="Tahoma" panose="020B0604030504040204" pitchFamily="34" charset="0"/>
                  </a:rPr>
                  <a:t> ra </a:t>
                </a:r>
                <a14:m>
                  <m:oMath xmlns:m="http://schemas.openxmlformats.org/officeDocument/2006/math">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𝑨</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𝑩</m:t>
                        </m:r>
                      </m:sub>
                    </m:sSub>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1" name="TextBox 40">
                <a:extLst>
                  <a:ext uri="{FF2B5EF4-FFF2-40B4-BE49-F238E27FC236}">
                    <a16:creationId xmlns:a16="http://schemas.microsoft.com/office/drawing/2014/main" id="{3FFA15C6-80FF-45FD-96A6-37A7266C4168}"/>
                  </a:ext>
                </a:extLst>
              </p:cNvPr>
              <p:cNvSpPr txBox="1">
                <a:spLocks noRot="1" noChangeAspect="1" noMove="1" noResize="1" noEditPoints="1" noAdjustHandles="1" noChangeArrowheads="1" noChangeShapeType="1" noTextEdit="1"/>
              </p:cNvSpPr>
              <p:nvPr/>
            </p:nvSpPr>
            <p:spPr>
              <a:xfrm>
                <a:off x="933742" y="11152699"/>
                <a:ext cx="5760265" cy="830997"/>
              </a:xfrm>
              <a:prstGeom prst="rect">
                <a:avLst/>
              </a:prstGeom>
              <a:blipFill>
                <a:blip r:embed="rId11"/>
                <a:stretch>
                  <a:fillRect l="-4762" t="-17647" b="-37500"/>
                </a:stretch>
              </a:blipFill>
            </p:spPr>
            <p:txBody>
              <a:bodyPr/>
              <a:lstStyle/>
              <a:p>
                <a:r>
                  <a:rPr lang="en-US">
                    <a:noFill/>
                  </a:rPr>
                  <a:t> </a:t>
                </a:r>
              </a:p>
            </p:txBody>
          </p:sp>
        </mc:Fallback>
      </mc:AlternateContent>
      <p:sp>
        <p:nvSpPr>
          <p:cNvPr id="43" name="Rounded Rectangle 4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7" name="TextBox 4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552769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left)">
                                      <p:cBhvr>
                                        <p:cTn id="21" dur="500"/>
                                        <p:tgtEl>
                                          <p:spTgt spid="3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wipe(left)">
                                      <p:cBhvr>
                                        <p:cTn id="26" dur="500"/>
                                        <p:tgtEl>
                                          <p:spTgt spid="4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4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620483" y="5105400"/>
            <a:ext cx="23556178" cy="1234536"/>
            <a:chOff x="241306" y="2243792"/>
            <a:chExt cx="11778089"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𝑫</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𝟑</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𝟒</m:t>
                            </m:r>
                          </m:e>
                        </m:d>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243792"/>
                  <a:ext cx="2468235" cy="617268"/>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𝑫</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𝟒</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𝟑</m:t>
                            </m:r>
                          </m:e>
                        </m:d>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243792"/>
                  <a:ext cx="2468235" cy="617268"/>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𝑫</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𝟒</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𝟒</m:t>
                            </m:r>
                          </m:e>
                        </m:d>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243792"/>
                  <a:ext cx="2468235" cy="617268"/>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𝑫</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𝟖</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𝟔</m:t>
                            </m:r>
                          </m:e>
                        </m:d>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243792"/>
                  <a:ext cx="2468235" cy="617268"/>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12612217" y="5170827"/>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C</a:t>
            </a:r>
            <a:endParaRPr lang="en-US" sz="6400" b="1"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467665"/>
            <a:ext cx="23943880" cy="2524605"/>
            <a:chOff x="923003" y="3794414"/>
            <a:chExt cx="23943880" cy="2524604"/>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794414"/>
              <a:ext cx="23594672" cy="2524604"/>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8"/>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8.</a:t>
                  </a: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endParaRPr lang="en-US">
                <a:solidFill>
                  <a:prstClr val="white"/>
                </a:solidFill>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684044" y="7052219"/>
                <a:ext cx="3548634" cy="830997"/>
              </a:xfrm>
              <a:prstGeom prst="rect">
                <a:avLst/>
              </a:prstGeom>
              <a:noFill/>
            </p:spPr>
            <p:txBody>
              <a:bodyPr wrap="square">
                <a:spAutoFit/>
              </a:bodyPr>
              <a:lstStyle/>
              <a:p>
                <a:r>
                  <a:rPr lang="fr-FR" sz="4800" b="1" dirty="0">
                    <a:solidFill>
                      <a:schemeClr val="tx1"/>
                    </a:solidFill>
                    <a:latin typeface="Tahoma" panose="020B0604030504040204" pitchFamily="34" charset="0"/>
                    <a:ea typeface="Tahoma" panose="020B0604030504040204" pitchFamily="34" charset="0"/>
                    <a:cs typeface="Tahoma" panose="020B0604030504040204" pitchFamily="34" charset="0"/>
                  </a:rPr>
                  <a:t>Gọi </a:t>
                </a:r>
                <a14:m>
                  <m:oMath xmlns:m="http://schemas.openxmlformats.org/officeDocument/2006/math">
                    <m:r>
                      <a:rPr lang="en-US" sz="4800" b="1" i="1">
                        <a:solidFill>
                          <a:schemeClr val="tx1"/>
                        </a:solidFill>
                        <a:latin typeface="Cambria Math" panose="02040503050406030204" pitchFamily="18" charset="0"/>
                      </a:rPr>
                      <m:t>𝑫</m:t>
                    </m:r>
                    <m:d>
                      <m:dPr>
                        <m:ctrlPr>
                          <a:rPr lang="en-US" sz="4800" b="1" i="1">
                            <a:solidFill>
                              <a:schemeClr val="tx1"/>
                            </a:solidFill>
                            <a:latin typeface="Cambria Math" panose="02040503050406030204" pitchFamily="18" charset="0"/>
                          </a:rPr>
                        </m:ctrlPr>
                      </m:dPr>
                      <m:e>
                        <m:r>
                          <a:rPr lang="en-US" sz="4800" b="1" i="1">
                            <a:solidFill>
                              <a:schemeClr val="tx1"/>
                            </a:solidFill>
                            <a:latin typeface="Cambria Math" panose="02040503050406030204" pitchFamily="18" charset="0"/>
                          </a:rPr>
                          <m:t>𝒙</m:t>
                        </m:r>
                        <m:r>
                          <a:rPr lang="en-US" sz="4800" b="1" i="1">
                            <a:solidFill>
                              <a:schemeClr val="tx1"/>
                            </a:solidFill>
                            <a:latin typeface="Cambria Math" panose="02040503050406030204" pitchFamily="18" charset="0"/>
                          </a:rPr>
                          <m:t>;</m:t>
                        </m:r>
                        <m:r>
                          <a:rPr lang="en-US" sz="4800" b="1" i="1">
                            <a:solidFill>
                              <a:schemeClr val="tx1"/>
                            </a:solidFill>
                            <a:latin typeface="Cambria Math" panose="02040503050406030204" pitchFamily="18" charset="0"/>
                          </a:rPr>
                          <m:t>𝒚</m:t>
                        </m:r>
                      </m:e>
                    </m:d>
                    <m:r>
                      <a:rPr lang="en-US" sz="4800" b="1" i="1">
                        <a:solidFill>
                          <a:schemeClr val="tx1"/>
                        </a:solidFill>
                        <a:latin typeface="Cambria Math" panose="02040503050406030204" pitchFamily="18" charset="0"/>
                      </a:rPr>
                      <m:t>.</m:t>
                    </m:r>
                  </m:oMath>
                </a14:m>
                <a:r>
                  <a:rPr lang="fr-FR"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684044" y="7052219"/>
                <a:ext cx="3548634" cy="830997"/>
              </a:xfrm>
              <a:prstGeom prst="rect">
                <a:avLst/>
              </a:prstGeom>
              <a:blipFill>
                <a:blip r:embed="rId8"/>
                <a:stretch>
                  <a:fillRect l="-7719" t="-17647"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862802" y="3457408"/>
                <a:ext cx="22586876" cy="1569660"/>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Trong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hệ</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𝟏</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𝑪</m:t>
                    </m:r>
                    <m:d>
                      <m:dPr>
                        <m:ctrlPr>
                          <a:rPr lang="en-US" sz="4800" b="1" i="1">
                            <a:latin typeface="Cambria Math" panose="02040503050406030204" pitchFamily="18" charset="0"/>
                          </a:rPr>
                        </m:ctrlPr>
                      </m:dPr>
                      <m:e>
                        <m:r>
                          <a:rPr lang="en-US" sz="4800" b="1" i="1">
                            <a:latin typeface="Cambria Math" panose="02040503050406030204" pitchFamily="18" charset="0"/>
                          </a:rPr>
                          <m:t>𝟔</m:t>
                        </m:r>
                        <m:r>
                          <a:rPr lang="en-US" sz="4800" b="1" i="1">
                            <a:latin typeface="Cambria Math" panose="02040503050406030204" pitchFamily="18" charset="0"/>
                          </a:rPr>
                          <m:t>;</m:t>
                        </m:r>
                        <m:r>
                          <a:rPr lang="en-US" sz="4800" b="1" i="1">
                            <a:latin typeface="Cambria Math" panose="02040503050406030204" pitchFamily="18" charset="0"/>
                          </a:rPr>
                          <m:t>𝟓</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Tìm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𝑫</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để</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tứ</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𝑨𝑩𝑪𝑫</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hình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hành</a:t>
                </a:r>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862802" y="3457408"/>
                <a:ext cx="22586876" cy="1569660"/>
              </a:xfrm>
              <a:prstGeom prst="rect">
                <a:avLst/>
              </a:prstGeom>
              <a:blipFill>
                <a:blip r:embed="rId9"/>
                <a:stretch>
                  <a:fillRect l="-1242" t="-9302" r="-810" b="-18992"/>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algn="ctr"/>
            <a:r>
              <a:rPr lang="en-US" dirty="0">
                <a:solidFill>
                  <a:prstClr val="white"/>
                </a:solidFill>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10287000" y="9428738"/>
                <a:ext cx="9881398" cy="17400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𝟔</m:t>
                              </m:r>
                              <m:r>
                                <a:rPr lang="en-US" sz="4800" b="1" i="1">
                                  <a:latin typeface="Cambria Math" panose="02040503050406030204" pitchFamily="18" charset="0"/>
                                </a:rPr>
                                <m:t>−</m:t>
                              </m:r>
                              <m:r>
                                <a:rPr lang="en-US" sz="4800" b="1" i="1">
                                  <a:latin typeface="Cambria Math" panose="02040503050406030204" pitchFamily="18" charset="0"/>
                                </a:rPr>
                                <m:t>𝒙</m:t>
                              </m:r>
                            </m:e>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𝟓</m:t>
                              </m:r>
                              <m:r>
                                <a:rPr lang="en-US" sz="4800" b="1" i="1">
                                  <a:latin typeface="Cambria Math" panose="02040503050406030204" pitchFamily="18" charset="0"/>
                                </a:rPr>
                                <m:t>−</m:t>
                              </m:r>
                              <m:r>
                                <a:rPr lang="en-US" sz="4800" b="1" i="1">
                                  <a:latin typeface="Cambria Math" panose="02040503050406030204" pitchFamily="18" charset="0"/>
                                </a:rPr>
                                <m:t>𝒚</m:t>
                              </m:r>
                            </m:e>
                          </m:eqArr>
                        </m:e>
                      </m:d>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𝟒</m:t>
                              </m:r>
                            </m:e>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𝟒</m:t>
                              </m:r>
                            </m:e>
                          </m:eqArr>
                        </m:e>
                      </m:d>
                      <m:r>
                        <a:rPr lang="en-US" sz="4800" b="1" i="1">
                          <a:latin typeface="Cambria Math" panose="02040503050406030204" pitchFamily="18" charset="0"/>
                        </a:rPr>
                        <m:t>⇒</m:t>
                      </m:r>
                      <m:r>
                        <a:rPr lang="en-US" sz="4800" b="1" i="1">
                          <a:latin typeface="Cambria Math" panose="02040503050406030204" pitchFamily="18" charset="0"/>
                        </a:rPr>
                        <m:t>𝑫</m:t>
                      </m:r>
                      <m:d>
                        <m:dPr>
                          <m:ctrlPr>
                            <a:rPr lang="en-US" sz="4800" b="1" i="1">
                              <a:latin typeface="Cambria Math" panose="02040503050406030204" pitchFamily="18" charset="0"/>
                            </a:rPr>
                          </m:ctrlPr>
                        </m:dPr>
                        <m:e>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𝟒</m:t>
                          </m:r>
                        </m:e>
                      </m:d>
                      <m:r>
                        <a:rPr lang="en-US" sz="4800" b="1" i="1">
                          <a:latin typeface="Cambria Math" panose="02040503050406030204" pitchFamily="18"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10287000" y="9428738"/>
                <a:ext cx="9881398" cy="174002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0944151-E1E2-4A21-AF5F-5DDFEBFB8529}"/>
                  </a:ext>
                </a:extLst>
              </p:cNvPr>
              <p:cNvSpPr txBox="1"/>
              <p:nvPr/>
            </p:nvSpPr>
            <p:spPr>
              <a:xfrm>
                <a:off x="940637" y="11582216"/>
                <a:ext cx="8213957" cy="830997"/>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Vậy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đỉnh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smtClean="0">
                        <a:latin typeface="Cambria Math" panose="02040503050406030204" pitchFamily="18" charset="0"/>
                      </a:rPr>
                      <m:t>𝑫</m:t>
                    </m:r>
                    <m:r>
                      <a:rPr lang="en-US" sz="4800" b="1" i="1" smtClean="0">
                        <a:latin typeface="Cambria Math" panose="02040503050406030204" pitchFamily="18" charset="0"/>
                      </a:rPr>
                      <m:t>(</m:t>
                    </m:r>
                    <m:r>
                      <a:rPr lang="en-US" sz="4800" b="1" i="1" smtClean="0">
                        <a:latin typeface="Cambria Math" panose="02040503050406030204" pitchFamily="18" charset="0"/>
                      </a:rPr>
                      <m:t>𝟒</m:t>
                    </m:r>
                    <m:r>
                      <a:rPr lang="en-US" sz="4800" b="1" i="1" smtClean="0">
                        <a:latin typeface="Cambria Math" panose="02040503050406030204" pitchFamily="18" charset="0"/>
                      </a:rPr>
                      <m:t>;</m:t>
                    </m:r>
                    <m:r>
                      <a:rPr lang="en-US" sz="4800" b="1" i="1" smtClean="0">
                        <a:latin typeface="Cambria Math" panose="02040503050406030204" pitchFamily="18" charset="0"/>
                      </a:rPr>
                      <m:t>𝟒</m:t>
                    </m:r>
                    <m:r>
                      <a:rPr lang="en-US" sz="4800" b="1" i="1" smtClean="0">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7" name="TextBox 36">
                <a:extLst>
                  <a:ext uri="{FF2B5EF4-FFF2-40B4-BE49-F238E27FC236}">
                    <a16:creationId xmlns:a16="http://schemas.microsoft.com/office/drawing/2014/main" id="{10944151-E1E2-4A21-AF5F-5DDFEBFB8529}"/>
                  </a:ext>
                </a:extLst>
              </p:cNvPr>
              <p:cNvSpPr txBox="1">
                <a:spLocks noRot="1" noChangeAspect="1" noMove="1" noResize="1" noEditPoints="1" noAdjustHandles="1" noChangeArrowheads="1" noChangeShapeType="1" noTextEdit="1"/>
              </p:cNvSpPr>
              <p:nvPr/>
            </p:nvSpPr>
            <p:spPr>
              <a:xfrm>
                <a:off x="940637" y="11582216"/>
                <a:ext cx="8213957" cy="830997"/>
              </a:xfrm>
              <a:prstGeom prst="rect">
                <a:avLst/>
              </a:prstGeom>
              <a:blipFill>
                <a:blip r:embed="rId11"/>
                <a:stretch>
                  <a:fillRect l="-3338" t="-17647"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5CC69A0-C142-4CA6-9787-B4498EF2D160}"/>
                  </a:ext>
                </a:extLst>
              </p:cNvPr>
              <p:cNvSpPr txBox="1"/>
              <p:nvPr/>
            </p:nvSpPr>
            <p:spPr>
              <a:xfrm>
                <a:off x="8364261" y="6535550"/>
                <a:ext cx="8000254" cy="2010807"/>
              </a:xfrm>
              <a:prstGeom prst="rect">
                <a:avLst/>
              </a:prstGeom>
              <a:noFill/>
            </p:spPr>
            <p:txBody>
              <a:bodyPr wrap="square">
                <a:spAutoFit/>
              </a:bodyPr>
              <a:lstStyle/>
              <a:p>
                <a:r>
                  <a:rPr lang="fr-FR" sz="4800" b="1" dirty="0">
                    <a:solidFill>
                      <a:schemeClr val="tx1"/>
                    </a:solidFill>
                    <a:latin typeface="Tahoma" panose="020B0604030504040204" pitchFamily="34" charset="0"/>
                    <a:ea typeface="Tahoma" panose="020B0604030504040204" pitchFamily="34" charset="0"/>
                    <a:cs typeface="Tahoma" panose="020B0604030504040204" pitchFamily="34" charset="0"/>
                  </a:rPr>
                  <a:t>Ta </a:t>
                </a:r>
                <a:r>
                  <a:rPr lang="fr-FR"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có</a:t>
                </a:r>
                <a:r>
                  <a:rPr lang="fr-FR"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800" b="1" i="1">
                            <a:solidFill>
                              <a:schemeClr val="tx1"/>
                            </a:solidFill>
                            <a:latin typeface="Cambria Math" panose="02040503050406030204" pitchFamily="18" charset="0"/>
                          </a:rPr>
                        </m:ctrlPr>
                      </m:dPr>
                      <m:e>
                        <m:eqArr>
                          <m:eqArrPr>
                            <m:ctrlPr>
                              <a:rPr lang="en-US" sz="4800" b="1" i="1">
                                <a:solidFill>
                                  <a:schemeClr val="tx1"/>
                                </a:solidFill>
                                <a:latin typeface="Cambria Math" panose="02040503050406030204" pitchFamily="18" charset="0"/>
                              </a:rPr>
                            </m:ctrlPr>
                          </m:eqArrPr>
                          <m:e>
                            <m:acc>
                              <m:accPr>
                                <m:chr m:val="⃗"/>
                                <m:ctrlPr>
                                  <a:rPr lang="en-US" sz="4800" b="1" i="1">
                                    <a:solidFill>
                                      <a:schemeClr val="tx1"/>
                                    </a:solidFill>
                                    <a:latin typeface="Cambria Math" panose="02040503050406030204" pitchFamily="18" charset="0"/>
                                  </a:rPr>
                                </m:ctrlPr>
                              </m:accPr>
                              <m:e>
                                <m:r>
                                  <a:rPr lang="en-US" sz="4800" b="1" i="1">
                                    <a:solidFill>
                                      <a:schemeClr val="tx1"/>
                                    </a:solidFill>
                                    <a:latin typeface="Cambria Math" panose="02040503050406030204" pitchFamily="18" charset="0"/>
                                  </a:rPr>
                                  <m:t>𝑨𝑩</m:t>
                                </m:r>
                              </m:e>
                            </m:acc>
                            <m:r>
                              <a:rPr lang="en-US" sz="4800" b="1" i="1">
                                <a:solidFill>
                                  <a:schemeClr val="tx1"/>
                                </a:solidFill>
                                <a:latin typeface="Cambria Math" panose="02040503050406030204" pitchFamily="18" charset="0"/>
                              </a:rPr>
                              <m:t>=</m:t>
                            </m:r>
                            <m:d>
                              <m:dPr>
                                <m:ctrlPr>
                                  <a:rPr lang="en-US" sz="4800" b="1" i="1">
                                    <a:solidFill>
                                      <a:schemeClr val="tx1"/>
                                    </a:solidFill>
                                    <a:latin typeface="Cambria Math" panose="02040503050406030204" pitchFamily="18" charset="0"/>
                                  </a:rPr>
                                </m:ctrlPr>
                              </m:dPr>
                              <m:e>
                                <m:r>
                                  <a:rPr lang="en-US" sz="4800" b="1" i="1">
                                    <a:solidFill>
                                      <a:schemeClr val="tx1"/>
                                    </a:solidFill>
                                    <a:latin typeface="Cambria Math" panose="02040503050406030204" pitchFamily="18" charset="0"/>
                                  </a:rPr>
                                  <m:t>𝟐</m:t>
                                </m:r>
                                <m:r>
                                  <a:rPr lang="en-US" sz="4800" b="1" i="1">
                                    <a:solidFill>
                                      <a:schemeClr val="tx1"/>
                                    </a:solidFill>
                                    <a:latin typeface="Cambria Math" panose="02040503050406030204" pitchFamily="18" charset="0"/>
                                  </a:rPr>
                                  <m:t>;</m:t>
                                </m:r>
                                <m:r>
                                  <a:rPr lang="en-US" sz="4800" b="1" i="1">
                                    <a:solidFill>
                                      <a:schemeClr val="tx1"/>
                                    </a:solidFill>
                                    <a:latin typeface="Cambria Math" panose="02040503050406030204" pitchFamily="18" charset="0"/>
                                  </a:rPr>
                                  <m:t>𝟏</m:t>
                                </m:r>
                              </m:e>
                            </m:d>
                          </m:e>
                          <m:e>
                            <m:acc>
                              <m:accPr>
                                <m:chr m:val="⃗"/>
                                <m:ctrlPr>
                                  <a:rPr lang="en-US" sz="4800" b="1" i="1">
                                    <a:solidFill>
                                      <a:schemeClr val="tx1"/>
                                    </a:solidFill>
                                    <a:latin typeface="Cambria Math" panose="02040503050406030204" pitchFamily="18" charset="0"/>
                                  </a:rPr>
                                </m:ctrlPr>
                              </m:accPr>
                              <m:e>
                                <m:r>
                                  <a:rPr lang="en-US" sz="4800" b="1" i="1">
                                    <a:solidFill>
                                      <a:schemeClr val="tx1"/>
                                    </a:solidFill>
                                    <a:latin typeface="Cambria Math" panose="02040503050406030204" pitchFamily="18" charset="0"/>
                                  </a:rPr>
                                  <m:t>𝑫𝑪</m:t>
                                </m:r>
                              </m:e>
                            </m:acc>
                            <m:r>
                              <a:rPr lang="en-US" sz="4800" b="1" i="1">
                                <a:solidFill>
                                  <a:schemeClr val="tx1"/>
                                </a:solidFill>
                                <a:latin typeface="Cambria Math" panose="02040503050406030204" pitchFamily="18" charset="0"/>
                              </a:rPr>
                              <m:t>=</m:t>
                            </m:r>
                            <m:d>
                              <m:dPr>
                                <m:ctrlPr>
                                  <a:rPr lang="en-US" sz="4800" b="1" i="1">
                                    <a:solidFill>
                                      <a:schemeClr val="tx1"/>
                                    </a:solidFill>
                                    <a:latin typeface="Cambria Math" panose="02040503050406030204" pitchFamily="18" charset="0"/>
                                  </a:rPr>
                                </m:ctrlPr>
                              </m:dPr>
                              <m:e>
                                <m:r>
                                  <a:rPr lang="en-US" sz="4800" b="1" i="1">
                                    <a:solidFill>
                                      <a:schemeClr val="tx1"/>
                                    </a:solidFill>
                                    <a:latin typeface="Cambria Math" panose="02040503050406030204" pitchFamily="18" charset="0"/>
                                  </a:rPr>
                                  <m:t>𝟔</m:t>
                                </m:r>
                                <m:r>
                                  <a:rPr lang="en-US" sz="4800" b="1" i="1">
                                    <a:solidFill>
                                      <a:schemeClr val="tx1"/>
                                    </a:solidFill>
                                    <a:latin typeface="Cambria Math" panose="02040503050406030204" pitchFamily="18" charset="0"/>
                                  </a:rPr>
                                  <m:t>−</m:t>
                                </m:r>
                                <m:r>
                                  <a:rPr lang="en-US" sz="4800" b="1" i="1">
                                    <a:solidFill>
                                      <a:schemeClr val="tx1"/>
                                    </a:solidFill>
                                    <a:latin typeface="Cambria Math" panose="02040503050406030204" pitchFamily="18" charset="0"/>
                                  </a:rPr>
                                  <m:t>𝒙</m:t>
                                </m:r>
                                <m:r>
                                  <a:rPr lang="en-US" sz="4800" b="1" i="1">
                                    <a:solidFill>
                                      <a:schemeClr val="tx1"/>
                                    </a:solidFill>
                                    <a:latin typeface="Cambria Math" panose="02040503050406030204" pitchFamily="18" charset="0"/>
                                  </a:rPr>
                                  <m:t>;</m:t>
                                </m:r>
                                <m:r>
                                  <a:rPr lang="en-US" sz="4800" b="1" i="1">
                                    <a:solidFill>
                                      <a:schemeClr val="tx1"/>
                                    </a:solidFill>
                                    <a:latin typeface="Cambria Math" panose="02040503050406030204" pitchFamily="18" charset="0"/>
                                  </a:rPr>
                                  <m:t>𝟓</m:t>
                                </m:r>
                                <m:r>
                                  <a:rPr lang="en-US" sz="4800" b="1" i="1">
                                    <a:solidFill>
                                      <a:schemeClr val="tx1"/>
                                    </a:solidFill>
                                    <a:latin typeface="Cambria Math" panose="02040503050406030204" pitchFamily="18" charset="0"/>
                                  </a:rPr>
                                  <m:t>−</m:t>
                                </m:r>
                                <m:r>
                                  <a:rPr lang="en-US" sz="4800" b="1" i="1">
                                    <a:solidFill>
                                      <a:schemeClr val="tx1"/>
                                    </a:solidFill>
                                    <a:latin typeface="Cambria Math" panose="02040503050406030204" pitchFamily="18" charset="0"/>
                                  </a:rPr>
                                  <m:t>𝒚</m:t>
                                </m:r>
                              </m:e>
                            </m:d>
                          </m:e>
                        </m:eqArr>
                      </m:e>
                    </m:d>
                    <m:r>
                      <a:rPr lang="en-US" sz="4800" b="1" i="1">
                        <a:solidFill>
                          <a:schemeClr val="tx1"/>
                        </a:solidFill>
                        <a:latin typeface="Cambria Math" panose="02040503050406030204" pitchFamily="18" charset="0"/>
                      </a:rPr>
                      <m:t>.</m:t>
                    </m:r>
                  </m:oMath>
                </a14:m>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4" name="TextBox 33">
                <a:extLst>
                  <a:ext uri="{FF2B5EF4-FFF2-40B4-BE49-F238E27FC236}">
                    <a16:creationId xmlns:a16="http://schemas.microsoft.com/office/drawing/2014/main" id="{65CC69A0-C142-4CA6-9787-B4498EF2D160}"/>
                  </a:ext>
                </a:extLst>
              </p:cNvPr>
              <p:cNvSpPr txBox="1">
                <a:spLocks noRot="1" noChangeAspect="1" noMove="1" noResize="1" noEditPoints="1" noAdjustHandles="1" noChangeArrowheads="1" noChangeShapeType="1" noTextEdit="1"/>
              </p:cNvSpPr>
              <p:nvPr/>
            </p:nvSpPr>
            <p:spPr>
              <a:xfrm>
                <a:off x="8364261" y="6535550"/>
                <a:ext cx="8000254" cy="2010807"/>
              </a:xfrm>
              <a:prstGeom prst="rect">
                <a:avLst/>
              </a:prstGeom>
              <a:blipFill>
                <a:blip r:embed="rId12"/>
                <a:stretch>
                  <a:fillRect l="-34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12E7EF5-B6CD-4631-974F-43B98BCCF65B}"/>
                  </a:ext>
                </a:extLst>
              </p:cNvPr>
              <p:cNvSpPr txBox="1"/>
              <p:nvPr/>
            </p:nvSpPr>
            <p:spPr>
              <a:xfrm>
                <a:off x="656073" y="8407448"/>
                <a:ext cx="13517128" cy="925446"/>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Tứ</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𝑨𝑩𝑪𝑫</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là </a:t>
                </a:r>
                <a:r>
                  <a:rPr lang="fr-FR" sz="4800" b="1" dirty="0" err="1">
                    <a:latin typeface="Tahoma" panose="020B0604030504040204" pitchFamily="34" charset="0"/>
                    <a:ea typeface="Tahoma" panose="020B0604030504040204" pitchFamily="34" charset="0"/>
                    <a:cs typeface="Tahoma" panose="020B0604030504040204" pitchFamily="34" charset="0"/>
                  </a:rPr>
                  <a:t>hình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hành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𝑫𝑪</m:t>
                        </m:r>
                      </m:e>
                    </m:acc>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5" name="TextBox 34">
                <a:extLst>
                  <a:ext uri="{FF2B5EF4-FFF2-40B4-BE49-F238E27FC236}">
                    <a16:creationId xmlns:a16="http://schemas.microsoft.com/office/drawing/2014/main" id="{412E7EF5-B6CD-4631-974F-43B98BCCF65B}"/>
                  </a:ext>
                </a:extLst>
              </p:cNvPr>
              <p:cNvSpPr txBox="1">
                <a:spLocks noRot="1" noChangeAspect="1" noMove="1" noResize="1" noEditPoints="1" noAdjustHandles="1" noChangeArrowheads="1" noChangeShapeType="1" noTextEdit="1"/>
              </p:cNvSpPr>
              <p:nvPr/>
            </p:nvSpPr>
            <p:spPr>
              <a:xfrm>
                <a:off x="656073" y="8407448"/>
                <a:ext cx="13517128" cy="925446"/>
              </a:xfrm>
              <a:prstGeom prst="rect">
                <a:avLst/>
              </a:prstGeom>
              <a:blipFill>
                <a:blip r:embed="rId13"/>
                <a:stretch>
                  <a:fillRect l="-2075" t="-5921" b="-32895"/>
                </a:stretch>
              </a:blipFill>
            </p:spPr>
            <p:txBody>
              <a:bodyPr/>
              <a:lstStyle/>
              <a:p>
                <a:r>
                  <a:rPr lang="en-US">
                    <a:noFill/>
                  </a:rPr>
                  <a:t> </a:t>
                </a:r>
              </a:p>
            </p:txBody>
          </p:sp>
        </mc:Fallback>
      </mc:AlternateContent>
      <p:sp>
        <p:nvSpPr>
          <p:cNvPr id="42" name="Rounded Rectangle 4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6" name="TextBox 4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995592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500"/>
                                        <p:tgtEl>
                                          <p:spTgt spid="3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wipe(left)">
                                      <p:cBhvr>
                                        <p:cTn id="26" dur="50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left)">
                                      <p:cBhvr>
                                        <p:cTn id="31" dur="500"/>
                                        <p:tgtEl>
                                          <p:spTgt spid="3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7" grpId="0"/>
      <p:bldP spid="34" grpId="0"/>
      <p:bldP spid="3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620483" y="5105400"/>
            <a:ext cx="23556178" cy="1234536"/>
            <a:chOff x="241306" y="2243792"/>
            <a:chExt cx="11778089"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𝟏𝟓</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lang="en-US" sz="4800" b="1" dirty="0">
                    <a:solidFill>
                      <a:prstClr val="white"/>
                    </a:solidFill>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243792"/>
                  <a:ext cx="2468235" cy="617268"/>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𝟏𝟐</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𝟑</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lang="en-US" sz="4800" b="1" dirty="0">
                    <a:solidFill>
                      <a:prstClr val="white"/>
                    </a:solidFill>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243792"/>
                  <a:ext cx="2468235" cy="617268"/>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𝟏𝟎</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𝟎</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 .</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243792"/>
                  <a:ext cx="2468235" cy="617268"/>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𝟏𝟓</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243792"/>
                  <a:ext cx="2468235" cy="617268"/>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6602248" y="5194105"/>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B</a:t>
            </a:r>
            <a:endParaRPr lang="en-US" sz="6400" b="1"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467665"/>
            <a:ext cx="23943880" cy="2524605"/>
            <a:chOff x="923003" y="3794414"/>
            <a:chExt cx="23943880" cy="2524604"/>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794414"/>
              <a:ext cx="23594672" cy="2524604"/>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8"/>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9.</a:t>
                  </a: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endParaRPr lang="en-US">
                <a:solidFill>
                  <a:prstClr val="white"/>
                </a:solidFill>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533302" y="6573446"/>
                <a:ext cx="15509163" cy="1594732"/>
              </a:xfrm>
              <a:prstGeom prst="rect">
                <a:avLst/>
              </a:prstGeom>
              <a:noFill/>
            </p:spPr>
            <p:txBody>
              <a:bodyPr wrap="square">
                <a:spAutoFit/>
              </a:bodyPr>
              <a:lstStyle/>
              <a:p>
                <a:r>
                  <a:rPr lang="en-US" sz="4800" b="1" dirty="0" err="1">
                    <a:latin typeface="Tahoma" panose="020B0604030504040204" pitchFamily="34" charset="0"/>
                    <a:ea typeface="Calibri" panose="020F0502020204030204" pitchFamily="34" charset="0"/>
                  </a:rPr>
                  <a:t>Từ</a:t>
                </a:r>
                <a:r>
                  <a:rPr lang="en-US" sz="4800" b="1" dirty="0">
                    <a:latin typeface="Tahoma" panose="020B0604030504040204" pitchFamily="34" charset="0"/>
                    <a:ea typeface="Calibri" panose="020F0502020204030204" pitchFamily="34" charset="0"/>
                  </a:rPr>
                  <a:t> </a:t>
                </a:r>
                <a14:m>
                  <m:oMath xmlns:m="http://schemas.openxmlformats.org/officeDocument/2006/math">
                    <m:r>
                      <a:rPr lang="en-US" sz="4400" b="1" i="1">
                        <a:latin typeface="Cambria Math" panose="02040503050406030204" pitchFamily="18" charset="0"/>
                        <a:ea typeface="Calibri" panose="020F0502020204030204" pitchFamily="34" charset="0"/>
                        <a:cs typeface="Tahoma" panose="020B0604030504040204" pitchFamily="34" charset="0"/>
                      </a:rPr>
                      <m:t>𝑨𝑩𝑪𝑫</m:t>
                    </m:r>
                  </m:oMath>
                </a14:m>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là</a:t>
                </a:r>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hình</a:t>
                </a:r>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bình</a:t>
                </a:r>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hành</a:t>
                </a:r>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và</a:t>
                </a:r>
                <a:r>
                  <a:rPr lang="en-US" sz="4800" b="1" dirty="0">
                    <a:latin typeface="Tahoma" panose="020B0604030504040204" pitchFamily="34" charset="0"/>
                    <a:ea typeface="Calibri" panose="020F0502020204030204" pitchFamily="34" charset="0"/>
                  </a:rPr>
                  <a:t> </a:t>
                </a:r>
                <a14:m>
                  <m:oMath xmlns:m="http://schemas.openxmlformats.org/officeDocument/2006/math">
                    <m:r>
                      <a:rPr lang="en-US" sz="4400" b="1" i="1">
                        <a:latin typeface="Cambria Math" panose="02040503050406030204" pitchFamily="18" charset="0"/>
                        <a:ea typeface="Calibri" panose="020F0502020204030204" pitchFamily="34" charset="0"/>
                        <a:cs typeface="Tahoma" panose="020B0604030504040204" pitchFamily="34" charset="0"/>
                      </a:rPr>
                      <m:t>𝑮</m:t>
                    </m:r>
                  </m:oMath>
                </a14:m>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là</a:t>
                </a:r>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trọng</a:t>
                </a:r>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tâm</a:t>
                </a:r>
                <a:r>
                  <a:rPr lang="en-US" sz="4800" b="1" dirty="0">
                    <a:latin typeface="Tahoma" panose="020B0604030504040204" pitchFamily="34" charset="0"/>
                    <a:ea typeface="Calibri" panose="020F0502020204030204" pitchFamily="34" charset="0"/>
                  </a:rPr>
                  <a:t> </a:t>
                </a:r>
                <a14:m>
                  <m:oMath xmlns:m="http://schemas.openxmlformats.org/officeDocument/2006/math">
                    <m:r>
                      <a:rPr lang="en-US" sz="4400" b="1" i="1">
                        <a:latin typeface="Cambria Math" panose="02040503050406030204" pitchFamily="18" charset="0"/>
                        <a:ea typeface="Calibri" panose="020F0502020204030204" pitchFamily="34" charset="0"/>
                        <a:cs typeface="Tahoma" panose="020B0604030504040204" pitchFamily="34" charset="0"/>
                      </a:rPr>
                      <m:t>𝜟</m:t>
                    </m:r>
                    <m:r>
                      <a:rPr lang="en-US" sz="4400" b="1" i="1">
                        <a:latin typeface="Cambria Math" panose="02040503050406030204" pitchFamily="18" charset="0"/>
                        <a:ea typeface="Calibri" panose="020F0502020204030204" pitchFamily="34" charset="0"/>
                        <a:cs typeface="Tahoma" panose="020B0604030504040204" pitchFamily="34" charset="0"/>
                      </a:rPr>
                      <m:t>𝑨𝑩𝑪</m:t>
                    </m:r>
                  </m:oMath>
                </a14:m>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suy</a:t>
                </a:r>
                <a:r>
                  <a:rPr lang="en-US" sz="4800" b="1" dirty="0">
                    <a:latin typeface="Tahoma" panose="020B0604030504040204" pitchFamily="34" charset="0"/>
                    <a:ea typeface="Calibri" panose="020F0502020204030204" pitchFamily="34" charset="0"/>
                  </a:rPr>
                  <a:t> ra </a:t>
                </a:r>
                <a14:m>
                  <m:oMath xmlns:m="http://schemas.openxmlformats.org/officeDocument/2006/math">
                    <m:acc>
                      <m:accPr>
                        <m:chr m:val="⃗"/>
                        <m:ctrlPr>
                          <a:rPr lang="en-US" sz="4400" b="1" i="1">
                            <a:latin typeface="Cambria Math" panose="02040503050406030204" pitchFamily="18" charset="0"/>
                            <a:ea typeface="Calibri" panose="020F0502020204030204" pitchFamily="34" charset="0"/>
                            <a:cs typeface="Tahoma" panose="020B0604030504040204" pitchFamily="34" charset="0"/>
                          </a:rPr>
                        </m:ctrlPr>
                      </m:accPr>
                      <m:e>
                        <m:r>
                          <a:rPr lang="en-US" sz="4400" b="1" i="1">
                            <a:latin typeface="Cambria Math" panose="02040503050406030204" pitchFamily="18" charset="0"/>
                            <a:ea typeface="Calibri" panose="020F0502020204030204" pitchFamily="34" charset="0"/>
                            <a:cs typeface="Tahoma" panose="020B0604030504040204" pitchFamily="34" charset="0"/>
                          </a:rPr>
                          <m:t>𝑩𝑫</m:t>
                        </m:r>
                      </m:e>
                    </m:acc>
                    <m:r>
                      <a:rPr lang="en-US" sz="4400" b="1" i="1">
                        <a:latin typeface="Cambria Math" panose="02040503050406030204" pitchFamily="18" charset="0"/>
                        <a:ea typeface="Calibri" panose="020F0502020204030204" pitchFamily="34" charset="0"/>
                        <a:cs typeface="Tahoma" panose="020B0604030504040204" pitchFamily="34" charset="0"/>
                      </a:rPr>
                      <m:t>=</m:t>
                    </m:r>
                    <m:r>
                      <a:rPr lang="en-US" sz="4400" b="1" i="1">
                        <a:latin typeface="Cambria Math" panose="02040503050406030204" pitchFamily="18" charset="0"/>
                        <a:ea typeface="Calibri" panose="020F0502020204030204" pitchFamily="34" charset="0"/>
                        <a:cs typeface="Tahoma" panose="020B0604030504040204" pitchFamily="34" charset="0"/>
                      </a:rPr>
                      <m:t>𝟑</m:t>
                    </m:r>
                    <m:acc>
                      <m:accPr>
                        <m:chr m:val="⃗"/>
                        <m:ctrlPr>
                          <a:rPr lang="en-US" sz="4400" b="1" i="1">
                            <a:latin typeface="Cambria Math" panose="02040503050406030204" pitchFamily="18" charset="0"/>
                            <a:ea typeface="Calibri" panose="020F0502020204030204" pitchFamily="34" charset="0"/>
                            <a:cs typeface="Tahoma" panose="020B0604030504040204" pitchFamily="34" charset="0"/>
                          </a:rPr>
                        </m:ctrlPr>
                      </m:accPr>
                      <m:e>
                        <m:r>
                          <a:rPr lang="en-US" sz="4400" b="1" i="1">
                            <a:latin typeface="Cambria Math" panose="02040503050406030204" pitchFamily="18" charset="0"/>
                            <a:ea typeface="Calibri" panose="020F0502020204030204" pitchFamily="34" charset="0"/>
                            <a:cs typeface="Tahoma" panose="020B0604030504040204" pitchFamily="34" charset="0"/>
                          </a:rPr>
                          <m:t>𝑩𝑮</m:t>
                        </m:r>
                      </m:e>
                    </m:acc>
                  </m:oMath>
                </a14:m>
                <a:r>
                  <a:rPr lang="en-US" sz="4800" b="1" dirty="0">
                    <a:latin typeface="Tahoma" panose="020B0604030504040204" pitchFamily="34" charset="0"/>
                    <a:ea typeface="Calibri" panose="020F0502020204030204" pitchFamily="34" charset="0"/>
                  </a:rPr>
                  <a:t> .</a:t>
                </a: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533302" y="6573446"/>
                <a:ext cx="15509163" cy="1594732"/>
              </a:xfrm>
              <a:prstGeom prst="rect">
                <a:avLst/>
              </a:prstGeom>
              <a:blipFill>
                <a:blip r:embed="rId8"/>
                <a:stretch>
                  <a:fillRect l="-1808" t="-8779" b="-194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4565466" y="2441242"/>
                <a:ext cx="18587237" cy="2308324"/>
              </a:xfrm>
              <a:prstGeom prst="rect">
                <a:avLst/>
              </a:prstGeom>
              <a:noFill/>
            </p:spPr>
            <p:txBody>
              <a:bodyPr wrap="square">
                <a:spAutoFit/>
              </a:bodyPr>
              <a:lstStyle/>
              <a:p>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mặt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hành</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𝑨𝑩𝑪𝑫</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𝟐</m:t>
                        </m:r>
                      </m:e>
                    </m:d>
                    <m:r>
                      <a:rPr lang="en-US" sz="4800" b="1" i="1">
                        <a:latin typeface="Cambria Math" panose="02040503050406030204" pitchFamily="18" charset="0"/>
                      </a:rPr>
                      <m:t>,</m:t>
                    </m:r>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𝑮</m:t>
                    </m:r>
                    <m:d>
                      <m:dPr>
                        <m:ctrlPr>
                          <a:rPr lang="en-US" sz="4800" b="1" i="1">
                            <a:latin typeface="Cambria Math" panose="02040503050406030204" pitchFamily="18" charset="0"/>
                          </a:rPr>
                        </m:ctrlPr>
                      </m:dPr>
                      <m:e>
                        <m:r>
                          <a:rPr lang="en-US" sz="4800" b="1" i="1">
                            <a:latin typeface="Cambria Math" panose="02040503050406030204" pitchFamily="18" charset="0"/>
                          </a:rPr>
                          <m:t>𝟓</m:t>
                        </m:r>
                        <m:r>
                          <a:rPr lang="en-US" sz="4800" b="1" i="1">
                            <a:latin typeface="Cambria Math" panose="02040503050406030204" pitchFamily="18" charset="0"/>
                          </a:rPr>
                          <m:t>;−</m:t>
                        </m:r>
                        <m:r>
                          <a:rPr lang="en-US" sz="4800" b="1" i="1">
                            <a:latin typeface="Cambria Math" panose="02040503050406030204" pitchFamily="18" charset="0"/>
                          </a:rPr>
                          <m:t>𝟏</m:t>
                        </m:r>
                      </m:e>
                    </m:d>
                  </m:oMath>
                </a14:m>
                <a:r>
                  <a:rPr lang="en-US" sz="4800" b="1" dirty="0">
                    <a:latin typeface="Tahoma" panose="020B0604030504040204" pitchFamily="34" charset="0"/>
                    <a:ea typeface="Tahoma" panose="020B0604030504040204" pitchFamily="34" charset="0"/>
                    <a:cs typeface="Tahoma" panose="020B0604030504040204" pitchFamily="34" charset="0"/>
                  </a:rPr>
                  <a:t> là </a:t>
                </a:r>
                <a:r>
                  <a:rPr lang="en-US" sz="4800" b="1" dirty="0" err="1">
                    <a:latin typeface="Tahoma" panose="020B0604030504040204" pitchFamily="34" charset="0"/>
                    <a:ea typeface="Tahoma" panose="020B0604030504040204" pitchFamily="34" charset="0"/>
                    <a:cs typeface="Tahoma" panose="020B0604030504040204" pitchFamily="34" charset="0"/>
                  </a:rPr>
                  <a:t>trọng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tâm</a:t>
                </a:r>
                <a:r>
                  <a:rPr lang="en-US" sz="4800" b="1" dirty="0">
                    <a:latin typeface="Tahoma" panose="020B0604030504040204" pitchFamily="34" charset="0"/>
                    <a:ea typeface="Tahoma" panose="020B0604030504040204" pitchFamily="34" charset="0"/>
                    <a:cs typeface="Tahoma" panose="020B0604030504040204" pitchFamily="34" charset="0"/>
                  </a:rPr>
                  <a:t> tam </a:t>
                </a:r>
                <a:r>
                  <a:rPr lang="en-US" sz="4800" b="1" dirty="0" err="1">
                    <a:latin typeface="Tahoma" panose="020B0604030504040204" pitchFamily="34" charset="0"/>
                    <a:ea typeface="Tahoma" panose="020B0604030504040204" pitchFamily="34" charset="0"/>
                    <a:cs typeface="Tahoma" panose="020B0604030504040204" pitchFamily="34" charset="0"/>
                  </a:rPr>
                  <a:t>giác</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Tìm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𝑫</m:t>
                    </m:r>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4565466" y="2441242"/>
                <a:ext cx="18587237" cy="2308324"/>
              </a:xfrm>
              <a:prstGeom prst="rect">
                <a:avLst/>
              </a:prstGeom>
              <a:blipFill>
                <a:blip r:embed="rId9"/>
                <a:stretch>
                  <a:fillRect l="-1509" t="-6332" b="-12665"/>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algn="ctr"/>
            <a:r>
              <a:rPr lang="en-US" dirty="0">
                <a:solidFill>
                  <a:prstClr val="white"/>
                </a:solidFill>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760373" y="8251159"/>
                <a:ext cx="10212428" cy="925446"/>
              </a:xfrm>
              <a:prstGeom prst="rect">
                <a:avLst/>
              </a:prstGeom>
              <a:noFill/>
            </p:spPr>
            <p:txBody>
              <a:bodyPr wrap="square">
                <a:spAutoFit/>
              </a:bodyPr>
              <a:lstStyle/>
              <a:p>
                <a:r>
                  <a:rPr lang="en-US" sz="4800" b="1" dirty="0">
                    <a:latin typeface="Tahoma" panose="020B0604030504040204" pitchFamily="34" charset="0"/>
                    <a:ea typeface="Tahoma" panose="020B0604030504040204" pitchFamily="34" charset="0"/>
                    <a:cs typeface="Tahoma" panose="020B0604030504040204" pitchFamily="34" charset="0"/>
                  </a:rPr>
                  <a:t>Với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𝑩</m:t>
                        </m:r>
                        <m:r>
                          <a:rPr lang="en-US" sz="4800" b="1" i="1" smtClean="0">
                            <a:latin typeface="Cambria Math" panose="02040503050406030204" pitchFamily="18" charset="0"/>
                          </a:rPr>
                          <m:t>𝑮</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𝟓</m:t>
                        </m:r>
                        <m:r>
                          <a:rPr lang="en-US" sz="4800" b="1" i="1">
                            <a:latin typeface="Cambria Math" panose="02040503050406030204" pitchFamily="18" charset="0"/>
                          </a:rPr>
                          <m:t>;</m:t>
                        </m:r>
                        <m:r>
                          <a:rPr lang="en-US" sz="4800" b="1" i="1">
                            <a:latin typeface="Cambria Math" panose="02040503050406030204" pitchFamily="18" charset="0"/>
                          </a:rPr>
                          <m:t>𝟏</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thì</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𝑩𝑫</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𝟏𝟓</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760373" y="8251159"/>
                <a:ext cx="10212428" cy="925446"/>
              </a:xfrm>
              <a:prstGeom prst="rect">
                <a:avLst/>
              </a:prstGeom>
              <a:blipFill>
                <a:blip r:embed="rId10"/>
                <a:stretch>
                  <a:fillRect l="-2746" t="-5960" r="-179" b="-337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0944151-E1E2-4A21-AF5F-5DDFEBFB8529}"/>
                  </a:ext>
                </a:extLst>
              </p:cNvPr>
              <p:cNvSpPr txBox="1"/>
              <p:nvPr/>
            </p:nvSpPr>
            <p:spPr>
              <a:xfrm>
                <a:off x="760373" y="9513715"/>
                <a:ext cx="8716763" cy="830997"/>
              </a:xfrm>
              <a:prstGeom prst="rect">
                <a:avLst/>
              </a:prstGeom>
              <a:noFill/>
            </p:spPr>
            <p:txBody>
              <a:bodyPr wrap="square">
                <a:spAutoFit/>
              </a:bodyPr>
              <a:lstStyle/>
              <a:p>
                <a:r>
                  <a:rPr lang="en-US" sz="4800" b="1" dirty="0">
                    <a:latin typeface="Tahoma" panose="020B0604030504040204" pitchFamily="34" charset="0"/>
                    <a:ea typeface="Calibri" panose="020F0502020204030204" pitchFamily="34" charset="0"/>
                  </a:rPr>
                  <a:t>Do </a:t>
                </a:r>
                <a:r>
                  <a:rPr lang="en-US" sz="4800" b="1" dirty="0" err="1">
                    <a:latin typeface="Tahoma" panose="020B0604030504040204" pitchFamily="34" charset="0"/>
                    <a:ea typeface="Calibri" panose="020F0502020204030204" pitchFamily="34" charset="0"/>
                  </a:rPr>
                  <a:t>đó</a:t>
                </a:r>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tọa</a:t>
                </a:r>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độ</a:t>
                </a:r>
                <a:r>
                  <a:rPr lang="en-US" sz="4800" b="1" dirty="0">
                    <a:latin typeface="Tahoma" panose="020B0604030504040204" pitchFamily="34" charset="0"/>
                    <a:ea typeface="Calibri" panose="020F0502020204030204" pitchFamily="34" charset="0"/>
                  </a:rPr>
                  <a:t> </a:t>
                </a:r>
                <a:r>
                  <a:rPr lang="en-US" sz="4800" b="1" dirty="0" err="1">
                    <a:latin typeface="Tahoma" panose="020B0604030504040204" pitchFamily="34" charset="0"/>
                    <a:ea typeface="Calibri" panose="020F0502020204030204" pitchFamily="34" charset="0"/>
                  </a:rPr>
                  <a:t>điểm</a:t>
                </a:r>
                <a:r>
                  <a:rPr lang="en-US" sz="4800" b="1" dirty="0">
                    <a:latin typeface="Tahoma" panose="020B0604030504040204" pitchFamily="34" charset="0"/>
                    <a:ea typeface="Calibri" panose="020F0502020204030204" pitchFamily="34" charset="0"/>
                  </a:rPr>
                  <a:t> </a:t>
                </a:r>
                <a14:m>
                  <m:oMath xmlns:m="http://schemas.openxmlformats.org/officeDocument/2006/math">
                    <m:r>
                      <a:rPr lang="en-US" sz="4400" b="1" i="1">
                        <a:latin typeface="Cambria Math" panose="02040503050406030204" pitchFamily="18" charset="0"/>
                        <a:ea typeface="Calibri" panose="020F0502020204030204" pitchFamily="34" charset="0"/>
                        <a:cs typeface="Tahoma" panose="020B0604030504040204" pitchFamily="34" charset="0"/>
                      </a:rPr>
                      <m:t>𝑫</m:t>
                    </m:r>
                    <m:d>
                      <m:dPr>
                        <m:ctrlPr>
                          <a:rPr lang="en-US" sz="4400" b="1" i="1">
                            <a:latin typeface="Cambria Math" panose="02040503050406030204" pitchFamily="18" charset="0"/>
                            <a:ea typeface="Calibri" panose="020F0502020204030204" pitchFamily="34" charset="0"/>
                            <a:cs typeface="Tahoma" panose="020B0604030504040204" pitchFamily="34" charset="0"/>
                          </a:rPr>
                        </m:ctrlPr>
                      </m:dPr>
                      <m:e>
                        <m:r>
                          <a:rPr lang="en-US" sz="4400" b="1" i="1">
                            <a:latin typeface="Cambria Math" panose="02040503050406030204" pitchFamily="18" charset="0"/>
                            <a:ea typeface="Calibri" panose="020F0502020204030204" pitchFamily="34" charset="0"/>
                            <a:cs typeface="Tahoma" panose="020B0604030504040204" pitchFamily="34" charset="0"/>
                          </a:rPr>
                          <m:t>𝟏𝟓</m:t>
                        </m:r>
                        <m:r>
                          <a:rPr lang="en-US" sz="4400" b="1" i="1">
                            <a:latin typeface="Cambria Math" panose="02040503050406030204" pitchFamily="18" charset="0"/>
                            <a:ea typeface="Calibri" panose="020F0502020204030204" pitchFamily="34" charset="0"/>
                            <a:cs typeface="Tahoma" panose="020B0604030504040204" pitchFamily="34" charset="0"/>
                          </a:rPr>
                          <m:t>;</m:t>
                        </m:r>
                        <m:r>
                          <a:rPr lang="en-US" sz="4400" b="1" i="1">
                            <a:latin typeface="Cambria Math" panose="02040503050406030204" pitchFamily="18" charset="0"/>
                            <a:ea typeface="Calibri" panose="020F0502020204030204" pitchFamily="34" charset="0"/>
                            <a:cs typeface="Tahoma" panose="020B0604030504040204" pitchFamily="34" charset="0"/>
                          </a:rPr>
                          <m:t>𝟏</m:t>
                        </m:r>
                      </m:e>
                    </m:d>
                  </m:oMath>
                </a14:m>
                <a:r>
                  <a:rPr lang="en-US" sz="4800" b="1" dirty="0">
                    <a:latin typeface="Tahoma" panose="020B0604030504040204" pitchFamily="34" charset="0"/>
                    <a:ea typeface="Calibri" panose="020F0502020204030204" pitchFamily="34" charset="0"/>
                  </a:rPr>
                  <a:t> .</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7" name="TextBox 36">
                <a:extLst>
                  <a:ext uri="{FF2B5EF4-FFF2-40B4-BE49-F238E27FC236}">
                    <a16:creationId xmlns:a16="http://schemas.microsoft.com/office/drawing/2014/main" id="{10944151-E1E2-4A21-AF5F-5DDFEBFB8529}"/>
                  </a:ext>
                </a:extLst>
              </p:cNvPr>
              <p:cNvSpPr txBox="1">
                <a:spLocks noRot="1" noChangeAspect="1" noMove="1" noResize="1" noEditPoints="1" noAdjustHandles="1" noChangeArrowheads="1" noChangeShapeType="1" noTextEdit="1"/>
              </p:cNvSpPr>
              <p:nvPr/>
            </p:nvSpPr>
            <p:spPr>
              <a:xfrm>
                <a:off x="760373" y="9513715"/>
                <a:ext cx="8716763" cy="830997"/>
              </a:xfrm>
              <a:prstGeom prst="rect">
                <a:avLst/>
              </a:prstGeom>
              <a:blipFill>
                <a:blip r:embed="rId11"/>
                <a:stretch>
                  <a:fillRect l="-3217" t="-16912" b="-38235"/>
                </a:stretch>
              </a:blipFill>
            </p:spPr>
            <p:txBody>
              <a:bodyPr/>
              <a:lstStyle/>
              <a:p>
                <a:r>
                  <a:rPr lang="en-US">
                    <a:noFill/>
                  </a:rPr>
                  <a:t> </a:t>
                </a:r>
              </a:p>
            </p:txBody>
          </p:sp>
        </mc:Fallback>
      </mc:AlternateContent>
      <p:pic>
        <p:nvPicPr>
          <p:cNvPr id="35" name="Picture 34">
            <a:extLst>
              <a:ext uri="{FF2B5EF4-FFF2-40B4-BE49-F238E27FC236}">
                <a16:creationId xmlns:a16="http://schemas.microsoft.com/office/drawing/2014/main" id="{E5AC9D78-68BB-49E4-A7BD-C493B7426620}"/>
              </a:ext>
            </a:extLst>
          </p:cNvPr>
          <p:cNvPicPr/>
          <p:nvPr/>
        </p:nvPicPr>
        <p:blipFill>
          <a:blip r:embed="rId12"/>
          <a:stretch>
            <a:fillRect/>
          </a:stretch>
        </p:blipFill>
        <p:spPr>
          <a:xfrm>
            <a:off x="13494258" y="7932566"/>
            <a:ext cx="7841741" cy="3726033"/>
          </a:xfrm>
          <a:prstGeom prst="rect">
            <a:avLst/>
          </a:prstGeom>
        </p:spPr>
      </p:pic>
      <p:sp>
        <p:nvSpPr>
          <p:cNvPr id="39" name="Rounded Rectangle 3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3" name="TextBox 4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368134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left)">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5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wipe(left)">
                                      <p:cBhvr>
                                        <p:cTn id="30" dur="500"/>
                                        <p:tgtEl>
                                          <p:spTgt spid="37"/>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5855216"/>
            <a:ext cx="23941001" cy="7479784"/>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515540" y="4502170"/>
            <a:ext cx="23556178" cy="1234536"/>
            <a:chOff x="241306" y="2243792"/>
            <a:chExt cx="11778089"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𝟐</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𝟑</m:t>
                            </m:r>
                          </m:e>
                        </m:d>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243792"/>
                  <a:ext cx="2468235" cy="617268"/>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𝟐</m:t>
                            </m:r>
                          </m:e>
                        </m:d>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243792"/>
                  <a:ext cx="2468235" cy="617268"/>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𝟑</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𝟐</m:t>
                            </m:r>
                          </m:e>
                        </m:d>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243792"/>
                  <a:ext cx="2468235" cy="617268"/>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𝟒</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m:t>
                            </m:r>
                          </m:e>
                        </m:d>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243792"/>
                  <a:ext cx="2468235" cy="617268"/>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12541284" y="4670502"/>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C</a:t>
            </a:r>
            <a:endParaRPr lang="en-US" sz="6400" b="1"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467666"/>
            <a:ext cx="23943880" cy="1952210"/>
            <a:chOff x="923003" y="3794414"/>
            <a:chExt cx="23943880" cy="2524604"/>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794414"/>
              <a:ext cx="23594672" cy="2524604"/>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8"/>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10.</a:t>
                  </a: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endParaRPr lang="en-US">
                <a:solidFill>
                  <a:prstClr val="white"/>
                </a:solidFill>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273572" y="5866852"/>
                <a:ext cx="15544800" cy="864276"/>
              </a:xfrm>
              <a:prstGeom prst="rect">
                <a:avLst/>
              </a:prstGeom>
              <a:noFill/>
            </p:spPr>
            <p:txBody>
              <a:bodyPr wrap="square">
                <a:spAutoFit/>
              </a:bodyPr>
              <a:lstStyle/>
              <a:p>
                <a:pPr>
                  <a:lnSpc>
                    <a:spcPct val="115000"/>
                  </a:lnSpc>
                  <a:spcBef>
                    <a:spcPts val="200"/>
                  </a:spcBef>
                  <a:spcAft>
                    <a:spcPts val="800"/>
                  </a:spcAft>
                </a:pPr>
                <a:r>
                  <a:rPr lang="fr-FR" sz="4800" b="1" dirty="0" err="1">
                    <a:latin typeface="Tahoma" panose="020B0604030504040204" pitchFamily="34" charset="0"/>
                    <a:ea typeface="Tahoma" panose="020B0604030504040204" pitchFamily="34" charset="0"/>
                    <a:cs typeface="Tahoma" panose="020B0604030504040204" pitchFamily="34" charset="0"/>
                  </a:rPr>
                  <a:t>Gọi</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trung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cạnh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𝑨𝑫</m:t>
                    </m:r>
                    <m:r>
                      <a:rPr lang="en-US" sz="4800" b="1" i="1">
                        <a:latin typeface="Cambria Math" panose="02040503050406030204" pitchFamily="18" charset="0"/>
                      </a:rPr>
                      <m:t>⇒</m:t>
                    </m:r>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𝟐</m:t>
                        </m:r>
                      </m:e>
                    </m:d>
                    <m:r>
                      <a:rPr lang="en-US" sz="4800" b="1" i="1">
                        <a:latin typeface="Cambria Math" panose="02040503050406030204" pitchFamily="18" charset="0"/>
                      </a:rPr>
                      <m:t>.</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273572" y="5866852"/>
                <a:ext cx="15544800" cy="864276"/>
              </a:xfrm>
              <a:prstGeom prst="rect">
                <a:avLst/>
              </a:prstGeom>
              <a:blipFill>
                <a:blip r:embed="rId8"/>
                <a:stretch>
                  <a:fillRect l="-1765" t="-12676" b="-359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1484365" y="2784006"/>
                <a:ext cx="22323724" cy="1569660"/>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Trong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hệ</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r>
                      <a:rPr lang="en-US" sz="4800" b="1" i="1">
                        <a:latin typeface="Cambria Math" panose="02040503050406030204" pitchFamily="18" charset="0"/>
                      </a:rPr>
                      <m:t>,</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chữ</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nhật</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𝑨𝑩𝑪𝑫</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𝑫</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𝟏</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𝑰</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𝟎</m:t>
                        </m:r>
                      </m:e>
                    </m:d>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tâm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chữ</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nhật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Tìm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trung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cạnh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𝑩𝑪</m:t>
                    </m:r>
                    <m:r>
                      <a:rPr lang="en-US" sz="4800" b="1" i="1">
                        <a:latin typeface="Cambria Math" panose="02040503050406030204" pitchFamily="18" charset="0"/>
                      </a:rPr>
                      <m:t>.</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1484365" y="2784006"/>
                <a:ext cx="22323724" cy="1569660"/>
              </a:xfrm>
              <a:prstGeom prst="rect">
                <a:avLst/>
              </a:prstGeom>
              <a:blipFill>
                <a:blip r:embed="rId9"/>
                <a:stretch>
                  <a:fillRect l="-1229" t="-9339" b="-19455"/>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algn="ctr"/>
            <a:r>
              <a:rPr lang="en-US" dirty="0">
                <a:solidFill>
                  <a:prstClr val="white"/>
                </a:solidFill>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4273572" y="6770343"/>
                <a:ext cx="14584488" cy="830997"/>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Gọi</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𝑵</m:t>
                    </m:r>
                    <m:d>
                      <m:dPr>
                        <m:ctrlPr>
                          <a:rPr lang="en-US" sz="4800" b="1" i="1">
                            <a:latin typeface="Cambria Math" panose="02040503050406030204" pitchFamily="18" charset="0"/>
                          </a:rPr>
                        </m:ctrlPr>
                      </m:dPr>
                      <m:e>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𝑵</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𝑵</m:t>
                            </m:r>
                          </m:sub>
                        </m:sSub>
                      </m:e>
                    </m:d>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trung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cạnh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𝑩𝑪</m:t>
                    </m:r>
                    <m:r>
                      <a:rPr lang="en-US" sz="4800" b="1" i="1">
                        <a:latin typeface="Cambria Math" panose="02040503050406030204" pitchFamily="18" charset="0"/>
                      </a:rPr>
                      <m:t>.</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4273572" y="6770343"/>
                <a:ext cx="14584488" cy="830997"/>
              </a:xfrm>
              <a:prstGeom prst="rect">
                <a:avLst/>
              </a:prstGeom>
              <a:blipFill>
                <a:blip r:embed="rId10"/>
                <a:stretch>
                  <a:fillRect l="-1880" t="-17647"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0944151-E1E2-4A21-AF5F-5DDFEBFB8529}"/>
                  </a:ext>
                </a:extLst>
              </p:cNvPr>
              <p:cNvSpPr txBox="1"/>
              <p:nvPr/>
            </p:nvSpPr>
            <p:spPr>
              <a:xfrm>
                <a:off x="580382" y="7725496"/>
                <a:ext cx="17942508" cy="882486"/>
              </a:xfrm>
              <a:prstGeom prst="rect">
                <a:avLst/>
              </a:prstGeom>
              <a:noFill/>
            </p:spPr>
            <p:txBody>
              <a:bodyPr wrap="square">
                <a:spAutoFit/>
              </a:bodyPr>
              <a:lstStyle/>
              <a:p>
                <a14:m>
                  <m:oMath xmlns:m="http://schemas.openxmlformats.org/officeDocument/2006/math">
                    <m:r>
                      <m:rPr>
                        <m:nor/>
                      </m:rPr>
                      <a:rPr lang="fr-FR" sz="4800" b="1">
                        <a:latin typeface="Tahoma" panose="020B0604030504040204" pitchFamily="34" charset="0"/>
                        <a:ea typeface="Tahoma" panose="020B0604030504040204" pitchFamily="34" charset="0"/>
                        <a:cs typeface="Tahoma" panose="020B0604030504040204" pitchFamily="34" charset="0"/>
                      </a:rPr>
                      <m:t>Do</m:t>
                    </m:r>
                    <m:r>
                      <m:rPr>
                        <m:nor/>
                      </m:rPr>
                      <a:rPr lang="fr-FR"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𝑰</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l</m:t>
                    </m:r>
                    <m:r>
                      <m:rPr>
                        <m:nor/>
                      </m:rPr>
                      <a:rPr lang="fr-FR" sz="4800" b="1">
                        <a:latin typeface="Tahoma" panose="020B0604030504040204" pitchFamily="34" charset="0"/>
                        <a:ea typeface="Tahoma" panose="020B0604030504040204" pitchFamily="34" charset="0"/>
                        <a:cs typeface="Tahoma" panose="020B0604030504040204" pitchFamily="34" charset="0"/>
                      </a:rPr>
                      <m:t>à </m:t>
                    </m:r>
                    <m:r>
                      <m:rPr>
                        <m:nor/>
                      </m:rPr>
                      <a:rPr lang="fr-FR" sz="4800" b="1">
                        <a:latin typeface="Tahoma" panose="020B0604030504040204" pitchFamily="34" charset="0"/>
                        <a:ea typeface="Tahoma" panose="020B0604030504040204" pitchFamily="34" charset="0"/>
                        <a:cs typeface="Tahoma" panose="020B0604030504040204" pitchFamily="34" charset="0"/>
                      </a:rPr>
                      <m:t>t</m:t>
                    </m:r>
                    <m:r>
                      <m:rPr>
                        <m:nor/>
                      </m:rPr>
                      <a:rPr lang="fr-FR" sz="4800" b="1">
                        <a:latin typeface="Tahoma" panose="020B0604030504040204" pitchFamily="34" charset="0"/>
                        <a:ea typeface="Tahoma" panose="020B0604030504040204" pitchFamily="34" charset="0"/>
                        <a:cs typeface="Tahoma" panose="020B0604030504040204" pitchFamily="34" charset="0"/>
                      </a:rPr>
                      <m:t>â</m:t>
                    </m:r>
                    <m:r>
                      <m:rPr>
                        <m:nor/>
                      </m:rPr>
                      <a:rPr lang="fr-FR" sz="4800" b="1">
                        <a:latin typeface="Tahoma" panose="020B0604030504040204" pitchFamily="34" charset="0"/>
                        <a:ea typeface="Tahoma" panose="020B0604030504040204" pitchFamily="34" charset="0"/>
                        <a:cs typeface="Tahoma" panose="020B0604030504040204" pitchFamily="34" charset="0"/>
                      </a:rPr>
                      <m:t>m</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c</m:t>
                    </m:r>
                    <m:r>
                      <m:rPr>
                        <m:nor/>
                      </m:rPr>
                      <a:rPr lang="fr-FR" sz="4800" b="1">
                        <a:latin typeface="Tahoma" panose="020B0604030504040204" pitchFamily="34" charset="0"/>
                        <a:ea typeface="Tahoma" panose="020B0604030504040204" pitchFamily="34" charset="0"/>
                        <a:cs typeface="Tahoma" panose="020B0604030504040204" pitchFamily="34" charset="0"/>
                      </a:rPr>
                      <m:t>ủ</m:t>
                    </m:r>
                    <m:r>
                      <m:rPr>
                        <m:nor/>
                      </m:rPr>
                      <a:rPr lang="fr-FR" sz="4800" b="1">
                        <a:latin typeface="Tahoma" panose="020B0604030504040204" pitchFamily="34" charset="0"/>
                        <a:ea typeface="Tahoma" panose="020B0604030504040204" pitchFamily="34" charset="0"/>
                        <a:cs typeface="Tahoma" panose="020B0604030504040204" pitchFamily="34" charset="0"/>
                      </a:rPr>
                      <m:t>a</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h</m:t>
                    </m:r>
                    <m:r>
                      <m:rPr>
                        <m:nor/>
                      </m:rPr>
                      <a:rPr lang="fr-FR" sz="4800" b="1">
                        <a:latin typeface="Tahoma" panose="020B0604030504040204" pitchFamily="34" charset="0"/>
                        <a:ea typeface="Tahoma" panose="020B0604030504040204" pitchFamily="34" charset="0"/>
                        <a:cs typeface="Tahoma" panose="020B0604030504040204" pitchFamily="34" charset="0"/>
                      </a:rPr>
                      <m:t>ì</m:t>
                    </m:r>
                    <m:r>
                      <m:rPr>
                        <m:nor/>
                      </m:rPr>
                      <a:rPr lang="fr-FR" sz="4800" b="1">
                        <a:latin typeface="Tahoma" panose="020B0604030504040204" pitchFamily="34" charset="0"/>
                        <a:ea typeface="Tahoma" panose="020B0604030504040204" pitchFamily="34" charset="0"/>
                        <a:cs typeface="Tahoma" panose="020B0604030504040204" pitchFamily="34" charset="0"/>
                      </a:rPr>
                      <m:t>nh</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ch</m:t>
                    </m:r>
                    <m:r>
                      <m:rPr>
                        <m:nor/>
                      </m:rPr>
                      <a:rPr lang="fr-FR" sz="4800" b="1">
                        <a:latin typeface="Tahoma" panose="020B0604030504040204" pitchFamily="34" charset="0"/>
                        <a:ea typeface="Tahoma" panose="020B0604030504040204" pitchFamily="34" charset="0"/>
                        <a:cs typeface="Tahoma" panose="020B0604030504040204" pitchFamily="34" charset="0"/>
                      </a:rPr>
                      <m:t>ữ </m:t>
                    </m:r>
                    <m:r>
                      <m:rPr>
                        <m:nor/>
                      </m:rPr>
                      <a:rPr lang="fr-FR" sz="4800" b="1">
                        <a:latin typeface="Tahoma" panose="020B0604030504040204" pitchFamily="34" charset="0"/>
                        <a:ea typeface="Tahoma" panose="020B0604030504040204" pitchFamily="34" charset="0"/>
                        <a:cs typeface="Tahoma" panose="020B0604030504040204" pitchFamily="34" charset="0"/>
                      </a:rPr>
                      <m:t>nh</m:t>
                    </m:r>
                    <m:r>
                      <m:rPr>
                        <m:nor/>
                      </m:rPr>
                      <a:rPr lang="fr-FR" sz="4800" b="1">
                        <a:latin typeface="Tahoma" panose="020B0604030504040204" pitchFamily="34" charset="0"/>
                        <a:ea typeface="Tahoma" panose="020B0604030504040204" pitchFamily="34" charset="0"/>
                        <a:cs typeface="Tahoma" panose="020B0604030504040204" pitchFamily="34" charset="0"/>
                      </a:rPr>
                      <m:t>ậ</m:t>
                    </m:r>
                    <m:r>
                      <m:rPr>
                        <m:nor/>
                      </m:rPr>
                      <a:rPr lang="fr-FR" sz="4800" b="1">
                        <a:latin typeface="Tahoma" panose="020B0604030504040204" pitchFamily="34" charset="0"/>
                        <a:ea typeface="Tahoma" panose="020B0604030504040204" pitchFamily="34" charset="0"/>
                        <a:cs typeface="Tahoma" panose="020B0604030504040204" pitchFamily="34" charset="0"/>
                      </a:rPr>
                      <m:t>t</m:t>
                    </m:r>
                    <m:r>
                      <m:rPr>
                        <m:nor/>
                      </m:rPr>
                      <a:rPr lang="fr-FR"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m:t>
                    </m:r>
                    <m:r>
                      <a:rPr lang="en-US" sz="4800" b="1" i="1">
                        <a:latin typeface="Cambria Math" panose="02040503050406030204" pitchFamily="18" charset="0"/>
                      </a:rPr>
                      <m:t>𝑰</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l</m:t>
                    </m:r>
                    <m:r>
                      <m:rPr>
                        <m:nor/>
                      </m:rPr>
                      <a:rPr lang="fr-FR" sz="4800" b="1">
                        <a:latin typeface="Tahoma" panose="020B0604030504040204" pitchFamily="34" charset="0"/>
                        <a:ea typeface="Tahoma" panose="020B0604030504040204" pitchFamily="34" charset="0"/>
                        <a:cs typeface="Tahoma" panose="020B0604030504040204" pitchFamily="34" charset="0"/>
                      </a:rPr>
                      <m:t>à </m:t>
                    </m:r>
                    <m:r>
                      <m:rPr>
                        <m:nor/>
                      </m:rPr>
                      <a:rPr lang="fr-FR" sz="4800" b="1">
                        <a:latin typeface="Tahoma" panose="020B0604030504040204" pitchFamily="34" charset="0"/>
                        <a:ea typeface="Tahoma" panose="020B0604030504040204" pitchFamily="34" charset="0"/>
                        <a:cs typeface="Tahoma" panose="020B0604030504040204" pitchFamily="34" charset="0"/>
                      </a:rPr>
                      <m:t>trung</m:t>
                    </m:r>
                    <m:r>
                      <m:rPr>
                        <m:nor/>
                      </m:rPr>
                      <a:rPr lang="fr-FR" sz="4800" b="1">
                        <a:latin typeface="Tahoma" panose="020B0604030504040204" pitchFamily="34" charset="0"/>
                        <a:ea typeface="Tahoma" panose="020B0604030504040204" pitchFamily="34" charset="0"/>
                        <a:cs typeface="Tahoma" panose="020B0604030504040204" pitchFamily="34" charset="0"/>
                      </a:rPr>
                      <m:t> đ</m:t>
                    </m:r>
                    <m:r>
                      <m:rPr>
                        <m:nor/>
                      </m:rPr>
                      <a:rPr lang="fr-FR" sz="4800" b="1">
                        <a:latin typeface="Tahoma" panose="020B0604030504040204" pitchFamily="34" charset="0"/>
                        <a:ea typeface="Tahoma" panose="020B0604030504040204" pitchFamily="34" charset="0"/>
                        <a:cs typeface="Tahoma" panose="020B0604030504040204" pitchFamily="34" charset="0"/>
                      </a:rPr>
                      <m:t>i</m:t>
                    </m:r>
                    <m:r>
                      <m:rPr>
                        <m:nor/>
                      </m:rPr>
                      <a:rPr lang="fr-FR" sz="4800" b="1">
                        <a:latin typeface="Tahoma" panose="020B0604030504040204" pitchFamily="34" charset="0"/>
                        <a:ea typeface="Tahoma" panose="020B0604030504040204" pitchFamily="34" charset="0"/>
                        <a:cs typeface="Tahoma" panose="020B0604030504040204" pitchFamily="34" charset="0"/>
                      </a:rPr>
                      <m:t>ể</m:t>
                    </m:r>
                    <m:r>
                      <m:rPr>
                        <m:nor/>
                      </m:rPr>
                      <a:rPr lang="fr-FR" sz="4800" b="1">
                        <a:latin typeface="Tahoma" panose="020B0604030504040204" pitchFamily="34" charset="0"/>
                        <a:ea typeface="Tahoma" panose="020B0604030504040204" pitchFamily="34" charset="0"/>
                        <a:cs typeface="Tahoma" panose="020B0604030504040204" pitchFamily="34" charset="0"/>
                      </a:rPr>
                      <m:t>m</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m:rPr>
                        <m:nor/>
                      </m:rPr>
                      <a:rPr lang="fr-FR" sz="4800" b="1">
                        <a:latin typeface="Tahoma" panose="020B0604030504040204" pitchFamily="34" charset="0"/>
                        <a:ea typeface="Tahoma" panose="020B0604030504040204" pitchFamily="34" charset="0"/>
                        <a:cs typeface="Tahoma" panose="020B0604030504040204" pitchFamily="34" charset="0"/>
                      </a:rPr>
                      <m:t>c</m:t>
                    </m:r>
                    <m:r>
                      <m:rPr>
                        <m:nor/>
                      </m:rPr>
                      <a:rPr lang="fr-FR" sz="4800" b="1">
                        <a:latin typeface="Tahoma" panose="020B0604030504040204" pitchFamily="34" charset="0"/>
                        <a:ea typeface="Tahoma" panose="020B0604030504040204" pitchFamily="34" charset="0"/>
                        <a:cs typeface="Tahoma" panose="020B0604030504040204" pitchFamily="34" charset="0"/>
                      </a:rPr>
                      <m:t>ủ</m:t>
                    </m:r>
                    <m:r>
                      <m:rPr>
                        <m:nor/>
                      </m:rPr>
                      <a:rPr lang="fr-FR" sz="4800" b="1">
                        <a:latin typeface="Tahoma" panose="020B0604030504040204" pitchFamily="34" charset="0"/>
                        <a:ea typeface="Tahoma" panose="020B0604030504040204" pitchFamily="34" charset="0"/>
                        <a:cs typeface="Tahoma" panose="020B0604030504040204" pitchFamily="34" charset="0"/>
                      </a:rPr>
                      <m:t>a</m:t>
                    </m:r>
                    <m:r>
                      <m:rPr>
                        <m:nor/>
                      </m:rPr>
                      <a:rPr lang="fr-FR"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𝑴𝑵</m:t>
                    </m:r>
                    <m:r>
                      <m:rPr>
                        <m:nor/>
                      </m:rPr>
                      <a:rPr lang="fr-FR" sz="4800" b="1">
                        <a:latin typeface="Tahoma" panose="020B0604030504040204" pitchFamily="34" charset="0"/>
                        <a:ea typeface="Tahoma" panose="020B0604030504040204" pitchFamily="34" charset="0"/>
                        <a:cs typeface="Tahoma" panose="020B0604030504040204" pitchFamily="34" charset="0"/>
                      </a:rPr>
                      <m:t>.</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7" name="TextBox 36">
                <a:extLst>
                  <a:ext uri="{FF2B5EF4-FFF2-40B4-BE49-F238E27FC236}">
                    <a16:creationId xmlns:a16="http://schemas.microsoft.com/office/drawing/2014/main" id="{10944151-E1E2-4A21-AF5F-5DDFEBFB8529}"/>
                  </a:ext>
                </a:extLst>
              </p:cNvPr>
              <p:cNvSpPr txBox="1">
                <a:spLocks noRot="1" noChangeAspect="1" noMove="1" noResize="1" noEditPoints="1" noAdjustHandles="1" noChangeArrowheads="1" noChangeShapeType="1" noTextEdit="1"/>
              </p:cNvSpPr>
              <p:nvPr/>
            </p:nvSpPr>
            <p:spPr>
              <a:xfrm>
                <a:off x="580382" y="7725496"/>
                <a:ext cx="17942508" cy="88248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A94E972-9093-446D-8507-ED74DD0C9749}"/>
                  </a:ext>
                </a:extLst>
              </p:cNvPr>
              <p:cNvSpPr txBox="1"/>
              <p:nvPr/>
            </p:nvSpPr>
            <p:spPr>
              <a:xfrm>
                <a:off x="468982" y="8732121"/>
                <a:ext cx="12749814" cy="17400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fr-FR" sz="4800" b="1">
                          <a:latin typeface="Tahoma" panose="020B0604030504040204" pitchFamily="34" charset="0"/>
                          <a:ea typeface="Tahoma" panose="020B0604030504040204" pitchFamily="34" charset="0"/>
                          <a:cs typeface="Tahoma" panose="020B0604030504040204" pitchFamily="34" charset="0"/>
                        </a:rPr>
                        <m:t>Suy</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ra</m:t>
                      </m:r>
                      <m:r>
                        <m:rPr>
                          <m:nor/>
                        </m:rPr>
                        <a:rPr lang="fr-FR" sz="4800" b="1">
                          <a:latin typeface="Tahoma" panose="020B0604030504040204" pitchFamily="34" charset="0"/>
                          <a:ea typeface="Tahoma" panose="020B0604030504040204" pitchFamily="34" charset="0"/>
                          <a:cs typeface="Tahoma" panose="020B0604030504040204" pitchFamily="34" charset="0"/>
                        </a:rPr>
                        <m:t> </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𝑵</m:t>
                                  </m:r>
                                </m:sub>
                              </m:sSub>
                              <m:r>
                                <a:rPr lang="en-US" sz="4800" b="1" i="1">
                                  <a:latin typeface="Cambria Math" panose="02040503050406030204" pitchFamily="18" charset="0"/>
                                </a:rPr>
                                <m:t>=</m:t>
                              </m:r>
                              <m:r>
                                <a:rPr lang="en-US" sz="4800" b="1" i="1">
                                  <a:latin typeface="Cambria Math" panose="02040503050406030204" pitchFamily="18" charset="0"/>
                                </a:rPr>
                                <m:t>𝟐</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𝑰</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𝑴</m:t>
                                  </m:r>
                                </m:sub>
                              </m:sSub>
                              <m:r>
                                <a:rPr lang="en-US" sz="4800" b="1" i="1">
                                  <a:latin typeface="Cambria Math" panose="02040503050406030204" pitchFamily="18" charset="0"/>
                                </a:rPr>
                                <m:t>=−</m:t>
                              </m:r>
                              <m:r>
                                <a:rPr lang="en-US" sz="4800" b="1" i="1">
                                  <a:latin typeface="Cambria Math" panose="02040503050406030204" pitchFamily="18" charset="0"/>
                                </a:rPr>
                                <m:t>𝟑</m:t>
                              </m:r>
                            </m:e>
                            <m:e>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𝑵</m:t>
                                  </m:r>
                                </m:sub>
                              </m:sSub>
                              <m:r>
                                <a:rPr lang="en-US" sz="4800" b="1" i="1">
                                  <a:latin typeface="Cambria Math" panose="02040503050406030204" pitchFamily="18" charset="0"/>
                                </a:rPr>
                                <m:t>=</m:t>
                              </m:r>
                              <m:r>
                                <a:rPr lang="en-US" sz="4800" b="1" i="1">
                                  <a:latin typeface="Cambria Math" panose="02040503050406030204" pitchFamily="18" charset="0"/>
                                </a:rPr>
                                <m:t>𝟐</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𝑰</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𝑴</m:t>
                                  </m:r>
                                </m:sub>
                              </m:sSub>
                              <m:r>
                                <a:rPr lang="en-US" sz="4800" b="1" i="1">
                                  <a:latin typeface="Cambria Math" panose="02040503050406030204" pitchFamily="18" charset="0"/>
                                </a:rPr>
                                <m:t>=−</m:t>
                              </m:r>
                              <m:r>
                                <a:rPr lang="en-US" sz="4800" b="1" i="1">
                                  <a:latin typeface="Cambria Math" panose="02040503050406030204" pitchFamily="18" charset="0"/>
                                </a:rPr>
                                <m:t>𝟐</m:t>
                              </m:r>
                            </m:e>
                          </m:eqArr>
                        </m:e>
                      </m:d>
                      <m:r>
                        <a:rPr lang="en-US" sz="4800" b="1" i="1">
                          <a:latin typeface="Cambria Math" panose="02040503050406030204" pitchFamily="18" charset="0"/>
                        </a:rPr>
                        <m:t>⇒</m:t>
                      </m:r>
                      <m:r>
                        <a:rPr lang="en-US" sz="4800" b="1" i="1">
                          <a:latin typeface="Cambria Math" panose="02040503050406030204" pitchFamily="18" charset="0"/>
                        </a:rPr>
                        <m:t>𝑵</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𝟐</m:t>
                          </m:r>
                        </m:e>
                      </m:d>
                      <m:r>
                        <a:rPr lang="en-US" sz="4800" b="1" i="1">
                          <a:latin typeface="Cambria Math" panose="02040503050406030204" pitchFamily="18" charset="0"/>
                        </a:rPr>
                        <m:t>.</m:t>
                      </m:r>
                      <m:r>
                        <m:rPr>
                          <m:nor/>
                        </m:rPr>
                        <a:rPr lang="en-US" sz="4800" b="1">
                          <a:latin typeface="Tahoma" panose="020B0604030504040204" pitchFamily="34" charset="0"/>
                          <a:ea typeface="Tahoma" panose="020B0604030504040204" pitchFamily="34" charset="0"/>
                          <a:cs typeface="Tahoma" panose="020B0604030504040204" pitchFamily="34" charset="0"/>
                        </a:rPr>
                        <m:t> </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8" name="TextBox 37">
                <a:extLst>
                  <a:ext uri="{FF2B5EF4-FFF2-40B4-BE49-F238E27FC236}">
                    <a16:creationId xmlns:a16="http://schemas.microsoft.com/office/drawing/2014/main" id="{7A94E972-9093-446D-8507-ED74DD0C9749}"/>
                  </a:ext>
                </a:extLst>
              </p:cNvPr>
              <p:cNvSpPr txBox="1">
                <a:spLocks noRot="1" noChangeAspect="1" noMove="1" noResize="1" noEditPoints="1" noAdjustHandles="1" noChangeArrowheads="1" noChangeShapeType="1" noTextEdit="1"/>
              </p:cNvSpPr>
              <p:nvPr/>
            </p:nvSpPr>
            <p:spPr>
              <a:xfrm>
                <a:off x="468982" y="8732121"/>
                <a:ext cx="12749814" cy="1740028"/>
              </a:xfrm>
              <a:prstGeom prst="rect">
                <a:avLst/>
              </a:prstGeom>
              <a:blipFill>
                <a:blip r:embed="rId12"/>
                <a:stretch>
                  <a:fillRect/>
                </a:stretch>
              </a:blipFill>
            </p:spPr>
            <p:txBody>
              <a:bodyPr/>
              <a:lstStyle/>
              <a:p>
                <a:r>
                  <a:rPr lang="en-US">
                    <a:noFill/>
                  </a:rPr>
                  <a:t> </a:t>
                </a:r>
              </a:p>
            </p:txBody>
          </p:sp>
        </mc:Fallback>
      </mc:AlternateContent>
      <p:pic>
        <p:nvPicPr>
          <p:cNvPr id="32" name="Picture 31">
            <a:extLst>
              <a:ext uri="{FF2B5EF4-FFF2-40B4-BE49-F238E27FC236}">
                <a16:creationId xmlns:a16="http://schemas.microsoft.com/office/drawing/2014/main" id="{6A93CED0-21A9-457F-8CC6-F25A16C813AD}"/>
              </a:ext>
            </a:extLst>
          </p:cNvPr>
          <p:cNvPicPr>
            <a:picLocks noChangeAspect="1"/>
          </p:cNvPicPr>
          <p:nvPr/>
        </p:nvPicPr>
        <p:blipFill>
          <a:blip r:embed="rId13"/>
          <a:stretch>
            <a:fillRect/>
          </a:stretch>
        </p:blipFill>
        <p:spPr>
          <a:xfrm>
            <a:off x="15184662" y="8762518"/>
            <a:ext cx="8204212" cy="4187583"/>
          </a:xfrm>
          <a:prstGeom prst="rect">
            <a:avLst/>
          </a:prstGeom>
        </p:spPr>
      </p:pic>
      <p:sp>
        <p:nvSpPr>
          <p:cNvPr id="42" name="Rounded Rectangle 4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6" name="TextBox 4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126001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randombar(horizontal)">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left)">
                                      <p:cBhvr>
                                        <p:cTn id="21" dur="50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wipe(left)">
                                      <p:cBhvr>
                                        <p:cTn id="26" dur="500"/>
                                        <p:tgtEl>
                                          <p:spTgt spid="3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left)">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wipe(left)">
                                      <p:cBhvr>
                                        <p:cTn id="36" dur="500"/>
                                        <p:tgtEl>
                                          <p:spTgt spid="38"/>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7" grpId="0"/>
      <p:bldP spid="3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5632308"/>
            <a:ext cx="23941001" cy="7351653"/>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506518" y="4279262"/>
            <a:ext cx="23556178" cy="1234536"/>
            <a:chOff x="241306" y="2243792"/>
            <a:chExt cx="11778089"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smtClean="0">
                            <a:solidFill>
                              <a:schemeClr val="bg1"/>
                            </a:solidFill>
                            <a:latin typeface="Cambria Math" panose="02040503050406030204" pitchFamily="18" charset="0"/>
                          </a:rPr>
                          <m:t>   </m:t>
                        </m:r>
                        <m:acc>
                          <m:accPr>
                            <m:chr m:val="⃗"/>
                            <m:ctrlPr>
                              <a:rPr lang="en-US" sz="4800" b="1" i="1">
                                <a:solidFill>
                                  <a:schemeClr val="bg1"/>
                                </a:solidFill>
                                <a:latin typeface="Cambria Math" panose="02040503050406030204" pitchFamily="18" charset="0"/>
                              </a:rPr>
                            </m:ctrlPr>
                          </m:accPr>
                          <m:e>
                            <m:r>
                              <a:rPr lang="en-US" sz="4800" b="1" i="1">
                                <a:solidFill>
                                  <a:schemeClr val="bg1"/>
                                </a:solidFill>
                                <a:latin typeface="Cambria Math" panose="02040503050406030204" pitchFamily="18" charset="0"/>
                              </a:rPr>
                              <m:t>𝑴𝑵</m:t>
                            </m:r>
                          </m:e>
                        </m:acc>
                        <m:r>
                          <a:rPr lang="en-US" sz="4800" b="1" i="1">
                            <a:solidFill>
                              <a:schemeClr val="bg1"/>
                            </a:solidFill>
                            <a:latin typeface="Cambria Math" panose="02040503050406030204" pitchFamily="18" charset="0"/>
                          </a:rPr>
                          <m:t>=</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𝟒</m:t>
                            </m:r>
                          </m:e>
                        </m:d>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243792"/>
                  <a:ext cx="2468235" cy="617268"/>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bg1"/>
                      </a:solidFill>
                    </a:rPr>
                    <a:t> </a:t>
                  </a:r>
                  <a14:m>
                    <m:oMath xmlns:m="http://schemas.openxmlformats.org/officeDocument/2006/math">
                      <m:acc>
                        <m:accPr>
                          <m:chr m:val="⃗"/>
                          <m:ctrlPr>
                            <a:rPr lang="en-US" sz="4800" b="1" i="1">
                              <a:solidFill>
                                <a:schemeClr val="bg1"/>
                              </a:solidFill>
                              <a:latin typeface="Cambria Math" panose="02040503050406030204" pitchFamily="18" charset="0"/>
                            </a:rPr>
                          </m:ctrlPr>
                        </m:accPr>
                        <m:e>
                          <m:r>
                            <a:rPr lang="en-US" sz="4800" b="1" i="1">
                              <a:solidFill>
                                <a:schemeClr val="bg1"/>
                              </a:solidFill>
                              <a:latin typeface="Cambria Math" panose="02040503050406030204" pitchFamily="18" charset="0"/>
                            </a:rPr>
                            <m:t>𝑴𝑵</m:t>
                          </m:r>
                        </m:e>
                      </m:acc>
                      <m:r>
                        <a:rPr lang="en-US" sz="4800" b="1" i="1">
                          <a:solidFill>
                            <a:schemeClr val="bg1"/>
                          </a:solidFill>
                          <a:latin typeface="Cambria Math" panose="02040503050406030204" pitchFamily="18" charset="0"/>
                        </a:rPr>
                        <m:t>=</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𝟐</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𝟖</m:t>
                          </m:r>
                        </m:e>
                      </m:d>
                      <m:r>
                        <a:rPr lang="en-US" sz="4800" b="1" i="1">
                          <a:solidFill>
                            <a:schemeClr val="bg1"/>
                          </a:solidFill>
                          <a:latin typeface="Cambria Math" panose="02040503050406030204" pitchFamily="18" charset="0"/>
                        </a:rPr>
                        <m:t>.</m:t>
                      </m:r>
                    </m:oMath>
                  </a14:m>
                  <a:endParaRPr lang="en-US" sz="4800" b="1" dirty="0">
                    <a:solidFill>
                      <a:prstClr val="white"/>
                    </a:solidFill>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243792"/>
                  <a:ext cx="2468235" cy="617268"/>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smtClean="0">
                            <a:solidFill>
                              <a:schemeClr val="bg1"/>
                            </a:solidFill>
                            <a:latin typeface="Cambria Math" panose="02040503050406030204" pitchFamily="18" charset="0"/>
                          </a:rPr>
                          <m:t>   </m:t>
                        </m:r>
                        <m:acc>
                          <m:accPr>
                            <m:chr m:val="⃗"/>
                            <m:ctrlPr>
                              <a:rPr lang="en-US" sz="4800" b="1" i="1">
                                <a:solidFill>
                                  <a:schemeClr val="bg1"/>
                                </a:solidFill>
                                <a:latin typeface="Cambria Math" panose="02040503050406030204" pitchFamily="18" charset="0"/>
                              </a:rPr>
                            </m:ctrlPr>
                          </m:accPr>
                          <m:e>
                            <m:r>
                              <a:rPr lang="en-US" sz="4800" b="1" i="1">
                                <a:solidFill>
                                  <a:schemeClr val="bg1"/>
                                </a:solidFill>
                                <a:latin typeface="Cambria Math" panose="02040503050406030204" pitchFamily="18" charset="0"/>
                              </a:rPr>
                              <m:t>𝑴𝑵</m:t>
                            </m:r>
                          </m:e>
                        </m:acc>
                        <m:r>
                          <a:rPr lang="en-US" sz="4800" b="1" i="1">
                            <a:solidFill>
                              <a:schemeClr val="bg1"/>
                            </a:solidFill>
                            <a:latin typeface="Cambria Math" panose="02040503050406030204" pitchFamily="18" charset="0"/>
                          </a:rPr>
                          <m:t>=</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𝟏𝟎</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𝟔</m:t>
                            </m:r>
                          </m:e>
                        </m:d>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243792"/>
                  <a:ext cx="2468235" cy="617268"/>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b="1" i="1" smtClean="0">
                            <a:solidFill>
                              <a:schemeClr val="bg1"/>
                            </a:solidFill>
                            <a:latin typeface="Cambria Math" panose="02040503050406030204" pitchFamily="18" charset="0"/>
                          </a:rPr>
                          <m:t> </m:t>
                        </m:r>
                        <m:acc>
                          <m:accPr>
                            <m:chr m:val="⃗"/>
                            <m:ctrlPr>
                              <a:rPr lang="en-US" sz="4800" b="1" i="1">
                                <a:solidFill>
                                  <a:schemeClr val="bg1"/>
                                </a:solidFill>
                                <a:latin typeface="Cambria Math" panose="02040503050406030204" pitchFamily="18" charset="0"/>
                              </a:rPr>
                            </m:ctrlPr>
                          </m:accPr>
                          <m:e>
                            <m:r>
                              <a:rPr lang="en-US" sz="4800" b="1" i="1">
                                <a:solidFill>
                                  <a:schemeClr val="bg1"/>
                                </a:solidFill>
                                <a:latin typeface="Cambria Math" panose="02040503050406030204" pitchFamily="18" charset="0"/>
                              </a:rPr>
                              <m:t>𝑴𝑵</m:t>
                            </m:r>
                          </m:e>
                        </m:acc>
                        <m:r>
                          <a:rPr lang="en-US" sz="4800" b="1" i="1">
                            <a:solidFill>
                              <a:schemeClr val="bg1"/>
                            </a:solidFill>
                            <a:latin typeface="Cambria Math" panose="02040503050406030204" pitchFamily="18" charset="0"/>
                          </a:rPr>
                          <m:t>=</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𝟓</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𝟑</m:t>
                            </m:r>
                          </m:e>
                        </m:d>
                        <m:r>
                          <a:rPr lang="en-US" sz="4800" b="1" i="1">
                            <a:solidFill>
                              <a:schemeClr val="bg1"/>
                            </a:solidFill>
                            <a:latin typeface="Cambria Math" panose="02040503050406030204" pitchFamily="18" charset="0"/>
                          </a:rPr>
                          <m:t>.</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243792"/>
                  <a:ext cx="2468235" cy="617268"/>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6510748" y="4411840"/>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B</a:t>
            </a:r>
            <a:endParaRPr lang="en-US" sz="6400" b="1"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467665"/>
            <a:ext cx="23943880" cy="1746985"/>
            <a:chOff x="923003" y="3794414"/>
            <a:chExt cx="23943880" cy="2524604"/>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794414"/>
              <a:ext cx="23594672" cy="2524604"/>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8"/>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11.</a:t>
                  </a: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endParaRPr lang="en-US">
                <a:solidFill>
                  <a:prstClr val="white"/>
                </a:solidFill>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604767" y="5728995"/>
                <a:ext cx="6833880" cy="864276"/>
              </a:xfrm>
              <a:prstGeom prst="rect">
                <a:avLst/>
              </a:prstGeom>
              <a:noFill/>
            </p:spPr>
            <p:txBody>
              <a:bodyPr wrap="square">
                <a:spAutoFit/>
              </a:bodyPr>
              <a:lstStyle/>
              <a:p>
                <a:pPr>
                  <a:lnSpc>
                    <a:spcPct val="115000"/>
                  </a:lnSpc>
                  <a:spcBef>
                    <a:spcPts val="200"/>
                  </a:spcBef>
                  <a:spcAft>
                    <a:spcPts val="800"/>
                  </a:spcAft>
                </a:pPr>
                <a:r>
                  <a:rPr lang="fr-FR" sz="4800" b="1" dirty="0" err="1">
                    <a:latin typeface="Tahoma" panose="020B0604030504040204" pitchFamily="34" charset="0"/>
                    <a:ea typeface="Tahoma" panose="020B0604030504040204" pitchFamily="34" charset="0"/>
                    <a:cs typeface="Tahoma" panose="020B0604030504040204" pitchFamily="34" charset="0"/>
                  </a:rPr>
                  <a:t>Gọi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d>
                      <m:dPr>
                        <m:ctrlPr>
                          <a:rPr lang="en-US" sz="4800" b="1" i="1">
                            <a:latin typeface="Cambria Math" panose="02040503050406030204" pitchFamily="18" charset="0"/>
                          </a:rPr>
                        </m:ctrlPr>
                      </m:dPr>
                      <m:e>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𝑨</m:t>
                            </m:r>
                          </m:sub>
                        </m:sSub>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𝑨</m:t>
                            </m:r>
                          </m:sub>
                        </m:sSub>
                      </m:e>
                    </m:d>
                  </m:oMath>
                </a14:m>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604767" y="5728995"/>
                <a:ext cx="6833880" cy="864276"/>
              </a:xfrm>
              <a:prstGeom prst="rect">
                <a:avLst/>
              </a:prstGeom>
              <a:blipFill>
                <a:blip r:embed="rId8"/>
                <a:stretch>
                  <a:fillRect l="-4014" t="-12676" b="-359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4257644" y="2555350"/>
                <a:ext cx="19985016" cy="1659300"/>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Trong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hệ</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tam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𝟗</m:t>
                        </m:r>
                        <m:r>
                          <a:rPr lang="en-US" sz="4800" b="1" i="1">
                            <a:latin typeface="Cambria Math" panose="02040503050406030204" pitchFamily="18" charset="0"/>
                          </a:rPr>
                          <m:t>;</m:t>
                        </m:r>
                        <m:r>
                          <a:rPr lang="en-US" sz="4800" b="1" i="1">
                            <a:latin typeface="Cambria Math" panose="02040503050406030204" pitchFamily="18" charset="0"/>
                          </a:rPr>
                          <m:t>𝟕</m:t>
                        </m:r>
                      </m:e>
                    </m:d>
                    <m:r>
                      <a:rPr lang="en-US" sz="4800" b="1" i="1">
                        <a:latin typeface="Cambria Math" panose="02040503050406030204" pitchFamily="18" charset="0"/>
                      </a:rPr>
                      <m:t>,</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C</m:t>
                    </m:r>
                    <m:d>
                      <m:dPr>
                        <m:ctrlPr>
                          <a:rPr lang="en-US" sz="4800" b="1" i="1">
                            <a:latin typeface="Cambria Math" panose="02040503050406030204" pitchFamily="18" charset="0"/>
                          </a:rPr>
                        </m:ctrlPr>
                      </m:dPr>
                      <m:e>
                        <m:r>
                          <a:rPr lang="en-US" sz="4800" b="1" i="1">
                            <a:latin typeface="Cambria Math" panose="02040503050406030204" pitchFamily="18" charset="0"/>
                          </a:rPr>
                          <m:t>𝟏𝟏</m:t>
                        </m:r>
                        <m:r>
                          <a:rPr lang="en-US" sz="4800" b="1" i="1">
                            <a:latin typeface="Cambria Math" panose="02040503050406030204" pitchFamily="18" charset="0"/>
                          </a:rPr>
                          <m:t>;−</m:t>
                        </m:r>
                        <m:r>
                          <a:rPr lang="en-US" sz="4800" b="1" i="1">
                            <a:latin typeface="Cambria Math" panose="02040503050406030204" pitchFamily="18" charset="0"/>
                          </a:rPr>
                          <m:t>𝟏</m:t>
                        </m:r>
                      </m:e>
                    </m:d>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Gọi</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r>
                      <a:rPr lang="en-US" sz="4800" b="1" i="1">
                        <a:latin typeface="Cambria Math" panose="02040503050406030204" pitchFamily="18" charset="0"/>
                      </a:rPr>
                      <m:t>,</m:t>
                    </m:r>
                    <m:r>
                      <a:rPr lang="en-US" sz="4800" b="1" i="1">
                        <a:latin typeface="Cambria Math" panose="02040503050406030204" pitchFamily="18" charset="0"/>
                      </a:rPr>
                      <m:t>𝑵</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lần</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lượt</a:t>
                </a:r>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trung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𝑨</m:t>
                    </m:r>
                    <m:r>
                      <a:rPr lang="en-US" sz="4800" b="1" i="1">
                        <a:latin typeface="Cambria Math" panose="02040503050406030204" pitchFamily="18" charset="0"/>
                      </a:rPr>
                      <m:t>𝑩</m:t>
                    </m:r>
                    <m:r>
                      <a:rPr lang="en-US" sz="4800" b="1" i="1">
                        <a:latin typeface="Cambria Math" panose="02040503050406030204" pitchFamily="18" charset="0"/>
                      </a:rPr>
                      <m:t>,  </m:t>
                    </m:r>
                    <m:r>
                      <a:rPr lang="en-US" sz="4800" b="1" i="1">
                        <a:latin typeface="Cambria Math" panose="02040503050406030204" pitchFamily="18" charset="0"/>
                      </a:rPr>
                      <m:t>𝑨𝑪</m:t>
                    </m:r>
                  </m:oMath>
                </a14:m>
                <a:r>
                  <a:rPr lang="en-US" sz="4800" b="1" dirty="0">
                    <a:latin typeface="Tahoma" panose="020B0604030504040204" pitchFamily="34" charset="0"/>
                    <a:ea typeface="Tahoma" panose="020B0604030504040204" pitchFamily="34" charset="0"/>
                    <a:cs typeface="Tahoma" panose="020B0604030504040204" pitchFamily="34" charset="0"/>
                  </a:rPr>
                  <a: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Tìm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vectơ</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𝑴𝑵</m:t>
                        </m:r>
                      </m:e>
                    </m:acc>
                  </m:oMath>
                </a14:m>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4257644" y="2555350"/>
                <a:ext cx="19985016" cy="1659300"/>
              </a:xfrm>
              <a:prstGeom prst="rect">
                <a:avLst/>
              </a:prstGeom>
              <a:blipFill>
                <a:blip r:embed="rId9"/>
                <a:stretch>
                  <a:fillRect l="-1372" t="-8824" b="-18015"/>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algn="ctr"/>
            <a:r>
              <a:rPr lang="en-US" dirty="0">
                <a:solidFill>
                  <a:prstClr val="white"/>
                </a:solidFill>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506518" y="6876076"/>
                <a:ext cx="15435834" cy="1197764"/>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Do </a:t>
                </a:r>
                <a14:m>
                  <m:oMath xmlns:m="http://schemas.openxmlformats.org/officeDocument/2006/math">
                    <m:r>
                      <a:rPr lang="en-US" sz="4800" b="1" i="1">
                        <a:latin typeface="Cambria Math" panose="02040503050406030204" pitchFamily="18" charset="0"/>
                      </a:rPr>
                      <m:t>𝑴</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trung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cạnh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m:t>
                    </m:r>
                    <m:r>
                      <a:rPr lang="en-US" sz="4800" b="1" i="1">
                        <a:latin typeface="Cambria Math" panose="02040503050406030204" pitchFamily="18" charset="0"/>
                      </a:rPr>
                      <m:t>⇒</m:t>
                    </m:r>
                    <m:r>
                      <a:rPr lang="en-US" sz="4800" b="1" i="1">
                        <a:latin typeface="Cambria Math" panose="02040503050406030204" pitchFamily="18" charset="0"/>
                      </a:rPr>
                      <m:t>𝑴</m:t>
                    </m:r>
                    <m:d>
                      <m:dPr>
                        <m:ctrlPr>
                          <a:rPr lang="en-US" sz="4800" b="1" i="1">
                            <a:latin typeface="Cambria Math" panose="02040503050406030204" pitchFamily="18" charset="0"/>
                          </a:rPr>
                        </m:ctrlPr>
                      </m:dPr>
                      <m:e>
                        <m:f>
                          <m:fPr>
                            <m:ctrlPr>
                              <a:rPr lang="en-US" sz="4800" b="1" i="1">
                                <a:latin typeface="Cambria Math" panose="02040503050406030204" pitchFamily="18" charset="0"/>
                              </a:rPr>
                            </m:ctrlPr>
                          </m:fPr>
                          <m:num>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𝑨</m:t>
                                </m:r>
                              </m:sub>
                            </m:sSub>
                            <m:r>
                              <a:rPr lang="en-US" sz="4800" b="1" i="1">
                                <a:latin typeface="Cambria Math" panose="02040503050406030204" pitchFamily="18" charset="0"/>
                              </a:rPr>
                              <m:t>+</m:t>
                            </m:r>
                            <m:r>
                              <a:rPr lang="en-US" sz="4800" b="1" i="1">
                                <a:latin typeface="Cambria Math" panose="02040503050406030204" pitchFamily="18" charset="0"/>
                              </a:rPr>
                              <m:t>𝟗</m:t>
                            </m:r>
                          </m:num>
                          <m:den>
                            <m:r>
                              <a:rPr lang="en-US" sz="4800" b="1" i="1">
                                <a:latin typeface="Cambria Math" panose="02040503050406030204" pitchFamily="18" charset="0"/>
                              </a:rPr>
                              <m:t>𝟐</m:t>
                            </m:r>
                          </m:den>
                        </m:f>
                        <m:r>
                          <a:rPr lang="en-US" sz="4800" b="1" i="1">
                            <a:latin typeface="Cambria Math" panose="02040503050406030204" pitchFamily="18" charset="0"/>
                          </a:rPr>
                          <m:t>;</m:t>
                        </m:r>
                        <m:f>
                          <m:fPr>
                            <m:ctrlPr>
                              <a:rPr lang="en-US" sz="4800" b="1" i="1">
                                <a:latin typeface="Cambria Math" panose="02040503050406030204" pitchFamily="18" charset="0"/>
                              </a:rPr>
                            </m:ctrlPr>
                          </m:fPr>
                          <m:num>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𝑨</m:t>
                                </m:r>
                              </m:sub>
                            </m:sSub>
                            <m:r>
                              <a:rPr lang="en-US" sz="4800" b="1" i="1">
                                <a:latin typeface="Cambria Math" panose="02040503050406030204" pitchFamily="18" charset="0"/>
                              </a:rPr>
                              <m:t>+</m:t>
                            </m:r>
                            <m:r>
                              <a:rPr lang="en-US" sz="4800" b="1" i="1">
                                <a:latin typeface="Cambria Math" panose="02040503050406030204" pitchFamily="18" charset="0"/>
                              </a:rPr>
                              <m:t>𝟕</m:t>
                            </m:r>
                          </m:num>
                          <m:den>
                            <m:r>
                              <a:rPr lang="en-US" sz="4800" b="1" i="1">
                                <a:latin typeface="Cambria Math" panose="02040503050406030204" pitchFamily="18" charset="0"/>
                              </a:rPr>
                              <m:t>𝟐</m:t>
                            </m:r>
                          </m:den>
                        </m:f>
                      </m:e>
                    </m:d>
                    <m:r>
                      <a:rPr lang="en-US" sz="4800" b="1" i="1">
                        <a:latin typeface="Cambria Math" panose="02040503050406030204" pitchFamily="18" charset="0"/>
                      </a:rPr>
                      <m:t>.</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506518" y="6876076"/>
                <a:ext cx="15435834" cy="1197764"/>
              </a:xfrm>
              <a:prstGeom prst="rect">
                <a:avLst/>
              </a:prstGeom>
              <a:blipFill>
                <a:blip r:embed="rId10"/>
                <a:stretch>
                  <a:fillRect l="-1777" b="-96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0944151-E1E2-4A21-AF5F-5DDFEBFB8529}"/>
                  </a:ext>
                </a:extLst>
              </p:cNvPr>
              <p:cNvSpPr txBox="1"/>
              <p:nvPr/>
            </p:nvSpPr>
            <p:spPr>
              <a:xfrm>
                <a:off x="37381" y="7837039"/>
                <a:ext cx="17295621" cy="17520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fr-FR" sz="4800" b="1">
                          <a:latin typeface="Tahoma" panose="020B0604030504040204" pitchFamily="34" charset="0"/>
                          <a:ea typeface="Tahoma" panose="020B0604030504040204" pitchFamily="34" charset="0"/>
                          <a:cs typeface="Tahoma" panose="020B0604030504040204" pitchFamily="34" charset="0"/>
                        </a:rPr>
                        <m:t>Do</m:t>
                      </m:r>
                      <m:r>
                        <m:rPr>
                          <m:nor/>
                        </m:rPr>
                        <a:rPr lang="fr-FR"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𝑵</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l</m:t>
                      </m:r>
                      <m:r>
                        <m:rPr>
                          <m:nor/>
                        </m:rPr>
                        <a:rPr lang="fr-FR" sz="4800" b="1">
                          <a:latin typeface="Tahoma" panose="020B0604030504040204" pitchFamily="34" charset="0"/>
                          <a:ea typeface="Tahoma" panose="020B0604030504040204" pitchFamily="34" charset="0"/>
                          <a:cs typeface="Tahoma" panose="020B0604030504040204" pitchFamily="34" charset="0"/>
                        </a:rPr>
                        <m:t>à </m:t>
                      </m:r>
                      <m:r>
                        <m:rPr>
                          <m:nor/>
                        </m:rPr>
                        <a:rPr lang="fr-FR" sz="4800" b="1">
                          <a:latin typeface="Tahoma" panose="020B0604030504040204" pitchFamily="34" charset="0"/>
                          <a:ea typeface="Tahoma" panose="020B0604030504040204" pitchFamily="34" charset="0"/>
                          <a:cs typeface="Tahoma" panose="020B0604030504040204" pitchFamily="34" charset="0"/>
                        </a:rPr>
                        <m:t>trung</m:t>
                      </m:r>
                      <m:r>
                        <m:rPr>
                          <m:nor/>
                        </m:rPr>
                        <a:rPr lang="fr-FR" sz="4800" b="1">
                          <a:latin typeface="Tahoma" panose="020B0604030504040204" pitchFamily="34" charset="0"/>
                          <a:ea typeface="Tahoma" panose="020B0604030504040204" pitchFamily="34" charset="0"/>
                          <a:cs typeface="Tahoma" panose="020B0604030504040204" pitchFamily="34" charset="0"/>
                        </a:rPr>
                        <m:t> đ</m:t>
                      </m:r>
                      <m:r>
                        <m:rPr>
                          <m:nor/>
                        </m:rPr>
                        <a:rPr lang="fr-FR" sz="4800" b="1">
                          <a:latin typeface="Tahoma" panose="020B0604030504040204" pitchFamily="34" charset="0"/>
                          <a:ea typeface="Tahoma" panose="020B0604030504040204" pitchFamily="34" charset="0"/>
                          <a:cs typeface="Tahoma" panose="020B0604030504040204" pitchFamily="34" charset="0"/>
                        </a:rPr>
                        <m:t>i</m:t>
                      </m:r>
                      <m:r>
                        <m:rPr>
                          <m:nor/>
                        </m:rPr>
                        <a:rPr lang="fr-FR" sz="4800" b="1">
                          <a:latin typeface="Tahoma" panose="020B0604030504040204" pitchFamily="34" charset="0"/>
                          <a:ea typeface="Tahoma" panose="020B0604030504040204" pitchFamily="34" charset="0"/>
                          <a:cs typeface="Tahoma" panose="020B0604030504040204" pitchFamily="34" charset="0"/>
                        </a:rPr>
                        <m:t>ể</m:t>
                      </m:r>
                      <m:r>
                        <m:rPr>
                          <m:nor/>
                        </m:rPr>
                        <a:rPr lang="fr-FR" sz="4800" b="1">
                          <a:latin typeface="Tahoma" panose="020B0604030504040204" pitchFamily="34" charset="0"/>
                          <a:ea typeface="Tahoma" panose="020B0604030504040204" pitchFamily="34" charset="0"/>
                          <a:cs typeface="Tahoma" panose="020B0604030504040204" pitchFamily="34" charset="0"/>
                        </a:rPr>
                        <m:t>m</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c</m:t>
                      </m:r>
                      <m:r>
                        <m:rPr>
                          <m:nor/>
                        </m:rPr>
                        <a:rPr lang="fr-FR" sz="4800" b="1">
                          <a:latin typeface="Tahoma" panose="020B0604030504040204" pitchFamily="34" charset="0"/>
                          <a:ea typeface="Tahoma" panose="020B0604030504040204" pitchFamily="34" charset="0"/>
                          <a:cs typeface="Tahoma" panose="020B0604030504040204" pitchFamily="34" charset="0"/>
                        </a:rPr>
                        <m:t>ủ</m:t>
                      </m:r>
                      <m:r>
                        <m:rPr>
                          <m:nor/>
                        </m:rPr>
                        <a:rPr lang="fr-FR" sz="4800" b="1">
                          <a:latin typeface="Tahoma" panose="020B0604030504040204" pitchFamily="34" charset="0"/>
                          <a:ea typeface="Tahoma" panose="020B0604030504040204" pitchFamily="34" charset="0"/>
                          <a:cs typeface="Tahoma" panose="020B0604030504040204" pitchFamily="34" charset="0"/>
                        </a:rPr>
                        <m:t>a</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c</m:t>
                      </m:r>
                      <m:r>
                        <m:rPr>
                          <m:nor/>
                        </m:rPr>
                        <a:rPr lang="fr-FR" sz="4800" b="1">
                          <a:latin typeface="Tahoma" panose="020B0604030504040204" pitchFamily="34" charset="0"/>
                          <a:ea typeface="Tahoma" panose="020B0604030504040204" pitchFamily="34" charset="0"/>
                          <a:cs typeface="Tahoma" panose="020B0604030504040204" pitchFamily="34" charset="0"/>
                        </a:rPr>
                        <m:t>ạ</m:t>
                      </m:r>
                      <m:r>
                        <m:rPr>
                          <m:nor/>
                        </m:rPr>
                        <a:rPr lang="fr-FR" sz="4800" b="1">
                          <a:latin typeface="Tahoma" panose="020B0604030504040204" pitchFamily="34" charset="0"/>
                          <a:ea typeface="Tahoma" panose="020B0604030504040204" pitchFamily="34" charset="0"/>
                          <a:cs typeface="Tahoma" panose="020B0604030504040204" pitchFamily="34" charset="0"/>
                        </a:rPr>
                        <m:t>nh</m:t>
                      </m:r>
                      <m:r>
                        <m:rPr>
                          <m:nor/>
                        </m:rPr>
                        <a:rPr lang="fr-FR"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𝑨𝑪</m:t>
                      </m:r>
                      <m:r>
                        <a:rPr lang="en-US" sz="4800" b="1" i="1">
                          <a:latin typeface="Cambria Math" panose="02040503050406030204" pitchFamily="18" charset="0"/>
                        </a:rPr>
                        <m:t>⇒</m:t>
                      </m:r>
                      <m:r>
                        <a:rPr lang="en-US" sz="4800" b="1" i="1">
                          <a:latin typeface="Cambria Math" panose="02040503050406030204" pitchFamily="18" charset="0"/>
                        </a:rPr>
                        <m:t>𝑵</m:t>
                      </m:r>
                      <m:d>
                        <m:dPr>
                          <m:ctrlPr>
                            <a:rPr lang="en-US" sz="4800" b="1" i="1">
                              <a:latin typeface="Cambria Math" panose="02040503050406030204" pitchFamily="18" charset="0"/>
                            </a:rPr>
                          </m:ctrlPr>
                        </m:dPr>
                        <m:e>
                          <m:f>
                            <m:fPr>
                              <m:ctrlPr>
                                <a:rPr lang="en-US" sz="4800" b="1" i="1">
                                  <a:latin typeface="Cambria Math" panose="02040503050406030204" pitchFamily="18" charset="0"/>
                                </a:rPr>
                              </m:ctrlPr>
                            </m:fPr>
                            <m:num>
                              <m:sSub>
                                <m:sSubPr>
                                  <m:ctrlPr>
                                    <a:rPr lang="en-US" sz="4800" b="1" i="1">
                                      <a:latin typeface="Cambria Math" panose="02040503050406030204" pitchFamily="18" charset="0"/>
                                    </a:rPr>
                                  </m:ctrlPr>
                                </m:sSubPr>
                                <m:e>
                                  <m:r>
                                    <a:rPr lang="en-US" sz="4800" b="1" i="1">
                                      <a:latin typeface="Cambria Math" panose="02040503050406030204" pitchFamily="18" charset="0"/>
                                    </a:rPr>
                                    <m:t>𝒙</m:t>
                                  </m:r>
                                </m:e>
                                <m:sub>
                                  <m:r>
                                    <a:rPr lang="en-US" sz="4800" b="1" i="1">
                                      <a:latin typeface="Cambria Math" panose="02040503050406030204" pitchFamily="18" charset="0"/>
                                    </a:rPr>
                                    <m:t>𝑨</m:t>
                                  </m:r>
                                </m:sub>
                              </m:sSub>
                              <m:r>
                                <a:rPr lang="en-US" sz="4800" b="1" i="1">
                                  <a:latin typeface="Cambria Math" panose="02040503050406030204" pitchFamily="18" charset="0"/>
                                </a:rPr>
                                <m:t>+</m:t>
                              </m:r>
                              <m:r>
                                <a:rPr lang="en-US" sz="4800" b="1" i="1">
                                  <a:latin typeface="Cambria Math" panose="02040503050406030204" pitchFamily="18" charset="0"/>
                                </a:rPr>
                                <m:t>𝟏𝟏</m:t>
                              </m:r>
                            </m:num>
                            <m:den>
                              <m:r>
                                <a:rPr lang="en-US" sz="4800" b="1" i="1">
                                  <a:latin typeface="Cambria Math" panose="02040503050406030204" pitchFamily="18" charset="0"/>
                                </a:rPr>
                                <m:t>𝟐</m:t>
                              </m:r>
                            </m:den>
                          </m:f>
                          <m:r>
                            <a:rPr lang="en-US" sz="4800" b="1" i="1">
                              <a:latin typeface="Cambria Math" panose="02040503050406030204" pitchFamily="18" charset="0"/>
                            </a:rPr>
                            <m:t>;</m:t>
                          </m:r>
                          <m:f>
                            <m:fPr>
                              <m:ctrlPr>
                                <a:rPr lang="en-US" sz="4800" b="1" i="1">
                                  <a:latin typeface="Cambria Math" panose="02040503050406030204" pitchFamily="18" charset="0"/>
                                </a:rPr>
                              </m:ctrlPr>
                            </m:fPr>
                            <m:num>
                              <m:sSub>
                                <m:sSubPr>
                                  <m:ctrlPr>
                                    <a:rPr lang="en-US" sz="4800" b="1" i="1">
                                      <a:latin typeface="Cambria Math" panose="02040503050406030204" pitchFamily="18" charset="0"/>
                                    </a:rPr>
                                  </m:ctrlPr>
                                </m:sSubPr>
                                <m:e>
                                  <m:r>
                                    <a:rPr lang="en-US" sz="4800" b="1" i="1">
                                      <a:latin typeface="Cambria Math" panose="02040503050406030204" pitchFamily="18" charset="0"/>
                                    </a:rPr>
                                    <m:t>𝒚</m:t>
                                  </m:r>
                                </m:e>
                                <m:sub>
                                  <m:r>
                                    <a:rPr lang="en-US" sz="4800" b="1" i="1">
                                      <a:latin typeface="Cambria Math" panose="02040503050406030204" pitchFamily="18" charset="0"/>
                                    </a:rPr>
                                    <m:t>𝑨</m:t>
                                  </m:r>
                                </m:sub>
                              </m:sSub>
                              <m:r>
                                <a:rPr lang="en-US" sz="4800" b="1" i="1">
                                  <a:latin typeface="Cambria Math" panose="02040503050406030204" pitchFamily="18" charset="0"/>
                                </a:rPr>
                                <m:t>−</m:t>
                              </m:r>
                              <m:r>
                                <a:rPr lang="en-US" sz="4800" b="1" i="1">
                                  <a:latin typeface="Cambria Math" panose="02040503050406030204" pitchFamily="18" charset="0"/>
                                </a:rPr>
                                <m:t>𝟏</m:t>
                              </m:r>
                            </m:num>
                            <m:den>
                              <m:r>
                                <a:rPr lang="en-US" sz="4800" b="1" i="1">
                                  <a:latin typeface="Cambria Math" panose="02040503050406030204" pitchFamily="18" charset="0"/>
                                </a:rPr>
                                <m:t>𝟐</m:t>
                              </m:r>
                            </m:den>
                          </m:f>
                        </m:e>
                      </m:d>
                      <m:r>
                        <a:rPr lang="en-US" sz="4800" b="1" i="1">
                          <a:latin typeface="Cambria Math" panose="02040503050406030204" pitchFamily="18"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7" name="TextBox 36">
                <a:extLst>
                  <a:ext uri="{FF2B5EF4-FFF2-40B4-BE49-F238E27FC236}">
                    <a16:creationId xmlns:a16="http://schemas.microsoft.com/office/drawing/2014/main" id="{10944151-E1E2-4A21-AF5F-5DDFEBFB8529}"/>
                  </a:ext>
                </a:extLst>
              </p:cNvPr>
              <p:cNvSpPr txBox="1">
                <a:spLocks noRot="1" noChangeAspect="1" noMove="1" noResize="1" noEditPoints="1" noAdjustHandles="1" noChangeArrowheads="1" noChangeShapeType="1" noTextEdit="1"/>
              </p:cNvSpPr>
              <p:nvPr/>
            </p:nvSpPr>
            <p:spPr>
              <a:xfrm>
                <a:off x="37381" y="7837039"/>
                <a:ext cx="17295621" cy="175201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56C8A10-1E4B-4374-B184-D6911EBD27C5}"/>
                  </a:ext>
                </a:extLst>
              </p:cNvPr>
              <p:cNvSpPr txBox="1"/>
              <p:nvPr/>
            </p:nvSpPr>
            <p:spPr>
              <a:xfrm>
                <a:off x="1232878" y="10596194"/>
                <a:ext cx="9810329" cy="9206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4800" b="1" i="0" smtClean="0">
                          <a:latin typeface="Tahoma" panose="020B0604030504040204" pitchFamily="34" charset="0"/>
                          <a:ea typeface="Tahoma" panose="020B0604030504040204" pitchFamily="34" charset="0"/>
                          <a:cs typeface="Tahoma" panose="020B0604030504040204" pitchFamily="34" charset="0"/>
                        </a:rPr>
                        <m:t>V</m:t>
                      </m:r>
                      <m:r>
                        <m:rPr>
                          <m:nor/>
                        </m:rPr>
                        <a:rPr lang="en-US" sz="4800" b="1" i="0" smtClean="0">
                          <a:latin typeface="Tahoma" panose="020B0604030504040204" pitchFamily="34" charset="0"/>
                          <a:ea typeface="Tahoma" panose="020B0604030504040204" pitchFamily="34" charset="0"/>
                          <a:cs typeface="Tahoma" panose="020B0604030504040204" pitchFamily="34" charset="0"/>
                        </a:rPr>
                        <m:t>ậ</m:t>
                      </m:r>
                      <m:r>
                        <m:rPr>
                          <m:nor/>
                        </m:rPr>
                        <a:rPr lang="en-US" sz="4800" b="1" i="0" smtClean="0">
                          <a:latin typeface="Tahoma" panose="020B0604030504040204" pitchFamily="34" charset="0"/>
                          <a:ea typeface="Tahoma" panose="020B0604030504040204" pitchFamily="34" charset="0"/>
                          <a:cs typeface="Tahoma" panose="020B0604030504040204" pitchFamily="34" charset="0"/>
                        </a:rPr>
                        <m:t>y</m:t>
                      </m:r>
                      <m:r>
                        <m:rPr>
                          <m:nor/>
                        </m:rPr>
                        <a:rPr lang="en-US" sz="4800" b="1" i="0" smtClean="0">
                          <a:latin typeface="Tahoma" panose="020B0604030504040204" pitchFamily="34" charset="0"/>
                          <a:ea typeface="Tahoma" panose="020B0604030504040204" pitchFamily="34" charset="0"/>
                          <a:cs typeface="Tahoma" panose="020B0604030504040204" pitchFamily="34" charset="0"/>
                        </a:rPr>
                        <m:t> </m:t>
                      </m:r>
                      <m:r>
                        <m:rPr>
                          <m:nor/>
                        </m:rPr>
                        <a:rPr lang="en-US" sz="4800" b="1" i="0" smtClean="0">
                          <a:latin typeface="Tahoma" panose="020B0604030504040204" pitchFamily="34" charset="0"/>
                          <a:ea typeface="Tahoma" panose="020B0604030504040204" pitchFamily="34" charset="0"/>
                          <a:cs typeface="Tahoma" panose="020B0604030504040204" pitchFamily="34" charset="0"/>
                        </a:rPr>
                        <m:t>t</m:t>
                      </m:r>
                      <m:r>
                        <m:rPr>
                          <m:nor/>
                        </m:rPr>
                        <a:rPr lang="fr-FR" sz="4800" b="1">
                          <a:latin typeface="Tahoma" panose="020B0604030504040204" pitchFamily="34" charset="0"/>
                          <a:ea typeface="Tahoma" panose="020B0604030504040204" pitchFamily="34" charset="0"/>
                          <a:cs typeface="Tahoma" panose="020B0604030504040204" pitchFamily="34" charset="0"/>
                        </a:rPr>
                        <m:t>ọ</m:t>
                      </m:r>
                      <m:r>
                        <m:rPr>
                          <m:nor/>
                        </m:rPr>
                        <a:rPr lang="fr-FR" sz="4800" b="1">
                          <a:latin typeface="Tahoma" panose="020B0604030504040204" pitchFamily="34" charset="0"/>
                          <a:ea typeface="Tahoma" panose="020B0604030504040204" pitchFamily="34" charset="0"/>
                          <a:cs typeface="Tahoma" panose="020B0604030504040204" pitchFamily="34" charset="0"/>
                        </a:rPr>
                        <m:t>a</m:t>
                      </m:r>
                      <m:r>
                        <m:rPr>
                          <m:nor/>
                        </m:rPr>
                        <a:rPr lang="fr-FR" sz="4800" b="1">
                          <a:latin typeface="Tahoma" panose="020B0604030504040204" pitchFamily="34" charset="0"/>
                          <a:ea typeface="Tahoma" panose="020B0604030504040204" pitchFamily="34" charset="0"/>
                          <a:cs typeface="Tahoma" panose="020B0604030504040204" pitchFamily="34" charset="0"/>
                        </a:rPr>
                        <m:t> độ </m:t>
                      </m:r>
                      <m:r>
                        <m:rPr>
                          <m:nor/>
                        </m:rPr>
                        <a:rPr lang="fr-FR" sz="4800" b="1">
                          <a:latin typeface="Tahoma" panose="020B0604030504040204" pitchFamily="34" charset="0"/>
                          <a:ea typeface="Tahoma" panose="020B0604030504040204" pitchFamily="34" charset="0"/>
                          <a:cs typeface="Tahoma" panose="020B0604030504040204" pitchFamily="34" charset="0"/>
                        </a:rPr>
                        <m:t>vect</m:t>
                      </m:r>
                      <m:r>
                        <m:rPr>
                          <m:nor/>
                        </m:rPr>
                        <a:rPr lang="fr-FR" sz="4800" b="1">
                          <a:latin typeface="Tahoma" panose="020B0604030504040204" pitchFamily="34" charset="0"/>
                          <a:ea typeface="Tahoma" panose="020B0604030504040204" pitchFamily="34" charset="0"/>
                          <a:cs typeface="Tahoma" panose="020B0604030504040204" pitchFamily="34" charset="0"/>
                        </a:rPr>
                        <m:t>ơ </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𝑴𝑵</m:t>
                          </m:r>
                          <m:r>
                            <a:rPr lang="en-US" sz="4800" b="1" i="1">
                              <a:latin typeface="Cambria Math" panose="02040503050406030204" pitchFamily="18" charset="0"/>
                            </a:rPr>
                            <m:t> </m:t>
                          </m:r>
                        </m:e>
                      </m:acc>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3" name="TextBox 42">
                <a:extLst>
                  <a:ext uri="{FF2B5EF4-FFF2-40B4-BE49-F238E27FC236}">
                    <a16:creationId xmlns:a16="http://schemas.microsoft.com/office/drawing/2014/main" id="{656C8A10-1E4B-4374-B184-D6911EBD27C5}"/>
                  </a:ext>
                </a:extLst>
              </p:cNvPr>
              <p:cNvSpPr txBox="1">
                <a:spLocks noRot="1" noChangeAspect="1" noMove="1" noResize="1" noEditPoints="1" noAdjustHandles="1" noChangeArrowheads="1" noChangeShapeType="1" noTextEdit="1"/>
              </p:cNvSpPr>
              <p:nvPr/>
            </p:nvSpPr>
            <p:spPr>
              <a:xfrm>
                <a:off x="1232878" y="10596194"/>
                <a:ext cx="9810329" cy="920637"/>
              </a:xfrm>
              <a:prstGeom prst="rect">
                <a:avLst/>
              </a:prstGeom>
              <a:blipFill>
                <a:blip r:embed="rId12"/>
                <a:stretch>
                  <a:fillRect/>
                </a:stretch>
              </a:blipFill>
            </p:spPr>
            <p:txBody>
              <a:bodyPr/>
              <a:lstStyle/>
              <a:p>
                <a:r>
                  <a:rPr lang="en-US">
                    <a:noFill/>
                  </a:rPr>
                  <a:t> </a:t>
                </a:r>
              </a:p>
            </p:txBody>
          </p:sp>
        </mc:Fallback>
      </mc:AlternateContent>
      <p:pic>
        <p:nvPicPr>
          <p:cNvPr id="32" name="Picture 31">
            <a:extLst>
              <a:ext uri="{FF2B5EF4-FFF2-40B4-BE49-F238E27FC236}">
                <a16:creationId xmlns:a16="http://schemas.microsoft.com/office/drawing/2014/main" id="{CCDAB09C-7B09-4BEF-9206-33C34F0E2AA6}"/>
              </a:ext>
            </a:extLst>
          </p:cNvPr>
          <p:cNvPicPr>
            <a:picLocks noChangeAspect="1"/>
          </p:cNvPicPr>
          <p:nvPr/>
        </p:nvPicPr>
        <p:blipFill>
          <a:blip r:embed="rId13"/>
          <a:stretch>
            <a:fillRect/>
          </a:stretch>
        </p:blipFill>
        <p:spPr>
          <a:xfrm>
            <a:off x="16992600" y="8073841"/>
            <a:ext cx="6546271" cy="4463034"/>
          </a:xfrm>
          <a:prstGeom prst="rect">
            <a:avLst/>
          </a:prstGeom>
        </p:spPr>
      </p:pic>
      <p:sp>
        <p:nvSpPr>
          <p:cNvPr id="45" name="Rounded Rectangle 4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9" name="TextBox 4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856385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anim calcmode="lin" valueType="num">
                                      <p:cBhvr>
                                        <p:cTn id="21" dur="1000" fill="hold"/>
                                        <p:tgtEl>
                                          <p:spTgt spid="32"/>
                                        </p:tgtEl>
                                        <p:attrNameLst>
                                          <p:attrName>ppt_w</p:attrName>
                                        </p:attrNameLst>
                                      </p:cBhvr>
                                      <p:tavLst>
                                        <p:tav tm="0">
                                          <p:val>
                                            <p:fltVal val="0"/>
                                          </p:val>
                                        </p:tav>
                                        <p:tav tm="100000">
                                          <p:val>
                                            <p:strVal val="#ppt_w"/>
                                          </p:val>
                                        </p:tav>
                                      </p:tavLst>
                                    </p:anim>
                                    <p:anim calcmode="lin" valueType="num">
                                      <p:cBhvr>
                                        <p:cTn id="22" dur="1000" fill="hold"/>
                                        <p:tgtEl>
                                          <p:spTgt spid="32"/>
                                        </p:tgtEl>
                                        <p:attrNameLst>
                                          <p:attrName>ppt_h</p:attrName>
                                        </p:attrNameLst>
                                      </p:cBhvr>
                                      <p:tavLst>
                                        <p:tav tm="0">
                                          <p:val>
                                            <p:fltVal val="0"/>
                                          </p:val>
                                        </p:tav>
                                        <p:tav tm="100000">
                                          <p:val>
                                            <p:strVal val="#ppt_h"/>
                                          </p:val>
                                        </p:tav>
                                      </p:tavLst>
                                    </p:anim>
                                    <p:anim calcmode="lin" valueType="num">
                                      <p:cBhvr>
                                        <p:cTn id="23" dur="1000" fill="hold"/>
                                        <p:tgtEl>
                                          <p:spTgt spid="32"/>
                                        </p:tgtEl>
                                        <p:attrNameLst>
                                          <p:attrName>style.rotation</p:attrName>
                                        </p:attrNameLst>
                                      </p:cBhvr>
                                      <p:tavLst>
                                        <p:tav tm="0">
                                          <p:val>
                                            <p:fltVal val="90"/>
                                          </p:val>
                                        </p:tav>
                                        <p:tav tm="100000">
                                          <p:val>
                                            <p:fltVal val="0"/>
                                          </p:val>
                                        </p:tav>
                                      </p:tavLst>
                                    </p:anim>
                                    <p:animEffect transition="in" filter="fade">
                                      <p:cBhvr>
                                        <p:cTn id="24" dur="10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ipe(left)">
                                      <p:cBhvr>
                                        <p:cTn id="29" dur="5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wipe(left)">
                                      <p:cBhvr>
                                        <p:cTn id="34" dur="500"/>
                                        <p:tgtEl>
                                          <p:spTgt spid="3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wipe(left)">
                                      <p:cBhvr>
                                        <p:cTn id="39" dur="500"/>
                                        <p:tgtEl>
                                          <p:spTgt spid="43"/>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7" grpId="0"/>
      <p:bldP spid="4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Bài giải</a:t>
                </a:r>
                <a:endPar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620483" y="5105400"/>
            <a:ext cx="23556178" cy="1234536"/>
            <a:chOff x="241306" y="2243792"/>
            <a:chExt cx="11778089"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𝑨</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𝟑</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m:t>
                            </m:r>
                          </m:e>
                        </m:d>
                        <m:r>
                          <a:rPr lang="en-US" sz="4800" b="1" i="1">
                            <a:solidFill>
                              <a:schemeClr val="bg1"/>
                            </a:solidFill>
                            <a:latin typeface="Cambria Math" panose="02040503050406030204" pitchFamily="18" charset="0"/>
                          </a:rPr>
                          <m:t>.</m:t>
                        </m:r>
                      </m:oMath>
                    </m:oMathPara>
                  </a14:m>
                  <a:endPar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243792"/>
                  <a:ext cx="2468235" cy="617268"/>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B</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𝑨</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𝟓</m:t>
                            </m:r>
                          </m:e>
                        </m:d>
                        <m:r>
                          <a:rPr lang="en-US" sz="4800" b="1" i="1">
                            <a:solidFill>
                              <a:schemeClr val="bg1"/>
                            </a:solidFill>
                            <a:latin typeface="Cambria Math" panose="02040503050406030204" pitchFamily="18" charset="0"/>
                          </a:rPr>
                          <m:t>.</m:t>
                        </m:r>
                      </m:oMath>
                    </m:oMathPara>
                  </a14:m>
                  <a:endPar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243792"/>
                  <a:ext cx="2468235" cy="617268"/>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A</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𝑨</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𝟐</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𝟕</m:t>
                            </m:r>
                          </m:e>
                        </m:d>
                        <m:r>
                          <a:rPr lang="en-US" sz="4800" b="1" i="1">
                            <a:solidFill>
                              <a:schemeClr val="bg1"/>
                            </a:solidFill>
                            <a:latin typeface="Cambria Math" panose="02040503050406030204" pitchFamily="18" charset="0"/>
                          </a:rPr>
                          <m:t>.</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243792"/>
                  <a:ext cx="2468235" cy="617268"/>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C</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𝑨</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𝟏𝟎</m:t>
                            </m:r>
                          </m:e>
                        </m:d>
                        <m:r>
                          <a:rPr lang="en-US" sz="4800" b="1" i="1">
                            <a:solidFill>
                              <a:schemeClr val="bg1"/>
                            </a:solidFill>
                            <a:latin typeface="Cambria Math" panose="02040503050406030204" pitchFamily="18" charset="0"/>
                          </a:rPr>
                          <m:t>.</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243792"/>
                  <a:ext cx="2468235" cy="617268"/>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D</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6631556" y="5223455"/>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B</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467665"/>
            <a:ext cx="23943880" cy="2524605"/>
            <a:chOff x="923003" y="3794414"/>
            <a:chExt cx="23943880" cy="2524604"/>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794414"/>
              <a:ext cx="23594672" cy="2524604"/>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8"/>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CÂU</a:t>
                  </a:r>
                  <a:r>
                    <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 12.</a:t>
                  </a: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145F82"/>
                  </a:solidFill>
                  <a:effectLst/>
                  <a:uLnTx/>
                  <a:uFillTx/>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672320" y="6693777"/>
                <a:ext cx="6833880" cy="864276"/>
              </a:xfrm>
              <a:prstGeom prst="rect">
                <a:avLst/>
              </a:prstGeom>
              <a:noFill/>
            </p:spPr>
            <p:txBody>
              <a:bodyPr wrap="square">
                <a:spAutoFit/>
              </a:bodyPr>
              <a:lstStyle/>
              <a:p>
                <a:pPr marL="0" marR="0" lvl="0" indent="0" algn="l" defTabSz="2177278" rtl="0" eaLnBrk="1" fontAlgn="auto" latinLnBrk="0" hangingPunct="1">
                  <a:lnSpc>
                    <a:spcPct val="115000"/>
                  </a:lnSpc>
                  <a:spcBef>
                    <a:spcPts val="200"/>
                  </a:spcBef>
                  <a:spcAft>
                    <a:spcPts val="800"/>
                  </a:spcAft>
                  <a:buClrTx/>
                  <a:buSzTx/>
                  <a:buFontTx/>
                  <a:buNone/>
                  <a:tabLst/>
                  <a:defRPr/>
                </a:pPr>
                <a:r>
                  <a:rPr kumimoji="0" lang="fr-FR"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Gọi </a:t>
                </a:r>
                <a:r>
                  <a:rPr kumimoji="0" lang="fr-FR" sz="4800" b="1" i="0" u="none" strike="noStrike" kern="1200" cap="none" spc="0" normalizeH="0" baseline="0" noProof="0" dirty="0" err="1">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tọa</a:t>
                </a:r>
                <a:r>
                  <a:rPr kumimoji="0" lang="fr-FR"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fr-FR" sz="4800" b="1" i="0" u="none" strike="noStrike" kern="1200" cap="none" spc="0" normalizeH="0" baseline="0" noProof="0" dirty="0" err="1">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độ</a:t>
                </a:r>
                <a:r>
                  <a:rPr kumimoji="0" lang="fr-FR"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𝑨</m:t>
                    </m:r>
                    <m:d>
                      <m:dPr>
                        <m:ctrlPr>
                          <a:rPr kumimoji="0" lang="en-US" sz="4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e>
                    </m:d>
                  </m:oMath>
                </a14:m>
                <a:r>
                  <a:rPr kumimoji="0" lang="fr-FR"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672320" y="6693777"/>
                <a:ext cx="6833880" cy="864276"/>
              </a:xfrm>
              <a:prstGeom prst="rect">
                <a:avLst/>
              </a:prstGeom>
              <a:blipFill>
                <a:blip r:embed="rId8"/>
                <a:stretch>
                  <a:fillRect l="-4011" t="-12676" b="-359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4190038" y="2536622"/>
                <a:ext cx="19985016" cy="2308324"/>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Trong </a:t>
                </a:r>
                <a:r>
                  <a:rPr lang="fr-FR" sz="4800" b="1" dirty="0" err="1">
                    <a:latin typeface="Tahoma" panose="020B0604030504040204" pitchFamily="34" charset="0"/>
                    <a:ea typeface="Tahoma" panose="020B0604030504040204" pitchFamily="34" charset="0"/>
                    <a:cs typeface="Tahoma" panose="020B0604030504040204" pitchFamily="34" charset="0"/>
                  </a:rPr>
                  <a:t>hệ</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tam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có</a:t>
                </a:r>
                <a14:m>
                  <m:oMath xmlns:m="http://schemas.openxmlformats.org/officeDocument/2006/math">
                    <m:r>
                      <a:rPr lang="en-US" sz="4800" b="1" i="0" smtClean="0">
                        <a:latin typeface="Cambria Math" panose="02040503050406030204" pitchFamily="18" charset="0"/>
                      </a:rPr>
                      <m:t> </m:t>
                    </m:r>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i="1">
                        <a:ea typeface="Tahoma" panose="020B0604030504040204" pitchFamily="34" charset="0"/>
                        <a:cs typeface="Tahoma" panose="020B0604030504040204" pitchFamily="34" charset="0"/>
                      </a:rPr>
                      <m:t>N</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𝟒</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i="1">
                        <a:ea typeface="Tahoma" panose="020B0604030504040204" pitchFamily="34" charset="0"/>
                        <a:cs typeface="Tahoma" panose="020B0604030504040204" pitchFamily="34" charset="0"/>
                      </a:rPr>
                      <m:t>P</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𝟔</m:t>
                        </m:r>
                      </m:e>
                    </m:d>
                  </m:oMath>
                </a14:m>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lần </a:t>
                </a:r>
                <a:r>
                  <a:rPr lang="fr-FR" sz="4800" b="1" dirty="0" err="1">
                    <a:latin typeface="Tahoma" panose="020B0604030504040204" pitchFamily="34" charset="0"/>
                    <a:ea typeface="Tahoma" panose="020B0604030504040204" pitchFamily="34" charset="0"/>
                    <a:cs typeface="Tahoma" panose="020B0604030504040204" pitchFamily="34" charset="0"/>
                  </a:rPr>
                  <a:t>lượt</a:t>
                </a:r>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trung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các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cạnh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𝑩𝑪</m:t>
                    </m:r>
                    <m:r>
                      <a:rPr lang="fr-FR" sz="4800" b="1" i="1">
                        <a:latin typeface="Cambria Math" panose="02040503050406030204" pitchFamily="18" charset="0"/>
                      </a:rPr>
                      <m:t>, </m:t>
                    </m:r>
                    <m:r>
                      <a:rPr lang="fr-FR" sz="4800" b="1" i="1">
                        <a:latin typeface="Cambria Math" panose="02040503050406030204" pitchFamily="18" charset="0"/>
                      </a:rPr>
                      <m:t>𝑪𝑨</m:t>
                    </m:r>
                    <m:r>
                      <a:rPr lang="en-US" sz="4800" b="1" i="1">
                        <a:latin typeface="Cambria Math" panose="02040503050406030204" pitchFamily="18" charset="0"/>
                      </a:rPr>
                      <m:t>,  </m:t>
                    </m:r>
                    <m:r>
                      <a:rPr lang="en-US" sz="4800" b="1" i="1">
                        <a:latin typeface="Cambria Math" panose="02040503050406030204" pitchFamily="18" charset="0"/>
                      </a:rPr>
                      <m:t>𝑨𝑩</m:t>
                    </m:r>
                  </m:oMath>
                </a14:m>
                <a:r>
                  <a:rPr lang="en-US" sz="4800" b="1" dirty="0">
                    <a:latin typeface="Tahoma" panose="020B0604030504040204" pitchFamily="34" charset="0"/>
                    <a:ea typeface="Tahoma" panose="020B0604030504040204" pitchFamily="34" charset="0"/>
                    <a:cs typeface="Tahoma" panose="020B0604030504040204" pitchFamily="34" charset="0"/>
                  </a:rPr>
                  <a: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Tìm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đỉnh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oMath>
                </a14:m>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4190038" y="2536622"/>
                <a:ext cx="19985016" cy="2308324"/>
              </a:xfrm>
              <a:prstGeom prst="rect">
                <a:avLst/>
              </a:prstGeom>
              <a:blipFill>
                <a:blip r:embed="rId9"/>
                <a:stretch>
                  <a:fillRect l="-1372" t="-6332" b="-12665"/>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3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1483437" y="7945230"/>
                <a:ext cx="10708563" cy="922753"/>
              </a:xfrm>
              <a:prstGeom prst="rect">
                <a:avLst/>
              </a:prstGeom>
              <a:noFill/>
            </p:spPr>
            <p:txBody>
              <a:bodyPr wrap="square">
                <a:spAutoFit/>
              </a:bodyPr>
              <a:lstStyle/>
              <a:p>
                <a:pPr lvl="0"/>
                <a:r>
                  <a:rPr lang="fr-FR" sz="4800" b="1" dirty="0" err="1">
                    <a:latin typeface="Tahoma" panose="020B0604030504040204" pitchFamily="34" charset="0"/>
                    <a:ea typeface="Tahoma" panose="020B0604030504040204" pitchFamily="34" charset="0"/>
                    <a:cs typeface="Tahoma" panose="020B0604030504040204" pitchFamily="34" charset="0"/>
                  </a:rPr>
                  <a:t>Từ</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giả</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thiết</a:t>
                </a:r>
                <a:r>
                  <a:rPr lang="fr-FR" sz="4800" b="1" dirty="0">
                    <a:latin typeface="Tahoma" panose="020B0604030504040204" pitchFamily="34" charset="0"/>
                    <a:ea typeface="Tahoma" panose="020B0604030504040204" pitchFamily="34" charset="0"/>
                    <a:cs typeface="Tahoma" panose="020B0604030504040204" pitchFamily="34" charset="0"/>
                  </a:rPr>
                  <a:t>, ta </a:t>
                </a:r>
                <a:r>
                  <a:rPr lang="fr-FR" sz="4800" b="1" dirty="0" err="1">
                    <a:latin typeface="Tahoma" panose="020B0604030504040204" pitchFamily="34" charset="0"/>
                    <a:ea typeface="Tahoma" panose="020B0604030504040204" pitchFamily="34" charset="0"/>
                    <a:cs typeface="Tahoma" panose="020B0604030504040204" pitchFamily="34" charset="0"/>
                  </a:rPr>
                  <a:t>suy</a:t>
                </a:r>
                <a:r>
                  <a:rPr lang="fr-FR" sz="4800" b="1" dirty="0">
                    <a:latin typeface="Tahoma" panose="020B0604030504040204" pitchFamily="34" charset="0"/>
                    <a:ea typeface="Tahoma" panose="020B0604030504040204" pitchFamily="34" charset="0"/>
                    <a:cs typeface="Tahoma" panose="020B0604030504040204" pitchFamily="34" charset="0"/>
                  </a:rPr>
                  <a:t> ra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𝑷𝑨</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𝑴𝑵</m:t>
                        </m:r>
                      </m:e>
                    </m:acc>
                    <m:r>
                      <a:rPr lang="en-US" sz="4800" b="1" i="1">
                        <a:latin typeface="Cambria Math" panose="02040503050406030204" pitchFamily="18" charset="0"/>
                      </a:rPr>
                      <m:t>.</m:t>
                    </m:r>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sz="4800" b="1" i="1">
                            <a:latin typeface="Cambria Math" panose="02040503050406030204" pitchFamily="18" charset="0"/>
                          </a:rPr>
                        </m:ctrlPr>
                      </m:dPr>
                      <m:e>
                        <m:r>
                          <a:rPr lang="en-US" sz="4800" b="1" i="1">
                            <a:latin typeface="Cambria Math" panose="02040503050406030204" pitchFamily="18" charset="0"/>
                          </a:rPr>
                          <m:t>∗</m:t>
                        </m:r>
                      </m:e>
                    </m:d>
                  </m:oMath>
                </a14:m>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1483437" y="7945230"/>
                <a:ext cx="10708563" cy="922753"/>
              </a:xfrm>
              <a:prstGeom prst="rect">
                <a:avLst/>
              </a:prstGeom>
              <a:blipFill>
                <a:blip r:embed="rId10"/>
                <a:stretch>
                  <a:fillRect l="-2561" t="-5921" b="-32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0944151-E1E2-4A21-AF5F-5DDFEBFB8529}"/>
                  </a:ext>
                </a:extLst>
              </p:cNvPr>
              <p:cNvSpPr txBox="1"/>
              <p:nvPr/>
            </p:nvSpPr>
            <p:spPr>
              <a:xfrm>
                <a:off x="1391071" y="8997752"/>
                <a:ext cx="12952221" cy="9227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fr-FR" sz="4800" b="1">
                          <a:latin typeface="Tahoma" panose="020B0604030504040204" pitchFamily="34" charset="0"/>
                          <a:ea typeface="Tahoma" panose="020B0604030504040204" pitchFamily="34" charset="0"/>
                          <a:cs typeface="Tahoma" panose="020B0604030504040204" pitchFamily="34" charset="0"/>
                        </a:rPr>
                        <m:t>Ta</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c</m:t>
                      </m:r>
                      <m:r>
                        <m:rPr>
                          <m:nor/>
                        </m:rPr>
                        <a:rPr lang="fr-FR" sz="4800" b="1">
                          <a:latin typeface="Tahoma" panose="020B0604030504040204" pitchFamily="34" charset="0"/>
                          <a:ea typeface="Tahoma" panose="020B0604030504040204" pitchFamily="34" charset="0"/>
                          <a:cs typeface="Tahoma" panose="020B0604030504040204" pitchFamily="34" charset="0"/>
                        </a:rPr>
                        <m:t>ó </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𝑷𝑨</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𝟔</m:t>
                          </m:r>
                        </m:e>
                      </m:d>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v</m:t>
                      </m:r>
                      <m:r>
                        <m:rPr>
                          <m:nor/>
                        </m:rPr>
                        <a:rPr lang="fr-FR" sz="4800" b="1">
                          <a:latin typeface="Tahoma" panose="020B0604030504040204" pitchFamily="34" charset="0"/>
                          <a:ea typeface="Tahoma" panose="020B0604030504040204" pitchFamily="34" charset="0"/>
                          <a:cs typeface="Tahoma" panose="020B0604030504040204" pitchFamily="34" charset="0"/>
                        </a:rPr>
                        <m:t>à </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𝑴𝑵</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𝟕</m:t>
                          </m:r>
                        </m:e>
                      </m:d>
                      <m:r>
                        <a:rPr lang="en-US" sz="4800" b="1" i="1">
                          <a:latin typeface="Cambria Math" panose="02040503050406030204" pitchFamily="18"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7" name="TextBox 36">
                <a:extLst>
                  <a:ext uri="{FF2B5EF4-FFF2-40B4-BE49-F238E27FC236}">
                    <a16:creationId xmlns:a16="http://schemas.microsoft.com/office/drawing/2014/main" id="{10944151-E1E2-4A21-AF5F-5DDFEBFB8529}"/>
                  </a:ext>
                </a:extLst>
              </p:cNvPr>
              <p:cNvSpPr txBox="1">
                <a:spLocks noRot="1" noChangeAspect="1" noMove="1" noResize="1" noEditPoints="1" noAdjustHandles="1" noChangeArrowheads="1" noChangeShapeType="1" noTextEdit="1"/>
              </p:cNvSpPr>
              <p:nvPr/>
            </p:nvSpPr>
            <p:spPr>
              <a:xfrm>
                <a:off x="1391071" y="8997752"/>
                <a:ext cx="12952221" cy="92275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56C8A10-1E4B-4374-B184-D6911EBD27C5}"/>
                  </a:ext>
                </a:extLst>
              </p:cNvPr>
              <p:cNvSpPr txBox="1"/>
              <p:nvPr/>
            </p:nvSpPr>
            <p:spPr>
              <a:xfrm>
                <a:off x="909045" y="10438804"/>
                <a:ext cx="15751475" cy="17400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fr-FR" sz="4800" b="1">
                          <a:latin typeface="Tahoma" panose="020B0604030504040204" pitchFamily="34" charset="0"/>
                          <a:ea typeface="Tahoma" panose="020B0604030504040204" pitchFamily="34" charset="0"/>
                          <a:cs typeface="Tahoma" panose="020B0604030504040204" pitchFamily="34" charset="0"/>
                        </a:rPr>
                        <m:t>Khi</m:t>
                      </m:r>
                      <m:r>
                        <m:rPr>
                          <m:nor/>
                        </m:rPr>
                        <a:rPr lang="fr-FR" sz="4800" b="1">
                          <a:latin typeface="Tahoma" panose="020B0604030504040204" pitchFamily="34" charset="0"/>
                          <a:ea typeface="Tahoma" panose="020B0604030504040204" pitchFamily="34" charset="0"/>
                          <a:cs typeface="Tahoma" panose="020B0604030504040204" pitchFamily="34" charset="0"/>
                        </a:rPr>
                        <m:t> đó </m:t>
                      </m:r>
                      <m:d>
                        <m:dPr>
                          <m:ctrlPr>
                            <a:rPr lang="en-US" sz="4800" b="1" i="1">
                              <a:latin typeface="Cambria Math" panose="02040503050406030204" pitchFamily="18" charset="0"/>
                            </a:rPr>
                          </m:ctrlPr>
                        </m:dPr>
                        <m:e>
                          <m:r>
                            <a:rPr lang="en-US" sz="4800" b="1" i="1">
                              <a:latin typeface="Cambria Math" panose="02040503050406030204" pitchFamily="18" charset="0"/>
                            </a:rPr>
                            <m:t>∗</m:t>
                          </m:r>
                        </m:e>
                      </m:d>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𝟐</m:t>
                              </m:r>
                            </m:e>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𝟔</m:t>
                              </m:r>
                              <m:r>
                                <a:rPr lang="en-US" sz="4800" b="1" i="1">
                                  <a:latin typeface="Cambria Math" panose="02040503050406030204" pitchFamily="18" charset="0"/>
                                </a:rPr>
                                <m:t>=−</m:t>
                              </m:r>
                              <m:r>
                                <a:rPr lang="en-US" sz="4800" b="1" i="1">
                                  <a:latin typeface="Cambria Math" panose="02040503050406030204" pitchFamily="18" charset="0"/>
                                </a:rPr>
                                <m:t>𝟕</m:t>
                              </m:r>
                            </m:e>
                          </m:eqArr>
                        </m:e>
                      </m:d>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𝟑</m:t>
                              </m:r>
                            </m:e>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𝟏</m:t>
                              </m:r>
                            </m:e>
                          </m:eqArr>
                        </m:e>
                      </m:d>
                      <m:r>
                        <a:rPr lang="en-US" sz="4800" b="1" i="1">
                          <a:latin typeface="Cambria Math" panose="02040503050406030204" pitchFamily="18" charset="0"/>
                        </a:rPr>
                        <m:t>⇒</m:t>
                      </m:r>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𝟏</m:t>
                          </m:r>
                        </m:e>
                      </m:d>
                      <m:r>
                        <a:rPr lang="en-US" sz="4800" b="1" i="1">
                          <a:latin typeface="Cambria Math" panose="02040503050406030204" pitchFamily="18"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3" name="TextBox 42">
                <a:extLst>
                  <a:ext uri="{FF2B5EF4-FFF2-40B4-BE49-F238E27FC236}">
                    <a16:creationId xmlns:a16="http://schemas.microsoft.com/office/drawing/2014/main" id="{656C8A10-1E4B-4374-B184-D6911EBD27C5}"/>
                  </a:ext>
                </a:extLst>
              </p:cNvPr>
              <p:cNvSpPr txBox="1">
                <a:spLocks noRot="1" noChangeAspect="1" noMove="1" noResize="1" noEditPoints="1" noAdjustHandles="1" noChangeArrowheads="1" noChangeShapeType="1" noTextEdit="1"/>
              </p:cNvSpPr>
              <p:nvPr/>
            </p:nvSpPr>
            <p:spPr>
              <a:xfrm>
                <a:off x="909045" y="10438804"/>
                <a:ext cx="15751475" cy="1740028"/>
              </a:xfrm>
              <a:prstGeom prst="rect">
                <a:avLst/>
              </a:prstGeom>
              <a:blipFill>
                <a:blip r:embed="rId12"/>
                <a:stretch>
                  <a:fillRect/>
                </a:stretch>
              </a:blipFill>
            </p:spPr>
            <p:txBody>
              <a:bodyPr/>
              <a:lstStyle/>
              <a:p>
                <a:r>
                  <a:rPr lang="en-US">
                    <a:noFill/>
                  </a:rPr>
                  <a:t> </a:t>
                </a:r>
              </a:p>
            </p:txBody>
          </p:sp>
        </mc:Fallback>
      </mc:AlternateContent>
      <p:grpSp>
        <p:nvGrpSpPr>
          <p:cNvPr id="38" name="Canvas 123">
            <a:extLst>
              <a:ext uri="{FF2B5EF4-FFF2-40B4-BE49-F238E27FC236}">
                <a16:creationId xmlns:a16="http://schemas.microsoft.com/office/drawing/2014/main" id="{312C3762-1DC4-495A-BAEE-081134F6AA29}"/>
              </a:ext>
            </a:extLst>
          </p:cNvPr>
          <p:cNvGrpSpPr/>
          <p:nvPr/>
        </p:nvGrpSpPr>
        <p:grpSpPr>
          <a:xfrm>
            <a:off x="15925800" y="7239000"/>
            <a:ext cx="7729963" cy="4904944"/>
            <a:chOff x="0" y="0"/>
            <a:chExt cx="1788795" cy="1025525"/>
          </a:xfrm>
        </p:grpSpPr>
        <p:sp>
          <p:nvSpPr>
            <p:cNvPr id="39" name="Rectangle 38">
              <a:extLst>
                <a:ext uri="{FF2B5EF4-FFF2-40B4-BE49-F238E27FC236}">
                  <a16:creationId xmlns:a16="http://schemas.microsoft.com/office/drawing/2014/main" id="{12D2C0AE-D0AF-4212-9FD4-E0983309E886}"/>
                </a:ext>
              </a:extLst>
            </p:cNvPr>
            <p:cNvSpPr/>
            <p:nvPr/>
          </p:nvSpPr>
          <p:spPr>
            <a:xfrm>
              <a:off x="0" y="0"/>
              <a:ext cx="1788795" cy="1025525"/>
            </a:xfrm>
            <a:prstGeom prst="rect">
              <a:avLst/>
            </a:prstGeom>
            <a:noFill/>
            <a:ln>
              <a:noFill/>
            </a:ln>
          </p:spPr>
        </p:sp>
        <p:cxnSp>
          <p:nvCxnSpPr>
            <p:cNvPr id="40" name="Line 34">
              <a:extLst>
                <a:ext uri="{FF2B5EF4-FFF2-40B4-BE49-F238E27FC236}">
                  <a16:creationId xmlns:a16="http://schemas.microsoft.com/office/drawing/2014/main" id="{70995CB5-4E59-4A0F-ABA3-F5977B4B68DE}"/>
                </a:ext>
              </a:extLst>
            </p:cNvPr>
            <p:cNvCxnSpPr>
              <a:cxnSpLocks noChangeShapeType="1"/>
            </p:cNvCxnSpPr>
            <p:nvPr/>
          </p:nvCxnSpPr>
          <p:spPr bwMode="auto">
            <a:xfrm>
              <a:off x="144780" y="723900"/>
              <a:ext cx="1485900" cy="63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cxnSp>
          <p:nvCxnSpPr>
            <p:cNvPr id="41" name="Line 35">
              <a:extLst>
                <a:ext uri="{FF2B5EF4-FFF2-40B4-BE49-F238E27FC236}">
                  <a16:creationId xmlns:a16="http://schemas.microsoft.com/office/drawing/2014/main" id="{D2680CBB-5FFC-4E02-8E6A-0121285C6DEC}"/>
                </a:ext>
              </a:extLst>
            </p:cNvPr>
            <p:cNvCxnSpPr>
              <a:cxnSpLocks noChangeShapeType="1"/>
            </p:cNvCxnSpPr>
            <p:nvPr/>
          </p:nvCxnSpPr>
          <p:spPr bwMode="auto">
            <a:xfrm flipV="1">
              <a:off x="144780" y="179705"/>
              <a:ext cx="427355" cy="54419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cxnSp>
          <p:nvCxnSpPr>
            <p:cNvPr id="42" name="Line 36">
              <a:extLst>
                <a:ext uri="{FF2B5EF4-FFF2-40B4-BE49-F238E27FC236}">
                  <a16:creationId xmlns:a16="http://schemas.microsoft.com/office/drawing/2014/main" id="{E77F7BAC-516D-4B76-A198-DECE17EE746F}"/>
                </a:ext>
              </a:extLst>
            </p:cNvPr>
            <p:cNvCxnSpPr>
              <a:cxnSpLocks noChangeShapeType="1"/>
            </p:cNvCxnSpPr>
            <p:nvPr/>
          </p:nvCxnSpPr>
          <p:spPr bwMode="auto">
            <a:xfrm>
              <a:off x="572135" y="179705"/>
              <a:ext cx="1058545" cy="54419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cxnSp>
          <p:nvCxnSpPr>
            <p:cNvPr id="44" name="Line 37">
              <a:extLst>
                <a:ext uri="{FF2B5EF4-FFF2-40B4-BE49-F238E27FC236}">
                  <a16:creationId xmlns:a16="http://schemas.microsoft.com/office/drawing/2014/main" id="{95477095-F37C-4E8D-9557-8F06BD5FD296}"/>
                </a:ext>
              </a:extLst>
            </p:cNvPr>
            <p:cNvCxnSpPr>
              <a:cxnSpLocks noChangeShapeType="1"/>
            </p:cNvCxnSpPr>
            <p:nvPr/>
          </p:nvCxnSpPr>
          <p:spPr bwMode="auto">
            <a:xfrm>
              <a:off x="358140" y="451485"/>
              <a:ext cx="529590" cy="27241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sp>
          <p:nvSpPr>
            <p:cNvPr id="45" name="Rectangle 44">
              <a:extLst>
                <a:ext uri="{FF2B5EF4-FFF2-40B4-BE49-F238E27FC236}">
                  <a16:creationId xmlns:a16="http://schemas.microsoft.com/office/drawing/2014/main" id="{B0EC7BB9-33A3-4C3C-87AA-9A2A0A91EE05}"/>
                </a:ext>
              </a:extLst>
            </p:cNvPr>
            <p:cNvSpPr>
              <a:spLocks noChangeArrowheads="1"/>
            </p:cNvSpPr>
            <p:nvPr/>
          </p:nvSpPr>
          <p:spPr bwMode="auto">
            <a:xfrm>
              <a:off x="1153160" y="301625"/>
              <a:ext cx="56579" cy="8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upright="1">
              <a:spAutoFit/>
            </a:bodyPr>
            <a:lstStyle/>
            <a:p>
              <a:pPr>
                <a:lnSpc>
                  <a:spcPct val="107000"/>
                </a:lnSpc>
                <a:spcAft>
                  <a:spcPts val="800"/>
                </a:spcAft>
              </a:pPr>
              <a:r>
                <a:rPr lang="en-US" sz="2400" b="1" i="1" dirty="0">
                  <a:solidFill>
                    <a:srgbClr val="000000"/>
                  </a:solidFill>
                  <a:effectLst/>
                  <a:latin typeface=".VnCentury Schoolbook" panose="020B7200000000000000" pitchFamily="34" charset="0"/>
                  <a:ea typeface="Calibri" panose="020F0502020204030204" pitchFamily="34" charset="0"/>
                  <a:cs typeface=".VnCentury Schoolbook" panose="020B7200000000000000" pitchFamily="34" charset="0"/>
                </a:rPr>
                <a:t>P</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6" name="Rectangle 45">
              <a:extLst>
                <a:ext uri="{FF2B5EF4-FFF2-40B4-BE49-F238E27FC236}">
                  <a16:creationId xmlns:a16="http://schemas.microsoft.com/office/drawing/2014/main" id="{B3D9C4D8-788B-4FB4-9BEB-020ACA896BFB}"/>
                </a:ext>
              </a:extLst>
            </p:cNvPr>
            <p:cNvSpPr>
              <a:spLocks noChangeArrowheads="1"/>
            </p:cNvSpPr>
            <p:nvPr/>
          </p:nvSpPr>
          <p:spPr bwMode="auto">
            <a:xfrm>
              <a:off x="238760" y="313055"/>
              <a:ext cx="62158" cy="8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upright="1">
              <a:spAutoFit/>
            </a:bodyPr>
            <a:lstStyle/>
            <a:p>
              <a:pPr>
                <a:lnSpc>
                  <a:spcPct val="107000"/>
                </a:lnSpc>
                <a:spcAft>
                  <a:spcPts val="800"/>
                </a:spcAft>
              </a:pPr>
              <a:r>
                <a:rPr lang="en-US" sz="2400" i="1" dirty="0">
                  <a:solidFill>
                    <a:srgbClr val="000000"/>
                  </a:solidFill>
                  <a:effectLst/>
                  <a:latin typeface=".VnCentury Schoolbook" panose="020B7200000000000000" pitchFamily="34" charset="0"/>
                  <a:ea typeface="Calibri" panose="020F0502020204030204" pitchFamily="34" charset="0"/>
                  <a:cs typeface=".VnCentury Schoolbook" panose="020B7200000000000000" pitchFamily="34" charset="0"/>
                </a:rPr>
                <a:t>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7" name="Rectangle 46">
              <a:extLst>
                <a:ext uri="{FF2B5EF4-FFF2-40B4-BE49-F238E27FC236}">
                  <a16:creationId xmlns:a16="http://schemas.microsoft.com/office/drawing/2014/main" id="{A23658D4-31B8-4BAD-9827-844C41051146}"/>
                </a:ext>
              </a:extLst>
            </p:cNvPr>
            <p:cNvSpPr>
              <a:spLocks noChangeArrowheads="1"/>
            </p:cNvSpPr>
            <p:nvPr/>
          </p:nvSpPr>
          <p:spPr bwMode="auto">
            <a:xfrm>
              <a:off x="855345" y="751205"/>
              <a:ext cx="72119" cy="8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upright="1">
              <a:spAutoFit/>
            </a:bodyPr>
            <a:lstStyle/>
            <a:p>
              <a:pPr>
                <a:lnSpc>
                  <a:spcPct val="107000"/>
                </a:lnSpc>
                <a:spcAft>
                  <a:spcPts val="800"/>
                </a:spcAft>
              </a:pPr>
              <a:r>
                <a:rPr lang="en-US" sz="2400" i="1" dirty="0">
                  <a:solidFill>
                    <a:srgbClr val="000000"/>
                  </a:solidFill>
                  <a:effectLst/>
                  <a:latin typeface=".VnCentury Schoolbook" panose="020B7200000000000000" pitchFamily="34" charset="0"/>
                  <a:ea typeface="Calibri" panose="020F0502020204030204" pitchFamily="34" charset="0"/>
                  <a:cs typeface=".VnCentury Schoolbook" panose="020B7200000000000000" pitchFamily="34" charset="0"/>
                </a:rPr>
                <a:t>M</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8" name="Rectangle 47">
              <a:extLst>
                <a:ext uri="{FF2B5EF4-FFF2-40B4-BE49-F238E27FC236}">
                  <a16:creationId xmlns:a16="http://schemas.microsoft.com/office/drawing/2014/main" id="{128DDB33-D795-4277-8A0A-50A18EC8E535}"/>
                </a:ext>
              </a:extLst>
            </p:cNvPr>
            <p:cNvSpPr>
              <a:spLocks noChangeArrowheads="1"/>
            </p:cNvSpPr>
            <p:nvPr/>
          </p:nvSpPr>
          <p:spPr bwMode="auto">
            <a:xfrm>
              <a:off x="92710" y="756920"/>
              <a:ext cx="55384" cy="8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upright="1">
              <a:spAutoFit/>
            </a:bodyPr>
            <a:lstStyle/>
            <a:p>
              <a:pPr>
                <a:lnSpc>
                  <a:spcPct val="107000"/>
                </a:lnSpc>
                <a:spcAft>
                  <a:spcPts val="800"/>
                </a:spcAft>
              </a:pPr>
              <a:r>
                <a:rPr lang="en-US" sz="2400" i="1" dirty="0">
                  <a:solidFill>
                    <a:srgbClr val="000000"/>
                  </a:solidFill>
                  <a:effectLst/>
                  <a:latin typeface=".VnCentury Schoolbook" panose="020B7200000000000000" pitchFamily="34" charset="0"/>
                  <a:ea typeface="Calibri" panose="020F0502020204030204" pitchFamily="34" charset="0"/>
                  <a:cs typeface=".VnCentury Schoolbook" panose="020B7200000000000000" pitchFamily="34" charset="0"/>
                </a:rPr>
                <a:t>C</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9" name="Rectangle 48">
              <a:extLst>
                <a:ext uri="{FF2B5EF4-FFF2-40B4-BE49-F238E27FC236}">
                  <a16:creationId xmlns:a16="http://schemas.microsoft.com/office/drawing/2014/main" id="{8E15B775-D0FB-42BE-A281-415E31B50640}"/>
                </a:ext>
              </a:extLst>
            </p:cNvPr>
            <p:cNvSpPr>
              <a:spLocks noChangeArrowheads="1"/>
            </p:cNvSpPr>
            <p:nvPr/>
          </p:nvSpPr>
          <p:spPr bwMode="auto">
            <a:xfrm>
              <a:off x="1618615" y="741045"/>
              <a:ext cx="55384" cy="8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upright="1">
              <a:spAutoFit/>
            </a:bodyPr>
            <a:lstStyle/>
            <a:p>
              <a:pPr>
                <a:lnSpc>
                  <a:spcPct val="107000"/>
                </a:lnSpc>
                <a:spcAft>
                  <a:spcPts val="800"/>
                </a:spcAft>
              </a:pPr>
              <a:r>
                <a:rPr lang="en-US" sz="2400" i="1" dirty="0">
                  <a:solidFill>
                    <a:srgbClr val="000000"/>
                  </a:solidFill>
                  <a:effectLst/>
                  <a:latin typeface=".VnCentury Schoolbook" panose="020B7200000000000000" pitchFamily="34" charset="0"/>
                  <a:ea typeface="Calibri" panose="020F0502020204030204" pitchFamily="34" charset="0"/>
                  <a:cs typeface=".VnCentury Schoolbook" panose="020B7200000000000000" pitchFamily="34" charset="0"/>
                </a:rPr>
                <a:t>B</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0" name="Rectangle 49">
              <a:extLst>
                <a:ext uri="{FF2B5EF4-FFF2-40B4-BE49-F238E27FC236}">
                  <a16:creationId xmlns:a16="http://schemas.microsoft.com/office/drawing/2014/main" id="{AD572F18-105A-48BE-A363-81AA30125D56}"/>
                </a:ext>
              </a:extLst>
            </p:cNvPr>
            <p:cNvSpPr>
              <a:spLocks noChangeArrowheads="1"/>
            </p:cNvSpPr>
            <p:nvPr/>
          </p:nvSpPr>
          <p:spPr bwMode="auto">
            <a:xfrm>
              <a:off x="534035" y="8255"/>
              <a:ext cx="53790" cy="8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upright="1">
              <a:spAutoFit/>
            </a:bodyPr>
            <a:lstStyle/>
            <a:p>
              <a:pPr>
                <a:lnSpc>
                  <a:spcPct val="107000"/>
                </a:lnSpc>
                <a:spcAft>
                  <a:spcPts val="800"/>
                </a:spcAft>
              </a:pPr>
              <a:r>
                <a:rPr lang="en-US" sz="2400" i="1" dirty="0">
                  <a:solidFill>
                    <a:srgbClr val="000000"/>
                  </a:solidFill>
                  <a:effectLst/>
                  <a:latin typeface=".VnCentury Schoolbook" panose="020B7200000000000000" pitchFamily="34" charset="0"/>
                  <a:ea typeface="Calibri" panose="020F0502020204030204" pitchFamily="34" charset="0"/>
                  <a:cs typeface=".VnCentury Schoolbook" panose="020B7200000000000000" pitchFamily="34" charset="0"/>
                </a:rPr>
                <a:t>A</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51" name="Group 50">
              <a:extLst>
                <a:ext uri="{FF2B5EF4-FFF2-40B4-BE49-F238E27FC236}">
                  <a16:creationId xmlns:a16="http://schemas.microsoft.com/office/drawing/2014/main" id="{D3451951-AD89-4328-A1D7-3B780C206655}"/>
                </a:ext>
              </a:extLst>
            </p:cNvPr>
            <p:cNvGrpSpPr>
              <a:grpSpLocks/>
            </p:cNvGrpSpPr>
            <p:nvPr/>
          </p:nvGrpSpPr>
          <p:grpSpPr bwMode="auto">
            <a:xfrm>
              <a:off x="874395" y="713105"/>
              <a:ext cx="26670" cy="21590"/>
              <a:chOff x="1377" y="1123"/>
              <a:chExt cx="42" cy="34"/>
            </a:xfrm>
          </p:grpSpPr>
          <p:sp>
            <p:nvSpPr>
              <p:cNvPr id="67" name="Oval 66">
                <a:extLst>
                  <a:ext uri="{FF2B5EF4-FFF2-40B4-BE49-F238E27FC236}">
                    <a16:creationId xmlns:a16="http://schemas.microsoft.com/office/drawing/2014/main" id="{2EFFD5EC-13BF-41C9-942D-A1CAF21AEB9B}"/>
                  </a:ext>
                </a:extLst>
              </p:cNvPr>
              <p:cNvSpPr>
                <a:spLocks noChangeArrowheads="1"/>
              </p:cNvSpPr>
              <p:nvPr/>
            </p:nvSpPr>
            <p:spPr bwMode="auto">
              <a:xfrm>
                <a:off x="1377" y="1123"/>
                <a:ext cx="42" cy="34"/>
              </a:xfrm>
              <a:prstGeom prst="ellipse">
                <a:avLst/>
              </a:prstGeom>
              <a:solidFill>
                <a:srgbClr val="000000"/>
              </a:solidFill>
              <a:ln w="0">
                <a:solidFill>
                  <a:srgbClr val="000000"/>
                </a:solidFill>
                <a:round/>
                <a:headEnd/>
                <a:tailEnd/>
              </a:ln>
            </p:spPr>
            <p:txBody>
              <a:bodyPr rot="0" vert="horz" wrap="square" lIns="91440" tIns="45720" rIns="91440" bIns="45720" anchor="t" anchorCtr="0" upright="1">
                <a:noAutofit/>
              </a:bodyPr>
              <a:lstStyle/>
              <a:p>
                <a:endParaRPr lang="en-US"/>
              </a:p>
            </p:txBody>
          </p:sp>
          <p:sp>
            <p:nvSpPr>
              <p:cNvPr id="68" name="Oval 67">
                <a:extLst>
                  <a:ext uri="{FF2B5EF4-FFF2-40B4-BE49-F238E27FC236}">
                    <a16:creationId xmlns:a16="http://schemas.microsoft.com/office/drawing/2014/main" id="{AE0FEFC5-D388-4AC2-B339-2C6598354822}"/>
                  </a:ext>
                </a:extLst>
              </p:cNvPr>
              <p:cNvSpPr>
                <a:spLocks noChangeArrowheads="1"/>
              </p:cNvSpPr>
              <p:nvPr/>
            </p:nvSpPr>
            <p:spPr bwMode="auto">
              <a:xfrm>
                <a:off x="1377" y="1123"/>
                <a:ext cx="42" cy="34"/>
              </a:xfrm>
              <a:prstGeom prst="ellipse">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52" name="Group 51">
              <a:extLst>
                <a:ext uri="{FF2B5EF4-FFF2-40B4-BE49-F238E27FC236}">
                  <a16:creationId xmlns:a16="http://schemas.microsoft.com/office/drawing/2014/main" id="{EC400658-A29B-48B1-A9A5-A9603E1A4A81}"/>
                </a:ext>
              </a:extLst>
            </p:cNvPr>
            <p:cNvGrpSpPr>
              <a:grpSpLocks/>
            </p:cNvGrpSpPr>
            <p:nvPr/>
          </p:nvGrpSpPr>
          <p:grpSpPr bwMode="auto">
            <a:xfrm>
              <a:off x="345440" y="440690"/>
              <a:ext cx="26035" cy="22225"/>
              <a:chOff x="544" y="694"/>
              <a:chExt cx="41" cy="35"/>
            </a:xfrm>
          </p:grpSpPr>
          <p:sp>
            <p:nvSpPr>
              <p:cNvPr id="65" name="Oval 64">
                <a:extLst>
                  <a:ext uri="{FF2B5EF4-FFF2-40B4-BE49-F238E27FC236}">
                    <a16:creationId xmlns:a16="http://schemas.microsoft.com/office/drawing/2014/main" id="{ED2632FC-A2CB-4715-B4C9-1388C06DE7B9}"/>
                  </a:ext>
                </a:extLst>
              </p:cNvPr>
              <p:cNvSpPr>
                <a:spLocks noChangeArrowheads="1"/>
              </p:cNvSpPr>
              <p:nvPr/>
            </p:nvSpPr>
            <p:spPr bwMode="auto">
              <a:xfrm>
                <a:off x="544" y="694"/>
                <a:ext cx="41" cy="35"/>
              </a:xfrm>
              <a:prstGeom prst="ellipse">
                <a:avLst/>
              </a:prstGeom>
              <a:solidFill>
                <a:srgbClr val="000000"/>
              </a:solidFill>
              <a:ln w="0">
                <a:solidFill>
                  <a:srgbClr val="000000"/>
                </a:solidFill>
                <a:round/>
                <a:headEnd/>
                <a:tailEnd/>
              </a:ln>
            </p:spPr>
            <p:txBody>
              <a:bodyPr rot="0" vert="horz" wrap="square" lIns="91440" tIns="45720" rIns="91440" bIns="45720" anchor="t" anchorCtr="0" upright="1">
                <a:noAutofit/>
              </a:bodyPr>
              <a:lstStyle/>
              <a:p>
                <a:endParaRPr lang="en-US"/>
              </a:p>
            </p:txBody>
          </p:sp>
          <p:sp>
            <p:nvSpPr>
              <p:cNvPr id="66" name="Oval 65">
                <a:extLst>
                  <a:ext uri="{FF2B5EF4-FFF2-40B4-BE49-F238E27FC236}">
                    <a16:creationId xmlns:a16="http://schemas.microsoft.com/office/drawing/2014/main" id="{8FF54F78-7C4F-4C3F-9D7B-4DB6049CB4A2}"/>
                  </a:ext>
                </a:extLst>
              </p:cNvPr>
              <p:cNvSpPr>
                <a:spLocks noChangeArrowheads="1"/>
              </p:cNvSpPr>
              <p:nvPr/>
            </p:nvSpPr>
            <p:spPr bwMode="auto">
              <a:xfrm>
                <a:off x="544" y="694"/>
                <a:ext cx="41" cy="35"/>
              </a:xfrm>
              <a:prstGeom prst="ellipse">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53" name="Group 52">
              <a:extLst>
                <a:ext uri="{FF2B5EF4-FFF2-40B4-BE49-F238E27FC236}">
                  <a16:creationId xmlns:a16="http://schemas.microsoft.com/office/drawing/2014/main" id="{1E5F5DD1-B819-40D7-9815-C133231A44D8}"/>
                </a:ext>
              </a:extLst>
            </p:cNvPr>
            <p:cNvGrpSpPr>
              <a:grpSpLocks/>
            </p:cNvGrpSpPr>
            <p:nvPr/>
          </p:nvGrpSpPr>
          <p:grpSpPr bwMode="auto">
            <a:xfrm>
              <a:off x="1088390" y="440690"/>
              <a:ext cx="26035" cy="22225"/>
              <a:chOff x="1714" y="694"/>
              <a:chExt cx="41" cy="35"/>
            </a:xfrm>
          </p:grpSpPr>
          <p:sp>
            <p:nvSpPr>
              <p:cNvPr id="63" name="Oval 62">
                <a:extLst>
                  <a:ext uri="{FF2B5EF4-FFF2-40B4-BE49-F238E27FC236}">
                    <a16:creationId xmlns:a16="http://schemas.microsoft.com/office/drawing/2014/main" id="{E54FEF06-C18A-48FF-819C-590131490152}"/>
                  </a:ext>
                </a:extLst>
              </p:cNvPr>
              <p:cNvSpPr>
                <a:spLocks noChangeArrowheads="1"/>
              </p:cNvSpPr>
              <p:nvPr/>
            </p:nvSpPr>
            <p:spPr bwMode="auto">
              <a:xfrm>
                <a:off x="1714" y="694"/>
                <a:ext cx="41" cy="35"/>
              </a:xfrm>
              <a:prstGeom prst="ellipse">
                <a:avLst/>
              </a:prstGeom>
              <a:solidFill>
                <a:srgbClr val="000000"/>
              </a:solidFill>
              <a:ln w="0">
                <a:solidFill>
                  <a:srgbClr val="000000"/>
                </a:solidFill>
                <a:round/>
                <a:headEnd/>
                <a:tailEnd/>
              </a:ln>
            </p:spPr>
            <p:txBody>
              <a:bodyPr rot="0" vert="horz" wrap="square" lIns="91440" tIns="45720" rIns="91440" bIns="45720" anchor="t" anchorCtr="0" upright="1">
                <a:noAutofit/>
              </a:bodyPr>
              <a:lstStyle/>
              <a:p>
                <a:endParaRPr lang="en-US"/>
              </a:p>
            </p:txBody>
          </p:sp>
          <p:sp>
            <p:nvSpPr>
              <p:cNvPr id="64" name="Oval 63">
                <a:extLst>
                  <a:ext uri="{FF2B5EF4-FFF2-40B4-BE49-F238E27FC236}">
                    <a16:creationId xmlns:a16="http://schemas.microsoft.com/office/drawing/2014/main" id="{5823F212-FD5E-405B-A01D-BFEB3889C461}"/>
                  </a:ext>
                </a:extLst>
              </p:cNvPr>
              <p:cNvSpPr>
                <a:spLocks noChangeArrowheads="1"/>
              </p:cNvSpPr>
              <p:nvPr/>
            </p:nvSpPr>
            <p:spPr bwMode="auto">
              <a:xfrm>
                <a:off x="1714" y="694"/>
                <a:ext cx="41" cy="35"/>
              </a:xfrm>
              <a:prstGeom prst="ellipse">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54" name="Group 53">
              <a:extLst>
                <a:ext uri="{FF2B5EF4-FFF2-40B4-BE49-F238E27FC236}">
                  <a16:creationId xmlns:a16="http://schemas.microsoft.com/office/drawing/2014/main" id="{43651E90-1CA6-4744-8AD4-D8C503429841}"/>
                </a:ext>
              </a:extLst>
            </p:cNvPr>
            <p:cNvGrpSpPr>
              <a:grpSpLocks/>
            </p:cNvGrpSpPr>
            <p:nvPr/>
          </p:nvGrpSpPr>
          <p:grpSpPr bwMode="auto">
            <a:xfrm>
              <a:off x="131445" y="713105"/>
              <a:ext cx="26670" cy="21590"/>
              <a:chOff x="207" y="1123"/>
              <a:chExt cx="42" cy="34"/>
            </a:xfrm>
          </p:grpSpPr>
          <p:sp>
            <p:nvSpPr>
              <p:cNvPr id="61" name="Oval 60">
                <a:extLst>
                  <a:ext uri="{FF2B5EF4-FFF2-40B4-BE49-F238E27FC236}">
                    <a16:creationId xmlns:a16="http://schemas.microsoft.com/office/drawing/2014/main" id="{134755C2-EC5E-4B04-A98D-35423D214C55}"/>
                  </a:ext>
                </a:extLst>
              </p:cNvPr>
              <p:cNvSpPr>
                <a:spLocks noChangeArrowheads="1"/>
              </p:cNvSpPr>
              <p:nvPr/>
            </p:nvSpPr>
            <p:spPr bwMode="auto">
              <a:xfrm>
                <a:off x="207" y="1123"/>
                <a:ext cx="42" cy="34"/>
              </a:xfrm>
              <a:prstGeom prst="ellipse">
                <a:avLst/>
              </a:prstGeom>
              <a:solidFill>
                <a:srgbClr val="000000"/>
              </a:solidFill>
              <a:ln w="0">
                <a:solidFill>
                  <a:srgbClr val="000000"/>
                </a:solidFill>
                <a:round/>
                <a:headEnd/>
                <a:tailEnd/>
              </a:ln>
            </p:spPr>
            <p:txBody>
              <a:bodyPr rot="0" vert="horz" wrap="square" lIns="91440" tIns="45720" rIns="91440" bIns="45720" anchor="t" anchorCtr="0" upright="1">
                <a:noAutofit/>
              </a:bodyPr>
              <a:lstStyle/>
              <a:p>
                <a:endParaRPr lang="en-US"/>
              </a:p>
            </p:txBody>
          </p:sp>
          <p:sp>
            <p:nvSpPr>
              <p:cNvPr id="62" name="Oval 61">
                <a:extLst>
                  <a:ext uri="{FF2B5EF4-FFF2-40B4-BE49-F238E27FC236}">
                    <a16:creationId xmlns:a16="http://schemas.microsoft.com/office/drawing/2014/main" id="{A3214DA8-805F-48A1-AEAD-99E49F1D594D}"/>
                  </a:ext>
                </a:extLst>
              </p:cNvPr>
              <p:cNvSpPr>
                <a:spLocks noChangeArrowheads="1"/>
              </p:cNvSpPr>
              <p:nvPr/>
            </p:nvSpPr>
            <p:spPr bwMode="auto">
              <a:xfrm>
                <a:off x="207" y="1123"/>
                <a:ext cx="42" cy="34"/>
              </a:xfrm>
              <a:prstGeom prst="ellipse">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55" name="Group 54">
              <a:extLst>
                <a:ext uri="{FF2B5EF4-FFF2-40B4-BE49-F238E27FC236}">
                  <a16:creationId xmlns:a16="http://schemas.microsoft.com/office/drawing/2014/main" id="{82194E86-B1B4-49F7-B874-FEC1AC59D283}"/>
                </a:ext>
              </a:extLst>
            </p:cNvPr>
            <p:cNvGrpSpPr>
              <a:grpSpLocks/>
            </p:cNvGrpSpPr>
            <p:nvPr/>
          </p:nvGrpSpPr>
          <p:grpSpPr bwMode="auto">
            <a:xfrm>
              <a:off x="1617980" y="713105"/>
              <a:ext cx="26035" cy="21590"/>
              <a:chOff x="2548" y="1123"/>
              <a:chExt cx="41" cy="34"/>
            </a:xfrm>
          </p:grpSpPr>
          <p:sp>
            <p:nvSpPr>
              <p:cNvPr id="59" name="Oval 58">
                <a:extLst>
                  <a:ext uri="{FF2B5EF4-FFF2-40B4-BE49-F238E27FC236}">
                    <a16:creationId xmlns:a16="http://schemas.microsoft.com/office/drawing/2014/main" id="{9CC7DD02-A4CF-44A9-8D38-26F2C2D3D58D}"/>
                  </a:ext>
                </a:extLst>
              </p:cNvPr>
              <p:cNvSpPr>
                <a:spLocks noChangeArrowheads="1"/>
              </p:cNvSpPr>
              <p:nvPr/>
            </p:nvSpPr>
            <p:spPr bwMode="auto">
              <a:xfrm>
                <a:off x="2548" y="1123"/>
                <a:ext cx="41" cy="34"/>
              </a:xfrm>
              <a:prstGeom prst="ellipse">
                <a:avLst/>
              </a:prstGeom>
              <a:solidFill>
                <a:srgbClr val="000000"/>
              </a:solidFill>
              <a:ln w="0">
                <a:solidFill>
                  <a:srgbClr val="000000"/>
                </a:solidFill>
                <a:round/>
                <a:headEnd/>
                <a:tailEnd/>
              </a:ln>
            </p:spPr>
            <p:txBody>
              <a:bodyPr rot="0" vert="horz" wrap="square" lIns="91440" tIns="45720" rIns="91440" bIns="45720" anchor="t" anchorCtr="0" upright="1">
                <a:noAutofit/>
              </a:bodyPr>
              <a:lstStyle/>
              <a:p>
                <a:endParaRPr lang="en-US"/>
              </a:p>
            </p:txBody>
          </p:sp>
          <p:sp>
            <p:nvSpPr>
              <p:cNvPr id="60" name="Oval 59">
                <a:extLst>
                  <a:ext uri="{FF2B5EF4-FFF2-40B4-BE49-F238E27FC236}">
                    <a16:creationId xmlns:a16="http://schemas.microsoft.com/office/drawing/2014/main" id="{2D7889CF-3BDE-4FF7-AD92-CCACE514B0F5}"/>
                  </a:ext>
                </a:extLst>
              </p:cNvPr>
              <p:cNvSpPr>
                <a:spLocks noChangeArrowheads="1"/>
              </p:cNvSpPr>
              <p:nvPr/>
            </p:nvSpPr>
            <p:spPr bwMode="auto">
              <a:xfrm>
                <a:off x="2548" y="1123"/>
                <a:ext cx="41" cy="34"/>
              </a:xfrm>
              <a:prstGeom prst="ellipse">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56" name="Group 55">
              <a:extLst>
                <a:ext uri="{FF2B5EF4-FFF2-40B4-BE49-F238E27FC236}">
                  <a16:creationId xmlns:a16="http://schemas.microsoft.com/office/drawing/2014/main" id="{10FFB63C-7DB4-4516-A588-3AC3767BC0F2}"/>
                </a:ext>
              </a:extLst>
            </p:cNvPr>
            <p:cNvGrpSpPr>
              <a:grpSpLocks/>
            </p:cNvGrpSpPr>
            <p:nvPr/>
          </p:nvGrpSpPr>
          <p:grpSpPr bwMode="auto">
            <a:xfrm>
              <a:off x="558800" y="168910"/>
              <a:ext cx="26670" cy="21590"/>
              <a:chOff x="880" y="266"/>
              <a:chExt cx="42" cy="34"/>
            </a:xfrm>
          </p:grpSpPr>
          <p:sp>
            <p:nvSpPr>
              <p:cNvPr id="57" name="Oval 56">
                <a:extLst>
                  <a:ext uri="{FF2B5EF4-FFF2-40B4-BE49-F238E27FC236}">
                    <a16:creationId xmlns:a16="http://schemas.microsoft.com/office/drawing/2014/main" id="{AD6882F4-093A-4568-AAE7-744898E5B526}"/>
                  </a:ext>
                </a:extLst>
              </p:cNvPr>
              <p:cNvSpPr>
                <a:spLocks noChangeArrowheads="1"/>
              </p:cNvSpPr>
              <p:nvPr/>
            </p:nvSpPr>
            <p:spPr bwMode="auto">
              <a:xfrm>
                <a:off x="880" y="266"/>
                <a:ext cx="42" cy="34"/>
              </a:xfrm>
              <a:prstGeom prst="ellipse">
                <a:avLst/>
              </a:prstGeom>
              <a:solidFill>
                <a:srgbClr val="000000"/>
              </a:solidFill>
              <a:ln w="0">
                <a:solidFill>
                  <a:srgbClr val="000000"/>
                </a:solidFill>
                <a:round/>
                <a:headEnd/>
                <a:tailEnd/>
              </a:ln>
            </p:spPr>
            <p:txBody>
              <a:bodyPr rot="0" vert="horz" wrap="square" lIns="91440" tIns="45720" rIns="91440" bIns="45720" anchor="t" anchorCtr="0" upright="1">
                <a:noAutofit/>
              </a:bodyPr>
              <a:lstStyle/>
              <a:p>
                <a:endParaRPr lang="en-US"/>
              </a:p>
            </p:txBody>
          </p:sp>
          <p:sp>
            <p:nvSpPr>
              <p:cNvPr id="58" name="Oval 57">
                <a:extLst>
                  <a:ext uri="{FF2B5EF4-FFF2-40B4-BE49-F238E27FC236}">
                    <a16:creationId xmlns:a16="http://schemas.microsoft.com/office/drawing/2014/main" id="{27DAB2E0-6469-4142-8FB8-0B61776AAA8B}"/>
                  </a:ext>
                </a:extLst>
              </p:cNvPr>
              <p:cNvSpPr>
                <a:spLocks noChangeArrowheads="1"/>
              </p:cNvSpPr>
              <p:nvPr/>
            </p:nvSpPr>
            <p:spPr bwMode="auto">
              <a:xfrm>
                <a:off x="880" y="266"/>
                <a:ext cx="42" cy="34"/>
              </a:xfrm>
              <a:prstGeom prst="ellipse">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sp>
        <p:nvSpPr>
          <p:cNvPr id="70" name="Rounded Rectangle 6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74" name="TextBox 7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16617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left)">
                                      <p:cBhvr>
                                        <p:cTn id="21" dur="50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wipe(left)">
                                      <p:cBhvr>
                                        <p:cTn id="26" dur="500"/>
                                        <p:tgtEl>
                                          <p:spTgt spid="3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left)">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wipe(left)">
                                      <p:cBhvr>
                                        <p:cTn id="36" dur="500"/>
                                        <p:tgtEl>
                                          <p:spTgt spid="43"/>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7" grpId="0"/>
      <p:bldP spid="4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085256"/>
            <a:ext cx="23941001" cy="6898706"/>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Bài giải</a:t>
                </a:r>
                <a:endPar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578907" y="4344813"/>
            <a:ext cx="23417954" cy="1510708"/>
            <a:chOff x="310418" y="2105707"/>
            <a:chExt cx="11708977" cy="755354"/>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105707"/>
                  <a:ext cx="2468235" cy="755354"/>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𝑴</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𝟒</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𝟎</m:t>
                            </m:r>
                          </m:e>
                        </m:d>
                        <m:r>
                          <a:rPr lang="en-US" sz="4800" b="1" i="1">
                            <a:solidFill>
                              <a:schemeClr val="bg1"/>
                            </a:solidFill>
                            <a:latin typeface="Cambria Math" panose="02040503050406030204" pitchFamily="18" charset="0"/>
                          </a:rPr>
                          <m:t>.</m:t>
                        </m:r>
                      </m:oMath>
                    </m:oMathPara>
                  </a14:m>
                  <a:endPar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105707"/>
                  <a:ext cx="2468235" cy="755354"/>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99476" y="2243292"/>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B</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124151"/>
                  <a:ext cx="2468235" cy="736909"/>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𝑴</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𝟎</m:t>
                            </m:r>
                          </m:e>
                        </m:d>
                        <m:r>
                          <a:rPr lang="en-US" sz="4800" b="1" i="1">
                            <a:solidFill>
                              <a:schemeClr val="bg1"/>
                            </a:solidFill>
                            <a:latin typeface="Cambria Math" panose="02040503050406030204" pitchFamily="18" charset="0"/>
                          </a:rPr>
                          <m:t>.</m:t>
                        </m:r>
                      </m:oMath>
                    </m:oMathPara>
                  </a14:m>
                  <a:endPar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124151"/>
                  <a:ext cx="2468235" cy="736909"/>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310418" y="2239019"/>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A</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149528"/>
                  <a:ext cx="2468235" cy="711533"/>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𝑴</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f>
                              <m:fPr>
                                <m:ctrlPr>
                                  <a:rPr lang="en-US" sz="4800" b="1" i="1">
                                    <a:solidFill>
                                      <a:schemeClr val="bg1"/>
                                    </a:solidFill>
                                    <a:latin typeface="Cambria Math" panose="02040503050406030204" pitchFamily="18" charset="0"/>
                                  </a:rPr>
                                </m:ctrlPr>
                              </m:fPr>
                              <m:num>
                                <m:r>
                                  <a:rPr lang="en-US" sz="4800" b="1" i="1">
                                    <a:solidFill>
                                      <a:schemeClr val="bg1"/>
                                    </a:solidFill>
                                    <a:latin typeface="Cambria Math" panose="02040503050406030204" pitchFamily="18" charset="0"/>
                                  </a:rPr>
                                  <m:t>𝟓</m:t>
                                </m:r>
                              </m:num>
                              <m:den>
                                <m:r>
                                  <a:rPr lang="en-US" sz="4800" b="1" i="1">
                                    <a:solidFill>
                                      <a:schemeClr val="bg1"/>
                                    </a:solidFill>
                                    <a:latin typeface="Cambria Math" panose="02040503050406030204" pitchFamily="18" charset="0"/>
                                  </a:rPr>
                                  <m:t>𝟑</m:t>
                                </m:r>
                              </m:den>
                            </m:f>
                            <m:r>
                              <a:rPr lang="en-US" sz="4800" b="1" i="1">
                                <a:solidFill>
                                  <a:schemeClr val="bg1"/>
                                </a:solidFill>
                                <a:latin typeface="Cambria Math" panose="02040503050406030204" pitchFamily="18" charset="0"/>
                              </a:rPr>
                              <m:t>;−</m:t>
                            </m:r>
                            <m:f>
                              <m:fPr>
                                <m:ctrlPr>
                                  <a:rPr lang="en-US" sz="4800" b="1" i="1">
                                    <a:solidFill>
                                      <a:schemeClr val="bg1"/>
                                    </a:solidFill>
                                    <a:latin typeface="Cambria Math" panose="02040503050406030204" pitchFamily="18" charset="0"/>
                                  </a:rPr>
                                </m:ctrlPr>
                              </m:fPr>
                              <m:num>
                                <m:r>
                                  <a:rPr lang="en-US" sz="4800" b="1" i="1">
                                    <a:solidFill>
                                      <a:schemeClr val="bg1"/>
                                    </a:solidFill>
                                    <a:latin typeface="Cambria Math" panose="02040503050406030204" pitchFamily="18" charset="0"/>
                                  </a:rPr>
                                  <m:t>𝟏</m:t>
                                </m:r>
                              </m:num>
                              <m:den>
                                <m:r>
                                  <a:rPr lang="en-US" sz="4800" b="1" i="1">
                                    <a:solidFill>
                                      <a:schemeClr val="bg1"/>
                                    </a:solidFill>
                                    <a:latin typeface="Cambria Math" panose="02040503050406030204" pitchFamily="18" charset="0"/>
                                  </a:rPr>
                                  <m:t>𝟑</m:t>
                                </m:r>
                              </m:den>
                            </m:f>
                          </m:e>
                        </m:d>
                        <m:r>
                          <a:rPr lang="en-US" sz="4800" b="1" i="1">
                            <a:solidFill>
                              <a:schemeClr val="bg1"/>
                            </a:solidFill>
                            <a:latin typeface="Cambria Math" panose="02040503050406030204" pitchFamily="18" charset="0"/>
                          </a:rPr>
                          <m:t>.</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149528"/>
                  <a:ext cx="2468235" cy="711533"/>
                </a:xfrm>
                <a:prstGeom prst="rect">
                  <a:avLst/>
                </a:prstGeom>
                <a:blipFill>
                  <a:blip r:embed="rId5"/>
                  <a:stretch>
                    <a:fillRect b="-6224"/>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C</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149527"/>
                  <a:ext cx="2468235" cy="711533"/>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𝑴</m:t>
                        </m:r>
                        <m:d>
                          <m:dPr>
                            <m:ctrlPr>
                              <a:rPr lang="en-US" sz="4800" b="1" i="1">
                                <a:solidFill>
                                  <a:schemeClr val="bg1"/>
                                </a:solidFill>
                                <a:latin typeface="Cambria Math" panose="02040503050406030204" pitchFamily="18" charset="0"/>
                              </a:rPr>
                            </m:ctrlPr>
                          </m:dPr>
                          <m:e>
                            <m:f>
                              <m:fPr>
                                <m:ctrlPr>
                                  <a:rPr lang="en-US" sz="4800" b="1" i="1">
                                    <a:solidFill>
                                      <a:schemeClr val="bg1"/>
                                    </a:solidFill>
                                    <a:latin typeface="Cambria Math" panose="02040503050406030204" pitchFamily="18" charset="0"/>
                                  </a:rPr>
                                </m:ctrlPr>
                              </m:fPr>
                              <m:num>
                                <m:r>
                                  <a:rPr lang="en-US" sz="4800" b="1" i="1">
                                    <a:solidFill>
                                      <a:schemeClr val="bg1"/>
                                    </a:solidFill>
                                    <a:latin typeface="Cambria Math" panose="02040503050406030204" pitchFamily="18" charset="0"/>
                                  </a:rPr>
                                  <m:t>𝟏𝟕</m:t>
                                </m:r>
                              </m:num>
                              <m:den>
                                <m:r>
                                  <a:rPr lang="en-US" sz="4800" b="1" i="1">
                                    <a:solidFill>
                                      <a:schemeClr val="bg1"/>
                                    </a:solidFill>
                                    <a:latin typeface="Cambria Math" panose="02040503050406030204" pitchFamily="18" charset="0"/>
                                  </a:rPr>
                                  <m:t>𝟕</m:t>
                                </m:r>
                              </m:den>
                            </m:f>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𝟎</m:t>
                            </m:r>
                          </m:e>
                        </m:d>
                        <m:r>
                          <a:rPr lang="en-US" sz="4800" b="1" i="1">
                            <a:solidFill>
                              <a:schemeClr val="bg1"/>
                            </a:solidFill>
                            <a:latin typeface="Cambria Math" panose="02040503050406030204" pitchFamily="18" charset="0"/>
                          </a:rPr>
                          <m:t>.</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149527"/>
                  <a:ext cx="2468235" cy="711533"/>
                </a:xfrm>
                <a:prstGeom prst="rect">
                  <a:avLst/>
                </a:prstGeom>
                <a:blipFill>
                  <a:blip r:embed="rId6"/>
                  <a:stretch>
                    <a:fillRect b="-6224"/>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322987" y="2267414"/>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D</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18604045" y="4701204"/>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D</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467666"/>
            <a:ext cx="23943880" cy="1860422"/>
            <a:chOff x="923003" y="3794414"/>
            <a:chExt cx="23943880" cy="2524604"/>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794414"/>
              <a:ext cx="23594672" cy="2524604"/>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847955"/>
              <a:ext cx="3942104" cy="1110073"/>
              <a:chOff x="923003" y="3847955"/>
              <a:chExt cx="3942104" cy="1110073"/>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7" y="3847955"/>
                <a:ext cx="3503060" cy="1040477"/>
                <a:chOff x="2028797" y="4209905"/>
                <a:chExt cx="3503060" cy="1040477"/>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260088" y="2978614"/>
                  <a:ext cx="1040477"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74761" y="4272145"/>
                  <a:ext cx="2895398" cy="800219"/>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CÂU</a:t>
                  </a:r>
                  <a:r>
                    <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 13.</a:t>
                  </a: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145F82"/>
                  </a:solidFill>
                  <a:effectLst/>
                  <a:uLnTx/>
                  <a:uFillTx/>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718147" y="6367435"/>
                <a:ext cx="7748280" cy="864276"/>
              </a:xfrm>
              <a:prstGeom prst="rect">
                <a:avLst/>
              </a:prstGeom>
              <a:noFill/>
            </p:spPr>
            <p:txBody>
              <a:bodyPr wrap="square">
                <a:spAutoFit/>
              </a:bodyPr>
              <a:lstStyle/>
              <a:p>
                <a:pPr lvl="0">
                  <a:lnSpc>
                    <a:spcPct val="115000"/>
                  </a:lnSpc>
                  <a:spcBef>
                    <a:spcPts val="200"/>
                  </a:spcBef>
                  <a:spcAft>
                    <a:spcPts val="800"/>
                  </a:spcAft>
                  <a:defRPr/>
                </a:pP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r>
                      <a:rPr lang="en-US" sz="4800" b="1" i="1">
                        <a:latin typeface="Cambria Math" panose="02040503050406030204" pitchFamily="18" charset="0"/>
                      </a:rPr>
                      <m:t>∈</m:t>
                    </m:r>
                    <m:r>
                      <a:rPr lang="en-US" sz="4800" b="1" i="1">
                        <a:latin typeface="Cambria Math" panose="02040503050406030204" pitchFamily="18" charset="0"/>
                      </a:rPr>
                      <m:t>𝑶𝒙</m:t>
                    </m:r>
                    <m:r>
                      <a:rPr lang="en-US" sz="4800" b="1" i="1">
                        <a:latin typeface="Cambria Math" panose="02040503050406030204" pitchFamily="18" charset="0"/>
                      </a:rPr>
                      <m:t>⇒</m:t>
                    </m:r>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𝒎</m:t>
                        </m:r>
                        <m:r>
                          <a:rPr lang="en-US" sz="4800" b="1" i="1">
                            <a:latin typeface="Cambria Math" panose="02040503050406030204" pitchFamily="18" charset="0"/>
                          </a:rPr>
                          <m:t>;</m:t>
                        </m:r>
                        <m:r>
                          <a:rPr lang="en-US" sz="4800" b="1" i="1">
                            <a:latin typeface="Cambria Math" panose="02040503050406030204" pitchFamily="18" charset="0"/>
                          </a:rPr>
                          <m:t>𝟎</m:t>
                        </m:r>
                      </m:e>
                    </m:d>
                    <m:r>
                      <a:rPr lang="en-US" sz="4800" i="1">
                        <a:latin typeface="Cambria Math" panose="02040503050406030204" pitchFamily="18" charset="0"/>
                      </a:rPr>
                      <m:t>.</m:t>
                    </m:r>
                  </m:oMath>
                </a14:m>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718147" y="6367435"/>
                <a:ext cx="7748280" cy="864276"/>
              </a:xfrm>
              <a:prstGeom prst="rect">
                <a:avLst/>
              </a:prstGeom>
              <a:blipFill>
                <a:blip r:embed="rId8"/>
                <a:stretch>
                  <a:fillRect l="-3619" t="-12766" b="-368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4257644" y="2582386"/>
                <a:ext cx="19985016" cy="1569660"/>
              </a:xfrm>
              <a:prstGeom prst="rect">
                <a:avLst/>
              </a:prstGeom>
              <a:noFill/>
            </p:spPr>
            <p:txBody>
              <a:bodyPr wrap="square">
                <a:spAutoFit/>
              </a:bodyPr>
              <a:lstStyle/>
              <a:p>
                <a:r>
                  <a:rPr lang="en-US" sz="4800" b="1" dirty="0">
                    <a:latin typeface="Tahoma" panose="020B0604030504040204" pitchFamily="34" charset="0"/>
                    <a:ea typeface="Tahoma" panose="020B0604030504040204" pitchFamily="34" charset="0"/>
                    <a:cs typeface="Tahoma" panose="020B0604030504040204" pitchFamily="34" charset="0"/>
                  </a:rPr>
                  <a:t>Trong </a:t>
                </a:r>
                <a:r>
                  <a:rPr lang="en-US" sz="4800" b="1" dirty="0" err="1">
                    <a:latin typeface="Tahoma" panose="020B0604030504040204" pitchFamily="34" charset="0"/>
                    <a:ea typeface="Tahoma" panose="020B0604030504040204" pitchFamily="34" charset="0"/>
                    <a:cs typeface="Tahoma" panose="020B0604030504040204" pitchFamily="34" charset="0"/>
                  </a:rPr>
                  <a:t>hệ</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m:rPr>
                        <m:nor/>
                      </m:rPr>
                      <a:rPr lang="en-US" sz="4800" b="1">
                        <a:latin typeface="Tahoma" panose="020B0604030504040204" pitchFamily="34" charset="0"/>
                        <a:ea typeface="Tahoma" panose="020B0604030504040204" pitchFamily="34" charset="0"/>
                        <a:cs typeface="Tahoma" panose="020B0604030504040204" pitchFamily="34" charset="0"/>
                      </a:rPr>
                      <m:t>A</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𝟑</m:t>
                        </m:r>
                      </m:e>
                    </m:d>
                    <m:r>
                      <a:rPr lang="en-US" sz="4800" b="1" i="1">
                        <a:latin typeface="Cambria Math" panose="02040503050406030204" pitchFamily="18" charset="0"/>
                      </a:rPr>
                      <m:t>,</m:t>
                    </m:r>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𝟒</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Tìm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thuộc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trục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hoành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smtClean="0">
                        <a:latin typeface="Cambria Math" panose="02040503050406030204" pitchFamily="18" charset="0"/>
                      </a:rPr>
                      <m:t>𝑨</m:t>
                    </m:r>
                    <m:r>
                      <a:rPr lang="en-US" sz="4800" b="1" i="1" smtClean="0">
                        <a:latin typeface="Cambria Math" panose="02040503050406030204" pitchFamily="18" charset="0"/>
                      </a:rPr>
                      <m:t>,</m:t>
                    </m:r>
                    <m:r>
                      <a:rPr lang="en-US" sz="4800" b="1" i="1">
                        <a:latin typeface="Cambria Math" panose="02040503050406030204" pitchFamily="18" charset="0"/>
                      </a:rPr>
                      <m:t>𝑩</m:t>
                    </m:r>
                    <m:r>
                      <a:rPr lang="en-US" sz="4800" b="1" i="1">
                        <a:latin typeface="Cambria Math" panose="02040503050406030204" pitchFamily="18" charset="0"/>
                      </a:rPr>
                      <m:t>, </m:t>
                    </m:r>
                    <m:r>
                      <a:rPr lang="en-US" sz="4800" b="1" i="1">
                        <a:latin typeface="Cambria Math" panose="02040503050406030204" pitchFamily="18" charset="0"/>
                      </a:rPr>
                      <m:t>𝑴</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hàng</a:t>
                </a:r>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4257644" y="2582386"/>
                <a:ext cx="19985016" cy="1569660"/>
              </a:xfrm>
              <a:prstGeom prst="rect">
                <a:avLst/>
              </a:prstGeom>
              <a:blipFill>
                <a:blip r:embed="rId9"/>
                <a:stretch>
                  <a:fillRect l="-1372" t="-9339" b="-19455"/>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3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955468" y="7461597"/>
                <a:ext cx="11299563" cy="922753"/>
              </a:xfrm>
              <a:prstGeom prst="rect">
                <a:avLst/>
              </a:prstGeom>
              <a:noFill/>
            </p:spPr>
            <p:txBody>
              <a:bodyPr wrap="square">
                <a:spAutoFit/>
              </a:bodyPr>
              <a:lstStyle/>
              <a:p>
                <a:pPr lvl="0"/>
                <a:r>
                  <a:rPr lang="fr-FR" sz="4800" b="1" dirty="0">
                    <a:latin typeface="Tahoma" panose="020B0604030504040204" pitchFamily="34" charset="0"/>
                    <a:ea typeface="Tahoma" panose="020B0604030504040204" pitchFamily="34" charset="0"/>
                    <a:cs typeface="Tahoma" panose="020B0604030504040204" pitchFamily="34" charset="0"/>
                  </a:rPr>
                  <a:t>Ta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𝟕</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𝑨𝑴</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𝒎</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𝟑</m:t>
                        </m:r>
                      </m:e>
                    </m:d>
                    <m:r>
                      <a:rPr lang="en-US" sz="4800" b="1" i="1">
                        <a:latin typeface="Cambria Math" panose="02040503050406030204" pitchFamily="18" charset="0"/>
                      </a:rPr>
                      <m:t>.</m:t>
                    </m:r>
                  </m:oMath>
                </a14:m>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955468" y="7461597"/>
                <a:ext cx="11299563" cy="922753"/>
              </a:xfrm>
              <a:prstGeom prst="rect">
                <a:avLst/>
              </a:prstGeom>
              <a:blipFill>
                <a:blip r:embed="rId10"/>
                <a:stretch>
                  <a:fillRect l="-2482" t="-5960" b="-337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0944151-E1E2-4A21-AF5F-5DDFEBFB8529}"/>
                  </a:ext>
                </a:extLst>
              </p:cNvPr>
              <p:cNvSpPr txBox="1"/>
              <p:nvPr/>
            </p:nvSpPr>
            <p:spPr>
              <a:xfrm>
                <a:off x="740245" y="8700964"/>
                <a:ext cx="15188758" cy="9227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fr-FR" sz="4800" b="1" smtClean="0">
                          <a:latin typeface="Tahoma" panose="020B0604030504040204" pitchFamily="34" charset="0"/>
                          <a:ea typeface="Tahoma" panose="020B0604030504040204" pitchFamily="34" charset="0"/>
                          <a:cs typeface="Tahoma" panose="020B0604030504040204" pitchFamily="34" charset="0"/>
                        </a:rPr>
                        <m:t>Để</m:t>
                      </m:r>
                      <m:r>
                        <a:rPr lang="en-US" sz="4800" b="1" i="1" smtClean="0">
                          <a:latin typeface="Cambria Math" panose="02040503050406030204" pitchFamily="18"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𝑨</m:t>
                      </m:r>
                      <m:r>
                        <a:rPr lang="en-US" sz="4800" b="1" i="1">
                          <a:latin typeface="Cambria Math" panose="02040503050406030204" pitchFamily="18" charset="0"/>
                        </a:rPr>
                        <m:t>,</m:t>
                      </m:r>
                      <m:r>
                        <a:rPr lang="en-US" sz="4800" b="1" i="1">
                          <a:latin typeface="Cambria Math" panose="02040503050406030204" pitchFamily="18" charset="0"/>
                        </a:rPr>
                        <m:t>𝑩</m:t>
                      </m:r>
                      <m:r>
                        <a:rPr lang="en-US" sz="4800" b="1" i="1">
                          <a:latin typeface="Cambria Math" panose="02040503050406030204" pitchFamily="18" charset="0"/>
                        </a:rPr>
                        <m:t>,</m:t>
                      </m:r>
                      <m:r>
                        <a:rPr lang="en-US" sz="4800" b="1" i="1">
                          <a:latin typeface="Cambria Math" panose="02040503050406030204" pitchFamily="18" charset="0"/>
                        </a:rPr>
                        <m:t>𝑴</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th</m:t>
                      </m:r>
                      <m:r>
                        <m:rPr>
                          <m:nor/>
                        </m:rPr>
                        <a:rPr lang="fr-FR" sz="4800" b="1">
                          <a:latin typeface="Tahoma" panose="020B0604030504040204" pitchFamily="34" charset="0"/>
                          <a:ea typeface="Tahoma" panose="020B0604030504040204" pitchFamily="34" charset="0"/>
                          <a:cs typeface="Tahoma" panose="020B0604030504040204" pitchFamily="34" charset="0"/>
                        </a:rPr>
                        <m:t>ẳ</m:t>
                      </m:r>
                      <m:r>
                        <m:rPr>
                          <m:nor/>
                        </m:rPr>
                        <a:rPr lang="fr-FR" sz="4800" b="1">
                          <a:latin typeface="Tahoma" panose="020B0604030504040204" pitchFamily="34" charset="0"/>
                          <a:ea typeface="Tahoma" panose="020B0604030504040204" pitchFamily="34" charset="0"/>
                          <a:cs typeface="Tahoma" panose="020B0604030504040204" pitchFamily="34" charset="0"/>
                        </a:rPr>
                        <m:t>ng</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h</m:t>
                      </m:r>
                      <m:r>
                        <m:rPr>
                          <m:nor/>
                        </m:rPr>
                        <a:rPr lang="fr-FR" sz="4800" b="1">
                          <a:latin typeface="Tahoma" panose="020B0604030504040204" pitchFamily="34" charset="0"/>
                          <a:ea typeface="Tahoma" panose="020B0604030504040204" pitchFamily="34" charset="0"/>
                          <a:cs typeface="Tahoma" panose="020B0604030504040204" pitchFamily="34" charset="0"/>
                        </a:rPr>
                        <m:t>à</m:t>
                      </m:r>
                      <m:r>
                        <m:rPr>
                          <m:nor/>
                        </m:rPr>
                        <a:rPr lang="fr-FR" sz="4800" b="1">
                          <a:latin typeface="Tahoma" panose="020B0604030504040204" pitchFamily="34" charset="0"/>
                          <a:ea typeface="Tahoma" panose="020B0604030504040204" pitchFamily="34" charset="0"/>
                          <a:cs typeface="Tahoma" panose="020B0604030504040204" pitchFamily="34" charset="0"/>
                        </a:rPr>
                        <m:t>ng</m:t>
                      </m:r>
                      <m:r>
                        <m:rPr>
                          <m:nor/>
                        </m:rPr>
                        <a:rPr lang="fr-FR"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c</m:t>
                      </m:r>
                      <m:r>
                        <m:rPr>
                          <m:nor/>
                        </m:rPr>
                        <a:rPr lang="fr-FR" sz="4800" b="1">
                          <a:latin typeface="Tahoma" panose="020B0604030504040204" pitchFamily="34" charset="0"/>
                          <a:ea typeface="Tahoma" panose="020B0604030504040204" pitchFamily="34" charset="0"/>
                          <a:cs typeface="Tahoma" panose="020B0604030504040204" pitchFamily="34" charset="0"/>
                        </a:rPr>
                        <m:t>ù</m:t>
                      </m:r>
                      <m:r>
                        <m:rPr>
                          <m:nor/>
                        </m:rPr>
                        <a:rPr lang="fr-FR" sz="4800" b="1">
                          <a:latin typeface="Tahoma" panose="020B0604030504040204" pitchFamily="34" charset="0"/>
                          <a:ea typeface="Tahoma" panose="020B0604030504040204" pitchFamily="34" charset="0"/>
                          <a:cs typeface="Tahoma" panose="020B0604030504040204" pitchFamily="34" charset="0"/>
                        </a:rPr>
                        <m:t>ng</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ph</m:t>
                      </m:r>
                      <m:r>
                        <m:rPr>
                          <m:nor/>
                        </m:rPr>
                        <a:rPr lang="fr-FR" sz="4800" b="1">
                          <a:latin typeface="Tahoma" panose="020B0604030504040204" pitchFamily="34" charset="0"/>
                          <a:ea typeface="Tahoma" panose="020B0604030504040204" pitchFamily="34" charset="0"/>
                          <a:cs typeface="Tahoma" panose="020B0604030504040204" pitchFamily="34" charset="0"/>
                        </a:rPr>
                        <m:t>ươ</m:t>
                      </m:r>
                      <m:r>
                        <m:rPr>
                          <m:nor/>
                        </m:rPr>
                        <a:rPr lang="fr-FR" sz="4800" b="1">
                          <a:latin typeface="Tahoma" panose="020B0604030504040204" pitchFamily="34" charset="0"/>
                          <a:ea typeface="Tahoma" panose="020B0604030504040204" pitchFamily="34" charset="0"/>
                          <a:cs typeface="Tahoma" panose="020B0604030504040204" pitchFamily="34" charset="0"/>
                        </a:rPr>
                        <m:t>ng</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v</m:t>
                      </m:r>
                      <m:r>
                        <m:rPr>
                          <m:nor/>
                        </m:rPr>
                        <a:rPr lang="fr-FR" sz="4800" b="1">
                          <a:latin typeface="Tahoma" panose="020B0604030504040204" pitchFamily="34" charset="0"/>
                          <a:ea typeface="Tahoma" panose="020B0604030504040204" pitchFamily="34" charset="0"/>
                          <a:cs typeface="Tahoma" panose="020B0604030504040204" pitchFamily="34" charset="0"/>
                        </a:rPr>
                        <m:t>ớ</m:t>
                      </m:r>
                      <m:r>
                        <m:rPr>
                          <m:nor/>
                        </m:rPr>
                        <a:rPr lang="fr-FR" sz="4800" b="1">
                          <a:latin typeface="Tahoma" panose="020B0604030504040204" pitchFamily="34" charset="0"/>
                          <a:ea typeface="Tahoma" panose="020B0604030504040204" pitchFamily="34" charset="0"/>
                          <a:cs typeface="Tahoma" panose="020B0604030504040204" pitchFamily="34" charset="0"/>
                        </a:rPr>
                        <m:t>i</m:t>
                      </m:r>
                      <m:r>
                        <m:rPr>
                          <m:nor/>
                        </m:rPr>
                        <a:rPr lang="fr-FR" sz="4800" b="1">
                          <a:latin typeface="Tahoma" panose="020B0604030504040204" pitchFamily="34" charset="0"/>
                          <a:ea typeface="Tahoma" panose="020B0604030504040204" pitchFamily="34" charset="0"/>
                          <a:cs typeface="Tahoma" panose="020B0604030504040204" pitchFamily="34" charset="0"/>
                        </a:rPr>
                        <m:t> </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𝑨𝑴</m:t>
                          </m:r>
                        </m:e>
                      </m:acc>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7" name="TextBox 36">
                <a:extLst>
                  <a:ext uri="{FF2B5EF4-FFF2-40B4-BE49-F238E27FC236}">
                    <a16:creationId xmlns:a16="http://schemas.microsoft.com/office/drawing/2014/main" id="{10944151-E1E2-4A21-AF5F-5DDFEBFB8529}"/>
                  </a:ext>
                </a:extLst>
              </p:cNvPr>
              <p:cNvSpPr txBox="1">
                <a:spLocks noRot="1" noChangeAspect="1" noMove="1" noResize="1" noEditPoints="1" noAdjustHandles="1" noChangeArrowheads="1" noChangeShapeType="1" noTextEdit="1"/>
              </p:cNvSpPr>
              <p:nvPr/>
            </p:nvSpPr>
            <p:spPr>
              <a:xfrm>
                <a:off x="740245" y="8700964"/>
                <a:ext cx="15188758" cy="92275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56C8A10-1E4B-4374-B184-D6911EBD27C5}"/>
                  </a:ext>
                </a:extLst>
              </p:cNvPr>
              <p:cNvSpPr txBox="1"/>
              <p:nvPr/>
            </p:nvSpPr>
            <p:spPr>
              <a:xfrm>
                <a:off x="7406039" y="10268445"/>
                <a:ext cx="11282955" cy="17520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𝒎</m:t>
                          </m:r>
                          <m:r>
                            <a:rPr lang="en-US" sz="4800" b="1" i="1">
                              <a:latin typeface="Cambria Math" panose="02040503050406030204" pitchFamily="18" charset="0"/>
                            </a:rPr>
                            <m:t>−</m:t>
                          </m:r>
                          <m:r>
                            <a:rPr lang="en-US" sz="4800" b="1" i="1">
                              <a:latin typeface="Cambria Math" panose="02040503050406030204" pitchFamily="18" charset="0"/>
                            </a:rPr>
                            <m:t>𝟐</m:t>
                          </m:r>
                        </m:num>
                        <m:den>
                          <m:r>
                            <a:rPr lang="en-US" sz="4800" b="1" i="1">
                              <a:latin typeface="Cambria Math" panose="02040503050406030204" pitchFamily="18" charset="0"/>
                            </a:rPr>
                            <m:t>𝟏</m:t>
                          </m:r>
                        </m:den>
                      </m:f>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𝟑</m:t>
                          </m:r>
                        </m:num>
                        <m:den>
                          <m:r>
                            <a:rPr lang="en-US" sz="4800" b="1" i="1">
                              <a:latin typeface="Cambria Math" panose="02040503050406030204" pitchFamily="18" charset="0"/>
                            </a:rPr>
                            <m:t>𝟕</m:t>
                          </m:r>
                        </m:den>
                      </m:f>
                      <m:r>
                        <a:rPr lang="en-US" sz="4800" b="1" i="1">
                          <a:latin typeface="Cambria Math" panose="02040503050406030204" pitchFamily="18" charset="0"/>
                        </a:rPr>
                        <m:t>⇔</m:t>
                      </m:r>
                      <m:r>
                        <a:rPr lang="en-US" sz="4800" b="1" i="1">
                          <a:latin typeface="Cambria Math" panose="02040503050406030204" pitchFamily="18" charset="0"/>
                        </a:rPr>
                        <m:t>𝒎</m:t>
                      </m:r>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𝟏𝟕</m:t>
                          </m:r>
                        </m:num>
                        <m:den>
                          <m:r>
                            <a:rPr lang="en-US" sz="4800" b="1" i="1">
                              <a:latin typeface="Cambria Math" panose="02040503050406030204" pitchFamily="18" charset="0"/>
                            </a:rPr>
                            <m:t>𝟕</m:t>
                          </m:r>
                        </m:den>
                      </m:f>
                      <m:r>
                        <a:rPr lang="en-US" sz="4800" b="1" i="1">
                          <a:latin typeface="Cambria Math" panose="02040503050406030204" pitchFamily="18" charset="0"/>
                        </a:rPr>
                        <m:t>⇒</m:t>
                      </m:r>
                      <m:r>
                        <a:rPr lang="en-US" sz="4800" b="1" i="1">
                          <a:latin typeface="Cambria Math" panose="02040503050406030204" pitchFamily="18" charset="0"/>
                        </a:rPr>
                        <m:t>𝑴</m:t>
                      </m:r>
                      <m:d>
                        <m:dPr>
                          <m:ctrlPr>
                            <a:rPr lang="en-US" sz="4800" b="1" i="1">
                              <a:latin typeface="Cambria Math" panose="02040503050406030204" pitchFamily="18" charset="0"/>
                            </a:rPr>
                          </m:ctrlPr>
                        </m:dPr>
                        <m:e>
                          <m:f>
                            <m:fPr>
                              <m:ctrlPr>
                                <a:rPr lang="en-US" sz="4800" b="1" i="1">
                                  <a:latin typeface="Cambria Math" panose="02040503050406030204" pitchFamily="18" charset="0"/>
                                </a:rPr>
                              </m:ctrlPr>
                            </m:fPr>
                            <m:num>
                              <m:r>
                                <a:rPr lang="en-US" sz="4800" b="1" i="1">
                                  <a:latin typeface="Cambria Math" panose="02040503050406030204" pitchFamily="18" charset="0"/>
                                </a:rPr>
                                <m:t>𝟏𝟕</m:t>
                              </m:r>
                            </m:num>
                            <m:den>
                              <m:r>
                                <a:rPr lang="en-US" sz="4800" b="1" i="1">
                                  <a:latin typeface="Cambria Math" panose="02040503050406030204" pitchFamily="18" charset="0"/>
                                </a:rPr>
                                <m:t>𝟕</m:t>
                              </m:r>
                            </m:den>
                          </m:f>
                          <m:r>
                            <a:rPr lang="en-US" sz="4800" b="1" i="1">
                              <a:latin typeface="Cambria Math" panose="02040503050406030204" pitchFamily="18" charset="0"/>
                            </a:rPr>
                            <m:t>;</m:t>
                          </m:r>
                          <m:r>
                            <a:rPr lang="en-US" sz="4800" b="1" i="1">
                              <a:latin typeface="Cambria Math" panose="02040503050406030204" pitchFamily="18" charset="0"/>
                            </a:rPr>
                            <m:t>𝟎</m:t>
                          </m:r>
                        </m:e>
                      </m:d>
                      <m:r>
                        <a:rPr lang="en-US" sz="4800" b="1" i="1">
                          <a:latin typeface="Cambria Math" panose="02040503050406030204" pitchFamily="18"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3" name="TextBox 42">
                <a:extLst>
                  <a:ext uri="{FF2B5EF4-FFF2-40B4-BE49-F238E27FC236}">
                    <a16:creationId xmlns:a16="http://schemas.microsoft.com/office/drawing/2014/main" id="{656C8A10-1E4B-4374-B184-D6911EBD27C5}"/>
                  </a:ext>
                </a:extLst>
              </p:cNvPr>
              <p:cNvSpPr txBox="1">
                <a:spLocks noRot="1" noChangeAspect="1" noMove="1" noResize="1" noEditPoints="1" noAdjustHandles="1" noChangeArrowheads="1" noChangeShapeType="1" noTextEdit="1"/>
              </p:cNvSpPr>
              <p:nvPr/>
            </p:nvSpPr>
            <p:spPr>
              <a:xfrm>
                <a:off x="7406039" y="10268445"/>
                <a:ext cx="11282955" cy="1752018"/>
              </a:xfrm>
              <a:prstGeom prst="rect">
                <a:avLst/>
              </a:prstGeom>
              <a:blipFill>
                <a:blip r:embed="rId12"/>
                <a:stretch>
                  <a:fillRect/>
                </a:stretch>
              </a:blipFill>
            </p:spPr>
            <p:txBody>
              <a:bodyPr/>
              <a:lstStyle/>
              <a:p>
                <a:r>
                  <a:rPr lang="en-US">
                    <a:noFill/>
                  </a:rPr>
                  <a:t> </a:t>
                </a:r>
              </a:p>
            </p:txBody>
          </p:sp>
        </mc:Fallback>
      </mc:AlternateContent>
      <p:sp>
        <p:nvSpPr>
          <p:cNvPr id="45" name="Rounded Rectangle 4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9" name="TextBox 4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468019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left)">
                                      <p:cBhvr>
                                        <p:cTn id="21" dur="500"/>
                                        <p:tgtEl>
                                          <p:spTgt spid="3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wipe(left)">
                                      <p:cBhvr>
                                        <p:cTn id="31" dur="500"/>
                                        <p:tgtEl>
                                          <p:spTgt spid="43"/>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7" grpId="0"/>
      <p:bldP spid="4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E80CE3C4-DAA7-4A0F-8E87-ED076F69185F}"/>
              </a:ext>
            </a:extLst>
          </p:cNvPr>
          <p:cNvGrpSpPr/>
          <p:nvPr/>
        </p:nvGrpSpPr>
        <p:grpSpPr>
          <a:xfrm>
            <a:off x="12785255" y="3527949"/>
            <a:ext cx="11129366" cy="1671800"/>
            <a:chOff x="12587233" y="4540909"/>
            <a:chExt cx="11129366" cy="1671800"/>
          </a:xfrm>
          <a:solidFill>
            <a:srgbClr val="398842"/>
          </a:solidFill>
        </p:grpSpPr>
        <p:grpSp>
          <p:nvGrpSpPr>
            <p:cNvPr id="3" name="Group 2">
              <a:extLst>
                <a:ext uri="{FF2B5EF4-FFF2-40B4-BE49-F238E27FC236}">
                  <a16:creationId xmlns:a16="http://schemas.microsoft.com/office/drawing/2014/main" id="{8ED60405-6FE9-4B40-9417-CAE23C9ED837}"/>
                </a:ext>
              </a:extLst>
            </p:cNvPr>
            <p:cNvGrpSpPr/>
            <p:nvPr/>
          </p:nvGrpSpPr>
          <p:grpSpPr>
            <a:xfrm>
              <a:off x="12587233" y="4540909"/>
              <a:ext cx="11129366" cy="1671800"/>
              <a:chOff x="6322022" y="2025161"/>
              <a:chExt cx="5564683" cy="835900"/>
            </a:xfrm>
            <a:grpFill/>
          </p:grpSpPr>
          <p:sp>
            <p:nvSpPr>
              <p:cNvPr id="6" name="Rectangle 5">
                <a:extLst>
                  <a:ext uri="{FF2B5EF4-FFF2-40B4-BE49-F238E27FC236}">
                    <a16:creationId xmlns:a16="http://schemas.microsoft.com/office/drawing/2014/main" id="{6CA2B41E-3E96-4461-8538-9C0E545FB27A}"/>
                  </a:ext>
                </a:extLst>
              </p:cNvPr>
              <p:cNvSpPr/>
              <p:nvPr/>
            </p:nvSpPr>
            <p:spPr>
              <a:xfrm>
                <a:off x="6544723" y="2025161"/>
                <a:ext cx="2468235" cy="835899"/>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a:solidFill>
                    <a:schemeClr val="bg1"/>
                  </a:solidFill>
                  <a:latin typeface="Tahoma" pitchFamily="34" charset="0"/>
                  <a:ea typeface="Tahoma" pitchFamily="34" charset="0"/>
                  <a:cs typeface="Tahoma" pitchFamily="34" charset="0"/>
                </a:endParaRPr>
              </a:p>
            </p:txBody>
          </p:sp>
          <p:sp>
            <p:nvSpPr>
              <p:cNvPr id="7" name="Oval 6">
                <a:extLst>
                  <a:ext uri="{FF2B5EF4-FFF2-40B4-BE49-F238E27FC236}">
                    <a16:creationId xmlns:a16="http://schemas.microsoft.com/office/drawing/2014/main" id="{EF4C6AFC-ECFF-4896-A74E-0ABF4C0215BE}"/>
                  </a:ext>
                </a:extLst>
              </p:cNvPr>
              <p:cNvSpPr/>
              <p:nvPr/>
            </p:nvSpPr>
            <p:spPr>
              <a:xfrm>
                <a:off x="6322022" y="2172037"/>
                <a:ext cx="544265"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schemeClr val="bg1"/>
                    </a:solidFill>
                    <a:latin typeface="Tahoma" pitchFamily="34" charset="0"/>
                    <a:ea typeface="Tahoma" pitchFamily="34" charset="0"/>
                    <a:cs typeface="Tahoma" pitchFamily="34" charset="0"/>
                  </a:rPr>
                  <a:t>C</a:t>
                </a:r>
                <a:endParaRPr lang="en-US" sz="6400" dirty="0">
                  <a:solidFill>
                    <a:schemeClr val="bg1"/>
                  </a:solidFill>
                </a:endParaRPr>
              </a:p>
            </p:txBody>
          </p:sp>
          <p:sp>
            <p:nvSpPr>
              <p:cNvPr id="8" name="Rectangle 7">
                <a:extLst>
                  <a:ext uri="{FF2B5EF4-FFF2-40B4-BE49-F238E27FC236}">
                    <a16:creationId xmlns:a16="http://schemas.microsoft.com/office/drawing/2014/main" id="{65B34D41-D978-4E56-B444-EE5A24E5A300}"/>
                  </a:ext>
                </a:extLst>
              </p:cNvPr>
              <p:cNvSpPr/>
              <p:nvPr/>
            </p:nvSpPr>
            <p:spPr>
              <a:xfrm>
                <a:off x="9418470" y="2025162"/>
                <a:ext cx="2468235" cy="835899"/>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a:solidFill>
                    <a:schemeClr val="bg1"/>
                  </a:solidFill>
                  <a:latin typeface="Tahoma" pitchFamily="34" charset="0"/>
                  <a:ea typeface="Tahoma" pitchFamily="34" charset="0"/>
                  <a:cs typeface="Tahoma" pitchFamily="34" charset="0"/>
                </a:endParaRPr>
              </a:p>
            </p:txBody>
          </p:sp>
          <p:sp>
            <p:nvSpPr>
              <p:cNvPr id="9" name="Oval 8">
                <a:extLst>
                  <a:ext uri="{FF2B5EF4-FFF2-40B4-BE49-F238E27FC236}">
                    <a16:creationId xmlns:a16="http://schemas.microsoft.com/office/drawing/2014/main" id="{7274D4B7-DB46-45A2-9BE8-FD4F6E5AA9BA}"/>
                  </a:ext>
                </a:extLst>
              </p:cNvPr>
              <p:cNvSpPr/>
              <p:nvPr/>
            </p:nvSpPr>
            <p:spPr>
              <a:xfrm>
                <a:off x="9216502" y="2123464"/>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schemeClr val="bg1"/>
                    </a:solidFill>
                    <a:latin typeface="Tahoma" pitchFamily="34" charset="0"/>
                    <a:ea typeface="Tahoma" pitchFamily="34" charset="0"/>
                    <a:cs typeface="Tahoma" pitchFamily="34" charset="0"/>
                  </a:rPr>
                  <a:t>D</a:t>
                </a:r>
                <a:endParaRPr lang="en-US" sz="6400" dirty="0">
                  <a:solidFill>
                    <a:schemeClr val="bg1"/>
                  </a:solidFill>
                </a:endParaRPr>
              </a:p>
            </p:txBody>
          </p:sp>
        </p:gr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084E6AB-536A-4376-B134-DADD4F5BCF11}"/>
                    </a:ext>
                  </a:extLst>
                </p:cNvPr>
                <p:cNvSpPr/>
                <p:nvPr/>
              </p:nvSpPr>
              <p:spPr>
                <a:xfrm>
                  <a:off x="13544581" y="4948708"/>
                  <a:ext cx="3631577" cy="830997"/>
                </a:xfrm>
                <a:prstGeom prst="rect">
                  <a:avLst/>
                </a:prstGeom>
                <a:noFill/>
              </p:spPr>
              <p:txBody>
                <a:bodyPr wrap="square">
                  <a:spAutoFit/>
                </a:bodyPr>
                <a:lstStyle/>
                <a:p>
                  <a:pPr lvl="0" algn="ctr"/>
                  <a14:m>
                    <m:oMathPara xmlns:m="http://schemas.openxmlformats.org/officeDocument/2006/math">
                      <m:oMathParaPr>
                        <m:jc m:val="centerGroup"/>
                      </m:oMathParaPr>
                      <m:oMath xmlns:m="http://schemas.openxmlformats.org/officeDocument/2006/math">
                        <m:r>
                          <a:rPr lang="en-US" sz="4800" i="1">
                            <a:solidFill>
                              <a:schemeClr val="bg1"/>
                            </a:solidFill>
                            <a:latin typeface="Cambria Math" panose="02040503050406030204" pitchFamily="18" charset="0"/>
                            <a:ea typeface="Times New Roman" panose="02020603050405020304" pitchFamily="18" charset="0"/>
                            <a:cs typeface="Tahoma" panose="020B0604030504040204" pitchFamily="34" charset="0"/>
                          </a:rPr>
                          <m:t>𝑀</m:t>
                        </m:r>
                        <m:d>
                          <m:dPr>
                            <m:ctrlPr>
                              <a:rPr lang="en-US" sz="4800" i="1">
                                <a:solidFill>
                                  <a:schemeClr val="bg1"/>
                                </a:solidFill>
                                <a:latin typeface="Cambria Math" panose="02040503050406030204" pitchFamily="18" charset="0"/>
                                <a:ea typeface="Times New Roman" panose="02020603050405020304" pitchFamily="18" charset="0"/>
                                <a:cs typeface="Tahoma" panose="020B0604030504040204" pitchFamily="34" charset="0"/>
                              </a:rPr>
                            </m:ctrlPr>
                          </m:dPr>
                          <m:e>
                            <m:r>
                              <a:rPr lang="en-US" sz="4800" i="1">
                                <a:solidFill>
                                  <a:schemeClr val="bg1"/>
                                </a:solidFill>
                                <a:latin typeface="Cambria Math" panose="02040503050406030204" pitchFamily="18" charset="0"/>
                                <a:ea typeface="Times New Roman" panose="02020603050405020304" pitchFamily="18" charset="0"/>
                                <a:cs typeface="Tahoma" panose="020B0604030504040204" pitchFamily="34" charset="0"/>
                              </a:rPr>
                              <m:t>16;0</m:t>
                            </m:r>
                          </m:e>
                        </m:d>
                        <m:r>
                          <a:rPr lang="en-US" sz="4800" i="1">
                            <a:solidFill>
                              <a:schemeClr val="bg1"/>
                            </a:solidFill>
                            <a:latin typeface="Cambria Math" panose="02040503050406030204" pitchFamily="18" charset="0"/>
                            <a:ea typeface="Times New Roman" panose="02020603050405020304" pitchFamily="18" charset="0"/>
                            <a:cs typeface="Tahoma" panose="020B0604030504040204" pitchFamily="34" charset="0"/>
                          </a:rPr>
                          <m:t>.</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 name="Rectangle 3">
                  <a:extLst>
                    <a:ext uri="{FF2B5EF4-FFF2-40B4-BE49-F238E27FC236}">
                      <a16:creationId xmlns:a16="http://schemas.microsoft.com/office/drawing/2014/main" id="{2084E6AB-536A-4376-B134-DADD4F5BCF11}"/>
                    </a:ext>
                  </a:extLst>
                </p:cNvPr>
                <p:cNvSpPr>
                  <a:spLocks noRot="1" noChangeAspect="1" noMove="1" noResize="1" noEditPoints="1" noAdjustHandles="1" noChangeArrowheads="1" noChangeShapeType="1" noTextEdit="1"/>
                </p:cNvSpPr>
                <p:nvPr/>
              </p:nvSpPr>
              <p:spPr>
                <a:xfrm>
                  <a:off x="13544581" y="4948708"/>
                  <a:ext cx="3631577" cy="83099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AE03CC7A-63AE-496D-BA77-14300DB71895}"/>
                    </a:ext>
                  </a:extLst>
                </p:cNvPr>
                <p:cNvSpPr/>
                <p:nvPr/>
              </p:nvSpPr>
              <p:spPr>
                <a:xfrm>
                  <a:off x="19802895" y="4971941"/>
                  <a:ext cx="3411594" cy="830997"/>
                </a:xfrm>
                <a:prstGeom prst="rect">
                  <a:avLst/>
                </a:prstGeom>
                <a:noFill/>
              </p:spPr>
              <p:txBody>
                <a:bodyPr wrap="square">
                  <a:spAutoFit/>
                </a:bodyPr>
                <a:lstStyle/>
                <a:p>
                  <a:pPr lvl="0" algn="ctr"/>
                  <a14:m>
                    <m:oMathPara xmlns:m="http://schemas.openxmlformats.org/officeDocument/2006/math">
                      <m:oMathParaPr>
                        <m:jc m:val="centerGroup"/>
                      </m:oMathParaPr>
                      <m:oMath xmlns:m="http://schemas.openxmlformats.org/officeDocument/2006/math">
                        <m:r>
                          <a:rPr lang="en-US" sz="4800" i="1">
                            <a:solidFill>
                              <a:schemeClr val="bg1"/>
                            </a:solidFill>
                            <a:latin typeface="Cambria Math" panose="02040503050406030204" pitchFamily="18" charset="0"/>
                            <a:ea typeface="Times New Roman" panose="02020603050405020304" pitchFamily="18" charset="0"/>
                            <a:cs typeface="Tahoma" panose="020B0604030504040204" pitchFamily="34" charset="0"/>
                          </a:rPr>
                          <m:t>𝑀</m:t>
                        </m:r>
                        <m:d>
                          <m:dPr>
                            <m:ctrlPr>
                              <a:rPr lang="en-US" sz="4800" i="1">
                                <a:solidFill>
                                  <a:schemeClr val="bg1"/>
                                </a:solidFill>
                                <a:latin typeface="Cambria Math" panose="02040503050406030204" pitchFamily="18" charset="0"/>
                                <a:ea typeface="Times New Roman" panose="02020603050405020304" pitchFamily="18" charset="0"/>
                                <a:cs typeface="Tahoma" panose="020B0604030504040204" pitchFamily="34" charset="0"/>
                              </a:rPr>
                            </m:ctrlPr>
                          </m:dPr>
                          <m:e>
                            <m:r>
                              <a:rPr lang="en-US" sz="4800" i="1">
                                <a:solidFill>
                                  <a:schemeClr val="bg1"/>
                                </a:solidFill>
                                <a:latin typeface="Cambria Math" panose="02040503050406030204" pitchFamily="18" charset="0"/>
                                <a:ea typeface="Times New Roman" panose="02020603050405020304" pitchFamily="18" charset="0"/>
                                <a:cs typeface="Tahoma" panose="020B0604030504040204" pitchFamily="34" charset="0"/>
                              </a:rPr>
                              <m:t>−16;0</m:t>
                            </m:r>
                          </m:e>
                        </m:d>
                        <m:r>
                          <a:rPr lang="en-US" sz="4800" i="1">
                            <a:solidFill>
                              <a:schemeClr val="bg1"/>
                            </a:solidFill>
                            <a:latin typeface="Cambria Math" panose="02040503050406030204" pitchFamily="18" charset="0"/>
                            <a:ea typeface="Times New Roman" panose="02020603050405020304" pitchFamily="18" charset="0"/>
                            <a:cs typeface="Tahoma" panose="020B0604030504040204" pitchFamily="34" charset="0"/>
                          </a:rPr>
                          <m:t>.</m:t>
                        </m:r>
                      </m:oMath>
                    </m:oMathPara>
                  </a14:m>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5" name="Rectangle 4">
                  <a:extLst>
                    <a:ext uri="{FF2B5EF4-FFF2-40B4-BE49-F238E27FC236}">
                      <a16:creationId xmlns:a16="http://schemas.microsoft.com/office/drawing/2014/main" id="{AE03CC7A-63AE-496D-BA77-14300DB71895}"/>
                    </a:ext>
                  </a:extLst>
                </p:cNvPr>
                <p:cNvSpPr>
                  <a:spLocks noRot="1" noChangeAspect="1" noMove="1" noResize="1" noEditPoints="1" noAdjustHandles="1" noChangeArrowheads="1" noChangeShapeType="1" noTextEdit="1"/>
                </p:cNvSpPr>
                <p:nvPr/>
              </p:nvSpPr>
              <p:spPr>
                <a:xfrm>
                  <a:off x="19802895" y="4971941"/>
                  <a:ext cx="3411594" cy="830997"/>
                </a:xfrm>
                <a:prstGeom prst="rect">
                  <a:avLst/>
                </a:prstGeom>
                <a:blipFill>
                  <a:blip r:embed="rId3"/>
                  <a:stretch>
                    <a:fillRect/>
                  </a:stretch>
                </a:blipFill>
              </p:spPr>
              <p:txBody>
                <a:bodyPr/>
                <a:lstStyle/>
                <a:p>
                  <a:r>
                    <a:rPr lang="en-US">
                      <a:noFill/>
                    </a:rPr>
                    <a:t> </a:t>
                  </a:r>
                </a:p>
              </p:txBody>
            </p:sp>
          </mc:Fallback>
        </mc:AlternateContent>
      </p:grpSp>
      <p:sp>
        <p:nvSpPr>
          <p:cNvPr id="10" name="Rounded Rectangle 52">
            <a:extLst>
              <a:ext uri="{FF2B5EF4-FFF2-40B4-BE49-F238E27FC236}">
                <a16:creationId xmlns:a16="http://schemas.microsoft.com/office/drawing/2014/main" id="{FA8A8524-55A3-4DC1-AC61-514744DED919}"/>
              </a:ext>
            </a:extLst>
          </p:cNvPr>
          <p:cNvSpPr/>
          <p:nvPr/>
        </p:nvSpPr>
        <p:spPr>
          <a:xfrm>
            <a:off x="168478" y="5729623"/>
            <a:ext cx="24032779" cy="7452978"/>
          </a:xfrm>
          <a:prstGeom prst="roundRect">
            <a:avLst>
              <a:gd name="adj" fmla="val 2239"/>
            </a:avLst>
          </a:prstGeom>
          <a:solidFill>
            <a:srgbClr val="C9E2B8"/>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b="1" dirty="0">
              <a:solidFill>
                <a:schemeClr val="tx1"/>
              </a:solidFill>
            </a:endParaRPr>
          </a:p>
        </p:txBody>
      </p:sp>
      <p:grpSp>
        <p:nvGrpSpPr>
          <p:cNvPr id="11" name="Group 5">
            <a:extLst>
              <a:ext uri="{FF2B5EF4-FFF2-40B4-BE49-F238E27FC236}">
                <a16:creationId xmlns:a16="http://schemas.microsoft.com/office/drawing/2014/main" id="{5357AC78-711D-478D-ACB6-63856B9AEF4B}"/>
              </a:ext>
            </a:extLst>
          </p:cNvPr>
          <p:cNvGrpSpPr/>
          <p:nvPr/>
        </p:nvGrpSpPr>
        <p:grpSpPr>
          <a:xfrm>
            <a:off x="149512" y="5731372"/>
            <a:ext cx="3597091" cy="947017"/>
            <a:chOff x="444986" y="4051804"/>
            <a:chExt cx="3954274" cy="1049623"/>
          </a:xfrm>
          <a:solidFill>
            <a:srgbClr val="C9E2B8"/>
          </a:solidFill>
        </p:grpSpPr>
        <p:sp>
          <p:nvSpPr>
            <p:cNvPr id="12" name="Freeform 20">
              <a:extLst>
                <a:ext uri="{FF2B5EF4-FFF2-40B4-BE49-F238E27FC236}">
                  <a16:creationId xmlns:a16="http://schemas.microsoft.com/office/drawing/2014/main" id="{71EB90B6-0FE8-4179-A425-76D3F5FD278D}"/>
                </a:ext>
              </a:extLst>
            </p:cNvPr>
            <p:cNvSpPr>
              <a:spLocks/>
            </p:cNvSpPr>
            <p:nvPr/>
          </p:nvSpPr>
          <p:spPr bwMode="auto">
            <a:xfrm rot="16200000" flipV="1">
              <a:off x="2446922" y="3043659"/>
              <a:ext cx="908272"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3" name="TextBox 7">
              <a:extLst>
                <a:ext uri="{FF2B5EF4-FFF2-40B4-BE49-F238E27FC236}">
                  <a16:creationId xmlns:a16="http://schemas.microsoft.com/office/drawing/2014/main" id="{0C3FF307-8179-4A2B-82EF-0CAF4A8A7ECA}"/>
                </a:ext>
              </a:extLst>
            </p:cNvPr>
            <p:cNvSpPr txBox="1"/>
            <p:nvPr/>
          </p:nvSpPr>
          <p:spPr>
            <a:xfrm>
              <a:off x="1425342" y="4051804"/>
              <a:ext cx="2872840" cy="800219"/>
            </a:xfrm>
            <a:prstGeom prst="rect">
              <a:avLst/>
            </a:prstGeom>
            <a:noFill/>
          </p:spPr>
          <p:txBody>
            <a:bodyPr wrap="square" rtlCol="0">
              <a:spAutoFit/>
            </a:bodyPr>
            <a:lstStyle/>
            <a:p>
              <a:pPr algn="ctr"/>
              <a:r>
                <a:rPr lang="vi-VN" sz="4600" b="1" dirty="0">
                  <a:solidFill>
                    <a:schemeClr val="accent6">
                      <a:lumMod val="75000"/>
                    </a:schemeClr>
                  </a:solidFill>
                  <a:latin typeface="Tahoma" pitchFamily="34" charset="0"/>
                  <a:ea typeface="Tahoma" pitchFamily="34" charset="0"/>
                  <a:cs typeface="Tahoma" pitchFamily="34" charset="0"/>
                </a:rPr>
                <a:t>Bài giải</a:t>
              </a:r>
              <a:endParaRPr lang="en-US" sz="4600" b="1" dirty="0">
                <a:solidFill>
                  <a:schemeClr val="accent6">
                    <a:lumMod val="75000"/>
                  </a:schemeClr>
                </a:solidFill>
                <a:latin typeface="Tahoma" pitchFamily="34" charset="0"/>
                <a:ea typeface="Tahoma" pitchFamily="34" charset="0"/>
                <a:cs typeface="Tahoma" pitchFamily="34" charset="0"/>
              </a:endParaRPr>
            </a:p>
          </p:txBody>
        </p:sp>
        <p:pic>
          <p:nvPicPr>
            <p:cNvPr id="14" name="Picture 8">
              <a:extLst>
                <a:ext uri="{FF2B5EF4-FFF2-40B4-BE49-F238E27FC236}">
                  <a16:creationId xmlns:a16="http://schemas.microsoft.com/office/drawing/2014/main" id="{7907171D-A66E-488E-B774-2D76551B21D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7950" t="14860" r="18922" b="25555"/>
            <a:stretch/>
          </p:blipFill>
          <p:spPr>
            <a:xfrm>
              <a:off x="444986" y="4064015"/>
              <a:ext cx="1058947" cy="1037412"/>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sp>
        <p:nvSpPr>
          <p:cNvPr id="16" name="Rounded Rectangle 41">
            <a:extLst>
              <a:ext uri="{FF2B5EF4-FFF2-40B4-BE49-F238E27FC236}">
                <a16:creationId xmlns:a16="http://schemas.microsoft.com/office/drawing/2014/main" id="{8CEB7639-8C37-429B-8642-89A2596E45BF}"/>
              </a:ext>
            </a:extLst>
          </p:cNvPr>
          <p:cNvSpPr/>
          <p:nvPr/>
        </p:nvSpPr>
        <p:spPr>
          <a:xfrm>
            <a:off x="168478" y="1280153"/>
            <a:ext cx="12388739" cy="4330017"/>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Tahoma" pitchFamily="34" charset="0"/>
              <a:ea typeface="Tahoma" pitchFamily="34" charset="0"/>
              <a:cs typeface="Tahoma" pitchFamily="34" charset="0"/>
            </a:endParaRPr>
          </a:p>
        </p:txBody>
      </p:sp>
      <p:grpSp>
        <p:nvGrpSpPr>
          <p:cNvPr id="17" name="Group 16">
            <a:extLst>
              <a:ext uri="{FF2B5EF4-FFF2-40B4-BE49-F238E27FC236}">
                <a16:creationId xmlns:a16="http://schemas.microsoft.com/office/drawing/2014/main" id="{4CEC6580-039C-483A-B732-1519BE679FD3}"/>
              </a:ext>
            </a:extLst>
          </p:cNvPr>
          <p:cNvGrpSpPr/>
          <p:nvPr/>
        </p:nvGrpSpPr>
        <p:grpSpPr>
          <a:xfrm>
            <a:off x="-1724" y="1178473"/>
            <a:ext cx="3656379" cy="847011"/>
            <a:chOff x="923003" y="3917552"/>
            <a:chExt cx="4003839" cy="1064365"/>
          </a:xfrm>
        </p:grpSpPr>
        <p:grpSp>
          <p:nvGrpSpPr>
            <p:cNvPr id="18" name="Group 17">
              <a:extLst>
                <a:ext uri="{FF2B5EF4-FFF2-40B4-BE49-F238E27FC236}">
                  <a16:creationId xmlns:a16="http://schemas.microsoft.com/office/drawing/2014/main" id="{2DE8E5AA-2865-469B-B774-A4C2380AE3FD}"/>
                </a:ext>
              </a:extLst>
            </p:cNvPr>
            <p:cNvGrpSpPr/>
            <p:nvPr/>
          </p:nvGrpSpPr>
          <p:grpSpPr>
            <a:xfrm>
              <a:off x="1362045" y="3976350"/>
              <a:ext cx="3564797" cy="1005567"/>
              <a:chOff x="2028795" y="4338300"/>
              <a:chExt cx="3564797" cy="1005567"/>
            </a:xfrm>
          </p:grpSpPr>
          <p:sp>
            <p:nvSpPr>
              <p:cNvPr id="20" name="Freeform 20">
                <a:extLst>
                  <a:ext uri="{FF2B5EF4-FFF2-40B4-BE49-F238E27FC236}">
                    <a16:creationId xmlns:a16="http://schemas.microsoft.com/office/drawing/2014/main" id="{3EA2DB46-FE90-4B71-AD74-95E7FBA35FB5}"/>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latin typeface="Tahoma" pitchFamily="34" charset="0"/>
                  <a:ea typeface="Tahoma" pitchFamily="34" charset="0"/>
                  <a:cs typeface="Tahoma" pitchFamily="34" charset="0"/>
                </a:endParaRPr>
              </a:p>
            </p:txBody>
          </p:sp>
          <p:sp>
            <p:nvSpPr>
              <p:cNvPr id="21" name="TextBox 20">
                <a:extLst>
                  <a:ext uri="{FF2B5EF4-FFF2-40B4-BE49-F238E27FC236}">
                    <a16:creationId xmlns:a16="http://schemas.microsoft.com/office/drawing/2014/main" id="{8F396E61-7359-474F-BCD6-96B28911FADE}"/>
                  </a:ext>
                </a:extLst>
              </p:cNvPr>
              <p:cNvSpPr txBox="1"/>
              <p:nvPr/>
            </p:nvSpPr>
            <p:spPr>
              <a:xfrm>
                <a:off x="2532513" y="4338300"/>
                <a:ext cx="3061079" cy="1005567"/>
              </a:xfrm>
              <a:prstGeom prst="rect">
                <a:avLst/>
              </a:prstGeom>
              <a:noFill/>
            </p:spPr>
            <p:txBody>
              <a:bodyPr wrap="square" rtlCol="0">
                <a:spAutoFit/>
              </a:bodyPr>
              <a:lstStyle/>
              <a:p>
                <a:pPr algn="ctr"/>
                <a:r>
                  <a:rPr lang="en-US" sz="4600" b="1" dirty="0" err="1">
                    <a:latin typeface="Tahoma" pitchFamily="34" charset="0"/>
                    <a:ea typeface="Tahoma" pitchFamily="34" charset="0"/>
                    <a:cs typeface="Tahoma" pitchFamily="34" charset="0"/>
                  </a:rPr>
                  <a:t>Câu</a:t>
                </a:r>
                <a:r>
                  <a:rPr lang="en-US" sz="4600" b="1" dirty="0">
                    <a:latin typeface="Tahoma" pitchFamily="34" charset="0"/>
                    <a:ea typeface="Tahoma" pitchFamily="34" charset="0"/>
                    <a:cs typeface="Tahoma" pitchFamily="34" charset="0"/>
                  </a:rPr>
                  <a:t> 14</a:t>
                </a:r>
              </a:p>
            </p:txBody>
          </p:sp>
        </p:grpSp>
        <p:pic>
          <p:nvPicPr>
            <p:cNvPr id="19" name="Picture 18">
              <a:extLst>
                <a:ext uri="{FF2B5EF4-FFF2-40B4-BE49-F238E27FC236}">
                  <a16:creationId xmlns:a16="http://schemas.microsoft.com/office/drawing/2014/main" id="{977179F5-EF5F-4DF5-BB5A-FC6532B9579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2D542EB-DA8F-4047-A893-7C264039979F}"/>
                  </a:ext>
                </a:extLst>
              </p:cNvPr>
              <p:cNvSpPr txBox="1"/>
              <p:nvPr/>
            </p:nvSpPr>
            <p:spPr>
              <a:xfrm>
                <a:off x="184672" y="1197332"/>
                <a:ext cx="12279860" cy="4430444"/>
              </a:xfrm>
              <a:prstGeom prst="rect">
                <a:avLst/>
              </a:prstGeom>
              <a:noFill/>
            </p:spPr>
            <p:txBody>
              <a:bodyPr wrap="square" rtlCol="0">
                <a:spAutoFit/>
              </a:bodyPr>
              <a:lstStyle/>
              <a:p>
                <a:pPr marL="629920" indent="-629920" algn="just">
                  <a:lnSpc>
                    <a:spcPct val="115000"/>
                  </a:lnSpc>
                  <a:spcAft>
                    <a:spcPts val="800"/>
                  </a:spcAft>
                  <a:tabLst>
                    <a:tab pos="629920" algn="l"/>
                  </a:tabLst>
                </a:pPr>
                <a:r>
                  <a:rPr lang="en-US" sz="4800" b="1" dirty="0">
                    <a:latin typeface="Tahoma" pitchFamily="34" charset="0"/>
                    <a:ea typeface="Tahoma" pitchFamily="34" charset="0"/>
                    <a:cs typeface="Tahoma"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Trong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hệ</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tọa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độ</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𝑶𝒙𝒚</m:t>
                    </m:r>
                    <m:r>
                      <a:rPr lang="en-US" sz="4800" b="1" i="1">
                        <a:latin typeface="Cambria Math" panose="02040503050406030204" pitchFamily="18" charset="0"/>
                        <a:ea typeface="Calibri" panose="020F0502020204030204" pitchFamily="34" charset="0"/>
                        <a:cs typeface="Tahoma" panose="020B0604030504040204" pitchFamily="34" charset="0"/>
                      </a:rPr>
                      <m:t>,</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m:rPr>
                        <m:nor/>
                      </m:rPr>
                      <a:rPr lang="en-US" sz="4800" b="1">
                        <a:solidFill>
                          <a:srgbClr val="000000"/>
                        </a:solidFill>
                        <a:latin typeface="Tahoma" panose="020B0604030504040204" pitchFamily="34" charset="0"/>
                        <a:ea typeface="Tahoma" panose="020B0604030504040204" pitchFamily="34" charset="0"/>
                        <a:cs typeface="Tahoma" panose="020B0604030504040204" pitchFamily="34" charset="0"/>
                      </a:rPr>
                      <m:t>A</m:t>
                    </m:r>
                    <m:d>
                      <m:dPr>
                        <m:ctrlPr>
                          <a:rPr lang="en-US" sz="4800" b="1" i="1">
                            <a:solidFill>
                              <a:srgbClr val="000000"/>
                            </a:solidFill>
                            <a:latin typeface="Cambria Math" panose="02040503050406030204" pitchFamily="18" charset="0"/>
                            <a:ea typeface="Calibri" panose="020F0502020204030204" pitchFamily="34" charset="0"/>
                            <a:cs typeface="Tahoma" panose="020B0604030504040204" pitchFamily="34" charset="0"/>
                          </a:rPr>
                        </m:ctrlPr>
                      </m:dPr>
                      <m:e>
                        <m:r>
                          <a:rPr lang="en-US" sz="4800" b="1" i="1">
                            <a:solidFill>
                              <a:srgbClr val="000000"/>
                            </a:solidFill>
                            <a:latin typeface="Cambria Math" panose="02040503050406030204" pitchFamily="18" charset="0"/>
                            <a:ea typeface="Calibri" panose="020F0502020204030204" pitchFamily="34" charset="0"/>
                            <a:cs typeface="Tahoma" panose="020B0604030504040204" pitchFamily="34" charset="0"/>
                          </a:rPr>
                          <m:t>𝟏</m:t>
                        </m:r>
                        <m:r>
                          <a:rPr lang="en-US" sz="4800" b="1" i="1">
                            <a:solidFill>
                              <a:srgbClr val="000000"/>
                            </a:solidFill>
                            <a:latin typeface="Cambria Math" panose="02040503050406030204" pitchFamily="18" charset="0"/>
                            <a:ea typeface="Calibri" panose="020F0502020204030204" pitchFamily="34" charset="0"/>
                            <a:cs typeface="Tahoma" panose="020B0604030504040204" pitchFamily="34" charset="0"/>
                          </a:rPr>
                          <m:t>;</m:t>
                        </m:r>
                        <m:r>
                          <a:rPr lang="en-US" sz="4800" b="1" i="1">
                            <a:solidFill>
                              <a:srgbClr val="000000"/>
                            </a:solidFill>
                            <a:latin typeface="Cambria Math" panose="02040503050406030204" pitchFamily="18" charset="0"/>
                            <a:ea typeface="Calibri" panose="020F0502020204030204" pitchFamily="34" charset="0"/>
                            <a:cs typeface="Tahoma" panose="020B0604030504040204" pitchFamily="34" charset="0"/>
                          </a:rPr>
                          <m:t>𝟎</m:t>
                        </m:r>
                      </m:e>
                    </m:d>
                    <m:r>
                      <a:rPr lang="en-US" sz="4800" b="1" i="1">
                        <a:solidFill>
                          <a:srgbClr val="000000"/>
                        </a:solidFill>
                        <a:latin typeface="Cambria Math" panose="02040503050406030204" pitchFamily="18" charset="0"/>
                        <a:ea typeface="Calibri" panose="020F0502020204030204" pitchFamily="34" charset="0"/>
                        <a:cs typeface="Tahoma" panose="020B0604030504040204" pitchFamily="34" charset="0"/>
                      </a:rPr>
                      <m:t>,</m:t>
                    </m:r>
                    <m:r>
                      <a:rPr lang="en-US" sz="4800" b="1" i="1">
                        <a:solidFill>
                          <a:srgbClr val="000000"/>
                        </a:solidFill>
                        <a:latin typeface="Cambria Math" panose="02040503050406030204" pitchFamily="18" charset="0"/>
                        <a:ea typeface="Calibri" panose="020F0502020204030204" pitchFamily="34" charset="0"/>
                        <a:cs typeface="Tahoma" panose="020B0604030504040204" pitchFamily="34" charset="0"/>
                      </a:rPr>
                      <m:t>𝑩</m:t>
                    </m:r>
                    <m:d>
                      <m:dPr>
                        <m:ctrlPr>
                          <a:rPr lang="en-US" sz="4800" b="1" i="1">
                            <a:solidFill>
                              <a:srgbClr val="000000"/>
                            </a:solidFill>
                            <a:latin typeface="Cambria Math" panose="02040503050406030204" pitchFamily="18" charset="0"/>
                            <a:ea typeface="Calibri" panose="020F0502020204030204" pitchFamily="34" charset="0"/>
                            <a:cs typeface="Tahoma" panose="020B0604030504040204" pitchFamily="34" charset="0"/>
                          </a:rPr>
                        </m:ctrlPr>
                      </m:dPr>
                      <m:e>
                        <m:r>
                          <a:rPr lang="en-US" sz="4800" b="1" i="1">
                            <a:solidFill>
                              <a:srgbClr val="000000"/>
                            </a:solidFill>
                            <a:latin typeface="Cambria Math" panose="02040503050406030204" pitchFamily="18" charset="0"/>
                            <a:ea typeface="Calibri" panose="020F0502020204030204" pitchFamily="34" charset="0"/>
                            <a:cs typeface="Tahoma" panose="020B0604030504040204" pitchFamily="34" charset="0"/>
                          </a:rPr>
                          <m:t>𝟎</m:t>
                        </m:r>
                        <m:r>
                          <a:rPr lang="en-US" sz="4800" b="1" i="1">
                            <a:solidFill>
                              <a:srgbClr val="000000"/>
                            </a:solidFill>
                            <a:latin typeface="Cambria Math" panose="02040503050406030204" pitchFamily="18" charset="0"/>
                            <a:ea typeface="Calibri" panose="020F0502020204030204" pitchFamily="34" charset="0"/>
                            <a:cs typeface="Tahoma" panose="020B0604030504040204" pitchFamily="34" charset="0"/>
                          </a:rPr>
                          <m:t>;</m:t>
                        </m:r>
                        <m:r>
                          <a:rPr lang="en-US" sz="4800" b="1" i="1">
                            <a:solidFill>
                              <a:srgbClr val="000000"/>
                            </a:solidFill>
                            <a:latin typeface="Cambria Math" panose="02040503050406030204" pitchFamily="18" charset="0"/>
                            <a:ea typeface="Calibri" panose="020F0502020204030204" pitchFamily="34" charset="0"/>
                            <a:cs typeface="Tahoma" panose="020B0604030504040204" pitchFamily="34" charset="0"/>
                          </a:rPr>
                          <m:t>𝟑</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𝑪</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𝟑</m:t>
                        </m:r>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𝟓</m:t>
                        </m:r>
                      </m:e>
                    </m:d>
                    <m:r>
                      <a:rPr lang="en-US" sz="4800" b="1" i="1">
                        <a:latin typeface="Cambria Math" panose="02040503050406030204" pitchFamily="18" charset="0"/>
                        <a:ea typeface="Calibri" panose="020F0502020204030204" pitchFamily="34" charset="0"/>
                        <a:cs typeface="Tahoma" panose="020B0604030504040204" pitchFamily="34" charset="0"/>
                      </a:rPr>
                      <m:t>.</m:t>
                    </m:r>
                  </m:oMath>
                </a14:m>
                <a:r>
                  <a:rPr lang="fr-FR" sz="4800" b="1" dirty="0">
                    <a:latin typeface="Tahoma" panose="020B0604030504040204" pitchFamily="34" charset="0"/>
                    <a:ea typeface="Tahoma" panose="020B0604030504040204" pitchFamily="34" charset="0"/>
                    <a:cs typeface="Tahoma" panose="020B0604030504040204" pitchFamily="34" charset="0"/>
                  </a:rPr>
                  <a:t> Tìm </a:t>
                </a:r>
                <a:r>
                  <a:rPr lang="fr-FR" sz="4800" b="1" dirty="0" err="1">
                    <a:latin typeface="Tahoma" panose="020B0604030504040204" pitchFamily="34" charset="0"/>
                    <a:ea typeface="Tahoma" panose="020B0604030504040204" pitchFamily="34" charset="0"/>
                    <a:cs typeface="Tahoma" panose="020B0604030504040204" pitchFamily="34" charset="0"/>
                  </a:rPr>
                  <a:t>điểm</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𝑴</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thuộc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trục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hoành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sao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biểu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thức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𝑷</m:t>
                    </m:r>
                    <m:r>
                      <a:rPr lang="en-US" sz="4800" b="1" i="1">
                        <a:latin typeface="Cambria Math" panose="02040503050406030204" pitchFamily="18" charset="0"/>
                        <a:ea typeface="Calibri" panose="020F0502020204030204" pitchFamily="34" charset="0"/>
                        <a:cs typeface="Tahoma" panose="020B0604030504040204" pitchFamily="34" charset="0"/>
                      </a:rPr>
                      <m:t>=</m:t>
                    </m:r>
                    <m:d>
                      <m:dPr>
                        <m:begChr m:val="|"/>
                        <m:endChr m:val="|"/>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𝟐</m:t>
                        </m:r>
                        <m:acc>
                          <m:accPr>
                            <m:chr m:val="⃗"/>
                            <m:ctrlPr>
                              <a:rPr lang="en-US" sz="4800" b="1" i="1">
                                <a:latin typeface="Cambria Math" panose="02040503050406030204" pitchFamily="18" charset="0"/>
                                <a:ea typeface="Calibri" panose="020F0502020204030204" pitchFamily="34" charset="0"/>
                                <a:cs typeface="Tahoma" panose="020B0604030504040204" pitchFamily="34" charset="0"/>
                              </a:rPr>
                            </m:ctrlPr>
                          </m:accPr>
                          <m:e>
                            <m:r>
                              <a:rPr lang="en-US" sz="4800" b="1" i="1">
                                <a:latin typeface="Cambria Math" panose="02040503050406030204" pitchFamily="18" charset="0"/>
                                <a:ea typeface="Calibri" panose="020F0502020204030204" pitchFamily="34" charset="0"/>
                                <a:cs typeface="Tahoma" panose="020B0604030504040204" pitchFamily="34" charset="0"/>
                              </a:rPr>
                              <m:t>𝑴𝑨</m:t>
                            </m:r>
                          </m:e>
                        </m:acc>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𝟑</m:t>
                        </m:r>
                        <m:acc>
                          <m:accPr>
                            <m:chr m:val="⃗"/>
                            <m:ctrlPr>
                              <a:rPr lang="en-US" sz="4800" b="1" i="1">
                                <a:latin typeface="Cambria Math" panose="02040503050406030204" pitchFamily="18" charset="0"/>
                                <a:ea typeface="Calibri" panose="020F0502020204030204" pitchFamily="34" charset="0"/>
                                <a:cs typeface="Tahoma" panose="020B0604030504040204" pitchFamily="34" charset="0"/>
                              </a:rPr>
                            </m:ctrlPr>
                          </m:accPr>
                          <m:e>
                            <m:r>
                              <a:rPr lang="en-US" sz="4800" b="1" i="1">
                                <a:latin typeface="Cambria Math" panose="02040503050406030204" pitchFamily="18" charset="0"/>
                                <a:ea typeface="Calibri" panose="020F0502020204030204" pitchFamily="34" charset="0"/>
                                <a:cs typeface="Tahoma" panose="020B0604030504040204" pitchFamily="34" charset="0"/>
                              </a:rPr>
                              <m:t>𝑴𝑩</m:t>
                            </m:r>
                          </m:e>
                        </m:acc>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𝟐</m:t>
                        </m:r>
                        <m:acc>
                          <m:accPr>
                            <m:chr m:val="⃗"/>
                            <m:ctrlPr>
                              <a:rPr lang="en-US" sz="4800" b="1" i="1">
                                <a:latin typeface="Cambria Math" panose="02040503050406030204" pitchFamily="18" charset="0"/>
                                <a:ea typeface="Calibri" panose="020F0502020204030204" pitchFamily="34" charset="0"/>
                                <a:cs typeface="Tahoma" panose="020B0604030504040204" pitchFamily="34" charset="0"/>
                              </a:rPr>
                            </m:ctrlPr>
                          </m:accPr>
                          <m:e>
                            <m:r>
                              <a:rPr lang="en-US" sz="4800" b="1" i="1">
                                <a:latin typeface="Cambria Math" panose="02040503050406030204" pitchFamily="18" charset="0"/>
                                <a:ea typeface="Calibri" panose="020F0502020204030204" pitchFamily="34" charset="0"/>
                                <a:cs typeface="Tahoma" panose="020B0604030504040204" pitchFamily="34" charset="0"/>
                              </a:rPr>
                              <m:t>𝑴𝑪</m:t>
                            </m:r>
                          </m:e>
                        </m:acc>
                      </m:e>
                    </m:d>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đạt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trị</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nhỏ</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nhất</a:t>
                </a:r>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2" name="TextBox 21">
                <a:extLst>
                  <a:ext uri="{FF2B5EF4-FFF2-40B4-BE49-F238E27FC236}">
                    <a16:creationId xmlns:a16="http://schemas.microsoft.com/office/drawing/2014/main" id="{02D542EB-DA8F-4047-A893-7C264039979F}"/>
                  </a:ext>
                </a:extLst>
              </p:cNvPr>
              <p:cNvSpPr txBox="1">
                <a:spLocks noRot="1" noChangeAspect="1" noMove="1" noResize="1" noEditPoints="1" noAdjustHandles="1" noChangeArrowheads="1" noChangeShapeType="1" noTextEdit="1"/>
              </p:cNvSpPr>
              <p:nvPr/>
            </p:nvSpPr>
            <p:spPr>
              <a:xfrm>
                <a:off x="184672" y="1197332"/>
                <a:ext cx="12279860" cy="4430444"/>
              </a:xfrm>
              <a:prstGeom prst="rect">
                <a:avLst/>
              </a:prstGeom>
              <a:blipFill>
                <a:blip r:embed="rId6"/>
                <a:stretch>
                  <a:fillRect t="-2476" r="-2233" b="-6327"/>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5CF5B428-2AE5-4B2C-A905-444E83BBB4EE}"/>
              </a:ext>
            </a:extLst>
          </p:cNvPr>
          <p:cNvSpPr/>
          <p:nvPr/>
        </p:nvSpPr>
        <p:spPr>
          <a:xfrm>
            <a:off x="6211043" y="7641809"/>
            <a:ext cx="12192000" cy="830997"/>
          </a:xfrm>
          <a:prstGeom prst="rect">
            <a:avLst/>
          </a:prstGeom>
        </p:spPr>
        <p:txBody>
          <a:bodyPr>
            <a:spAutoFit/>
          </a:bodyPr>
          <a:lstStyle/>
          <a:p>
            <a:endParaRPr lang="en-US" sz="4800" dirty="0">
              <a:latin typeface="Tahoma" pitchFamily="34" charset="0"/>
              <a:ea typeface="Tahoma" pitchFamily="34" charset="0"/>
              <a:cs typeface="Tahoma" pitchFamily="34" charset="0"/>
            </a:endParaRP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AD84C84F-0DBD-4B7A-ADC7-E1129B975263}"/>
                  </a:ext>
                </a:extLst>
              </p:cNvPr>
              <p:cNvSpPr/>
              <p:nvPr/>
            </p:nvSpPr>
            <p:spPr>
              <a:xfrm>
                <a:off x="3767060" y="5683654"/>
                <a:ext cx="21146243" cy="1058047"/>
              </a:xfrm>
              <a:prstGeom prst="rect">
                <a:avLst/>
              </a:prstGeom>
            </p:spPr>
            <p:txBody>
              <a:bodyPr wrap="square">
                <a:spAutoFit/>
              </a:bodyPr>
              <a:lstStyle/>
              <a:p>
                <a:pPr lvl="0">
                  <a:lnSpc>
                    <a:spcPct val="115000"/>
                  </a:lnSpc>
                  <a:spcBef>
                    <a:spcPts val="200"/>
                  </a:spcBef>
                  <a:spcAft>
                    <a:spcPts val="800"/>
                  </a:spcAft>
                  <a:defRPr/>
                </a:pPr>
                <a:r>
                  <a:rPr lang="fr-FR" sz="4800" b="1" dirty="0">
                    <a:latin typeface="Tahoma" panose="020B0604030504040204" pitchFamily="34" charset="0"/>
                    <a:ea typeface="Tahoma" panose="020B0604030504040204" pitchFamily="34" charset="0"/>
                    <a:cs typeface="Tahoma" panose="020B0604030504040204" pitchFamily="34" charset="0"/>
                  </a:rPr>
                  <a:t>Ta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𝑴𝑨</m:t>
                        </m:r>
                      </m:e>
                    </m:acc>
                    <m:r>
                      <a:rPr lang="en-US" sz="4800" b="1" i="1">
                        <a:latin typeface="Cambria Math" panose="02040503050406030204" pitchFamily="18" charset="0"/>
                      </a:rPr>
                      <m:t>−</m:t>
                    </m:r>
                    <m:r>
                      <a:rPr lang="en-US" sz="4800" b="1" i="1">
                        <a:latin typeface="Cambria Math" panose="02040503050406030204" pitchFamily="18" charset="0"/>
                      </a:rPr>
                      <m:t>𝟑</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𝑴𝑩</m:t>
                        </m:r>
                      </m:e>
                    </m:acc>
                    <m:r>
                      <a:rPr lang="en-US" sz="4800" b="1" i="1">
                        <a:latin typeface="Cambria Math" panose="02040503050406030204" pitchFamily="18" charset="0"/>
                      </a:rPr>
                      <m:t>+</m:t>
                    </m:r>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𝑴𝑪</m:t>
                        </m:r>
                      </m:e>
                    </m:acc>
                    <m:r>
                      <a:rPr lang="en-US" sz="4800" b="1" i="1">
                        <a:latin typeface="Cambria Math" panose="02040503050406030204" pitchFamily="18" charset="0"/>
                      </a:rPr>
                      <m:t>=</m:t>
                    </m:r>
                    <m:r>
                      <a:rPr lang="en-US" sz="4800" b="1" i="1">
                        <a:latin typeface="Cambria Math" panose="02040503050406030204" pitchFamily="18" charset="0"/>
                      </a:rPr>
                      <m:t>𝟐</m:t>
                    </m:r>
                    <m:d>
                      <m:dPr>
                        <m:ctrlPr>
                          <a:rPr lang="en-US" sz="4800" b="1" i="1">
                            <a:latin typeface="Cambria Math" panose="02040503050406030204" pitchFamily="18" charset="0"/>
                          </a:rPr>
                        </m:ctrlPr>
                      </m:dPr>
                      <m:e>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𝑴𝑰</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𝑰𝑨</m:t>
                            </m:r>
                          </m:e>
                        </m:acc>
                      </m:e>
                    </m:d>
                    <m:r>
                      <a:rPr lang="en-US" sz="4800" b="1" i="1">
                        <a:latin typeface="Cambria Math" panose="02040503050406030204" pitchFamily="18" charset="0"/>
                      </a:rPr>
                      <m:t>−</m:t>
                    </m:r>
                    <m:r>
                      <a:rPr lang="en-US" sz="4800" b="1" i="1">
                        <a:latin typeface="Cambria Math" panose="02040503050406030204" pitchFamily="18" charset="0"/>
                      </a:rPr>
                      <m:t>𝟑</m:t>
                    </m:r>
                    <m:d>
                      <m:dPr>
                        <m:ctrlPr>
                          <a:rPr lang="en-US" sz="4800" b="1" i="1">
                            <a:latin typeface="Cambria Math" panose="02040503050406030204" pitchFamily="18" charset="0"/>
                          </a:rPr>
                        </m:ctrlPr>
                      </m:dPr>
                      <m:e>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𝑴𝑰</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𝑰𝑩</m:t>
                            </m:r>
                          </m:e>
                        </m:acc>
                      </m:e>
                    </m:d>
                    <m:r>
                      <a:rPr lang="en-US" sz="4800" b="1" i="1">
                        <a:latin typeface="Cambria Math" panose="02040503050406030204" pitchFamily="18" charset="0"/>
                      </a:rPr>
                      <m:t>+</m:t>
                    </m:r>
                    <m:r>
                      <a:rPr lang="en-US" sz="4800" b="1" i="1">
                        <a:latin typeface="Cambria Math" panose="02040503050406030204" pitchFamily="18" charset="0"/>
                      </a:rPr>
                      <m:t>𝟐</m:t>
                    </m:r>
                    <m:d>
                      <m:dPr>
                        <m:ctrlPr>
                          <a:rPr lang="en-US" sz="4800" b="1" i="1">
                            <a:latin typeface="Cambria Math" panose="02040503050406030204" pitchFamily="18" charset="0"/>
                          </a:rPr>
                        </m:ctrlPr>
                      </m:dPr>
                      <m:e>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𝑴𝑰</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𝑰𝑪</m:t>
                            </m:r>
                          </m:e>
                        </m:acc>
                      </m:e>
                    </m:d>
                    <m:r>
                      <a:rPr lang="en-US" sz="4800" b="1" i="1">
                        <a:latin typeface="Cambria Math" panose="02040503050406030204" pitchFamily="18" charset="0"/>
                      </a:rPr>
                      <m:t>,  ∀</m:t>
                    </m:r>
                    <m:r>
                      <a:rPr lang="en-US" sz="4800" b="1" i="1">
                        <a:latin typeface="Cambria Math" panose="02040503050406030204" pitchFamily="18" charset="0"/>
                      </a:rPr>
                      <m:t>𝑰</m:t>
                    </m:r>
                  </m:oMath>
                </a14:m>
                <a:endPar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Rectangle 23">
                <a:extLst>
                  <a:ext uri="{FF2B5EF4-FFF2-40B4-BE49-F238E27FC236}">
                    <a16:creationId xmlns:a16="http://schemas.microsoft.com/office/drawing/2014/main" id="{AD84C84F-0DBD-4B7A-ADC7-E1129B975263}"/>
                  </a:ext>
                </a:extLst>
              </p:cNvPr>
              <p:cNvSpPr>
                <a:spLocks noRot="1" noChangeAspect="1" noMove="1" noResize="1" noEditPoints="1" noAdjustHandles="1" noChangeArrowheads="1" noChangeShapeType="1" noTextEdit="1"/>
              </p:cNvSpPr>
              <p:nvPr/>
            </p:nvSpPr>
            <p:spPr>
              <a:xfrm>
                <a:off x="3767060" y="5683654"/>
                <a:ext cx="21146243" cy="1058047"/>
              </a:xfrm>
              <a:prstGeom prst="rect">
                <a:avLst/>
              </a:prstGeom>
              <a:blipFill>
                <a:blip r:embed="rId7"/>
                <a:stretch>
                  <a:fillRect l="-1326" b="-22989"/>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B50AE326-6CE8-425B-8406-EB1FD3BD3328}"/>
              </a:ext>
            </a:extLst>
          </p:cNvPr>
          <p:cNvSpPr/>
          <p:nvPr/>
        </p:nvSpPr>
        <p:spPr>
          <a:xfrm>
            <a:off x="18953554" y="1703381"/>
            <a:ext cx="4936470" cy="1500400"/>
          </a:xfrm>
          <a:prstGeom prst="rect">
            <a:avLst/>
          </a:prstGeom>
          <a:solidFill>
            <a:srgbClr val="398842"/>
          </a:solid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a:latin typeface="Tahoma" pitchFamily="34" charset="0"/>
              <a:ea typeface="Tahoma" pitchFamily="34" charset="0"/>
              <a:cs typeface="Tahoma" pitchFamily="34" charset="0"/>
            </a:endParaRPr>
          </a:p>
        </p:txBody>
      </p:sp>
      <p:sp>
        <p:nvSpPr>
          <p:cNvPr id="29" name="Oval 28">
            <a:extLst>
              <a:ext uri="{FF2B5EF4-FFF2-40B4-BE49-F238E27FC236}">
                <a16:creationId xmlns:a16="http://schemas.microsoft.com/office/drawing/2014/main" id="{67E3F1BF-BB23-4A94-B346-4B0B46509E3F}"/>
              </a:ext>
            </a:extLst>
          </p:cNvPr>
          <p:cNvSpPr/>
          <p:nvPr/>
        </p:nvSpPr>
        <p:spPr>
          <a:xfrm>
            <a:off x="18683644" y="1928022"/>
            <a:ext cx="1080000" cy="1080000"/>
          </a:xfrm>
          <a:prstGeom prst="ellipse">
            <a:avLst/>
          </a:prstGeom>
          <a:solidFill>
            <a:srgbClr val="327E3B"/>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latin typeface="Tahoma" pitchFamily="34" charset="0"/>
                <a:ea typeface="Tahoma" pitchFamily="34" charset="0"/>
                <a:cs typeface="Tahoma" pitchFamily="34" charset="0"/>
              </a:rPr>
              <a:t>B</a:t>
            </a:r>
            <a:endParaRPr lang="en-US" sz="6400" dirty="0"/>
          </a:p>
        </p:txBody>
      </p:sp>
      <p:sp>
        <p:nvSpPr>
          <p:cNvPr id="30" name="Rectangle 29">
            <a:extLst>
              <a:ext uri="{FF2B5EF4-FFF2-40B4-BE49-F238E27FC236}">
                <a16:creationId xmlns:a16="http://schemas.microsoft.com/office/drawing/2014/main" id="{6D781D58-9BD1-4957-8ABB-AAA4E3A17A32}"/>
              </a:ext>
            </a:extLst>
          </p:cNvPr>
          <p:cNvSpPr/>
          <p:nvPr/>
        </p:nvSpPr>
        <p:spPr>
          <a:xfrm>
            <a:off x="13290943" y="1739358"/>
            <a:ext cx="4936470" cy="1500400"/>
          </a:xfrm>
          <a:prstGeom prst="rect">
            <a:avLst/>
          </a:prstGeom>
          <a:solidFill>
            <a:srgbClr val="398842"/>
          </a:solid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a:latin typeface="Tahoma" pitchFamily="34" charset="0"/>
              <a:ea typeface="Tahoma" pitchFamily="34" charset="0"/>
              <a:cs typeface="Tahoma" pitchFamily="34" charset="0"/>
            </a:endParaRPr>
          </a:p>
        </p:txBody>
      </p:sp>
      <p:sp>
        <p:nvSpPr>
          <p:cNvPr id="31" name="Oval 30">
            <a:extLst>
              <a:ext uri="{FF2B5EF4-FFF2-40B4-BE49-F238E27FC236}">
                <a16:creationId xmlns:a16="http://schemas.microsoft.com/office/drawing/2014/main" id="{3D6F22D8-0DB0-4E1E-BD0C-F5C8809A0BF1}"/>
              </a:ext>
            </a:extLst>
          </p:cNvPr>
          <p:cNvSpPr/>
          <p:nvPr/>
        </p:nvSpPr>
        <p:spPr>
          <a:xfrm>
            <a:off x="12767646" y="1936646"/>
            <a:ext cx="1080000" cy="1080000"/>
          </a:xfrm>
          <a:prstGeom prst="ellipse">
            <a:avLst/>
          </a:prstGeom>
          <a:solidFill>
            <a:srgbClr val="327E3B"/>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latin typeface="Tahoma" pitchFamily="34" charset="0"/>
                <a:ea typeface="Tahoma" pitchFamily="34" charset="0"/>
                <a:cs typeface="Tahoma" pitchFamily="34" charset="0"/>
              </a:rPr>
              <a:t>A</a:t>
            </a:r>
            <a:endParaRPr lang="en-US" sz="6400" dirty="0"/>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3C2C1509-6F71-4779-9A02-91AF3304F6A2}"/>
                  </a:ext>
                </a:extLst>
              </p:cNvPr>
              <p:cNvSpPr/>
              <p:nvPr/>
            </p:nvSpPr>
            <p:spPr>
              <a:xfrm>
                <a:off x="20209307" y="2047936"/>
                <a:ext cx="3027945" cy="830997"/>
              </a:xfrm>
              <a:prstGeom prst="rect">
                <a:avLst/>
              </a:prstGeom>
              <a:noFill/>
            </p:spPr>
            <p:txBody>
              <a:bodyPr wrap="none">
                <a:spAutoFit/>
              </a:bodyP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t>𝑴</m:t>
                      </m:r>
                      <m:d>
                        <m:dPr>
                          <m:ctrlPr>
                            <a:rPr lang="en-US" sz="48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ctrlPr>
                        </m:dPr>
                        <m:e>
                          <m:r>
                            <a:rPr lang="en-US" sz="48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t>−</m:t>
                          </m:r>
                          <m:r>
                            <a:rPr lang="en-US" sz="48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t>𝟒</m:t>
                          </m:r>
                          <m:r>
                            <a:rPr lang="en-US" sz="48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t>;</m:t>
                          </m:r>
                          <m:r>
                            <a:rPr lang="en-US" sz="48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t>𝟎</m:t>
                          </m:r>
                        </m:e>
                      </m:d>
                      <m:r>
                        <a:rPr lang="en-US" sz="48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t>.</m:t>
                      </m:r>
                    </m:oMath>
                  </m:oMathPara>
                </a14:m>
                <a:endParaRPr lang="en-US" sz="4800" b="1" dirty="0">
                  <a:solidFill>
                    <a:prstClr val="white"/>
                  </a:solidFill>
                  <a:latin typeface="Tahoma" pitchFamily="34" charset="0"/>
                  <a:ea typeface="Tahoma" pitchFamily="34" charset="0"/>
                  <a:cs typeface="Tahoma" pitchFamily="34" charset="0"/>
                </a:endParaRPr>
              </a:p>
            </p:txBody>
          </p:sp>
        </mc:Choice>
        <mc:Fallback xmlns="">
          <p:sp>
            <p:nvSpPr>
              <p:cNvPr id="32" name="Rectangle 31">
                <a:extLst>
                  <a:ext uri="{FF2B5EF4-FFF2-40B4-BE49-F238E27FC236}">
                    <a16:creationId xmlns:a16="http://schemas.microsoft.com/office/drawing/2014/main" id="{3C2C1509-6F71-4779-9A02-91AF3304F6A2}"/>
                  </a:ext>
                </a:extLst>
              </p:cNvPr>
              <p:cNvSpPr>
                <a:spLocks noRot="1" noChangeAspect="1" noMove="1" noResize="1" noEditPoints="1" noAdjustHandles="1" noChangeArrowheads="1" noChangeShapeType="1" noTextEdit="1"/>
              </p:cNvSpPr>
              <p:nvPr/>
            </p:nvSpPr>
            <p:spPr>
              <a:xfrm>
                <a:off x="20209307" y="2047936"/>
                <a:ext cx="3027945" cy="83099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F45BE5CF-7A77-440A-B1C9-9B17FE2DE78E}"/>
                  </a:ext>
                </a:extLst>
              </p:cNvPr>
              <p:cNvSpPr/>
              <p:nvPr/>
            </p:nvSpPr>
            <p:spPr>
              <a:xfrm>
                <a:off x="14376805" y="2104837"/>
                <a:ext cx="2367699" cy="7694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4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t>𝑴</m:t>
                      </m:r>
                      <m:d>
                        <m:dPr>
                          <m:ctrlPr>
                            <a:rPr lang="en-US" sz="44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ctrlPr>
                        </m:dPr>
                        <m:e>
                          <m:r>
                            <a:rPr lang="en-US" sz="44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t>𝟒</m:t>
                          </m:r>
                          <m:r>
                            <a:rPr lang="en-US" sz="44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t>;</m:t>
                          </m:r>
                          <m:r>
                            <a:rPr lang="en-US" sz="44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t>𝟎</m:t>
                          </m:r>
                        </m:e>
                      </m:d>
                      <m:r>
                        <a:rPr lang="en-US" sz="4400" b="1" i="1">
                          <a:solidFill>
                            <a:schemeClr val="bg1"/>
                          </a:solidFill>
                          <a:latin typeface="Cambria Math" panose="02040503050406030204" pitchFamily="18" charset="0"/>
                          <a:ea typeface="Times New Roman" panose="02020603050405020304" pitchFamily="18" charset="0"/>
                          <a:cs typeface="Tahoma" panose="020B0604030504040204" pitchFamily="34" charset="0"/>
                        </a:rPr>
                        <m:t>.</m:t>
                      </m:r>
                    </m:oMath>
                  </m:oMathPara>
                </a14:m>
                <a:endParaRPr lang="en-US" sz="4400" b="1" dirty="0">
                  <a:solidFill>
                    <a:prstClr val="white"/>
                  </a:solidFill>
                  <a:latin typeface="Tahoma" pitchFamily="34" charset="0"/>
                  <a:ea typeface="Tahoma" pitchFamily="34" charset="0"/>
                  <a:cs typeface="Tahoma" pitchFamily="34" charset="0"/>
                </a:endParaRPr>
              </a:p>
            </p:txBody>
          </p:sp>
        </mc:Choice>
        <mc:Fallback xmlns="">
          <p:sp>
            <p:nvSpPr>
              <p:cNvPr id="33" name="Rectangle 32">
                <a:extLst>
                  <a:ext uri="{FF2B5EF4-FFF2-40B4-BE49-F238E27FC236}">
                    <a16:creationId xmlns:a16="http://schemas.microsoft.com/office/drawing/2014/main" id="{F45BE5CF-7A77-440A-B1C9-9B17FE2DE78E}"/>
                  </a:ext>
                </a:extLst>
              </p:cNvPr>
              <p:cNvSpPr>
                <a:spLocks noRot="1" noChangeAspect="1" noMove="1" noResize="1" noEditPoints="1" noAdjustHandles="1" noChangeArrowheads="1" noChangeShapeType="1" noTextEdit="1"/>
              </p:cNvSpPr>
              <p:nvPr/>
            </p:nvSpPr>
            <p:spPr>
              <a:xfrm>
                <a:off x="14376805" y="2104837"/>
                <a:ext cx="2367699" cy="76944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5A3AE51-7F85-445F-8EAE-69F8CF7B683A}"/>
                  </a:ext>
                </a:extLst>
              </p:cNvPr>
              <p:cNvSpPr txBox="1"/>
              <p:nvPr/>
            </p:nvSpPr>
            <p:spPr>
              <a:xfrm>
                <a:off x="194465" y="6761385"/>
                <a:ext cx="8564849" cy="984693"/>
              </a:xfrm>
              <a:prstGeom prst="rect">
                <a:avLst/>
              </a:prstGeom>
              <a:noFill/>
            </p:spPr>
            <p:txBody>
              <a:bodyPr wrap="square">
                <a:spAutoFit/>
              </a:bodyPr>
              <a:lstStyle/>
              <a:p>
                <a14:m>
                  <m:oMath xmlns:m="http://schemas.openxmlformats.org/officeDocument/2006/math">
                    <m:r>
                      <a:rPr lang="en-US" sz="4800" b="1" i="1" smtClean="0">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𝑴𝑰</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smtClean="0">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𝑰𝑨</m:t>
                            </m:r>
                          </m:e>
                        </m:acc>
                        <m:r>
                          <a:rPr lang="en-US" sz="4800" b="1" i="1">
                            <a:latin typeface="Cambria Math" panose="02040503050406030204" pitchFamily="18" charset="0"/>
                          </a:rPr>
                          <m:t>−</m:t>
                        </m:r>
                        <m:r>
                          <a:rPr lang="en-US" sz="4800" b="1" i="1">
                            <a:latin typeface="Cambria Math" panose="02040503050406030204" pitchFamily="18" charset="0"/>
                          </a:rPr>
                          <m:t>𝟑</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𝑰𝑩</m:t>
                            </m:r>
                          </m:e>
                        </m:acc>
                        <m:r>
                          <a:rPr lang="en-US" sz="4800" b="1" i="1">
                            <a:latin typeface="Cambria Math" panose="02040503050406030204" pitchFamily="18" charset="0"/>
                          </a:rPr>
                          <m:t>+</m:t>
                        </m:r>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𝑰𝑪</m:t>
                            </m:r>
                          </m:e>
                        </m:acc>
                      </m:e>
                    </m:d>
                    <m:r>
                      <a:rPr lang="en-US" sz="4800" b="1" i="1">
                        <a:latin typeface="Cambria Math" panose="02040503050406030204" pitchFamily="18" charset="0"/>
                      </a:rPr>
                      <m:t>, ∀</m:t>
                    </m:r>
                    <m:r>
                      <a:rPr lang="en-US" sz="4800" b="1" i="1">
                        <a:latin typeface="Cambria Math" panose="02040503050406030204" pitchFamily="18" charset="0"/>
                      </a:rPr>
                      <m:t>𝑰</m:t>
                    </m:r>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4" name="TextBox 33">
                <a:extLst>
                  <a:ext uri="{FF2B5EF4-FFF2-40B4-BE49-F238E27FC236}">
                    <a16:creationId xmlns:a16="http://schemas.microsoft.com/office/drawing/2014/main" id="{35A3AE51-7F85-445F-8EAE-69F8CF7B683A}"/>
                  </a:ext>
                </a:extLst>
              </p:cNvPr>
              <p:cNvSpPr txBox="1">
                <a:spLocks noRot="1" noChangeAspect="1" noMove="1" noResize="1" noEditPoints="1" noAdjustHandles="1" noChangeArrowheads="1" noChangeShapeType="1" noTextEdit="1"/>
              </p:cNvSpPr>
              <p:nvPr/>
            </p:nvSpPr>
            <p:spPr>
              <a:xfrm>
                <a:off x="194465" y="6761385"/>
                <a:ext cx="8564849" cy="984693"/>
              </a:xfrm>
              <a:prstGeom prst="rect">
                <a:avLst/>
              </a:prstGeom>
              <a:blipFill>
                <a:blip r:embed="rId10"/>
                <a:stretch>
                  <a:fillRect t="-5556" r="-2918" b="-246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65D38E1-480F-4BE0-93C6-B1E7C5F13F9D}"/>
                  </a:ext>
                </a:extLst>
              </p:cNvPr>
              <p:cNvSpPr txBox="1"/>
              <p:nvPr/>
            </p:nvSpPr>
            <p:spPr>
              <a:xfrm>
                <a:off x="-13447" y="7601719"/>
                <a:ext cx="12279860" cy="9254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4800" b="1">
                          <a:latin typeface="Tahoma" panose="020B0604030504040204" pitchFamily="34" charset="0"/>
                          <a:ea typeface="Tahoma" panose="020B0604030504040204" pitchFamily="34" charset="0"/>
                          <a:cs typeface="Tahoma" panose="020B0604030504040204" pitchFamily="34" charset="0"/>
                        </a:rPr>
                        <m:t>Ch</m:t>
                      </m:r>
                      <m:r>
                        <m:rPr>
                          <m:nor/>
                        </m:rPr>
                        <a:rPr lang="en-US" sz="4800" b="1">
                          <a:latin typeface="Tahoma" panose="020B0604030504040204" pitchFamily="34" charset="0"/>
                          <a:ea typeface="Tahoma" panose="020B0604030504040204" pitchFamily="34" charset="0"/>
                          <a:cs typeface="Tahoma" panose="020B0604030504040204" pitchFamily="34" charset="0"/>
                        </a:rPr>
                        <m:t>ọ</m:t>
                      </m:r>
                      <m:r>
                        <m:rPr>
                          <m:nor/>
                        </m:rPr>
                        <a:rPr lang="en-US" sz="4800" b="1">
                          <a:latin typeface="Tahoma" panose="020B0604030504040204" pitchFamily="34" charset="0"/>
                          <a:ea typeface="Tahoma" panose="020B0604030504040204" pitchFamily="34" charset="0"/>
                          <a:cs typeface="Tahoma" panose="020B0604030504040204" pitchFamily="34" charset="0"/>
                        </a:rPr>
                        <m:t>n</m:t>
                      </m:r>
                      <m:r>
                        <m:rPr>
                          <m:nor/>
                        </m:rPr>
                        <a:rPr lang="en-US"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𝑰</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sao</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cho</m:t>
                      </m:r>
                      <m:r>
                        <m:rPr>
                          <m:nor/>
                        </m:rPr>
                        <a:rPr lang="en-US"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𝑰𝑨</m:t>
                          </m:r>
                        </m:e>
                      </m:acc>
                      <m:r>
                        <a:rPr lang="en-US" sz="4800" b="1" i="1">
                          <a:latin typeface="Cambria Math" panose="02040503050406030204" pitchFamily="18" charset="0"/>
                        </a:rPr>
                        <m:t>−</m:t>
                      </m:r>
                      <m:r>
                        <a:rPr lang="en-US" sz="4800" b="1" i="1">
                          <a:latin typeface="Cambria Math" panose="02040503050406030204" pitchFamily="18" charset="0"/>
                        </a:rPr>
                        <m:t>𝟑</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𝑰𝑩</m:t>
                          </m:r>
                        </m:e>
                      </m:acc>
                      <m:r>
                        <a:rPr lang="en-US" sz="4800" b="1" i="1">
                          <a:latin typeface="Cambria Math" panose="02040503050406030204" pitchFamily="18" charset="0"/>
                        </a:rPr>
                        <m:t>+</m:t>
                      </m:r>
                      <m:r>
                        <a:rPr lang="en-US" sz="4800" b="1" i="1">
                          <a:latin typeface="Cambria Math" panose="02040503050406030204" pitchFamily="18" charset="0"/>
                        </a:rPr>
                        <m:t>𝟐</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𝑰𝑪</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𝟎</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m:t>
                          </m:r>
                        </m:e>
                      </m:d>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5" name="TextBox 34">
                <a:extLst>
                  <a:ext uri="{FF2B5EF4-FFF2-40B4-BE49-F238E27FC236}">
                    <a16:creationId xmlns:a16="http://schemas.microsoft.com/office/drawing/2014/main" id="{365D38E1-480F-4BE0-93C6-B1E7C5F13F9D}"/>
                  </a:ext>
                </a:extLst>
              </p:cNvPr>
              <p:cNvSpPr txBox="1">
                <a:spLocks noRot="1" noChangeAspect="1" noMove="1" noResize="1" noEditPoints="1" noAdjustHandles="1" noChangeArrowheads="1" noChangeShapeType="1" noTextEdit="1"/>
              </p:cNvSpPr>
              <p:nvPr/>
            </p:nvSpPr>
            <p:spPr>
              <a:xfrm>
                <a:off x="-13447" y="7601719"/>
                <a:ext cx="12279860" cy="92544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42D9899-BF7E-4BE7-92D2-F07F4B853FC0}"/>
                  </a:ext>
                </a:extLst>
              </p:cNvPr>
              <p:cNvSpPr txBox="1"/>
              <p:nvPr/>
            </p:nvSpPr>
            <p:spPr>
              <a:xfrm>
                <a:off x="395924" y="8606096"/>
                <a:ext cx="10850548" cy="2478692"/>
              </a:xfrm>
              <a:prstGeom prst="rect">
                <a:avLst/>
              </a:prstGeom>
              <a:noFill/>
            </p:spPr>
            <p:txBody>
              <a:bodyPr wrap="square">
                <a:spAutoFit/>
              </a:bodyPr>
              <a:lstStyle/>
              <a:p>
                <a14:m>
                  <m:oMath xmlns:m="http://schemas.openxmlformats.org/officeDocument/2006/math">
                    <m:r>
                      <m:rPr>
                        <m:nor/>
                      </m:rPr>
                      <a:rPr lang="en-US" sz="4800" b="1" smtClean="0">
                        <a:latin typeface="Tahoma" panose="020B0604030504040204" pitchFamily="34" charset="0"/>
                        <a:ea typeface="Tahoma" panose="020B0604030504040204" pitchFamily="34" charset="0"/>
                        <a:cs typeface="Tahoma" panose="020B0604030504040204" pitchFamily="34" charset="0"/>
                      </a:rPr>
                      <m:t>G</m:t>
                    </m:r>
                    <m:r>
                      <m:rPr>
                        <m:nor/>
                      </m:rPr>
                      <a:rPr lang="en-US" sz="4800" b="1" smtClean="0">
                        <a:latin typeface="Tahoma" panose="020B0604030504040204" pitchFamily="34" charset="0"/>
                        <a:ea typeface="Tahoma" panose="020B0604030504040204" pitchFamily="34" charset="0"/>
                        <a:cs typeface="Tahoma" panose="020B0604030504040204" pitchFamily="34" charset="0"/>
                      </a:rPr>
                      <m:t>ọ</m:t>
                    </m:r>
                    <m:r>
                      <m:rPr>
                        <m:nor/>
                      </m:rPr>
                      <a:rPr lang="en-US" sz="4800" b="1" smtClean="0">
                        <a:latin typeface="Tahoma" panose="020B0604030504040204" pitchFamily="34" charset="0"/>
                        <a:ea typeface="Tahoma" panose="020B0604030504040204" pitchFamily="34" charset="0"/>
                        <a:cs typeface="Tahoma" panose="020B0604030504040204" pitchFamily="34" charset="0"/>
                      </a:rPr>
                      <m:t>i</m:t>
                    </m:r>
                    <m:r>
                      <m:rPr>
                        <m:nor/>
                      </m:rPr>
                      <a:rPr lang="en-US" sz="4800" b="1" smtClean="0">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𝑰</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e>
                    </m:d>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t</m:t>
                    </m:r>
                    <m:r>
                      <m:rPr>
                        <m:nor/>
                      </m:rPr>
                      <a:rPr lang="en-US" sz="4800" b="1">
                        <a:latin typeface="Tahoma" panose="020B0604030504040204" pitchFamily="34" charset="0"/>
                        <a:ea typeface="Tahoma" panose="020B0604030504040204" pitchFamily="34" charset="0"/>
                        <a:cs typeface="Tahoma" panose="020B0604030504040204" pitchFamily="34" charset="0"/>
                      </a:rPr>
                      <m:t>ừ </m:t>
                    </m:r>
                    <m:d>
                      <m:dPr>
                        <m:ctrlPr>
                          <a:rPr lang="en-US" sz="4800" b="1" i="1">
                            <a:latin typeface="Cambria Math" panose="02040503050406030204" pitchFamily="18" charset="0"/>
                          </a:rPr>
                        </m:ctrlPr>
                      </m:dPr>
                      <m:e>
                        <m:r>
                          <a:rPr lang="en-US" sz="4800" b="1" i="1">
                            <a:latin typeface="Cambria Math" panose="02040503050406030204" pitchFamily="18" charset="0"/>
                          </a:rPr>
                          <m:t>∗</m:t>
                        </m:r>
                      </m:e>
                    </m:d>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ta</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c</m:t>
                    </m:r>
                    <m:r>
                      <m:rPr>
                        <m:nor/>
                      </m:rPr>
                      <a:rPr lang="en-US" sz="4800" b="1">
                        <a:latin typeface="Tahoma" panose="020B0604030504040204" pitchFamily="34" charset="0"/>
                        <a:ea typeface="Tahoma" panose="020B0604030504040204" pitchFamily="34" charset="0"/>
                        <a:cs typeface="Tahoma" panose="020B0604030504040204" pitchFamily="34" charset="0"/>
                      </a:rPr>
                      <m:t>ó</m:t>
                    </m:r>
                  </m:oMath>
                </a14:m>
                <a:r>
                  <a:rPr lang="en-US" sz="4800" b="1" dirty="0">
                    <a:latin typeface="Tahoma" panose="020B0604030504040204" pitchFamily="34" charset="0"/>
                    <a:ea typeface="Tahoma" panose="020B0604030504040204" pitchFamily="34" charset="0"/>
                    <a:cs typeface="Tahoma" panose="020B0604030504040204" pitchFamily="34" charset="0"/>
                  </a:rPr>
                  <a:t> </a:t>
                </a:r>
              </a:p>
              <a:p>
                <a:pPr/>
                <a14:m>
                  <m:oMathPara xmlns:m="http://schemas.openxmlformats.org/officeDocument/2006/math">
                    <m:oMathParaPr>
                      <m:jc m:val="left"/>
                    </m:oMathParaPr>
                    <m:oMath xmlns:m="http://schemas.openxmlformats.org/officeDocument/2006/math">
                      <m:r>
                        <m:rPr>
                          <m:nor/>
                        </m:rPr>
                        <a:rPr lang="en-US" sz="4800" b="1">
                          <a:latin typeface="Tahoma" panose="020B0604030504040204" pitchFamily="34" charset="0"/>
                          <a:ea typeface="Tahoma" panose="020B0604030504040204" pitchFamily="34" charset="0"/>
                          <a:cs typeface="Tahoma" panose="020B0604030504040204" pitchFamily="34" charset="0"/>
                        </a:rPr>
                        <m:t>	</m:t>
                      </m:r>
                      <m:d>
                        <m:dPr>
                          <m:begChr m:val="{"/>
                          <m:endChr m:val=""/>
                          <m:ctrlPr>
                            <a:rPr lang="en-US" sz="4800" b="1" i="1" smtClean="0">
                              <a:latin typeface="Cambria Math" panose="02040503050406030204" pitchFamily="18" charset="0"/>
                              <a:ea typeface="Tahoma" panose="020B0604030504040204" pitchFamily="34" charset="0"/>
                              <a:cs typeface="Tahoma" panose="020B0604030504040204" pitchFamily="34"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𝟐</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𝒙</m:t>
                                  </m:r>
                                </m:e>
                              </m:d>
                              <m:r>
                                <a:rPr lang="en-US" sz="4800" b="1" i="1">
                                  <a:latin typeface="Cambria Math" panose="02040503050406030204" pitchFamily="18" charset="0"/>
                                </a:rPr>
                                <m:t>−</m:t>
                              </m:r>
                              <m:r>
                                <a:rPr lang="en-US" sz="4800" b="1" i="1">
                                  <a:latin typeface="Cambria Math" panose="02040503050406030204" pitchFamily="18" charset="0"/>
                                </a:rPr>
                                <m:t>𝟑</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𝒙</m:t>
                                  </m:r>
                                </m:e>
                              </m:d>
                              <m:r>
                                <a:rPr lang="en-US" sz="4800" b="1" i="1">
                                  <a:latin typeface="Cambria Math" panose="02040503050406030204" pitchFamily="18" charset="0"/>
                                </a:rPr>
                                <m:t>+</m:t>
                              </m:r>
                              <m:r>
                                <a:rPr lang="en-US" sz="4800" b="1" i="1">
                                  <a:latin typeface="Cambria Math" panose="02040503050406030204" pitchFamily="18" charset="0"/>
                                </a:rPr>
                                <m:t>𝟐</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𝒙</m:t>
                                  </m:r>
                                </m:e>
                              </m:d>
                              <m:r>
                                <a:rPr lang="en-US" sz="4800" b="1" i="1">
                                  <a:latin typeface="Cambria Math" panose="02040503050406030204" pitchFamily="18" charset="0"/>
                                </a:rPr>
                                <m:t>=</m:t>
                              </m:r>
                              <m:r>
                                <a:rPr lang="en-US" sz="4800" b="1" i="1">
                                  <a:latin typeface="Cambria Math" panose="02040503050406030204" pitchFamily="18" charset="0"/>
                                </a:rPr>
                                <m:t>𝟎</m:t>
                              </m:r>
                            </m:e>
                            <m:e>
                              <m:r>
                                <a:rPr lang="en-US" sz="4800" b="1" i="1">
                                  <a:latin typeface="Cambria Math" panose="02040503050406030204" pitchFamily="18" charset="0"/>
                                </a:rPr>
                                <m:t>𝟐</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r>
                                    <a:rPr lang="en-US" sz="4800" b="1" i="1">
                                      <a:latin typeface="Cambria Math" panose="02040503050406030204" pitchFamily="18" charset="0"/>
                                    </a:rPr>
                                    <m:t>𝒚</m:t>
                                  </m:r>
                                </m:e>
                              </m:d>
                              <m:r>
                                <a:rPr lang="en-US" sz="4800" b="1" i="1">
                                  <a:latin typeface="Cambria Math" panose="02040503050406030204" pitchFamily="18" charset="0"/>
                                </a:rPr>
                                <m:t>−</m:t>
                              </m:r>
                              <m:r>
                                <a:rPr lang="en-US" sz="4800" b="1" i="1">
                                  <a:latin typeface="Cambria Math" panose="02040503050406030204" pitchFamily="18" charset="0"/>
                                </a:rPr>
                                <m:t>𝟑</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𝒚</m:t>
                                  </m:r>
                                </m:e>
                              </m:d>
                              <m:r>
                                <a:rPr lang="en-US" sz="4800" b="1" i="1">
                                  <a:latin typeface="Cambria Math" panose="02040503050406030204" pitchFamily="18" charset="0"/>
                                </a:rPr>
                                <m:t>+</m:t>
                              </m:r>
                              <m:r>
                                <a:rPr lang="en-US" sz="4800" b="1" i="1">
                                  <a:latin typeface="Cambria Math" panose="02040503050406030204" pitchFamily="18" charset="0"/>
                                </a:rPr>
                                <m:t>𝟐</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𝟓</m:t>
                                  </m:r>
                                  <m:r>
                                    <a:rPr lang="en-US" sz="4800" b="1" i="1">
                                      <a:latin typeface="Cambria Math" panose="02040503050406030204" pitchFamily="18" charset="0"/>
                                    </a:rPr>
                                    <m:t>−</m:t>
                                  </m:r>
                                  <m:r>
                                    <a:rPr lang="en-US" sz="4800" b="1" i="1">
                                      <a:latin typeface="Cambria Math" panose="02040503050406030204" pitchFamily="18" charset="0"/>
                                    </a:rPr>
                                    <m:t>𝒚</m:t>
                                  </m:r>
                                </m:e>
                              </m:d>
                              <m:r>
                                <a:rPr lang="en-US" sz="4800" b="1" i="1">
                                  <a:latin typeface="Cambria Math" panose="02040503050406030204" pitchFamily="18" charset="0"/>
                                </a:rPr>
                                <m:t>=</m:t>
                              </m:r>
                              <m:r>
                                <a:rPr lang="en-US" sz="4800" b="1" i="1">
                                  <a:latin typeface="Cambria Math" panose="02040503050406030204" pitchFamily="18" charset="0"/>
                                </a:rPr>
                                <m:t>𝟎</m:t>
                              </m:r>
                            </m:e>
                          </m:eqArr>
                        </m:e>
                      </m:d>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6" name="TextBox 35">
                <a:extLst>
                  <a:ext uri="{FF2B5EF4-FFF2-40B4-BE49-F238E27FC236}">
                    <a16:creationId xmlns:a16="http://schemas.microsoft.com/office/drawing/2014/main" id="{742D9899-BF7E-4BE7-92D2-F07F4B853FC0}"/>
                  </a:ext>
                </a:extLst>
              </p:cNvPr>
              <p:cNvSpPr txBox="1">
                <a:spLocks noRot="1" noChangeAspect="1" noMove="1" noResize="1" noEditPoints="1" noAdjustHandles="1" noChangeArrowheads="1" noChangeShapeType="1" noTextEdit="1"/>
              </p:cNvSpPr>
              <p:nvPr/>
            </p:nvSpPr>
            <p:spPr>
              <a:xfrm>
                <a:off x="395924" y="8606096"/>
                <a:ext cx="10850548" cy="2478692"/>
              </a:xfrm>
              <a:prstGeom prst="rect">
                <a:avLst/>
              </a:prstGeom>
              <a:blipFill>
                <a:blip r:embed="rId12"/>
                <a:stretch>
                  <a:fillRect/>
                </a:stretch>
              </a:blipFill>
            </p:spPr>
            <p:txBody>
              <a:bodyPr/>
              <a:lstStyle/>
              <a:p>
                <a:r>
                  <a:rPr lang="en-US">
                    <a:noFill/>
                  </a:rPr>
                  <a:t> </a:t>
                </a:r>
              </a:p>
            </p:txBody>
          </p:sp>
        </mc:Fallback>
      </mc:AlternateContent>
      <p:cxnSp>
        <p:nvCxnSpPr>
          <p:cNvPr id="38" name="Straight Connector 37">
            <a:extLst>
              <a:ext uri="{FF2B5EF4-FFF2-40B4-BE49-F238E27FC236}">
                <a16:creationId xmlns:a16="http://schemas.microsoft.com/office/drawing/2014/main" id="{21569E63-50AA-45E3-8D99-DB3427E90068}"/>
              </a:ext>
            </a:extLst>
          </p:cNvPr>
          <p:cNvCxnSpPr>
            <a:cxnSpLocks/>
          </p:cNvCxnSpPr>
          <p:nvPr/>
        </p:nvCxnSpPr>
        <p:spPr>
          <a:xfrm>
            <a:off x="11887200" y="6761385"/>
            <a:ext cx="0" cy="6069392"/>
          </a:xfrm>
          <a:prstGeom prst="line">
            <a:avLst/>
          </a:prstGeom>
          <a:ln w="76200">
            <a:solidFill>
              <a:srgbClr val="FF0000"/>
            </a:solidFill>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504B40A-EB34-4386-AB31-1DF4B2EB8DE1}"/>
                  </a:ext>
                </a:extLst>
              </p:cNvPr>
              <p:cNvSpPr txBox="1"/>
              <p:nvPr/>
            </p:nvSpPr>
            <p:spPr>
              <a:xfrm>
                <a:off x="11582400" y="7360493"/>
                <a:ext cx="12859230" cy="9846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4600" b="1">
                          <a:latin typeface="Cambria Math" panose="02040503050406030204" pitchFamily="18" charset="0"/>
                        </a:rPr>
                        <m:t>T</m:t>
                      </m:r>
                      <m:r>
                        <m:rPr>
                          <m:nor/>
                        </m:rPr>
                        <a:rPr lang="en-US" sz="4600" b="1" i="0" smtClean="0">
                          <a:latin typeface="Cambria Math" panose="02040503050406030204" pitchFamily="18" charset="0"/>
                        </a:rPr>
                        <m:t>a</m:t>
                      </m:r>
                      <m:r>
                        <m:rPr>
                          <m:nor/>
                        </m:rPr>
                        <a:rPr lang="en-US" sz="4600" b="1" i="0" smtClean="0">
                          <a:latin typeface="Cambria Math" panose="02040503050406030204" pitchFamily="18" charset="0"/>
                        </a:rPr>
                        <m:t> </m:t>
                      </m:r>
                      <m:r>
                        <m:rPr>
                          <m:nor/>
                        </m:rPr>
                        <a:rPr lang="en-US" sz="4600" b="1" i="0" smtClean="0">
                          <a:latin typeface="Cambria Math" panose="02040503050406030204" pitchFamily="18" charset="0"/>
                        </a:rPr>
                        <m:t>c</m:t>
                      </m:r>
                      <m:r>
                        <m:rPr>
                          <m:nor/>
                        </m:rPr>
                        <a:rPr lang="en-US" sz="4600" b="1" i="0" smtClean="0">
                          <a:latin typeface="Cambria Math" panose="02040503050406030204" pitchFamily="18" charset="0"/>
                        </a:rPr>
                        <m:t>ó</m:t>
                      </m:r>
                      <m:r>
                        <m:rPr>
                          <m:nor/>
                        </m:rPr>
                        <a:rPr lang="en-US" sz="4600" b="1"/>
                        <m:t> </m:t>
                      </m:r>
                      <m:r>
                        <a:rPr lang="en-US" sz="4600" b="1" i="1">
                          <a:latin typeface="Cambria Math" panose="02040503050406030204" pitchFamily="18" charset="0"/>
                        </a:rPr>
                        <m:t>𝑷</m:t>
                      </m:r>
                      <m:r>
                        <a:rPr lang="en-US" sz="4600" b="1" i="1">
                          <a:latin typeface="Cambria Math" panose="02040503050406030204" pitchFamily="18" charset="0"/>
                        </a:rPr>
                        <m:t>=</m:t>
                      </m:r>
                      <m:d>
                        <m:dPr>
                          <m:begChr m:val="|"/>
                          <m:endChr m:val="|"/>
                          <m:ctrlPr>
                            <a:rPr lang="en-US" sz="4600" b="1" i="1">
                              <a:latin typeface="Cambria Math" panose="02040503050406030204" pitchFamily="18" charset="0"/>
                            </a:rPr>
                          </m:ctrlPr>
                        </m:dPr>
                        <m:e>
                          <m:r>
                            <a:rPr lang="en-US" sz="4600" b="1" i="1">
                              <a:latin typeface="Cambria Math" panose="02040503050406030204" pitchFamily="18" charset="0"/>
                            </a:rPr>
                            <m:t>𝟐</m:t>
                          </m:r>
                          <m:acc>
                            <m:accPr>
                              <m:chr m:val="⃗"/>
                              <m:ctrlPr>
                                <a:rPr lang="en-US" sz="4600" b="1" i="1">
                                  <a:latin typeface="Cambria Math" panose="02040503050406030204" pitchFamily="18" charset="0"/>
                                </a:rPr>
                              </m:ctrlPr>
                            </m:accPr>
                            <m:e>
                              <m:r>
                                <a:rPr lang="en-US" sz="4600" b="1" i="1">
                                  <a:latin typeface="Cambria Math" panose="02040503050406030204" pitchFamily="18" charset="0"/>
                                </a:rPr>
                                <m:t>𝑴𝑨</m:t>
                              </m:r>
                            </m:e>
                          </m:acc>
                          <m:r>
                            <a:rPr lang="en-US" sz="4600" b="1" i="1">
                              <a:latin typeface="Cambria Math" panose="02040503050406030204" pitchFamily="18" charset="0"/>
                            </a:rPr>
                            <m:t>−</m:t>
                          </m:r>
                          <m:r>
                            <a:rPr lang="en-US" sz="4600" b="1" i="1">
                              <a:latin typeface="Cambria Math" panose="02040503050406030204" pitchFamily="18" charset="0"/>
                            </a:rPr>
                            <m:t>𝟑</m:t>
                          </m:r>
                          <m:acc>
                            <m:accPr>
                              <m:chr m:val="⃗"/>
                              <m:ctrlPr>
                                <a:rPr lang="en-US" sz="4600" b="1" i="1">
                                  <a:latin typeface="Cambria Math" panose="02040503050406030204" pitchFamily="18" charset="0"/>
                                </a:rPr>
                              </m:ctrlPr>
                            </m:accPr>
                            <m:e>
                              <m:r>
                                <a:rPr lang="en-US" sz="4600" b="1" i="1">
                                  <a:latin typeface="Cambria Math" panose="02040503050406030204" pitchFamily="18" charset="0"/>
                                </a:rPr>
                                <m:t>𝑴𝑩</m:t>
                              </m:r>
                            </m:e>
                          </m:acc>
                          <m:r>
                            <a:rPr lang="en-US" sz="4600" b="1" i="1">
                              <a:latin typeface="Cambria Math" panose="02040503050406030204" pitchFamily="18" charset="0"/>
                            </a:rPr>
                            <m:t>+</m:t>
                          </m:r>
                          <m:r>
                            <a:rPr lang="en-US" sz="4600" b="1" i="1">
                              <a:latin typeface="Cambria Math" panose="02040503050406030204" pitchFamily="18" charset="0"/>
                            </a:rPr>
                            <m:t>𝟐</m:t>
                          </m:r>
                          <m:acc>
                            <m:accPr>
                              <m:chr m:val="⃗"/>
                              <m:ctrlPr>
                                <a:rPr lang="en-US" sz="4600" b="1" i="1">
                                  <a:latin typeface="Cambria Math" panose="02040503050406030204" pitchFamily="18" charset="0"/>
                                </a:rPr>
                              </m:ctrlPr>
                            </m:accPr>
                            <m:e>
                              <m:r>
                                <a:rPr lang="en-US" sz="4600" b="1" i="1">
                                  <a:latin typeface="Cambria Math" panose="02040503050406030204" pitchFamily="18" charset="0"/>
                                </a:rPr>
                                <m:t>𝑴𝑪</m:t>
                              </m:r>
                            </m:e>
                          </m:acc>
                        </m:e>
                      </m:d>
                      <m:r>
                        <a:rPr lang="en-US" sz="4600" b="1" i="1">
                          <a:latin typeface="Cambria Math" panose="02040503050406030204" pitchFamily="18" charset="0"/>
                        </a:rPr>
                        <m:t>=</m:t>
                      </m:r>
                      <m:d>
                        <m:dPr>
                          <m:begChr m:val="|"/>
                          <m:endChr m:val="|"/>
                          <m:ctrlPr>
                            <a:rPr lang="en-US" sz="4600" b="1" i="1">
                              <a:latin typeface="Cambria Math" panose="02040503050406030204" pitchFamily="18" charset="0"/>
                            </a:rPr>
                          </m:ctrlPr>
                        </m:dPr>
                        <m:e>
                          <m:acc>
                            <m:accPr>
                              <m:chr m:val="⃗"/>
                              <m:ctrlPr>
                                <a:rPr lang="en-US" sz="4600" b="1" i="1">
                                  <a:latin typeface="Cambria Math" panose="02040503050406030204" pitchFamily="18" charset="0"/>
                                </a:rPr>
                              </m:ctrlPr>
                            </m:accPr>
                            <m:e>
                              <m:r>
                                <a:rPr lang="en-US" sz="4600" b="1" i="1">
                                  <a:latin typeface="Cambria Math" panose="02040503050406030204" pitchFamily="18" charset="0"/>
                                </a:rPr>
                                <m:t>𝑴𝑰</m:t>
                              </m:r>
                            </m:e>
                          </m:acc>
                        </m:e>
                      </m:d>
                      <m:r>
                        <a:rPr lang="en-US" sz="4600" b="1" i="1">
                          <a:latin typeface="Cambria Math" panose="02040503050406030204" pitchFamily="18" charset="0"/>
                        </a:rPr>
                        <m:t>=</m:t>
                      </m:r>
                      <m:r>
                        <a:rPr lang="en-US" sz="4600" b="1" i="1">
                          <a:latin typeface="Cambria Math" panose="02040503050406030204" pitchFamily="18" charset="0"/>
                        </a:rPr>
                        <m:t>𝑴𝑰</m:t>
                      </m:r>
                      <m:r>
                        <a:rPr lang="en-US" sz="4600" b="1" i="1">
                          <a:latin typeface="Cambria Math" panose="02040503050406030204" pitchFamily="18" charset="0"/>
                        </a:rPr>
                        <m:t>.</m:t>
                      </m:r>
                    </m:oMath>
                  </m:oMathPara>
                </a14:m>
                <a:endParaRPr lang="en-US" sz="46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9" name="TextBox 38">
                <a:extLst>
                  <a:ext uri="{FF2B5EF4-FFF2-40B4-BE49-F238E27FC236}">
                    <a16:creationId xmlns:a16="http://schemas.microsoft.com/office/drawing/2014/main" id="{E504B40A-EB34-4386-AB31-1DF4B2EB8DE1}"/>
                  </a:ext>
                </a:extLst>
              </p:cNvPr>
              <p:cNvSpPr txBox="1">
                <a:spLocks noRot="1" noChangeAspect="1" noMove="1" noResize="1" noEditPoints="1" noAdjustHandles="1" noChangeArrowheads="1" noChangeShapeType="1" noTextEdit="1"/>
              </p:cNvSpPr>
              <p:nvPr/>
            </p:nvSpPr>
            <p:spPr>
              <a:xfrm>
                <a:off x="11582400" y="7360493"/>
                <a:ext cx="12859230" cy="984693"/>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F00D2F7-E760-4FDF-A62E-CFA45D320470}"/>
                  </a:ext>
                </a:extLst>
              </p:cNvPr>
              <p:cNvSpPr txBox="1"/>
              <p:nvPr/>
            </p:nvSpPr>
            <p:spPr>
              <a:xfrm>
                <a:off x="11901719" y="8444121"/>
                <a:ext cx="9985224" cy="8824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4800" b="1">
                          <a:latin typeface="Tahoma" panose="020B0604030504040204" pitchFamily="34" charset="0"/>
                          <a:ea typeface="Tahoma" panose="020B0604030504040204" pitchFamily="34" charset="0"/>
                          <a:cs typeface="Tahoma" panose="020B0604030504040204" pitchFamily="34" charset="0"/>
                        </a:rPr>
                        <m:t>Để </m:t>
                      </m:r>
                      <m:r>
                        <a:rPr lang="en-US" sz="4800" b="1" i="1">
                          <a:latin typeface="Cambria Math" panose="02040503050406030204" pitchFamily="18" charset="0"/>
                        </a:rPr>
                        <m:t>𝑷</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nh</m:t>
                      </m:r>
                      <m:r>
                        <m:rPr>
                          <m:nor/>
                        </m:rPr>
                        <a:rPr lang="en-US" sz="4800" b="1">
                          <a:latin typeface="Tahoma" panose="020B0604030504040204" pitchFamily="34" charset="0"/>
                          <a:ea typeface="Tahoma" panose="020B0604030504040204" pitchFamily="34" charset="0"/>
                          <a:cs typeface="Tahoma" panose="020B0604030504040204" pitchFamily="34" charset="0"/>
                        </a:rPr>
                        <m:t>ỏ </m:t>
                      </m:r>
                      <m:r>
                        <m:rPr>
                          <m:nor/>
                        </m:rPr>
                        <a:rPr lang="en-US" sz="4800" b="1">
                          <a:latin typeface="Tahoma" panose="020B0604030504040204" pitchFamily="34" charset="0"/>
                          <a:ea typeface="Tahoma" panose="020B0604030504040204" pitchFamily="34" charset="0"/>
                          <a:cs typeface="Tahoma" panose="020B0604030504040204" pitchFamily="34" charset="0"/>
                        </a:rPr>
                        <m:t>nh</m:t>
                      </m:r>
                      <m:r>
                        <m:rPr>
                          <m:nor/>
                        </m:rPr>
                        <a:rPr lang="en-US" sz="4800" b="1">
                          <a:latin typeface="Tahoma" panose="020B0604030504040204" pitchFamily="34" charset="0"/>
                          <a:ea typeface="Tahoma" panose="020B0604030504040204" pitchFamily="34" charset="0"/>
                          <a:cs typeface="Tahoma" panose="020B0604030504040204" pitchFamily="34" charset="0"/>
                        </a:rPr>
                        <m:t>ấ</m:t>
                      </m:r>
                      <m:r>
                        <m:rPr>
                          <m:nor/>
                        </m:rPr>
                        <a:rPr lang="en-US" sz="4800" b="1">
                          <a:latin typeface="Tahoma" panose="020B0604030504040204" pitchFamily="34" charset="0"/>
                          <a:ea typeface="Tahoma" panose="020B0604030504040204" pitchFamily="34" charset="0"/>
                          <a:cs typeface="Tahoma" panose="020B0604030504040204" pitchFamily="34" charset="0"/>
                        </a:rPr>
                        <m:t>t</m:t>
                      </m:r>
                      <m:r>
                        <m:rPr>
                          <m:nor/>
                        </m:rPr>
                        <a:rPr lang="en-US"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m:t>
                      </m:r>
                      <m:r>
                        <a:rPr lang="en-US" sz="4800" b="1" i="1">
                          <a:latin typeface="Cambria Math" panose="02040503050406030204" pitchFamily="18" charset="0"/>
                        </a:rPr>
                        <m:t>𝑴𝑰</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nh</m:t>
                      </m:r>
                      <m:r>
                        <m:rPr>
                          <m:nor/>
                        </m:rPr>
                        <a:rPr lang="en-US" sz="4800" b="1">
                          <a:latin typeface="Tahoma" panose="020B0604030504040204" pitchFamily="34" charset="0"/>
                          <a:ea typeface="Tahoma" panose="020B0604030504040204" pitchFamily="34" charset="0"/>
                          <a:cs typeface="Tahoma" panose="020B0604030504040204" pitchFamily="34" charset="0"/>
                        </a:rPr>
                        <m:t>ỏ </m:t>
                      </m:r>
                      <m:r>
                        <m:rPr>
                          <m:nor/>
                        </m:rPr>
                        <a:rPr lang="en-US" sz="4800" b="1">
                          <a:latin typeface="Tahoma" panose="020B0604030504040204" pitchFamily="34" charset="0"/>
                          <a:ea typeface="Tahoma" panose="020B0604030504040204" pitchFamily="34" charset="0"/>
                          <a:cs typeface="Tahoma" panose="020B0604030504040204" pitchFamily="34" charset="0"/>
                        </a:rPr>
                        <m:t>nh</m:t>
                      </m:r>
                      <m:r>
                        <m:rPr>
                          <m:nor/>
                        </m:rPr>
                        <a:rPr lang="en-US" sz="4800" b="1">
                          <a:latin typeface="Tahoma" panose="020B0604030504040204" pitchFamily="34" charset="0"/>
                          <a:ea typeface="Tahoma" panose="020B0604030504040204" pitchFamily="34" charset="0"/>
                          <a:cs typeface="Tahoma" panose="020B0604030504040204" pitchFamily="34" charset="0"/>
                        </a:rPr>
                        <m:t>ấ</m:t>
                      </m:r>
                      <m:r>
                        <m:rPr>
                          <m:nor/>
                        </m:rPr>
                        <a:rPr lang="en-US" sz="4800" b="1">
                          <a:latin typeface="Tahoma" panose="020B0604030504040204" pitchFamily="34" charset="0"/>
                          <a:ea typeface="Tahoma" panose="020B0604030504040204" pitchFamily="34" charset="0"/>
                          <a:cs typeface="Tahoma" panose="020B0604030504040204" pitchFamily="34" charset="0"/>
                        </a:rPr>
                        <m:t>t</m:t>
                      </m:r>
                      <m:r>
                        <m:rPr>
                          <m:nor/>
                        </m:rPr>
                        <a:rPr lang="en-US" sz="4800" b="1">
                          <a:latin typeface="Tahoma" panose="020B0604030504040204" pitchFamily="34" charset="0"/>
                          <a:ea typeface="Tahoma" panose="020B0604030504040204" pitchFamily="34" charset="0"/>
                          <a:cs typeface="Tahoma" panose="020B0604030504040204" pitchFamily="34"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2" name="TextBox 41">
                <a:extLst>
                  <a:ext uri="{FF2B5EF4-FFF2-40B4-BE49-F238E27FC236}">
                    <a16:creationId xmlns:a16="http://schemas.microsoft.com/office/drawing/2014/main" id="{6F00D2F7-E760-4FDF-A62E-CFA45D320470}"/>
                  </a:ext>
                </a:extLst>
              </p:cNvPr>
              <p:cNvSpPr txBox="1">
                <a:spLocks noRot="1" noChangeAspect="1" noMove="1" noResize="1" noEditPoints="1" noAdjustHandles="1" noChangeArrowheads="1" noChangeShapeType="1" noTextEdit="1"/>
              </p:cNvSpPr>
              <p:nvPr/>
            </p:nvSpPr>
            <p:spPr>
              <a:xfrm>
                <a:off x="11901719" y="8444121"/>
                <a:ext cx="9985224" cy="88248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9125D39-EE9A-4DB7-83D4-078FC59E5559}"/>
                  </a:ext>
                </a:extLst>
              </p:cNvPr>
              <p:cNvSpPr txBox="1"/>
              <p:nvPr/>
            </p:nvSpPr>
            <p:spPr>
              <a:xfrm>
                <a:off x="11981726" y="9783197"/>
                <a:ext cx="12575554" cy="227434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US" sz="4800" b="1"/>
                        <m:t>M</m:t>
                      </m:r>
                      <m:r>
                        <m:rPr>
                          <m:nor/>
                        </m:rPr>
                        <a:rPr lang="en-US" sz="4800" b="1"/>
                        <m:t>à </m:t>
                      </m:r>
                      <m:r>
                        <a:rPr lang="en-US" sz="4800" b="1" i="1">
                          <a:latin typeface="Cambria Math" panose="02040503050406030204" pitchFamily="18" charset="0"/>
                        </a:rPr>
                        <m:t>𝑴</m:t>
                      </m:r>
                      <m:r>
                        <m:rPr>
                          <m:nor/>
                        </m:rPr>
                        <a:rPr lang="en-US" sz="4800" b="1"/>
                        <m:t> </m:t>
                      </m:r>
                      <m:r>
                        <m:rPr>
                          <m:nor/>
                        </m:rPr>
                        <a:rPr lang="en-US" sz="4800" b="1"/>
                        <m:t>thu</m:t>
                      </m:r>
                      <m:r>
                        <m:rPr>
                          <m:nor/>
                        </m:rPr>
                        <a:rPr lang="en-US" sz="4800" b="1"/>
                        <m:t>ộ</m:t>
                      </m:r>
                      <m:r>
                        <m:rPr>
                          <m:nor/>
                        </m:rPr>
                        <a:rPr lang="en-US" sz="4800" b="1"/>
                        <m:t>c</m:t>
                      </m:r>
                      <m:r>
                        <m:rPr>
                          <m:nor/>
                        </m:rPr>
                        <a:rPr lang="en-US" sz="4800" b="1"/>
                        <m:t> </m:t>
                      </m:r>
                      <m:r>
                        <m:rPr>
                          <m:nor/>
                        </m:rPr>
                        <a:rPr lang="en-US" sz="4800" b="1"/>
                        <m:t>tr</m:t>
                      </m:r>
                      <m:r>
                        <m:rPr>
                          <m:nor/>
                        </m:rPr>
                        <a:rPr lang="en-US" sz="4800" b="1"/>
                        <m:t>ụ</m:t>
                      </m:r>
                      <m:r>
                        <m:rPr>
                          <m:nor/>
                        </m:rPr>
                        <a:rPr lang="en-US" sz="4800" b="1"/>
                        <m:t>c</m:t>
                      </m:r>
                      <m:r>
                        <m:rPr>
                          <m:nor/>
                        </m:rPr>
                        <a:rPr lang="en-US" sz="4800" b="1"/>
                        <m:t> </m:t>
                      </m:r>
                      <m:r>
                        <m:rPr>
                          <m:nor/>
                        </m:rPr>
                        <a:rPr lang="en-US" sz="4800" b="1"/>
                        <m:t>ho</m:t>
                      </m:r>
                      <m:r>
                        <m:rPr>
                          <m:nor/>
                        </m:rPr>
                        <a:rPr lang="en-US" sz="4800" b="1"/>
                        <m:t>à</m:t>
                      </m:r>
                      <m:r>
                        <m:rPr>
                          <m:nor/>
                        </m:rPr>
                        <a:rPr lang="en-US" sz="4800" b="1"/>
                        <m:t>nh</m:t>
                      </m:r>
                      <m:r>
                        <m:rPr>
                          <m:nor/>
                        </m:rPr>
                        <a:rPr lang="en-US" sz="4800" b="1"/>
                        <m:t> </m:t>
                      </m:r>
                      <m:r>
                        <m:rPr>
                          <m:nor/>
                        </m:rPr>
                        <a:rPr lang="en-US" sz="4800" b="1"/>
                        <m:t>n</m:t>
                      </m:r>
                      <m:r>
                        <m:rPr>
                          <m:nor/>
                        </m:rPr>
                        <a:rPr lang="en-US" sz="4800" b="1"/>
                        <m:t>ê</m:t>
                      </m:r>
                      <m:r>
                        <m:rPr>
                          <m:nor/>
                        </m:rPr>
                        <a:rPr lang="en-US" sz="4800" b="1"/>
                        <m:t>n</m:t>
                      </m:r>
                      <m:r>
                        <m:rPr>
                          <m:nor/>
                        </m:rPr>
                        <a:rPr lang="en-US" sz="4800" b="1"/>
                        <m:t> </m:t>
                      </m:r>
                      <m:r>
                        <a:rPr lang="en-US" sz="4800" b="1" i="1">
                          <a:latin typeface="Cambria Math" panose="02040503050406030204" pitchFamily="18" charset="0"/>
                        </a:rPr>
                        <m:t>𝑴𝑰</m:t>
                      </m:r>
                      <m:r>
                        <m:rPr>
                          <m:nor/>
                        </m:rPr>
                        <a:rPr lang="en-US" sz="4800" b="1"/>
                        <m:t> </m:t>
                      </m:r>
                      <m:r>
                        <m:rPr>
                          <m:nor/>
                        </m:rPr>
                        <a:rPr lang="en-US" sz="4800" b="1"/>
                        <m:t>nh</m:t>
                      </m:r>
                      <m:r>
                        <m:rPr>
                          <m:nor/>
                        </m:rPr>
                        <a:rPr lang="en-US" sz="4800" b="1"/>
                        <m:t>ỏ </m:t>
                      </m:r>
                      <m:r>
                        <m:rPr>
                          <m:nor/>
                        </m:rPr>
                        <a:rPr lang="en-US" sz="4800" b="1"/>
                        <m:t>nh</m:t>
                      </m:r>
                      <m:r>
                        <m:rPr>
                          <m:nor/>
                        </m:rPr>
                        <a:rPr lang="en-US" sz="4800" b="1"/>
                        <m:t>ấ</m:t>
                      </m:r>
                      <m:r>
                        <m:rPr>
                          <m:nor/>
                        </m:rPr>
                        <a:rPr lang="en-US" sz="4800" b="1"/>
                        <m:t>t</m:t>
                      </m:r>
                      <m:r>
                        <m:rPr>
                          <m:nor/>
                        </m:rPr>
                        <a:rPr lang="en-US" sz="4800" b="1"/>
                        <m:t> </m:t>
                      </m:r>
                      <m:r>
                        <m:rPr>
                          <m:nor/>
                        </m:rPr>
                        <a:rPr lang="en-US" sz="4800" b="1"/>
                        <m:t>khi</m:t>
                      </m:r>
                    </m:oMath>
                  </m:oMathPara>
                </a14:m>
                <a:endParaRPr lang="en-US" sz="4800" b="1" dirty="0"/>
              </a:p>
              <a:p>
                <a:pPr/>
                <a14:m>
                  <m:oMathPara xmlns:m="http://schemas.openxmlformats.org/officeDocument/2006/math">
                    <m:oMathParaPr>
                      <m:jc m:val="left"/>
                    </m:oMathParaPr>
                    <m:oMath xmlns:m="http://schemas.openxmlformats.org/officeDocument/2006/math">
                      <m:r>
                        <m:rPr>
                          <m:nor/>
                        </m:rPr>
                        <a:rPr lang="en-US" sz="4800" b="1"/>
                        <m:t> </m:t>
                      </m:r>
                      <m:r>
                        <a:rPr lang="en-US" sz="4800" b="1" i="1">
                          <a:latin typeface="Cambria Math" panose="02040503050406030204" pitchFamily="18" charset="0"/>
                        </a:rPr>
                        <m:t>𝑴</m:t>
                      </m:r>
                      <m:r>
                        <m:rPr>
                          <m:nor/>
                        </m:rPr>
                        <a:rPr lang="en-US" sz="4800" b="1"/>
                        <m:t> </m:t>
                      </m:r>
                      <m:r>
                        <m:rPr>
                          <m:nor/>
                        </m:rPr>
                        <a:rPr lang="en-US" sz="4800" b="1"/>
                        <m:t>l</m:t>
                      </m:r>
                      <m:r>
                        <m:rPr>
                          <m:nor/>
                        </m:rPr>
                        <a:rPr lang="en-US" sz="4800" b="1"/>
                        <m:t>à </m:t>
                      </m:r>
                      <m:r>
                        <m:rPr>
                          <m:nor/>
                        </m:rPr>
                        <a:rPr lang="en-US" sz="4800" b="1"/>
                        <m:t>h</m:t>
                      </m:r>
                      <m:r>
                        <m:rPr>
                          <m:nor/>
                        </m:rPr>
                        <a:rPr lang="en-US" sz="4800" b="1"/>
                        <m:t>ì</m:t>
                      </m:r>
                      <m:r>
                        <m:rPr>
                          <m:nor/>
                        </m:rPr>
                        <a:rPr lang="en-US" sz="4800" b="1"/>
                        <m:t>nh</m:t>
                      </m:r>
                      <m:r>
                        <m:rPr>
                          <m:nor/>
                        </m:rPr>
                        <a:rPr lang="en-US" sz="4800" b="1"/>
                        <m:t> </m:t>
                      </m:r>
                      <m:r>
                        <m:rPr>
                          <m:nor/>
                        </m:rPr>
                        <a:rPr lang="en-US" sz="4800" b="1"/>
                        <m:t>chi</m:t>
                      </m:r>
                      <m:r>
                        <m:rPr>
                          <m:nor/>
                        </m:rPr>
                        <a:rPr lang="en-US" sz="4800" b="1"/>
                        <m:t>ế</m:t>
                      </m:r>
                      <m:r>
                        <m:rPr>
                          <m:nor/>
                        </m:rPr>
                        <a:rPr lang="en-US" sz="4800" b="1"/>
                        <m:t>u</m:t>
                      </m:r>
                      <m:r>
                        <m:rPr>
                          <m:nor/>
                        </m:rPr>
                        <a:rPr lang="en-US" sz="4800" b="1"/>
                        <m:t> </m:t>
                      </m:r>
                      <m:r>
                        <m:rPr>
                          <m:nor/>
                        </m:rPr>
                        <a:rPr lang="en-US" sz="4800" b="1"/>
                        <m:t>vu</m:t>
                      </m:r>
                      <m:r>
                        <m:rPr>
                          <m:nor/>
                        </m:rPr>
                        <a:rPr lang="en-US" sz="4800" b="1"/>
                        <m:t>ô</m:t>
                      </m:r>
                      <m:r>
                        <m:rPr>
                          <m:nor/>
                        </m:rPr>
                        <a:rPr lang="en-US" sz="4800" b="1"/>
                        <m:t>ng</m:t>
                      </m:r>
                      <m:r>
                        <m:rPr>
                          <m:nor/>
                        </m:rPr>
                        <a:rPr lang="en-US" sz="4800" b="1"/>
                        <m:t> </m:t>
                      </m:r>
                      <m:r>
                        <m:rPr>
                          <m:nor/>
                        </m:rPr>
                        <a:rPr lang="en-US" sz="4800" b="1"/>
                        <m:t>g</m:t>
                      </m:r>
                      <m:r>
                        <m:rPr>
                          <m:nor/>
                        </m:rPr>
                        <a:rPr lang="en-US" sz="4800" b="1"/>
                        <m:t>ó</m:t>
                      </m:r>
                      <m:r>
                        <m:rPr>
                          <m:nor/>
                        </m:rPr>
                        <a:rPr lang="en-US" sz="4800" b="1"/>
                        <m:t>c</m:t>
                      </m:r>
                      <m:r>
                        <m:rPr>
                          <m:nor/>
                        </m:rPr>
                        <a:rPr lang="en-US" sz="4800" b="1"/>
                        <m:t> </m:t>
                      </m:r>
                      <m:r>
                        <m:rPr>
                          <m:nor/>
                        </m:rPr>
                        <a:rPr lang="en-US" sz="4800" b="1"/>
                        <m:t>c</m:t>
                      </m:r>
                      <m:r>
                        <m:rPr>
                          <m:nor/>
                        </m:rPr>
                        <a:rPr lang="en-US" sz="4800" b="1"/>
                        <m:t>ủ</m:t>
                      </m:r>
                      <m:r>
                        <m:rPr>
                          <m:nor/>
                        </m:rPr>
                        <a:rPr lang="en-US" sz="4800" b="1"/>
                        <m:t>a</m:t>
                      </m:r>
                      <m:r>
                        <m:rPr>
                          <m:nor/>
                        </m:rPr>
                        <a:rPr lang="en-US" sz="4800" b="1"/>
                        <m:t> </m:t>
                      </m:r>
                      <m:r>
                        <a:rPr lang="en-US" sz="4800" b="1" i="1">
                          <a:latin typeface="Cambria Math" panose="02040503050406030204" pitchFamily="18" charset="0"/>
                        </a:rPr>
                        <m:t>𝑰</m:t>
                      </m:r>
                      <m:r>
                        <m:rPr>
                          <m:nor/>
                        </m:rPr>
                        <a:rPr lang="en-US" sz="4800" b="1"/>
                        <m:t> </m:t>
                      </m:r>
                      <m:r>
                        <m:rPr>
                          <m:nor/>
                        </m:rPr>
                        <a:rPr lang="en-US" sz="4800" b="1"/>
                        <m:t>l</m:t>
                      </m:r>
                      <m:r>
                        <m:rPr>
                          <m:nor/>
                        </m:rPr>
                        <a:rPr lang="en-US" sz="4800" b="1"/>
                        <m:t>ê</m:t>
                      </m:r>
                      <m:r>
                        <m:rPr>
                          <m:nor/>
                        </m:rPr>
                        <a:rPr lang="en-US" sz="4800" b="1"/>
                        <m:t>n</m:t>
                      </m:r>
                      <m:r>
                        <m:rPr>
                          <m:nor/>
                        </m:rPr>
                        <a:rPr lang="en-US" sz="4800" b="1"/>
                        <m:t> </m:t>
                      </m:r>
                      <m:r>
                        <m:rPr>
                          <m:nor/>
                        </m:rPr>
                        <a:rPr lang="en-US" sz="4800" b="1"/>
                        <m:t>tr</m:t>
                      </m:r>
                      <m:r>
                        <m:rPr>
                          <m:nor/>
                        </m:rPr>
                        <a:rPr lang="en-US" sz="4800" b="1"/>
                        <m:t>ụ</m:t>
                      </m:r>
                      <m:r>
                        <m:rPr>
                          <m:nor/>
                        </m:rPr>
                        <a:rPr lang="en-US" sz="4800" b="1"/>
                        <m:t>c</m:t>
                      </m:r>
                      <m:r>
                        <m:rPr>
                          <m:nor/>
                        </m:rPr>
                        <a:rPr lang="en-US" sz="4800" b="1"/>
                        <m:t> </m:t>
                      </m:r>
                      <m:r>
                        <m:rPr>
                          <m:nor/>
                        </m:rPr>
                        <a:rPr lang="en-US" sz="4800" b="1"/>
                        <m:t>ho</m:t>
                      </m:r>
                      <m:r>
                        <m:rPr>
                          <m:nor/>
                        </m:rPr>
                        <a:rPr lang="en-US" sz="4800" b="1"/>
                        <m:t>à</m:t>
                      </m:r>
                      <m:r>
                        <m:rPr>
                          <m:nor/>
                        </m:rPr>
                        <a:rPr lang="en-US" sz="4800" b="1"/>
                        <m:t>nh</m:t>
                      </m:r>
                      <m:r>
                        <m:rPr>
                          <m:nor/>
                        </m:rPr>
                        <a:rPr lang="en-US" sz="4800" b="1"/>
                        <m:t> </m:t>
                      </m:r>
                      <m:r>
                        <a:rPr lang="en-US" sz="4800" b="1" i="1">
                          <a:latin typeface="Cambria Math" panose="02040503050406030204" pitchFamily="18" charset="0"/>
                        </a:rPr>
                        <m:t>⇒</m:t>
                      </m:r>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𝟎</m:t>
                          </m:r>
                        </m:e>
                      </m:d>
                      <m:r>
                        <a:rPr lang="en-US" sz="4800" b="1" i="1">
                          <a:latin typeface="Cambria Math" panose="02040503050406030204" pitchFamily="18"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4" name="TextBox 43">
                <a:extLst>
                  <a:ext uri="{FF2B5EF4-FFF2-40B4-BE49-F238E27FC236}">
                    <a16:creationId xmlns:a16="http://schemas.microsoft.com/office/drawing/2014/main" id="{B9125D39-EE9A-4DB7-83D4-078FC59E5559}"/>
                  </a:ext>
                </a:extLst>
              </p:cNvPr>
              <p:cNvSpPr txBox="1">
                <a:spLocks noRot="1" noChangeAspect="1" noMove="1" noResize="1" noEditPoints="1" noAdjustHandles="1" noChangeArrowheads="1" noChangeShapeType="1" noTextEdit="1"/>
              </p:cNvSpPr>
              <p:nvPr/>
            </p:nvSpPr>
            <p:spPr>
              <a:xfrm>
                <a:off x="11981726" y="9783197"/>
                <a:ext cx="12575554" cy="2274341"/>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54FEFB8-9417-4A88-A4A6-56DAFB85CFBF}"/>
                  </a:ext>
                </a:extLst>
              </p:cNvPr>
              <p:cNvSpPr txBox="1"/>
              <p:nvPr/>
            </p:nvSpPr>
            <p:spPr>
              <a:xfrm>
                <a:off x="616782" y="11223022"/>
                <a:ext cx="7752592" cy="174002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m>
                            <m:mPr>
                              <m:mcs>
                                <m:mc>
                                  <m:mcPr>
                                    <m:count m:val="1"/>
                                    <m:mcJc m:val="center"/>
                                  </m:mcPr>
                                </m:mc>
                              </m:mcs>
                              <m:ctrlPr>
                                <a:rPr lang="en-US" sz="4800" b="1" i="1">
                                  <a:latin typeface="Cambria Math" panose="02040503050406030204" pitchFamily="18" charset="0"/>
                                </a:rPr>
                              </m:ctrlPr>
                            </m:mPr>
                            <m:m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𝟒</m:t>
                                </m:r>
                              </m:e>
                            </m:mr>
                            <m:mr>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𝟏𝟔</m:t>
                                </m:r>
                              </m:e>
                            </m:mr>
                          </m:m>
                        </m:e>
                      </m:d>
                      <m:r>
                        <a:rPr lang="en-US" sz="4800" b="1" i="1">
                          <a:latin typeface="Cambria Math" panose="02040503050406030204" pitchFamily="18" charset="0"/>
                        </a:rPr>
                        <m:t>⇒</m:t>
                      </m:r>
                      <m:r>
                        <a:rPr lang="en-US" sz="4800" b="1" i="1">
                          <a:latin typeface="Cambria Math" panose="02040503050406030204" pitchFamily="18" charset="0"/>
                        </a:rPr>
                        <m:t>𝑰</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𝟏𝟔</m:t>
                          </m:r>
                        </m:e>
                      </m:d>
                      <m:r>
                        <a:rPr lang="en-US" sz="4800" b="1" i="1">
                          <a:latin typeface="Cambria Math" panose="02040503050406030204" pitchFamily="18"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6" name="TextBox 45">
                <a:extLst>
                  <a:ext uri="{FF2B5EF4-FFF2-40B4-BE49-F238E27FC236}">
                    <a16:creationId xmlns:a16="http://schemas.microsoft.com/office/drawing/2014/main" id="{954FEFB8-9417-4A88-A4A6-56DAFB85CFBF}"/>
                  </a:ext>
                </a:extLst>
              </p:cNvPr>
              <p:cNvSpPr txBox="1">
                <a:spLocks noRot="1" noChangeAspect="1" noMove="1" noResize="1" noEditPoints="1" noAdjustHandles="1" noChangeArrowheads="1" noChangeShapeType="1" noTextEdit="1"/>
              </p:cNvSpPr>
              <p:nvPr/>
            </p:nvSpPr>
            <p:spPr>
              <a:xfrm>
                <a:off x="616782" y="11223022"/>
                <a:ext cx="7752592" cy="1740028"/>
              </a:xfrm>
              <a:prstGeom prst="rect">
                <a:avLst/>
              </a:prstGeom>
              <a:blipFill>
                <a:blip r:embed="rId16"/>
                <a:stretch>
                  <a:fillRect/>
                </a:stretch>
              </a:blipFill>
            </p:spPr>
            <p:txBody>
              <a:bodyPr/>
              <a:lstStyle/>
              <a:p>
                <a:r>
                  <a:rPr lang="en-US">
                    <a:noFill/>
                  </a:rPr>
                  <a:t> </a:t>
                </a:r>
              </a:p>
            </p:txBody>
          </p:sp>
        </mc:Fallback>
      </mc:AlternateContent>
      <p:sp>
        <p:nvSpPr>
          <p:cNvPr id="47" name="Oval 46">
            <a:extLst>
              <a:ext uri="{FF2B5EF4-FFF2-40B4-BE49-F238E27FC236}">
                <a16:creationId xmlns:a16="http://schemas.microsoft.com/office/drawing/2014/main" id="{C5733B04-F67C-4512-9D30-9263954364D2}"/>
              </a:ext>
            </a:extLst>
          </p:cNvPr>
          <p:cNvSpPr/>
          <p:nvPr/>
        </p:nvSpPr>
        <p:spPr>
          <a:xfrm>
            <a:off x="18670603" y="1917740"/>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latin typeface="Tahoma" pitchFamily="34" charset="0"/>
                <a:ea typeface="Tahoma" pitchFamily="34" charset="0"/>
                <a:cs typeface="Tahoma" pitchFamily="34" charset="0"/>
              </a:rPr>
              <a:t>B</a:t>
            </a:r>
            <a:endParaRPr lang="en-US" sz="6400" dirty="0"/>
          </a:p>
        </p:txBody>
      </p:sp>
      <p:sp>
        <p:nvSpPr>
          <p:cNvPr id="54" name="Rounded Rectangle 5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58" name="TextBox 5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271400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left)">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left)">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left)">
                                      <p:cBhvr>
                                        <p:cTn id="27" dur="500"/>
                                        <p:tgtEl>
                                          <p:spTgt spid="4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wipe(left)">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wipe(left)">
                                      <p:cBhvr>
                                        <p:cTn id="42" dur="5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wipe(left)">
                                      <p:cBhvr>
                                        <p:cTn id="47" dur="500"/>
                                        <p:tgtEl>
                                          <p:spTgt spid="4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wipe(left)">
                                      <p:cBhvr>
                                        <p:cTn id="5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4" grpId="0"/>
      <p:bldP spid="35" grpId="0"/>
      <p:bldP spid="36" grpId="0"/>
      <p:bldP spid="39" grpId="0"/>
      <p:bldP spid="42" grpId="0"/>
      <p:bldP spid="44" grpId="0"/>
      <p:bldP spid="46" grpId="0"/>
      <p:bldP spid="4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3346869" cy="1079473"/>
              <a:chOff x="334670" y="3952064"/>
              <a:chExt cx="3346869"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060970" y="3325559"/>
                <a:ext cx="966341" cy="2274797"/>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074257" y="4062849"/>
                <a:ext cx="2607282" cy="800219"/>
              </a:xfrm>
              <a:prstGeom prst="rect">
                <a:avLst/>
              </a:prstGeom>
              <a:grp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Bài giải</a:t>
                </a:r>
                <a:endPar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726165" y="5223455"/>
            <a:ext cx="23556178" cy="1116484"/>
            <a:chOff x="241306" y="2302819"/>
            <a:chExt cx="11778089" cy="558242"/>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337845"/>
                  <a:ext cx="2468235" cy="523215"/>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𝑴</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𝟏𝟖</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337845"/>
                  <a:ext cx="2468235" cy="523215"/>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B</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337845"/>
                  <a:ext cx="2468235" cy="523215"/>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𝑴</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𝟏𝟖</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337845"/>
                  <a:ext cx="2468235" cy="523215"/>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A</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337845"/>
                  <a:ext cx="2468235" cy="523216"/>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𝑴</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𝟏𝟖</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337845"/>
                  <a:ext cx="2468235" cy="523216"/>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C</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302819"/>
                  <a:ext cx="2468235" cy="558241"/>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𝑴</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𝟏𝟖</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302819"/>
                  <a:ext cx="2468235" cy="558241"/>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D</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18764783" y="5223455"/>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D</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72643" y="2402494"/>
            <a:ext cx="24228829" cy="2428363"/>
            <a:chOff x="638054" y="3675129"/>
            <a:chExt cx="24228829" cy="2945125"/>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794414"/>
              <a:ext cx="23594672" cy="2825840"/>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638054" y="3675129"/>
              <a:ext cx="4084054" cy="1053829"/>
              <a:chOff x="638054" y="3675129"/>
              <a:chExt cx="4084054" cy="1053829"/>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219048" y="3675129"/>
                <a:ext cx="3503060" cy="862436"/>
                <a:chOff x="1885798" y="4037079"/>
                <a:chExt cx="3503060" cy="86243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221276" y="2731933"/>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289133" y="4037079"/>
                  <a:ext cx="2895398" cy="800218"/>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CÂU</a:t>
                  </a:r>
                  <a:r>
                    <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 15.</a:t>
                  </a: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638054" y="368848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145F82"/>
                  </a:solidFill>
                  <a:effectLst/>
                  <a:uLnTx/>
                  <a:uFillTx/>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3620219" y="6484357"/>
                <a:ext cx="6895381" cy="864276"/>
              </a:xfrm>
              <a:prstGeom prst="rect">
                <a:avLst/>
              </a:prstGeom>
              <a:noFill/>
            </p:spPr>
            <p:txBody>
              <a:bodyPr wrap="square">
                <a:spAutoFit/>
              </a:bodyPr>
              <a:lstStyle/>
              <a:p>
                <a:pPr lvl="0">
                  <a:lnSpc>
                    <a:spcPct val="115000"/>
                  </a:lnSpc>
                  <a:spcBef>
                    <a:spcPts val="200"/>
                  </a:spcBef>
                  <a:spcAft>
                    <a:spcPts val="800"/>
                  </a:spcAft>
                  <a:defRPr/>
                </a:pPr>
                <a:r>
                  <a:rPr lang="en-US" sz="4800" b="1" dirty="0" err="1">
                    <a:latin typeface="Tahoma" panose="020B0604030504040204" pitchFamily="34" charset="0"/>
                    <a:ea typeface="Tahoma" panose="020B0604030504040204" pitchFamily="34" charset="0"/>
                    <a:cs typeface="Tahoma" panose="020B0604030504040204" pitchFamily="34" charset="0"/>
                  </a:rPr>
                  <a:t>Gọi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𝑴</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𝒙</m:t>
                            </m:r>
                          </m:e>
                          <m:sub>
                            <m:r>
                              <a:rPr lang="en-US" sz="4800" b="1" i="1">
                                <a:latin typeface="Cambria Math" panose="02040503050406030204" pitchFamily="18" charset="0"/>
                                <a:ea typeface="Calibri" panose="020F0502020204030204" pitchFamily="34" charset="0"/>
                                <a:cs typeface="Tahoma" panose="020B0604030504040204" pitchFamily="34" charset="0"/>
                              </a:rPr>
                              <m:t>𝑴</m:t>
                            </m:r>
                          </m:sub>
                        </m:sSub>
                        <m:r>
                          <a:rPr lang="en-US" sz="4800" b="1" i="1">
                            <a:latin typeface="Cambria Math" panose="02040503050406030204" pitchFamily="18" charset="0"/>
                            <a:ea typeface="Calibri" panose="020F0502020204030204" pitchFamily="34" charset="0"/>
                            <a:cs typeface="Tahoma" panose="020B0604030504040204" pitchFamily="34" charset="0"/>
                          </a:rPr>
                          <m:t>;</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𝒚</m:t>
                            </m:r>
                          </m:e>
                          <m:sub>
                            <m:r>
                              <a:rPr lang="en-US" sz="4800" b="1" i="1">
                                <a:latin typeface="Cambria Math" panose="02040503050406030204" pitchFamily="18" charset="0"/>
                                <a:ea typeface="Calibri" panose="020F0502020204030204" pitchFamily="34" charset="0"/>
                                <a:cs typeface="Tahoma" panose="020B0604030504040204" pitchFamily="34" charset="0"/>
                              </a:rPr>
                              <m:t>𝑴</m:t>
                            </m:r>
                          </m:sub>
                        </m:sSub>
                      </m:e>
                    </m:d>
                  </m:oMath>
                </a14:m>
                <a:r>
                  <a:rPr lang="en-US" sz="4800" b="1" dirty="0">
                    <a:latin typeface="Tahoma" panose="020B0604030504040204" pitchFamily="34" charset="0"/>
                    <a:ea typeface="Tahoma" panose="020B0604030504040204" pitchFamily="34" charset="0"/>
                    <a:cs typeface="Tahoma" panose="020B0604030504040204" pitchFamily="34" charset="0"/>
                  </a:rPr>
                  <a:t>.</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3620219" y="6484357"/>
                <a:ext cx="6895381" cy="864276"/>
              </a:xfrm>
              <a:prstGeom prst="rect">
                <a:avLst/>
              </a:prstGeom>
              <a:blipFill>
                <a:blip r:embed="rId8"/>
                <a:stretch>
                  <a:fillRect l="-4067" t="-12766" b="-368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1040118" y="2930539"/>
                <a:ext cx="23594672" cy="1664110"/>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mặt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𝟎</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𝑪</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𝟓</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thỏa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mãn</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𝑴𝑨</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𝑴𝑩</m:t>
                        </m:r>
                      </m:e>
                    </m:acc>
                    <m:r>
                      <a:rPr lang="en-US" sz="4800" b="1" i="1">
                        <a:latin typeface="Cambria Math" panose="02040503050406030204" pitchFamily="18" charset="0"/>
                      </a:rPr>
                      <m:t>−</m:t>
                    </m:r>
                    <m:r>
                      <a:rPr lang="en-US" sz="4800" b="1" i="1">
                        <a:latin typeface="Cambria Math" panose="02040503050406030204" pitchFamily="18" charset="0"/>
                      </a:rPr>
                      <m:t>𝟑</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𝑴𝑪</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𝟎</m:t>
                        </m:r>
                      </m:e>
                    </m:acc>
                  </m:oMath>
                </a14:m>
                <a:r>
                  <a:rPr lang="en-US" sz="4800" b="1" dirty="0">
                    <a:latin typeface="Tahoma" panose="020B0604030504040204" pitchFamily="34" charset="0"/>
                    <a:ea typeface="Tahoma" panose="020B0604030504040204" pitchFamily="34" charset="0"/>
                    <a:cs typeface="Tahoma" panose="020B0604030504040204" pitchFamily="34" charset="0"/>
                  </a:rPr>
                  <a:t> là</a:t>
                </a: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1040118" y="2930539"/>
                <a:ext cx="23594672" cy="1664110"/>
              </a:xfrm>
              <a:prstGeom prst="rect">
                <a:avLst/>
              </a:prstGeom>
              <a:blipFill>
                <a:blip r:embed="rId9"/>
                <a:stretch>
                  <a:fillRect l="-1189" t="-8791" r="-258" b="-17949"/>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3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3274193" y="7403944"/>
                <a:ext cx="10390543" cy="9254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4800" b="1">
                          <a:latin typeface="Tahoma" panose="020B0604030504040204" pitchFamily="34" charset="0"/>
                          <a:ea typeface="Tahoma" panose="020B0604030504040204" pitchFamily="34" charset="0"/>
                          <a:cs typeface="Tahoma" panose="020B0604030504040204" pitchFamily="34" charset="0"/>
                        </a:rPr>
                        <m:t>Theo</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b</m:t>
                      </m:r>
                      <m:r>
                        <m:rPr>
                          <m:nor/>
                        </m:rPr>
                        <a:rPr lang="en-US" sz="4800" b="1">
                          <a:latin typeface="Tahoma" panose="020B0604030504040204" pitchFamily="34" charset="0"/>
                          <a:ea typeface="Tahoma" panose="020B0604030504040204" pitchFamily="34" charset="0"/>
                          <a:cs typeface="Tahoma" panose="020B0604030504040204" pitchFamily="34" charset="0"/>
                        </a:rPr>
                        <m:t>à</m:t>
                      </m:r>
                      <m:r>
                        <m:rPr>
                          <m:nor/>
                        </m:rPr>
                        <a:rPr lang="en-US" sz="4800" b="1">
                          <a:latin typeface="Tahoma" panose="020B0604030504040204" pitchFamily="34" charset="0"/>
                          <a:ea typeface="Tahoma" panose="020B0604030504040204" pitchFamily="34" charset="0"/>
                          <a:cs typeface="Tahoma" panose="020B0604030504040204" pitchFamily="34" charset="0"/>
                        </a:rPr>
                        <m:t>i</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ra</m:t>
                      </m:r>
                      <m:r>
                        <m:rPr>
                          <m:nor/>
                        </m:rPr>
                        <a:rPr lang="en-US" sz="4800" b="1">
                          <a:latin typeface="Tahoma" panose="020B0604030504040204" pitchFamily="34" charset="0"/>
                          <a:ea typeface="Tahoma" panose="020B0604030504040204" pitchFamily="34" charset="0"/>
                          <a:cs typeface="Tahoma" panose="020B0604030504040204" pitchFamily="34" charset="0"/>
                        </a:rPr>
                        <m:t> </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𝑴𝑨</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𝑴𝑩</m:t>
                          </m:r>
                        </m:e>
                      </m:acc>
                      <m:r>
                        <a:rPr lang="en-US" sz="4800" b="1" i="1">
                          <a:latin typeface="Cambria Math" panose="02040503050406030204" pitchFamily="18" charset="0"/>
                        </a:rPr>
                        <m:t>−</m:t>
                      </m:r>
                      <m:r>
                        <a:rPr lang="en-US" sz="4800" b="1" i="1">
                          <a:latin typeface="Cambria Math" panose="02040503050406030204" pitchFamily="18" charset="0"/>
                        </a:rPr>
                        <m:t>𝟑</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𝑴𝑪</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𝟎</m:t>
                          </m:r>
                        </m:e>
                      </m:acc>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3274193" y="7403944"/>
                <a:ext cx="10390543" cy="92544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0944151-E1E2-4A21-AF5F-5DDFEBFB8529}"/>
                  </a:ext>
                </a:extLst>
              </p:cNvPr>
              <p:cNvSpPr txBox="1"/>
              <p:nvPr/>
            </p:nvSpPr>
            <p:spPr>
              <a:xfrm>
                <a:off x="1801852" y="8298401"/>
                <a:ext cx="13925129" cy="17593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800" b="1" i="1">
                          <a:latin typeface="Cambria Math" panose="02040503050406030204" pitchFamily="18" charset="0"/>
                          <a:ea typeface="Calibri" panose="020F0502020204030204" pitchFamily="34" charset="0"/>
                          <a:cs typeface="Tahoma" panose="020B0604030504040204" pitchFamily="34" charset="0"/>
                        </a:rPr>
                        <m:t>⇔</m:t>
                      </m:r>
                      <m:d>
                        <m:dPr>
                          <m:begChr m:val="{"/>
                          <m:endChr m:val=""/>
                          <m:ctrlPr>
                            <a:rPr lang="en-US" sz="4800" b="1" i="1">
                              <a:latin typeface="Cambria Math" panose="02040503050406030204" pitchFamily="18" charset="0"/>
                              <a:ea typeface="Calibri" panose="020F0502020204030204" pitchFamily="34" charset="0"/>
                              <a:cs typeface="Tahoma" panose="020B0604030504040204" pitchFamily="34" charset="0"/>
                            </a:rPr>
                          </m:ctrlPr>
                        </m:dPr>
                        <m:e>
                          <m:eqArr>
                            <m:eqArrPr>
                              <m:ctrlPr>
                                <a:rPr lang="en-US" sz="4800" b="1" i="1">
                                  <a:latin typeface="Cambria Math" panose="02040503050406030204" pitchFamily="18" charset="0"/>
                                  <a:ea typeface="Calibri" panose="020F0502020204030204" pitchFamily="34" charset="0"/>
                                  <a:cs typeface="Tahoma" panose="020B0604030504040204" pitchFamily="34" charset="0"/>
                                </a:rPr>
                              </m:ctrlPr>
                            </m:eqArrPr>
                            <m:e>
                              <m:r>
                                <a:rPr lang="en-US" sz="4800" b="1" i="1">
                                  <a:latin typeface="Cambria Math" panose="02040503050406030204" pitchFamily="18" charset="0"/>
                                  <a:ea typeface="Calibri" panose="020F0502020204030204" pitchFamily="34" charset="0"/>
                                  <a:cs typeface="Tahoma" panose="020B0604030504040204" pitchFamily="34" charset="0"/>
                                </a:rPr>
                                <m:t>&amp;</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𝟏</m:t>
                                  </m:r>
                                  <m:r>
                                    <a:rPr lang="en-US" sz="4800" b="1" i="1">
                                      <a:latin typeface="Cambria Math" panose="02040503050406030204" pitchFamily="18" charset="0"/>
                                      <a:ea typeface="Calibri" panose="020F0502020204030204" pitchFamily="34" charset="0"/>
                                      <a:cs typeface="Tahoma" panose="020B0604030504040204" pitchFamily="34" charset="0"/>
                                    </a:rPr>
                                    <m:t>−</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𝒙</m:t>
                                      </m:r>
                                    </m:e>
                                    <m:sub>
                                      <m:r>
                                        <a:rPr lang="en-US" sz="4800" b="1" i="1">
                                          <a:latin typeface="Cambria Math" panose="02040503050406030204" pitchFamily="18" charset="0"/>
                                          <a:ea typeface="Calibri" panose="020F0502020204030204" pitchFamily="34" charset="0"/>
                                          <a:cs typeface="Tahoma" panose="020B0604030504040204" pitchFamily="34" charset="0"/>
                                        </a:rPr>
                                        <m:t>𝑴</m:t>
                                      </m:r>
                                    </m:sub>
                                  </m:sSub>
                                </m:e>
                              </m:d>
                              <m:r>
                                <a:rPr lang="en-US" sz="4800" b="1" i="1">
                                  <a:latin typeface="Cambria Math" panose="02040503050406030204" pitchFamily="18" charset="0"/>
                                  <a:ea typeface="Calibri" panose="020F0502020204030204" pitchFamily="34" charset="0"/>
                                  <a:cs typeface="Tahoma" panose="020B0604030504040204" pitchFamily="34" charset="0"/>
                                </a:rPr>
                                <m:t>+</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𝟒</m:t>
                                  </m:r>
                                  <m:r>
                                    <a:rPr lang="en-US" sz="4800" b="1" i="1">
                                      <a:latin typeface="Cambria Math" panose="02040503050406030204" pitchFamily="18" charset="0"/>
                                      <a:ea typeface="Calibri" panose="020F0502020204030204" pitchFamily="34" charset="0"/>
                                      <a:cs typeface="Tahoma" panose="020B0604030504040204" pitchFamily="34" charset="0"/>
                                    </a:rPr>
                                    <m:t>−</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𝒙</m:t>
                                      </m:r>
                                    </m:e>
                                    <m:sub>
                                      <m:r>
                                        <a:rPr lang="en-US" sz="4800" b="1" i="1">
                                          <a:latin typeface="Cambria Math" panose="02040503050406030204" pitchFamily="18" charset="0"/>
                                          <a:ea typeface="Calibri" panose="020F0502020204030204" pitchFamily="34" charset="0"/>
                                          <a:cs typeface="Tahoma" panose="020B0604030504040204" pitchFamily="34" charset="0"/>
                                        </a:rPr>
                                        <m:t>𝑴</m:t>
                                      </m:r>
                                    </m:sub>
                                  </m:sSub>
                                </m:e>
                              </m:d>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𝟑</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𝟐</m:t>
                                  </m:r>
                                  <m:r>
                                    <a:rPr lang="en-US" sz="4800" b="1" i="1">
                                      <a:latin typeface="Cambria Math" panose="02040503050406030204" pitchFamily="18" charset="0"/>
                                      <a:ea typeface="Calibri" panose="020F0502020204030204" pitchFamily="34" charset="0"/>
                                      <a:cs typeface="Tahoma" panose="020B0604030504040204" pitchFamily="34" charset="0"/>
                                    </a:rPr>
                                    <m:t>−</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𝒙</m:t>
                                      </m:r>
                                    </m:e>
                                    <m:sub>
                                      <m:r>
                                        <a:rPr lang="en-US" sz="4800" b="1" i="1">
                                          <a:latin typeface="Cambria Math" panose="02040503050406030204" pitchFamily="18" charset="0"/>
                                          <a:ea typeface="Calibri" panose="020F0502020204030204" pitchFamily="34" charset="0"/>
                                          <a:cs typeface="Tahoma" panose="020B0604030504040204" pitchFamily="34" charset="0"/>
                                        </a:rPr>
                                        <m:t>𝑴</m:t>
                                      </m:r>
                                    </m:sub>
                                  </m:sSub>
                                </m:e>
                              </m:d>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𝟎</m:t>
                              </m:r>
                            </m:e>
                            <m:e>
                              <m:r>
                                <a:rPr lang="en-US" sz="4800" b="1" i="1">
                                  <a:latin typeface="Cambria Math" panose="02040503050406030204" pitchFamily="18" charset="0"/>
                                  <a:ea typeface="Calibri" panose="020F0502020204030204" pitchFamily="34" charset="0"/>
                                  <a:cs typeface="Tahoma" panose="020B0604030504040204" pitchFamily="34" charset="0"/>
                                </a:rPr>
                                <m:t>&amp;</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𝟑</m:t>
                                  </m:r>
                                  <m:r>
                                    <a:rPr lang="en-US" sz="4800" b="1" i="1">
                                      <a:latin typeface="Cambria Math" panose="02040503050406030204" pitchFamily="18" charset="0"/>
                                      <a:ea typeface="Calibri" panose="020F0502020204030204" pitchFamily="34" charset="0"/>
                                      <a:cs typeface="Tahoma" panose="020B0604030504040204" pitchFamily="34" charset="0"/>
                                    </a:rPr>
                                    <m:t>−</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𝒚</m:t>
                                      </m:r>
                                    </m:e>
                                    <m:sub>
                                      <m:r>
                                        <a:rPr lang="en-US" sz="4800" b="1" i="1">
                                          <a:latin typeface="Cambria Math" panose="02040503050406030204" pitchFamily="18" charset="0"/>
                                          <a:ea typeface="Calibri" panose="020F0502020204030204" pitchFamily="34" charset="0"/>
                                          <a:cs typeface="Tahoma" panose="020B0604030504040204" pitchFamily="34" charset="0"/>
                                        </a:rPr>
                                        <m:t>𝑴</m:t>
                                      </m:r>
                                    </m:sub>
                                  </m:sSub>
                                </m:e>
                              </m:d>
                              <m:r>
                                <a:rPr lang="en-US" sz="4800" b="1" i="1">
                                  <a:latin typeface="Cambria Math" panose="02040503050406030204" pitchFamily="18" charset="0"/>
                                  <a:ea typeface="Calibri" panose="020F0502020204030204" pitchFamily="34" charset="0"/>
                                  <a:cs typeface="Tahoma" panose="020B0604030504040204" pitchFamily="34" charset="0"/>
                                </a:rPr>
                                <m:t>+</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𝟎</m:t>
                                  </m:r>
                                  <m:r>
                                    <a:rPr lang="en-US" sz="4800" b="1" i="1">
                                      <a:latin typeface="Cambria Math" panose="02040503050406030204" pitchFamily="18" charset="0"/>
                                      <a:ea typeface="Calibri" panose="020F0502020204030204" pitchFamily="34" charset="0"/>
                                      <a:cs typeface="Tahoma" panose="020B0604030504040204" pitchFamily="34" charset="0"/>
                                    </a:rPr>
                                    <m:t>−</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𝒚</m:t>
                                      </m:r>
                                    </m:e>
                                    <m:sub>
                                      <m:r>
                                        <a:rPr lang="en-US" sz="4800" b="1" i="1">
                                          <a:latin typeface="Cambria Math" panose="02040503050406030204" pitchFamily="18" charset="0"/>
                                          <a:ea typeface="Calibri" panose="020F0502020204030204" pitchFamily="34" charset="0"/>
                                          <a:cs typeface="Tahoma" panose="020B0604030504040204" pitchFamily="34" charset="0"/>
                                        </a:rPr>
                                        <m:t>𝑴</m:t>
                                      </m:r>
                                    </m:sub>
                                  </m:sSub>
                                </m:e>
                              </m:d>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𝟑</m:t>
                              </m:r>
                              <m:d>
                                <m:dPr>
                                  <m:ctrlPr>
                                    <a:rPr lang="en-US" sz="4800" b="1" i="1">
                                      <a:latin typeface="Cambria Math" panose="02040503050406030204" pitchFamily="18" charset="0"/>
                                      <a:ea typeface="Calibri" panose="020F0502020204030204" pitchFamily="34" charset="0"/>
                                      <a:cs typeface="Tahoma" panose="020B0604030504040204" pitchFamily="34" charset="0"/>
                                    </a:rPr>
                                  </m:ctrlPr>
                                </m:dPr>
                                <m:e>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𝟓</m:t>
                                  </m:r>
                                  <m:r>
                                    <a:rPr lang="en-US" sz="4800" b="1" i="1">
                                      <a:latin typeface="Cambria Math" panose="02040503050406030204" pitchFamily="18" charset="0"/>
                                      <a:ea typeface="Calibri" panose="020F0502020204030204" pitchFamily="34" charset="0"/>
                                      <a:cs typeface="Tahoma" panose="020B0604030504040204" pitchFamily="34" charset="0"/>
                                    </a:rPr>
                                    <m:t>−</m:t>
                                  </m:r>
                                  <m:sSub>
                                    <m:sSubPr>
                                      <m:ctrlPr>
                                        <a:rPr lang="en-US" sz="4800" b="1" i="1">
                                          <a:latin typeface="Cambria Math" panose="02040503050406030204" pitchFamily="18" charset="0"/>
                                          <a:ea typeface="Calibri" panose="020F0502020204030204" pitchFamily="34" charset="0"/>
                                          <a:cs typeface="Tahoma" panose="020B0604030504040204" pitchFamily="34" charset="0"/>
                                        </a:rPr>
                                      </m:ctrlPr>
                                    </m:sSubPr>
                                    <m:e>
                                      <m:r>
                                        <a:rPr lang="en-US" sz="4800" b="1" i="1">
                                          <a:latin typeface="Cambria Math" panose="02040503050406030204" pitchFamily="18" charset="0"/>
                                          <a:ea typeface="Calibri" panose="020F0502020204030204" pitchFamily="34" charset="0"/>
                                          <a:cs typeface="Tahoma" panose="020B0604030504040204" pitchFamily="34" charset="0"/>
                                        </a:rPr>
                                        <m:t>𝒚</m:t>
                                      </m:r>
                                    </m:e>
                                    <m:sub>
                                      <m:r>
                                        <a:rPr lang="en-US" sz="4800" b="1" i="1">
                                          <a:latin typeface="Cambria Math" panose="02040503050406030204" pitchFamily="18" charset="0"/>
                                          <a:ea typeface="Calibri" panose="020F0502020204030204" pitchFamily="34" charset="0"/>
                                          <a:cs typeface="Tahoma" panose="020B0604030504040204" pitchFamily="34" charset="0"/>
                                        </a:rPr>
                                        <m:t>𝑴</m:t>
                                      </m:r>
                                    </m:sub>
                                  </m:sSub>
                                </m:e>
                              </m:d>
                              <m:r>
                                <a:rPr lang="en-US" sz="4800" b="1" i="1">
                                  <a:latin typeface="Cambria Math" panose="02040503050406030204" pitchFamily="18" charset="0"/>
                                  <a:ea typeface="Calibri" panose="020F0502020204030204" pitchFamily="34" charset="0"/>
                                  <a:cs typeface="Tahoma" panose="020B0604030504040204" pitchFamily="34" charset="0"/>
                                </a:rPr>
                                <m:t>=</m:t>
                              </m:r>
                              <m:r>
                                <a:rPr lang="en-US" sz="4800" b="1" i="1">
                                  <a:latin typeface="Cambria Math" panose="02040503050406030204" pitchFamily="18" charset="0"/>
                                  <a:ea typeface="Calibri" panose="020F0502020204030204" pitchFamily="34" charset="0"/>
                                  <a:cs typeface="Tahoma" panose="020B0604030504040204" pitchFamily="34" charset="0"/>
                                </a:rPr>
                                <m:t>𝟎</m:t>
                              </m:r>
                            </m:e>
                          </m:eqArr>
                        </m:e>
                      </m:d>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7" name="TextBox 36">
                <a:extLst>
                  <a:ext uri="{FF2B5EF4-FFF2-40B4-BE49-F238E27FC236}">
                    <a16:creationId xmlns:a16="http://schemas.microsoft.com/office/drawing/2014/main" id="{10944151-E1E2-4A21-AF5F-5DDFEBFB8529}"/>
                  </a:ext>
                </a:extLst>
              </p:cNvPr>
              <p:cNvSpPr txBox="1">
                <a:spLocks noRot="1" noChangeAspect="1" noMove="1" noResize="1" noEditPoints="1" noAdjustHandles="1" noChangeArrowheads="1" noChangeShapeType="1" noTextEdit="1"/>
              </p:cNvSpPr>
              <p:nvPr/>
            </p:nvSpPr>
            <p:spPr>
              <a:xfrm>
                <a:off x="1801852" y="8298401"/>
                <a:ext cx="13925129" cy="175939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56C8A10-1E4B-4374-B184-D6911EBD27C5}"/>
                  </a:ext>
                </a:extLst>
              </p:cNvPr>
              <p:cNvSpPr txBox="1"/>
              <p:nvPr/>
            </p:nvSpPr>
            <p:spPr>
              <a:xfrm>
                <a:off x="15046141" y="8393908"/>
                <a:ext cx="3714329" cy="1568378"/>
              </a:xfrm>
              <a:prstGeom prst="rect">
                <a:avLst/>
              </a:prstGeom>
              <a:noFill/>
            </p:spPr>
            <p:txBody>
              <a:bodyPr wrap="square">
                <a:spAutoFit/>
              </a:bodyPr>
              <a:lstStyle/>
              <a:p>
                <a14:m>
                  <m:oMath xmlns:m="http://schemas.openxmlformats.org/officeDocument/2006/math">
                    <m:r>
                      <a:rPr lang="en-US" i="1">
                        <a:latin typeface="Cambria Math" panose="02040503050406030204" pitchFamily="18" charset="0"/>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𝑀</m:t>
                                </m:r>
                              </m:sub>
                            </m:sSub>
                            <m:r>
                              <a:rPr lang="en-US" i="1">
                                <a:latin typeface="Cambria Math" panose="02040503050406030204" pitchFamily="18" charset="0"/>
                              </a:rPr>
                              <m:t>=1</m:t>
                            </m:r>
                          </m:e>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𝑀</m:t>
                                </m:r>
                              </m:sub>
                            </m:sSub>
                            <m:r>
                              <a:rPr lang="en-US" i="1">
                                <a:latin typeface="Cambria Math" panose="02040503050406030204" pitchFamily="18" charset="0"/>
                              </a:rPr>
                              <m:t>=−18</m:t>
                            </m:r>
                          </m:e>
                        </m:eqArr>
                      </m:e>
                    </m:d>
                  </m:oMath>
                </a14:m>
                <a:r>
                  <a:rPr lang="en-US" dirty="0"/>
                  <a:t>.</a:t>
                </a:r>
              </a:p>
            </p:txBody>
          </p:sp>
        </mc:Choice>
        <mc:Fallback xmlns="">
          <p:sp>
            <p:nvSpPr>
              <p:cNvPr id="43" name="TextBox 42">
                <a:extLst>
                  <a:ext uri="{FF2B5EF4-FFF2-40B4-BE49-F238E27FC236}">
                    <a16:creationId xmlns:a16="http://schemas.microsoft.com/office/drawing/2014/main" id="{656C8A10-1E4B-4374-B184-D6911EBD27C5}"/>
                  </a:ext>
                </a:extLst>
              </p:cNvPr>
              <p:cNvSpPr txBox="1">
                <a:spLocks noRot="1" noChangeAspect="1" noMove="1" noResize="1" noEditPoints="1" noAdjustHandles="1" noChangeArrowheads="1" noChangeShapeType="1" noTextEdit="1"/>
              </p:cNvSpPr>
              <p:nvPr/>
            </p:nvSpPr>
            <p:spPr>
              <a:xfrm>
                <a:off x="15046141" y="8393908"/>
                <a:ext cx="3714329" cy="1568378"/>
              </a:xfrm>
              <a:prstGeom prst="rect">
                <a:avLst/>
              </a:prstGeom>
              <a:blipFill>
                <a:blip r:embed="rId12"/>
                <a:stretch>
                  <a:fillRect r="-59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92B512F-3EFC-4371-942A-88C46077FD44}"/>
                  </a:ext>
                </a:extLst>
              </p:cNvPr>
              <p:cNvSpPr txBox="1"/>
              <p:nvPr/>
            </p:nvSpPr>
            <p:spPr>
              <a:xfrm>
                <a:off x="3429000" y="10585279"/>
                <a:ext cx="4653127" cy="830997"/>
              </a:xfrm>
              <a:prstGeom prst="rect">
                <a:avLst/>
              </a:prstGeom>
              <a:noFill/>
            </p:spPr>
            <p:txBody>
              <a:bodyPr wrap="square">
                <a:spAutoFit/>
              </a:bodyPr>
              <a:lstStyle/>
              <a:p>
                <a:r>
                  <a:rPr lang="en-US" sz="4800" b="1" dirty="0" err="1">
                    <a:latin typeface="Tahoma" panose="020B0604030504040204" pitchFamily="34" charset="0"/>
                    <a:ea typeface="Tahoma" panose="020B0604030504040204" pitchFamily="34" charset="0"/>
                    <a:cs typeface="Tahoma" panose="020B0604030504040204" pitchFamily="34" charset="0"/>
                  </a:rPr>
                  <a:t>Vậy</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𝟏𝟖</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4" name="TextBox 43">
                <a:extLst>
                  <a:ext uri="{FF2B5EF4-FFF2-40B4-BE49-F238E27FC236}">
                    <a16:creationId xmlns:a16="http://schemas.microsoft.com/office/drawing/2014/main" id="{192B512F-3EFC-4371-942A-88C46077FD44}"/>
                  </a:ext>
                </a:extLst>
              </p:cNvPr>
              <p:cNvSpPr txBox="1">
                <a:spLocks noRot="1" noChangeAspect="1" noMove="1" noResize="1" noEditPoints="1" noAdjustHandles="1" noChangeArrowheads="1" noChangeShapeType="1" noTextEdit="1"/>
              </p:cNvSpPr>
              <p:nvPr/>
            </p:nvSpPr>
            <p:spPr>
              <a:xfrm>
                <a:off x="3429000" y="10585279"/>
                <a:ext cx="4653127" cy="830997"/>
              </a:xfrm>
              <a:prstGeom prst="rect">
                <a:avLst/>
              </a:prstGeom>
              <a:blipFill>
                <a:blip r:embed="rId13"/>
                <a:stretch>
                  <a:fillRect l="-6029" t="-17518" r="-3801" b="-36496"/>
                </a:stretch>
              </a:blipFill>
            </p:spPr>
            <p:txBody>
              <a:bodyPr/>
              <a:lstStyle/>
              <a:p>
                <a:r>
                  <a:rPr lang="en-US">
                    <a:noFill/>
                  </a:rPr>
                  <a:t> </a:t>
                </a:r>
              </a:p>
            </p:txBody>
          </p:sp>
        </mc:Fallback>
      </mc:AlternateContent>
      <p:sp>
        <p:nvSpPr>
          <p:cNvPr id="46" name="Rounded Rectangle 45"/>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50" name="TextBox 49"/>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9664459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left)">
                                      <p:cBhvr>
                                        <p:cTn id="32" dur="500"/>
                                        <p:tgtEl>
                                          <p:spTgt spid="4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wipe(left)">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7" grpId="0"/>
      <p:bldP spid="43" grpId="0"/>
      <p:bldP spid="4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5913836"/>
            <a:ext cx="23941001" cy="7070126"/>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3346869" cy="1079473"/>
              <a:chOff x="334670" y="3952064"/>
              <a:chExt cx="3346869"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060970" y="3325559"/>
                <a:ext cx="966341" cy="2274797"/>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074257" y="4062849"/>
                <a:ext cx="2607282" cy="800219"/>
              </a:xfrm>
              <a:prstGeom prst="rect">
                <a:avLst/>
              </a:prstGeom>
              <a:grp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Bài giải</a:t>
                </a:r>
                <a:endPar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714442" y="4781976"/>
            <a:ext cx="23556178" cy="1116484"/>
            <a:chOff x="241306" y="2302819"/>
            <a:chExt cx="11778089" cy="558242"/>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17742" y="2311990"/>
                  <a:ext cx="2468235" cy="523215"/>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𝟑</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𝟒</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a14:m>
                  <a:r>
                    <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a:t>
                  </a: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17742" y="2311990"/>
                  <a:ext cx="2468235" cy="523215"/>
                </a:xfrm>
                <a:prstGeom prst="rect">
                  <a:avLst/>
                </a:prstGeom>
                <a:blipFill>
                  <a:blip r:embed="rId3"/>
                  <a:stretch>
                    <a:fillRect t="-556" b="-16667"/>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B</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13284" y="2311990"/>
                  <a:ext cx="2468235" cy="523215"/>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𝟐</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𝟑</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13284" y="2311990"/>
                  <a:ext cx="2468235" cy="523215"/>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A</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337845"/>
                  <a:ext cx="2468235" cy="523216"/>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𝟏</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𝟐</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337845"/>
                  <a:ext cx="2468235" cy="523216"/>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C</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302819"/>
                  <a:ext cx="2468235" cy="558241"/>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𝟎</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𝟏</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302819"/>
                  <a:ext cx="2468235" cy="558241"/>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D</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705315" y="4801496"/>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A</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72643" y="2402494"/>
            <a:ext cx="24228829" cy="2428363"/>
            <a:chOff x="638054" y="3675129"/>
            <a:chExt cx="24228829" cy="2945125"/>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794414"/>
              <a:ext cx="23594672" cy="2825840"/>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638054" y="3675129"/>
              <a:ext cx="4084054" cy="1053829"/>
              <a:chOff x="638054" y="3675129"/>
              <a:chExt cx="4084054" cy="1053829"/>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219048" y="3675129"/>
                <a:ext cx="3503060" cy="970508"/>
                <a:chOff x="1885798" y="4037079"/>
                <a:chExt cx="3503060" cy="970508"/>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221276" y="2731933"/>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289133" y="4037079"/>
                  <a:ext cx="2895398" cy="970508"/>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CÂU</a:t>
                  </a:r>
                  <a:r>
                    <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 16.</a:t>
                  </a: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638054" y="368848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145F82"/>
                  </a:solidFill>
                  <a:effectLst/>
                  <a:uLnTx/>
                  <a:uFillTx/>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3807084" y="6082778"/>
                <a:ext cx="15527066" cy="864276"/>
              </a:xfrm>
              <a:prstGeom prst="rect">
                <a:avLst/>
              </a:prstGeom>
              <a:noFill/>
            </p:spPr>
            <p:txBody>
              <a:bodyPr wrap="square">
                <a:spAutoFit/>
              </a:bodyPr>
              <a:lstStyle/>
              <a:p>
                <a:pPr lvl="0">
                  <a:lnSpc>
                    <a:spcPct val="115000"/>
                  </a:lnSpc>
                  <a:spcBef>
                    <a:spcPts val="200"/>
                  </a:spcBef>
                  <a:spcAft>
                    <a:spcPts val="800"/>
                  </a:spcAft>
                  <a:defRPr/>
                </a:pP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Nhận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xét</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r>
                      <a:rPr lang="en-US" sz="4800" b="1" i="1">
                        <a:latin typeface="Cambria Math" panose="02040503050406030204" pitchFamily="18" charset="0"/>
                      </a:rPr>
                      <m:t>,</m:t>
                    </m:r>
                    <m:r>
                      <a:rPr lang="en-US" sz="4800" b="1" i="1">
                        <a:latin typeface="Cambria Math" panose="02040503050406030204" pitchFamily="18" charset="0"/>
                      </a:rPr>
                      <m:t>𝑩</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nằm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cùng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phía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đối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với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trục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hoành</a:t>
                </a:r>
                <a:r>
                  <a:rPr lang="en-US" sz="4800" b="1" dirty="0">
                    <a:latin typeface="Tahoma" panose="020B0604030504040204" pitchFamily="34" charset="0"/>
                    <a:ea typeface="Tahoma" panose="020B0604030504040204" pitchFamily="34" charset="0"/>
                    <a:cs typeface="Tahoma" panose="020B0604030504040204" pitchFamily="34" charset="0"/>
                  </a:rPr>
                  <a:t>.</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3807084" y="6082778"/>
                <a:ext cx="15527066" cy="864276"/>
              </a:xfrm>
              <a:prstGeom prst="rect">
                <a:avLst/>
              </a:prstGeom>
              <a:blipFill>
                <a:blip r:embed="rId8"/>
                <a:stretch>
                  <a:fillRect l="-1806" t="-12676" b="-359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1266165" y="2528327"/>
                <a:ext cx="23594672" cy="2308324"/>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                </a:t>
                </a:r>
                <a:r>
                  <a:rPr lang="vi-VN" sz="4800" b="1" dirty="0">
                    <a:latin typeface="Tahoma" panose="020B0604030504040204" pitchFamily="34" charset="0"/>
                    <a:ea typeface="Tahoma" panose="020B0604030504040204" pitchFamily="34" charset="0"/>
                    <a:cs typeface="Tahoma" panose="020B0604030504040204" pitchFamily="34" charset="0"/>
                  </a:rPr>
                  <a:t>Trong</a:t>
                </a:r>
                <a:r>
                  <a:rPr lang="pt-BR" sz="4800" b="1" dirty="0">
                    <a:latin typeface="Tahoma" panose="020B0604030504040204" pitchFamily="34" charset="0"/>
                    <a:ea typeface="Tahoma" panose="020B0604030504040204" pitchFamily="34" charset="0"/>
                    <a:cs typeface="Tahoma" panose="020B0604030504040204" pitchFamily="34" charset="0"/>
                  </a:rPr>
                  <a:t> hệ tọa độ </a:t>
                </a:r>
                <a14:m>
                  <m:oMath xmlns:m="http://schemas.openxmlformats.org/officeDocument/2006/math">
                    <m:r>
                      <a:rPr lang="en-US" sz="4800" b="1" i="1">
                        <a:latin typeface="Cambria Math" panose="02040503050406030204" pitchFamily="18" charset="0"/>
                      </a:rPr>
                      <m:t>𝑶𝒙𝒚</m:t>
                    </m:r>
                  </m:oMath>
                </a14:m>
                <a:r>
                  <a:rPr lang="pt-BR" sz="4800" b="1" dirty="0">
                    <a:latin typeface="Tahoma" panose="020B0604030504040204" pitchFamily="34" charset="0"/>
                    <a:ea typeface="Tahoma" panose="020B0604030504040204" pitchFamily="34" charset="0"/>
                    <a:cs typeface="Tahoma" panose="020B0604030504040204" pitchFamily="34" charset="0"/>
                  </a:rPr>
                  <a:t>, cho hai điểm </a:t>
                </a:r>
                <a14:m>
                  <m:oMath xmlns:m="http://schemas.openxmlformats.org/officeDocument/2006/math">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𝟒</m:t>
                        </m:r>
                      </m:e>
                    </m:d>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pt-BR" sz="4800" b="1" dirty="0">
                    <a:latin typeface="Tahoma" panose="020B0604030504040204" pitchFamily="34" charset="0"/>
                    <a:ea typeface="Tahoma" panose="020B0604030504040204" pitchFamily="34" charset="0"/>
                    <a:cs typeface="Tahoma" panose="020B0604030504040204" pitchFamily="34" charset="0"/>
                  </a:rPr>
                  <a:t>Biết </a:t>
                </a:r>
                <a14:m>
                  <m:oMath xmlns:m="http://schemas.openxmlformats.org/officeDocument/2006/math">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e>
                    </m:d>
                  </m:oMath>
                </a14:m>
                <a:r>
                  <a:rPr lang="pt-BR" sz="4800" b="1" dirty="0">
                    <a:latin typeface="Tahoma" panose="020B0604030504040204" pitchFamily="34" charset="0"/>
                    <a:ea typeface="Tahoma" panose="020B0604030504040204" pitchFamily="34" charset="0"/>
                    <a:cs typeface="Tahoma" panose="020B0604030504040204" pitchFamily="34" charset="0"/>
                  </a:rPr>
                  <a:t> trên trục hoành sao cho chu vi tam giác </a:t>
                </a:r>
                <a14:m>
                  <m:oMath xmlns:m="http://schemas.openxmlformats.org/officeDocument/2006/math">
                    <m:r>
                      <a:rPr lang="en-US" sz="4800" b="1" i="1">
                        <a:latin typeface="Cambria Math" panose="02040503050406030204" pitchFamily="18" charset="0"/>
                      </a:rPr>
                      <m:t>𝑨𝑴𝑩</m:t>
                    </m:r>
                  </m:oMath>
                </a14:m>
                <a:r>
                  <a:rPr lang="pt-BR" sz="4800" b="1" dirty="0">
                    <a:latin typeface="Tahoma" panose="020B0604030504040204" pitchFamily="34" charset="0"/>
                    <a:ea typeface="Tahoma" panose="020B0604030504040204" pitchFamily="34" charset="0"/>
                    <a:cs typeface="Tahoma" panose="020B0604030504040204" pitchFamily="34" charset="0"/>
                  </a:rPr>
                  <a:t> nhỏ nhất. Giá trị của </a:t>
                </a:r>
                <a14:m>
                  <m:oMath xmlns:m="http://schemas.openxmlformats.org/officeDocument/2006/math">
                    <m:r>
                      <a:rPr lang="en-US" sz="4800" b="1" i="1">
                        <a:latin typeface="Cambria Math" panose="02040503050406030204" pitchFamily="18" charset="0"/>
                      </a:rPr>
                      <m:t>𝒙</m:t>
                    </m:r>
                  </m:oMath>
                </a14:m>
                <a:r>
                  <a:rPr lang="pt-BR" sz="4800" b="1" dirty="0">
                    <a:latin typeface="Tahoma" panose="020B0604030504040204" pitchFamily="34" charset="0"/>
                    <a:ea typeface="Tahoma" panose="020B0604030504040204" pitchFamily="34" charset="0"/>
                    <a:cs typeface="Tahoma" panose="020B0604030504040204" pitchFamily="34" charset="0"/>
                  </a:rPr>
                  <a:t> nằm trong khoảng nào sau đây?</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1266165" y="2528327"/>
                <a:ext cx="23594672" cy="2308324"/>
              </a:xfrm>
              <a:prstGeom prst="rect">
                <a:avLst/>
              </a:prstGeom>
              <a:blipFill>
                <a:blip r:embed="rId9"/>
                <a:stretch>
                  <a:fillRect l="-1189" t="-6349" b="-13228"/>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3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387186" y="7106694"/>
                <a:ext cx="14713673" cy="16274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4800" b="1">
                          <a:latin typeface="Tahoma" panose="020B0604030504040204" pitchFamily="34" charset="0"/>
                          <a:ea typeface="Tahoma" panose="020B0604030504040204" pitchFamily="34" charset="0"/>
                          <a:cs typeface="Tahoma" panose="020B0604030504040204" pitchFamily="34" charset="0"/>
                        </a:rPr>
                        <m:t>G</m:t>
                      </m:r>
                      <m:r>
                        <m:rPr>
                          <m:nor/>
                        </m:rPr>
                        <a:rPr lang="en-US" sz="4800" b="1">
                          <a:latin typeface="Tahoma" panose="020B0604030504040204" pitchFamily="34" charset="0"/>
                          <a:ea typeface="Tahoma" panose="020B0604030504040204" pitchFamily="34" charset="0"/>
                          <a:cs typeface="Tahoma" panose="020B0604030504040204" pitchFamily="34" charset="0"/>
                        </a:rPr>
                        <m:t>ọ</m:t>
                      </m:r>
                      <m:r>
                        <m:rPr>
                          <m:nor/>
                        </m:rPr>
                        <a:rPr lang="en-US" sz="4800" b="1">
                          <a:latin typeface="Tahoma" panose="020B0604030504040204" pitchFamily="34" charset="0"/>
                          <a:ea typeface="Tahoma" panose="020B0604030504040204" pitchFamily="34" charset="0"/>
                          <a:cs typeface="Tahoma" panose="020B0604030504040204" pitchFamily="34" charset="0"/>
                        </a:rPr>
                        <m:t>i</m:t>
                      </m:r>
                      <m:r>
                        <m:rPr>
                          <m:nor/>
                        </m:rPr>
                        <a:rPr lang="en-US"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𝟎</m:t>
                          </m:r>
                        </m:e>
                      </m:d>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l</m:t>
                      </m:r>
                      <m:r>
                        <m:rPr>
                          <m:nor/>
                        </m:rPr>
                        <a:rPr lang="en-US" sz="4800" b="1">
                          <a:latin typeface="Tahoma" panose="020B0604030504040204" pitchFamily="34" charset="0"/>
                          <a:ea typeface="Tahoma" panose="020B0604030504040204" pitchFamily="34" charset="0"/>
                          <a:cs typeface="Tahoma" panose="020B0604030504040204" pitchFamily="34" charset="0"/>
                        </a:rPr>
                        <m:t>à đ</m:t>
                      </m:r>
                      <m:r>
                        <m:rPr>
                          <m:nor/>
                        </m:rPr>
                        <a:rPr lang="en-US" sz="4800" b="1">
                          <a:latin typeface="Tahoma" panose="020B0604030504040204" pitchFamily="34" charset="0"/>
                          <a:ea typeface="Tahoma" panose="020B0604030504040204" pitchFamily="34" charset="0"/>
                          <a:cs typeface="Tahoma" panose="020B0604030504040204" pitchFamily="34" charset="0"/>
                        </a:rPr>
                        <m:t>i</m:t>
                      </m:r>
                      <m:r>
                        <m:rPr>
                          <m:nor/>
                        </m:rPr>
                        <a:rPr lang="en-US" sz="4800" b="1">
                          <a:latin typeface="Tahoma" panose="020B0604030504040204" pitchFamily="34" charset="0"/>
                          <a:ea typeface="Tahoma" panose="020B0604030504040204" pitchFamily="34" charset="0"/>
                          <a:cs typeface="Tahoma" panose="020B0604030504040204" pitchFamily="34" charset="0"/>
                        </a:rPr>
                        <m:t>ể</m:t>
                      </m:r>
                      <m:r>
                        <m:rPr>
                          <m:nor/>
                        </m:rPr>
                        <a:rPr lang="en-US" sz="4800" b="1">
                          <a:latin typeface="Tahoma" panose="020B0604030504040204" pitchFamily="34" charset="0"/>
                          <a:ea typeface="Tahoma" panose="020B0604030504040204" pitchFamily="34" charset="0"/>
                          <a:cs typeface="Tahoma" panose="020B0604030504040204" pitchFamily="34" charset="0"/>
                        </a:rPr>
                        <m:t>m</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c</m:t>
                      </m:r>
                      <m:r>
                        <m:rPr>
                          <m:nor/>
                        </m:rPr>
                        <a:rPr lang="en-US" sz="4800" b="1">
                          <a:latin typeface="Tahoma" panose="020B0604030504040204" pitchFamily="34" charset="0"/>
                          <a:ea typeface="Tahoma" panose="020B0604030504040204" pitchFamily="34" charset="0"/>
                          <a:cs typeface="Tahoma" panose="020B0604030504040204" pitchFamily="34" charset="0"/>
                        </a:rPr>
                        <m:t>ầ</m:t>
                      </m:r>
                      <m:r>
                        <m:rPr>
                          <m:nor/>
                        </m:rPr>
                        <a:rPr lang="en-US" sz="4800" b="1">
                          <a:latin typeface="Tahoma" panose="020B0604030504040204" pitchFamily="34" charset="0"/>
                          <a:ea typeface="Tahoma" panose="020B0604030504040204" pitchFamily="34" charset="0"/>
                          <a:cs typeface="Tahoma" panose="020B0604030504040204" pitchFamily="34" charset="0"/>
                        </a:rPr>
                        <m:t>n</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t</m:t>
                      </m:r>
                      <m:r>
                        <m:rPr>
                          <m:nor/>
                        </m:rPr>
                        <a:rPr lang="en-US" sz="4800" b="1">
                          <a:latin typeface="Tahoma" panose="020B0604030504040204" pitchFamily="34" charset="0"/>
                          <a:ea typeface="Tahoma" panose="020B0604030504040204" pitchFamily="34" charset="0"/>
                          <a:cs typeface="Tahoma" panose="020B0604030504040204" pitchFamily="34" charset="0"/>
                        </a:rPr>
                        <m:t>ì</m:t>
                      </m:r>
                      <m:r>
                        <m:rPr>
                          <m:nor/>
                        </m:rPr>
                        <a:rPr lang="en-US" sz="4800" b="1">
                          <a:latin typeface="Tahoma" panose="020B0604030504040204" pitchFamily="34" charset="0"/>
                          <a:ea typeface="Tahoma" panose="020B0604030504040204" pitchFamily="34" charset="0"/>
                          <a:cs typeface="Tahoma" panose="020B0604030504040204" pitchFamily="34" charset="0"/>
                        </a:rPr>
                        <m:t>m</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v</m:t>
                      </m:r>
                      <m:r>
                        <m:rPr>
                          <m:nor/>
                        </m:rPr>
                        <a:rPr lang="en-US" sz="4800" b="1">
                          <a:latin typeface="Tahoma" panose="020B0604030504040204" pitchFamily="34" charset="0"/>
                          <a:ea typeface="Tahoma" panose="020B0604030504040204" pitchFamily="34" charset="0"/>
                          <a:cs typeface="Tahoma" panose="020B0604030504040204" pitchFamily="34" charset="0"/>
                        </a:rPr>
                        <m:t>à </m:t>
                      </m:r>
                      <m:sSup>
                        <m:sSupPr>
                          <m:ctrlPr>
                            <a:rPr lang="en-US" sz="4800" b="1" i="1">
                              <a:latin typeface="Cambria Math" panose="02040503050406030204" pitchFamily="18" charset="0"/>
                            </a:rPr>
                          </m:ctrlPr>
                        </m:sSupPr>
                        <m:e>
                          <m:r>
                            <a:rPr lang="en-US" sz="4800" b="1" i="1">
                              <a:latin typeface="Cambria Math" panose="02040503050406030204" pitchFamily="18" charset="0"/>
                            </a:rPr>
                            <m:t>𝑨</m:t>
                          </m:r>
                        </m:e>
                        <m:sup>
                          <m:r>
                            <a:rPr lang="en-US" sz="4800" b="1" i="1">
                              <a:latin typeface="Cambria Math" panose="02040503050406030204" pitchFamily="18" charset="0"/>
                            </a:rPr>
                            <m:t>′</m:t>
                          </m:r>
                        </m:sup>
                      </m:sSup>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𝟑</m:t>
                          </m:r>
                        </m:e>
                      </m:d>
                      <m:r>
                        <m:rPr>
                          <m:nor/>
                        </m:rPr>
                        <a:rPr lang="en-US" sz="4800" b="1">
                          <a:latin typeface="Tahoma" panose="020B0604030504040204" pitchFamily="34" charset="0"/>
                          <a:ea typeface="Tahoma" panose="020B0604030504040204" pitchFamily="34" charset="0"/>
                          <a:cs typeface="Tahoma" panose="020B0604030504040204" pitchFamily="34" charset="0"/>
                        </a:rPr>
                        <m:t> đố</m:t>
                      </m:r>
                      <m:r>
                        <m:rPr>
                          <m:nor/>
                        </m:rPr>
                        <a:rPr lang="en-US" sz="4800" b="1">
                          <a:latin typeface="Tahoma" panose="020B0604030504040204" pitchFamily="34" charset="0"/>
                          <a:ea typeface="Tahoma" panose="020B0604030504040204" pitchFamily="34" charset="0"/>
                          <a:cs typeface="Tahoma" panose="020B0604030504040204" pitchFamily="34" charset="0"/>
                        </a:rPr>
                        <m:t>i</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x</m:t>
                      </m:r>
                      <m:r>
                        <m:rPr>
                          <m:nor/>
                        </m:rPr>
                        <a:rPr lang="en-US" sz="4800" b="1">
                          <a:latin typeface="Tahoma" panose="020B0604030504040204" pitchFamily="34" charset="0"/>
                          <a:ea typeface="Tahoma" panose="020B0604030504040204" pitchFamily="34" charset="0"/>
                          <a:cs typeface="Tahoma" panose="020B0604030504040204" pitchFamily="34" charset="0"/>
                        </a:rPr>
                        <m:t>ứ</m:t>
                      </m:r>
                      <m:r>
                        <m:rPr>
                          <m:nor/>
                        </m:rPr>
                        <a:rPr lang="en-US" sz="4800" b="1">
                          <a:latin typeface="Tahoma" panose="020B0604030504040204" pitchFamily="34" charset="0"/>
                          <a:ea typeface="Tahoma" panose="020B0604030504040204" pitchFamily="34" charset="0"/>
                          <a:cs typeface="Tahoma" panose="020B0604030504040204" pitchFamily="34" charset="0"/>
                        </a:rPr>
                        <m:t>ng</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v</m:t>
                      </m:r>
                      <m:r>
                        <m:rPr>
                          <m:nor/>
                        </m:rPr>
                        <a:rPr lang="en-US" sz="4800" b="1">
                          <a:latin typeface="Tahoma" panose="020B0604030504040204" pitchFamily="34" charset="0"/>
                          <a:ea typeface="Tahoma" panose="020B0604030504040204" pitchFamily="34" charset="0"/>
                          <a:cs typeface="Tahoma" panose="020B0604030504040204" pitchFamily="34" charset="0"/>
                        </a:rPr>
                        <m:t>ớ</m:t>
                      </m:r>
                      <m:r>
                        <m:rPr>
                          <m:nor/>
                        </m:rPr>
                        <a:rPr lang="en-US" sz="4800" b="1">
                          <a:latin typeface="Tahoma" panose="020B0604030504040204" pitchFamily="34" charset="0"/>
                          <a:ea typeface="Tahoma" panose="020B0604030504040204" pitchFamily="34" charset="0"/>
                          <a:cs typeface="Tahoma" panose="020B0604030504040204" pitchFamily="34" charset="0"/>
                        </a:rPr>
                        <m:t>i</m:t>
                      </m:r>
                      <m:r>
                        <m:rPr>
                          <m:nor/>
                        </m:rPr>
                        <a:rPr lang="en-US"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𝑨</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qua</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tr</m:t>
                      </m:r>
                      <m:r>
                        <m:rPr>
                          <m:nor/>
                        </m:rPr>
                        <a:rPr lang="en-US" sz="4800" b="1">
                          <a:latin typeface="Tahoma" panose="020B0604030504040204" pitchFamily="34" charset="0"/>
                          <a:ea typeface="Tahoma" panose="020B0604030504040204" pitchFamily="34" charset="0"/>
                          <a:cs typeface="Tahoma" panose="020B0604030504040204" pitchFamily="34" charset="0"/>
                        </a:rPr>
                        <m:t>ụ</m:t>
                      </m:r>
                      <m:r>
                        <m:rPr>
                          <m:nor/>
                        </m:rPr>
                        <a:rPr lang="en-US" sz="4800" b="1">
                          <a:latin typeface="Tahoma" panose="020B0604030504040204" pitchFamily="34" charset="0"/>
                          <a:ea typeface="Tahoma" panose="020B0604030504040204" pitchFamily="34" charset="0"/>
                          <a:cs typeface="Tahoma" panose="020B0604030504040204" pitchFamily="34" charset="0"/>
                        </a:rPr>
                        <m:t>c</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ho</m:t>
                      </m:r>
                      <m:r>
                        <m:rPr>
                          <m:nor/>
                        </m:rPr>
                        <a:rPr lang="en-US" sz="4800" b="1">
                          <a:latin typeface="Tahoma" panose="020B0604030504040204" pitchFamily="34" charset="0"/>
                          <a:ea typeface="Tahoma" panose="020B0604030504040204" pitchFamily="34" charset="0"/>
                          <a:cs typeface="Tahoma" panose="020B0604030504040204" pitchFamily="34" charset="0"/>
                        </a:rPr>
                        <m:t>à</m:t>
                      </m:r>
                      <m:r>
                        <m:rPr>
                          <m:nor/>
                        </m:rPr>
                        <a:rPr lang="en-US" sz="4800" b="1">
                          <a:latin typeface="Tahoma" panose="020B0604030504040204" pitchFamily="34" charset="0"/>
                          <a:ea typeface="Tahoma" panose="020B0604030504040204" pitchFamily="34" charset="0"/>
                          <a:cs typeface="Tahoma" panose="020B0604030504040204" pitchFamily="34" charset="0"/>
                        </a:rPr>
                        <m:t>nh</m:t>
                      </m:r>
                      <m:r>
                        <m:rPr>
                          <m:nor/>
                        </m:rPr>
                        <a:rPr lang="en-US" sz="4800" b="1">
                          <a:latin typeface="Tahoma" panose="020B0604030504040204" pitchFamily="34" charset="0"/>
                          <a:ea typeface="Tahoma" panose="020B0604030504040204" pitchFamily="34" charset="0"/>
                          <a:cs typeface="Tahoma" panose="020B0604030504040204" pitchFamily="34"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387186" y="7106694"/>
                <a:ext cx="14713673" cy="1627433"/>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0944151-E1E2-4A21-AF5F-5DDFEBFB8529}"/>
                  </a:ext>
                </a:extLst>
              </p:cNvPr>
              <p:cNvSpPr txBox="1"/>
              <p:nvPr/>
            </p:nvSpPr>
            <p:spPr>
              <a:xfrm>
                <a:off x="309254" y="8551488"/>
                <a:ext cx="5056148" cy="10393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4800" b="1">
                          <a:latin typeface="Tahoma" panose="020B0604030504040204" pitchFamily="34" charset="0"/>
                          <a:ea typeface="Tahoma" panose="020B0604030504040204" pitchFamily="34" charset="0"/>
                          <a:cs typeface="Tahoma" panose="020B0604030504040204" pitchFamily="34" charset="0"/>
                        </a:rPr>
                        <m:t>∗ </m:t>
                      </m:r>
                      <m:acc>
                        <m:accPr>
                          <m:chr m:val="⃗"/>
                          <m:ctrlPr>
                            <a:rPr lang="en-US" sz="4800" b="1" i="1">
                              <a:latin typeface="Cambria Math" panose="02040503050406030204" pitchFamily="18" charset="0"/>
                            </a:rPr>
                          </m:ctrlPr>
                        </m:accPr>
                        <m:e>
                          <m:sSup>
                            <m:sSupPr>
                              <m:ctrlPr>
                                <a:rPr lang="en-US" sz="4800" b="1" i="1">
                                  <a:latin typeface="Cambria Math" panose="02040503050406030204" pitchFamily="18" charset="0"/>
                                </a:rPr>
                              </m:ctrlPr>
                            </m:sSupPr>
                            <m:e>
                              <m:r>
                                <a:rPr lang="en-US" sz="4800" b="1" i="1">
                                  <a:latin typeface="Cambria Math" panose="02040503050406030204" pitchFamily="18" charset="0"/>
                                </a:rPr>
                                <m:t>𝑨</m:t>
                              </m:r>
                            </m:e>
                            <m:sup>
                              <m:r>
                                <a:rPr lang="en-US" sz="4800" b="1" i="1">
                                  <a:latin typeface="Cambria Math" panose="02040503050406030204" pitchFamily="18" charset="0"/>
                                </a:rPr>
                                <m:t>′</m:t>
                              </m:r>
                            </m:sup>
                          </m:sSup>
                          <m:r>
                            <a:rPr lang="en-US" sz="4800" b="1" i="1">
                              <a:latin typeface="Cambria Math" panose="02040503050406030204" pitchFamily="18" charset="0"/>
                            </a:rPr>
                            <m:t>𝑩</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𝟕</m:t>
                          </m:r>
                        </m:e>
                      </m:d>
                      <m:r>
                        <m:rPr>
                          <m:nor/>
                        </m:rPr>
                        <a:rPr lang="en-US" sz="4800" b="1">
                          <a:latin typeface="Tahoma" panose="020B0604030504040204" pitchFamily="34" charset="0"/>
                          <a:ea typeface="Tahoma" panose="020B0604030504040204" pitchFamily="34" charset="0"/>
                          <a:cs typeface="Tahoma" panose="020B0604030504040204" pitchFamily="34"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7" name="TextBox 36">
                <a:extLst>
                  <a:ext uri="{FF2B5EF4-FFF2-40B4-BE49-F238E27FC236}">
                    <a16:creationId xmlns:a16="http://schemas.microsoft.com/office/drawing/2014/main" id="{10944151-E1E2-4A21-AF5F-5DDFEBFB8529}"/>
                  </a:ext>
                </a:extLst>
              </p:cNvPr>
              <p:cNvSpPr txBox="1">
                <a:spLocks noRot="1" noChangeAspect="1" noMove="1" noResize="1" noEditPoints="1" noAdjustHandles="1" noChangeArrowheads="1" noChangeShapeType="1" noTextEdit="1"/>
              </p:cNvSpPr>
              <p:nvPr/>
            </p:nvSpPr>
            <p:spPr>
              <a:xfrm>
                <a:off x="309254" y="8551488"/>
                <a:ext cx="5056148" cy="103932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56C8A10-1E4B-4374-B184-D6911EBD27C5}"/>
                  </a:ext>
                </a:extLst>
              </p:cNvPr>
              <p:cNvSpPr txBox="1"/>
              <p:nvPr/>
            </p:nvSpPr>
            <p:spPr>
              <a:xfrm>
                <a:off x="387186" y="9500389"/>
                <a:ext cx="13182600" cy="888769"/>
              </a:xfrm>
              <a:prstGeom prst="rect">
                <a:avLst/>
              </a:prstGeom>
              <a:noFill/>
            </p:spPr>
            <p:txBody>
              <a:bodyPr wrap="square">
                <a:spAutoFit/>
              </a:bodyPr>
              <a:lstStyle/>
              <a:p>
                <a:r>
                  <a:rPr lang="en-US" sz="4800" b="1" dirty="0">
                    <a:latin typeface="Tahoma" panose="020B0604030504040204" pitchFamily="34" charset="0"/>
                    <a:ea typeface="Tahoma" panose="020B0604030504040204" pitchFamily="34" charset="0"/>
                    <a:cs typeface="Tahoma" panose="020B0604030504040204" pitchFamily="34" charset="0"/>
                  </a:rPr>
                  <a:t>Ta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𝑷</m:t>
                    </m:r>
                    <m:r>
                      <a:rPr lang="en-US" sz="4800" b="1" i="1">
                        <a:latin typeface="Cambria Math" panose="02040503050406030204" pitchFamily="18" charset="0"/>
                      </a:rPr>
                      <m:t>=</m:t>
                    </m:r>
                    <m:r>
                      <a:rPr lang="en-US" sz="4800" b="1" i="1">
                        <a:latin typeface="Cambria Math" panose="02040503050406030204" pitchFamily="18" charset="0"/>
                      </a:rPr>
                      <m:t>𝑨𝑴</m:t>
                    </m:r>
                    <m:r>
                      <a:rPr lang="en-US" sz="4800" b="1" i="1">
                        <a:latin typeface="Cambria Math" panose="02040503050406030204" pitchFamily="18" charset="0"/>
                      </a:rPr>
                      <m:t>+</m:t>
                    </m:r>
                    <m:r>
                      <a:rPr lang="en-US" sz="4800" b="1" i="1">
                        <a:latin typeface="Cambria Math" panose="02040503050406030204" pitchFamily="18" charset="0"/>
                      </a:rPr>
                      <m:t>𝑴𝑩</m:t>
                    </m:r>
                    <m:r>
                      <a:rPr lang="en-US" sz="4800" b="1" i="1">
                        <a:latin typeface="Cambria Math" panose="02040503050406030204" pitchFamily="18" charset="0"/>
                      </a:rPr>
                      <m:t>+</m:t>
                    </m:r>
                    <m:r>
                      <a:rPr lang="en-US" sz="4800" b="1" i="1">
                        <a:latin typeface="Cambria Math" panose="02040503050406030204" pitchFamily="18" charset="0"/>
                      </a:rPr>
                      <m:t>𝑨𝑩</m:t>
                    </m:r>
                    <m:r>
                      <a:rPr lang="en-US" sz="4800" b="1" i="1">
                        <a:latin typeface="Cambria Math" panose="02040503050406030204" pitchFamily="18" charset="0"/>
                      </a:rPr>
                      <m:t>=</m:t>
                    </m:r>
                    <m:r>
                      <a:rPr lang="en-US" sz="4800" b="1" i="1">
                        <a:latin typeface="Cambria Math" panose="02040503050406030204" pitchFamily="18" charset="0"/>
                      </a:rPr>
                      <m:t>𝑴𝑩</m:t>
                    </m:r>
                    <m:r>
                      <a:rPr lang="en-US" sz="4800" b="1" i="1">
                        <a:latin typeface="Cambria Math" panose="02040503050406030204" pitchFamily="18" charset="0"/>
                      </a:rPr>
                      <m:t>+</m:t>
                    </m:r>
                    <m:r>
                      <a:rPr lang="en-US" sz="4800" b="1" i="1">
                        <a:latin typeface="Cambria Math" panose="02040503050406030204" pitchFamily="18" charset="0"/>
                      </a:rPr>
                      <m:t>𝑴</m:t>
                    </m:r>
                    <m:sSup>
                      <m:sSupPr>
                        <m:ctrlPr>
                          <a:rPr lang="en-US" sz="4800" b="1" i="1">
                            <a:latin typeface="Cambria Math" panose="02040503050406030204" pitchFamily="18" charset="0"/>
                          </a:rPr>
                        </m:ctrlPr>
                      </m:sSupPr>
                      <m:e>
                        <m:r>
                          <a:rPr lang="en-US" sz="4800" b="1" i="1">
                            <a:latin typeface="Cambria Math" panose="02040503050406030204" pitchFamily="18" charset="0"/>
                          </a:rPr>
                          <m:t>𝑨</m:t>
                        </m:r>
                      </m:e>
                      <m:sup>
                        <m:r>
                          <a:rPr lang="en-US" sz="4800" b="1" i="1">
                            <a:latin typeface="Cambria Math" panose="02040503050406030204" pitchFamily="18" charset="0"/>
                          </a:rPr>
                          <m:t>′</m:t>
                        </m:r>
                      </m:sup>
                    </m:sSup>
                    <m:r>
                      <a:rPr lang="en-US" sz="4800" b="1" i="1">
                        <a:latin typeface="Cambria Math" panose="02040503050406030204" pitchFamily="18" charset="0"/>
                      </a:rPr>
                      <m:t>+</m:t>
                    </m:r>
                    <m:r>
                      <a:rPr lang="en-US" sz="4800" b="1" i="1">
                        <a:latin typeface="Cambria Math" panose="02040503050406030204" pitchFamily="18" charset="0"/>
                      </a:rPr>
                      <m:t>𝑨𝑩</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3" name="TextBox 42">
                <a:extLst>
                  <a:ext uri="{FF2B5EF4-FFF2-40B4-BE49-F238E27FC236}">
                    <a16:creationId xmlns:a16="http://schemas.microsoft.com/office/drawing/2014/main" id="{656C8A10-1E4B-4374-B184-D6911EBD27C5}"/>
                  </a:ext>
                </a:extLst>
              </p:cNvPr>
              <p:cNvSpPr txBox="1">
                <a:spLocks noRot="1" noChangeAspect="1" noMove="1" noResize="1" noEditPoints="1" noAdjustHandles="1" noChangeArrowheads="1" noChangeShapeType="1" noTextEdit="1"/>
              </p:cNvSpPr>
              <p:nvPr/>
            </p:nvSpPr>
            <p:spPr>
              <a:xfrm>
                <a:off x="387186" y="9500389"/>
                <a:ext cx="13182600" cy="888769"/>
              </a:xfrm>
              <a:prstGeom prst="rect">
                <a:avLst/>
              </a:prstGeom>
              <a:blipFill>
                <a:blip r:embed="rId12"/>
                <a:stretch>
                  <a:fillRect l="-2128" t="-10274" b="-342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92B512F-3EFC-4371-942A-88C46077FD44}"/>
                  </a:ext>
                </a:extLst>
              </p:cNvPr>
              <p:cNvSpPr txBox="1"/>
              <p:nvPr/>
            </p:nvSpPr>
            <p:spPr>
              <a:xfrm>
                <a:off x="510764" y="10279476"/>
                <a:ext cx="4742059" cy="8309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800" b="1" i="1">
                          <a:latin typeface="Cambria Math" panose="02040503050406030204" pitchFamily="18" charset="0"/>
                        </a:rPr>
                        <m:t>⇒</m:t>
                      </m:r>
                      <m:r>
                        <a:rPr lang="en-US" sz="4800" b="1" i="1">
                          <a:latin typeface="Cambria Math" panose="02040503050406030204" pitchFamily="18" charset="0"/>
                        </a:rPr>
                        <m:t>𝑷</m:t>
                      </m:r>
                      <m:r>
                        <a:rPr lang="en-US" sz="4800" b="1" i="1">
                          <a:latin typeface="Cambria Math" panose="02040503050406030204" pitchFamily="18" charset="0"/>
                        </a:rPr>
                        <m:t>≥</m:t>
                      </m:r>
                      <m:sSup>
                        <m:sSupPr>
                          <m:ctrlPr>
                            <a:rPr lang="en-US" sz="4800" b="1" i="1">
                              <a:latin typeface="Cambria Math" panose="02040503050406030204" pitchFamily="18" charset="0"/>
                            </a:rPr>
                          </m:ctrlPr>
                        </m:sSupPr>
                        <m:e>
                          <m:r>
                            <a:rPr lang="en-US" sz="4800" b="1" i="1">
                              <a:latin typeface="Cambria Math" panose="02040503050406030204" pitchFamily="18" charset="0"/>
                            </a:rPr>
                            <m:t>𝑨</m:t>
                          </m:r>
                        </m:e>
                        <m:sup>
                          <m:r>
                            <a:rPr lang="en-US" sz="4800" b="1" i="1">
                              <a:latin typeface="Cambria Math" panose="02040503050406030204" pitchFamily="18" charset="0"/>
                            </a:rPr>
                            <m:t>′</m:t>
                          </m:r>
                        </m:sup>
                      </m:sSup>
                      <m:r>
                        <a:rPr lang="en-US" sz="4800" b="1" i="1">
                          <a:latin typeface="Cambria Math" panose="02040503050406030204" pitchFamily="18" charset="0"/>
                        </a:rPr>
                        <m:t>𝑩</m:t>
                      </m:r>
                      <m:r>
                        <a:rPr lang="en-US" sz="4800" b="1" i="1">
                          <a:latin typeface="Cambria Math" panose="02040503050406030204" pitchFamily="18" charset="0"/>
                        </a:rPr>
                        <m:t>+</m:t>
                      </m:r>
                      <m:r>
                        <a:rPr lang="en-US" sz="4800" b="1" i="1">
                          <a:latin typeface="Cambria Math" panose="02040503050406030204" pitchFamily="18" charset="0"/>
                        </a:rPr>
                        <m:t>𝑨𝑩</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4" name="TextBox 43">
                <a:extLst>
                  <a:ext uri="{FF2B5EF4-FFF2-40B4-BE49-F238E27FC236}">
                    <a16:creationId xmlns:a16="http://schemas.microsoft.com/office/drawing/2014/main" id="{192B512F-3EFC-4371-942A-88C46077FD44}"/>
                  </a:ext>
                </a:extLst>
              </p:cNvPr>
              <p:cNvSpPr txBox="1">
                <a:spLocks noRot="1" noChangeAspect="1" noMove="1" noResize="1" noEditPoints="1" noAdjustHandles="1" noChangeArrowheads="1" noChangeShapeType="1" noTextEdit="1"/>
              </p:cNvSpPr>
              <p:nvPr/>
            </p:nvSpPr>
            <p:spPr>
              <a:xfrm>
                <a:off x="510764" y="10279476"/>
                <a:ext cx="4742059" cy="83099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D202FBFB-ED92-401F-AEFF-4558A4D52656}"/>
                  </a:ext>
                </a:extLst>
              </p:cNvPr>
              <p:cNvSpPr txBox="1"/>
              <p:nvPr/>
            </p:nvSpPr>
            <p:spPr>
              <a:xfrm>
                <a:off x="5371264" y="10208672"/>
                <a:ext cx="9104752" cy="9158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800" b="1" i="1">
                          <a:latin typeface="Cambria Math" panose="02040503050406030204" pitchFamily="18" charset="0"/>
                        </a:rPr>
                        <m:t>⇒</m:t>
                      </m:r>
                      <m:sSub>
                        <m:sSubPr>
                          <m:ctrlPr>
                            <a:rPr lang="en-US" sz="4800" b="1" i="1">
                              <a:latin typeface="Cambria Math" panose="02040503050406030204" pitchFamily="18" charset="0"/>
                            </a:rPr>
                          </m:ctrlPr>
                        </m:sSubPr>
                        <m:e>
                          <m:r>
                            <a:rPr lang="en-US" sz="4800" b="1" i="1">
                              <a:latin typeface="Cambria Math" panose="02040503050406030204" pitchFamily="18" charset="0"/>
                            </a:rPr>
                            <m:t>𝑷</m:t>
                          </m:r>
                        </m:e>
                        <m:sub>
                          <m:r>
                            <a:rPr lang="en-US" sz="4800" b="1" i="1">
                              <a:latin typeface="Cambria Math" panose="02040503050406030204" pitchFamily="18" charset="0"/>
                            </a:rPr>
                            <m:t>𝒎𝒊𝒏</m:t>
                          </m:r>
                        </m:sub>
                      </m:sSub>
                      <m:r>
                        <m:rPr>
                          <m:nor/>
                        </m:rPr>
                        <a:rPr lang="en-US" sz="4800" b="1" i="0" smtClean="0">
                          <a:latin typeface="Cambria Math" panose="02040503050406030204" pitchFamily="18" charset="0"/>
                        </a:rPr>
                        <m:t> </m:t>
                      </m:r>
                      <m:r>
                        <m:rPr>
                          <m:nor/>
                        </m:rPr>
                        <a:rPr lang="en-US" sz="4800" b="1" i="0" smtClean="0">
                          <a:latin typeface="Tahoma" panose="020B0604030504040204" pitchFamily="34" charset="0"/>
                          <a:ea typeface="Tahoma" panose="020B0604030504040204" pitchFamily="34" charset="0"/>
                          <a:cs typeface="Tahoma" panose="020B0604030504040204" pitchFamily="34" charset="0"/>
                        </a:rPr>
                        <m:t>khi</m:t>
                      </m:r>
                      <m:r>
                        <m:rPr>
                          <m:nor/>
                        </m:rPr>
                        <a:rPr lang="en-US" sz="4800" b="1" i="0" smtClean="0">
                          <a:latin typeface="Cambria Math" panose="02040503050406030204" pitchFamily="18" charset="0"/>
                        </a:rPr>
                        <m:t> </m:t>
                      </m:r>
                      <m:sSup>
                        <m:sSupPr>
                          <m:ctrlPr>
                            <a:rPr lang="en-US" sz="4800" b="1" i="1">
                              <a:latin typeface="Cambria Math" panose="02040503050406030204" pitchFamily="18" charset="0"/>
                            </a:rPr>
                          </m:ctrlPr>
                        </m:sSupPr>
                        <m:e>
                          <m:r>
                            <a:rPr lang="en-US" sz="4800" b="1" i="1">
                              <a:latin typeface="Cambria Math" panose="02040503050406030204" pitchFamily="18" charset="0"/>
                            </a:rPr>
                            <m:t>𝑨</m:t>
                          </m:r>
                        </m:e>
                        <m:sup>
                          <m:r>
                            <a:rPr lang="en-US" sz="4800" b="1" i="1">
                              <a:latin typeface="Cambria Math" panose="02040503050406030204" pitchFamily="18" charset="0"/>
                            </a:rPr>
                            <m:t>′</m:t>
                          </m:r>
                        </m:sup>
                      </m:sSup>
                      <m:r>
                        <a:rPr lang="en-US" sz="4800" b="1" i="1">
                          <a:latin typeface="Cambria Math" panose="02040503050406030204" pitchFamily="18" charset="0"/>
                        </a:rPr>
                        <m:t>,</m:t>
                      </m:r>
                      <m:r>
                        <a:rPr lang="en-US" sz="4800" b="1" i="1">
                          <a:latin typeface="Cambria Math" panose="02040503050406030204" pitchFamily="18" charset="0"/>
                        </a:rPr>
                        <m:t>𝑴</m:t>
                      </m:r>
                      <m:r>
                        <a:rPr lang="en-US" sz="4800" b="1" i="1">
                          <a:latin typeface="Cambria Math" panose="02040503050406030204" pitchFamily="18" charset="0"/>
                        </a:rPr>
                        <m:t>,</m:t>
                      </m:r>
                      <m:r>
                        <a:rPr lang="en-US" sz="4800" b="1" i="1">
                          <a:latin typeface="Cambria Math" panose="02040503050406030204" pitchFamily="18" charset="0"/>
                        </a:rPr>
                        <m:t>𝑩</m:t>
                      </m:r>
                      <m:r>
                        <m:rPr>
                          <m:nor/>
                        </m:rPr>
                        <a:rPr lang="en-US" sz="4800" b="1" i="0" smtClean="0">
                          <a:latin typeface="Cambria Math" panose="02040503050406030204" pitchFamily="18"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th</m:t>
                      </m:r>
                      <m:r>
                        <m:rPr>
                          <m:nor/>
                        </m:rPr>
                        <a:rPr lang="en-US" sz="4800" b="1">
                          <a:latin typeface="Tahoma" panose="020B0604030504040204" pitchFamily="34" charset="0"/>
                          <a:ea typeface="Tahoma" panose="020B0604030504040204" pitchFamily="34" charset="0"/>
                          <a:cs typeface="Tahoma" panose="020B0604030504040204" pitchFamily="34" charset="0"/>
                        </a:rPr>
                        <m:t>ẳ</m:t>
                      </m:r>
                      <m:r>
                        <m:rPr>
                          <m:nor/>
                        </m:rPr>
                        <a:rPr lang="en-US" sz="4800" b="1">
                          <a:latin typeface="Tahoma" panose="020B0604030504040204" pitchFamily="34" charset="0"/>
                          <a:ea typeface="Tahoma" panose="020B0604030504040204" pitchFamily="34" charset="0"/>
                          <a:cs typeface="Tahoma" panose="020B0604030504040204" pitchFamily="34" charset="0"/>
                        </a:rPr>
                        <m:t>ng</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h</m:t>
                      </m:r>
                      <m:r>
                        <m:rPr>
                          <m:nor/>
                        </m:rPr>
                        <a:rPr lang="en-US" sz="4800" b="1">
                          <a:latin typeface="Tahoma" panose="020B0604030504040204" pitchFamily="34" charset="0"/>
                          <a:ea typeface="Tahoma" panose="020B0604030504040204" pitchFamily="34" charset="0"/>
                          <a:cs typeface="Tahoma" panose="020B0604030504040204" pitchFamily="34" charset="0"/>
                        </a:rPr>
                        <m:t>à</m:t>
                      </m:r>
                      <m:r>
                        <m:rPr>
                          <m:nor/>
                        </m:rPr>
                        <a:rPr lang="en-US" sz="4800" b="1">
                          <a:latin typeface="Tahoma" panose="020B0604030504040204" pitchFamily="34" charset="0"/>
                          <a:ea typeface="Tahoma" panose="020B0604030504040204" pitchFamily="34" charset="0"/>
                          <a:cs typeface="Tahoma" panose="020B0604030504040204" pitchFamily="34" charset="0"/>
                        </a:rPr>
                        <m:t>ng</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2" name="TextBox 41">
                <a:extLst>
                  <a:ext uri="{FF2B5EF4-FFF2-40B4-BE49-F238E27FC236}">
                    <a16:creationId xmlns:a16="http://schemas.microsoft.com/office/drawing/2014/main" id="{D202FBFB-ED92-401F-AEFF-4558A4D52656}"/>
                  </a:ext>
                </a:extLst>
              </p:cNvPr>
              <p:cNvSpPr txBox="1">
                <a:spLocks noRot="1" noChangeAspect="1" noMove="1" noResize="1" noEditPoints="1" noAdjustHandles="1" noChangeArrowheads="1" noChangeShapeType="1" noTextEdit="1"/>
              </p:cNvSpPr>
              <p:nvPr/>
            </p:nvSpPr>
            <p:spPr>
              <a:xfrm>
                <a:off x="5371264" y="10208672"/>
                <a:ext cx="9104752" cy="91589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BED820A-EF94-4C08-910A-123D2B114684}"/>
                  </a:ext>
                </a:extLst>
              </p:cNvPr>
              <p:cNvSpPr txBox="1"/>
              <p:nvPr/>
            </p:nvSpPr>
            <p:spPr>
              <a:xfrm>
                <a:off x="230967" y="11033012"/>
                <a:ext cx="6116451" cy="927818"/>
              </a:xfrm>
              <a:prstGeom prst="rect">
                <a:avLst/>
              </a:prstGeom>
              <a:noFill/>
            </p:spPr>
            <p:txBody>
              <a:bodyPr wrap="square">
                <a:spAutoFit/>
              </a:bodyPr>
              <a:lstStyle/>
              <a:p>
                <a14:m>
                  <m:oMath xmlns:m="http://schemas.openxmlformats.org/officeDocument/2006/math">
                    <m:r>
                      <m:rPr>
                        <m:nor/>
                      </m:rPr>
                      <a:rPr lang="en-US" sz="4800" b="1">
                        <a:latin typeface="Tahoma" panose="020B0604030504040204" pitchFamily="34" charset="0"/>
                        <a:ea typeface="Tahoma" panose="020B0604030504040204" pitchFamily="34" charset="0"/>
                        <a:cs typeface="Tahoma" panose="020B0604030504040204" pitchFamily="34" charset="0"/>
                      </a:rPr>
                      <m:t>∗ </m:t>
                    </m:r>
                    <m:acc>
                      <m:accPr>
                        <m:chr m:val="⃗"/>
                        <m:ctrlPr>
                          <a:rPr lang="en-US" sz="4800" b="1" i="1">
                            <a:latin typeface="Cambria Math" panose="02040503050406030204" pitchFamily="18" charset="0"/>
                          </a:rPr>
                        </m:ctrlPr>
                      </m:accPr>
                      <m:e>
                        <m:sSup>
                          <m:sSupPr>
                            <m:ctrlPr>
                              <a:rPr lang="en-US" sz="4800" b="1" i="1">
                                <a:latin typeface="Cambria Math" panose="02040503050406030204" pitchFamily="18" charset="0"/>
                              </a:rPr>
                            </m:ctrlPr>
                          </m:sSupPr>
                          <m:e>
                            <m:r>
                              <a:rPr lang="en-US" sz="4800" b="1" i="1">
                                <a:latin typeface="Cambria Math" panose="02040503050406030204" pitchFamily="18" charset="0"/>
                              </a:rPr>
                              <m:t>𝑨</m:t>
                            </m:r>
                          </m:e>
                          <m:sup>
                            <m:r>
                              <a:rPr lang="en-US" sz="4800" b="1" i="1">
                                <a:latin typeface="Cambria Math" panose="02040503050406030204" pitchFamily="18" charset="0"/>
                              </a:rPr>
                              <m:t>′</m:t>
                            </m:r>
                          </m:sup>
                        </m:sSup>
                        <m:r>
                          <a:rPr lang="en-US" sz="4800" b="1" i="1">
                            <a:latin typeface="Cambria Math" panose="02040503050406030204" pitchFamily="18" charset="0"/>
                          </a:rPr>
                          <m:t>𝑴</m:t>
                        </m:r>
                      </m:e>
                    </m:acc>
                    <m:r>
                      <a:rPr lang="en-US" sz="4800" b="1" i="1">
                        <a:latin typeface="Cambria Math" panose="02040503050406030204" pitchFamily="18" charset="0"/>
                      </a:rPr>
                      <m:t>=</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5" name="TextBox 44">
                <a:extLst>
                  <a:ext uri="{FF2B5EF4-FFF2-40B4-BE49-F238E27FC236}">
                    <a16:creationId xmlns:a16="http://schemas.microsoft.com/office/drawing/2014/main" id="{9BED820A-EF94-4C08-910A-123D2B114684}"/>
                  </a:ext>
                </a:extLst>
              </p:cNvPr>
              <p:cNvSpPr txBox="1">
                <a:spLocks noRot="1" noChangeAspect="1" noMove="1" noResize="1" noEditPoints="1" noAdjustHandles="1" noChangeArrowheads="1" noChangeShapeType="1" noTextEdit="1"/>
              </p:cNvSpPr>
              <p:nvPr/>
            </p:nvSpPr>
            <p:spPr>
              <a:xfrm>
                <a:off x="230967" y="11033012"/>
                <a:ext cx="6116451" cy="927818"/>
              </a:xfrm>
              <a:prstGeom prst="rect">
                <a:avLst/>
              </a:prstGeom>
              <a:blipFill>
                <a:blip r:embed="rId15"/>
                <a:stretch>
                  <a:fillRect t="-5263" b="-335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BA4F9CE-C297-4632-AB04-A48521903E6C}"/>
                  </a:ext>
                </a:extLst>
              </p:cNvPr>
              <p:cNvSpPr txBox="1"/>
              <p:nvPr/>
            </p:nvSpPr>
            <p:spPr>
              <a:xfrm>
                <a:off x="156076" y="11844261"/>
                <a:ext cx="14713673" cy="10650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4800" b="1"/>
                        <m:t>Ba</m:t>
                      </m:r>
                      <m:r>
                        <m:rPr>
                          <m:nor/>
                        </m:rPr>
                        <a:rPr lang="en-US" sz="4800" b="1"/>
                        <m:t> đ</m:t>
                      </m:r>
                      <m:r>
                        <m:rPr>
                          <m:nor/>
                        </m:rPr>
                        <a:rPr lang="en-US" sz="4800" b="1"/>
                        <m:t>i</m:t>
                      </m:r>
                      <m:r>
                        <m:rPr>
                          <m:nor/>
                        </m:rPr>
                        <a:rPr lang="en-US" sz="4800" b="1"/>
                        <m:t>ể</m:t>
                      </m:r>
                      <m:r>
                        <m:rPr>
                          <m:nor/>
                        </m:rPr>
                        <a:rPr lang="en-US" sz="4800" b="1"/>
                        <m:t>m</m:t>
                      </m:r>
                      <m:r>
                        <m:rPr>
                          <m:nor/>
                        </m:rPr>
                        <a:rPr lang="en-US" sz="4800" b="1"/>
                        <m:t> </m:t>
                      </m:r>
                      <m:sSup>
                        <m:sSupPr>
                          <m:ctrlPr>
                            <a:rPr lang="en-US" sz="4800" b="1" i="1">
                              <a:latin typeface="Cambria Math" panose="02040503050406030204" pitchFamily="18" charset="0"/>
                            </a:rPr>
                          </m:ctrlPr>
                        </m:sSupPr>
                        <m:e>
                          <m:r>
                            <a:rPr lang="en-US" sz="4800" b="1" i="1">
                              <a:latin typeface="Cambria Math" panose="02040503050406030204" pitchFamily="18" charset="0"/>
                            </a:rPr>
                            <m:t>𝑨</m:t>
                          </m:r>
                        </m:e>
                        <m:sup>
                          <m:r>
                            <a:rPr lang="en-US" sz="4800" b="1" i="1">
                              <a:latin typeface="Cambria Math" panose="02040503050406030204" pitchFamily="18" charset="0"/>
                            </a:rPr>
                            <m:t>′</m:t>
                          </m:r>
                        </m:sup>
                      </m:sSup>
                      <m:r>
                        <a:rPr lang="en-US" sz="4800" b="1" i="1">
                          <a:latin typeface="Cambria Math" panose="02040503050406030204" pitchFamily="18" charset="0"/>
                        </a:rPr>
                        <m:t>,</m:t>
                      </m:r>
                      <m:r>
                        <a:rPr lang="en-US" sz="4800" b="1" i="1">
                          <a:latin typeface="Cambria Math" panose="02040503050406030204" pitchFamily="18" charset="0"/>
                        </a:rPr>
                        <m:t>𝑴</m:t>
                      </m:r>
                      <m:r>
                        <a:rPr lang="en-US" sz="4800" b="1" i="1">
                          <a:latin typeface="Cambria Math" panose="02040503050406030204" pitchFamily="18" charset="0"/>
                        </a:rPr>
                        <m:t>,</m:t>
                      </m:r>
                      <m:r>
                        <a:rPr lang="en-US" sz="4800" b="1" i="1">
                          <a:latin typeface="Cambria Math" panose="02040503050406030204" pitchFamily="18" charset="0"/>
                        </a:rPr>
                        <m:t>𝑩</m:t>
                      </m:r>
                      <m:r>
                        <m:rPr>
                          <m:nor/>
                        </m:rPr>
                        <a:rPr lang="en-US" sz="4800" b="1"/>
                        <m:t> </m:t>
                      </m:r>
                      <m:r>
                        <m:rPr>
                          <m:nor/>
                        </m:rPr>
                        <a:rPr lang="en-US" sz="4800" b="1"/>
                        <m:t>th</m:t>
                      </m:r>
                      <m:r>
                        <m:rPr>
                          <m:nor/>
                        </m:rPr>
                        <a:rPr lang="en-US" sz="4800" b="1"/>
                        <m:t>ẳ</m:t>
                      </m:r>
                      <m:r>
                        <m:rPr>
                          <m:nor/>
                        </m:rPr>
                        <a:rPr lang="en-US" sz="4800" b="1"/>
                        <m:t>ng</m:t>
                      </m:r>
                      <m:r>
                        <m:rPr>
                          <m:nor/>
                        </m:rPr>
                        <a:rPr lang="en-US" sz="4800" b="1"/>
                        <m:t> </m:t>
                      </m:r>
                      <m:r>
                        <m:rPr>
                          <m:nor/>
                        </m:rPr>
                        <a:rPr lang="en-US" sz="4800" b="1"/>
                        <m:t>h</m:t>
                      </m:r>
                      <m:r>
                        <m:rPr>
                          <m:nor/>
                        </m:rPr>
                        <a:rPr lang="en-US" sz="4800" b="1"/>
                        <m:t>à</m:t>
                      </m:r>
                      <m:r>
                        <m:rPr>
                          <m:nor/>
                        </m:rPr>
                        <a:rPr lang="en-US" sz="4800" b="1"/>
                        <m:t>ng</m:t>
                      </m:r>
                      <m:r>
                        <m:rPr>
                          <m:nor/>
                        </m:rPr>
                        <a:rPr lang="en-US" sz="4800" b="1"/>
                        <m:t> </m:t>
                      </m:r>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𝑨𝑴</m:t>
                          </m:r>
                        </m:e>
                      </m:acc>
                      <m:r>
                        <m:rPr>
                          <m:nor/>
                        </m:rPr>
                        <a:rPr lang="en-US" sz="4800" b="1"/>
                        <m:t> </m:t>
                      </m:r>
                      <m:r>
                        <m:rPr>
                          <m:nor/>
                        </m:rPr>
                        <a:rPr lang="en-US" sz="4800" b="1"/>
                        <m:t>c</m:t>
                      </m:r>
                      <m:r>
                        <m:rPr>
                          <m:nor/>
                        </m:rPr>
                        <a:rPr lang="en-US" sz="4800" b="1"/>
                        <m:t>ù</m:t>
                      </m:r>
                      <m:r>
                        <m:rPr>
                          <m:nor/>
                        </m:rPr>
                        <a:rPr lang="en-US" sz="4800" b="1"/>
                        <m:t>ng</m:t>
                      </m:r>
                      <m:r>
                        <m:rPr>
                          <m:nor/>
                        </m:rPr>
                        <a:rPr lang="en-US" sz="4800" b="1"/>
                        <m:t> </m:t>
                      </m:r>
                      <m:r>
                        <m:rPr>
                          <m:nor/>
                        </m:rPr>
                        <a:rPr lang="en-US" sz="4800" b="1"/>
                        <m:t>ph</m:t>
                      </m:r>
                      <m:r>
                        <m:rPr>
                          <m:nor/>
                        </m:rPr>
                        <a:rPr lang="en-US" sz="4800" b="1"/>
                        <m:t>ươ</m:t>
                      </m:r>
                      <m:r>
                        <m:rPr>
                          <m:nor/>
                        </m:rPr>
                        <a:rPr lang="en-US" sz="4800" b="1"/>
                        <m:t>ng</m:t>
                      </m:r>
                      <m:r>
                        <m:rPr>
                          <m:nor/>
                        </m:rPr>
                        <a:rPr lang="en-US" sz="4800" b="1"/>
                        <m:t> </m:t>
                      </m:r>
                      <m:acc>
                        <m:accPr>
                          <m:chr m:val="⃗"/>
                          <m:ctrlPr>
                            <a:rPr lang="en-US" sz="4800" b="1" i="1">
                              <a:latin typeface="Cambria Math" panose="02040503050406030204" pitchFamily="18" charset="0"/>
                            </a:rPr>
                          </m:ctrlPr>
                        </m:accPr>
                        <m:e>
                          <m:sSup>
                            <m:sSupPr>
                              <m:ctrlPr>
                                <a:rPr lang="en-US" sz="4800" b="1" i="1">
                                  <a:latin typeface="Cambria Math" panose="02040503050406030204" pitchFamily="18" charset="0"/>
                                </a:rPr>
                              </m:ctrlPr>
                            </m:sSupPr>
                            <m:e>
                              <m:r>
                                <a:rPr lang="en-US" sz="4800" b="1" i="1">
                                  <a:latin typeface="Cambria Math" panose="02040503050406030204" pitchFamily="18" charset="0"/>
                                </a:rPr>
                                <m:t>𝑨</m:t>
                              </m:r>
                            </m:e>
                            <m:sup>
                              <m:r>
                                <a:rPr lang="en-US" sz="4800" b="1" i="1">
                                  <a:latin typeface="Cambria Math" panose="02040503050406030204" pitchFamily="18" charset="0"/>
                                </a:rPr>
                                <m:t>′</m:t>
                              </m:r>
                            </m:sup>
                          </m:sSup>
                          <m:r>
                            <a:rPr lang="en-US" sz="4800" b="1" i="1">
                              <a:latin typeface="Cambria Math" panose="02040503050406030204" pitchFamily="18" charset="0"/>
                            </a:rPr>
                            <m:t>𝑩</m:t>
                          </m:r>
                        </m:e>
                      </m:acc>
                      <m:r>
                        <m:rPr>
                          <m:nor/>
                        </m:rPr>
                        <a:rPr lang="en-US" sz="4800" b="1"/>
                        <m:t>	</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6" name="TextBox 45">
                <a:extLst>
                  <a:ext uri="{FF2B5EF4-FFF2-40B4-BE49-F238E27FC236}">
                    <a16:creationId xmlns:a16="http://schemas.microsoft.com/office/drawing/2014/main" id="{DBA4F9CE-C297-4632-AB04-A48521903E6C}"/>
                  </a:ext>
                </a:extLst>
              </p:cNvPr>
              <p:cNvSpPr txBox="1">
                <a:spLocks noRot="1" noChangeAspect="1" noMove="1" noResize="1" noEditPoints="1" noAdjustHandles="1" noChangeArrowheads="1" noChangeShapeType="1" noTextEdit="1"/>
              </p:cNvSpPr>
              <p:nvPr/>
            </p:nvSpPr>
            <p:spPr>
              <a:xfrm>
                <a:off x="156076" y="11844261"/>
                <a:ext cx="14713673" cy="1065035"/>
              </a:xfrm>
              <a:prstGeom prst="rect">
                <a:avLst/>
              </a:prstGeom>
              <a:blipFill>
                <a:blip r:embed="rId16"/>
                <a:stretch>
                  <a:fillRect/>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76CA6817-420A-47E5-8184-2C8D313B5DB5}"/>
              </a:ext>
            </a:extLst>
          </p:cNvPr>
          <p:cNvCxnSpPr>
            <a:cxnSpLocks/>
          </p:cNvCxnSpPr>
          <p:nvPr/>
        </p:nvCxnSpPr>
        <p:spPr>
          <a:xfrm>
            <a:off x="15083606" y="6808872"/>
            <a:ext cx="0" cy="6069392"/>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6938928-202F-4E59-831E-D2A03F4AB232}"/>
                  </a:ext>
                </a:extLst>
              </p:cNvPr>
              <p:cNvSpPr txBox="1"/>
              <p:nvPr/>
            </p:nvSpPr>
            <p:spPr>
              <a:xfrm>
                <a:off x="15297464" y="7206079"/>
                <a:ext cx="6398814" cy="2919517"/>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a:rPr lang="en-US" sz="4800" b="1" i="1" smtClean="0">
                          <a:latin typeface="Cambria Math" panose="02040503050406030204" pitchFamily="18" charset="0"/>
                        </a:rPr>
                        <m:t>⇔−</m:t>
                      </m:r>
                      <m:r>
                        <a:rPr lang="en-US" sz="4800" b="1" i="1" smtClean="0">
                          <a:latin typeface="Cambria Math" panose="02040503050406030204" pitchFamily="18" charset="0"/>
                        </a:rPr>
                        <m:t>𝟕</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𝟐</m:t>
                          </m:r>
                        </m:e>
                      </m:d>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𝟕</m:t>
                      </m:r>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𝟏𝟒</m:t>
                      </m:r>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𝒙</m:t>
                      </m:r>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𝟏𝟕</m:t>
                          </m:r>
                        </m:num>
                        <m:den>
                          <m:r>
                            <a:rPr lang="en-US" sz="4800" b="1" i="1">
                              <a:latin typeface="Cambria Math" panose="02040503050406030204" pitchFamily="18" charset="0"/>
                            </a:rPr>
                            <m:t>𝟕</m:t>
                          </m:r>
                        </m:den>
                      </m:f>
                      <m:r>
                        <a:rPr lang="en-US" sz="4800" b="1" i="1" smtClean="0">
                          <a:latin typeface="Cambria Math" panose="02040503050406030204" pitchFamily="18" charset="0"/>
                          <a:ea typeface="Cambria Math" panose="02040503050406030204" pitchFamily="18" charset="0"/>
                        </a:rPr>
                        <m:t>≈</m:t>
                      </m:r>
                      <m:r>
                        <a:rPr lang="en-US" sz="4800" b="1" i="1" smtClean="0">
                          <a:latin typeface="Cambria Math" panose="02040503050406030204" pitchFamily="18" charset="0"/>
                          <a:ea typeface="Cambria Math" panose="02040503050406030204" pitchFamily="18" charset="0"/>
                        </a:rPr>
                        <m:t>𝟐</m:t>
                      </m:r>
                      <m:r>
                        <a:rPr lang="en-US" sz="4800" b="1" i="1" smtClean="0">
                          <a:latin typeface="Cambria Math" panose="02040503050406030204" pitchFamily="18" charset="0"/>
                          <a:ea typeface="Cambria Math" panose="02040503050406030204" pitchFamily="18" charset="0"/>
                        </a:rPr>
                        <m:t>,</m:t>
                      </m:r>
                      <m:r>
                        <a:rPr lang="en-US" sz="4800" b="1" i="1" smtClean="0">
                          <a:latin typeface="Cambria Math" panose="02040503050406030204" pitchFamily="18" charset="0"/>
                          <a:ea typeface="Cambria Math" panose="02040503050406030204" pitchFamily="18" charset="0"/>
                        </a:rPr>
                        <m:t>𝟒</m:t>
                      </m:r>
                      <m:r>
                        <a:rPr lang="en-US" sz="4800" b="1" i="1" smtClean="0">
                          <a:latin typeface="Cambria Math" panose="02040503050406030204" pitchFamily="18" charset="0"/>
                          <a:ea typeface="Cambria Math" panose="02040503050406030204" pitchFamily="18"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9" name="TextBox 48">
                <a:extLst>
                  <a:ext uri="{FF2B5EF4-FFF2-40B4-BE49-F238E27FC236}">
                    <a16:creationId xmlns:a16="http://schemas.microsoft.com/office/drawing/2014/main" id="{F6938928-202F-4E59-831E-D2A03F4AB232}"/>
                  </a:ext>
                </a:extLst>
              </p:cNvPr>
              <p:cNvSpPr txBox="1">
                <a:spLocks noRot="1" noChangeAspect="1" noMove="1" noResize="1" noEditPoints="1" noAdjustHandles="1" noChangeArrowheads="1" noChangeShapeType="1" noTextEdit="1"/>
              </p:cNvSpPr>
              <p:nvPr/>
            </p:nvSpPr>
            <p:spPr>
              <a:xfrm>
                <a:off x="15297464" y="7206079"/>
                <a:ext cx="6398814" cy="2919517"/>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1AACB948-1379-472A-9CEE-B75E76B8A758}"/>
                  </a:ext>
                </a:extLst>
              </p:cNvPr>
              <p:cNvSpPr txBox="1"/>
              <p:nvPr/>
            </p:nvSpPr>
            <p:spPr>
              <a:xfrm>
                <a:off x="15340745" y="10159140"/>
                <a:ext cx="8568355" cy="1936428"/>
              </a:xfrm>
              <a:prstGeom prst="rect">
                <a:avLst/>
              </a:prstGeom>
              <a:noFill/>
            </p:spPr>
            <p:txBody>
              <a:bodyPr wrap="square">
                <a:spAutoFit/>
              </a:bodyPr>
              <a:lstStyle/>
              <a:p>
                <a:pPr algn="just"/>
                <a14:m>
                  <m:oMath xmlns:m="http://schemas.openxmlformats.org/officeDocument/2006/math">
                    <m:r>
                      <m:rPr>
                        <m:nor/>
                      </m:rPr>
                      <a:rPr lang="en-US" sz="4800" b="1">
                        <a:latin typeface="Tahoma" panose="020B0604030504040204" pitchFamily="34" charset="0"/>
                        <a:ea typeface="Tahoma" panose="020B0604030504040204" pitchFamily="34" charset="0"/>
                        <a:cs typeface="Tahoma" panose="020B0604030504040204" pitchFamily="34" charset="0"/>
                      </a:rPr>
                      <m:t>V</m:t>
                    </m:r>
                    <m:r>
                      <m:rPr>
                        <m:nor/>
                      </m:rPr>
                      <a:rPr lang="en-US" sz="4800" b="1">
                        <a:latin typeface="Tahoma" panose="020B0604030504040204" pitchFamily="34" charset="0"/>
                        <a:ea typeface="Tahoma" panose="020B0604030504040204" pitchFamily="34" charset="0"/>
                        <a:cs typeface="Tahoma" panose="020B0604030504040204" pitchFamily="34" charset="0"/>
                      </a:rPr>
                      <m:t>ậ</m:t>
                    </m:r>
                    <m:r>
                      <m:rPr>
                        <m:nor/>
                      </m:rPr>
                      <a:rPr lang="en-US" sz="4800" b="1">
                        <a:latin typeface="Tahoma" panose="020B0604030504040204" pitchFamily="34" charset="0"/>
                        <a:ea typeface="Tahoma" panose="020B0604030504040204" pitchFamily="34" charset="0"/>
                        <a:cs typeface="Tahoma" panose="020B0604030504040204" pitchFamily="34" charset="0"/>
                      </a:rPr>
                      <m:t>y</m:t>
                    </m:r>
                    <m:r>
                      <m:rPr>
                        <m:nor/>
                      </m:rPr>
                      <a:rPr lang="en-US"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𝑴</m:t>
                    </m:r>
                    <m:d>
                      <m:dPr>
                        <m:ctrlPr>
                          <a:rPr lang="en-US" sz="4800" b="1" i="1">
                            <a:latin typeface="Cambria Math" panose="02040503050406030204" pitchFamily="18" charset="0"/>
                          </a:rPr>
                        </m:ctrlPr>
                      </m:dPr>
                      <m:e>
                        <m:f>
                          <m:fPr>
                            <m:ctrlPr>
                              <a:rPr lang="en-US" sz="4800" b="1" i="1">
                                <a:latin typeface="Cambria Math" panose="02040503050406030204" pitchFamily="18" charset="0"/>
                              </a:rPr>
                            </m:ctrlPr>
                          </m:fPr>
                          <m:num>
                            <m:r>
                              <a:rPr lang="en-US" sz="4800" b="1" i="1">
                                <a:latin typeface="Cambria Math" panose="02040503050406030204" pitchFamily="18" charset="0"/>
                              </a:rPr>
                              <m:t>𝟏𝟕</m:t>
                            </m:r>
                          </m:num>
                          <m:den>
                            <m:r>
                              <a:rPr lang="en-US" sz="4800" b="1" i="1">
                                <a:latin typeface="Cambria Math" panose="02040503050406030204" pitchFamily="18" charset="0"/>
                              </a:rPr>
                              <m:t>𝟕</m:t>
                            </m:r>
                          </m:den>
                        </m:f>
                        <m:r>
                          <a:rPr lang="en-US" sz="4800" b="1" i="1">
                            <a:latin typeface="Cambria Math" panose="02040503050406030204" pitchFamily="18" charset="0"/>
                          </a:rPr>
                          <m:t>;</m:t>
                        </m:r>
                        <m:r>
                          <a:rPr lang="en-US" sz="4800" b="1" i="1">
                            <a:latin typeface="Cambria Math" panose="02040503050406030204" pitchFamily="18" charset="0"/>
                          </a:rPr>
                          <m:t>𝟎</m:t>
                        </m:r>
                      </m:e>
                    </m:d>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th</m:t>
                    </m:r>
                    <m:r>
                      <m:rPr>
                        <m:nor/>
                      </m:rPr>
                      <a:rPr lang="en-US" sz="4800" b="1">
                        <a:latin typeface="Tahoma" panose="020B0604030504040204" pitchFamily="34" charset="0"/>
                        <a:ea typeface="Tahoma" panose="020B0604030504040204" pitchFamily="34" charset="0"/>
                        <a:cs typeface="Tahoma" panose="020B0604030504040204" pitchFamily="34" charset="0"/>
                      </a:rPr>
                      <m:t>ỏ</m:t>
                    </m:r>
                    <m:r>
                      <m:rPr>
                        <m:nor/>
                      </m:rPr>
                      <a:rPr lang="en-US" sz="4800" b="1">
                        <a:latin typeface="Tahoma" panose="020B0604030504040204" pitchFamily="34" charset="0"/>
                        <a:ea typeface="Tahoma" panose="020B0604030504040204" pitchFamily="34" charset="0"/>
                        <a:cs typeface="Tahoma" panose="020B0604030504040204" pitchFamily="34" charset="0"/>
                      </a:rPr>
                      <m:t>a</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y</m:t>
                    </m:r>
                    <m:r>
                      <m:rPr>
                        <m:nor/>
                      </m:rPr>
                      <a:rPr lang="en-US" sz="4800" b="1">
                        <a:latin typeface="Tahoma" panose="020B0604030504040204" pitchFamily="34" charset="0"/>
                        <a:ea typeface="Tahoma" panose="020B0604030504040204" pitchFamily="34" charset="0"/>
                        <a:cs typeface="Tahoma" panose="020B0604030504040204" pitchFamily="34" charset="0"/>
                      </a:rPr>
                      <m:t>ê</m:t>
                    </m:r>
                    <m:r>
                      <m:rPr>
                        <m:nor/>
                      </m:rPr>
                      <a:rPr lang="en-US" sz="4800" b="1">
                        <a:latin typeface="Tahoma" panose="020B0604030504040204" pitchFamily="34" charset="0"/>
                        <a:ea typeface="Tahoma" panose="020B0604030504040204" pitchFamily="34" charset="0"/>
                        <a:cs typeface="Tahoma" panose="020B0604030504040204" pitchFamily="34" charset="0"/>
                      </a:rPr>
                      <m:t>u</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c</m:t>
                    </m:r>
                    <m:r>
                      <m:rPr>
                        <m:nor/>
                      </m:rPr>
                      <a:rPr lang="en-US" sz="4800" b="1">
                        <a:latin typeface="Tahoma" panose="020B0604030504040204" pitchFamily="34" charset="0"/>
                        <a:ea typeface="Tahoma" panose="020B0604030504040204" pitchFamily="34" charset="0"/>
                        <a:cs typeface="Tahoma" panose="020B0604030504040204" pitchFamily="34" charset="0"/>
                      </a:rPr>
                      <m:t>ầ</m:t>
                    </m:r>
                    <m:r>
                      <m:rPr>
                        <m:nor/>
                      </m:rPr>
                      <a:rPr lang="en-US" sz="4800" b="1">
                        <a:latin typeface="Tahoma" panose="020B0604030504040204" pitchFamily="34" charset="0"/>
                        <a:ea typeface="Tahoma" panose="020B0604030504040204" pitchFamily="34" charset="0"/>
                        <a:cs typeface="Tahoma" panose="020B0604030504040204" pitchFamily="34" charset="0"/>
                      </a:rPr>
                      <m:t>u</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b</m:t>
                    </m:r>
                    <m:r>
                      <m:rPr>
                        <m:nor/>
                      </m:rPr>
                      <a:rPr lang="en-US" sz="4800" b="1">
                        <a:latin typeface="Tahoma" panose="020B0604030504040204" pitchFamily="34" charset="0"/>
                        <a:ea typeface="Tahoma" panose="020B0604030504040204" pitchFamily="34" charset="0"/>
                        <a:cs typeface="Tahoma" panose="020B0604030504040204" pitchFamily="34" charset="0"/>
                      </a:rPr>
                      <m:t>à</m:t>
                    </m:r>
                    <m:r>
                      <m:rPr>
                        <m:nor/>
                      </m:rPr>
                      <a:rPr lang="en-US" sz="4800" b="1">
                        <a:latin typeface="Tahoma" panose="020B0604030504040204" pitchFamily="34" charset="0"/>
                        <a:ea typeface="Tahoma" panose="020B0604030504040204" pitchFamily="34" charset="0"/>
                        <a:cs typeface="Tahoma" panose="020B0604030504040204" pitchFamily="34" charset="0"/>
                      </a:rPr>
                      <m:t>i</m:t>
                    </m:r>
                    <m:r>
                      <m:rPr>
                        <m:nor/>
                      </m:rPr>
                      <a:rPr lang="en-US" sz="4800" b="1">
                        <a:latin typeface="Tahoma" panose="020B0604030504040204" pitchFamily="34" charset="0"/>
                        <a:ea typeface="Tahoma" panose="020B0604030504040204" pitchFamily="34" charset="0"/>
                        <a:cs typeface="Tahoma" panose="020B0604030504040204" pitchFamily="34" charset="0"/>
                      </a:rPr>
                      <m:t> </m:t>
                    </m:r>
                    <m:r>
                      <m:rPr>
                        <m:nor/>
                      </m:rPr>
                      <a:rPr lang="en-US" sz="4800" b="1">
                        <a:latin typeface="Tahoma" panose="020B0604030504040204" pitchFamily="34" charset="0"/>
                        <a:ea typeface="Tahoma" panose="020B0604030504040204" pitchFamily="34" charset="0"/>
                        <a:cs typeface="Tahoma" panose="020B0604030504040204" pitchFamily="34" charset="0"/>
                      </a:rPr>
                      <m:t>to</m:t>
                    </m:r>
                    <m:r>
                      <m:rPr>
                        <m:nor/>
                      </m:rPr>
                      <a:rPr lang="en-US" sz="4800" b="1">
                        <a:latin typeface="Tahoma" panose="020B0604030504040204" pitchFamily="34" charset="0"/>
                        <a:ea typeface="Tahoma" panose="020B0604030504040204" pitchFamily="34" charset="0"/>
                        <a:cs typeface="Tahoma" panose="020B0604030504040204" pitchFamily="34" charset="0"/>
                      </a:rPr>
                      <m:t>á</m:t>
                    </m:r>
                    <m:r>
                      <m:rPr>
                        <m:nor/>
                      </m:rPr>
                      <a:rPr lang="en-US" sz="4800" b="1">
                        <a:latin typeface="Tahoma" panose="020B0604030504040204" pitchFamily="34" charset="0"/>
                        <a:ea typeface="Tahoma" panose="020B0604030504040204" pitchFamily="34" charset="0"/>
                        <a:cs typeface="Tahoma" panose="020B0604030504040204" pitchFamily="34" charset="0"/>
                      </a:rPr>
                      <m:t>n</m:t>
                    </m:r>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51" name="TextBox 50">
                <a:extLst>
                  <a:ext uri="{FF2B5EF4-FFF2-40B4-BE49-F238E27FC236}">
                    <a16:creationId xmlns:a16="http://schemas.microsoft.com/office/drawing/2014/main" id="{1AACB948-1379-472A-9CEE-B75E76B8A758}"/>
                  </a:ext>
                </a:extLst>
              </p:cNvPr>
              <p:cNvSpPr txBox="1">
                <a:spLocks noRot="1" noChangeAspect="1" noMove="1" noResize="1" noEditPoints="1" noAdjustHandles="1" noChangeArrowheads="1" noChangeShapeType="1" noTextEdit="1"/>
              </p:cNvSpPr>
              <p:nvPr/>
            </p:nvSpPr>
            <p:spPr>
              <a:xfrm>
                <a:off x="15340745" y="10159140"/>
                <a:ext cx="8568355" cy="1936428"/>
              </a:xfrm>
              <a:prstGeom prst="rect">
                <a:avLst/>
              </a:prstGeom>
              <a:blipFill>
                <a:blip r:embed="rId18"/>
                <a:stretch>
                  <a:fillRect b="-15773"/>
                </a:stretch>
              </a:blipFill>
            </p:spPr>
            <p:txBody>
              <a:bodyPr/>
              <a:lstStyle/>
              <a:p>
                <a:r>
                  <a:rPr lang="en-US">
                    <a:noFill/>
                  </a:rPr>
                  <a:t> </a:t>
                </a:r>
              </a:p>
            </p:txBody>
          </p:sp>
        </mc:Fallback>
      </mc:AlternateContent>
      <p:sp>
        <p:nvSpPr>
          <p:cNvPr id="74" name="Rounded Rectangle 7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78" name="TextBox 7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18318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left)">
                                      <p:cBhvr>
                                        <p:cTn id="32" dur="500"/>
                                        <p:tgtEl>
                                          <p:spTgt spid="4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wipe(left)">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wipe(left)">
                                      <p:cBhvr>
                                        <p:cTn id="42" dur="5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wipe(left)">
                                      <p:cBhvr>
                                        <p:cTn id="47" dur="500"/>
                                        <p:tgtEl>
                                          <p:spTgt spid="4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wipe(left)">
                                      <p:cBhvr>
                                        <p:cTn id="52" dur="500"/>
                                        <p:tgtEl>
                                          <p:spTgt spid="4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8"/>
                                        </p:tgtEl>
                                        <p:attrNameLst>
                                          <p:attrName>style.visibility</p:attrName>
                                        </p:attrNameLst>
                                      </p:cBhvr>
                                      <p:to>
                                        <p:strVal val="visible"/>
                                      </p:to>
                                    </p:set>
                                    <p:animEffect transition="in" filter="fade">
                                      <p:cBhvr>
                                        <p:cTn id="57" dur="500"/>
                                        <p:tgtEl>
                                          <p:spTgt spid="4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wipe(left)">
                                      <p:cBhvr>
                                        <p:cTn id="62" dur="500"/>
                                        <p:tgtEl>
                                          <p:spTgt spid="4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wipe(left)">
                                      <p:cBhvr>
                                        <p:cTn id="67" dur="500"/>
                                        <p:tgtEl>
                                          <p:spTgt spid="5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7" grpId="0"/>
      <p:bldP spid="43" grpId="0"/>
      <p:bldP spid="44" grpId="0"/>
      <p:bldP spid="42" grpId="0"/>
      <p:bldP spid="45" grpId="0"/>
      <p:bldP spid="46" grpId="0"/>
      <p:bldP spid="49" grpId="0"/>
      <p:bldP spid="5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6571576"/>
            <a:ext cx="23941001" cy="6412385"/>
            <a:chOff x="-27280" y="3685364"/>
            <a:chExt cx="23094619" cy="6412384"/>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41238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Bài giải</a:t>
                </a:r>
                <a:endPar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620483" y="4916870"/>
            <a:ext cx="23556178" cy="1423068"/>
            <a:chOff x="241306" y="2149527"/>
            <a:chExt cx="11778089" cy="711534"/>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187227"/>
                  <a:ext cx="2468235" cy="673833"/>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m:t>
                        </m:r>
                        <m:f>
                          <m:fPr>
                            <m:ctrlPr>
                              <a:rPr lang="en-US" sz="4800" b="1" i="1">
                                <a:solidFill>
                                  <a:schemeClr val="bg1"/>
                                </a:solidFill>
                                <a:latin typeface="Cambria Math" panose="02040503050406030204" pitchFamily="18" charset="0"/>
                              </a:rPr>
                            </m:ctrlPr>
                          </m:fPr>
                          <m:num>
                            <m:r>
                              <a:rPr lang="en-US" sz="4800" b="1" i="1">
                                <a:solidFill>
                                  <a:schemeClr val="bg1"/>
                                </a:solidFill>
                                <a:latin typeface="Cambria Math" panose="02040503050406030204" pitchFamily="18" charset="0"/>
                              </a:rPr>
                              <m:t>𝟏</m:t>
                            </m:r>
                          </m:num>
                          <m:den>
                            <m:r>
                              <a:rPr lang="en-US" sz="4800" b="1" i="1">
                                <a:solidFill>
                                  <a:schemeClr val="bg1"/>
                                </a:solidFill>
                                <a:latin typeface="Cambria Math" panose="02040503050406030204" pitchFamily="18" charset="0"/>
                              </a:rPr>
                              <m:t>𝟑</m:t>
                            </m:r>
                          </m:den>
                        </m:f>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 </m:t>
                        </m:r>
                        <m:r>
                          <m:rPr>
                            <m:nor/>
                          </m:rPr>
                          <a:rPr lang="en-SG"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187227"/>
                  <a:ext cx="2468235" cy="673833"/>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B</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187227"/>
                  <a:ext cx="2468235" cy="673833"/>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f>
                          <m:fPr>
                            <m:ctrlPr>
                              <a:rPr lang="en-US" sz="4800" b="1" i="1">
                                <a:solidFill>
                                  <a:schemeClr val="bg1"/>
                                </a:solidFill>
                                <a:latin typeface="Cambria Math" panose="02040503050406030204" pitchFamily="18" charset="0"/>
                              </a:rPr>
                            </m:ctrlPr>
                          </m:fPr>
                          <m:num>
                            <m:r>
                              <a:rPr lang="en-US" sz="4800" b="1" i="1">
                                <a:solidFill>
                                  <a:schemeClr val="bg1"/>
                                </a:solidFill>
                                <a:latin typeface="Cambria Math" panose="02040503050406030204" pitchFamily="18" charset="0"/>
                              </a:rPr>
                              <m:t>𝟏</m:t>
                            </m:r>
                          </m:num>
                          <m:den>
                            <m:r>
                              <a:rPr lang="en-US" sz="4800" b="1" i="1">
                                <a:solidFill>
                                  <a:schemeClr val="bg1"/>
                                </a:solidFill>
                                <a:latin typeface="Cambria Math" panose="02040503050406030204" pitchFamily="18" charset="0"/>
                              </a:rPr>
                              <m:t>𝟑</m:t>
                            </m:r>
                          </m:den>
                        </m:f>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 </m:t>
                        </m:r>
                        <m:r>
                          <m:rPr>
                            <m:nor/>
                          </m:rPr>
                          <a:rPr lang="en-SG"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187227"/>
                  <a:ext cx="2468235" cy="673833"/>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A</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149528"/>
                  <a:ext cx="2468235" cy="711533"/>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f>
                          <m:fPr>
                            <m:ctrlPr>
                              <a:rPr lang="en-US" sz="4800" b="1" i="1">
                                <a:solidFill>
                                  <a:schemeClr val="bg1"/>
                                </a:solidFill>
                                <a:latin typeface="Cambria Math" panose="02040503050406030204" pitchFamily="18" charset="0"/>
                              </a:rPr>
                            </m:ctrlPr>
                          </m:fPr>
                          <m:num>
                            <m:r>
                              <a:rPr lang="en-US" sz="4800" b="1" i="1">
                                <a:solidFill>
                                  <a:schemeClr val="bg1"/>
                                </a:solidFill>
                                <a:latin typeface="Cambria Math" panose="02040503050406030204" pitchFamily="18" charset="0"/>
                              </a:rPr>
                              <m:t>𝟏</m:t>
                            </m:r>
                          </m:num>
                          <m:den>
                            <m:r>
                              <a:rPr lang="en-US" sz="4800" b="1" i="1">
                                <a:solidFill>
                                  <a:schemeClr val="bg1"/>
                                </a:solidFill>
                                <a:latin typeface="Cambria Math" panose="02040503050406030204" pitchFamily="18" charset="0"/>
                              </a:rPr>
                              <m:t>𝟐</m:t>
                            </m:r>
                          </m:den>
                        </m:f>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 </m:t>
                        </m:r>
                        <m:r>
                          <m:rPr>
                            <m:nor/>
                          </m:rPr>
                          <a:rPr lang="en-SG"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149528"/>
                  <a:ext cx="2468235" cy="711533"/>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C</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149527"/>
                  <a:ext cx="2468235" cy="711533"/>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𝟏</m:t>
                        </m:r>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 </m:t>
                        </m:r>
                        <m:r>
                          <m:rPr>
                            <m:nor/>
                          </m:rPr>
                          <a:rPr lang="en-SG"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149527"/>
                  <a:ext cx="2468235" cy="711533"/>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D</a:t>
              </a:r>
              <a:endParaRPr kumimoji="0" lang="en-US" sz="6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620483" y="5223910"/>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A</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467665"/>
            <a:ext cx="23943880" cy="2524605"/>
            <a:chOff x="923003" y="3794414"/>
            <a:chExt cx="23943880" cy="2524604"/>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794414"/>
              <a:ext cx="23594672" cy="2524604"/>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8"/>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CÂU</a:t>
                  </a:r>
                  <a:r>
                    <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 17.</a:t>
                  </a: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145F82"/>
                  </a:solidFill>
                  <a:effectLst/>
                  <a:uLnTx/>
                  <a:uFillTx/>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678182" y="6464849"/>
                <a:ext cx="13228818" cy="2127057"/>
              </a:xfrm>
              <a:prstGeom prst="rect">
                <a:avLst/>
              </a:prstGeom>
              <a:noFill/>
            </p:spPr>
            <p:txBody>
              <a:bodyPr wrap="square">
                <a:spAutoFit/>
              </a:bodyPr>
              <a:lstStyle/>
              <a:p>
                <a:pPr lvl="0">
                  <a:lnSpc>
                    <a:spcPct val="115000"/>
                  </a:lnSpc>
                  <a:spcBef>
                    <a:spcPts val="200"/>
                  </a:spcBef>
                  <a:spcAft>
                    <a:spcPts val="800"/>
                  </a:spcAft>
                  <a:defRPr/>
                </a:pPr>
                <a:r>
                  <a:rPr lang="fr-FR" sz="4800" b="1" dirty="0">
                    <a:latin typeface="Tahoma" panose="020B0604030504040204" pitchFamily="34" charset="0"/>
                    <a:ea typeface="Tahoma" panose="020B0604030504040204" pitchFamily="34" charset="0"/>
                    <a:cs typeface="Tahoma" panose="020B0604030504040204" pitchFamily="34" charset="0"/>
                  </a:rPr>
                  <a:t>Gọi</a:t>
                </a:r>
                <a14:m>
                  <m:oMath xmlns:m="http://schemas.openxmlformats.org/officeDocument/2006/math">
                    <m:r>
                      <a:rPr lang="en-US" sz="4800" b="1" i="0" smtClean="0">
                        <a:latin typeface="Cambria Math" panose="02040503050406030204" pitchFamily="18" charset="0"/>
                      </a:rPr>
                      <m:t> </m:t>
                    </m:r>
                    <m:r>
                      <a:rPr lang="en-US" sz="4800" b="1" i="1">
                        <a:latin typeface="Cambria Math" panose="02040503050406030204" pitchFamily="18" charset="0"/>
                      </a:rPr>
                      <m:t>𝑮</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trọng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tâm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tam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r>
                      <a:rPr lang="en-US" sz="4800" b="1" i="1">
                        <a:latin typeface="Cambria Math" panose="02040503050406030204" pitchFamily="18" charset="0"/>
                      </a:rPr>
                      <m:t>⇔</m:t>
                    </m:r>
                    <m:r>
                      <a:rPr lang="en-US" sz="4800" b="1" i="1">
                        <a:latin typeface="Cambria Math" panose="02040503050406030204" pitchFamily="18" charset="0"/>
                      </a:rPr>
                      <m:t>𝑮</m:t>
                    </m:r>
                    <m:d>
                      <m:dPr>
                        <m:ctrlPr>
                          <a:rPr lang="en-US" sz="4800" b="1" i="1">
                            <a:latin typeface="Cambria Math" panose="02040503050406030204" pitchFamily="18" charset="0"/>
                          </a:rPr>
                        </m:ctrlPr>
                      </m:dPr>
                      <m:e>
                        <m:f>
                          <m:fPr>
                            <m:ctrlPr>
                              <a:rPr lang="en-US" sz="4800" b="1" i="1">
                                <a:latin typeface="Cambria Math" panose="02040503050406030204" pitchFamily="18" charset="0"/>
                              </a:rPr>
                            </m:ctrlPr>
                          </m:fPr>
                          <m:num>
                            <m:r>
                              <a:rPr lang="en-US" sz="4800" b="1" i="1">
                                <a:latin typeface="Cambria Math" panose="02040503050406030204" pitchFamily="18" charset="0"/>
                              </a:rPr>
                              <m:t>𝟏</m:t>
                            </m:r>
                          </m:num>
                          <m:den>
                            <m:r>
                              <a:rPr lang="en-US" sz="4800" b="1" i="1">
                                <a:latin typeface="Cambria Math" panose="02040503050406030204" pitchFamily="18" charset="0"/>
                              </a:rPr>
                              <m:t>𝟑</m:t>
                            </m:r>
                          </m:den>
                        </m:f>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𝟏</m:t>
                            </m:r>
                          </m:num>
                          <m:den>
                            <m:r>
                              <a:rPr lang="en-US" sz="4800" b="1" i="1">
                                <a:latin typeface="Cambria Math" panose="02040503050406030204" pitchFamily="18" charset="0"/>
                              </a:rPr>
                              <m:t>𝟑</m:t>
                            </m:r>
                          </m:den>
                        </m:f>
                      </m:e>
                    </m:d>
                  </m:oMath>
                </a14:m>
                <a:r>
                  <a:rPr lang="fr-FR" sz="4800" b="1" dirty="0">
                    <a:latin typeface="Tahoma" panose="020B0604030504040204" pitchFamily="34" charset="0"/>
                    <a:ea typeface="Tahoma" panose="020B0604030504040204" pitchFamily="34" charset="0"/>
                    <a:cs typeface="Tahoma" panose="020B0604030504040204" pitchFamily="34" charset="0"/>
                  </a:rPr>
                  <a:t>. .</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678182" y="6464849"/>
                <a:ext cx="13228818" cy="2127057"/>
              </a:xfrm>
              <a:prstGeom prst="rect">
                <a:avLst/>
              </a:prstGeom>
              <a:blipFill>
                <a:blip r:embed="rId8"/>
                <a:stretch>
                  <a:fillRect l="-2073" r="-1013"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2112139" y="2608484"/>
                <a:ext cx="21717000" cy="2462021"/>
              </a:xfrm>
              <a:prstGeom prst="rect">
                <a:avLst/>
              </a:prstGeom>
              <a:noFill/>
            </p:spPr>
            <p:txBody>
              <a:bodyPr wrap="square">
                <a:spAutoFit/>
              </a:bodyPr>
              <a:lstStyle/>
              <a:p>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Trong</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mặt</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phẳng</a:t>
                </a:r>
                <a14:m>
                  <m:oMath xmlns:m="http://schemas.openxmlformats.org/officeDocument/2006/math">
                    <m:r>
                      <a:rPr lang="en-US" sz="4800" b="1" i="1">
                        <a:latin typeface="Cambria Math" panose="02040503050406030204" pitchFamily="18" charset="0"/>
                      </a:rPr>
                      <m:t>𝑶𝒙𝒚</m:t>
                    </m:r>
                  </m:oMath>
                </a14:m>
                <a:r>
                  <a:rPr lang="en-SG" sz="4800" b="1" dirty="0">
                    <a:latin typeface="Tahoma" panose="020B0604030504040204" pitchFamily="34" charset="0"/>
                    <a:ea typeface="Tahoma" panose="020B0604030504040204" pitchFamily="34" charset="0"/>
                    <a:cs typeface="Tahoma" panose="020B0604030504040204" pitchFamily="34" charset="0"/>
                  </a:rPr>
                  <a:t>, cho tam </a:t>
                </a:r>
                <a:r>
                  <a:rPr lang="en-SG" sz="4800" b="1" dirty="0" err="1">
                    <a:latin typeface="Tahoma" panose="020B0604030504040204" pitchFamily="34" charset="0"/>
                    <a:ea typeface="Tahoma" panose="020B0604030504040204" pitchFamily="34" charset="0"/>
                    <a:cs typeface="Tahoma" panose="020B0604030504040204" pitchFamily="34" charset="0"/>
                  </a:rPr>
                  <a:t>giác</a:t>
                </a:r>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có</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đỉnh</a:t>
                </a:r>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𝟑</m:t>
                        </m:r>
                      </m:e>
                    </m:d>
                  </m:oMath>
                </a14:m>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𝑪</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𝟐</m:t>
                        </m:r>
                      </m:e>
                    </m:d>
                  </m:oMath>
                </a14:m>
                <a:r>
                  <a:rPr lang="en-SG" sz="4800" b="1" dirty="0">
                    <a:latin typeface="Tahoma" panose="020B0604030504040204" pitchFamily="34" charset="0"/>
                    <a:ea typeface="Tahoma" panose="020B0604030504040204" pitchFamily="34" charset="0"/>
                    <a:cs typeface="Tahoma" panose="020B0604030504040204" pitchFamily="34" charset="0"/>
                  </a:rPr>
                  <a:t>. Điểm </a:t>
                </a:r>
                <a14:m>
                  <m:oMath xmlns:m="http://schemas.openxmlformats.org/officeDocument/2006/math">
                    <m:r>
                      <a:rPr lang="en-US" sz="4800" b="1" i="1">
                        <a:latin typeface="Cambria Math" panose="02040503050406030204" pitchFamily="18" charset="0"/>
                      </a:rPr>
                      <m:t>𝑴</m:t>
                    </m:r>
                  </m:oMath>
                </a14:m>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thuộc</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trục</a:t>
                </a:r>
                <a:r>
                  <a:rPr lang="en-SG" sz="4800" b="1" dirty="0">
                    <a:latin typeface="Tahoma" panose="020B0604030504040204" pitchFamily="34" charset="0"/>
                    <a:ea typeface="Tahoma" panose="020B0604030504040204" pitchFamily="34" charset="0"/>
                    <a:cs typeface="Tahoma" panose="020B0604030504040204" pitchFamily="34" charset="0"/>
                  </a:rPr>
                  <a:t> tung </a:t>
                </a:r>
                <a:r>
                  <a:rPr lang="en-SG" sz="4800" b="1" dirty="0" err="1">
                    <a:latin typeface="Tahoma" panose="020B0604030504040204" pitchFamily="34" charset="0"/>
                    <a:ea typeface="Tahoma" panose="020B0604030504040204" pitchFamily="34" charset="0"/>
                    <a:cs typeface="Tahoma" panose="020B0604030504040204" pitchFamily="34" charset="0"/>
                  </a:rPr>
                  <a:t>sao</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cho</a:t>
                </a:r>
                <a:r>
                  <a:rPr lang="en-SG"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800" b="1" i="1">
                            <a:latin typeface="Cambria Math" panose="02040503050406030204" pitchFamily="18" charset="0"/>
                          </a:rPr>
                        </m:ctrlPr>
                      </m:dPr>
                      <m:e>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𝑴𝑨</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𝑴𝑩</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𝑴𝑪</m:t>
                            </m:r>
                          </m:e>
                        </m:acc>
                      </m:e>
                    </m:d>
                  </m:oMath>
                </a14:m>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nhỏ</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nhất</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có</a:t>
                </a:r>
                <a:r>
                  <a:rPr lang="en-SG" sz="4800" b="1" dirty="0">
                    <a:latin typeface="Tahoma" panose="020B0604030504040204" pitchFamily="34" charset="0"/>
                    <a:ea typeface="Tahoma" panose="020B0604030504040204" pitchFamily="34" charset="0"/>
                    <a:cs typeface="Tahoma" panose="020B0604030504040204" pitchFamily="34" charset="0"/>
                  </a:rPr>
                  <a:t> tung </a:t>
                </a:r>
                <a:r>
                  <a:rPr lang="en-SG" sz="4800" b="1" dirty="0" err="1">
                    <a:latin typeface="Tahoma" panose="020B0604030504040204" pitchFamily="34" charset="0"/>
                    <a:ea typeface="Tahoma" panose="020B0604030504040204" pitchFamily="34" charset="0"/>
                    <a:cs typeface="Tahoma" panose="020B0604030504040204" pitchFamily="34" charset="0"/>
                  </a:rPr>
                  <a:t>độ</a:t>
                </a:r>
                <a:r>
                  <a:rPr lang="en-SG" sz="4800" b="1" dirty="0">
                    <a:latin typeface="Tahoma" panose="020B0604030504040204" pitchFamily="34" charset="0"/>
                    <a:ea typeface="Tahoma" panose="020B0604030504040204" pitchFamily="34" charset="0"/>
                    <a:cs typeface="Tahoma" panose="020B0604030504040204" pitchFamily="34" charset="0"/>
                  </a:rPr>
                  <a:t> </a:t>
                </a:r>
                <a:r>
                  <a:rPr lang="en-SG" sz="4800" b="1" dirty="0" err="1">
                    <a:latin typeface="Tahoma" panose="020B0604030504040204" pitchFamily="34" charset="0"/>
                    <a:ea typeface="Tahoma" panose="020B0604030504040204" pitchFamily="34" charset="0"/>
                    <a:cs typeface="Tahoma" panose="020B0604030504040204" pitchFamily="34" charset="0"/>
                  </a:rPr>
                  <a:t>là</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2112139" y="2608484"/>
                <a:ext cx="21717000" cy="2462021"/>
              </a:xfrm>
              <a:prstGeom prst="rect">
                <a:avLst/>
              </a:prstGeom>
              <a:blipFill>
                <a:blip r:embed="rId9"/>
                <a:stretch>
                  <a:fillRect l="-1263" t="-5941" r="-2049" b="-12129"/>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3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620483" y="7910390"/>
                <a:ext cx="11622963" cy="984693"/>
              </a:xfrm>
              <a:prstGeom prst="rect">
                <a:avLst/>
              </a:prstGeom>
              <a:noFill/>
            </p:spPr>
            <p:txBody>
              <a:bodyPr wrap="square">
                <a:spAutoFit/>
              </a:bodyPr>
              <a:lstStyle/>
              <a:p>
                <a:pPr lvl="0"/>
                <a:r>
                  <a:rPr lang="fr-FR" sz="4800" b="1" dirty="0">
                    <a:latin typeface="Tahoma" panose="020B0604030504040204" pitchFamily="34" charset="0"/>
                    <a:ea typeface="Tahoma" panose="020B0604030504040204" pitchFamily="34" charset="0"/>
                    <a:cs typeface="Tahoma" panose="020B0604030504040204" pitchFamily="34" charset="0"/>
                  </a:rPr>
                  <a:t>Ta </a:t>
                </a:r>
                <a:r>
                  <a:rPr lang="fr-FR" sz="4800" b="1" dirty="0" err="1">
                    <a:latin typeface="Tahoma" panose="020B0604030504040204" pitchFamily="34" charset="0"/>
                    <a:ea typeface="Tahoma" panose="020B0604030504040204" pitchFamily="34" charset="0"/>
                    <a:cs typeface="Tahoma" panose="020B0604030504040204" pitchFamily="34" charset="0"/>
                  </a:rPr>
                  <a:t>có</a:t>
                </a:r>
                <a14:m>
                  <m:oMath xmlns:m="http://schemas.openxmlformats.org/officeDocument/2006/math">
                    <m:d>
                      <m:dPr>
                        <m:begChr m:val="|"/>
                        <m:endChr m:val="|"/>
                        <m:ctrlPr>
                          <a:rPr lang="en-US" sz="4800" b="1" i="1">
                            <a:latin typeface="Cambria Math" panose="02040503050406030204" pitchFamily="18" charset="0"/>
                          </a:rPr>
                        </m:ctrlPr>
                      </m:dPr>
                      <m:e>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𝑴𝑨</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𝑴𝑩</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𝑴𝑪</m:t>
                            </m:r>
                          </m:e>
                        </m:acc>
                      </m:e>
                    </m:d>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r>
                          <a:rPr lang="en-US" sz="4800" b="1" i="1">
                            <a:latin typeface="Cambria Math" panose="02040503050406030204" pitchFamily="18" charset="0"/>
                          </a:rPr>
                          <m:t>𝟑</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𝑴𝑮</m:t>
                            </m:r>
                          </m:e>
                        </m:acc>
                      </m:e>
                    </m:d>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𝑴𝑮</m:t>
                    </m:r>
                  </m:oMath>
                </a14:m>
                <a:r>
                  <a:rPr lang="fr-FR" sz="4800" b="1" dirty="0">
                    <a:latin typeface="Tahoma" panose="020B0604030504040204" pitchFamily="34" charset="0"/>
                    <a:ea typeface="Tahoma" panose="020B0604030504040204" pitchFamily="34" charset="0"/>
                    <a:cs typeface="Tahoma" panose="020B0604030504040204" pitchFamily="34" charset="0"/>
                  </a:rPr>
                  <a:t>.</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620483" y="7910390"/>
                <a:ext cx="11622963" cy="984693"/>
              </a:xfrm>
              <a:prstGeom prst="rect">
                <a:avLst/>
              </a:prstGeom>
              <a:blipFill>
                <a:blip r:embed="rId10"/>
                <a:stretch>
                  <a:fillRect l="-2413" t="-5590" r="-210" b="-254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0944151-E1E2-4A21-AF5F-5DDFEBFB8529}"/>
                  </a:ext>
                </a:extLst>
              </p:cNvPr>
              <p:cNvSpPr txBox="1"/>
              <p:nvPr/>
            </p:nvSpPr>
            <p:spPr>
              <a:xfrm>
                <a:off x="456331" y="9037987"/>
                <a:ext cx="15220530" cy="9846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fr-FR" sz="4800" b="1">
                          <a:latin typeface="Tahoma" panose="020B0604030504040204" pitchFamily="34" charset="0"/>
                          <a:ea typeface="Tahoma" panose="020B0604030504040204" pitchFamily="34" charset="0"/>
                          <a:cs typeface="Tahoma" panose="020B0604030504040204" pitchFamily="34" charset="0"/>
                        </a:rPr>
                        <m:t>Do</m:t>
                      </m:r>
                      <m:r>
                        <m:rPr>
                          <m:nor/>
                        </m:rPr>
                        <a:rPr lang="fr-FR" sz="4800" b="1">
                          <a:latin typeface="Tahoma" panose="020B0604030504040204" pitchFamily="34" charset="0"/>
                          <a:ea typeface="Tahoma" panose="020B0604030504040204" pitchFamily="34" charset="0"/>
                          <a:cs typeface="Tahoma" panose="020B0604030504040204" pitchFamily="34" charset="0"/>
                        </a:rPr>
                        <m:t> đó </m:t>
                      </m:r>
                      <m:d>
                        <m:dPr>
                          <m:begChr m:val="|"/>
                          <m:endChr m:val="|"/>
                          <m:ctrlPr>
                            <a:rPr lang="en-US" sz="4800" b="1" i="1">
                              <a:latin typeface="Cambria Math" panose="02040503050406030204" pitchFamily="18" charset="0"/>
                            </a:rPr>
                          </m:ctrlPr>
                        </m:dPr>
                        <m:e>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𝑴𝑨</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𝑴𝑩</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𝑴𝑪</m:t>
                              </m:r>
                            </m:e>
                          </m:acc>
                        </m:e>
                      </m:d>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nh</m:t>
                      </m:r>
                      <m:r>
                        <m:rPr>
                          <m:nor/>
                        </m:rPr>
                        <a:rPr lang="fr-FR" sz="4800" b="1">
                          <a:latin typeface="Tahoma" panose="020B0604030504040204" pitchFamily="34" charset="0"/>
                          <a:ea typeface="Tahoma" panose="020B0604030504040204" pitchFamily="34" charset="0"/>
                          <a:cs typeface="Tahoma" panose="020B0604030504040204" pitchFamily="34" charset="0"/>
                        </a:rPr>
                        <m:t>ỏ </m:t>
                      </m:r>
                      <m:r>
                        <m:rPr>
                          <m:nor/>
                        </m:rPr>
                        <a:rPr lang="fr-FR" sz="4800" b="1">
                          <a:latin typeface="Tahoma" panose="020B0604030504040204" pitchFamily="34" charset="0"/>
                          <a:ea typeface="Tahoma" panose="020B0604030504040204" pitchFamily="34" charset="0"/>
                          <a:cs typeface="Tahoma" panose="020B0604030504040204" pitchFamily="34" charset="0"/>
                        </a:rPr>
                        <m:t>nh</m:t>
                      </m:r>
                      <m:r>
                        <m:rPr>
                          <m:nor/>
                        </m:rPr>
                        <a:rPr lang="fr-FR" sz="4800" b="1">
                          <a:latin typeface="Tahoma" panose="020B0604030504040204" pitchFamily="34" charset="0"/>
                          <a:ea typeface="Tahoma" panose="020B0604030504040204" pitchFamily="34" charset="0"/>
                          <a:cs typeface="Tahoma" panose="020B0604030504040204" pitchFamily="34" charset="0"/>
                        </a:rPr>
                        <m:t>ấ</m:t>
                      </m:r>
                      <m:r>
                        <m:rPr>
                          <m:nor/>
                        </m:rPr>
                        <a:rPr lang="fr-FR" sz="4800" b="1">
                          <a:latin typeface="Tahoma" panose="020B0604030504040204" pitchFamily="34" charset="0"/>
                          <a:ea typeface="Tahoma" panose="020B0604030504040204" pitchFamily="34" charset="0"/>
                          <a:cs typeface="Tahoma" panose="020B0604030504040204" pitchFamily="34" charset="0"/>
                        </a:rPr>
                        <m:t>t</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khi</m:t>
                      </m:r>
                      <m:r>
                        <m:rPr>
                          <m:nor/>
                        </m:rPr>
                        <a:rPr lang="fr-FR"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𝑴𝑮</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nh</m:t>
                      </m:r>
                      <m:r>
                        <m:rPr>
                          <m:nor/>
                        </m:rPr>
                        <a:rPr lang="fr-FR" sz="4800" b="1">
                          <a:latin typeface="Tahoma" panose="020B0604030504040204" pitchFamily="34" charset="0"/>
                          <a:ea typeface="Tahoma" panose="020B0604030504040204" pitchFamily="34" charset="0"/>
                          <a:cs typeface="Tahoma" panose="020B0604030504040204" pitchFamily="34" charset="0"/>
                        </a:rPr>
                        <m:t>ỏ </m:t>
                      </m:r>
                      <m:r>
                        <m:rPr>
                          <m:nor/>
                        </m:rPr>
                        <a:rPr lang="fr-FR" sz="4800" b="1">
                          <a:latin typeface="Tahoma" panose="020B0604030504040204" pitchFamily="34" charset="0"/>
                          <a:ea typeface="Tahoma" panose="020B0604030504040204" pitchFamily="34" charset="0"/>
                          <a:cs typeface="Tahoma" panose="020B0604030504040204" pitchFamily="34" charset="0"/>
                        </a:rPr>
                        <m:t>nh</m:t>
                      </m:r>
                      <m:r>
                        <m:rPr>
                          <m:nor/>
                        </m:rPr>
                        <a:rPr lang="fr-FR" sz="4800" b="1">
                          <a:latin typeface="Tahoma" panose="020B0604030504040204" pitchFamily="34" charset="0"/>
                          <a:ea typeface="Tahoma" panose="020B0604030504040204" pitchFamily="34" charset="0"/>
                          <a:cs typeface="Tahoma" panose="020B0604030504040204" pitchFamily="34" charset="0"/>
                        </a:rPr>
                        <m:t>ấ</m:t>
                      </m:r>
                      <m:r>
                        <m:rPr>
                          <m:nor/>
                        </m:rPr>
                        <a:rPr lang="fr-FR" sz="4800" b="1">
                          <a:latin typeface="Tahoma" panose="020B0604030504040204" pitchFamily="34" charset="0"/>
                          <a:ea typeface="Tahoma" panose="020B0604030504040204" pitchFamily="34" charset="0"/>
                          <a:cs typeface="Tahoma" panose="020B0604030504040204" pitchFamily="34" charset="0"/>
                        </a:rPr>
                        <m:t>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7" name="TextBox 36">
                <a:extLst>
                  <a:ext uri="{FF2B5EF4-FFF2-40B4-BE49-F238E27FC236}">
                    <a16:creationId xmlns:a16="http://schemas.microsoft.com/office/drawing/2014/main" id="{10944151-E1E2-4A21-AF5F-5DDFEBFB8529}"/>
                  </a:ext>
                </a:extLst>
              </p:cNvPr>
              <p:cNvSpPr txBox="1">
                <a:spLocks noRot="1" noChangeAspect="1" noMove="1" noResize="1" noEditPoints="1" noAdjustHandles="1" noChangeArrowheads="1" noChangeShapeType="1" noTextEdit="1"/>
              </p:cNvSpPr>
              <p:nvPr/>
            </p:nvSpPr>
            <p:spPr>
              <a:xfrm>
                <a:off x="456331" y="9037987"/>
                <a:ext cx="15220530" cy="98469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56C8A10-1E4B-4374-B184-D6911EBD27C5}"/>
                  </a:ext>
                </a:extLst>
              </p:cNvPr>
              <p:cNvSpPr txBox="1"/>
              <p:nvPr/>
            </p:nvSpPr>
            <p:spPr>
              <a:xfrm>
                <a:off x="336070" y="9984810"/>
                <a:ext cx="15056330" cy="830997"/>
              </a:xfrm>
              <a:prstGeom prst="rect">
                <a:avLst/>
              </a:prstGeom>
              <a:noFill/>
            </p:spPr>
            <p:txBody>
              <a:bodyPr wrap="square">
                <a:spAutoFit/>
              </a:bodyPr>
              <a:lstStyle/>
              <a:p>
                <a14:m>
                  <m:oMath xmlns:m="http://schemas.openxmlformats.org/officeDocument/2006/math">
                    <m:r>
                      <a:rPr lang="en-US" sz="4800" b="1" i="1">
                        <a:latin typeface="Cambria Math" panose="02040503050406030204" pitchFamily="18" charset="0"/>
                      </a:rPr>
                      <m:t>⇔</m:t>
                    </m:r>
                    <m:r>
                      <a:rPr lang="en-US" sz="4800" b="1" i="1">
                        <a:latin typeface="Cambria Math" panose="02040503050406030204" pitchFamily="18" charset="0"/>
                      </a:rPr>
                      <m:t>𝑴</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l</m:t>
                    </m:r>
                    <m:r>
                      <m:rPr>
                        <m:nor/>
                      </m:rPr>
                      <a:rPr lang="fr-FR" sz="4800" b="1">
                        <a:latin typeface="Tahoma" panose="020B0604030504040204" pitchFamily="34" charset="0"/>
                        <a:ea typeface="Tahoma" panose="020B0604030504040204" pitchFamily="34" charset="0"/>
                        <a:cs typeface="Tahoma" panose="020B0604030504040204" pitchFamily="34" charset="0"/>
                      </a:rPr>
                      <m:t>à </m:t>
                    </m:r>
                    <m:r>
                      <m:rPr>
                        <m:nor/>
                      </m:rPr>
                      <a:rPr lang="fr-FR" sz="4800" b="1">
                        <a:latin typeface="Tahoma" panose="020B0604030504040204" pitchFamily="34" charset="0"/>
                        <a:ea typeface="Tahoma" panose="020B0604030504040204" pitchFamily="34" charset="0"/>
                        <a:cs typeface="Tahoma" panose="020B0604030504040204" pitchFamily="34" charset="0"/>
                      </a:rPr>
                      <m:t>h</m:t>
                    </m:r>
                    <m:r>
                      <m:rPr>
                        <m:nor/>
                      </m:rPr>
                      <a:rPr lang="fr-FR" sz="4800" b="1">
                        <a:latin typeface="Tahoma" panose="020B0604030504040204" pitchFamily="34" charset="0"/>
                        <a:ea typeface="Tahoma" panose="020B0604030504040204" pitchFamily="34" charset="0"/>
                        <a:cs typeface="Tahoma" panose="020B0604030504040204" pitchFamily="34" charset="0"/>
                      </a:rPr>
                      <m:t>ì</m:t>
                    </m:r>
                    <m:r>
                      <m:rPr>
                        <m:nor/>
                      </m:rPr>
                      <a:rPr lang="fr-FR" sz="4800" b="1">
                        <a:latin typeface="Tahoma" panose="020B0604030504040204" pitchFamily="34" charset="0"/>
                        <a:ea typeface="Tahoma" panose="020B0604030504040204" pitchFamily="34" charset="0"/>
                        <a:cs typeface="Tahoma" panose="020B0604030504040204" pitchFamily="34" charset="0"/>
                      </a:rPr>
                      <m:t>nh</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chi</m:t>
                    </m:r>
                    <m:r>
                      <m:rPr>
                        <m:nor/>
                      </m:rPr>
                      <a:rPr lang="fr-FR" sz="4800" b="1">
                        <a:latin typeface="Tahoma" panose="020B0604030504040204" pitchFamily="34" charset="0"/>
                        <a:ea typeface="Tahoma" panose="020B0604030504040204" pitchFamily="34" charset="0"/>
                        <a:cs typeface="Tahoma" panose="020B0604030504040204" pitchFamily="34" charset="0"/>
                      </a:rPr>
                      <m:t>ế</m:t>
                    </m:r>
                    <m:r>
                      <m:rPr>
                        <m:nor/>
                      </m:rPr>
                      <a:rPr lang="fr-FR" sz="4800" b="1">
                        <a:latin typeface="Tahoma" panose="020B0604030504040204" pitchFamily="34" charset="0"/>
                        <a:ea typeface="Tahoma" panose="020B0604030504040204" pitchFamily="34" charset="0"/>
                        <a:cs typeface="Tahoma" panose="020B0604030504040204" pitchFamily="34" charset="0"/>
                      </a:rPr>
                      <m:t>u</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vu</m:t>
                    </m:r>
                    <m:r>
                      <m:rPr>
                        <m:nor/>
                      </m:rPr>
                      <a:rPr lang="fr-FR" sz="4800" b="1">
                        <a:latin typeface="Tahoma" panose="020B0604030504040204" pitchFamily="34" charset="0"/>
                        <a:ea typeface="Tahoma" panose="020B0604030504040204" pitchFamily="34" charset="0"/>
                        <a:cs typeface="Tahoma" panose="020B0604030504040204" pitchFamily="34" charset="0"/>
                      </a:rPr>
                      <m:t>ô</m:t>
                    </m:r>
                    <m:r>
                      <m:rPr>
                        <m:nor/>
                      </m:rPr>
                      <a:rPr lang="fr-FR" sz="4800" b="1">
                        <a:latin typeface="Tahoma" panose="020B0604030504040204" pitchFamily="34" charset="0"/>
                        <a:ea typeface="Tahoma" panose="020B0604030504040204" pitchFamily="34" charset="0"/>
                        <a:cs typeface="Tahoma" panose="020B0604030504040204" pitchFamily="34" charset="0"/>
                      </a:rPr>
                      <m:t>ng</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g</m:t>
                    </m:r>
                    <m:r>
                      <m:rPr>
                        <m:nor/>
                      </m:rPr>
                      <a:rPr lang="fr-FR" sz="4800" b="1">
                        <a:latin typeface="Tahoma" panose="020B0604030504040204" pitchFamily="34" charset="0"/>
                        <a:ea typeface="Tahoma" panose="020B0604030504040204" pitchFamily="34" charset="0"/>
                        <a:cs typeface="Tahoma" panose="020B0604030504040204" pitchFamily="34" charset="0"/>
                      </a:rPr>
                      <m:t>ó</m:t>
                    </m:r>
                    <m:r>
                      <m:rPr>
                        <m:nor/>
                      </m:rPr>
                      <a:rPr lang="fr-FR" sz="4800" b="1">
                        <a:latin typeface="Tahoma" panose="020B0604030504040204" pitchFamily="34" charset="0"/>
                        <a:ea typeface="Tahoma" panose="020B0604030504040204" pitchFamily="34" charset="0"/>
                        <a:cs typeface="Tahoma" panose="020B0604030504040204" pitchFamily="34" charset="0"/>
                      </a:rPr>
                      <m:t>c</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c</m:t>
                    </m:r>
                    <m:r>
                      <m:rPr>
                        <m:nor/>
                      </m:rPr>
                      <a:rPr lang="fr-FR" sz="4800" b="1">
                        <a:latin typeface="Tahoma" panose="020B0604030504040204" pitchFamily="34" charset="0"/>
                        <a:ea typeface="Tahoma" panose="020B0604030504040204" pitchFamily="34" charset="0"/>
                        <a:cs typeface="Tahoma" panose="020B0604030504040204" pitchFamily="34" charset="0"/>
                      </a:rPr>
                      <m:t>ủ</m:t>
                    </m:r>
                    <m:r>
                      <m:rPr>
                        <m:nor/>
                      </m:rPr>
                      <a:rPr lang="fr-FR" sz="4800" b="1">
                        <a:latin typeface="Tahoma" panose="020B0604030504040204" pitchFamily="34" charset="0"/>
                        <a:ea typeface="Tahoma" panose="020B0604030504040204" pitchFamily="34" charset="0"/>
                        <a:cs typeface="Tahoma" panose="020B0604030504040204" pitchFamily="34" charset="0"/>
                      </a:rPr>
                      <m:t>a</m:t>
                    </m:r>
                    <m:r>
                      <m:rPr>
                        <m:nor/>
                      </m:rPr>
                      <a:rPr lang="fr-FR"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𝑮</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l</m:t>
                    </m:r>
                    <m:r>
                      <m:rPr>
                        <m:nor/>
                      </m:rPr>
                      <a:rPr lang="fr-FR" sz="4800" b="1">
                        <a:latin typeface="Tahoma" panose="020B0604030504040204" pitchFamily="34" charset="0"/>
                        <a:ea typeface="Tahoma" panose="020B0604030504040204" pitchFamily="34" charset="0"/>
                        <a:cs typeface="Tahoma" panose="020B0604030504040204" pitchFamily="34" charset="0"/>
                      </a:rPr>
                      <m:t>ê</m:t>
                    </m:r>
                    <m:r>
                      <m:rPr>
                        <m:nor/>
                      </m:rPr>
                      <a:rPr lang="fr-FR" sz="4800" b="1">
                        <a:latin typeface="Tahoma" panose="020B0604030504040204" pitchFamily="34" charset="0"/>
                        <a:ea typeface="Tahoma" panose="020B0604030504040204" pitchFamily="34" charset="0"/>
                        <a:cs typeface="Tahoma" panose="020B0604030504040204" pitchFamily="34" charset="0"/>
                      </a:rPr>
                      <m:t>n</m:t>
                    </m:r>
                    <m:r>
                      <m:rPr>
                        <m:nor/>
                      </m:rPr>
                      <a:rPr lang="fr-FR" sz="4800" b="1">
                        <a:latin typeface="Tahoma" panose="020B0604030504040204" pitchFamily="34" charset="0"/>
                        <a:ea typeface="Tahoma" panose="020B0604030504040204" pitchFamily="34" charset="0"/>
                        <a:cs typeface="Tahoma" panose="020B0604030504040204" pitchFamily="34" charset="0"/>
                      </a:rPr>
                      <m:t> </m:t>
                    </m:r>
                    <m:r>
                      <m:rPr>
                        <m:nor/>
                      </m:rPr>
                      <a:rPr lang="fr-FR" sz="4800" b="1">
                        <a:latin typeface="Tahoma" panose="020B0604030504040204" pitchFamily="34" charset="0"/>
                        <a:ea typeface="Tahoma" panose="020B0604030504040204" pitchFamily="34" charset="0"/>
                        <a:cs typeface="Tahoma" panose="020B0604030504040204" pitchFamily="34" charset="0"/>
                      </a:rPr>
                      <m:t>tr</m:t>
                    </m:r>
                    <m:r>
                      <m:rPr>
                        <m:nor/>
                      </m:rPr>
                      <a:rPr lang="fr-FR" sz="4800" b="1">
                        <a:latin typeface="Tahoma" panose="020B0604030504040204" pitchFamily="34" charset="0"/>
                        <a:ea typeface="Tahoma" panose="020B0604030504040204" pitchFamily="34" charset="0"/>
                        <a:cs typeface="Tahoma" panose="020B0604030504040204" pitchFamily="34" charset="0"/>
                      </a:rPr>
                      <m:t>ụ</m:t>
                    </m:r>
                    <m:r>
                      <m:rPr>
                        <m:nor/>
                      </m:rPr>
                      <a:rPr lang="fr-FR" sz="4800" b="1">
                        <a:latin typeface="Tahoma" panose="020B0604030504040204" pitchFamily="34" charset="0"/>
                        <a:ea typeface="Tahoma" panose="020B0604030504040204" pitchFamily="34" charset="0"/>
                        <a:cs typeface="Tahoma" panose="020B0604030504040204" pitchFamily="34" charset="0"/>
                      </a:rPr>
                      <m:t>c</m:t>
                    </m:r>
                  </m:oMath>
                </a14:m>
                <a:r>
                  <a:rPr lang="en-US" sz="4800" b="1" dirty="0">
                    <a:latin typeface="Tahoma" panose="020B0604030504040204" pitchFamily="34" charset="0"/>
                    <a:ea typeface="Tahoma" panose="020B0604030504040204" pitchFamily="34" charset="0"/>
                    <a:cs typeface="Tahoma" panose="020B0604030504040204" pitchFamily="34" charset="0"/>
                  </a:rPr>
                  <a:t> tung</a:t>
                </a:r>
              </a:p>
            </p:txBody>
          </p:sp>
        </mc:Choice>
        <mc:Fallback xmlns="">
          <p:sp>
            <p:nvSpPr>
              <p:cNvPr id="43" name="TextBox 42">
                <a:extLst>
                  <a:ext uri="{FF2B5EF4-FFF2-40B4-BE49-F238E27FC236}">
                    <a16:creationId xmlns:a16="http://schemas.microsoft.com/office/drawing/2014/main" id="{656C8A10-1E4B-4374-B184-D6911EBD27C5}"/>
                  </a:ext>
                </a:extLst>
              </p:cNvPr>
              <p:cNvSpPr txBox="1">
                <a:spLocks noRot="1" noChangeAspect="1" noMove="1" noResize="1" noEditPoints="1" noAdjustHandles="1" noChangeArrowheads="1" noChangeShapeType="1" noTextEdit="1"/>
              </p:cNvSpPr>
              <p:nvPr/>
            </p:nvSpPr>
            <p:spPr>
              <a:xfrm>
                <a:off x="336070" y="9984810"/>
                <a:ext cx="15056330" cy="830997"/>
              </a:xfrm>
              <a:prstGeom prst="rect">
                <a:avLst/>
              </a:prstGeom>
              <a:blipFill>
                <a:blip r:embed="rId12"/>
                <a:stretch>
                  <a:fillRect t="-17647" r="-1093"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5CAC79B-28D7-4AD0-950A-67A88EBB345A}"/>
                  </a:ext>
                </a:extLst>
              </p:cNvPr>
              <p:cNvSpPr txBox="1"/>
              <p:nvPr/>
            </p:nvSpPr>
            <p:spPr>
              <a:xfrm>
                <a:off x="15163800" y="9561926"/>
                <a:ext cx="3181660" cy="17520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800" b="1" i="1">
                          <a:latin typeface="Cambria Math" panose="02040503050406030204" pitchFamily="18" charset="0"/>
                        </a:rPr>
                        <m:t>⇒</m:t>
                      </m:r>
                      <m:r>
                        <a:rPr lang="en-US" sz="4800" b="1" i="1">
                          <a:latin typeface="Cambria Math" panose="02040503050406030204" pitchFamily="18" charset="0"/>
                        </a:rPr>
                        <m:t>𝑴</m:t>
                      </m:r>
                      <m:d>
                        <m:dPr>
                          <m:ctrlPr>
                            <a:rPr lang="en-US" sz="4800" b="1" i="1">
                              <a:latin typeface="Cambria Math" panose="02040503050406030204" pitchFamily="18" charset="0"/>
                            </a:rPr>
                          </m:ctrlPr>
                        </m:dPr>
                        <m:e>
                          <m:r>
                            <a:rPr lang="en-US" sz="4800" b="1" i="1">
                              <a:latin typeface="Cambria Math" panose="02040503050406030204" pitchFamily="18" charset="0"/>
                            </a:rPr>
                            <m:t>𝟎</m:t>
                          </m:r>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𝟏</m:t>
                              </m:r>
                            </m:num>
                            <m:den>
                              <m:r>
                                <a:rPr lang="en-US" sz="4800" b="1" i="1">
                                  <a:latin typeface="Cambria Math" panose="02040503050406030204" pitchFamily="18" charset="0"/>
                                </a:rPr>
                                <m:t>𝟑</m:t>
                              </m:r>
                            </m:den>
                          </m:f>
                        </m:e>
                      </m:d>
                      <m:r>
                        <m:rPr>
                          <m:nor/>
                        </m:rPr>
                        <a:rPr lang="fr-FR" sz="4800" b="1">
                          <a:latin typeface="Tahoma" panose="020B0604030504040204" pitchFamily="34" charset="0"/>
                          <a:ea typeface="Tahoma" panose="020B0604030504040204" pitchFamily="34" charset="0"/>
                          <a:cs typeface="Tahoma" panose="020B0604030504040204" pitchFamily="34"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0" name="TextBox 39">
                <a:extLst>
                  <a:ext uri="{FF2B5EF4-FFF2-40B4-BE49-F238E27FC236}">
                    <a16:creationId xmlns:a16="http://schemas.microsoft.com/office/drawing/2014/main" id="{05CAC79B-28D7-4AD0-950A-67A88EBB345A}"/>
                  </a:ext>
                </a:extLst>
              </p:cNvPr>
              <p:cNvSpPr txBox="1">
                <a:spLocks noRot="1" noChangeAspect="1" noMove="1" noResize="1" noEditPoints="1" noAdjustHandles="1" noChangeArrowheads="1" noChangeShapeType="1" noTextEdit="1"/>
              </p:cNvSpPr>
              <p:nvPr/>
            </p:nvSpPr>
            <p:spPr>
              <a:xfrm>
                <a:off x="15163800" y="9561926"/>
                <a:ext cx="3181660" cy="1752018"/>
              </a:xfrm>
              <a:prstGeom prst="rect">
                <a:avLst/>
              </a:prstGeom>
              <a:blipFill>
                <a:blip r:embed="rId13"/>
                <a:stretch>
                  <a:fillRect r="-6526"/>
                </a:stretch>
              </a:blipFill>
            </p:spPr>
            <p:txBody>
              <a:bodyPr/>
              <a:lstStyle/>
              <a:p>
                <a:r>
                  <a:rPr lang="en-US">
                    <a:noFill/>
                  </a:rPr>
                  <a:t> </a:t>
                </a:r>
              </a:p>
            </p:txBody>
          </p:sp>
        </mc:Fallback>
      </mc:AlternateContent>
      <p:sp>
        <p:nvSpPr>
          <p:cNvPr id="45" name="Rounded Rectangle 4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49" name="TextBox 4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445941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left)">
                                      <p:cBhvr>
                                        <p:cTn id="32" dur="500"/>
                                        <p:tgtEl>
                                          <p:spTgt spid="4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wipe(left)">
                                      <p:cBhvr>
                                        <p:cTn id="37" dur="5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7" grpId="0"/>
      <p:bldP spid="43" grpId="0"/>
      <p:bldP spid="4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40527" y="5894386"/>
            <a:ext cx="23941001" cy="7574454"/>
            <a:chOff x="-27280" y="3685364"/>
            <a:chExt cx="23094619" cy="6850948"/>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3685364"/>
              <a:ext cx="22682027" cy="6850948"/>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27280" y="3685364"/>
              <a:ext cx="4068477" cy="1079473"/>
              <a:chOff x="334670" y="3952064"/>
              <a:chExt cx="4068477" cy="1079473"/>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774" y="2964756"/>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380491" y="4098668"/>
                <a:ext cx="2872839" cy="800219"/>
              </a:xfrm>
              <a:prstGeom prst="rect">
                <a:avLst/>
              </a:prstGeom>
              <a:grp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Bài giải</a:t>
                </a:r>
                <a:endPar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334670" y="3952064"/>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677696" y="4445027"/>
            <a:ext cx="23534554" cy="1423068"/>
            <a:chOff x="252118" y="2149527"/>
            <a:chExt cx="11767277" cy="711534"/>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187227"/>
                  <a:ext cx="2468235" cy="673833"/>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𝑰</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𝟐</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𝟒</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187227"/>
                  <a:ext cx="2468235" cy="673833"/>
                </a:xfrm>
                <a:prstGeom prst="rect">
                  <a:avLst/>
                </a:prstGeom>
                <a:blipFill>
                  <a:blip r:embed="rId3"/>
                  <a:stretch>
                    <a:fillRect/>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63891" y="2232302"/>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B</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187227"/>
                  <a:ext cx="2468235" cy="673833"/>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𝑰</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𝟐</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𝟒</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 .</m:t>
                        </m:r>
                      </m:oMath>
                    </m:oMathPara>
                  </a14:m>
                  <a:endParaRPr kumimoji="0" lang="en-US" sz="48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187227"/>
                  <a:ext cx="2468235" cy="673833"/>
                </a:xfrm>
                <a:prstGeom prst="rect">
                  <a:avLst/>
                </a:prstGeom>
                <a:blipFill>
                  <a:blip r:embed="rId4"/>
                  <a:stretch>
                    <a:fillRect/>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52118" y="2232302"/>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A</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149528"/>
                  <a:ext cx="2468235" cy="711533"/>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𝑰</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𝟐</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𝟒</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149528"/>
                  <a:ext cx="2468235" cy="711533"/>
                </a:xfrm>
                <a:prstGeom prst="rect">
                  <a:avLst/>
                </a:prstGeom>
                <a:blipFill>
                  <a:blip r:embed="rId5"/>
                  <a:stretch>
                    <a:fillRect/>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70327" y="2241110"/>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C</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149527"/>
                  <a:ext cx="2468235" cy="711533"/>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14:m>
                    <m:oMathPara xmlns:m="http://schemas.openxmlformats.org/officeDocument/2006/math">
                      <m:oMathParaPr>
                        <m:jc m:val="centerGroup"/>
                      </m:oMathParaPr>
                      <m:oMath xmlns:m="http://schemas.openxmlformats.org/officeDocument/2006/math">
                        <m:r>
                          <a:rPr lang="en-US" sz="4800" b="1" i="1">
                            <a:solidFill>
                              <a:schemeClr val="bg1"/>
                            </a:solidFill>
                            <a:latin typeface="Cambria Math" panose="02040503050406030204" pitchFamily="18" charset="0"/>
                          </a:rPr>
                          <m:t>𝑰</m:t>
                        </m:r>
                        <m:d>
                          <m:dPr>
                            <m:ctrlPr>
                              <a:rPr lang="en-US" sz="4800" b="1" i="1">
                                <a:solidFill>
                                  <a:schemeClr val="bg1"/>
                                </a:solidFill>
                                <a:latin typeface="Cambria Math" panose="02040503050406030204" pitchFamily="18" charset="0"/>
                              </a:rPr>
                            </m:ctrlPr>
                          </m:dPr>
                          <m:e>
                            <m:r>
                              <a:rPr lang="en-US" sz="4800" b="1" i="1">
                                <a:solidFill>
                                  <a:schemeClr val="bg1"/>
                                </a:solidFill>
                                <a:latin typeface="Cambria Math" panose="02040503050406030204" pitchFamily="18" charset="0"/>
                              </a:rPr>
                              <m:t>𝟐</m:t>
                            </m:r>
                            <m:r>
                              <a:rPr lang="en-US" sz="4800" b="1" i="1">
                                <a:solidFill>
                                  <a:schemeClr val="bg1"/>
                                </a:solidFill>
                                <a:latin typeface="Cambria Math" panose="02040503050406030204" pitchFamily="18" charset="0"/>
                              </a:rPr>
                              <m:t>;</m:t>
                            </m:r>
                            <m:r>
                              <a:rPr lang="en-US" sz="4800" b="1" i="1">
                                <a:solidFill>
                                  <a:schemeClr val="bg1"/>
                                </a:solidFill>
                                <a:latin typeface="Cambria Math" panose="02040503050406030204" pitchFamily="18" charset="0"/>
                              </a:rPr>
                              <m:t>𝟒</m:t>
                            </m:r>
                          </m:e>
                        </m:d>
                        <m:r>
                          <m:rPr>
                            <m:nor/>
                          </m:rP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m:t> .</m:t>
                        </m:r>
                      </m:oMath>
                    </m:oMathPara>
                  </a14:m>
                  <a:endPar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149527"/>
                  <a:ext cx="2468235" cy="711533"/>
                </a:xfrm>
                <a:prstGeom prst="rect">
                  <a:avLst/>
                </a:prstGeom>
                <a:blipFill>
                  <a:blip r:embed="rId6"/>
                  <a:stretch>
                    <a:fillRect/>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81159" y="2232302"/>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D</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675897" y="4628193"/>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A</a:t>
            </a:r>
            <a:endParaRPr kumimoji="0" lang="en-US" sz="6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42142" y="2324209"/>
            <a:ext cx="24043078" cy="2169925"/>
            <a:chOff x="823805" y="3615693"/>
            <a:chExt cx="24043078" cy="2703325"/>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3794414"/>
              <a:ext cx="23594672" cy="2524604"/>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823805" y="3615693"/>
              <a:ext cx="4055219" cy="1040476"/>
              <a:chOff x="823805" y="3615693"/>
              <a:chExt cx="4055219"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75964" y="3622531"/>
                <a:ext cx="3503060" cy="917274"/>
                <a:chOff x="2042714" y="3984481"/>
                <a:chExt cx="3503060" cy="917274"/>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78192" y="2734174"/>
                  <a:ext cx="832103"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0692" y="3984481"/>
                  <a:ext cx="2895398" cy="800217"/>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CÂU</a:t>
                  </a:r>
                  <a:r>
                    <a:rPr kumimoji="0" lang="en-US" sz="4600" b="1"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 18.</a:t>
                  </a: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823805" y="3615693"/>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25" name="Group 24">
            <a:extLst>
              <a:ext uri="{FF2B5EF4-FFF2-40B4-BE49-F238E27FC236}">
                <a16:creationId xmlns:a16="http://schemas.microsoft.com/office/drawing/2014/main" id="{F818C57C-1988-4D43-859D-82DC91340849}"/>
              </a:ext>
            </a:extLst>
          </p:cNvPr>
          <p:cNvGrpSpPr/>
          <p:nvPr/>
        </p:nvGrpSpPr>
        <p:grpSpPr>
          <a:xfrm>
            <a:off x="-72643" y="1572056"/>
            <a:ext cx="19656043" cy="830997"/>
            <a:chOff x="-288923" y="1892299"/>
            <a:chExt cx="19659598" cy="830996"/>
          </a:xfrm>
        </p:grpSpPr>
        <p:sp>
          <p:nvSpPr>
            <p:cNvPr id="26" name="Rounded Rectangle 2">
              <a:extLst>
                <a:ext uri="{FF2B5EF4-FFF2-40B4-BE49-F238E27FC236}">
                  <a16:creationId xmlns:a16="http://schemas.microsoft.com/office/drawing/2014/main" id="{0A9E6F3C-C9C6-4653-8688-729C6539C260}"/>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B241A601-B9CB-4799-9262-795745D3C127}"/>
                </a:ext>
              </a:extLst>
            </p:cNvPr>
            <p:cNvSpPr txBox="1"/>
            <p:nvPr/>
          </p:nvSpPr>
          <p:spPr>
            <a:xfrm>
              <a:off x="1082674" y="1922269"/>
              <a:ext cx="184764" cy="754052"/>
            </a:xfrm>
            <a:prstGeom prst="rect">
              <a:avLst/>
            </a:prstGeom>
            <a:noFill/>
          </p:spPr>
          <p:txBody>
            <a:bodyPr wrap="non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Tahoma" pitchFamily="34" charset="0"/>
                <a:ea typeface="Tahoma" pitchFamily="34" charset="0"/>
                <a:cs typeface="Tahoma" pitchFamily="34" charset="0"/>
              </a:endParaRPr>
            </a:p>
          </p:txBody>
        </p:sp>
        <p:sp>
          <p:nvSpPr>
            <p:cNvPr id="28" name="TextBox 27">
              <a:extLst>
                <a:ext uri="{FF2B5EF4-FFF2-40B4-BE49-F238E27FC236}">
                  <a16:creationId xmlns:a16="http://schemas.microsoft.com/office/drawing/2014/main" id="{8F08DB64-BC2D-418D-8BD5-391B8CF3BEA4}"/>
                </a:ext>
              </a:extLst>
            </p:cNvPr>
            <p:cNvSpPr txBox="1"/>
            <p:nvPr/>
          </p:nvSpPr>
          <p:spPr>
            <a:xfrm>
              <a:off x="2087562" y="1892299"/>
              <a:ext cx="17283113" cy="830996"/>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145F82"/>
                  </a:solidFill>
                  <a:effectLst/>
                  <a:uLnTx/>
                  <a:uFillTx/>
                  <a:latin typeface="Tahoma" pitchFamily="34" charset="0"/>
                  <a:ea typeface="Tahoma" pitchFamily="34" charset="0"/>
                  <a:cs typeface="Tahoma" pitchFamily="34" charset="0"/>
                </a:rPr>
                <a:t>  BÀI TẬP TRẮC NGHIỆM CỦNG CỐ</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4678182" y="6098586"/>
                <a:ext cx="16848278" cy="864276"/>
              </a:xfrm>
              <a:prstGeom prst="rect">
                <a:avLst/>
              </a:prstGeom>
              <a:noFill/>
            </p:spPr>
            <p:txBody>
              <a:bodyPr wrap="square">
                <a:spAutoFit/>
              </a:bodyPr>
              <a:lstStyle/>
              <a:p>
                <a:pPr lvl="0">
                  <a:lnSpc>
                    <a:spcPct val="115000"/>
                  </a:lnSpc>
                  <a:spcBef>
                    <a:spcPts val="200"/>
                  </a:spcBef>
                  <a:spcAft>
                    <a:spcPts val="800"/>
                  </a:spcAft>
                  <a:defRPr/>
                </a:pPr>
                <a:r>
                  <a:rPr lang="en-US" sz="4800" b="1" dirty="0" err="1">
                    <a:latin typeface="Tahoma" panose="020B0604030504040204" pitchFamily="34" charset="0"/>
                    <a:ea typeface="Tahoma" panose="020B0604030504040204" pitchFamily="34" charset="0"/>
                    <a:cs typeface="Tahoma" panose="020B0604030504040204" pitchFamily="34" charset="0"/>
                  </a:rPr>
                  <a:t>Gọi</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𝑰</m:t>
                    </m:r>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tâm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đường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tròn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ngoại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tiếp</a:t>
                </a:r>
                <a:r>
                  <a:rPr lang="en-US" sz="4800" b="1" dirty="0">
                    <a:latin typeface="Tahoma" panose="020B0604030504040204" pitchFamily="34" charset="0"/>
                    <a:ea typeface="Tahoma" panose="020B0604030504040204" pitchFamily="34" charset="0"/>
                    <a:cs typeface="Tahoma" panose="020B0604030504040204" pitchFamily="34" charset="0"/>
                  </a:rPr>
                  <a:t> tam </a:t>
                </a:r>
                <a:r>
                  <a:rPr lang="en-US" sz="4800" b="1" dirty="0" err="1">
                    <a:latin typeface="Tahoma" panose="020B0604030504040204" pitchFamily="34" charset="0"/>
                    <a:ea typeface="Tahoma" panose="020B0604030504040204" pitchFamily="34" charset="0"/>
                    <a:cs typeface="Tahoma" panose="020B0604030504040204" pitchFamily="34" charset="0"/>
                  </a:rPr>
                  <a:t>giác</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en-US" sz="4800" b="1" dirty="0">
                    <a:latin typeface="Tahoma" panose="020B0604030504040204" pitchFamily="34" charset="0"/>
                    <a:ea typeface="Tahoma" panose="020B0604030504040204" pitchFamily="34" charset="0"/>
                    <a:cs typeface="Tahoma" panose="020B0604030504040204" pitchFamily="34" charset="0"/>
                  </a:rPr>
                  <a:t>.</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4678182" y="6098586"/>
                <a:ext cx="16848278" cy="864276"/>
              </a:xfrm>
              <a:prstGeom prst="rect">
                <a:avLst/>
              </a:prstGeom>
              <a:blipFill>
                <a:blip r:embed="rId8"/>
                <a:stretch>
                  <a:fillRect l="-1628" t="-12676" r="-687" b="-359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2176452" y="2704352"/>
                <a:ext cx="21717000" cy="1569660"/>
              </a:xfrm>
              <a:prstGeom prst="rect">
                <a:avLst/>
              </a:prstGeom>
              <a:noFill/>
            </p:spPr>
            <p:txBody>
              <a:bodyPr wrap="square">
                <a:spAutoFit/>
              </a:bodyPr>
              <a:lstStyle/>
              <a:p>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mặt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phẳng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𝑶𝒙𝒚</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tam </a:t>
                </a:r>
                <a:r>
                  <a:rPr lang="en-US" sz="4800" b="1" dirty="0" err="1">
                    <a:latin typeface="Tahoma" panose="020B0604030504040204" pitchFamily="34" charset="0"/>
                    <a:ea typeface="Tahoma" panose="020B0604030504040204" pitchFamily="34" charset="0"/>
                    <a:cs typeface="Tahoma" panose="020B0604030504040204" pitchFamily="34" charset="0"/>
                  </a:rPr>
                  <a:t>giác</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𝟏</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m:t>
                    </m:r>
                    <m:d>
                      <m:dPr>
                        <m:ctrlPr>
                          <a:rPr lang="en-US" sz="4800" b="1" i="1">
                            <a:latin typeface="Cambria Math" panose="02040503050406030204" pitchFamily="18" charset="0"/>
                          </a:rPr>
                        </m:ctrlPr>
                      </m:dPr>
                      <m:e>
                        <m:r>
                          <a:rPr lang="en-US" sz="4800" b="1" i="1">
                            <a:latin typeface="Cambria Math" panose="02040503050406030204" pitchFamily="18" charset="0"/>
                          </a:rPr>
                          <m:t>𝟑</m:t>
                        </m:r>
                        <m:r>
                          <a:rPr lang="en-US" sz="4800" b="1" i="1">
                            <a:latin typeface="Cambria Math" panose="02040503050406030204" pitchFamily="18" charset="0"/>
                          </a:rPr>
                          <m:t>;−</m:t>
                        </m:r>
                        <m:r>
                          <a:rPr lang="en-US" sz="4800" b="1" i="1">
                            <a:latin typeface="Cambria Math" panose="02040503050406030204" pitchFamily="18" charset="0"/>
                          </a:rPr>
                          <m:t>𝟒</m:t>
                        </m:r>
                      </m:e>
                    </m:d>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𝑪</m:t>
                    </m:r>
                    <m:d>
                      <m:dPr>
                        <m:ctrlPr>
                          <a:rPr lang="en-US" sz="4800" b="1" i="1">
                            <a:latin typeface="Cambria Math" panose="02040503050406030204" pitchFamily="18" charset="0"/>
                          </a:rPr>
                        </m:ctrlPr>
                      </m:dPr>
                      <m:e>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𝟎</m:t>
                        </m:r>
                      </m:e>
                    </m:d>
                  </m:oMath>
                </a14:m>
                <a:r>
                  <a:rPr lang="en-US" sz="4800" b="1" dirty="0">
                    <a:latin typeface="Tahoma" panose="020B0604030504040204" pitchFamily="34" charset="0"/>
                    <a:ea typeface="Tahoma" panose="020B0604030504040204" pitchFamily="34" charset="0"/>
                    <a:cs typeface="Tahoma" panose="020B0604030504040204" pitchFamily="34" charset="0"/>
                  </a:rPr>
                  <a:t>. Tìm </a:t>
                </a:r>
                <a:r>
                  <a:rPr lang="en-US" sz="4800" b="1" dirty="0" err="1">
                    <a:latin typeface="Tahoma" panose="020B0604030504040204" pitchFamily="34" charset="0"/>
                    <a:ea typeface="Tahoma" panose="020B0604030504040204" pitchFamily="34" charset="0"/>
                    <a:cs typeface="Tahoma" panose="020B0604030504040204" pitchFamily="34" charset="0"/>
                  </a:rPr>
                  <a:t>tọa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tâm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𝑰</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đường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tròn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ngoại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tiếp</a:t>
                </a:r>
                <a:r>
                  <a:rPr lang="en-US" sz="4800" b="1" dirty="0">
                    <a:latin typeface="Tahoma" panose="020B0604030504040204" pitchFamily="34" charset="0"/>
                    <a:ea typeface="Tahoma" panose="020B0604030504040204" pitchFamily="34" charset="0"/>
                    <a:cs typeface="Tahoma" panose="020B0604030504040204" pitchFamily="34" charset="0"/>
                  </a:rPr>
                  <a:t> tam </a:t>
                </a:r>
                <a:r>
                  <a:rPr lang="en-US" sz="4800" b="1" dirty="0" err="1">
                    <a:latin typeface="Tahoma" panose="020B0604030504040204" pitchFamily="34" charset="0"/>
                    <a:ea typeface="Tahoma" panose="020B0604030504040204" pitchFamily="34" charset="0"/>
                    <a:cs typeface="Tahoma" panose="020B0604030504040204" pitchFamily="34" charset="0"/>
                  </a:rPr>
                  <a:t>giác</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2176452" y="2704352"/>
                <a:ext cx="21717000" cy="1569660"/>
              </a:xfrm>
              <a:prstGeom prst="rect">
                <a:avLst/>
              </a:prstGeom>
              <a:blipFill>
                <a:blip r:embed="rId9"/>
                <a:stretch>
                  <a:fillRect t="-9339" r="-477" b="-19455"/>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760373" y="1685889"/>
            <a:ext cx="800219" cy="754053"/>
          </a:xfrm>
          <a:prstGeom prst="rect">
            <a:avLst/>
          </a:prstGeom>
          <a:noFill/>
        </p:spPr>
        <p:txBody>
          <a:bodyPr wrap="non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3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rPr>
              <a:t>III</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163AC7-9746-4E8C-B0D9-9353D0187A13}"/>
                  </a:ext>
                </a:extLst>
              </p:cNvPr>
              <p:cNvSpPr txBox="1"/>
              <p:nvPr/>
            </p:nvSpPr>
            <p:spPr>
              <a:xfrm>
                <a:off x="1057229" y="7332544"/>
                <a:ext cx="5761218" cy="830997"/>
              </a:xfrm>
              <a:prstGeom prst="rect">
                <a:avLst/>
              </a:prstGeom>
              <a:noFill/>
            </p:spPr>
            <p:txBody>
              <a:bodyPr wrap="square">
                <a:spAutoFit/>
              </a:bodyPr>
              <a:lstStyle/>
              <a:p>
                <a:pPr lvl="0"/>
                <a:r>
                  <a:rPr lang="en-US" sz="4800" b="1" dirty="0"/>
                  <a:t>Ta </a:t>
                </a:r>
                <a:r>
                  <a:rPr lang="en-US" sz="4800" b="1" dirty="0" err="1"/>
                  <a:t>có</a:t>
                </a:r>
                <a:r>
                  <a:rPr lang="en-US" sz="4800" b="1" dirty="0"/>
                  <a:t>: </a:t>
                </a:r>
                <a14:m>
                  <m:oMath xmlns:m="http://schemas.openxmlformats.org/officeDocument/2006/math">
                    <m:r>
                      <a:rPr lang="en-US" sz="4800" b="1" i="1">
                        <a:latin typeface="Cambria Math" panose="02040503050406030204" pitchFamily="18" charset="0"/>
                      </a:rPr>
                      <m:t>𝑰𝑨</m:t>
                    </m:r>
                    <m:r>
                      <a:rPr lang="en-US" sz="4800" b="1" i="1">
                        <a:latin typeface="Cambria Math" panose="02040503050406030204" pitchFamily="18" charset="0"/>
                      </a:rPr>
                      <m:t>=</m:t>
                    </m:r>
                    <m:r>
                      <a:rPr lang="en-US" sz="4800" b="1" i="1">
                        <a:latin typeface="Cambria Math" panose="02040503050406030204" pitchFamily="18" charset="0"/>
                      </a:rPr>
                      <m:t>𝑰𝑩</m:t>
                    </m:r>
                    <m:r>
                      <a:rPr lang="en-US" sz="4800" b="1" i="1">
                        <a:latin typeface="Cambria Math" panose="02040503050406030204" pitchFamily="18" charset="0"/>
                      </a:rPr>
                      <m:t>=</m:t>
                    </m:r>
                    <m:r>
                      <a:rPr lang="en-US" sz="4800" b="1" i="1">
                        <a:latin typeface="Cambria Math" panose="02040503050406030204" pitchFamily="18" charset="0"/>
                      </a:rPr>
                      <m:t>𝑰𝑪</m:t>
                    </m:r>
                  </m:oMath>
                </a14:m>
                <a:r>
                  <a:rPr lang="en-US" sz="4800" b="1" dirty="0"/>
                  <a:t> .</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AF163AC7-9746-4E8C-B0D9-9353D0187A13}"/>
                  </a:ext>
                </a:extLst>
              </p:cNvPr>
              <p:cNvSpPr txBox="1">
                <a:spLocks noRot="1" noChangeAspect="1" noMove="1" noResize="1" noEditPoints="1" noAdjustHandles="1" noChangeArrowheads="1" noChangeShapeType="1" noTextEdit="1"/>
              </p:cNvSpPr>
              <p:nvPr/>
            </p:nvSpPr>
            <p:spPr>
              <a:xfrm>
                <a:off x="1057229" y="7332544"/>
                <a:ext cx="5761218" cy="830997"/>
              </a:xfrm>
              <a:prstGeom prst="rect">
                <a:avLst/>
              </a:prstGeom>
              <a:blipFill>
                <a:blip r:embed="rId10"/>
                <a:stretch>
                  <a:fillRect l="-4757" t="-15441" r="-3277" b="-39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0944151-E1E2-4A21-AF5F-5DDFEBFB8529}"/>
                  </a:ext>
                </a:extLst>
              </p:cNvPr>
              <p:cNvSpPr txBox="1"/>
              <p:nvPr/>
            </p:nvSpPr>
            <p:spPr>
              <a:xfrm>
                <a:off x="1043622" y="8321338"/>
                <a:ext cx="3875137" cy="15683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400" b="1" i="1">
                          <a:latin typeface="Cambria Math" panose="02040503050406030204" pitchFamily="18" charset="0"/>
                        </a:rPr>
                        <m:t>⇔ </m:t>
                      </m:r>
                      <m:d>
                        <m:dPr>
                          <m:begChr m:val="{"/>
                          <m:endChr m:val=""/>
                          <m:ctrlPr>
                            <a:rPr lang="en-US" b="1" i="1">
                              <a:latin typeface="Cambria Math" panose="02040503050406030204" pitchFamily="18" charset="0"/>
                            </a:rPr>
                          </m:ctrlPr>
                        </m:dPr>
                        <m:e>
                          <m:eqArr>
                            <m:eqArrPr>
                              <m:ctrlPr>
                                <a:rPr lang="en-US" b="1" i="1">
                                  <a:latin typeface="Cambria Math" panose="02040503050406030204" pitchFamily="18" charset="0"/>
                                </a:rPr>
                              </m:ctrlPr>
                            </m:eqArrPr>
                            <m:e>
                              <m:r>
                                <a:rPr lang="en-US" b="1" i="1">
                                  <a:latin typeface="Cambria Math" panose="02040503050406030204" pitchFamily="18" charset="0"/>
                                </a:rPr>
                                <m:t>𝑰</m:t>
                              </m:r>
                              <m:sSup>
                                <m:sSupPr>
                                  <m:ctrlPr>
                                    <a:rPr lang="en-US" b="1" i="1">
                                      <a:latin typeface="Cambria Math" panose="02040503050406030204" pitchFamily="18" charset="0"/>
                                    </a:rPr>
                                  </m:ctrlPr>
                                </m:sSupPr>
                                <m:e>
                                  <m:r>
                                    <a:rPr lang="en-US" b="1" i="1">
                                      <a:latin typeface="Cambria Math" panose="02040503050406030204" pitchFamily="18" charset="0"/>
                                    </a:rPr>
                                    <m:t>𝑨</m:t>
                                  </m:r>
                                </m:e>
                                <m:sup>
                                  <m:r>
                                    <a:rPr lang="en-US" b="1" i="1">
                                      <a:latin typeface="Cambria Math" panose="02040503050406030204" pitchFamily="18" charset="0"/>
                                    </a:rPr>
                                    <m:t>𝟐</m:t>
                                  </m:r>
                                </m:sup>
                              </m:sSup>
                              <m:r>
                                <a:rPr lang="en-US" b="1" i="1">
                                  <a:latin typeface="Cambria Math" panose="02040503050406030204" pitchFamily="18" charset="0"/>
                                </a:rPr>
                                <m:t>=</m:t>
                              </m:r>
                              <m:r>
                                <a:rPr lang="en-US" b="1" i="1">
                                  <a:latin typeface="Cambria Math" panose="02040503050406030204" pitchFamily="18" charset="0"/>
                                </a:rPr>
                                <m:t>𝑰</m:t>
                              </m:r>
                              <m:sSup>
                                <m:sSupPr>
                                  <m:ctrlPr>
                                    <a:rPr lang="en-US" b="1" i="1">
                                      <a:latin typeface="Cambria Math" panose="02040503050406030204" pitchFamily="18" charset="0"/>
                                    </a:rPr>
                                  </m:ctrlPr>
                                </m:sSupPr>
                                <m:e>
                                  <m:r>
                                    <a:rPr lang="en-US" b="1" i="1">
                                      <a:latin typeface="Cambria Math" panose="02040503050406030204" pitchFamily="18" charset="0"/>
                                    </a:rPr>
                                    <m:t>𝑩</m:t>
                                  </m:r>
                                </m:e>
                                <m:sup>
                                  <m:r>
                                    <a:rPr lang="en-US" b="1" i="1">
                                      <a:latin typeface="Cambria Math" panose="02040503050406030204" pitchFamily="18" charset="0"/>
                                    </a:rPr>
                                    <m:t>𝟐</m:t>
                                  </m:r>
                                </m:sup>
                              </m:sSup>
                            </m:e>
                            <m:e>
                              <m:r>
                                <a:rPr lang="en-US" b="1" i="1">
                                  <a:latin typeface="Cambria Math" panose="02040503050406030204" pitchFamily="18" charset="0"/>
                                </a:rPr>
                                <m:t>𝑰</m:t>
                              </m:r>
                              <m:sSup>
                                <m:sSupPr>
                                  <m:ctrlPr>
                                    <a:rPr lang="en-US" b="1" i="1">
                                      <a:latin typeface="Cambria Math" panose="02040503050406030204" pitchFamily="18" charset="0"/>
                                    </a:rPr>
                                  </m:ctrlPr>
                                </m:sSupPr>
                                <m:e>
                                  <m:r>
                                    <a:rPr lang="en-US" b="1" i="1">
                                      <a:latin typeface="Cambria Math" panose="02040503050406030204" pitchFamily="18" charset="0"/>
                                    </a:rPr>
                                    <m:t>𝑨</m:t>
                                  </m:r>
                                </m:e>
                                <m:sup>
                                  <m:r>
                                    <a:rPr lang="en-US" b="1" i="1">
                                      <a:latin typeface="Cambria Math" panose="02040503050406030204" pitchFamily="18" charset="0"/>
                                    </a:rPr>
                                    <m:t>𝟐</m:t>
                                  </m:r>
                                </m:sup>
                              </m:sSup>
                              <m:r>
                                <a:rPr lang="en-US" b="1" i="1">
                                  <a:latin typeface="Cambria Math" panose="02040503050406030204" pitchFamily="18" charset="0"/>
                                </a:rPr>
                                <m:t>=</m:t>
                              </m:r>
                              <m:r>
                                <a:rPr lang="en-US" b="1" i="1">
                                  <a:latin typeface="Cambria Math" panose="02040503050406030204" pitchFamily="18" charset="0"/>
                                </a:rPr>
                                <m:t>𝑰</m:t>
                              </m:r>
                              <m:sSup>
                                <m:sSupPr>
                                  <m:ctrlPr>
                                    <a:rPr lang="en-US" b="1" i="1">
                                      <a:latin typeface="Cambria Math" panose="02040503050406030204" pitchFamily="18" charset="0"/>
                                    </a:rPr>
                                  </m:ctrlPr>
                                </m:sSupPr>
                                <m:e>
                                  <m:r>
                                    <a:rPr lang="en-US" b="1" i="1">
                                      <a:latin typeface="Cambria Math" panose="02040503050406030204" pitchFamily="18" charset="0"/>
                                    </a:rPr>
                                    <m:t>𝑪</m:t>
                                  </m:r>
                                </m:e>
                                <m:sup>
                                  <m:r>
                                    <a:rPr lang="en-US" b="1" i="1">
                                      <a:latin typeface="Cambria Math" panose="02040503050406030204" pitchFamily="18" charset="0"/>
                                    </a:rPr>
                                    <m:t>𝟐</m:t>
                                  </m:r>
                                </m:sup>
                              </m:sSup>
                            </m:e>
                          </m:eqArr>
                        </m:e>
                      </m:d>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7" name="TextBox 36">
                <a:extLst>
                  <a:ext uri="{FF2B5EF4-FFF2-40B4-BE49-F238E27FC236}">
                    <a16:creationId xmlns:a16="http://schemas.microsoft.com/office/drawing/2014/main" id="{10944151-E1E2-4A21-AF5F-5DDFEBFB8529}"/>
                  </a:ext>
                </a:extLst>
              </p:cNvPr>
              <p:cNvSpPr txBox="1">
                <a:spLocks noRot="1" noChangeAspect="1" noMove="1" noResize="1" noEditPoints="1" noAdjustHandles="1" noChangeArrowheads="1" noChangeShapeType="1" noTextEdit="1"/>
              </p:cNvSpPr>
              <p:nvPr/>
            </p:nvSpPr>
            <p:spPr>
              <a:xfrm>
                <a:off x="1043622" y="8321338"/>
                <a:ext cx="3875137" cy="156837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56C8A10-1E4B-4374-B184-D6911EBD27C5}"/>
                  </a:ext>
                </a:extLst>
              </p:cNvPr>
              <p:cNvSpPr txBox="1"/>
              <p:nvPr/>
            </p:nvSpPr>
            <p:spPr>
              <a:xfrm>
                <a:off x="4678182" y="8070311"/>
                <a:ext cx="10789130" cy="2010807"/>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𝟐</m:t>
                                      </m:r>
                                    </m:e>
                                  </m:d>
                                </m:e>
                                <m:sup>
                                  <m:r>
                                    <a:rPr lang="en-US" sz="4800" b="1" i="1">
                                      <a:latin typeface="Cambria Math" panose="02040503050406030204" pitchFamily="18" charset="0"/>
                                    </a:rPr>
                                    <m:t>𝟐</m:t>
                                  </m:r>
                                </m:sup>
                              </m:sSup>
                              <m:r>
                                <a:rPr lang="en-US" sz="4800" b="1" i="1">
                                  <a:latin typeface="Cambria Math" panose="02040503050406030204" pitchFamily="18" charset="0"/>
                                </a:rPr>
                                <m:t>+</m:t>
                              </m:r>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𝟏</m:t>
                                      </m:r>
                                    </m:e>
                                  </m:d>
                                </m:e>
                                <m:sup>
                                  <m:r>
                                    <a:rPr lang="en-US" sz="4800" b="1" i="1">
                                      <a:latin typeface="Cambria Math" panose="02040503050406030204" pitchFamily="18" charset="0"/>
                                    </a:rPr>
                                    <m:t>𝟐</m:t>
                                  </m:r>
                                </m:sup>
                              </m:sSup>
                              <m:r>
                                <a:rPr lang="en-US" sz="4800" b="1" i="1">
                                  <a:latin typeface="Cambria Math" panose="02040503050406030204" pitchFamily="18" charset="0"/>
                                </a:rPr>
                                <m:t>=</m:t>
                              </m:r>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𝟑</m:t>
                                      </m:r>
                                    </m:e>
                                  </m:d>
                                </m:e>
                                <m:sup>
                                  <m:r>
                                    <a:rPr lang="en-US" sz="4800" b="1" i="1">
                                      <a:latin typeface="Cambria Math" panose="02040503050406030204" pitchFamily="18" charset="0"/>
                                    </a:rPr>
                                    <m:t>𝟐</m:t>
                                  </m:r>
                                </m:sup>
                              </m:sSup>
                              <m:r>
                                <a:rPr lang="en-US" sz="4800" b="1" i="1">
                                  <a:latin typeface="Cambria Math" panose="02040503050406030204" pitchFamily="18" charset="0"/>
                                </a:rPr>
                                <m:t>+</m:t>
                              </m:r>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𝟒</m:t>
                                      </m:r>
                                    </m:e>
                                  </m:d>
                                </m:e>
                                <m:sup>
                                  <m:r>
                                    <a:rPr lang="en-US" sz="4800" b="1" i="1">
                                      <a:latin typeface="Cambria Math" panose="02040503050406030204" pitchFamily="18" charset="0"/>
                                    </a:rPr>
                                    <m:t>𝟐</m:t>
                                  </m:r>
                                </m:sup>
                              </m:sSup>
                            </m:e>
                            <m:e>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𝟐</m:t>
                                      </m:r>
                                    </m:e>
                                  </m:d>
                                </m:e>
                                <m:sup>
                                  <m:r>
                                    <a:rPr lang="en-US" sz="4800" b="1" i="1">
                                      <a:latin typeface="Cambria Math" panose="02040503050406030204" pitchFamily="18" charset="0"/>
                                    </a:rPr>
                                    <m:t>𝟐</m:t>
                                  </m:r>
                                </m:sup>
                              </m:sSup>
                              <m:r>
                                <a:rPr lang="en-US" sz="4800" b="1" i="1">
                                  <a:latin typeface="Cambria Math" panose="02040503050406030204" pitchFamily="18" charset="0"/>
                                </a:rPr>
                                <m:t>+</m:t>
                              </m:r>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𝟏</m:t>
                                      </m:r>
                                    </m:e>
                                  </m:d>
                                </m:e>
                                <m:sup>
                                  <m:r>
                                    <a:rPr lang="en-US" sz="4800" b="1" i="1">
                                      <a:latin typeface="Cambria Math" panose="02040503050406030204" pitchFamily="18" charset="0"/>
                                    </a:rPr>
                                    <m:t>𝟐</m:t>
                                  </m:r>
                                </m:sup>
                              </m:sSup>
                              <m:r>
                                <a:rPr lang="en-US" sz="4800" b="1" i="1">
                                  <a:latin typeface="Cambria Math" panose="02040503050406030204" pitchFamily="18" charset="0"/>
                                </a:rPr>
                                <m:t>=</m:t>
                              </m:r>
                              <m:sSup>
                                <m:sSupPr>
                                  <m:ctrlPr>
                                    <a:rPr lang="en-US" sz="4800" b="1" i="1">
                                      <a:latin typeface="Cambria Math" panose="02040503050406030204" pitchFamily="18" charset="0"/>
                                    </a:rPr>
                                  </m:ctrlPr>
                                </m:sSupPr>
                                <m:e>
                                  <m:d>
                                    <m:dPr>
                                      <m:ctrlPr>
                                        <a:rPr lang="en-US" sz="4800" b="1" i="1">
                                          <a:latin typeface="Cambria Math" panose="02040503050406030204" pitchFamily="18" charset="0"/>
                                        </a:rPr>
                                      </m:ctrlPr>
                                    </m:d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m:t>
                                      </m:r>
                                    </m:e>
                                  </m:d>
                                </m:e>
                                <m:sup>
                                  <m:r>
                                    <a:rPr lang="en-US" sz="4800" b="1" i="1">
                                      <a:latin typeface="Cambria Math" panose="02040503050406030204" pitchFamily="18" charset="0"/>
                                    </a:rPr>
                                    <m:t>𝟐</m:t>
                                  </m:r>
                                </m:sup>
                              </m:sSup>
                              <m:r>
                                <a:rPr lang="en-US" sz="4800" b="1" i="1">
                                  <a:latin typeface="Cambria Math" panose="02040503050406030204" pitchFamily="18" charset="0"/>
                                </a:rPr>
                                <m:t>+</m:t>
                              </m:r>
                              <m:sSup>
                                <m:sSupPr>
                                  <m:ctrlPr>
                                    <a:rPr lang="en-US" sz="4800" b="1" i="1">
                                      <a:latin typeface="Cambria Math" panose="02040503050406030204" pitchFamily="18" charset="0"/>
                                    </a:rPr>
                                  </m:ctrlPr>
                                </m:sSupPr>
                                <m:e>
                                  <m:r>
                                    <a:rPr lang="en-US" sz="4800" b="1" i="1">
                                      <a:latin typeface="Cambria Math" panose="02040503050406030204" pitchFamily="18" charset="0"/>
                                    </a:rPr>
                                    <m:t>𝒚</m:t>
                                  </m:r>
                                </m:e>
                                <m:sup>
                                  <m:r>
                                    <a:rPr lang="en-US" sz="4800" b="1" i="1">
                                      <a:latin typeface="Cambria Math" panose="02040503050406030204" pitchFamily="18" charset="0"/>
                                    </a:rPr>
                                    <m:t>𝟐</m:t>
                                  </m:r>
                                </m:sup>
                              </m:sSup>
                            </m:e>
                          </m:eqArr>
                        </m:e>
                      </m:d>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3" name="TextBox 42">
                <a:extLst>
                  <a:ext uri="{FF2B5EF4-FFF2-40B4-BE49-F238E27FC236}">
                    <a16:creationId xmlns:a16="http://schemas.microsoft.com/office/drawing/2014/main" id="{656C8A10-1E4B-4374-B184-D6911EBD27C5}"/>
                  </a:ext>
                </a:extLst>
              </p:cNvPr>
              <p:cNvSpPr txBox="1">
                <a:spLocks noRot="1" noChangeAspect="1" noMove="1" noResize="1" noEditPoints="1" noAdjustHandles="1" noChangeArrowheads="1" noChangeShapeType="1" noTextEdit="1"/>
              </p:cNvSpPr>
              <p:nvPr/>
            </p:nvSpPr>
            <p:spPr>
              <a:xfrm>
                <a:off x="4678182" y="8070311"/>
                <a:ext cx="10789130" cy="2010807"/>
              </a:xfrm>
              <a:prstGeom prst="rect">
                <a:avLst/>
              </a:prstGeom>
              <a:blipFill>
                <a:blip r:embed="rId12"/>
                <a:stretch>
                  <a:fillRect r="-131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5CAC79B-28D7-4AD0-950A-67A88EBB345A}"/>
                  </a:ext>
                </a:extLst>
              </p:cNvPr>
              <p:cNvSpPr txBox="1"/>
              <p:nvPr/>
            </p:nvSpPr>
            <p:spPr>
              <a:xfrm>
                <a:off x="2623943" y="10081118"/>
                <a:ext cx="8443085" cy="33877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800" b="1" i="1" smtClean="0">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𝟐</m:t>
                              </m:r>
                            </m:e>
                            <m:e>
                              <m:r>
                                <a:rPr lang="en-US" sz="4800" b="1" i="1">
                                  <a:latin typeface="Cambria Math" panose="02040503050406030204" pitchFamily="18" charset="0"/>
                                </a:rPr>
                                <m:t>𝟑</m:t>
                              </m:r>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𝟐</m:t>
                              </m:r>
                            </m:e>
                          </m:eqArr>
                        </m:e>
                      </m:d>
                    </m:oMath>
                  </m:oMathPara>
                </a14:m>
                <a:endParaRPr lang="en-US" sz="4800" b="1" i="1" dirty="0">
                  <a:latin typeface="Cambria Math" panose="02040503050406030204" pitchFamily="18" charset="0"/>
                </a:endParaRPr>
              </a:p>
              <a:p>
                <a:r>
                  <a:rPr lang="en-US" sz="4800" b="1" dirty="0"/>
                  <a:t>             </a:t>
                </a:r>
                <a14:m>
                  <m:oMath xmlns:m="http://schemas.openxmlformats.org/officeDocument/2006/math">
                    <m:r>
                      <a:rPr lang="en-US" sz="4800" b="1" i="1">
                        <a:latin typeface="Cambria Math" panose="02040503050406030204" pitchFamily="18" charset="0"/>
                      </a:rPr>
                      <m:t>⇔</m:t>
                    </m:r>
                    <m:d>
                      <m:dPr>
                        <m:begChr m:val="{"/>
                        <m:endChr m:val=""/>
                        <m:ctrlPr>
                          <a:rPr lang="en-US" sz="4800" b="1" i="1">
                            <a:latin typeface="Cambria Math" panose="02040503050406030204" pitchFamily="18" charset="0"/>
                          </a:rPr>
                        </m:ctrlPr>
                      </m:dPr>
                      <m:e>
                        <m:eqArr>
                          <m:eqArrPr>
                            <m:ctrlPr>
                              <a:rPr lang="en-US" sz="4800" b="1" i="1">
                                <a:latin typeface="Cambria Math" panose="02040503050406030204" pitchFamily="18" charset="0"/>
                              </a:rPr>
                            </m:ctrlPr>
                          </m:eqArrPr>
                          <m:e>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𝟐</m:t>
                            </m:r>
                          </m:e>
                          <m:e>
                            <m:r>
                              <a:rPr lang="en-US" sz="4800" b="1" i="1">
                                <a:latin typeface="Cambria Math" panose="02040503050406030204" pitchFamily="18" charset="0"/>
                              </a:rPr>
                              <m:t>𝒚</m:t>
                            </m:r>
                            <m:r>
                              <a:rPr lang="en-US" sz="4800" b="1" i="1">
                                <a:latin typeface="Cambria Math" panose="02040503050406030204" pitchFamily="18" charset="0"/>
                              </a:rPr>
                              <m:t>=−</m:t>
                            </m:r>
                            <m:r>
                              <a:rPr lang="en-US" sz="4800" b="1" i="1">
                                <a:latin typeface="Cambria Math" panose="02040503050406030204" pitchFamily="18" charset="0"/>
                              </a:rPr>
                              <m:t>𝟒</m:t>
                            </m:r>
                          </m:e>
                        </m:eqArr>
                      </m:e>
                    </m:d>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0" name="TextBox 39">
                <a:extLst>
                  <a:ext uri="{FF2B5EF4-FFF2-40B4-BE49-F238E27FC236}">
                    <a16:creationId xmlns:a16="http://schemas.microsoft.com/office/drawing/2014/main" id="{05CAC79B-28D7-4AD0-950A-67A88EBB345A}"/>
                  </a:ext>
                </a:extLst>
              </p:cNvPr>
              <p:cNvSpPr txBox="1">
                <a:spLocks noRot="1" noChangeAspect="1" noMove="1" noResize="1" noEditPoints="1" noAdjustHandles="1" noChangeArrowheads="1" noChangeShapeType="1" noTextEdit="1"/>
              </p:cNvSpPr>
              <p:nvPr/>
            </p:nvSpPr>
            <p:spPr>
              <a:xfrm>
                <a:off x="2623943" y="10081118"/>
                <a:ext cx="8443085" cy="338772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EEBAB60-CBEE-41E5-A4B7-5E54A2B58F85}"/>
                  </a:ext>
                </a:extLst>
              </p:cNvPr>
              <p:cNvSpPr txBox="1"/>
              <p:nvPr/>
            </p:nvSpPr>
            <p:spPr>
              <a:xfrm>
                <a:off x="10072747" y="12400619"/>
                <a:ext cx="4010570" cy="8309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4800" b="1">
                          <a:latin typeface="Tahoma" panose="020B0604030504040204" pitchFamily="34" charset="0"/>
                          <a:ea typeface="Tahoma" panose="020B0604030504040204" pitchFamily="34" charset="0"/>
                          <a:cs typeface="Tahoma" panose="020B0604030504040204" pitchFamily="34" charset="0"/>
                        </a:rPr>
                        <m:t>V</m:t>
                      </m:r>
                      <m:r>
                        <m:rPr>
                          <m:nor/>
                        </m:rPr>
                        <a:rPr lang="en-US" sz="4800" b="1">
                          <a:latin typeface="Tahoma" panose="020B0604030504040204" pitchFamily="34" charset="0"/>
                          <a:ea typeface="Tahoma" panose="020B0604030504040204" pitchFamily="34" charset="0"/>
                          <a:cs typeface="Tahoma" panose="020B0604030504040204" pitchFamily="34" charset="0"/>
                        </a:rPr>
                        <m:t>ậ</m:t>
                      </m:r>
                      <m:r>
                        <m:rPr>
                          <m:nor/>
                        </m:rPr>
                        <a:rPr lang="en-US" sz="4800" b="1">
                          <a:latin typeface="Tahoma" panose="020B0604030504040204" pitchFamily="34" charset="0"/>
                          <a:ea typeface="Tahoma" panose="020B0604030504040204" pitchFamily="34" charset="0"/>
                          <a:cs typeface="Tahoma" panose="020B0604030504040204" pitchFamily="34" charset="0"/>
                        </a:rPr>
                        <m:t>y</m:t>
                      </m:r>
                      <m:r>
                        <m:rPr>
                          <m:nor/>
                        </m:rPr>
                        <a:rPr lang="en-US" sz="4800" b="1">
                          <a:latin typeface="Tahoma" panose="020B0604030504040204" pitchFamily="34" charset="0"/>
                          <a:ea typeface="Tahoma" panose="020B0604030504040204" pitchFamily="34" charset="0"/>
                          <a:cs typeface="Tahoma" panose="020B0604030504040204" pitchFamily="34" charset="0"/>
                        </a:rPr>
                        <m:t> </m:t>
                      </m:r>
                      <m:r>
                        <a:rPr lang="en-US" sz="4800" b="1" i="1">
                          <a:latin typeface="Cambria Math" panose="02040503050406030204" pitchFamily="18" charset="0"/>
                        </a:rPr>
                        <m:t>𝑰</m:t>
                      </m:r>
                      <m:d>
                        <m:dPr>
                          <m:ctrlPr>
                            <a:rPr lang="en-US" sz="4800" b="1" i="1">
                              <a:latin typeface="Cambria Math" panose="02040503050406030204" pitchFamily="18" charset="0"/>
                            </a:rPr>
                          </m:ctrlPr>
                        </m:dPr>
                        <m:e>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𝟒</m:t>
                          </m:r>
                        </m:e>
                      </m:d>
                      <m:r>
                        <m:rPr>
                          <m:nor/>
                        </m:rPr>
                        <a:rPr lang="en-US" sz="4800" b="1">
                          <a:latin typeface="Tahoma" panose="020B0604030504040204" pitchFamily="34" charset="0"/>
                          <a:ea typeface="Tahoma" panose="020B0604030504040204" pitchFamily="34" charset="0"/>
                          <a:cs typeface="Tahoma" panose="020B0604030504040204" pitchFamily="34" charset="0"/>
                        </a:rPr>
                        <m:t>.</m:t>
                      </m:r>
                    </m:oMath>
                  </m:oMathPara>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2" name="TextBox 41">
                <a:extLst>
                  <a:ext uri="{FF2B5EF4-FFF2-40B4-BE49-F238E27FC236}">
                    <a16:creationId xmlns:a16="http://schemas.microsoft.com/office/drawing/2014/main" id="{EEEBAB60-CBEE-41E5-A4B7-5E54A2B58F85}"/>
                  </a:ext>
                </a:extLst>
              </p:cNvPr>
              <p:cNvSpPr txBox="1">
                <a:spLocks noRot="1" noChangeAspect="1" noMove="1" noResize="1" noEditPoints="1" noAdjustHandles="1" noChangeArrowheads="1" noChangeShapeType="1" noTextEdit="1"/>
              </p:cNvSpPr>
              <p:nvPr/>
            </p:nvSpPr>
            <p:spPr>
              <a:xfrm>
                <a:off x="10072747" y="12400619"/>
                <a:ext cx="4010570" cy="830997"/>
              </a:xfrm>
              <a:prstGeom prst="rect">
                <a:avLst/>
              </a:prstGeom>
              <a:blipFill>
                <a:blip r:embed="rId14"/>
                <a:stretch>
                  <a:fillRect r="-5471"/>
                </a:stretch>
              </a:blipFill>
            </p:spPr>
            <p:txBody>
              <a:bodyPr/>
              <a:lstStyle/>
              <a:p>
                <a:r>
                  <a:rPr lang="en-US">
                    <a:noFill/>
                  </a:rPr>
                  <a:t> </a:t>
                </a:r>
              </a:p>
            </p:txBody>
          </p:sp>
        </mc:Fallback>
      </mc:AlternateContent>
      <p:sp>
        <p:nvSpPr>
          <p:cNvPr id="54" name="Rounded Rectangle 5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10</a:t>
            </a:r>
          </a:p>
        </p:txBody>
      </p:sp>
      <p:sp>
        <p:nvSpPr>
          <p:cNvPr id="58" name="TextBox 5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483453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left)">
                                      <p:cBhvr>
                                        <p:cTn id="32" dur="500"/>
                                        <p:tgtEl>
                                          <p:spTgt spid="4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0">
                                            <p:txEl>
                                              <p:pRg st="0" end="0"/>
                                            </p:txEl>
                                          </p:spTgt>
                                        </p:tgtEl>
                                        <p:attrNameLst>
                                          <p:attrName>style.visibility</p:attrName>
                                        </p:attrNameLst>
                                      </p:cBhvr>
                                      <p:to>
                                        <p:strVal val="visible"/>
                                      </p:to>
                                    </p:set>
                                    <p:animEffect transition="in" filter="wipe(left)">
                                      <p:cBhvr>
                                        <p:cTn id="37" dur="500"/>
                                        <p:tgtEl>
                                          <p:spTgt spid="4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0">
                                            <p:txEl>
                                              <p:pRg st="1" end="1"/>
                                            </p:txEl>
                                          </p:spTgt>
                                        </p:tgtEl>
                                        <p:attrNameLst>
                                          <p:attrName>style.visibility</p:attrName>
                                        </p:attrNameLst>
                                      </p:cBhvr>
                                      <p:to>
                                        <p:strVal val="visible"/>
                                      </p:to>
                                    </p:set>
                                    <p:animEffect transition="in" filter="wipe(left)">
                                      <p:cBhvr>
                                        <p:cTn id="42" dur="500"/>
                                        <p:tgtEl>
                                          <p:spTgt spid="40">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wipe(left)">
                                      <p:cBhvr>
                                        <p:cTn id="47" dur="5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P spid="33" grpId="0"/>
      <p:bldP spid="37" grpId="0"/>
      <p:bldP spid="43" grpId="0"/>
      <p:bldP spid="42"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4731</TotalTime>
  <Words>2177</Words>
  <Application>Microsoft Office PowerPoint</Application>
  <PresentationFormat>Custom</PresentationFormat>
  <Paragraphs>745</Paragraphs>
  <Slides>47</Slides>
  <Notes>28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47</vt:i4>
      </vt:variant>
    </vt:vector>
  </HeadingPairs>
  <TitlesOfParts>
    <vt:vector size="59" baseType="lpstr">
      <vt:lpstr>Yu Gothic UI Semilight</vt:lpstr>
      <vt:lpstr>.VnCentury Schoolbook</vt:lpstr>
      <vt:lpstr>Arial</vt:lpstr>
      <vt:lpstr>Bahnschrift SemiBold SemiConden</vt:lpstr>
      <vt:lpstr>Baumans</vt:lpstr>
      <vt:lpstr>Calibri</vt:lpstr>
      <vt:lpstr>Cambria Math</vt:lpstr>
      <vt:lpstr>Tahoma</vt:lpstr>
      <vt:lpstr>Times New Roman</vt:lpstr>
      <vt:lpstr>Tomaho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LCH</Manager>
  <Company>LCH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 TRONG MP TOA DO</dc:title>
  <dc:subject>VECTO TRONG MP TOA DO</dc:subject>
  <dc:creator>LƯU CÔNG HOÀN</dc:creator>
  <dc:description>LCH</dc:description>
  <cp:lastModifiedBy>Admin</cp:lastModifiedBy>
  <cp:revision>526</cp:revision>
  <dcterms:created xsi:type="dcterms:W3CDTF">2013-08-31T11:42:51Z</dcterms:created>
  <dcterms:modified xsi:type="dcterms:W3CDTF">2022-08-29T08:53:24Z</dcterms:modified>
  <cp:category>LCH</cp:category>
</cp:coreProperties>
</file>