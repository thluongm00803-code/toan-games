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drawings/vmlDrawing1.vml" ContentType="application/vnd.openxmlformats-officedocument.vmlDrawing"/>
  <Override PartName="/ppt/drawings/vmlDrawing2.vml" ContentType="application/vnd.openxmlformats-officedocument.vmlDrawing"/>
  <Override PartName="/ppt/drawings/vmlDrawing3.vml" ContentType="application/vnd.openxmlformats-officedocument.vmlDrawing"/>
  <Override PartName="/ppt/drawings/vmlDrawing4.vml" ContentType="application/vnd.openxmlformats-officedocument.vmlDrawing"/>
  <Override PartName="/ppt/embeddings/Microsoft_Word_Document.docx" ContentType="application/vnd.openxmlformats-officedocument.wordprocessingml.document"/>
  <Override PartName="/ppt/embeddings/Microsoft_Word_Document1.docx" ContentType="application/vnd.openxmlformats-officedocument.wordprocessingml.document"/>
  <Override PartName="/ppt/embeddings/Microsoft_Word_Document2.docx" ContentType="application/vnd.openxmlformats-officedocument.wordprocessingml.document"/>
  <Override PartName="/ppt/embeddings/oleObject1.bin" ContentType="application/vnd.openxmlformats-officedocument.oleObject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38" r:id="rId1"/>
    <p:sldMasterId id="2147483754" r:id="rId2"/>
  </p:sldMasterIdLst>
  <p:notesMasterIdLst>
    <p:notesMasterId r:id="rId44"/>
  </p:notesMasterIdLst>
  <p:sldIdLst>
    <p:sldId id="313" r:id="rId3"/>
    <p:sldId id="301" r:id="rId4"/>
    <p:sldId id="315" r:id="rId5"/>
    <p:sldId id="356" r:id="rId6"/>
    <p:sldId id="334" r:id="rId7"/>
    <p:sldId id="357" r:id="rId8"/>
    <p:sldId id="337" r:id="rId9"/>
    <p:sldId id="324" r:id="rId10"/>
    <p:sldId id="325" r:id="rId11"/>
    <p:sldId id="338" r:id="rId12"/>
    <p:sldId id="359" r:id="rId13"/>
    <p:sldId id="360" r:id="rId14"/>
    <p:sldId id="363" r:id="rId15"/>
    <p:sldId id="362" r:id="rId16"/>
    <p:sldId id="364" r:id="rId17"/>
    <p:sldId id="373" r:id="rId18"/>
    <p:sldId id="365" r:id="rId19"/>
    <p:sldId id="366" r:id="rId20"/>
    <p:sldId id="367" r:id="rId21"/>
    <p:sldId id="368" r:id="rId22"/>
    <p:sldId id="369" r:id="rId23"/>
    <p:sldId id="317" r:id="rId24"/>
    <p:sldId id="318" r:id="rId25"/>
    <p:sldId id="316" r:id="rId26"/>
    <p:sldId id="319" r:id="rId27"/>
    <p:sldId id="329" r:id="rId28"/>
    <p:sldId id="320" r:id="rId29"/>
    <p:sldId id="331" r:id="rId30"/>
    <p:sldId id="332" r:id="rId31"/>
    <p:sldId id="330" r:id="rId32"/>
    <p:sldId id="370" r:id="rId33"/>
    <p:sldId id="333" r:id="rId34"/>
    <p:sldId id="335" r:id="rId35"/>
    <p:sldId id="321" r:id="rId36"/>
    <p:sldId id="336" r:id="rId37"/>
    <p:sldId id="342" r:id="rId38"/>
    <p:sldId id="371" r:id="rId39"/>
    <p:sldId id="372" r:id="rId40"/>
    <p:sldId id="339" r:id="rId41"/>
    <p:sldId id="343" r:id="rId42"/>
    <p:sldId id="340" r:id="rId43"/>
  </p:sldIdLst>
  <p:sldSz cx="24384000" cy="13716000"/>
  <p:notesSz cx="6858000" cy="9144000"/>
  <p:custDataLst>
    <p:tags r:id="rId45"/>
  </p:custDataLst>
  <p:defaultTextStyle>
    <a:defPPr>
      <a:defRPr lang="en-US"/>
    </a:defPPr>
    <a:lvl1pPr marL="0" algn="l" defTabSz="2177278" rtl="0" eaLnBrk="1" latinLnBrk="0" hangingPunct="1">
      <a:defRPr sz="4300" kern="1200">
        <a:solidFill>
          <a:schemeClr val="tx1"/>
        </a:solidFill>
        <a:latin typeface="+mn-lt"/>
        <a:ea typeface="+mn-ea"/>
        <a:cs typeface="+mn-cs"/>
      </a:defRPr>
    </a:lvl1pPr>
    <a:lvl2pPr marL="1088639" algn="l" defTabSz="2177278" rtl="0" eaLnBrk="1" latinLnBrk="0" hangingPunct="1">
      <a:defRPr sz="4300" kern="1200">
        <a:solidFill>
          <a:schemeClr val="tx1"/>
        </a:solidFill>
        <a:latin typeface="+mn-lt"/>
        <a:ea typeface="+mn-ea"/>
        <a:cs typeface="+mn-cs"/>
      </a:defRPr>
    </a:lvl2pPr>
    <a:lvl3pPr marL="2177278" algn="l" defTabSz="2177278" rtl="0" eaLnBrk="1" latinLnBrk="0" hangingPunct="1">
      <a:defRPr sz="4300" kern="1200">
        <a:solidFill>
          <a:schemeClr val="tx1"/>
        </a:solidFill>
        <a:latin typeface="+mn-lt"/>
        <a:ea typeface="+mn-ea"/>
        <a:cs typeface="+mn-cs"/>
      </a:defRPr>
    </a:lvl3pPr>
    <a:lvl4pPr marL="3265917" algn="l" defTabSz="2177278" rtl="0" eaLnBrk="1" latinLnBrk="0" hangingPunct="1">
      <a:defRPr sz="4300" kern="1200">
        <a:solidFill>
          <a:schemeClr val="tx1"/>
        </a:solidFill>
        <a:latin typeface="+mn-lt"/>
        <a:ea typeface="+mn-ea"/>
        <a:cs typeface="+mn-cs"/>
      </a:defRPr>
    </a:lvl4pPr>
    <a:lvl5pPr marL="4354556" algn="l" defTabSz="2177278" rtl="0" eaLnBrk="1" latinLnBrk="0" hangingPunct="1">
      <a:defRPr sz="4300" kern="1200">
        <a:solidFill>
          <a:schemeClr val="tx1"/>
        </a:solidFill>
        <a:latin typeface="+mn-lt"/>
        <a:ea typeface="+mn-ea"/>
        <a:cs typeface="+mn-cs"/>
      </a:defRPr>
    </a:lvl5pPr>
    <a:lvl6pPr marL="5443195" algn="l" defTabSz="2177278" rtl="0" eaLnBrk="1" latinLnBrk="0" hangingPunct="1">
      <a:defRPr sz="4300" kern="1200">
        <a:solidFill>
          <a:schemeClr val="tx1"/>
        </a:solidFill>
        <a:latin typeface="+mn-lt"/>
        <a:ea typeface="+mn-ea"/>
        <a:cs typeface="+mn-cs"/>
      </a:defRPr>
    </a:lvl6pPr>
    <a:lvl7pPr marL="6531834" algn="l" defTabSz="2177278" rtl="0" eaLnBrk="1" latinLnBrk="0" hangingPunct="1">
      <a:defRPr sz="4300" kern="1200">
        <a:solidFill>
          <a:schemeClr val="tx1"/>
        </a:solidFill>
        <a:latin typeface="+mn-lt"/>
        <a:ea typeface="+mn-ea"/>
        <a:cs typeface="+mn-cs"/>
      </a:defRPr>
    </a:lvl7pPr>
    <a:lvl8pPr marL="7620472" algn="l" defTabSz="2177278" rtl="0" eaLnBrk="1" latinLnBrk="0" hangingPunct="1">
      <a:defRPr sz="4300" kern="1200">
        <a:solidFill>
          <a:schemeClr val="tx1"/>
        </a:solidFill>
        <a:latin typeface="+mn-lt"/>
        <a:ea typeface="+mn-ea"/>
        <a:cs typeface="+mn-cs"/>
      </a:defRPr>
    </a:lvl8pPr>
    <a:lvl9pPr marL="8709111" algn="l" defTabSz="2177278" rtl="0" eaLnBrk="1" latinLnBrk="0" hangingPunct="1">
      <a:defRPr sz="43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FF"/>
    <a:srgbClr val="E7F7FF"/>
    <a:srgbClr val="D6F7FE"/>
    <a:srgbClr val="EEF7E9"/>
    <a:srgbClr val="0000FF"/>
    <a:srgbClr val="135F82"/>
    <a:srgbClr val="FFFFFF"/>
    <a:srgbClr val="008000"/>
    <a:srgbClr val="242452"/>
    <a:srgbClr val="270F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497" autoAdjust="0"/>
    <p:restoredTop sz="94139" autoAdjust="0"/>
  </p:normalViewPr>
  <p:slideViewPr>
    <p:cSldViewPr>
      <p:cViewPr varScale="1">
        <p:scale>
          <a:sx n="35" d="100"/>
          <a:sy n="35" d="100"/>
        </p:scale>
        <p:origin x="96" y="-96"/>
      </p:cViewPr>
      <p:guideLst>
        <p:guide orient="horz" pos="4320"/>
        <p:guide pos="76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6" d="100"/>
          <a:sy n="56" d="100"/>
        </p:scale>
        <p:origin x="-2886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40" Type="http://schemas.openxmlformats.org/officeDocument/2006/relationships/slide" Target="slides/slide38.xml"/><Relationship Id="rId41" Type="http://schemas.openxmlformats.org/officeDocument/2006/relationships/slide" Target="slides/slide39.xml"/><Relationship Id="rId42" Type="http://schemas.openxmlformats.org/officeDocument/2006/relationships/slide" Target="slides/slide40.xml"/><Relationship Id="rId43" Type="http://schemas.openxmlformats.org/officeDocument/2006/relationships/slide" Target="slides/slide41.xml"/><Relationship Id="rId44" Type="http://schemas.openxmlformats.org/officeDocument/2006/relationships/notesMaster" Target="notesMasters/notesMaster1.xml"/><Relationship Id="rId45" Type="http://schemas.openxmlformats.org/officeDocument/2006/relationships/tags" Target="tags/tag1.xml"/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heme" Target="theme/theme1.xml"/><Relationship Id="rId49" Type="http://schemas.openxmlformats.org/officeDocument/2006/relationships/tableStyles" Target="tableStyles.xml"/></Relationships>
</file>

<file path=ppt/drawings/_rels/vmlDrawing1.vml.rels><?xml version='1.0' encoding='UTF-8' standalone='yes'?>
<Relationships xmlns="http://schemas.openxmlformats.org/package/2006/relationships"><Relationship Id="rId1" Type="http://schemas.openxmlformats.org/officeDocument/2006/relationships/image" Target="../media/image29.emf"/></Relationships>
</file>

<file path=ppt/drawings/_rels/vmlDrawing2.vml.rels><?xml version='1.0' encoding='UTF-8' standalone='yes'?>
<Relationships xmlns="http://schemas.openxmlformats.org/package/2006/relationships"><Relationship Id="rId1" Type="http://schemas.openxmlformats.org/officeDocument/2006/relationships/image" Target="../media/image45.emf"/></Relationships>
</file>

<file path=ppt/drawings/_rels/vmlDrawing3.vml.rels><?xml version='1.0' encoding='UTF-8' standalone='yes'?>
<Relationships xmlns="http://schemas.openxmlformats.org/package/2006/relationships"><Relationship Id="rId1" Type="http://schemas.openxmlformats.org/officeDocument/2006/relationships/image" Target="../media/image57.emf"/></Relationships>
</file>

<file path=ppt/drawings/_rels/vmlDrawing4.vml.rels><?xml version='1.0' encoding='UTF-8' standalone='yes'?>
<Relationships xmlns="http://schemas.openxmlformats.org/package/2006/relationships"><Relationship Id="rId1" Type="http://schemas.openxmlformats.org/officeDocument/2006/relationships/image" Target="../media/image59.emf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3BB293-0719-4B19-A181-EE36FD0623AD}" type="datetimeFigureOut">
              <a:rPr lang="en-US" smtClean="0"/>
              <a:pPr/>
              <a:t>8/29/2022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EA8B73-FCCD-4D4C-BC4E-0CE5120A1B5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9637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2177278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1pPr>
    <a:lvl2pPr marL="1088639" algn="l" defTabSz="2177278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2pPr>
    <a:lvl3pPr marL="2177278" algn="l" defTabSz="2177278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3pPr>
    <a:lvl4pPr marL="3265917" algn="l" defTabSz="2177278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4pPr>
    <a:lvl5pPr marL="4354556" algn="l" defTabSz="2177278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5pPr>
    <a:lvl6pPr marL="5443195" algn="l" defTabSz="2177278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6pPr>
    <a:lvl7pPr marL="6531834" algn="l" defTabSz="2177278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7pPr>
    <a:lvl8pPr marL="7620472" algn="l" defTabSz="2177278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8pPr>
    <a:lvl9pPr marL="8709111" algn="l" defTabSz="2177278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5649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0113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5704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0113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9035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0113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0113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0113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0113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3864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76618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1998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01003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85252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82493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73355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56757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56490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01131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16900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97272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865858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9727" y="1781954"/>
            <a:ext cx="21031200" cy="2651126"/>
          </a:xfrm>
          <a:prstGeom prst="rect">
            <a:avLst/>
          </a:prstGeom>
        </p:spPr>
        <p:txBody>
          <a:bodyPr/>
          <a:lstStyle>
            <a:lvl1pPr algn="l">
              <a:defRPr sz="5400">
                <a:latin typeface="Tomaho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99727" y="4702953"/>
            <a:ext cx="10363200" cy="8702676"/>
          </a:xfrm>
          <a:prstGeom prst="rect">
            <a:avLst/>
          </a:prstGeom>
        </p:spPr>
        <p:txBody>
          <a:bodyPr/>
          <a:lstStyle>
            <a:lvl1pPr algn="l">
              <a:defRPr sz="4800">
                <a:latin typeface="Tomaho"/>
              </a:defRPr>
            </a:lvl1pPr>
            <a:lvl2pPr algn="l">
              <a:defRPr sz="4800">
                <a:latin typeface="Tomaho"/>
              </a:defRPr>
            </a:lvl2pPr>
            <a:lvl3pPr algn="l">
              <a:defRPr sz="4800">
                <a:latin typeface="Tomaho"/>
              </a:defRPr>
            </a:lvl3pPr>
            <a:lvl4pPr algn="l">
              <a:defRPr sz="4800">
                <a:latin typeface="Tomaho"/>
              </a:defRPr>
            </a:lvl4pPr>
            <a:lvl5pPr algn="l">
              <a:defRPr sz="4800">
                <a:latin typeface="Tomaho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67727" y="4702953"/>
            <a:ext cx="10363200" cy="8702676"/>
          </a:xfrm>
          <a:prstGeom prst="rect">
            <a:avLst/>
          </a:prstGeom>
        </p:spPr>
        <p:txBody>
          <a:bodyPr/>
          <a:lstStyle>
            <a:lvl1pPr algn="l">
              <a:defRPr sz="4800">
                <a:latin typeface="Tomaho"/>
              </a:defRPr>
            </a:lvl1pPr>
            <a:lvl2pPr algn="l">
              <a:defRPr sz="4800">
                <a:latin typeface="Tomaho"/>
              </a:defRPr>
            </a:lvl2pPr>
            <a:lvl3pPr algn="l">
              <a:defRPr sz="4800">
                <a:latin typeface="Tomaho"/>
              </a:defRPr>
            </a:lvl3pPr>
            <a:lvl4pPr algn="l">
              <a:defRPr sz="4800">
                <a:latin typeface="Tomaho"/>
              </a:defRPr>
            </a:lvl4pPr>
            <a:lvl5pPr algn="l">
              <a:defRPr sz="4800">
                <a:latin typeface="Tomaho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8/29/2022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20733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>
        <p:tmplLst>
          <p:tmpl lvl="1"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" grpId="0" build="p">
        <p:tmplLst>
          <p:tmpl lvl="1"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730251"/>
            <a:ext cx="21031200" cy="265112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9577" y="3362326"/>
            <a:ext cx="10315574" cy="164782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79577" y="5010150"/>
            <a:ext cx="10315574" cy="736917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344400" y="3362326"/>
            <a:ext cx="10366376" cy="164782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344400" y="5010150"/>
            <a:ext cx="10366376" cy="736917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8/29/2022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50806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75104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3700" y="3419477"/>
            <a:ext cx="21031200" cy="5705474"/>
          </a:xfrm>
          <a:prstGeom prst="rect">
            <a:avLst/>
          </a:prstGeom>
        </p:spPr>
        <p:txBody>
          <a:bodyPr anchor="b"/>
          <a:lstStyle>
            <a:lvl1pPr>
              <a:defRPr sz="1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63700" y="9178927"/>
            <a:ext cx="21031200" cy="300037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75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93819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730251"/>
            <a:ext cx="21031200" cy="265112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8/29/2022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24193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8/29/2022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58988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7" y="914400"/>
            <a:ext cx="7864474" cy="3200400"/>
          </a:xfrm>
          <a:prstGeom prst="rect">
            <a:avLst/>
          </a:prstGeo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66376" y="1974851"/>
            <a:ext cx="12344400" cy="9747250"/>
          </a:xfrm>
          <a:prstGeom prst="rect">
            <a:avLst/>
          </a:prstGeom>
        </p:spPr>
        <p:txBody>
          <a:bodyPr/>
          <a:lstStyle>
            <a:lvl1pPr>
              <a:defRPr sz="6400"/>
            </a:lvl1pPr>
            <a:lvl2pPr>
              <a:defRPr sz="5600"/>
            </a:lvl2pPr>
            <a:lvl3pPr>
              <a:defRPr sz="48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7" y="4114800"/>
            <a:ext cx="7864474" cy="76231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8/29/2022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65581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7" y="914400"/>
            <a:ext cx="7864474" cy="3200400"/>
          </a:xfrm>
          <a:prstGeom prst="rect">
            <a:avLst/>
          </a:prstGeo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366376" y="1974851"/>
            <a:ext cx="12344400" cy="97472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400"/>
            </a:lvl1pPr>
            <a:lvl2pPr marL="914400" indent="0">
              <a:buNone/>
              <a:defRPr sz="5600"/>
            </a:lvl2pPr>
            <a:lvl3pPr marL="1828800" indent="0">
              <a:buNone/>
              <a:defRPr sz="4800"/>
            </a:lvl3pPr>
            <a:lvl4pPr marL="2743200" indent="0">
              <a:buNone/>
              <a:defRPr sz="4000"/>
            </a:lvl4pPr>
            <a:lvl5pPr marL="3657600" indent="0">
              <a:buNone/>
              <a:defRPr sz="4000"/>
            </a:lvl5pPr>
            <a:lvl6pPr marL="4572000" indent="0">
              <a:buNone/>
              <a:defRPr sz="4000"/>
            </a:lvl6pPr>
            <a:lvl7pPr marL="5486400" indent="0">
              <a:buNone/>
              <a:defRPr sz="4000"/>
            </a:lvl7pPr>
            <a:lvl8pPr marL="6400800" indent="0">
              <a:buNone/>
              <a:defRPr sz="4000"/>
            </a:lvl8pPr>
            <a:lvl9pPr marL="7315200" indent="0">
              <a:buNone/>
              <a:defRPr sz="4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7" y="4114800"/>
            <a:ext cx="7864474" cy="76231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8/29/2022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9836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730251"/>
            <a:ext cx="21031200" cy="265112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76400" y="3651250"/>
            <a:ext cx="21031200" cy="8702676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8855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7449800" y="730250"/>
            <a:ext cx="5257800" cy="11623676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76400" y="730250"/>
            <a:ext cx="15468600" cy="11623676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83307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568361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695976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0" y="2244726"/>
            <a:ext cx="18288000" cy="4775200"/>
          </a:xfrm>
          <a:prstGeom prst="rect">
            <a:avLst/>
          </a:prstGeom>
        </p:spPr>
        <p:txBody>
          <a:bodyPr anchor="b"/>
          <a:lstStyle>
            <a:lvl1pPr algn="ctr">
              <a:defRPr sz="1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000" y="7204076"/>
            <a:ext cx="18288000" cy="331152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800"/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7877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730251"/>
            <a:ext cx="21031200" cy="265112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76400" y="3651250"/>
            <a:ext cx="21031200" cy="870267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61529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3700" y="3419477"/>
            <a:ext cx="21031200" cy="5705474"/>
          </a:xfrm>
          <a:prstGeom prst="rect">
            <a:avLst/>
          </a:prstGeom>
        </p:spPr>
        <p:txBody>
          <a:bodyPr anchor="b"/>
          <a:lstStyle>
            <a:lvl1pPr>
              <a:defRPr sz="1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63700" y="9178927"/>
            <a:ext cx="21031200" cy="300037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75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59446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730251"/>
            <a:ext cx="21031200" cy="265112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76400" y="3651250"/>
            <a:ext cx="10363200" cy="870267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44400" y="3651250"/>
            <a:ext cx="10363200" cy="870267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8/29/2022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68330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730251"/>
            <a:ext cx="21031200" cy="265112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9577" y="3362326"/>
            <a:ext cx="10315574" cy="164782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79577" y="5010150"/>
            <a:ext cx="10315574" cy="736917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344400" y="3362326"/>
            <a:ext cx="10366376" cy="164782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344400" y="5010150"/>
            <a:ext cx="10366376" cy="736917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8/29/2022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77825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730251"/>
            <a:ext cx="21031200" cy="265112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8/29/2022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51054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8/29/2022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24628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7" y="914400"/>
            <a:ext cx="7864474" cy="3200400"/>
          </a:xfrm>
          <a:prstGeom prst="rect">
            <a:avLst/>
          </a:prstGeo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66376" y="1974851"/>
            <a:ext cx="12344400" cy="9747250"/>
          </a:xfrm>
          <a:prstGeom prst="rect">
            <a:avLst/>
          </a:prstGeom>
        </p:spPr>
        <p:txBody>
          <a:bodyPr/>
          <a:lstStyle>
            <a:lvl1pPr>
              <a:defRPr sz="6400"/>
            </a:lvl1pPr>
            <a:lvl2pPr>
              <a:defRPr sz="5600"/>
            </a:lvl2pPr>
            <a:lvl3pPr>
              <a:defRPr sz="48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7" y="4114800"/>
            <a:ext cx="7864474" cy="76231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8/29/2022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48112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7" y="914400"/>
            <a:ext cx="7864474" cy="3200400"/>
          </a:xfrm>
          <a:prstGeom prst="rect">
            <a:avLst/>
          </a:prstGeo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366376" y="1974851"/>
            <a:ext cx="12344400" cy="97472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400"/>
            </a:lvl1pPr>
            <a:lvl2pPr marL="914400" indent="0">
              <a:buNone/>
              <a:defRPr sz="5600"/>
            </a:lvl2pPr>
            <a:lvl3pPr marL="1828800" indent="0">
              <a:buNone/>
              <a:defRPr sz="4800"/>
            </a:lvl3pPr>
            <a:lvl4pPr marL="2743200" indent="0">
              <a:buNone/>
              <a:defRPr sz="4000"/>
            </a:lvl4pPr>
            <a:lvl5pPr marL="3657600" indent="0">
              <a:buNone/>
              <a:defRPr sz="4000"/>
            </a:lvl5pPr>
            <a:lvl6pPr marL="4572000" indent="0">
              <a:buNone/>
              <a:defRPr sz="4000"/>
            </a:lvl6pPr>
            <a:lvl7pPr marL="5486400" indent="0">
              <a:buNone/>
              <a:defRPr sz="4000"/>
            </a:lvl7pPr>
            <a:lvl8pPr marL="6400800" indent="0">
              <a:buNone/>
              <a:defRPr sz="4000"/>
            </a:lvl8pPr>
            <a:lvl9pPr marL="7315200" indent="0">
              <a:buNone/>
              <a:defRPr sz="4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7" y="4114800"/>
            <a:ext cx="7864474" cy="76231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8/29/2022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70736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730251"/>
            <a:ext cx="21031200" cy="265112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76400" y="3651250"/>
            <a:ext cx="21031200" cy="8702676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93066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7449800" y="730250"/>
            <a:ext cx="5257800" cy="11623676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04850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219200" y="12712706"/>
            <a:ext cx="5689601" cy="730250"/>
          </a:xfrm>
          <a:prstGeom prst="rect">
            <a:avLst/>
          </a:prstGeom>
        </p:spPr>
        <p:txBody>
          <a:bodyPr lIns="91426" tIns="45713" rIns="91426" bIns="45713"/>
          <a:lstStyle/>
          <a:p>
            <a:fld id="{D15044BE-B3F3-4258-B55D-9238C2EBFDF1}" type="datetimeFigureOut">
              <a:rPr lang="en-US" smtClean="0"/>
              <a:pPr/>
              <a:t>8/29/2022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331205" y="12712706"/>
            <a:ext cx="7721601" cy="730250"/>
          </a:xfrm>
          <a:prstGeom prst="rect">
            <a:avLst/>
          </a:prstGeom>
        </p:spPr>
        <p:txBody>
          <a:bodyPr lIns="91426" tIns="45713" rIns="91426" bIns="45713"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475204" y="12712706"/>
            <a:ext cx="5689601" cy="730250"/>
          </a:xfrm>
          <a:prstGeom prst="rect">
            <a:avLst/>
          </a:prstGeom>
        </p:spPr>
        <p:txBody>
          <a:bodyPr lIns="91426" tIns="45713" rIns="91426" bIns="45713"/>
          <a:lstStyle/>
          <a:p>
            <a:fld id="{E56A0A80-8336-46B1-B89F-89FB7E7362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86206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219202" y="12712702"/>
            <a:ext cx="5689600" cy="730250"/>
          </a:xfrm>
          <a:prstGeom prst="rect">
            <a:avLst/>
          </a:prstGeom>
        </p:spPr>
        <p:txBody>
          <a:bodyPr/>
          <a:lstStyle/>
          <a:p>
            <a:fld id="{D15044BE-B3F3-4258-B55D-9238C2EBFDF1}" type="datetimeFigureOut">
              <a:rPr lang="en-US" smtClean="0"/>
              <a:pPr/>
              <a:t>8/29/2022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331200" y="12712702"/>
            <a:ext cx="7721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475201" y="12712702"/>
            <a:ext cx="5689600" cy="730250"/>
          </a:xfrm>
          <a:prstGeom prst="rect">
            <a:avLst/>
          </a:prstGeom>
        </p:spPr>
        <p:txBody>
          <a:bodyPr/>
          <a:lstStyle/>
          <a:p>
            <a:fld id="{E56A0A80-8336-46B1-B89F-89FB7E7362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16447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219201" y="12712701"/>
            <a:ext cx="5689600" cy="730250"/>
          </a:xfrm>
          <a:prstGeom prst="rect">
            <a:avLst/>
          </a:prstGeom>
        </p:spPr>
        <p:txBody>
          <a:bodyPr/>
          <a:lstStyle/>
          <a:p>
            <a:fld id="{D15044BE-B3F3-4258-B55D-9238C2EBFDF1}" type="datetimeFigureOut">
              <a:rPr lang="en-US" smtClean="0"/>
              <a:pPr/>
              <a:t>8/29/2022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331200" y="12712701"/>
            <a:ext cx="7721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475200" y="12712701"/>
            <a:ext cx="5689600" cy="730250"/>
          </a:xfrm>
          <a:prstGeom prst="rect">
            <a:avLst/>
          </a:prstGeom>
        </p:spPr>
        <p:txBody>
          <a:bodyPr/>
          <a:lstStyle/>
          <a:p>
            <a:fld id="{E56A0A80-8336-46B1-B89F-89FB7E7362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76608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219201" y="12712701"/>
            <a:ext cx="5689600" cy="730250"/>
          </a:xfrm>
          <a:prstGeom prst="rect">
            <a:avLst/>
          </a:prstGeom>
        </p:spPr>
        <p:txBody>
          <a:bodyPr/>
          <a:lstStyle/>
          <a:p>
            <a:fld id="{D15044BE-B3F3-4258-B55D-9238C2EBFDF1}" type="datetimeFigureOut">
              <a:rPr lang="en-US" smtClean="0"/>
              <a:pPr/>
              <a:t>8/29/2022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331200" y="12712701"/>
            <a:ext cx="7721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475200" y="12712701"/>
            <a:ext cx="5689600" cy="730250"/>
          </a:xfrm>
          <a:prstGeom prst="rect">
            <a:avLst/>
          </a:prstGeom>
        </p:spPr>
        <p:txBody>
          <a:bodyPr/>
          <a:lstStyle/>
          <a:p>
            <a:fld id="{E56A0A80-8336-46B1-B89F-89FB7E7362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81351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gi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26.xml"/><Relationship Id="rId15" Type="http://schemas.openxmlformats.org/officeDocument/2006/relationships/slideLayout" Target="../slideLayouts/slideLayout27.xml"/><Relationship Id="rId16" Type="http://schemas.openxmlformats.org/officeDocument/2006/relationships/theme" Target="../theme/theme2.xml"/><Relationship Id="rId17" Type="http://schemas.openxmlformats.org/officeDocument/2006/relationships/image" Target="../media/image1.gi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3140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2" r:id="rId1"/>
    <p:sldLayoutId id="2147483743" r:id="rId2"/>
    <p:sldLayoutId id="2147483740" r:id="rId3"/>
    <p:sldLayoutId id="2147483741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49" r:id="rId10"/>
    <p:sldLayoutId id="2147483750" r:id="rId11"/>
    <p:sldLayoutId id="2147483782" r:id="rId12"/>
  </p:sldLayoutIdLst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1094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  <p:sldLayoutId id="2147483766" r:id="rId12"/>
    <p:sldLayoutId id="2147483767" r:id="rId13"/>
    <p:sldLayoutId id="2147483768" r:id="rId14"/>
    <p:sldLayoutId id="2147483769" r:id="rId15"/>
  </p:sldLayoutIdLst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emf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6.png"/><Relationship Id="rId5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image" Target="../media/image6.png"/><Relationship Id="rId5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Relationship Id="rId4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0.png"/><Relationship Id="rId4" Type="http://schemas.openxmlformats.org/officeDocument/2006/relationships/image" Target="../media/image11.png"/><Relationship Id="rId5" Type="http://schemas.openxmlformats.org/officeDocument/2006/relationships/image" Target="../media/image2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Relationship Id="rId4" Type="http://schemas.openxmlformats.org/officeDocument/2006/relationships/image" Target="../media/image23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png"/><Relationship Id="rId4" Type="http://schemas.openxmlformats.org/officeDocument/2006/relationships/image" Target="../media/image2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6.png"/><Relationship Id="rId4" Type="http://schemas.openxmlformats.org/officeDocument/2006/relationships/image" Target="../media/image2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0.png"/><Relationship Id="rId4" Type="http://schemas.openxmlformats.org/officeDocument/2006/relationships/image" Target="../media/image2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emf"/><Relationship Id="rId4" Type="http://schemas.openxmlformats.org/officeDocument/2006/relationships/image" Target="../media/image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9.xml"/><Relationship Id="rId4" Type="http://schemas.openxmlformats.org/officeDocument/2006/relationships/image" Target="../media/image231.png"/><Relationship Id="rId5" Type="http://schemas.openxmlformats.org/officeDocument/2006/relationships/package" Target="../embeddings/Microsoft_Word_Document.docx"/><Relationship Id="rId6" Type="http://schemas.openxmlformats.org/officeDocument/2006/relationships/image" Target="../media/image29.emf"/><Relationship Id="rId7" Type="http://schemas.openxmlformats.org/officeDocument/2006/relationships/image" Target="../media/image80.png"/><Relationship Id="rId8" Type="http://schemas.openxmlformats.org/officeDocument/2006/relationships/image" Target="../media/image30.wmf"/><Relationship Id="rId9" Type="http://schemas.openxmlformats.org/officeDocument/2006/relationships/image" Target="../media/image31.wmf"/><Relationship Id="rId10" Type="http://schemas.openxmlformats.org/officeDocument/2006/relationships/image" Target="../media/image32.wmf"/><Relationship Id="rId11" Type="http://schemas.openxmlformats.org/officeDocument/2006/relationships/image" Target="../media/image33.wmf"/><Relationship Id="rId12" Type="http://schemas.openxmlformats.org/officeDocument/2006/relationships/image" Target="../media/image34.wmf"/><Relationship Id="rId13" Type="http://schemas.openxmlformats.org/officeDocument/2006/relationships/image" Target="../media/image35.wmf"/><Relationship Id="rId14" Type="http://schemas.openxmlformats.org/officeDocument/2006/relationships/image" Target="../media/image36.wmf"/><Relationship Id="rId15" Type="http://schemas.openxmlformats.org/officeDocument/2006/relationships/image" Target="../media/image37.wmf"/><Relationship Id="rId16" Type="http://schemas.openxmlformats.org/officeDocument/2006/relationships/image" Target="../media/image38.wmf"/><Relationship Id="rId17" Type="http://schemas.openxmlformats.org/officeDocument/2006/relationships/image" Target="../media/image39.wmf"/><Relationship Id="rId18" Type="http://schemas.openxmlformats.org/officeDocument/2006/relationships/image" Target="../media/image40.wmf"/><Relationship Id="rId19" Type="http://schemas.openxmlformats.org/officeDocument/2006/relationships/image" Target="../media/image41.wmf"/><Relationship Id="rId20" Type="http://schemas.openxmlformats.org/officeDocument/2006/relationships/image" Target="../media/image42.wmf"/><Relationship Id="rId21" Type="http://schemas.openxmlformats.org/officeDocument/2006/relationships/image" Target="../media/image43.wmf"/><Relationship Id="rId22" Type="http://schemas.openxmlformats.org/officeDocument/2006/relationships/image" Target="../media/image44.wmf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2.vml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20.xml"/><Relationship Id="rId4" Type="http://schemas.openxmlformats.org/officeDocument/2006/relationships/package" Target="../embeddings/Microsoft_Word_Document1.docx"/><Relationship Id="rId5" Type="http://schemas.openxmlformats.org/officeDocument/2006/relationships/image" Target="../media/image45.emf"/><Relationship Id="rId6" Type="http://schemas.openxmlformats.org/officeDocument/2006/relationships/image" Target="../media/image5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50.png"/><Relationship Id="rId4" Type="http://schemas.openxmlformats.org/officeDocument/2006/relationships/image" Target="../media/image46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Relationship Id="rId4" Type="http://schemas.openxmlformats.org/officeDocument/2006/relationships/image" Target="../media/image33.png"/><Relationship Id="rId5" Type="http://schemas.openxmlformats.org/officeDocument/2006/relationships/image" Target="../media/image47.wmf"/><Relationship Id="rId6" Type="http://schemas.openxmlformats.org/officeDocument/2006/relationships/image" Target="../media/image48.wmf"/><Relationship Id="rId7" Type="http://schemas.openxmlformats.org/officeDocument/2006/relationships/image" Target="../media/image49.wmf"/><Relationship Id="rId8" Type="http://schemas.openxmlformats.org/officeDocument/2006/relationships/image" Target="../media/image50.wmf"/><Relationship Id="rId9" Type="http://schemas.openxmlformats.org/officeDocument/2006/relationships/image" Target="../media/image51.wmf"/><Relationship Id="rId10" Type="http://schemas.openxmlformats.org/officeDocument/2006/relationships/image" Target="../media/image52.wmf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34.png"/><Relationship Id="rId3" Type="http://schemas.openxmlformats.org/officeDocument/2006/relationships/image" Target="../media/image53.png"/><Relationship Id="rId4" Type="http://schemas.openxmlformats.org/officeDocument/2006/relationships/image" Target="../media/image36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37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38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4.png"/><Relationship Id="rId3" Type="http://schemas.openxmlformats.org/officeDocument/2006/relationships/image" Target="../media/image40.png"/><Relationship Id="rId4" Type="http://schemas.openxmlformats.org/officeDocument/2006/relationships/image" Target="../media/image4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42.png"/><Relationship Id="rId3" Type="http://schemas.openxmlformats.org/officeDocument/2006/relationships/image" Target="../media/image55.png"/><Relationship Id="rId4" Type="http://schemas.openxmlformats.org/officeDocument/2006/relationships/image" Target="../media/image44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6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460.png"/><Relationship Id="rId3" Type="http://schemas.openxmlformats.org/officeDocument/2006/relationships/image" Target="../media/image56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3.vml"/><Relationship Id="rId2" Type="http://schemas.openxmlformats.org/officeDocument/2006/relationships/slideLayout" Target="../slideLayouts/slideLayout11.xml"/><Relationship Id="rId3" Type="http://schemas.openxmlformats.org/officeDocument/2006/relationships/image" Target="../media/image56.png"/><Relationship Id="rId4" Type="http://schemas.openxmlformats.org/officeDocument/2006/relationships/oleObject" Target="../embeddings/oleObject1.bin"/><Relationship Id="rId5" Type="http://schemas.openxmlformats.org/officeDocument/2006/relationships/image" Target="../media/image57.emf"/><Relationship Id="rId6" Type="http://schemas.openxmlformats.org/officeDocument/2006/relationships/image" Target="../media/image48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6.png"/><Relationship Id="rId3" Type="http://schemas.openxmlformats.org/officeDocument/2006/relationships/image" Target="../media/image490.png"/><Relationship Id="rId4" Type="http://schemas.openxmlformats.org/officeDocument/2006/relationships/image" Target="../media/image58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10.png"/><Relationship Id="rId3" Type="http://schemas.openxmlformats.org/officeDocument/2006/relationships/image" Target="../media/image52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4.vml"/><Relationship Id="rId2" Type="http://schemas.openxmlformats.org/officeDocument/2006/relationships/slideLayout" Target="../slideLayouts/slideLayout11.xml"/><Relationship Id="rId3" Type="http://schemas.openxmlformats.org/officeDocument/2006/relationships/package" Target="../embeddings/Microsoft_Word_Document2.docx"/><Relationship Id="rId4" Type="http://schemas.openxmlformats.org/officeDocument/2006/relationships/image" Target="../media/image59.emf"/><Relationship Id="rId5" Type="http://schemas.openxmlformats.org/officeDocument/2006/relationships/image" Target="../media/image540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60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60.png"/><Relationship Id="rId3" Type="http://schemas.openxmlformats.org/officeDocument/2006/relationships/image" Target="../media/image570.png"/><Relationship Id="rId4" Type="http://schemas.openxmlformats.org/officeDocument/2006/relationships/image" Target="../media/image580.png"/><Relationship Id="rId5" Type="http://schemas.openxmlformats.org/officeDocument/2006/relationships/image" Target="../media/image590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600.png"/><Relationship Id="rId3" Type="http://schemas.openxmlformats.org/officeDocument/2006/relationships/image" Target="../media/image610.png"/><Relationship Id="rId4" Type="http://schemas.openxmlformats.org/officeDocument/2006/relationships/image" Target="../media/image62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630.png"/><Relationship Id="rId3" Type="http://schemas.openxmlformats.org/officeDocument/2006/relationships/image" Target="../media/image64.png"/><Relationship Id="rId4" Type="http://schemas.openxmlformats.org/officeDocument/2006/relationships/image" Target="../media/image6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630.png"/><Relationship Id="rId3" Type="http://schemas.openxmlformats.org/officeDocument/2006/relationships/image" Target="../media/image660.png"/><Relationship Id="rId4" Type="http://schemas.openxmlformats.org/officeDocument/2006/relationships/image" Target="../media/image63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68.png"/><Relationship Id="rId3" Type="http://schemas.openxmlformats.org/officeDocument/2006/relationships/image" Target="../media/image69.png"/><Relationship Id="rId4" Type="http://schemas.openxmlformats.org/officeDocument/2006/relationships/image" Target="../media/image7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1026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3FF6797-9084-4088-B03C-F68BB0D6D29D}"/>
              </a:ext>
            </a:extLst>
          </p:cNvPr>
          <p:cNvGrpSpPr/>
          <p:nvPr/>
        </p:nvGrpSpPr>
        <p:grpSpPr>
          <a:xfrm>
            <a:off x="9547912" y="1676399"/>
            <a:ext cx="14333062" cy="11181524"/>
            <a:chOff x="9721699" y="2126502"/>
            <a:chExt cx="14333062" cy="11181524"/>
          </a:xfrm>
        </p:grpSpPr>
        <p:grpSp>
          <p:nvGrpSpPr>
            <p:cNvPr id="8" name="Group 7"/>
            <p:cNvGrpSpPr/>
            <p:nvPr/>
          </p:nvGrpSpPr>
          <p:grpSpPr>
            <a:xfrm>
              <a:off x="9851187" y="2126503"/>
              <a:ext cx="13944600" cy="11181523"/>
              <a:chOff x="1339699" y="3448230"/>
              <a:chExt cx="13944600" cy="11181523"/>
            </a:xfrm>
          </p:grpSpPr>
          <p:sp>
            <p:nvSpPr>
              <p:cNvPr id="10" name="Right Triangle 9"/>
              <p:cNvSpPr/>
              <p:nvPr/>
            </p:nvSpPr>
            <p:spPr>
              <a:xfrm flipH="1">
                <a:off x="8958821" y="3486542"/>
                <a:ext cx="193377" cy="212342"/>
              </a:xfrm>
              <a:prstGeom prst="rtTriangle">
                <a:avLst/>
              </a:prstGeom>
              <a:solidFill>
                <a:schemeClr val="accent5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1" name="Group 10"/>
              <p:cNvGrpSpPr/>
              <p:nvPr/>
            </p:nvGrpSpPr>
            <p:grpSpPr>
              <a:xfrm>
                <a:off x="1339699" y="3448230"/>
                <a:ext cx="13944600" cy="11181523"/>
                <a:chOff x="1339699" y="3448230"/>
                <a:chExt cx="13944600" cy="11181523"/>
              </a:xfrm>
            </p:grpSpPr>
            <p:sp>
              <p:nvSpPr>
                <p:cNvPr id="12" name="Rounded Rectangle 11"/>
                <p:cNvSpPr/>
                <p:nvPr/>
              </p:nvSpPr>
              <p:spPr>
                <a:xfrm>
                  <a:off x="1339699" y="3696072"/>
                  <a:ext cx="13944600" cy="10933681"/>
                </a:xfrm>
                <a:prstGeom prst="roundRect">
                  <a:avLst>
                    <a:gd name="adj" fmla="val 2374"/>
                  </a:avLst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 w="28575">
                  <a:solidFill>
                    <a:srgbClr val="0999C8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18000" rIns="36000" bIns="18000" rtlCol="0" anchor="ctr"/>
                <a:lstStyle/>
                <a:p>
                  <a:pPr algn="ctr"/>
                  <a:endParaRPr lang="en-US" sz="4600"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  <p:sp>
              <p:nvSpPr>
                <p:cNvPr id="14" name="TextBox 13"/>
                <p:cNvSpPr txBox="1"/>
                <p:nvPr/>
              </p:nvSpPr>
              <p:spPr>
                <a:xfrm>
                  <a:off x="5759299" y="3448230"/>
                  <a:ext cx="3890809" cy="92333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 fontAlgn="auto">
                    <a:spcBef>
                      <a:spcPct val="50000"/>
                    </a:spcBef>
                    <a:spcAft>
                      <a:spcPts val="0"/>
                    </a:spcAft>
                    <a:defRPr/>
                  </a:pPr>
                  <a:r>
                    <a:rPr lang="en-US" sz="5400" b="1" cap="all" dirty="0">
                      <a:ln w="0"/>
                      <a:solidFill>
                        <a:schemeClr val="bg1"/>
                      </a:solidFill>
                      <a:effectLst>
                        <a:reflection blurRad="12700" stA="50000" endPos="50000" dist="5000" dir="5400000" sy="-100000" rotWithShape="0"/>
                      </a:effectLst>
                      <a:latin typeface="Tahoma" pitchFamily="34" charset="0"/>
                      <a:ea typeface="Tahoma" pitchFamily="34" charset="0"/>
                      <a:cs typeface="Tahoma" pitchFamily="34" charset="0"/>
                    </a:rPr>
                    <a:t>CHƯƠNG I</a:t>
                  </a:r>
                </a:p>
              </p:txBody>
            </p:sp>
          </p:grpSp>
        </p:grpSp>
        <p:sp>
          <p:nvSpPr>
            <p:cNvPr id="15" name="Right Triangle 14"/>
            <p:cNvSpPr/>
            <p:nvPr/>
          </p:nvSpPr>
          <p:spPr>
            <a:xfrm flipH="1">
              <a:off x="11477625" y="2164818"/>
              <a:ext cx="193377" cy="212342"/>
            </a:xfrm>
            <a:prstGeom prst="rtTriangle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ound Same Side Corner Rectangle 15"/>
            <p:cNvSpPr/>
            <p:nvPr/>
          </p:nvSpPr>
          <p:spPr>
            <a:xfrm flipV="1">
              <a:off x="9721699" y="2126502"/>
              <a:ext cx="13944599" cy="1305239"/>
            </a:xfrm>
            <a:prstGeom prst="round2Same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6"/>
            <p:cNvSpPr>
              <a:spLocks noChangeArrowheads="1"/>
            </p:cNvSpPr>
            <p:nvPr/>
          </p:nvSpPr>
          <p:spPr bwMode="auto">
            <a:xfrm>
              <a:off x="10384586" y="4088493"/>
              <a:ext cx="13281711" cy="75630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>
                <a:lnSpc>
                  <a:spcPct val="150000"/>
                </a:lnSpc>
                <a:spcBef>
                  <a:spcPct val="20000"/>
                </a:spcBef>
                <a:defRPr/>
              </a:pPr>
              <a:r>
                <a:rPr lang="en-US" sz="6000" b="1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§15. Hàm số</a:t>
              </a:r>
              <a:endParaRPr lang="en-US" sz="6000" b="1" dirty="0">
                <a:solidFill>
                  <a:srgbClr val="0000FF"/>
                </a:solidFill>
                <a:latin typeface="Tahoma" pitchFamily="34" charset="0"/>
                <a:ea typeface="Tahoma" pitchFamily="34" charset="0"/>
                <a:cs typeface="Tahoma" pitchFamily="34" charset="0"/>
              </a:endParaRPr>
            </a:p>
            <a:p>
              <a:pPr>
                <a:lnSpc>
                  <a:spcPct val="150000"/>
                </a:lnSpc>
                <a:spcBef>
                  <a:spcPct val="20000"/>
                </a:spcBef>
                <a:defRPr/>
              </a:pPr>
              <a:r>
                <a:rPr lang="en-US" sz="6000" b="1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§16. Hàm số bậc hai</a:t>
              </a:r>
              <a:endParaRPr lang="en-US" sz="6000" b="1" dirty="0">
                <a:solidFill>
                  <a:srgbClr val="0000FF"/>
                </a:solidFill>
                <a:latin typeface="Tahoma" pitchFamily="34" charset="0"/>
                <a:ea typeface="Tahoma" pitchFamily="34" charset="0"/>
                <a:cs typeface="Tahoma" pitchFamily="34" charset="0"/>
              </a:endParaRPr>
            </a:p>
            <a:p>
              <a:pPr>
                <a:lnSpc>
                  <a:spcPct val="150000"/>
                </a:lnSpc>
                <a:spcBef>
                  <a:spcPct val="20000"/>
                </a:spcBef>
                <a:defRPr/>
              </a:pPr>
              <a:r>
                <a:rPr lang="en-US" sz="6000" b="1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§17. Dấu của tam thức bậc hai</a:t>
              </a:r>
            </a:p>
            <a:p>
              <a:pPr>
                <a:lnSpc>
                  <a:spcPct val="150000"/>
                </a:lnSpc>
                <a:spcBef>
                  <a:spcPct val="20000"/>
                </a:spcBef>
                <a:defRPr/>
              </a:pPr>
              <a:r>
                <a:rPr lang="en-US" sz="6000" b="1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§18. Phương trình quy về phương trình bậc nhất bậc hai</a:t>
              </a:r>
              <a:endParaRPr lang="en-US" sz="6000" b="1" dirty="0">
                <a:solidFill>
                  <a:srgbClr val="0000FF"/>
                </a:solidFill>
                <a:latin typeface="Tahoma" pitchFamily="34" charset="0"/>
                <a:ea typeface="Tahoma" pitchFamily="34" charset="0"/>
                <a:cs typeface="Tahoma" pitchFamily="34" charset="0"/>
              </a:endParaRPr>
            </a:p>
          </p:txBody>
        </p:sp>
        <p:sp>
          <p:nvSpPr>
            <p:cNvPr id="2" name="TextBox 1"/>
            <p:cNvSpPr txBox="1"/>
            <p:nvPr/>
          </p:nvSpPr>
          <p:spPr>
            <a:xfrm>
              <a:off x="9851187" y="2185246"/>
              <a:ext cx="1420357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vi-VN" sz="4800" b="1">
                  <a:solidFill>
                    <a:schemeClr val="bg1"/>
                  </a:solidFill>
                  <a:latin typeface="+mj-lt"/>
                </a:rPr>
                <a:t>CHƯƠNG </a:t>
              </a:r>
              <a:r>
                <a:rPr lang="en-US" sz="4800" b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VI</a:t>
              </a:r>
              <a:r>
                <a:rPr lang="vi-VN" sz="4800" b="1">
                  <a:solidFill>
                    <a:schemeClr val="bg1"/>
                  </a:solidFill>
                  <a:latin typeface="+mj-lt"/>
                </a:rPr>
                <a:t>. </a:t>
              </a:r>
              <a:r>
                <a:rPr lang="en-US" sz="4800" b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HÀM SỐ - ĐỒ THỊ VÀ ỨNG DỤNG</a:t>
              </a:r>
              <a:endParaRPr lang="vi-VN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655342"/>
            <a:ext cx="7936992" cy="112025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8" name="Rounded Rectangle 1027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9" name="Rectangle 1028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0" name="Rectangle 1029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1" name="TextBox 1030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   ·   BÀI 15</a:t>
            </a:r>
          </a:p>
        </p:txBody>
      </p:sp>
      <p:sp>
        <p:nvSpPr>
          <p:cNvPr id="1032" name="TextBox 1031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351405188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Rectangle 115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08C62C3-3138-4092-86C2-85A1567C6E78}"/>
              </a:ext>
            </a:extLst>
          </p:cNvPr>
          <p:cNvGrpSpPr/>
          <p:nvPr/>
        </p:nvGrpSpPr>
        <p:grpSpPr>
          <a:xfrm>
            <a:off x="990596" y="1809815"/>
            <a:ext cx="19651835" cy="11316856"/>
            <a:chOff x="1447795" y="1793811"/>
            <a:chExt cx="19651835" cy="11316856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E17C9077-2F0E-4830-9CBB-2CF87E745444}"/>
                </a:ext>
              </a:extLst>
            </p:cNvPr>
            <p:cNvGrpSpPr/>
            <p:nvPr/>
          </p:nvGrpSpPr>
          <p:grpSpPr>
            <a:xfrm>
              <a:off x="1447795" y="1793811"/>
              <a:ext cx="19651835" cy="11316856"/>
              <a:chOff x="1447795" y="1793811"/>
              <a:chExt cx="19651835" cy="11316856"/>
            </a:xfrm>
          </p:grpSpPr>
          <p:grpSp>
            <p:nvGrpSpPr>
              <p:cNvPr id="69" name="Group 68"/>
              <p:cNvGrpSpPr/>
              <p:nvPr/>
            </p:nvGrpSpPr>
            <p:grpSpPr>
              <a:xfrm>
                <a:off x="10874127" y="1797127"/>
                <a:ext cx="3890809" cy="923330"/>
                <a:chOff x="5759299" y="3448230"/>
                <a:chExt cx="3890809" cy="923330"/>
              </a:xfrm>
            </p:grpSpPr>
            <p:sp>
              <p:nvSpPr>
                <p:cNvPr id="70" name="Right Triangle 69"/>
                <p:cNvSpPr/>
                <p:nvPr/>
              </p:nvSpPr>
              <p:spPr>
                <a:xfrm flipH="1">
                  <a:off x="8958821" y="3486542"/>
                  <a:ext cx="193377" cy="212342"/>
                </a:xfrm>
                <a:prstGeom prst="rtTriangle">
                  <a:avLst/>
                </a:prstGeom>
                <a:solidFill>
                  <a:schemeClr val="accent5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3" name="TextBox 72"/>
                <p:cNvSpPr txBox="1"/>
                <p:nvPr/>
              </p:nvSpPr>
              <p:spPr>
                <a:xfrm>
                  <a:off x="5759299" y="3448230"/>
                  <a:ext cx="3890809" cy="92333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 fontAlgn="auto">
                    <a:spcBef>
                      <a:spcPct val="50000"/>
                    </a:spcBef>
                    <a:spcAft>
                      <a:spcPts val="0"/>
                    </a:spcAft>
                    <a:defRPr/>
                  </a:pPr>
                  <a:r>
                    <a:rPr lang="en-US" sz="5400" b="1" cap="all" dirty="0">
                      <a:ln w="0"/>
                      <a:solidFill>
                        <a:schemeClr val="bg1"/>
                      </a:solidFill>
                      <a:effectLst>
                        <a:reflection blurRad="12700" stA="50000" endPos="50000" dist="5000" dir="5400000" sy="-100000" rotWithShape="0"/>
                      </a:effectLst>
                      <a:latin typeface="Tahoma" pitchFamily="34" charset="0"/>
                      <a:ea typeface="Tahoma" pitchFamily="34" charset="0"/>
                      <a:cs typeface="Tahoma" pitchFamily="34" charset="0"/>
                    </a:rPr>
                    <a:t>CHƯƠNG I</a:t>
                  </a:r>
                </a:p>
              </p:txBody>
            </p:sp>
          </p:grpSp>
          <p:sp>
            <p:nvSpPr>
              <p:cNvPr id="74" name="Right Triangle 73"/>
              <p:cNvSpPr/>
              <p:nvPr/>
            </p:nvSpPr>
            <p:spPr>
              <a:xfrm flipH="1">
                <a:off x="7921388" y="1793819"/>
                <a:ext cx="193377" cy="212342"/>
              </a:xfrm>
              <a:prstGeom prst="rtTriangle">
                <a:avLst/>
              </a:prstGeom>
              <a:solidFill>
                <a:schemeClr val="accent5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6" name="Round Same Side Corner Rectangle 95"/>
              <p:cNvSpPr/>
              <p:nvPr/>
            </p:nvSpPr>
            <p:spPr>
              <a:xfrm flipV="1">
                <a:off x="5290678" y="1793811"/>
                <a:ext cx="15808952" cy="1181261"/>
              </a:xfrm>
              <a:prstGeom prst="round2SameRect">
                <a:avLst>
                  <a:gd name="adj1" fmla="val 6458"/>
                  <a:gd name="adj2" fmla="val 0"/>
                </a:avLst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8" name="TextBox 97"/>
              <p:cNvSpPr txBox="1"/>
              <p:nvPr/>
            </p:nvSpPr>
            <p:spPr>
              <a:xfrm>
                <a:off x="5757860" y="1953221"/>
                <a:ext cx="15341769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vi-VN" sz="4800" b="1">
                    <a:solidFill>
                      <a:srgbClr val="FF0000"/>
                    </a:solidFill>
                    <a:latin typeface="+mj-lt"/>
                  </a:rPr>
                  <a:t>CHƯƠNG </a:t>
                </a:r>
                <a:r>
                  <a:rPr lang="en-US" sz="4800" b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VI</a:t>
                </a:r>
                <a:r>
                  <a:rPr lang="vi-VN" sz="4800" b="1">
                    <a:solidFill>
                      <a:srgbClr val="FF0000"/>
                    </a:solidFill>
                    <a:latin typeface="+mj-lt"/>
                  </a:rPr>
                  <a:t>. </a:t>
                </a:r>
                <a:r>
                  <a:rPr lang="en-US" sz="4800" b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HÀM SỐ - ĐỒ THỊ VÀ ỨNG DỤNG</a:t>
                </a:r>
                <a:endParaRPr lang="vi-VN" sz="48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104" name="Picture 53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771230" y="2975075"/>
                <a:ext cx="1495424" cy="149542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17" name="Rectangle 16"/>
              <p:cNvSpPr/>
              <p:nvPr/>
            </p:nvSpPr>
            <p:spPr>
              <a:xfrm>
                <a:off x="7467544" y="4114018"/>
                <a:ext cx="13632086" cy="83322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10" tIns="45705" rIns="91410" bIns="45705" rtlCol="0" anchor="ctr"/>
              <a:lstStyle/>
              <a:p>
                <a:pPr algn="ctr"/>
                <a:endParaRPr lang="en-US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grpSp>
            <p:nvGrpSpPr>
              <p:cNvPr id="58" name="Group 26"/>
              <p:cNvGrpSpPr/>
              <p:nvPr/>
            </p:nvGrpSpPr>
            <p:grpSpPr>
              <a:xfrm>
                <a:off x="1447795" y="5264647"/>
                <a:ext cx="1392454" cy="872745"/>
                <a:chOff x="7459669" y="7543800"/>
                <a:chExt cx="1381118" cy="872846"/>
              </a:xfrm>
            </p:grpSpPr>
            <p:sp>
              <p:nvSpPr>
                <p:cNvPr id="59" name="Isosceles Triangle 44"/>
                <p:cNvSpPr/>
                <p:nvPr/>
              </p:nvSpPr>
              <p:spPr>
                <a:xfrm rot="16200000">
                  <a:off x="7469936" y="7533533"/>
                  <a:ext cx="143688" cy="164221"/>
                </a:xfrm>
                <a:custGeom>
                  <a:avLst/>
                  <a:gdLst>
                    <a:gd name="connsiteX0" fmla="*/ 0 w 293725"/>
                    <a:gd name="connsiteY0" fmla="*/ 164224 h 164224"/>
                    <a:gd name="connsiteX1" fmla="*/ 146863 w 293725"/>
                    <a:gd name="connsiteY1" fmla="*/ 0 h 164224"/>
                    <a:gd name="connsiteX2" fmla="*/ 293725 w 293725"/>
                    <a:gd name="connsiteY2" fmla="*/ 164224 h 164224"/>
                    <a:gd name="connsiteX3" fmla="*/ 0 w 293725"/>
                    <a:gd name="connsiteY3" fmla="*/ 164224 h 164224"/>
                    <a:gd name="connsiteX0" fmla="*/ 2363 w 296088"/>
                    <a:gd name="connsiteY0" fmla="*/ 164221 h 164221"/>
                    <a:gd name="connsiteX1" fmla="*/ 0 w 296088"/>
                    <a:gd name="connsiteY1" fmla="*/ 0 h 164221"/>
                    <a:gd name="connsiteX2" fmla="*/ 296088 w 296088"/>
                    <a:gd name="connsiteY2" fmla="*/ 164221 h 164221"/>
                    <a:gd name="connsiteX3" fmla="*/ 2363 w 296088"/>
                    <a:gd name="connsiteY3" fmla="*/ 164221 h 1642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96088" h="164221">
                      <a:moveTo>
                        <a:pt x="2363" y="164221"/>
                      </a:moveTo>
                      <a:cubicBezTo>
                        <a:pt x="1575" y="109481"/>
                        <a:pt x="788" y="54740"/>
                        <a:pt x="0" y="0"/>
                      </a:cubicBezTo>
                      <a:lnTo>
                        <a:pt x="296088" y="164221"/>
                      </a:lnTo>
                      <a:lnTo>
                        <a:pt x="2363" y="164221"/>
                      </a:lnTo>
                      <a:close/>
                    </a:path>
                  </a:pathLst>
                </a:custGeom>
                <a:solidFill>
                  <a:schemeClr val="accent5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3200">
                    <a:solidFill>
                      <a:prstClr val="white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grpSp>
              <p:nvGrpSpPr>
                <p:cNvPr id="60" name="Group 28"/>
                <p:cNvGrpSpPr/>
                <p:nvPr/>
              </p:nvGrpSpPr>
              <p:grpSpPr>
                <a:xfrm>
                  <a:off x="7469187" y="7685126"/>
                  <a:ext cx="1371600" cy="731520"/>
                  <a:chOff x="7469187" y="7685126"/>
                  <a:chExt cx="1371600" cy="731520"/>
                </a:xfrm>
              </p:grpSpPr>
              <p:sp>
                <p:nvSpPr>
                  <p:cNvPr id="61" name="Round Same Side Corner Rectangle 60"/>
                  <p:cNvSpPr/>
                  <p:nvPr/>
                </p:nvSpPr>
                <p:spPr>
                  <a:xfrm rot="5400000">
                    <a:off x="7789227" y="7365086"/>
                    <a:ext cx="731520" cy="1371600"/>
                  </a:xfrm>
                  <a:prstGeom prst="round2SameRect">
                    <a:avLst/>
                  </a:prstGeom>
                  <a:solidFill>
                    <a:srgbClr val="135F82"/>
                  </a:solidFill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3200">
                      <a:solidFill>
                        <a:prstClr val="white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endParaRPr>
                  </a:p>
                </p:txBody>
              </p:sp>
              <p:sp>
                <p:nvSpPr>
                  <p:cNvPr id="62" name="TextBox 61"/>
                  <p:cNvSpPr txBox="1"/>
                  <p:nvPr/>
                </p:nvSpPr>
                <p:spPr>
                  <a:xfrm>
                    <a:off x="7958807" y="7688759"/>
                    <a:ext cx="507514" cy="707968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US" sz="4000" b="1">
                        <a:solidFill>
                          <a:prstClr val="white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a:t>1</a:t>
                    </a:r>
                    <a:endParaRPr lang="en-US" sz="4000" b="1" dirty="0">
                      <a:solidFill>
                        <a:prstClr val="white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endParaRPr>
                  </a:p>
                </p:txBody>
              </p:sp>
            </p:grpSp>
          </p:grpSp>
          <p:grpSp>
            <p:nvGrpSpPr>
              <p:cNvPr id="63" name="Group 67"/>
              <p:cNvGrpSpPr/>
              <p:nvPr/>
            </p:nvGrpSpPr>
            <p:grpSpPr>
              <a:xfrm>
                <a:off x="1447804" y="7146804"/>
                <a:ext cx="7764406" cy="891801"/>
                <a:chOff x="7459670" y="6857078"/>
                <a:chExt cx="7765298" cy="891904"/>
              </a:xfrm>
            </p:grpSpPr>
            <p:sp>
              <p:nvSpPr>
                <p:cNvPr id="75" name="Rectangle 74"/>
                <p:cNvSpPr/>
                <p:nvPr/>
              </p:nvSpPr>
              <p:spPr>
                <a:xfrm>
                  <a:off x="9092456" y="6933280"/>
                  <a:ext cx="6132512" cy="81570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None/>
                    <a:defRPr/>
                  </a:pPr>
                  <a:r>
                    <a:rPr lang="en-US" sz="4700" b="1" spc="-150">
                      <a:solidFill>
                        <a:srgbClr val="242452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ĐỒ THỊ CỦA HÀM SỐ</a:t>
                  </a:r>
                  <a:endParaRPr lang="en-US" sz="4700" b="1" spc="-150" dirty="0">
                    <a:solidFill>
                      <a:srgbClr val="242452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grpSp>
              <p:nvGrpSpPr>
                <p:cNvPr id="76" name="Group 32"/>
                <p:cNvGrpSpPr/>
                <p:nvPr/>
              </p:nvGrpSpPr>
              <p:grpSpPr>
                <a:xfrm>
                  <a:off x="7459670" y="6857078"/>
                  <a:ext cx="1392616" cy="883939"/>
                  <a:chOff x="7459669" y="5876383"/>
                  <a:chExt cx="1381119" cy="883939"/>
                </a:xfrm>
              </p:grpSpPr>
              <p:sp>
                <p:nvSpPr>
                  <p:cNvPr id="77" name="Isosceles Triangle 44"/>
                  <p:cNvSpPr/>
                  <p:nvPr/>
                </p:nvSpPr>
                <p:spPr>
                  <a:xfrm rot="16200000">
                    <a:off x="7469936" y="5866116"/>
                    <a:ext cx="143688" cy="164221"/>
                  </a:xfrm>
                  <a:custGeom>
                    <a:avLst/>
                    <a:gdLst>
                      <a:gd name="connsiteX0" fmla="*/ 0 w 293725"/>
                      <a:gd name="connsiteY0" fmla="*/ 164224 h 164224"/>
                      <a:gd name="connsiteX1" fmla="*/ 146863 w 293725"/>
                      <a:gd name="connsiteY1" fmla="*/ 0 h 164224"/>
                      <a:gd name="connsiteX2" fmla="*/ 293725 w 293725"/>
                      <a:gd name="connsiteY2" fmla="*/ 164224 h 164224"/>
                      <a:gd name="connsiteX3" fmla="*/ 0 w 293725"/>
                      <a:gd name="connsiteY3" fmla="*/ 164224 h 164224"/>
                      <a:gd name="connsiteX0" fmla="*/ 2363 w 296088"/>
                      <a:gd name="connsiteY0" fmla="*/ 164221 h 164221"/>
                      <a:gd name="connsiteX1" fmla="*/ 0 w 296088"/>
                      <a:gd name="connsiteY1" fmla="*/ 0 h 164221"/>
                      <a:gd name="connsiteX2" fmla="*/ 296088 w 296088"/>
                      <a:gd name="connsiteY2" fmla="*/ 164221 h 164221"/>
                      <a:gd name="connsiteX3" fmla="*/ 2363 w 296088"/>
                      <a:gd name="connsiteY3" fmla="*/ 164221 h 16422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96088" h="164221">
                        <a:moveTo>
                          <a:pt x="2363" y="164221"/>
                        </a:moveTo>
                        <a:cubicBezTo>
                          <a:pt x="1575" y="109481"/>
                          <a:pt x="788" y="54740"/>
                          <a:pt x="0" y="0"/>
                        </a:cubicBezTo>
                        <a:lnTo>
                          <a:pt x="296088" y="164221"/>
                        </a:lnTo>
                        <a:lnTo>
                          <a:pt x="2363" y="164221"/>
                        </a:lnTo>
                        <a:close/>
                      </a:path>
                    </a:pathLst>
                  </a:custGeom>
                  <a:solidFill>
                    <a:schemeClr val="accent5">
                      <a:lumMod val="5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3200">
                      <a:solidFill>
                        <a:prstClr val="white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endParaRPr>
                  </a:p>
                </p:txBody>
              </p:sp>
              <p:grpSp>
                <p:nvGrpSpPr>
                  <p:cNvPr id="78" name="Group 41"/>
                  <p:cNvGrpSpPr/>
                  <p:nvPr/>
                </p:nvGrpSpPr>
                <p:grpSpPr>
                  <a:xfrm>
                    <a:off x="7469188" y="6028801"/>
                    <a:ext cx="1371600" cy="731521"/>
                    <a:chOff x="7469188" y="6028801"/>
                    <a:chExt cx="1371600" cy="731521"/>
                  </a:xfrm>
                </p:grpSpPr>
                <p:sp>
                  <p:nvSpPr>
                    <p:cNvPr id="79" name="Round Same Side Corner Rectangle 78"/>
                    <p:cNvSpPr/>
                    <p:nvPr/>
                  </p:nvSpPr>
                  <p:spPr>
                    <a:xfrm rot="5400000">
                      <a:off x="7789227" y="5708762"/>
                      <a:ext cx="731521" cy="1371600"/>
                    </a:xfrm>
                    <a:prstGeom prst="round2SameRect">
                      <a:avLst/>
                    </a:prstGeom>
                    <a:solidFill>
                      <a:srgbClr val="135F82"/>
                    </a:solidFill>
                    <a:ln>
                      <a:solidFill>
                        <a:schemeClr val="bg1">
                          <a:lumMod val="7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3200">
                        <a:solidFill>
                          <a:prstClr val="white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p:txBody>
                </p:sp>
                <p:sp>
                  <p:nvSpPr>
                    <p:cNvPr id="80" name="TextBox 79"/>
                    <p:cNvSpPr txBox="1"/>
                    <p:nvPr/>
                  </p:nvSpPr>
                  <p:spPr>
                    <a:xfrm>
                      <a:off x="7958806" y="6028801"/>
                      <a:ext cx="507513" cy="707967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 algn="ctr"/>
                      <a:r>
                        <a:rPr lang="en-US" sz="4000" b="1" dirty="0">
                          <a:solidFill>
                            <a:prstClr val="white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</a:t>
                      </a:r>
                    </a:p>
                  </p:txBody>
                </p:sp>
              </p:grpSp>
            </p:grpSp>
          </p:grpSp>
          <p:sp>
            <p:nvSpPr>
              <p:cNvPr id="87" name="TextBox 86"/>
              <p:cNvSpPr txBox="1"/>
              <p:nvPr/>
            </p:nvSpPr>
            <p:spPr>
              <a:xfrm>
                <a:off x="1951043" y="11270142"/>
                <a:ext cx="511679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4000" b="1">
                    <a:solidFill>
                      <a:prstClr val="white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4</a:t>
                </a:r>
                <a:endParaRPr lang="en-US" sz="4000" b="1" dirty="0">
                  <a:solidFill>
                    <a:prstClr val="white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91" name="TextBox 90"/>
              <p:cNvSpPr txBox="1"/>
              <p:nvPr/>
            </p:nvSpPr>
            <p:spPr>
              <a:xfrm>
                <a:off x="3844753" y="6486123"/>
                <a:ext cx="543740" cy="7694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4400" b="1" dirty="0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1</a:t>
                </a:r>
              </a:p>
            </p:txBody>
          </p:sp>
          <p:sp>
            <p:nvSpPr>
              <p:cNvPr id="95" name="TextBox 94"/>
              <p:cNvSpPr txBox="1"/>
              <p:nvPr/>
            </p:nvSpPr>
            <p:spPr>
              <a:xfrm>
                <a:off x="3809999" y="7688223"/>
                <a:ext cx="543740" cy="7694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4400" b="1" dirty="0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2</a:t>
                </a:r>
              </a:p>
            </p:txBody>
          </p:sp>
          <p:sp>
            <p:nvSpPr>
              <p:cNvPr id="53" name="TextBox 52"/>
              <p:cNvSpPr txBox="1"/>
              <p:nvPr/>
            </p:nvSpPr>
            <p:spPr>
              <a:xfrm>
                <a:off x="1951036" y="9563113"/>
                <a:ext cx="511679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4000" b="1" dirty="0">
                    <a:solidFill>
                      <a:prstClr val="white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3</a:t>
                </a:r>
              </a:p>
            </p:txBody>
          </p:sp>
          <p:sp>
            <p:nvSpPr>
              <p:cNvPr id="68" name="TextBox 67"/>
              <p:cNvSpPr txBox="1"/>
              <p:nvPr/>
            </p:nvSpPr>
            <p:spPr>
              <a:xfrm>
                <a:off x="2114514" y="12402780"/>
                <a:ext cx="184731" cy="707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endParaRPr lang="en-US" sz="4000" b="1" dirty="0">
                  <a:solidFill>
                    <a:prstClr val="white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103" name="Google Shape;122;p14">
              <a:extLst>
                <a:ext uri="{FF2B5EF4-FFF2-40B4-BE49-F238E27FC236}">
                  <a16:creationId xmlns:a16="http://schemas.microsoft.com/office/drawing/2014/main" id="{FAF7E6E7-D68E-4774-9801-54F6529B128E}"/>
                </a:ext>
              </a:extLst>
            </p:cNvPr>
            <p:cNvSpPr/>
            <p:nvPr/>
          </p:nvSpPr>
          <p:spPr>
            <a:xfrm>
              <a:off x="3165290" y="3009806"/>
              <a:ext cx="4418523" cy="882637"/>
            </a:xfrm>
            <a:prstGeom prst="rect">
              <a:avLst/>
            </a:prstGeom>
            <a:noFill/>
            <a:ln>
              <a:noFill/>
            </a:ln>
            <a:effectLst>
              <a:outerShdw blurRad="152400" dist="317500" dir="5400000" sx="90000" sy="-19000" rotWithShape="0">
                <a:srgbClr val="000000">
                  <a:alpha val="14901"/>
                </a:srgbClr>
              </a:outerShdw>
            </a:effectLst>
          </p:spPr>
          <p:txBody>
            <a:bodyPr spcFirstLastPara="1" wrap="square" lIns="91425" tIns="45700" rIns="91425" bIns="45700" anchor="t" anchorCtr="0">
              <a:noAutofit/>
              <a:scene3d>
                <a:camera prst="orthographicFront"/>
                <a:lightRig rig="threePt" dir="t"/>
              </a:scene3d>
              <a:sp3d prstMaterial="metal"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000">
                  <a:solidFill>
                    <a:srgbClr val="FF0000"/>
                  </a:solidFill>
                  <a:effectLst>
                    <a:glow rad="76200">
                      <a:srgbClr val="FFFF00">
                        <a:alpha val="47000"/>
                      </a:srgbClr>
                    </a:glow>
                    <a:outerShdw blurRad="50800" dist="38100" dir="18900000" algn="bl" rotWithShape="0">
                      <a:srgbClr val="0000CC">
                        <a:alpha val="40000"/>
                      </a:srgbClr>
                    </a:outerShdw>
                  </a:effectLst>
                  <a:latin typeface="Bahnschrift SemiBold SemiConden" panose="020B0502040204020203" pitchFamily="34" charset="0"/>
                  <a:sym typeface="Baumans"/>
                </a:rPr>
                <a:t>TOÁN ĐẠI SỐ  </a:t>
              </a:r>
              <a:endParaRPr sz="6000" dirty="0">
                <a:solidFill>
                  <a:srgbClr val="FF0000"/>
                </a:solidFill>
                <a:effectLst>
                  <a:glow rad="76200">
                    <a:srgbClr val="FFFF00">
                      <a:alpha val="47000"/>
                    </a:srgbClr>
                  </a:glow>
                  <a:outerShdw blurRad="50800" dist="38100" dir="18900000" algn="bl" rotWithShape="0">
                    <a:srgbClr val="0000CC">
                      <a:alpha val="40000"/>
                    </a:srgbClr>
                  </a:outerShdw>
                </a:effectLst>
                <a:latin typeface="Bahnschrift SemiBold SemiConden" panose="020B0502040204020203" pitchFamily="34" charset="0"/>
              </a:endParaRPr>
            </a:p>
          </p:txBody>
        </p:sp>
        <p:grpSp>
          <p:nvGrpSpPr>
            <p:cNvPr id="105" name="Group 104">
              <a:extLst>
                <a:ext uri="{FF2B5EF4-FFF2-40B4-BE49-F238E27FC236}">
                  <a16:creationId xmlns:a16="http://schemas.microsoft.com/office/drawing/2014/main" id="{7EC462C3-097E-478F-9154-33220765427C}"/>
                </a:ext>
              </a:extLst>
            </p:cNvPr>
            <p:cNvGrpSpPr/>
            <p:nvPr/>
          </p:nvGrpSpPr>
          <p:grpSpPr>
            <a:xfrm>
              <a:off x="4441592" y="3900043"/>
              <a:ext cx="1316269" cy="1323399"/>
              <a:chOff x="4902568" y="2922072"/>
              <a:chExt cx="1316269" cy="1323399"/>
            </a:xfrm>
          </p:grpSpPr>
          <p:grpSp>
            <p:nvGrpSpPr>
              <p:cNvPr id="106" name="Group 105">
                <a:extLst>
                  <a:ext uri="{FF2B5EF4-FFF2-40B4-BE49-F238E27FC236}">
                    <a16:creationId xmlns:a16="http://schemas.microsoft.com/office/drawing/2014/main" id="{392A2278-170A-49E8-B48D-301797CCDF5E}"/>
                  </a:ext>
                </a:extLst>
              </p:cNvPr>
              <p:cNvGrpSpPr/>
              <p:nvPr/>
            </p:nvGrpSpPr>
            <p:grpSpPr>
              <a:xfrm>
                <a:off x="5015148" y="2971696"/>
                <a:ext cx="1175009" cy="1143519"/>
                <a:chOff x="5015148" y="2971695"/>
                <a:chExt cx="1175009" cy="1143520"/>
              </a:xfrm>
            </p:grpSpPr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4E1041DC-D475-450B-91E9-794165D6DE77}"/>
                    </a:ext>
                  </a:extLst>
                </p:cNvPr>
                <p:cNvSpPr/>
                <p:nvPr/>
              </p:nvSpPr>
              <p:spPr>
                <a:xfrm>
                  <a:off x="5015148" y="2971695"/>
                  <a:ext cx="1175009" cy="1143520"/>
                </a:xfrm>
                <a:prstGeom prst="ellipse">
                  <a:avLst/>
                </a:prstGeom>
                <a:solidFill>
                  <a:srgbClr val="FFFF00"/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" name="Oval 108">
                  <a:extLst>
                    <a:ext uri="{FF2B5EF4-FFF2-40B4-BE49-F238E27FC236}">
                      <a16:creationId xmlns:a16="http://schemas.microsoft.com/office/drawing/2014/main" id="{1BBB2B80-ECD5-421E-A4F7-BBA59D5C9CDF}"/>
                    </a:ext>
                  </a:extLst>
                </p:cNvPr>
                <p:cNvSpPr/>
                <p:nvPr/>
              </p:nvSpPr>
              <p:spPr>
                <a:xfrm>
                  <a:off x="5015148" y="2993775"/>
                  <a:ext cx="1091111" cy="1121440"/>
                </a:xfrm>
                <a:prstGeom prst="ellipse">
                  <a:avLst/>
                </a:prstGeom>
                <a:solidFill>
                  <a:srgbClr val="3333FF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7" name="Google Shape;123;p14">
                <a:extLst>
                  <a:ext uri="{FF2B5EF4-FFF2-40B4-BE49-F238E27FC236}">
                    <a16:creationId xmlns:a16="http://schemas.microsoft.com/office/drawing/2014/main" id="{F38EB064-8955-4FC1-9AF5-C49985002268}"/>
                  </a:ext>
                </a:extLst>
              </p:cNvPr>
              <p:cNvSpPr txBox="1"/>
              <p:nvPr/>
            </p:nvSpPr>
            <p:spPr>
              <a:xfrm>
                <a:off x="4902568" y="2922072"/>
                <a:ext cx="1316269" cy="1323399"/>
              </a:xfrm>
              <a:prstGeom prst="rect">
                <a:avLst/>
              </a:prstGeom>
              <a:noFill/>
              <a:ln>
                <a:noFill/>
              </a:ln>
              <a:effectLst>
                <a:innerShdw blurRad="63500" dist="50800">
                  <a:prstClr val="black">
                    <a:alpha val="50000"/>
                  </a:prstClr>
                </a:innerShdw>
              </a:effectLst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0">
                    <a:solidFill>
                      <a:schemeClr val="bg1"/>
                    </a:solidFill>
                    <a:latin typeface="Yu Gothic UI Semilight" panose="020B0400000000000000" pitchFamily="34" charset="-128"/>
                    <a:ea typeface="Yu Gothic UI Semilight" panose="020B0400000000000000" pitchFamily="34" charset="-128"/>
                  </a:rPr>
                  <a:t>➉</a:t>
                </a:r>
                <a:endParaRPr sz="8000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115" name="TextBox 321">
            <a:extLst>
              <a:ext uri="{FF2B5EF4-FFF2-40B4-BE49-F238E27FC236}">
                <a16:creationId xmlns:a16="http://schemas.microsoft.com/office/drawing/2014/main" id="{EFE5FD9A-8DAE-41E9-BE5B-4B8636094028}"/>
              </a:ext>
            </a:extLst>
          </p:cNvPr>
          <p:cNvSpPr txBox="1"/>
          <p:nvPr/>
        </p:nvSpPr>
        <p:spPr>
          <a:xfrm>
            <a:off x="8306330" y="3148940"/>
            <a:ext cx="1242649" cy="127596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algn="ctr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6000" b="1" kern="1200" dirty="0">
                <a:solidFill>
                  <a:srgbClr val="FFFFFF"/>
                </a:solidFill>
                <a:effectLst/>
                <a:latin typeface="Calibri" panose="020F0502020204030204" pitchFamily="34" charset="0"/>
                <a:ea typeface="Cascadia Mono" panose="020B0609020000020004" pitchFamily="49" charset="0"/>
                <a:cs typeface="Times New Roman" panose="02020603050405020304" pitchFamily="18" charset="0"/>
              </a:rPr>
              <a:t>1</a:t>
            </a:r>
            <a:endParaRPr lang="en-US" sz="6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CDB84BF7-9E80-4EE0-9012-12AE578CF528}"/>
              </a:ext>
            </a:extLst>
          </p:cNvPr>
          <p:cNvSpPr/>
          <p:nvPr/>
        </p:nvSpPr>
        <p:spPr>
          <a:xfrm>
            <a:off x="2547467" y="5424667"/>
            <a:ext cx="5912196" cy="81560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None/>
              <a:defRPr/>
            </a:pPr>
            <a:r>
              <a:rPr lang="en-US" sz="4700" b="1" spc="-150">
                <a:solidFill>
                  <a:srgbClr val="24245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KHÁI NIỆM HÀM SỐ</a:t>
            </a:r>
            <a:endParaRPr lang="en-US" sz="4700" b="1" spc="-150" dirty="0">
              <a:solidFill>
                <a:srgbClr val="24245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FCDF662A-B98C-4006-B7AB-AEA218DDB72B}"/>
              </a:ext>
            </a:extLst>
          </p:cNvPr>
          <p:cNvGrpSpPr/>
          <p:nvPr/>
        </p:nvGrpSpPr>
        <p:grpSpPr>
          <a:xfrm>
            <a:off x="7279296" y="3347059"/>
            <a:ext cx="11110068" cy="1275969"/>
            <a:chOff x="71819" y="108752"/>
            <a:chExt cx="6395438" cy="872484"/>
          </a:xfrm>
        </p:grpSpPr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C24A5080-1CAF-4901-8643-AA1A31B05D1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1819" y="148683"/>
              <a:ext cx="6395438" cy="824094"/>
            </a:xfrm>
            <a:prstGeom prst="rect">
              <a:avLst/>
            </a:prstGeom>
          </p:spPr>
        </p:pic>
        <p:sp>
          <p:nvSpPr>
            <p:cNvPr id="41" name="TextBox 321">
              <a:extLst>
                <a:ext uri="{FF2B5EF4-FFF2-40B4-BE49-F238E27FC236}">
                  <a16:creationId xmlns:a16="http://schemas.microsoft.com/office/drawing/2014/main" id="{9750F7A5-B55F-44F4-AB81-CE64A0DFE5F2}"/>
                </a:ext>
              </a:extLst>
            </p:cNvPr>
            <p:cNvSpPr txBox="1"/>
            <p:nvPr/>
          </p:nvSpPr>
          <p:spPr>
            <a:xfrm>
              <a:off x="1236809" y="245789"/>
              <a:ext cx="4239341" cy="59589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0" marR="0" algn="ctr">
                <a:lnSpc>
                  <a:spcPct val="106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5400" b="1" kern="1200">
                  <a:solidFill>
                    <a:srgbClr val="FCFFEF"/>
                  </a:solidFill>
                  <a:effectLst/>
                  <a:latin typeface="Times New Roman" panose="02020603050405020304" pitchFamily="18" charset="0"/>
                  <a:ea typeface="Cascadia Mono" panose="020B0609020000020004" pitchFamily="49" charset="0"/>
                  <a:cs typeface="Times New Roman" panose="02020603050405020304" pitchFamily="18" charset="0"/>
                </a:rPr>
                <a:t>HÀM SỐ</a:t>
              </a:r>
              <a:endParaRPr lang="en-US" sz="54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42" name="TextBox 321">
              <a:extLst>
                <a:ext uri="{FF2B5EF4-FFF2-40B4-BE49-F238E27FC236}">
                  <a16:creationId xmlns:a16="http://schemas.microsoft.com/office/drawing/2014/main" id="{2F9F0EB2-82C7-4CEE-8095-721DCD76DEBE}"/>
                </a:ext>
              </a:extLst>
            </p:cNvPr>
            <p:cNvSpPr txBox="1"/>
            <p:nvPr/>
          </p:nvSpPr>
          <p:spPr>
            <a:xfrm>
              <a:off x="366091" y="108752"/>
              <a:ext cx="715323" cy="87248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0" marR="0" algn="ctr">
                <a:lnSpc>
                  <a:spcPct val="106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6000" b="1">
                  <a:solidFill>
                    <a:srgbClr val="FFFFFF"/>
                  </a:solidFill>
                  <a:latin typeface="Calibri" panose="020F0502020204030204" pitchFamily="34" charset="0"/>
                  <a:ea typeface="Cascadia Mono" panose="020B0609020000020004" pitchFamily="49" charset="0"/>
                  <a:cs typeface="Times New Roman" panose="02020603050405020304" pitchFamily="18" charset="0"/>
                </a:rPr>
                <a:t>15</a:t>
              </a:r>
              <a:endParaRPr lang="en-US" sz="60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47" name="Rectangle 46">
            <a:extLst>
              <a:ext uri="{FF2B5EF4-FFF2-40B4-BE49-F238E27FC236}">
                <a16:creationId xmlns:a16="http://schemas.microsoft.com/office/drawing/2014/main" id="{F4AA0FDB-43A5-41D3-BBE2-4369E2119031}"/>
              </a:ext>
            </a:extLst>
          </p:cNvPr>
          <p:cNvSpPr/>
          <p:nvPr/>
        </p:nvSpPr>
        <p:spPr>
          <a:xfrm>
            <a:off x="2623203" y="8898411"/>
            <a:ext cx="13901563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en-US" sz="4800" b="1">
                <a:solidFill>
                  <a:srgbClr val="24245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SỰ ĐỒNG BIẾN, NGHỊCH BIẾN CỦA HÀM SỐ </a:t>
            </a:r>
            <a:endParaRPr lang="en-US" sz="4800" b="1" dirty="0">
              <a:solidFill>
                <a:srgbClr val="24245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8" name="Round Same Side Corner Rectangle 60">
            <a:extLst>
              <a:ext uri="{FF2B5EF4-FFF2-40B4-BE49-F238E27FC236}">
                <a16:creationId xmlns:a16="http://schemas.microsoft.com/office/drawing/2014/main" id="{4F9B22C3-6D6D-4BB6-B5CA-7D6D016604AE}"/>
              </a:ext>
            </a:extLst>
          </p:cNvPr>
          <p:cNvSpPr/>
          <p:nvPr/>
        </p:nvSpPr>
        <p:spPr>
          <a:xfrm rot="5400000">
            <a:off x="1325914" y="8622434"/>
            <a:ext cx="731435" cy="1382858"/>
          </a:xfrm>
          <a:prstGeom prst="round2SameRect">
            <a:avLst/>
          </a:prstGeom>
          <a:solidFill>
            <a:srgbClr val="135F82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>
              <a:solidFill>
                <a:prstClr val="white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3D5F383-E7F0-48B7-8680-89CDF0D76B68}"/>
              </a:ext>
            </a:extLst>
          </p:cNvPr>
          <p:cNvSpPr txBox="1"/>
          <p:nvPr/>
        </p:nvSpPr>
        <p:spPr>
          <a:xfrm>
            <a:off x="1493841" y="8951778"/>
            <a:ext cx="51168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b="1">
                <a:solidFill>
                  <a:prstClr val="whit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</a:t>
            </a:r>
            <a:endParaRPr lang="en-US" sz="4000" b="1" dirty="0">
              <a:solidFill>
                <a:prstClr val="white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C3DEDD4D-88B8-4AE1-97B9-F077813A322B}"/>
              </a:ext>
            </a:extLst>
          </p:cNvPr>
          <p:cNvSpPr/>
          <p:nvPr/>
        </p:nvSpPr>
        <p:spPr>
          <a:xfrm>
            <a:off x="2547467" y="10573210"/>
            <a:ext cx="2520242" cy="81560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None/>
              <a:defRPr/>
            </a:pPr>
            <a:r>
              <a:rPr lang="en-US" sz="4700" b="1" spc="-150">
                <a:solidFill>
                  <a:srgbClr val="24245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BÀI TẬP</a:t>
            </a:r>
            <a:endParaRPr lang="en-US" sz="4700" b="1" spc="-150" dirty="0">
              <a:solidFill>
                <a:srgbClr val="24245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7" name="Round Same Side Corner Rectangle 78">
            <a:extLst>
              <a:ext uri="{FF2B5EF4-FFF2-40B4-BE49-F238E27FC236}">
                <a16:creationId xmlns:a16="http://schemas.microsoft.com/office/drawing/2014/main" id="{B9D5FAE4-5DEC-45A2-94F5-6E04A523552D}"/>
              </a:ext>
            </a:extLst>
          </p:cNvPr>
          <p:cNvSpPr/>
          <p:nvPr/>
        </p:nvSpPr>
        <p:spPr>
          <a:xfrm rot="5400000">
            <a:off x="1336851" y="10239371"/>
            <a:ext cx="731436" cy="1382859"/>
          </a:xfrm>
          <a:prstGeom prst="round2SameRect">
            <a:avLst/>
          </a:prstGeom>
          <a:solidFill>
            <a:srgbClr val="135F82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>
              <a:solidFill>
                <a:prstClr val="white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EDB8121-7544-41BA-A4FC-CCA16EB4941B}"/>
              </a:ext>
            </a:extLst>
          </p:cNvPr>
          <p:cNvSpPr txBox="1"/>
          <p:nvPr/>
        </p:nvSpPr>
        <p:spPr>
          <a:xfrm>
            <a:off x="1493831" y="10510260"/>
            <a:ext cx="51168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b="1">
                <a:solidFill>
                  <a:prstClr val="whit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</a:t>
            </a:r>
            <a:endParaRPr lang="en-US" sz="4000" b="1" dirty="0">
              <a:solidFill>
                <a:prstClr val="white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17" name="Rounded Rectangle 116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   ·   BÀI 15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221842548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ectangle 97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itle 1">
            <a:extLst>
              <a:ext uri="{FF2B5EF4-FFF2-40B4-BE49-F238E27FC236}">
                <a16:creationId xmlns:a16="http://schemas.microsoft.com/office/drawing/2014/main" id="{D87ADF89-46F9-4713-9744-A644701231B8}"/>
              </a:ext>
            </a:extLst>
          </p:cNvPr>
          <p:cNvSpPr txBox="1">
            <a:spLocks/>
          </p:cNvSpPr>
          <p:nvPr/>
        </p:nvSpPr>
        <p:spPr>
          <a:xfrm>
            <a:off x="609600" y="1879601"/>
            <a:ext cx="23164800" cy="939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anchor="ctr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Tomaho"/>
                <a:ea typeface="+mj-ea"/>
                <a:cs typeface="+mj-cs"/>
              </a:defRPr>
            </a:lvl1pPr>
          </a:lstStyle>
          <a:p>
            <a:r>
              <a:rPr lang="en-US" sz="4700" b="1" dirty="0"/>
              <a:t>1</a:t>
            </a:r>
            <a:r>
              <a:rPr lang="en-US" sz="4700" b="1"/>
              <a:t>. KHÁI NIỆM HÀM SỐ</a:t>
            </a:r>
            <a:endParaRPr lang="en-US" sz="4700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8B49A2E-2A9D-46FD-AE9C-29462A33F0E6}"/>
              </a:ext>
            </a:extLst>
          </p:cNvPr>
          <p:cNvSpPr txBox="1">
            <a:spLocks/>
          </p:cNvSpPr>
          <p:nvPr/>
        </p:nvSpPr>
        <p:spPr>
          <a:xfrm>
            <a:off x="12192000" y="7933709"/>
            <a:ext cx="11630891" cy="5132572"/>
          </a:xfrm>
          <a:prstGeom prst="rect">
            <a:avLst/>
          </a:prstGeom>
          <a:solidFill>
            <a:srgbClr val="D6F7FE"/>
          </a:solidFill>
          <a:ln>
            <a:solidFill>
              <a:srgbClr val="00B0F0"/>
            </a:solidFill>
          </a:ln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Hướng</a:t>
            </a:r>
            <a:r>
              <a:rPr lang="en-US" sz="4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dẫn</a:t>
            </a:r>
            <a:r>
              <a:rPr lang="en-US" sz="4700" b="1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lvl="0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Tại thời điểm 8 giờ nồng độ bụi là 57,9. </a:t>
            </a:r>
            <a:endParaRPr lang="vi-V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Tại thời điểm 12 giờ nồng độ bụi là 69,07. </a:t>
            </a:r>
            <a:endParaRPr lang="vi-V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Tại thời điểm 16 giờ nồng độ bụi là 81,78. </a:t>
            </a:r>
            <a:endParaRPr lang="vi-V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Mỗi thời điểm tương ứng với một giá trị nồng độ bụi PM 2.5</a:t>
            </a:r>
            <a:endParaRPr lang="vi-V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4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0">
            <a:extLst>
              <a:ext uri="{FF2B5EF4-FFF2-40B4-BE49-F238E27FC236}">
                <a16:creationId xmlns:a16="http://schemas.microsoft.com/office/drawing/2014/main" id="{982B5A7B-3BB7-4836-9511-188D4E7CC3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7539221"/>
            <a:ext cx="184731" cy="8156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vi-VN" sz="470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11375EA-DC11-4AD0-9938-9E2D523B05D7}"/>
              </a:ext>
            </a:extLst>
          </p:cNvPr>
          <p:cNvGrpSpPr/>
          <p:nvPr/>
        </p:nvGrpSpPr>
        <p:grpSpPr>
          <a:xfrm>
            <a:off x="685800" y="2917847"/>
            <a:ext cx="21608470" cy="1769118"/>
            <a:chOff x="0" y="-45827"/>
            <a:chExt cx="9105105" cy="79207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321">
                  <a:extLst>
                    <a:ext uri="{FF2B5EF4-FFF2-40B4-BE49-F238E27FC236}">
                      <a16:creationId xmlns:a16="http://schemas.microsoft.com/office/drawing/2014/main" id="{9AD3D42A-A97B-4192-8855-43EA65FDC332}"/>
                    </a:ext>
                  </a:extLst>
                </p:cNvPr>
                <p:cNvSpPr txBox="1"/>
                <p:nvPr/>
              </p:nvSpPr>
              <p:spPr>
                <a:xfrm>
                  <a:off x="516597" y="-45827"/>
                  <a:ext cx="8588508" cy="7920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pPr>
                    <a:lnSpc>
                      <a:spcPct val="107000"/>
                    </a:lnSpc>
                    <a:spcAft>
                      <a:spcPts val="800"/>
                    </a:spcAft>
                  </a:pPr>
                  <a:r>
                    <a:rPr lang="en-US" sz="4700" b="1" kern="1200">
                      <a:solidFill>
                        <a:srgbClr val="FF0000"/>
                      </a:solidFill>
                      <a:effectLst/>
                      <a:latin typeface="Cascadia Mono"/>
                      <a:ea typeface="Cascadia Mono"/>
                      <a:cs typeface="Times New Roman" panose="02020603050405020304" pitchFamily="18" charset="0"/>
                    </a:rPr>
                    <a:t> HĐ1:</a:t>
                  </a:r>
                  <a:r>
                    <a:rPr lang="en-US" sz="4700">
                      <a:effectLst/>
                      <a:latin typeface="Times New Roman" panose="02020603050405020304" pitchFamily="18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Bảng </a:t>
                  </a:r>
                  <a14:m>
                    <m:oMath xmlns:m="http://schemas.openxmlformats.org/officeDocument/2006/math">
                      <m:r>
                        <a:rPr lang="en-US" sz="47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6.1</m:t>
                      </m:r>
                    </m:oMath>
                  </a14:m>
                  <a:r>
                    <a:rPr lang="en-US" sz="4700">
                      <a:effectLst/>
                      <a:latin typeface="Times New Roman" panose="02020603050405020304" pitchFamily="18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 cho biết nồng độ bụi PM </a:t>
                  </a:r>
                  <a14:m>
                    <m:oMath xmlns:m="http://schemas.openxmlformats.org/officeDocument/2006/math">
                      <m:r>
                        <a:rPr lang="en-US" sz="47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2.5</m:t>
                      </m:r>
                    </m:oMath>
                  </a14:m>
                  <a:r>
                    <a:rPr lang="en-US" sz="4700">
                      <a:effectLst/>
                      <a:latin typeface="Times New Roman" panose="02020603050405020304" pitchFamily="18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 trong không khí theo thời gian trong ngày 25-3-2021 tại một trạm quan trắc ở Thủ đô Hà Nội:</a:t>
                  </a:r>
                  <a:endParaRPr lang="vi-VN" sz="470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8" name="TextBox 321">
                  <a:extLst>
                    <a:ext uri="{FF2B5EF4-FFF2-40B4-BE49-F238E27FC236}">
                      <a16:creationId xmlns:a16="http://schemas.microsoft.com/office/drawing/2014/main" id="{9AD3D42A-A97B-4192-8855-43EA65FDC3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6597" y="-45827"/>
                  <a:ext cx="8588508" cy="792077"/>
                </a:xfrm>
                <a:prstGeom prst="rect">
                  <a:avLst/>
                </a:prstGeom>
                <a:blipFill>
                  <a:blip r:embed="rId3"/>
                  <a:stretch>
                    <a:fillRect l="-1346" t="-8276" b="-689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10C1DA35-1823-4F12-825A-62891C0B6392}"/>
                </a:ext>
              </a:extLst>
            </p:cNvPr>
            <p:cNvGrpSpPr/>
            <p:nvPr/>
          </p:nvGrpSpPr>
          <p:grpSpPr>
            <a:xfrm>
              <a:off x="0" y="92326"/>
              <a:ext cx="627012" cy="197663"/>
              <a:chOff x="0" y="92326"/>
              <a:chExt cx="575416" cy="197663"/>
            </a:xfrm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0FABE120-CCFC-4979-A3F5-4AEA35BEA56C}"/>
                  </a:ext>
                </a:extLst>
              </p:cNvPr>
              <p:cNvGrpSpPr/>
              <p:nvPr/>
            </p:nvGrpSpPr>
            <p:grpSpPr>
              <a:xfrm>
                <a:off x="0" y="92326"/>
                <a:ext cx="575416" cy="197663"/>
                <a:chOff x="0" y="92326"/>
                <a:chExt cx="644449" cy="302837"/>
              </a:xfrm>
            </p:grpSpPr>
            <p:sp>
              <p:nvSpPr>
                <p:cNvPr id="23" name="Arrow: Pentagon 22">
                  <a:extLst>
                    <a:ext uri="{FF2B5EF4-FFF2-40B4-BE49-F238E27FC236}">
                      <a16:creationId xmlns:a16="http://schemas.microsoft.com/office/drawing/2014/main" id="{7D50C24D-2DE4-4E45-AEE5-FB11F54234C0}"/>
                    </a:ext>
                  </a:extLst>
                </p:cNvPr>
                <p:cNvSpPr/>
                <p:nvPr/>
              </p:nvSpPr>
              <p:spPr>
                <a:xfrm>
                  <a:off x="0" y="103807"/>
                  <a:ext cx="420648" cy="291356"/>
                </a:xfrm>
                <a:prstGeom prst="homePlate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lnSpc>
                      <a:spcPct val="107000"/>
                    </a:lnSpc>
                    <a:spcAft>
                      <a:spcPts val="800"/>
                    </a:spcAft>
                  </a:pPr>
                  <a:r>
                    <a:rPr lang="en-US" sz="4700">
                      <a:effectLst/>
                      <a:latin typeface="Times New Roman" panose="02020603050405020304" pitchFamily="18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 </a:t>
                  </a:r>
                  <a:endParaRPr lang="vi-VN" sz="470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4" name="Arrow: Chevron 23">
                  <a:extLst>
                    <a:ext uri="{FF2B5EF4-FFF2-40B4-BE49-F238E27FC236}">
                      <a16:creationId xmlns:a16="http://schemas.microsoft.com/office/drawing/2014/main" id="{6FB8F08D-6530-4D3A-8191-2C241B546085}"/>
                    </a:ext>
                  </a:extLst>
                </p:cNvPr>
                <p:cNvSpPr/>
                <p:nvPr/>
              </p:nvSpPr>
              <p:spPr>
                <a:xfrm>
                  <a:off x="380243" y="92326"/>
                  <a:ext cx="169459" cy="291671"/>
                </a:xfrm>
                <a:prstGeom prst="chevron">
                  <a:avLst>
                    <a:gd name="adj" fmla="val 83506"/>
                  </a:avLst>
                </a:prstGeom>
                <a:solidFill>
                  <a:schemeClr val="accent4">
                    <a:lumMod val="40000"/>
                    <a:lumOff val="60000"/>
                  </a:schemeClr>
                </a:solid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lnSpc>
                      <a:spcPct val="107000"/>
                    </a:lnSpc>
                    <a:spcAft>
                      <a:spcPts val="800"/>
                    </a:spcAft>
                  </a:pPr>
                  <a:r>
                    <a:rPr lang="en-US" sz="4700">
                      <a:effectLst/>
                      <a:latin typeface="Times New Roman" panose="02020603050405020304" pitchFamily="18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 </a:t>
                  </a:r>
                  <a:endParaRPr lang="vi-VN" sz="470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5" name="Arrow: Chevron 24">
                  <a:extLst>
                    <a:ext uri="{FF2B5EF4-FFF2-40B4-BE49-F238E27FC236}">
                      <a16:creationId xmlns:a16="http://schemas.microsoft.com/office/drawing/2014/main" id="{BD8C2F8E-9890-4C9C-A0BE-3E0B10145AA9}"/>
                    </a:ext>
                  </a:extLst>
                </p:cNvPr>
                <p:cNvSpPr/>
                <p:nvPr/>
              </p:nvSpPr>
              <p:spPr>
                <a:xfrm>
                  <a:off x="474990" y="92326"/>
                  <a:ext cx="169459" cy="291671"/>
                </a:xfrm>
                <a:prstGeom prst="chevron">
                  <a:avLst>
                    <a:gd name="adj" fmla="val 83506"/>
                  </a:avLst>
                </a:prstGeom>
                <a:solidFill>
                  <a:srgbClr val="0000CC"/>
                </a:solidFill>
                <a:ln>
                  <a:solidFill>
                    <a:srgbClr val="FFFF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lnSpc>
                      <a:spcPct val="107000"/>
                    </a:lnSpc>
                    <a:spcAft>
                      <a:spcPts val="800"/>
                    </a:spcAft>
                  </a:pPr>
                  <a:r>
                    <a:rPr lang="en-US" sz="4700">
                      <a:effectLst/>
                      <a:latin typeface="Times New Roman" panose="02020603050405020304" pitchFamily="18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 </a:t>
                  </a:r>
                  <a:endParaRPr lang="vi-VN" sz="470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21" name="Flowchart: Terminator 20">
                <a:extLst>
                  <a:ext uri="{FF2B5EF4-FFF2-40B4-BE49-F238E27FC236}">
                    <a16:creationId xmlns:a16="http://schemas.microsoft.com/office/drawing/2014/main" id="{2DD52C5B-867E-48BF-83C2-408C0EAFAD2D}"/>
                  </a:ext>
                </a:extLst>
              </p:cNvPr>
              <p:cNvSpPr/>
              <p:nvPr/>
            </p:nvSpPr>
            <p:spPr>
              <a:xfrm>
                <a:off x="80311" y="137613"/>
                <a:ext cx="253736" cy="115827"/>
              </a:xfrm>
              <a:prstGeom prst="flowChartTerminator">
                <a:avLst/>
              </a:prstGeom>
              <a:solidFill>
                <a:srgbClr val="FFFF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470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  <a:endParaRPr lang="vi-VN" sz="47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5D82CD4E-4329-4536-8557-E010797CC940}"/>
                  </a:ext>
                </a:extLst>
              </p:cNvPr>
              <p:cNvSpPr/>
              <p:nvPr/>
            </p:nvSpPr>
            <p:spPr>
              <a:xfrm>
                <a:off x="211660" y="142761"/>
                <a:ext cx="92369" cy="95432"/>
              </a:xfrm>
              <a:prstGeom prst="ellipse">
                <a:avLst/>
              </a:prstGeom>
              <a:solidFill>
                <a:srgbClr val="333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470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  <a:endParaRPr lang="vi-VN" sz="47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4" name="Rectangle 17">
            <a:extLst>
              <a:ext uri="{FF2B5EF4-FFF2-40B4-BE49-F238E27FC236}">
                <a16:creationId xmlns:a16="http://schemas.microsoft.com/office/drawing/2014/main" id="{C0D1764A-E7D0-462E-9B26-0FDE258C20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650" y="8915400"/>
            <a:ext cx="10744200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vi-VN" sz="4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Bảng </a:t>
            </a:r>
            <a:r>
              <a:rPr kumimoji="0" lang="en-US" altLang="vi-VN" sz="44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6.1</a:t>
            </a:r>
            <a:r>
              <a:rPr kumimoji="0" lang="en-US" altLang="vi-VN" sz="4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(Theo </a:t>
            </a:r>
            <a:r>
              <a:rPr kumimoji="0" lang="en-US" altLang="vi-VN" sz="4400" b="1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moitruongthudo. vn)</a:t>
            </a:r>
            <a:endParaRPr kumimoji="0" lang="vi-VN" altLang="vi-VN" sz="4400" b="1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vi-VN" sz="4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Hãy cho biết nồng độ bụi PM </a:t>
            </a:r>
            <a:r>
              <a:rPr kumimoji="0" lang="en-US" altLang="vi-VN" sz="44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2.5</a:t>
            </a:r>
            <a:r>
              <a:rPr kumimoji="0" lang="en-US" altLang="vi-VN" sz="4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tại mỗi thời điểm 8 giờ, 12 giờ, 16 giờ.</a:t>
            </a:r>
            <a:endParaRPr kumimoji="0" lang="vi-VN" altLang="vi-VN" sz="4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vi-VN" sz="4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Trong Bảng </a:t>
            </a:r>
            <a:r>
              <a:rPr kumimoji="0" lang="en-US" altLang="vi-VN" sz="44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6.1</a:t>
            </a:r>
            <a:r>
              <a:rPr kumimoji="0" lang="en-US" altLang="vi-VN" sz="4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mỗi thời điểm tương ứng với bao nhiêu giá trị của nồng độ bụi PM </a:t>
            </a:r>
            <a:r>
              <a:rPr kumimoji="0" lang="en-US" altLang="vi-VN" sz="44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2.5</a:t>
            </a:r>
            <a:r>
              <a:rPr kumimoji="0" lang="en-US" altLang="vi-VN" sz="4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?</a:t>
            </a:r>
            <a:endParaRPr kumimoji="0" lang="en-US" altLang="vi-VN" sz="4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DA4CC85C-7AAC-4D72-BDC0-BD1D0E4B9B9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03417110"/>
                  </p:ext>
                </p:extLst>
              </p:nvPr>
            </p:nvGraphicFramePr>
            <p:xfrm>
              <a:off x="685800" y="4648201"/>
              <a:ext cx="22479000" cy="2954896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5715000">
                      <a:extLst>
                        <a:ext uri="{9D8B030D-6E8A-4147-A177-3AD203B41FA5}">
                          <a16:colId xmlns:a16="http://schemas.microsoft.com/office/drawing/2014/main" val="3946351680"/>
                        </a:ext>
                      </a:extLst>
                    </a:gridCol>
                    <a:gridCol w="1778000">
                      <a:extLst>
                        <a:ext uri="{9D8B030D-6E8A-4147-A177-3AD203B41FA5}">
                          <a16:colId xmlns:a16="http://schemas.microsoft.com/office/drawing/2014/main" val="1141380510"/>
                        </a:ext>
                      </a:extLst>
                    </a:gridCol>
                    <a:gridCol w="3746500">
                      <a:extLst>
                        <a:ext uri="{9D8B030D-6E8A-4147-A177-3AD203B41FA5}">
                          <a16:colId xmlns:a16="http://schemas.microsoft.com/office/drawing/2014/main" val="1769511735"/>
                        </a:ext>
                      </a:extLst>
                    </a:gridCol>
                    <a:gridCol w="3746500">
                      <a:extLst>
                        <a:ext uri="{9D8B030D-6E8A-4147-A177-3AD203B41FA5}">
                          <a16:colId xmlns:a16="http://schemas.microsoft.com/office/drawing/2014/main" val="341479405"/>
                        </a:ext>
                      </a:extLst>
                    </a:gridCol>
                    <a:gridCol w="3746500">
                      <a:extLst>
                        <a:ext uri="{9D8B030D-6E8A-4147-A177-3AD203B41FA5}">
                          <a16:colId xmlns:a16="http://schemas.microsoft.com/office/drawing/2014/main" val="2106860877"/>
                        </a:ext>
                      </a:extLst>
                    </a:gridCol>
                    <a:gridCol w="3746500">
                      <a:extLst>
                        <a:ext uri="{9D8B030D-6E8A-4147-A177-3AD203B41FA5}">
                          <a16:colId xmlns:a16="http://schemas.microsoft.com/office/drawing/2014/main" val="318670483"/>
                        </a:ext>
                      </a:extLst>
                    </a:gridCol>
                  </a:tblGrid>
                  <a:tr h="1159184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4700">
                              <a:effectLst/>
                            </a:rPr>
                            <a:t>Thời điểm (giờ)</a:t>
                          </a:r>
                          <a:endParaRPr lang="vi-VN" sz="47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1600" marR="101600" marT="50800" marB="5080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4700">
                              <a:effectLst/>
                            </a:rPr>
                            <a:t>0</a:t>
                          </a:r>
                          <a:endParaRPr lang="vi-VN" sz="47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1600" marR="101600" marT="50800" marB="5080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4700">
                              <a:effectLst/>
                            </a:rPr>
                            <a:t>4</a:t>
                          </a:r>
                          <a:endParaRPr lang="vi-VN" sz="47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1600" marR="101600" marT="50800" marB="5080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4700">
                              <a:effectLst/>
                            </a:rPr>
                            <a:t>8</a:t>
                          </a:r>
                          <a:endParaRPr lang="vi-VN" sz="47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1600" marR="101600" marT="50800" marB="5080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4700">
                              <a:effectLst/>
                            </a:rPr>
                            <a:t>12</a:t>
                          </a:r>
                          <a:endParaRPr lang="vi-VN" sz="47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1600" marR="101600" marT="50800" marB="5080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4700">
                              <a:effectLst/>
                            </a:rPr>
                            <a:t>16</a:t>
                          </a:r>
                          <a:endParaRPr lang="vi-VN" sz="47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1600" marR="101600" marT="50800" marB="50800" anchor="ctr"/>
                    </a:tc>
                    <a:extLst>
                      <a:ext uri="{0D108BD9-81ED-4DB2-BD59-A6C34878D82A}">
                        <a16:rowId xmlns:a16="http://schemas.microsoft.com/office/drawing/2014/main" val="1810132110"/>
                      </a:ext>
                    </a:extLst>
                  </a:tr>
                  <a:tr h="1795712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4700">
                              <a:effectLst/>
                            </a:rPr>
                            <a:t>Nồng độ bụi PM </a:t>
                          </a:r>
                          <a14:m>
                            <m:oMath xmlns:m="http://schemas.openxmlformats.org/officeDocument/2006/math">
                              <m:r>
                                <a:rPr lang="en-US" sz="4700">
                                  <a:effectLst/>
                                  <a:latin typeface="Cambria Math" panose="02040503050406030204" pitchFamily="18" charset="0"/>
                                </a:rPr>
                                <m:t>2.5</m:t>
                              </m:r>
                              <m:d>
                                <m:dPr>
                                  <m:ctrlPr>
                                    <a:rPr lang="vi-VN" sz="47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4700">
                                      <a:effectLst/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  <m:r>
                                    <a:rPr lang="en-US" sz="4700">
                                      <a:effectLst/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  <m:r>
                                    <a:rPr lang="en-US" sz="4700">
                                      <a:effectLst/>
                                      <a:latin typeface="Cambria Math" panose="02040503050406030204" pitchFamily="18" charset="0"/>
                                    </a:rPr>
                                    <m:t>/</m:t>
                                  </m:r>
                                  <m:sSup>
                                    <m:sSupPr>
                                      <m:ctrlPr>
                                        <a:rPr lang="vi-VN" sz="4700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47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  <m:sup>
                                      <m:r>
                                        <a:rPr lang="en-US" sz="47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p>
                                  </m:sSup>
                                </m:e>
                              </m:d>
                            </m:oMath>
                          </a14:m>
                          <a:endParaRPr lang="vi-VN" sz="47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1600" marR="101600" marT="50800" marB="5080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4700">
                              <a:effectLst/>
                            </a:rPr>
                            <a:t>74,27</a:t>
                          </a:r>
                          <a:endParaRPr lang="vi-VN" sz="47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1600" marR="101600" marT="50800" marB="5080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4700">
                              <a:effectLst/>
                            </a:rPr>
                            <a:t>64,58</a:t>
                          </a:r>
                          <a:endParaRPr lang="vi-VN" sz="47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1600" marR="101600" marT="50800" marB="5080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4700">
                              <a:effectLst/>
                            </a:rPr>
                            <a:t>57,9</a:t>
                          </a:r>
                          <a:endParaRPr lang="vi-VN" sz="47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1600" marR="101600" marT="50800" marB="5080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4700">
                              <a:effectLst/>
                            </a:rPr>
                            <a:t>69,07</a:t>
                          </a:r>
                          <a:endParaRPr lang="vi-VN" sz="47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1600" marR="101600" marT="50800" marB="5080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4700">
                              <a:effectLst/>
                            </a:rPr>
                            <a:t>81,78</a:t>
                          </a:r>
                          <a:endParaRPr lang="vi-VN" sz="47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1600" marR="101600" marT="50800" marB="50800" anchor="ctr"/>
                    </a:tc>
                    <a:extLst>
                      <a:ext uri="{0D108BD9-81ED-4DB2-BD59-A6C34878D82A}">
                        <a16:rowId xmlns:a16="http://schemas.microsoft.com/office/drawing/2014/main" val="36724153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DA4CC85C-7AAC-4D72-BDC0-BD1D0E4B9B9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03417110"/>
                  </p:ext>
                </p:extLst>
              </p:nvPr>
            </p:nvGraphicFramePr>
            <p:xfrm>
              <a:off x="685800" y="4648201"/>
              <a:ext cx="22479000" cy="2954896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5715000">
                      <a:extLst>
                        <a:ext uri="{9D8B030D-6E8A-4147-A177-3AD203B41FA5}">
                          <a16:colId xmlns:a16="http://schemas.microsoft.com/office/drawing/2014/main" val="3946351680"/>
                        </a:ext>
                      </a:extLst>
                    </a:gridCol>
                    <a:gridCol w="1778000">
                      <a:extLst>
                        <a:ext uri="{9D8B030D-6E8A-4147-A177-3AD203B41FA5}">
                          <a16:colId xmlns:a16="http://schemas.microsoft.com/office/drawing/2014/main" val="1141380510"/>
                        </a:ext>
                      </a:extLst>
                    </a:gridCol>
                    <a:gridCol w="3746500">
                      <a:extLst>
                        <a:ext uri="{9D8B030D-6E8A-4147-A177-3AD203B41FA5}">
                          <a16:colId xmlns:a16="http://schemas.microsoft.com/office/drawing/2014/main" val="1769511735"/>
                        </a:ext>
                      </a:extLst>
                    </a:gridCol>
                    <a:gridCol w="3746500">
                      <a:extLst>
                        <a:ext uri="{9D8B030D-6E8A-4147-A177-3AD203B41FA5}">
                          <a16:colId xmlns:a16="http://schemas.microsoft.com/office/drawing/2014/main" val="341479405"/>
                        </a:ext>
                      </a:extLst>
                    </a:gridCol>
                    <a:gridCol w="3746500">
                      <a:extLst>
                        <a:ext uri="{9D8B030D-6E8A-4147-A177-3AD203B41FA5}">
                          <a16:colId xmlns:a16="http://schemas.microsoft.com/office/drawing/2014/main" val="2106860877"/>
                        </a:ext>
                      </a:extLst>
                    </a:gridCol>
                    <a:gridCol w="3746500">
                      <a:extLst>
                        <a:ext uri="{9D8B030D-6E8A-4147-A177-3AD203B41FA5}">
                          <a16:colId xmlns:a16="http://schemas.microsoft.com/office/drawing/2014/main" val="318670483"/>
                        </a:ext>
                      </a:extLst>
                    </a:gridCol>
                  </a:tblGrid>
                  <a:tr h="1159184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4700">
                              <a:effectLst/>
                            </a:rPr>
                            <a:t>Thời điểm (giờ)</a:t>
                          </a:r>
                          <a:endParaRPr lang="vi-VN" sz="47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1600" marR="101600" marT="50800" marB="5080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4700">
                              <a:effectLst/>
                            </a:rPr>
                            <a:t>0</a:t>
                          </a:r>
                          <a:endParaRPr lang="vi-VN" sz="47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1600" marR="101600" marT="50800" marB="5080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4700">
                              <a:effectLst/>
                            </a:rPr>
                            <a:t>4</a:t>
                          </a:r>
                          <a:endParaRPr lang="vi-VN" sz="47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1600" marR="101600" marT="50800" marB="5080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4700">
                              <a:effectLst/>
                            </a:rPr>
                            <a:t>8</a:t>
                          </a:r>
                          <a:endParaRPr lang="vi-VN" sz="47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1600" marR="101600" marT="50800" marB="5080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4700">
                              <a:effectLst/>
                            </a:rPr>
                            <a:t>12</a:t>
                          </a:r>
                          <a:endParaRPr lang="vi-VN" sz="47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1600" marR="101600" marT="50800" marB="5080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4700">
                              <a:effectLst/>
                            </a:rPr>
                            <a:t>16</a:t>
                          </a:r>
                          <a:endParaRPr lang="vi-VN" sz="47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1600" marR="101600" marT="50800" marB="50800" anchor="ctr"/>
                    </a:tc>
                    <a:extLst>
                      <a:ext uri="{0D108BD9-81ED-4DB2-BD59-A6C34878D82A}">
                        <a16:rowId xmlns:a16="http://schemas.microsoft.com/office/drawing/2014/main" val="1810132110"/>
                      </a:ext>
                    </a:extLst>
                  </a:tr>
                  <a:tr h="179571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1600" marR="101600" marT="50800" marB="50800" anchor="ctr">
                        <a:blipFill>
                          <a:blip r:embed="rId4"/>
                          <a:stretch>
                            <a:fillRect l="-107" t="-65085" r="-293710" b="-6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4700">
                              <a:effectLst/>
                            </a:rPr>
                            <a:t>74,27</a:t>
                          </a:r>
                          <a:endParaRPr lang="vi-VN" sz="47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1600" marR="101600" marT="50800" marB="5080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4700">
                              <a:effectLst/>
                            </a:rPr>
                            <a:t>64,58</a:t>
                          </a:r>
                          <a:endParaRPr lang="vi-VN" sz="47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1600" marR="101600" marT="50800" marB="5080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4700">
                              <a:effectLst/>
                            </a:rPr>
                            <a:t>57,9</a:t>
                          </a:r>
                          <a:endParaRPr lang="vi-VN" sz="47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1600" marR="101600" marT="50800" marB="5080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4700">
                              <a:effectLst/>
                            </a:rPr>
                            <a:t>69,07</a:t>
                          </a:r>
                          <a:endParaRPr lang="vi-VN" sz="47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1600" marR="101600" marT="50800" marB="5080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4700">
                              <a:effectLst/>
                            </a:rPr>
                            <a:t>81,78</a:t>
                          </a:r>
                          <a:endParaRPr lang="vi-VN" sz="47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1600" marR="101600" marT="50800" marB="50800" anchor="ctr"/>
                    </a:tc>
                    <a:extLst>
                      <a:ext uri="{0D108BD9-81ED-4DB2-BD59-A6C34878D82A}">
                        <a16:rowId xmlns:a16="http://schemas.microsoft.com/office/drawing/2014/main" val="36724153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9" name="Rounded Rectangle 98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   ·   BÀI 15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178169890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" grpId="0" animBg="1"/>
      <p:bldP spid="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Content Placeholder 2">
            <a:extLst>
              <a:ext uri="{FF2B5EF4-FFF2-40B4-BE49-F238E27FC236}">
                <a16:creationId xmlns:a16="http://schemas.microsoft.com/office/drawing/2014/main" id="{14822BB7-DB89-4357-87F0-6E511FC44A6A}"/>
              </a:ext>
            </a:extLst>
          </p:cNvPr>
          <p:cNvSpPr txBox="1">
            <a:spLocks/>
          </p:cNvSpPr>
          <p:nvPr/>
        </p:nvSpPr>
        <p:spPr>
          <a:xfrm>
            <a:off x="838200" y="3581400"/>
            <a:ext cx="23164800" cy="9921876"/>
          </a:xfrm>
          <a:prstGeom prst="rect">
            <a:avLst/>
          </a:prstGeom>
          <a:solidFill>
            <a:srgbClr val="D6F7FE"/>
          </a:solidFill>
          <a:ln>
            <a:solidFill>
              <a:srgbClr val="00B0F0"/>
            </a:solidFill>
          </a:ln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/>
              <a:t>	        </a:t>
            </a:r>
            <a:r>
              <a:rPr lang="en-US"/>
              <a:t>Quan sát Hình 6.1.</a:t>
            </a:r>
            <a:endParaRPr lang="vi-VN"/>
          </a:p>
          <a:p>
            <a:pPr marL="0" indent="0">
              <a:buNone/>
            </a:pPr>
            <a:r>
              <a:rPr lang="en-US"/>
              <a:t>a) Thời gian theo dõi mực nước biển ở Trường Sa được thể hiện trong hình từ năm nào đến năm nào?</a:t>
            </a:r>
            <a:endParaRPr lang="vi-VN"/>
          </a:p>
          <a:p>
            <a:pPr marL="0" indent="0">
              <a:buNone/>
            </a:pPr>
            <a:r>
              <a:rPr lang="en-US"/>
              <a:t>b) Trong khoảng thời gian đó, năm nào mực nước biển trung bình tại Trường Sa cao nhất, thấp nhất?</a:t>
            </a:r>
          </a:p>
          <a:p>
            <a:pPr marL="0" indent="0">
              <a:buNone/>
            </a:pPr>
            <a:r>
              <a:rPr lang="en-US" b="1"/>
              <a:t>Giải </a:t>
            </a:r>
            <a:endParaRPr lang="vi-VN"/>
          </a:p>
          <a:p>
            <a:pPr marL="0" lvl="0" indent="0">
              <a:buNone/>
            </a:pPr>
            <a:r>
              <a:rPr lang="en-US"/>
              <a:t>Thời gian theo dõi mực nước biển ở Trường Sa được thể </a:t>
            </a:r>
          </a:p>
          <a:p>
            <a:pPr marL="0" lvl="0" indent="0">
              <a:buNone/>
            </a:pPr>
            <a:r>
              <a:rPr lang="en-US"/>
              <a:t>hiện trong hình từ năm 2013 đến năm 2019.</a:t>
            </a:r>
            <a:endParaRPr lang="vi-VN"/>
          </a:p>
          <a:p>
            <a:pPr marL="0" lvl="0" indent="0">
              <a:buNone/>
            </a:pPr>
            <a:r>
              <a:rPr lang="en-US"/>
              <a:t>Trong khoảng thời gian đó, năm 2013 và 2018 mực nước </a:t>
            </a:r>
          </a:p>
          <a:p>
            <a:pPr marL="0" lvl="0" indent="0">
              <a:buNone/>
            </a:pPr>
            <a:r>
              <a:rPr lang="en-US"/>
              <a:t>biển trung bình tại Trường Sa cao nhất, năm 2015 thấp nhất.</a:t>
            </a:r>
            <a:endParaRPr lang="vi-VN"/>
          </a:p>
          <a:p>
            <a:endParaRPr lang="vi-VN"/>
          </a:p>
          <a:p>
            <a:pPr marL="0" indent="0">
              <a:lnSpc>
                <a:spcPct val="150000"/>
              </a:lnSpc>
              <a:buNone/>
            </a:pPr>
            <a:endParaRPr lang="en-US" dirty="0">
              <a:solidFill>
                <a:srgbClr val="FF0000"/>
              </a:solidFill>
            </a:endParaRPr>
          </a:p>
        </p:txBody>
      </p:sp>
      <p:grpSp>
        <p:nvGrpSpPr>
          <p:cNvPr id="6" name="Group 320"/>
          <p:cNvGrpSpPr>
            <a:grpSpLocks/>
          </p:cNvGrpSpPr>
          <p:nvPr/>
        </p:nvGrpSpPr>
        <p:grpSpPr bwMode="auto">
          <a:xfrm>
            <a:off x="533400" y="3600450"/>
            <a:ext cx="3962400" cy="819650"/>
            <a:chOff x="0" y="923"/>
            <a:chExt cx="15675" cy="2310"/>
          </a:xfrm>
        </p:grpSpPr>
        <p:sp>
          <p:nvSpPr>
            <p:cNvPr id="8" name="TextBox 321"/>
            <p:cNvSpPr txBox="1">
              <a:spLocks noChangeArrowheads="1"/>
            </p:cNvSpPr>
            <p:nvPr/>
          </p:nvSpPr>
          <p:spPr bwMode="auto">
            <a:xfrm>
              <a:off x="7698" y="977"/>
              <a:ext cx="7977" cy="22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4400" b="1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Arial" pitchFamily="34" charset="0"/>
                  <a:ea typeface="Calibri" pitchFamily="34" charset="0"/>
                  <a:cs typeface="Times New Roman" pitchFamily="18" charset="0"/>
                </a:rPr>
                <a:t>HĐ2</a:t>
              </a:r>
              <a:r>
                <a:rPr kumimoji="0" lang="en-US" altLang="en-US" sz="4400" b="1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Cascadia Mono"/>
                  <a:ea typeface="Calibri" pitchFamily="34" charset="0"/>
                  <a:cs typeface="Times New Roman" pitchFamily="18" charset="0"/>
                </a:rPr>
                <a:t>:</a:t>
              </a:r>
              <a:endPara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grpSp>
          <p:nvGrpSpPr>
            <p:cNvPr id="9" name="Group 58"/>
            <p:cNvGrpSpPr>
              <a:grpSpLocks/>
            </p:cNvGrpSpPr>
            <p:nvPr/>
          </p:nvGrpSpPr>
          <p:grpSpPr bwMode="auto">
            <a:xfrm>
              <a:off x="0" y="923"/>
              <a:ext cx="6270" cy="1976"/>
              <a:chOff x="0" y="923"/>
              <a:chExt cx="5754" cy="1976"/>
            </a:xfrm>
          </p:grpSpPr>
          <p:grpSp>
            <p:nvGrpSpPr>
              <p:cNvPr id="10" name="Group 59"/>
              <p:cNvGrpSpPr>
                <a:grpSpLocks/>
              </p:cNvGrpSpPr>
              <p:nvPr/>
            </p:nvGrpSpPr>
            <p:grpSpPr bwMode="auto">
              <a:xfrm>
                <a:off x="0" y="923"/>
                <a:ext cx="5754" cy="1976"/>
                <a:chOff x="0" y="923"/>
                <a:chExt cx="6444" cy="3028"/>
              </a:xfrm>
            </p:grpSpPr>
            <p:sp>
              <p:nvSpPr>
                <p:cNvPr id="13" name="Arrow: Pentagon 60"/>
                <p:cNvSpPr>
                  <a:spLocks noChangeArrowheads="1"/>
                </p:cNvSpPr>
                <p:nvPr/>
              </p:nvSpPr>
              <p:spPr bwMode="auto">
                <a:xfrm>
                  <a:off x="0" y="1038"/>
                  <a:ext cx="4206" cy="2913"/>
                </a:xfrm>
                <a:prstGeom prst="homePlate">
                  <a:avLst>
                    <a:gd name="adj" fmla="val 50001"/>
                  </a:avLst>
                </a:prstGeom>
                <a:solidFill>
                  <a:srgbClr val="B7DEE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" name="Arrow: Chevron 61"/>
                <p:cNvSpPr>
                  <a:spLocks noChangeArrowheads="1"/>
                </p:cNvSpPr>
                <p:nvPr/>
              </p:nvSpPr>
              <p:spPr bwMode="auto">
                <a:xfrm>
                  <a:off x="3802" y="923"/>
                  <a:ext cx="1695" cy="2916"/>
                </a:xfrm>
                <a:prstGeom prst="chevron">
                  <a:avLst>
                    <a:gd name="adj" fmla="val 83505"/>
                  </a:avLst>
                </a:prstGeom>
                <a:solidFill>
                  <a:srgbClr val="CCC1DA"/>
                </a:solidFill>
                <a:ln w="25400">
                  <a:solidFill>
                    <a:srgbClr val="FFC000"/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" name="Arrow: Chevron 62"/>
                <p:cNvSpPr>
                  <a:spLocks noChangeArrowheads="1"/>
                </p:cNvSpPr>
                <p:nvPr/>
              </p:nvSpPr>
              <p:spPr bwMode="auto">
                <a:xfrm>
                  <a:off x="4749" y="923"/>
                  <a:ext cx="1695" cy="2916"/>
                </a:xfrm>
                <a:prstGeom prst="chevron">
                  <a:avLst>
                    <a:gd name="adj" fmla="val 83505"/>
                  </a:avLst>
                </a:prstGeom>
                <a:solidFill>
                  <a:srgbClr val="0000CC"/>
                </a:solidFill>
                <a:ln w="25400">
                  <a:solidFill>
                    <a:srgbClr val="FFFF00"/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sp>
            <p:nvSpPr>
              <p:cNvPr id="11" name="Flowchart: Terminator 63"/>
              <p:cNvSpPr>
                <a:spLocks noChangeArrowheads="1"/>
              </p:cNvSpPr>
              <p:nvPr/>
            </p:nvSpPr>
            <p:spPr bwMode="auto">
              <a:xfrm>
                <a:off x="803" y="1376"/>
                <a:ext cx="2537" cy="1158"/>
              </a:xfrm>
              <a:prstGeom prst="flowChartTerminator">
                <a:avLst/>
              </a:prstGeom>
              <a:solidFill>
                <a:srgbClr val="FFF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" name="Oval 64"/>
              <p:cNvSpPr>
                <a:spLocks noChangeArrowheads="1"/>
              </p:cNvSpPr>
              <p:nvPr/>
            </p:nvSpPr>
            <p:spPr bwMode="auto">
              <a:xfrm>
                <a:off x="2116" y="1427"/>
                <a:ext cx="924" cy="954"/>
              </a:xfrm>
              <a:prstGeom prst="ellipse">
                <a:avLst/>
              </a:prstGeom>
              <a:solidFill>
                <a:srgbClr val="3333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24208630-5B13-4582-BC63-F4AC1088F0D5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73400" y="8077200"/>
            <a:ext cx="8001000" cy="5426076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D00CA478-8768-CCFD-2AB3-2D6A613868F3}"/>
              </a:ext>
            </a:extLst>
          </p:cNvPr>
          <p:cNvSpPr txBox="1">
            <a:spLocks/>
          </p:cNvSpPr>
          <p:nvPr/>
        </p:nvSpPr>
        <p:spPr>
          <a:xfrm>
            <a:off x="764825" y="1893711"/>
            <a:ext cx="23164800" cy="1066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anchor="ctr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Tomaho"/>
                <a:ea typeface="+mj-ea"/>
                <a:cs typeface="+mj-cs"/>
              </a:defRPr>
            </a:lvl1pPr>
          </a:lstStyle>
          <a:p>
            <a:r>
              <a:rPr lang="en-US" sz="4700" b="1" dirty="0"/>
              <a:t>1</a:t>
            </a:r>
            <a:r>
              <a:rPr lang="en-US" sz="4700" b="1"/>
              <a:t>. KHÁI NIỆM HÀM SỐ</a:t>
            </a:r>
            <a:endParaRPr lang="en-US" sz="4700" dirty="0"/>
          </a:p>
        </p:txBody>
      </p:sp>
      <p:sp>
        <p:nvSpPr>
          <p:cNvPr id="101" name="Rounded Rectangle 100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   ·   BÀI 15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173853223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3581400"/>
                <a:ext cx="13792200" cy="9921876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b="1"/>
                  <a:t>		</a:t>
                </a:r>
                <a:r>
                  <a:rPr lang="en-US"/>
                  <a:t>Tính tiền điện.</a:t>
                </a:r>
                <a:endParaRPr lang="vi-VN"/>
              </a:p>
              <a:p>
                <a:pPr marL="914400" lvl="0" indent="-914400">
                  <a:buAutoNum type="alphaLcParenR"/>
                </a:pPr>
                <a:r>
                  <a:rPr lang="en-US"/>
                  <a:t>Dựa vào Bảng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6.2</m:t>
                    </m:r>
                  </m:oMath>
                </a14:m>
                <a:r>
                  <a:rPr lang="en-US"/>
                  <a:t> về giá bán lẻ điện sinh hoạt, hãy tính số tiền phải trả ứng với mỗi lượng điện tiêu thụ ở Bảng 6.3:</a:t>
                </a:r>
              </a:p>
              <a:p>
                <a:pPr marL="914400" lvl="0" indent="-914400">
                  <a:buAutoNum type="alphaLcParenR"/>
                </a:pPr>
                <a:r>
                  <a:rPr lang="en-US"/>
                  <a:t>Gọi x là lượng điện tiêu thụ (đơn vị KWh) và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/>
                  <a:t> là số tiền phải trả tương ứng (đơn vị nghìn đồng). Hãy viết công thức mô tả sự phụ thuộc của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/>
                  <a:t> vào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/>
                  <a:t> khi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0≤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≤50</m:t>
                    </m:r>
                  </m:oMath>
                </a14:m>
                <a:r>
                  <a:rPr lang="en-US"/>
                  <a:t>. </a:t>
                </a:r>
                <a:endParaRPr lang="vi-VN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581400"/>
                <a:ext cx="13792200" cy="9921876"/>
              </a:xfrm>
              <a:prstGeom prst="rect">
                <a:avLst/>
              </a:prstGeom>
              <a:blipFill>
                <a:blip r:embed="rId3"/>
                <a:stretch>
                  <a:fillRect l="-2032" t="-2026" r="-2164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7" name="Title 1">
            <a:extLst>
              <a:ext uri="{FF2B5EF4-FFF2-40B4-BE49-F238E27FC236}">
                <a16:creationId xmlns:a16="http://schemas.microsoft.com/office/drawing/2014/main" id="{D87ADF89-46F9-4713-9744-A644701231B8}"/>
              </a:ext>
            </a:extLst>
          </p:cNvPr>
          <p:cNvSpPr txBox="1">
            <a:spLocks/>
          </p:cNvSpPr>
          <p:nvPr/>
        </p:nvSpPr>
        <p:spPr>
          <a:xfrm>
            <a:off x="838200" y="1879600"/>
            <a:ext cx="23164800" cy="13842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anchor="ctr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Tomaho"/>
                <a:ea typeface="+mj-ea"/>
                <a:cs typeface="+mj-cs"/>
              </a:defRPr>
            </a:lvl1pPr>
          </a:lstStyle>
          <a:p>
            <a:r>
              <a:rPr lang="en-US" b="1" dirty="0"/>
              <a:t>1</a:t>
            </a:r>
            <a:r>
              <a:rPr lang="en-US" b="1"/>
              <a:t>. KHÁI NIỆM HÀM SỐ</a:t>
            </a:r>
            <a:endParaRPr lang="en-US" dirty="0"/>
          </a:p>
        </p:txBody>
      </p:sp>
      <p:grpSp>
        <p:nvGrpSpPr>
          <p:cNvPr id="6" name="Group 320"/>
          <p:cNvGrpSpPr>
            <a:grpSpLocks/>
          </p:cNvGrpSpPr>
          <p:nvPr/>
        </p:nvGrpSpPr>
        <p:grpSpPr bwMode="auto">
          <a:xfrm>
            <a:off x="838200" y="3581400"/>
            <a:ext cx="3276600" cy="810070"/>
            <a:chOff x="0" y="923"/>
            <a:chExt cx="14509" cy="2283"/>
          </a:xfrm>
        </p:grpSpPr>
        <p:sp>
          <p:nvSpPr>
            <p:cNvPr id="8" name="TextBox 321"/>
            <p:cNvSpPr txBox="1">
              <a:spLocks noChangeArrowheads="1"/>
            </p:cNvSpPr>
            <p:nvPr/>
          </p:nvSpPr>
          <p:spPr bwMode="auto">
            <a:xfrm>
              <a:off x="6532" y="950"/>
              <a:ext cx="7977" cy="22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4400" b="1" i="0" u="none" strike="noStrike" cap="none" normalizeH="0" baseline="0">
                  <a:ln>
                    <a:noFill/>
                  </a:ln>
                  <a:solidFill>
                    <a:srgbClr val="FF0000"/>
                  </a:solidFill>
                  <a:effectLst/>
                  <a:latin typeface="Arial" pitchFamily="34" charset="0"/>
                  <a:ea typeface="Calibri" pitchFamily="34" charset="0"/>
                  <a:cs typeface="Times New Roman" pitchFamily="18" charset="0"/>
                </a:rPr>
                <a:t>HĐ3</a:t>
              </a:r>
              <a:r>
                <a:rPr kumimoji="0" lang="en-US" altLang="en-US" sz="4400" b="1" i="0" u="none" strike="noStrike" cap="none" normalizeH="0" baseline="0">
                  <a:ln>
                    <a:noFill/>
                  </a:ln>
                  <a:solidFill>
                    <a:srgbClr val="FF0000"/>
                  </a:solidFill>
                  <a:effectLst/>
                  <a:latin typeface="Cascadia Mono"/>
                  <a:ea typeface="Calibri" pitchFamily="34" charset="0"/>
                  <a:cs typeface="Times New Roman" pitchFamily="18" charset="0"/>
                </a:rPr>
                <a:t>:</a:t>
              </a:r>
              <a:endPara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grpSp>
          <p:nvGrpSpPr>
            <p:cNvPr id="9" name="Group 58"/>
            <p:cNvGrpSpPr>
              <a:grpSpLocks/>
            </p:cNvGrpSpPr>
            <p:nvPr/>
          </p:nvGrpSpPr>
          <p:grpSpPr bwMode="auto">
            <a:xfrm>
              <a:off x="0" y="923"/>
              <a:ext cx="6270" cy="1976"/>
              <a:chOff x="0" y="923"/>
              <a:chExt cx="5754" cy="1976"/>
            </a:xfrm>
          </p:grpSpPr>
          <p:grpSp>
            <p:nvGrpSpPr>
              <p:cNvPr id="10" name="Group 59"/>
              <p:cNvGrpSpPr>
                <a:grpSpLocks/>
              </p:cNvGrpSpPr>
              <p:nvPr/>
            </p:nvGrpSpPr>
            <p:grpSpPr bwMode="auto">
              <a:xfrm>
                <a:off x="0" y="923"/>
                <a:ext cx="5754" cy="1976"/>
                <a:chOff x="0" y="923"/>
                <a:chExt cx="6444" cy="3028"/>
              </a:xfrm>
            </p:grpSpPr>
            <p:sp>
              <p:nvSpPr>
                <p:cNvPr id="13" name="Arrow: Pentagon 60"/>
                <p:cNvSpPr>
                  <a:spLocks noChangeArrowheads="1"/>
                </p:cNvSpPr>
                <p:nvPr/>
              </p:nvSpPr>
              <p:spPr bwMode="auto">
                <a:xfrm>
                  <a:off x="0" y="1038"/>
                  <a:ext cx="4206" cy="2913"/>
                </a:xfrm>
                <a:prstGeom prst="homePlate">
                  <a:avLst>
                    <a:gd name="adj" fmla="val 50001"/>
                  </a:avLst>
                </a:prstGeom>
                <a:solidFill>
                  <a:srgbClr val="B7DEE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" name="Arrow: Chevron 61"/>
                <p:cNvSpPr>
                  <a:spLocks noChangeArrowheads="1"/>
                </p:cNvSpPr>
                <p:nvPr/>
              </p:nvSpPr>
              <p:spPr bwMode="auto">
                <a:xfrm>
                  <a:off x="3802" y="923"/>
                  <a:ext cx="1695" cy="2916"/>
                </a:xfrm>
                <a:prstGeom prst="chevron">
                  <a:avLst>
                    <a:gd name="adj" fmla="val 83505"/>
                  </a:avLst>
                </a:prstGeom>
                <a:solidFill>
                  <a:srgbClr val="CCC1DA"/>
                </a:solidFill>
                <a:ln w="25400">
                  <a:solidFill>
                    <a:srgbClr val="FFC000"/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" name="Arrow: Chevron 62"/>
                <p:cNvSpPr>
                  <a:spLocks noChangeArrowheads="1"/>
                </p:cNvSpPr>
                <p:nvPr/>
              </p:nvSpPr>
              <p:spPr bwMode="auto">
                <a:xfrm>
                  <a:off x="4749" y="923"/>
                  <a:ext cx="1695" cy="2916"/>
                </a:xfrm>
                <a:prstGeom prst="chevron">
                  <a:avLst>
                    <a:gd name="adj" fmla="val 83505"/>
                  </a:avLst>
                </a:prstGeom>
                <a:solidFill>
                  <a:srgbClr val="0000CC"/>
                </a:solidFill>
                <a:ln w="25400">
                  <a:solidFill>
                    <a:srgbClr val="FFFF00"/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sp>
            <p:nvSpPr>
              <p:cNvPr id="11" name="Flowchart: Terminator 63"/>
              <p:cNvSpPr>
                <a:spLocks noChangeArrowheads="1"/>
              </p:cNvSpPr>
              <p:nvPr/>
            </p:nvSpPr>
            <p:spPr bwMode="auto">
              <a:xfrm>
                <a:off x="803" y="1376"/>
                <a:ext cx="2537" cy="1158"/>
              </a:xfrm>
              <a:prstGeom prst="flowChartTerminator">
                <a:avLst/>
              </a:prstGeom>
              <a:solidFill>
                <a:srgbClr val="FFF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" name="Oval 64"/>
              <p:cNvSpPr>
                <a:spLocks noChangeArrowheads="1"/>
              </p:cNvSpPr>
              <p:nvPr/>
            </p:nvSpPr>
            <p:spPr bwMode="auto">
              <a:xfrm>
                <a:off x="2116" y="1427"/>
                <a:ext cx="924" cy="954"/>
              </a:xfrm>
              <a:prstGeom prst="ellipse">
                <a:avLst/>
              </a:prstGeom>
              <a:solidFill>
                <a:srgbClr val="3333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423DCF61-126D-430F-8C2E-5E2F95F9FCBF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15095658" y="3747384"/>
            <a:ext cx="8221542" cy="311061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2193484-EEEC-4E06-B442-9B7E1E643848}"/>
              </a:ext>
            </a:extLst>
          </p:cNvPr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56078" y="6858000"/>
            <a:ext cx="8289721" cy="6019800"/>
          </a:xfrm>
          <a:prstGeom prst="rect">
            <a:avLst/>
          </a:prstGeom>
        </p:spPr>
      </p:pic>
      <p:sp>
        <p:nvSpPr>
          <p:cNvPr id="101" name="Rounded Rectangle 100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   ·   BÀI 15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116695141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90600" y="3505200"/>
                <a:ext cx="13792200" cy="9921876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/>
                <a:endParaRPr lang="en-US" i="1"/>
              </a:p>
              <a:p>
                <a:pPr lvl="0"/>
                <a:endParaRPr lang="en-US" i="1"/>
              </a:p>
              <a:p>
                <a:pPr lvl="0"/>
                <a:endParaRPr lang="en-US" i="1"/>
              </a:p>
              <a:p>
                <a:pPr lvl="0"/>
                <a:endParaRPr lang="en-US" i="1"/>
              </a:p>
              <a:p>
                <a:pPr marL="0" lv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=50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/>
                  <a:t> khi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0≤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≤50</m:t>
                    </m:r>
                  </m:oMath>
                </a14:m>
                <a:r>
                  <a:rPr lang="en-US"/>
                  <a:t>.</a:t>
                </a:r>
              </a:p>
              <a:p>
                <a:pPr marL="0" lvl="0" indent="0">
                  <a:buNone/>
                </a:pPr>
                <a:endParaRPr lang="vi-VN"/>
              </a:p>
              <a:p>
                <a:pPr marL="0" indent="0">
                  <a:buNone/>
                </a:pPr>
                <a:r>
                  <a:rPr lang="en-US"/>
                  <a:t>Trong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/>
                      <m:t>H</m:t>
                    </m:r>
                    <m:r>
                      <m:rPr>
                        <m:nor/>
                      </m:rPr>
                      <a:rPr lang="en-US"/>
                      <m:t>Đ</m:t>
                    </m:r>
                    <m:r>
                      <a:rPr lang="en-US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/>
                  <a:t>, nếu gọi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/>
                  <a:t> là thời điểm và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/>
                  <a:t> là nồng độ bụi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/>
                      <m:t>PM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>
                        <a:latin typeface="Cambria Math" panose="02040503050406030204" pitchFamily="18" charset="0"/>
                      </a:rPr>
                      <m:t>2.5</m:t>
                    </m:r>
                  </m:oMath>
                </a14:m>
                <a:r>
                  <a:rPr lang="en-US"/>
                  <a:t> thì với mỗi giá trị của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/>
                  <a:t>, xác định được chỉ một giá trị tương ứng của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/>
                  <a:t>. Ta tìm thấy mối quan hệ phụ thuộc tương tự giữa các đại lượng trong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/>
                      <m:t>H</m:t>
                    </m:r>
                    <m:r>
                      <m:rPr>
                        <m:nor/>
                      </m:rPr>
                      <a:rPr lang="en-US"/>
                      <m:t>Đ</m:t>
                    </m:r>
                    <m:r>
                      <a:rPr lang="en-US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/>
                  <a:t>, HĐ3.</a:t>
                </a:r>
                <a:endParaRPr lang="vi-VN"/>
              </a:p>
            </p:txBody>
          </p:sp>
        </mc:Choice>
        <mc:Fallback xmlns="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600" y="3505200"/>
                <a:ext cx="13792200" cy="9921876"/>
              </a:xfrm>
              <a:prstGeom prst="rect">
                <a:avLst/>
              </a:prstGeom>
              <a:blipFill>
                <a:blip r:embed="rId3"/>
                <a:stretch>
                  <a:fillRect l="-1988" r="-1546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7" name="Title 1">
            <a:extLst>
              <a:ext uri="{FF2B5EF4-FFF2-40B4-BE49-F238E27FC236}">
                <a16:creationId xmlns:a16="http://schemas.microsoft.com/office/drawing/2014/main" id="{D87ADF89-46F9-4713-9744-A644701231B8}"/>
              </a:ext>
            </a:extLst>
          </p:cNvPr>
          <p:cNvSpPr txBox="1">
            <a:spLocks/>
          </p:cNvSpPr>
          <p:nvPr/>
        </p:nvSpPr>
        <p:spPr>
          <a:xfrm>
            <a:off x="838200" y="1879601"/>
            <a:ext cx="23164800" cy="1168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anchor="ctr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Tomaho"/>
                <a:ea typeface="+mj-ea"/>
                <a:cs typeface="+mj-cs"/>
              </a:defRPr>
            </a:lvl1pPr>
          </a:lstStyle>
          <a:p>
            <a:r>
              <a:rPr lang="en-US" b="1" dirty="0"/>
              <a:t>1</a:t>
            </a:r>
            <a:r>
              <a:rPr lang="en-US" b="1"/>
              <a:t>. KHÁI NIỆM HÀM SỐ</a:t>
            </a:r>
            <a:endParaRPr lang="en-US" dirty="0"/>
          </a:p>
        </p:txBody>
      </p:sp>
      <p:grpSp>
        <p:nvGrpSpPr>
          <p:cNvPr id="6" name="Group 320"/>
          <p:cNvGrpSpPr>
            <a:grpSpLocks/>
          </p:cNvGrpSpPr>
          <p:nvPr/>
        </p:nvGrpSpPr>
        <p:grpSpPr bwMode="auto">
          <a:xfrm>
            <a:off x="762001" y="3352800"/>
            <a:ext cx="3124189" cy="762000"/>
            <a:chOff x="0" y="923"/>
            <a:chExt cx="15315" cy="2421"/>
          </a:xfrm>
        </p:grpSpPr>
        <p:sp>
          <p:nvSpPr>
            <p:cNvPr id="8" name="TextBox 321"/>
            <p:cNvSpPr txBox="1">
              <a:spLocks noChangeArrowheads="1"/>
            </p:cNvSpPr>
            <p:nvPr/>
          </p:nvSpPr>
          <p:spPr bwMode="auto">
            <a:xfrm>
              <a:off x="6532" y="950"/>
              <a:ext cx="8783" cy="23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4400" b="1" i="0" u="none" strike="noStrike" cap="none" normalizeH="0" baseline="0">
                  <a:ln>
                    <a:noFill/>
                  </a:ln>
                  <a:solidFill>
                    <a:srgbClr val="FF0000"/>
                  </a:solidFill>
                  <a:effectLst/>
                  <a:latin typeface="Arial" pitchFamily="34" charset="0"/>
                  <a:ea typeface="Calibri" pitchFamily="34" charset="0"/>
                  <a:cs typeface="Times New Roman" pitchFamily="18" charset="0"/>
                </a:rPr>
                <a:t>HĐ3</a:t>
              </a:r>
              <a:r>
                <a:rPr kumimoji="0" lang="en-US" altLang="en-US" sz="4400" b="1" i="0" u="none" strike="noStrike" cap="none" normalizeH="0" baseline="0">
                  <a:ln>
                    <a:noFill/>
                  </a:ln>
                  <a:solidFill>
                    <a:srgbClr val="FF0000"/>
                  </a:solidFill>
                  <a:effectLst/>
                  <a:latin typeface="Cascadia Mono"/>
                  <a:ea typeface="Calibri" pitchFamily="34" charset="0"/>
                  <a:cs typeface="Times New Roman" pitchFamily="18" charset="0"/>
                </a:rPr>
                <a:t>:</a:t>
              </a:r>
              <a:endPara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grpSp>
          <p:nvGrpSpPr>
            <p:cNvPr id="9" name="Group 58"/>
            <p:cNvGrpSpPr>
              <a:grpSpLocks/>
            </p:cNvGrpSpPr>
            <p:nvPr/>
          </p:nvGrpSpPr>
          <p:grpSpPr bwMode="auto">
            <a:xfrm>
              <a:off x="0" y="923"/>
              <a:ext cx="6270" cy="1976"/>
              <a:chOff x="0" y="923"/>
              <a:chExt cx="5754" cy="1976"/>
            </a:xfrm>
          </p:grpSpPr>
          <p:grpSp>
            <p:nvGrpSpPr>
              <p:cNvPr id="10" name="Group 59"/>
              <p:cNvGrpSpPr>
                <a:grpSpLocks/>
              </p:cNvGrpSpPr>
              <p:nvPr/>
            </p:nvGrpSpPr>
            <p:grpSpPr bwMode="auto">
              <a:xfrm>
                <a:off x="0" y="923"/>
                <a:ext cx="5754" cy="1976"/>
                <a:chOff x="0" y="923"/>
                <a:chExt cx="6444" cy="3028"/>
              </a:xfrm>
            </p:grpSpPr>
            <p:sp>
              <p:nvSpPr>
                <p:cNvPr id="13" name="Arrow: Pentagon 60"/>
                <p:cNvSpPr>
                  <a:spLocks noChangeArrowheads="1"/>
                </p:cNvSpPr>
                <p:nvPr/>
              </p:nvSpPr>
              <p:spPr bwMode="auto">
                <a:xfrm>
                  <a:off x="0" y="1038"/>
                  <a:ext cx="4206" cy="2913"/>
                </a:xfrm>
                <a:prstGeom prst="homePlate">
                  <a:avLst>
                    <a:gd name="adj" fmla="val 50001"/>
                  </a:avLst>
                </a:prstGeom>
                <a:solidFill>
                  <a:srgbClr val="B7DEE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" name="Arrow: Chevron 61"/>
                <p:cNvSpPr>
                  <a:spLocks noChangeArrowheads="1"/>
                </p:cNvSpPr>
                <p:nvPr/>
              </p:nvSpPr>
              <p:spPr bwMode="auto">
                <a:xfrm>
                  <a:off x="3802" y="923"/>
                  <a:ext cx="1695" cy="2916"/>
                </a:xfrm>
                <a:prstGeom prst="chevron">
                  <a:avLst>
                    <a:gd name="adj" fmla="val 83505"/>
                  </a:avLst>
                </a:prstGeom>
                <a:solidFill>
                  <a:srgbClr val="CCC1DA"/>
                </a:solidFill>
                <a:ln w="25400">
                  <a:solidFill>
                    <a:srgbClr val="FFC000"/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" name="Arrow: Chevron 62"/>
                <p:cNvSpPr>
                  <a:spLocks noChangeArrowheads="1"/>
                </p:cNvSpPr>
                <p:nvPr/>
              </p:nvSpPr>
              <p:spPr bwMode="auto">
                <a:xfrm>
                  <a:off x="4749" y="923"/>
                  <a:ext cx="1695" cy="2916"/>
                </a:xfrm>
                <a:prstGeom prst="chevron">
                  <a:avLst>
                    <a:gd name="adj" fmla="val 83505"/>
                  </a:avLst>
                </a:prstGeom>
                <a:solidFill>
                  <a:srgbClr val="0000CC"/>
                </a:solidFill>
                <a:ln w="25400">
                  <a:solidFill>
                    <a:srgbClr val="FFFF00"/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sp>
            <p:nvSpPr>
              <p:cNvPr id="11" name="Flowchart: Terminator 63"/>
              <p:cNvSpPr>
                <a:spLocks noChangeArrowheads="1"/>
              </p:cNvSpPr>
              <p:nvPr/>
            </p:nvSpPr>
            <p:spPr bwMode="auto">
              <a:xfrm>
                <a:off x="803" y="1376"/>
                <a:ext cx="2537" cy="1158"/>
              </a:xfrm>
              <a:prstGeom prst="flowChartTerminator">
                <a:avLst/>
              </a:prstGeom>
              <a:solidFill>
                <a:srgbClr val="FFF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" name="Oval 64"/>
              <p:cNvSpPr>
                <a:spLocks noChangeArrowheads="1"/>
              </p:cNvSpPr>
              <p:nvPr/>
            </p:nvSpPr>
            <p:spPr bwMode="auto">
              <a:xfrm>
                <a:off x="2116" y="1427"/>
                <a:ext cx="924" cy="954"/>
              </a:xfrm>
              <a:prstGeom prst="ellipse">
                <a:avLst/>
              </a:prstGeom>
              <a:solidFill>
                <a:srgbClr val="3333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423DCF61-126D-430F-8C2E-5E2F95F9FCBF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15095658" y="3747384"/>
            <a:ext cx="8221542" cy="3110615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57C66F7-12A2-4446-9A44-DB29614A41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5481686"/>
              </p:ext>
            </p:extLst>
          </p:nvPr>
        </p:nvGraphicFramePr>
        <p:xfrm>
          <a:off x="990600" y="4315270"/>
          <a:ext cx="12954000" cy="221983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258674">
                  <a:extLst>
                    <a:ext uri="{9D8B030D-6E8A-4147-A177-3AD203B41FA5}">
                      <a16:colId xmlns:a16="http://schemas.microsoft.com/office/drawing/2014/main" val="4283475250"/>
                    </a:ext>
                  </a:extLst>
                </a:gridCol>
                <a:gridCol w="2474359">
                  <a:extLst>
                    <a:ext uri="{9D8B030D-6E8A-4147-A177-3AD203B41FA5}">
                      <a16:colId xmlns:a16="http://schemas.microsoft.com/office/drawing/2014/main" val="2677103244"/>
                    </a:ext>
                  </a:extLst>
                </a:gridCol>
                <a:gridCol w="2474359">
                  <a:extLst>
                    <a:ext uri="{9D8B030D-6E8A-4147-A177-3AD203B41FA5}">
                      <a16:colId xmlns:a16="http://schemas.microsoft.com/office/drawing/2014/main" val="1810201611"/>
                    </a:ext>
                  </a:extLst>
                </a:gridCol>
                <a:gridCol w="1746608">
                  <a:extLst>
                    <a:ext uri="{9D8B030D-6E8A-4147-A177-3AD203B41FA5}">
                      <a16:colId xmlns:a16="http://schemas.microsoft.com/office/drawing/2014/main" val="2640194946"/>
                    </a:ext>
                  </a:extLst>
                </a:gridCol>
              </a:tblGrid>
              <a:tr h="1270746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1200"/>
                        </a:spcAft>
                      </a:pPr>
                      <a:r>
                        <a:rPr lang="en-US" sz="4000">
                          <a:effectLst/>
                        </a:rPr>
                        <a:t>Lượng điện tiêu thụ (kWh)</a:t>
                      </a:r>
                      <a:endParaRPr lang="vi-VN" sz="4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1200"/>
                        </a:spcAft>
                      </a:pPr>
                      <a:r>
                        <a:rPr lang="en-US" sz="4000">
                          <a:effectLst/>
                        </a:rPr>
                        <a:t>50</a:t>
                      </a:r>
                      <a:endParaRPr lang="vi-VN" sz="4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1200"/>
                        </a:spcAft>
                      </a:pPr>
                      <a:r>
                        <a:rPr lang="en-US" sz="4000">
                          <a:effectLst/>
                        </a:rPr>
                        <a:t>100</a:t>
                      </a:r>
                      <a:endParaRPr lang="vi-VN" sz="4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1200"/>
                        </a:spcAft>
                      </a:pPr>
                      <a:r>
                        <a:rPr lang="en-US" sz="4000">
                          <a:effectLst/>
                        </a:rPr>
                        <a:t>200</a:t>
                      </a:r>
                      <a:endParaRPr lang="vi-VN" sz="4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88121629"/>
                  </a:ext>
                </a:extLst>
              </a:tr>
              <a:tr h="949088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1200"/>
                        </a:spcAft>
                      </a:pPr>
                      <a:r>
                        <a:rPr lang="en-US" sz="4000">
                          <a:effectLst/>
                        </a:rPr>
                        <a:t>Số tiền (nghìn đồng) </a:t>
                      </a:r>
                      <a:endParaRPr lang="vi-VN" sz="4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1200"/>
                        </a:spcAft>
                      </a:pPr>
                      <a:r>
                        <a:rPr lang="en-US" sz="4000">
                          <a:effectLst/>
                        </a:rPr>
                        <a:t>83900</a:t>
                      </a:r>
                      <a:endParaRPr lang="vi-VN" sz="4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1200"/>
                        </a:spcAft>
                      </a:pPr>
                      <a:r>
                        <a:rPr lang="en-US" sz="4000">
                          <a:effectLst/>
                        </a:rPr>
                        <a:t>173400</a:t>
                      </a:r>
                      <a:endParaRPr lang="vi-VN" sz="4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1200"/>
                        </a:spcAft>
                      </a:pPr>
                      <a:r>
                        <a:rPr lang="en-US" sz="4000">
                          <a:effectLst/>
                        </a:rPr>
                        <a:t>402800</a:t>
                      </a:r>
                      <a:endParaRPr lang="vi-VN" sz="4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85891252"/>
                  </a:ext>
                </a:extLst>
              </a:tr>
            </a:tbl>
          </a:graphicData>
        </a:graphic>
      </p:graphicFrame>
      <p:pic>
        <p:nvPicPr>
          <p:cNvPr id="16" name="Picture 15">
            <a:extLst>
              <a:ext uri="{FF2B5EF4-FFF2-40B4-BE49-F238E27FC236}">
                <a16:creationId xmlns:a16="http://schemas.microsoft.com/office/drawing/2014/main" id="{3138808B-DD61-A233-563F-0E538D68E73B}"/>
              </a:ext>
            </a:extLst>
          </p:cNvPr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56078" y="6858000"/>
            <a:ext cx="8289721" cy="6019800"/>
          </a:xfrm>
          <a:prstGeom prst="rect">
            <a:avLst/>
          </a:prstGeom>
        </p:spPr>
      </p:pic>
      <p:sp>
        <p:nvSpPr>
          <p:cNvPr id="101" name="Rounded Rectangle 100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   ·   BÀI 15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198018294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2000"/>
                                        <p:tgtEl>
                                          <p:spTgt spid="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ectangle 97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itle 1">
            <a:extLst>
              <a:ext uri="{FF2B5EF4-FFF2-40B4-BE49-F238E27FC236}">
                <a16:creationId xmlns:a16="http://schemas.microsoft.com/office/drawing/2014/main" id="{D87ADF89-46F9-4713-9744-A644701231B8}"/>
              </a:ext>
            </a:extLst>
          </p:cNvPr>
          <p:cNvSpPr txBox="1">
            <a:spLocks/>
          </p:cNvSpPr>
          <p:nvPr/>
        </p:nvSpPr>
        <p:spPr>
          <a:xfrm>
            <a:off x="838200" y="1879600"/>
            <a:ext cx="23164800" cy="13842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anchor="ctr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Tomaho"/>
                <a:ea typeface="+mj-ea"/>
                <a:cs typeface="+mj-cs"/>
              </a:defRPr>
            </a:lvl1pPr>
          </a:lstStyle>
          <a:p>
            <a:r>
              <a:rPr lang="en-US" b="1" dirty="0"/>
              <a:t>1</a:t>
            </a:r>
            <a:r>
              <a:rPr lang="en-US" b="1"/>
              <a:t>. KHÁI NIỆM HÀM SỐ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EBEBCFE9-B2B3-47B8-A3B0-83F6F9899DD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72126476"/>
                  </p:ext>
                </p:extLst>
              </p:nvPr>
            </p:nvGraphicFramePr>
            <p:xfrm>
              <a:off x="838200" y="3429000"/>
              <a:ext cx="22468973" cy="9067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2468973">
                      <a:extLst>
                        <a:ext uri="{9D8B030D-6E8A-4147-A177-3AD203B41FA5}">
                          <a16:colId xmlns:a16="http://schemas.microsoft.com/office/drawing/2014/main" val="2719264088"/>
                        </a:ext>
                      </a:extLst>
                    </a:gridCol>
                  </a:tblGrid>
                  <a:tr h="9067800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6000">
                              <a:effectLst/>
                            </a:rPr>
                            <a:t>Nếu với mỗi giá trị của </a:t>
                          </a:r>
                          <a14:m>
                            <m:oMath xmlns:m="http://schemas.openxmlformats.org/officeDocument/2006/math">
                              <m:r>
                                <a:rPr lang="en-US" sz="6000">
                                  <a:effectLst/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US" sz="6000">
                              <a:effectLst/>
                            </a:rPr>
                            <a:t> thuộc tập hợp số </a:t>
                          </a:r>
                          <a14:m>
                            <m:oMath xmlns:m="http://schemas.openxmlformats.org/officeDocument/2006/math">
                              <m:r>
                                <a:rPr lang="en-US" sz="6000">
                                  <a:effectLst/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oMath>
                          </a14:m>
                          <a:r>
                            <a:rPr lang="en-US" sz="6000">
                              <a:effectLst/>
                            </a:rPr>
                            <a:t> có một và chỉ một giá trị tương ứng của </a:t>
                          </a:r>
                          <a14:m>
                            <m:oMath xmlns:m="http://schemas.openxmlformats.org/officeDocument/2006/math">
                              <m:r>
                                <a:rPr lang="en-US" sz="6000">
                                  <a:effectLst/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oMath>
                          </a14:m>
                          <a:r>
                            <a:rPr lang="en-US" sz="6000">
                              <a:effectLst/>
                            </a:rPr>
                            <a:t> thuộc tập số thực </a:t>
                          </a:r>
                          <a14:m>
                            <m:oMath xmlns:m="http://schemas.openxmlformats.org/officeDocument/2006/math">
                              <m:r>
                                <a:rPr lang="en-US" sz="6000">
                                  <a:effectLst/>
                                  <a:latin typeface="Cambria Math" panose="02040503050406030204" pitchFamily="18" charset="0"/>
                                </a:rPr>
                                <m:t>ℝ</m:t>
                              </m:r>
                            </m:oMath>
                          </a14:m>
                          <a:r>
                            <a:rPr lang="en-US" sz="6000">
                              <a:effectLst/>
                            </a:rPr>
                            <a:t> thì ta có một hàm số. </a:t>
                          </a:r>
                          <a:endParaRPr lang="vi-VN" sz="6000">
                            <a:effectLst/>
                          </a:endParaRPr>
                        </a:p>
                        <a:p>
                          <a:pPr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6000">
                              <a:effectLst/>
                            </a:rPr>
                            <a:t>Ta gọi </a:t>
                          </a:r>
                          <a14:m>
                            <m:oMath xmlns:m="http://schemas.openxmlformats.org/officeDocument/2006/math">
                              <m:r>
                                <a:rPr lang="en-US" sz="6000">
                                  <a:effectLst/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US" sz="6000">
                              <a:effectLst/>
                            </a:rPr>
                            <a:t> là biến số và </a:t>
                          </a:r>
                          <a14:m>
                            <m:oMath xmlns:m="http://schemas.openxmlformats.org/officeDocument/2006/math">
                              <m:r>
                                <a:rPr lang="en-US" sz="6000">
                                  <a:effectLst/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oMath>
                          </a14:m>
                          <a:r>
                            <a:rPr lang="en-US" sz="6000">
                              <a:effectLst/>
                            </a:rPr>
                            <a:t> là hàm số của </a:t>
                          </a:r>
                          <a14:m>
                            <m:oMath xmlns:m="http://schemas.openxmlformats.org/officeDocument/2006/math">
                              <m:r>
                                <a:rPr lang="en-US" sz="6000">
                                  <a:effectLst/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US" sz="6000">
                              <a:effectLst/>
                            </a:rPr>
                            <a:t>.</a:t>
                          </a:r>
                          <a:endParaRPr lang="vi-VN" sz="6000">
                            <a:effectLst/>
                          </a:endParaRPr>
                        </a:p>
                        <a:p>
                          <a:pPr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6000">
                              <a:effectLst/>
                            </a:rPr>
                            <a:t>Tập hợp </a:t>
                          </a:r>
                          <a14:m>
                            <m:oMath xmlns:m="http://schemas.openxmlformats.org/officeDocument/2006/math">
                              <m:r>
                                <a:rPr lang="en-US" sz="6000">
                                  <a:effectLst/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oMath>
                          </a14:m>
                          <a:r>
                            <a:rPr lang="en-US" sz="6000">
                              <a:effectLst/>
                            </a:rPr>
                            <a:t> gọi là tập xác định của hàm số.</a:t>
                          </a:r>
                          <a:endParaRPr lang="vi-VN" sz="6000">
                            <a:effectLst/>
                          </a:endParaRPr>
                        </a:p>
                        <a:p>
                          <a:pPr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6000">
                              <a:effectLst/>
                            </a:rPr>
                            <a:t>Tập tất cả các giá trị </a:t>
                          </a:r>
                          <a14:m>
                            <m:oMath xmlns:m="http://schemas.openxmlformats.org/officeDocument/2006/math">
                              <m:r>
                                <a:rPr lang="en-US" sz="6000" smtClean="0">
                                  <a:effectLst/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oMath>
                          </a14:m>
                          <a:r>
                            <a:rPr lang="en-US" sz="6000">
                              <a:effectLst/>
                            </a:rPr>
                            <a:t> nhận được, gọi là tập giá trị của hàm số. </a:t>
                          </a:r>
                          <a:endParaRPr lang="vi-VN" sz="6000">
                            <a:effectLst/>
                          </a:endParaRPr>
                        </a:p>
                        <a:p>
                          <a:pPr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6000">
                              <a:effectLst/>
                            </a:rPr>
                            <a:t>Khi </a:t>
                          </a:r>
                          <a14:m>
                            <m:oMath xmlns:m="http://schemas.openxmlformats.org/officeDocument/2006/math">
                              <m:r>
                                <a:rPr lang="en-US" sz="6000">
                                  <a:effectLst/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oMath>
                          </a14:m>
                          <a:r>
                            <a:rPr lang="en-US" sz="6000">
                              <a:effectLst/>
                            </a:rPr>
                            <a:t> là hàm số của </a:t>
                          </a:r>
                          <a14:m>
                            <m:oMath xmlns:m="http://schemas.openxmlformats.org/officeDocument/2006/math">
                              <m:r>
                                <a:rPr lang="en-US" sz="6000">
                                  <a:effectLst/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US" sz="6000">
                              <a:effectLst/>
                            </a:rPr>
                            <a:t>, ta có thể viết </a:t>
                          </a:r>
                          <a14:m>
                            <m:oMath xmlns:m="http://schemas.openxmlformats.org/officeDocument/2006/math">
                              <m:r>
                                <a:rPr lang="en-US" sz="6000">
                                  <a:effectLst/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6000">
                                  <a:effectLst/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6000">
                                  <a:effectLst/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vi-VN" sz="60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6000">
                                      <a:effectLst/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sz="6000">
                                  <a:effectLst/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6000">
                                  <a:effectLst/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6000">
                                  <a:effectLst/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6000">
                                  <a:effectLst/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vi-VN" sz="60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6000">
                                      <a:effectLst/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sz="6000">
                                  <a:effectLst/>
                                  <a:latin typeface="Cambria Math" panose="02040503050406030204" pitchFamily="18" charset="0"/>
                                </a:rPr>
                                <m:t>,…</m:t>
                              </m:r>
                            </m:oMath>
                          </a14:m>
                          <a:endParaRPr lang="vi-VN" sz="60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6158281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EBEBCFE9-B2B3-47B8-A3B0-83F6F9899DD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72126476"/>
                  </p:ext>
                </p:extLst>
              </p:nvPr>
            </p:nvGraphicFramePr>
            <p:xfrm>
              <a:off x="838200" y="3429000"/>
              <a:ext cx="22468973" cy="9067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2468973">
                      <a:extLst>
                        <a:ext uri="{9D8B030D-6E8A-4147-A177-3AD203B41FA5}">
                          <a16:colId xmlns:a16="http://schemas.microsoft.com/office/drawing/2014/main" val="2719264088"/>
                        </a:ext>
                      </a:extLst>
                    </a:gridCol>
                  </a:tblGrid>
                  <a:tr h="90678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7" t="-67" r="-108" b="-33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6158281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9" name="Rounded Rectangle 98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   ·   BÀI 15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187883541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6192632"/>
                <a:ext cx="12877800" cy="6151768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 anchor="ctr"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/>
                  <a:t>Trong HĐ1, nếu gọi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/>
                  <a:t> là thời điểm,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/>
                  <a:t> là nồng độ bụi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/>
                      <m:t>PM</m:t>
                    </m:r>
                    <m:r>
                      <a:rPr lang="en-US">
                        <a:latin typeface="Cambria Math" panose="02040503050406030204" pitchFamily="18" charset="0"/>
                      </a:rPr>
                      <m:t>2.5</m:t>
                    </m:r>
                  </m:oMath>
                </a14:m>
                <a:r>
                  <a:rPr lang="en-US"/>
                  <a:t> thì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/>
                  <a:t> là biến số và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/>
                  <a:t> là hàm số của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/>
                  <a:t>. Đó là hàm số được cho bằng bảng.</a:t>
                </a:r>
                <a:endParaRPr lang="vi-VN"/>
              </a:p>
              <a:p>
                <a:r>
                  <a:rPr lang="en-US"/>
                  <a:t>Tập xác định của hàm số là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vi-V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0;4;8;12;16</m:t>
                        </m:r>
                      </m:e>
                    </m:d>
                  </m:oMath>
                </a14:m>
                <a:r>
                  <a:rPr lang="en-US"/>
                  <a:t>.</a:t>
                </a:r>
                <a:endParaRPr lang="vi-VN"/>
              </a:p>
              <a:p>
                <a:r>
                  <a:rPr lang="en-US"/>
                  <a:t>Tập giá trị của hàm số là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vi-V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74,27;64,58;57,9;69,07;81,78</m:t>
                        </m:r>
                      </m:e>
                    </m:d>
                  </m:oMath>
                </a14:m>
                <a:r>
                  <a:rPr lang="en-US"/>
                  <a:t>.</a:t>
                </a:r>
                <a:endParaRPr lang="vi-VN"/>
              </a:p>
            </p:txBody>
          </p:sp>
        </mc:Choice>
        <mc:Fallback xmlns="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6192632"/>
                <a:ext cx="12877800" cy="6151768"/>
              </a:xfrm>
              <a:prstGeom prst="rect">
                <a:avLst/>
              </a:prstGeom>
              <a:blipFill>
                <a:blip r:embed="rId3"/>
                <a:stretch>
                  <a:fillRect l="-1939" r="-142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0"/>
          <p:cNvSpPr>
            <a:spLocks noChangeArrowheads="1"/>
          </p:cNvSpPr>
          <p:nvPr/>
        </p:nvSpPr>
        <p:spPr bwMode="auto">
          <a:xfrm>
            <a:off x="0" y="0"/>
            <a:ext cx="2438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" name="Rectangle 13"/>
          <p:cNvSpPr>
            <a:spLocks noChangeArrowheads="1"/>
          </p:cNvSpPr>
          <p:nvPr/>
        </p:nvSpPr>
        <p:spPr bwMode="auto">
          <a:xfrm>
            <a:off x="0" y="687388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Calibri" pitchFamily="34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Calibri" pitchFamily="34" charset="0"/>
                <a:cs typeface="Times New Roman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14" name="Group 57"/>
          <p:cNvGrpSpPr>
            <a:grpSpLocks/>
          </p:cNvGrpSpPr>
          <p:nvPr/>
        </p:nvGrpSpPr>
        <p:grpSpPr bwMode="auto">
          <a:xfrm>
            <a:off x="900061" y="3995928"/>
            <a:ext cx="3657600" cy="1815548"/>
            <a:chOff x="224" y="592"/>
            <a:chExt cx="8505" cy="2740"/>
          </a:xfrm>
        </p:grpSpPr>
        <p:grpSp>
          <p:nvGrpSpPr>
            <p:cNvPr id="15" name="Group 24"/>
            <p:cNvGrpSpPr>
              <a:grpSpLocks/>
            </p:cNvGrpSpPr>
            <p:nvPr/>
          </p:nvGrpSpPr>
          <p:grpSpPr bwMode="auto">
            <a:xfrm>
              <a:off x="224" y="592"/>
              <a:ext cx="8505" cy="1599"/>
              <a:chOff x="315" y="602"/>
              <a:chExt cx="11966" cy="1978"/>
            </a:xfrm>
          </p:grpSpPr>
          <p:sp>
            <p:nvSpPr>
              <p:cNvPr id="18" name="Arrow: Pentagon 25"/>
              <p:cNvSpPr>
                <a:spLocks noChangeArrowheads="1"/>
              </p:cNvSpPr>
              <p:nvPr/>
            </p:nvSpPr>
            <p:spPr bwMode="auto">
              <a:xfrm>
                <a:off x="2045" y="620"/>
                <a:ext cx="10237" cy="1961"/>
              </a:xfrm>
              <a:prstGeom prst="homePlate">
                <a:avLst>
                  <a:gd name="adj" fmla="val 50004"/>
                </a:avLst>
              </a:prstGeom>
              <a:solidFill>
                <a:srgbClr val="FCFFEF"/>
              </a:solidFill>
              <a:ln w="25400">
                <a:solidFill>
                  <a:srgbClr val="F2DCDB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000" b="1" i="0" u="none" strike="noStrike" cap="none" normalizeH="0" baseline="0">
                    <a:ln>
                      <a:noFill/>
                    </a:ln>
                    <a:solidFill>
                      <a:srgbClr val="0000CC"/>
                    </a:solidFill>
                    <a:effectLst/>
                    <a:latin typeface="Arial" pitchFamily="34" charset="0"/>
                    <a:ea typeface="Calibri" pitchFamily="34" charset="0"/>
                    <a:cs typeface="Times New Roman" pitchFamily="18" charset="0"/>
                  </a:rPr>
                  <a:t>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9" name="Arrow: Chevron 26"/>
              <p:cNvSpPr>
                <a:spLocks noChangeArrowheads="1"/>
              </p:cNvSpPr>
              <p:nvPr/>
            </p:nvSpPr>
            <p:spPr bwMode="auto">
              <a:xfrm>
                <a:off x="315" y="603"/>
                <a:ext cx="1627" cy="1961"/>
              </a:xfrm>
              <a:prstGeom prst="chevron">
                <a:avLst>
                  <a:gd name="adj" fmla="val 50000"/>
                </a:avLst>
              </a:prstGeom>
              <a:solidFill>
                <a:srgbClr val="4F81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0" name="Arrow: Chevron 27"/>
              <p:cNvSpPr>
                <a:spLocks noChangeArrowheads="1"/>
              </p:cNvSpPr>
              <p:nvPr/>
            </p:nvSpPr>
            <p:spPr bwMode="auto">
              <a:xfrm>
                <a:off x="1162" y="602"/>
                <a:ext cx="1768" cy="1961"/>
              </a:xfrm>
              <a:prstGeom prst="chevron">
                <a:avLst>
                  <a:gd name="adj" fmla="val 50000"/>
                </a:avLst>
              </a:prstGeom>
              <a:solidFill>
                <a:srgbClr val="FFC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16" name="TextBox 56"/>
            <p:cNvSpPr txBox="1">
              <a:spLocks noChangeArrowheads="1"/>
            </p:cNvSpPr>
            <p:nvPr/>
          </p:nvSpPr>
          <p:spPr bwMode="auto">
            <a:xfrm>
              <a:off x="2386" y="1032"/>
              <a:ext cx="4966" cy="2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4000" b="1" i="0" u="none" strike="noStrike" cap="none" normalizeH="0" baseline="0" dirty="0" err="1">
                  <a:ln>
                    <a:noFill/>
                  </a:ln>
                  <a:solidFill>
                    <a:srgbClr val="0000CC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Ví</a:t>
              </a:r>
              <a:r>
                <a:rPr kumimoji="0" lang="en-US" altLang="en-US" sz="4000" b="1" i="0" u="none" strike="noStrike" cap="none" normalizeH="0" baseline="0" dirty="0">
                  <a:ln>
                    <a:noFill/>
                  </a:ln>
                  <a:solidFill>
                    <a:srgbClr val="0000CC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altLang="en-US" sz="4000" b="1" i="0" u="none" strike="noStrike" cap="none" normalizeH="0" baseline="0" dirty="0" err="1">
                  <a:ln>
                    <a:noFill/>
                  </a:ln>
                  <a:solidFill>
                    <a:srgbClr val="0000CC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dụ</a:t>
              </a:r>
              <a:r>
                <a:rPr kumimoji="0" lang="en-US" altLang="en-US" sz="4000" b="1" i="0" u="none" strike="noStrike" cap="none" normalizeH="0" baseline="0" dirty="0">
                  <a:ln>
                    <a:noFill/>
                  </a:ln>
                  <a:solidFill>
                    <a:srgbClr val="0000CC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1.</a:t>
              </a:r>
              <a:endPara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sp>
        <p:nvSpPr>
          <p:cNvPr id="21" name="Title 1">
            <a:extLst>
              <a:ext uri="{FF2B5EF4-FFF2-40B4-BE49-F238E27FC236}">
                <a16:creationId xmlns:a16="http://schemas.microsoft.com/office/drawing/2014/main" id="{F9719C1B-073E-4397-9B0B-77627403ECFD}"/>
              </a:ext>
            </a:extLst>
          </p:cNvPr>
          <p:cNvSpPr txBox="1">
            <a:spLocks/>
          </p:cNvSpPr>
          <p:nvPr/>
        </p:nvSpPr>
        <p:spPr>
          <a:xfrm>
            <a:off x="838200" y="1879600"/>
            <a:ext cx="23164800" cy="13842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anchor="ctr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Tomaho"/>
                <a:ea typeface="+mj-ea"/>
                <a:cs typeface="+mj-cs"/>
              </a:defRPr>
            </a:lvl1pPr>
          </a:lstStyle>
          <a:p>
            <a:r>
              <a:rPr lang="en-US" b="1" dirty="0"/>
              <a:t>1</a:t>
            </a:r>
            <a:r>
              <a:rPr lang="en-US" b="1"/>
              <a:t>. KHÁI NIỆM HÀM SỐ</a:t>
            </a: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3CA3CFA-B33F-670B-E51F-37972DC423AC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46457" y="5562600"/>
            <a:ext cx="9927943" cy="7940676"/>
          </a:xfrm>
          <a:prstGeom prst="rect">
            <a:avLst/>
          </a:prstGeom>
        </p:spPr>
      </p:pic>
      <p:sp>
        <p:nvSpPr>
          <p:cNvPr id="101" name="Rounded Rectangle 100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   ·   BÀI 15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331465648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657040" y="2958299"/>
                <a:ext cx="19345959" cy="2070901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/>
                  <a:t>Viết hàm số mô tả sự phụ thuộc của quãng đường đi được vào thời gian của một vật chuyển động thẳng đều với vận tốc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2 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/>
                  <a:t>. Tìm tập xác định của hàm số đó. Tính quãng đường vật đi được sau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,10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vi-VN"/>
              </a:p>
            </p:txBody>
          </p:sp>
        </mc:Choice>
        <mc:Fallback xmlns="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7040" y="2958299"/>
                <a:ext cx="19345959" cy="2070901"/>
              </a:xfrm>
              <a:prstGeom prst="rect">
                <a:avLst/>
              </a:prstGeom>
              <a:blipFill>
                <a:blip r:embed="rId3"/>
                <a:stretch>
                  <a:fillRect l="-1417" t="-9649" r="-1669" b="-15205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0"/>
          <p:cNvSpPr>
            <a:spLocks noChangeArrowheads="1"/>
          </p:cNvSpPr>
          <p:nvPr/>
        </p:nvSpPr>
        <p:spPr bwMode="auto">
          <a:xfrm>
            <a:off x="0" y="0"/>
            <a:ext cx="2438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" name="Rectangle 13"/>
          <p:cNvSpPr>
            <a:spLocks noChangeArrowheads="1"/>
          </p:cNvSpPr>
          <p:nvPr/>
        </p:nvSpPr>
        <p:spPr bwMode="auto">
          <a:xfrm>
            <a:off x="0" y="687388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Calibri" pitchFamily="34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Calibri" pitchFamily="34" charset="0"/>
                <a:cs typeface="Times New Roman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657040" y="5098775"/>
                <a:ext cx="19193558" cy="5363161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en-US" b="1"/>
                  <a:t>Giải</a:t>
                </a:r>
                <a:endParaRPr lang="vi-VN"/>
              </a:p>
              <a:p>
                <a:r>
                  <a:rPr lang="en-US"/>
                  <a:t>Một vật chuyển động thẳng đều với vận tốc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=2</m:t>
                    </m:r>
                    <m:r>
                      <m:rPr>
                        <m:nor/>
                      </m:rPr>
                      <a:rPr lang="en-US" i="1"/>
                      <m:t> </m:t>
                    </m:r>
                    <m:r>
                      <m:rPr>
                        <m:nor/>
                      </m:rPr>
                      <a:rPr lang="en-US"/>
                      <m:t>m</m:t>
                    </m:r>
                    <m:r>
                      <a:rPr lang="en-US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/>
                  <a:t> thì quâng đường đi được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/>
                  <a:t> (mét) phụ thuộc vào thời gian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/>
                  <a:t> (giây) theo công thức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/>
                  <a:t>, trong đó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/>
                  <a:t> là biến số,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ctrlPr>
                          <a:rPr lang="vi-V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/>
                  <a:t> là hàm số của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/>
                  <a:t>. Tập xác định của hàm số là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"/>
                        <m:ctrlPr>
                          <a:rPr lang="vi-V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0;+∞</m:t>
                        </m:r>
                      </m:e>
                    </m:d>
                  </m:oMath>
                </a14:m>
                <a:endParaRPr lang="vi-VN"/>
              </a:p>
              <a:p>
                <a:r>
                  <a:rPr lang="en-US"/>
                  <a:t>Quãng đường vật đi được sau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5 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/>
                  <a:t> là: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ctrlPr>
                          <a:rPr lang="vi-V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=2⋅5=10</m:t>
                    </m:r>
                    <m:d>
                      <m:dPr>
                        <m:ctrlPr>
                          <a:rPr lang="vi-V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</m:oMath>
                </a14:m>
                <a:r>
                  <a:rPr lang="en-US"/>
                  <a:t>.</a:t>
                </a:r>
                <a:endParaRPr lang="vi-VN"/>
              </a:p>
              <a:p>
                <a:r>
                  <a:rPr lang="en-US"/>
                  <a:t>Quãng đường vật đi được sau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10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/>
                  <a:t> là: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ctrlPr>
                          <a:rPr lang="vi-V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=2⋅10=20</m:t>
                    </m:r>
                    <m:d>
                      <m:dPr>
                        <m:ctrlPr>
                          <a:rPr lang="vi-V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i="1"/>
                          <m:t> </m:t>
                        </m:r>
                        <m:r>
                          <m:rPr>
                            <m:nor/>
                          </m:rPr>
                          <a:rPr lang="en-US"/>
                          <m:t>m</m:t>
                        </m:r>
                      </m:e>
                    </m:d>
                  </m:oMath>
                </a14:m>
                <a:r>
                  <a:rPr lang="en-US"/>
                  <a:t>.</a:t>
                </a:r>
                <a:endParaRPr lang="vi-VN"/>
              </a:p>
            </p:txBody>
          </p:sp>
        </mc:Choice>
        <mc:Fallback xmlns="">
          <p:sp>
            <p:nvSpPr>
              <p:cNvPr id="17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7040" y="5098775"/>
                <a:ext cx="19193558" cy="5363161"/>
              </a:xfrm>
              <a:prstGeom prst="rect">
                <a:avLst/>
              </a:prstGeom>
              <a:blipFill>
                <a:blip r:embed="rId4"/>
                <a:stretch>
                  <a:fillRect l="-1302" t="-3741" r="-1905" b="-7823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Group 57"/>
          <p:cNvGrpSpPr>
            <a:grpSpLocks/>
          </p:cNvGrpSpPr>
          <p:nvPr/>
        </p:nvGrpSpPr>
        <p:grpSpPr bwMode="auto">
          <a:xfrm>
            <a:off x="868679" y="2850298"/>
            <a:ext cx="3657600" cy="1161315"/>
            <a:chOff x="224" y="592"/>
            <a:chExt cx="8505" cy="2460"/>
          </a:xfrm>
        </p:grpSpPr>
        <p:grpSp>
          <p:nvGrpSpPr>
            <p:cNvPr id="15" name="Group 24"/>
            <p:cNvGrpSpPr>
              <a:grpSpLocks/>
            </p:cNvGrpSpPr>
            <p:nvPr/>
          </p:nvGrpSpPr>
          <p:grpSpPr bwMode="auto">
            <a:xfrm>
              <a:off x="224" y="592"/>
              <a:ext cx="8505" cy="1599"/>
              <a:chOff x="315" y="602"/>
              <a:chExt cx="11966" cy="1978"/>
            </a:xfrm>
          </p:grpSpPr>
          <p:sp>
            <p:nvSpPr>
              <p:cNvPr id="18" name="Arrow: Pentagon 25"/>
              <p:cNvSpPr>
                <a:spLocks noChangeArrowheads="1"/>
              </p:cNvSpPr>
              <p:nvPr/>
            </p:nvSpPr>
            <p:spPr bwMode="auto">
              <a:xfrm>
                <a:off x="2045" y="620"/>
                <a:ext cx="10237" cy="1961"/>
              </a:xfrm>
              <a:prstGeom prst="homePlate">
                <a:avLst>
                  <a:gd name="adj" fmla="val 50004"/>
                </a:avLst>
              </a:prstGeom>
              <a:solidFill>
                <a:srgbClr val="FCFFEF"/>
              </a:solidFill>
              <a:ln w="25400">
                <a:solidFill>
                  <a:srgbClr val="F2DCDB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000" b="1" i="0" u="none" strike="noStrike" cap="none" normalizeH="0" baseline="0">
                    <a:ln>
                      <a:noFill/>
                    </a:ln>
                    <a:solidFill>
                      <a:srgbClr val="0000CC"/>
                    </a:solidFill>
                    <a:effectLst/>
                    <a:latin typeface="Arial" pitchFamily="34" charset="0"/>
                    <a:ea typeface="Calibri" pitchFamily="34" charset="0"/>
                    <a:cs typeface="Times New Roman" pitchFamily="18" charset="0"/>
                  </a:rPr>
                  <a:t>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9" name="Arrow: Chevron 26"/>
              <p:cNvSpPr>
                <a:spLocks noChangeArrowheads="1"/>
              </p:cNvSpPr>
              <p:nvPr/>
            </p:nvSpPr>
            <p:spPr bwMode="auto">
              <a:xfrm>
                <a:off x="315" y="603"/>
                <a:ext cx="1627" cy="1961"/>
              </a:xfrm>
              <a:prstGeom prst="chevron">
                <a:avLst>
                  <a:gd name="adj" fmla="val 50000"/>
                </a:avLst>
              </a:prstGeom>
              <a:solidFill>
                <a:srgbClr val="4F81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0" name="Arrow: Chevron 27"/>
              <p:cNvSpPr>
                <a:spLocks noChangeArrowheads="1"/>
              </p:cNvSpPr>
              <p:nvPr/>
            </p:nvSpPr>
            <p:spPr bwMode="auto">
              <a:xfrm>
                <a:off x="1162" y="602"/>
                <a:ext cx="1768" cy="1961"/>
              </a:xfrm>
              <a:prstGeom prst="chevron">
                <a:avLst>
                  <a:gd name="adj" fmla="val 50000"/>
                </a:avLst>
              </a:prstGeom>
              <a:solidFill>
                <a:srgbClr val="FFC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16" name="TextBox 56"/>
            <p:cNvSpPr txBox="1">
              <a:spLocks noChangeArrowheads="1"/>
            </p:cNvSpPr>
            <p:nvPr/>
          </p:nvSpPr>
          <p:spPr bwMode="auto">
            <a:xfrm>
              <a:off x="2386" y="752"/>
              <a:ext cx="4966" cy="2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4000" b="1" i="0" u="none" strike="noStrike" cap="none" normalizeH="0" baseline="0" dirty="0" err="1">
                  <a:ln>
                    <a:noFill/>
                  </a:ln>
                  <a:solidFill>
                    <a:srgbClr val="0000CC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Ví</a:t>
              </a:r>
              <a:r>
                <a:rPr kumimoji="0" lang="en-US" altLang="en-US" sz="4000" b="1" i="0" u="none" strike="noStrike" cap="none" normalizeH="0" baseline="0" dirty="0">
                  <a:ln>
                    <a:noFill/>
                  </a:ln>
                  <a:solidFill>
                    <a:srgbClr val="0000CC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altLang="en-US" sz="4000" b="1" i="0" u="none" strike="noStrike" cap="none" normalizeH="0" baseline="0" dirty="0" err="1">
                  <a:ln>
                    <a:noFill/>
                  </a:ln>
                  <a:solidFill>
                    <a:srgbClr val="0000CC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dụ</a:t>
              </a:r>
              <a:r>
                <a:rPr kumimoji="0" lang="en-US" altLang="en-US" sz="4000" b="1" i="0" u="none" strike="noStrike" cap="none" normalizeH="0" baseline="0" dirty="0">
                  <a:ln>
                    <a:noFill/>
                  </a:ln>
                  <a:solidFill>
                    <a:srgbClr val="0000CC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2.</a:t>
              </a:r>
              <a:endPara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33928FAB-AA37-499A-9B7B-5D0BFC0F30B1}"/>
                  </a:ext>
                </a:extLst>
              </p:cNvPr>
              <p:cNvSpPr/>
              <p:nvPr/>
            </p:nvSpPr>
            <p:spPr>
              <a:xfrm>
                <a:off x="887729" y="10816832"/>
                <a:ext cx="23321211" cy="1477328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r>
                  <a:rPr lang="vi-VN" sz="4500" dirty="0">
                    <a:solidFill>
                      <a:srgbClr val="FF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Chú ý</a:t>
                </a:r>
                <a:r>
                  <a:rPr lang="vi-VN" sz="45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: </a:t>
                </a:r>
                <a:r>
                  <a:rPr lang="en-US" sz="4500"/>
                  <a:t>Khi cho hàm số bằng công thức </a:t>
                </a:r>
                <a14:m>
                  <m:oMath xmlns:m="http://schemas.openxmlformats.org/officeDocument/2006/math">
                    <m:r>
                      <a:rPr lang="en-US" sz="45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45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45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vi-VN" sz="45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5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4500"/>
                  <a:t> mà không chỉ rõ tập xác định của nó thì ta quy ước tập xác định của hàm số là tập hợp tất cả các số thực </a:t>
                </a:r>
                <a14:m>
                  <m:oMath xmlns:m="http://schemas.openxmlformats.org/officeDocument/2006/math">
                    <m:r>
                      <a:rPr lang="en-US" sz="45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4500"/>
                  <a:t> sao cho biểu thức </a:t>
                </a:r>
                <a14:m>
                  <m:oMath xmlns:m="http://schemas.openxmlformats.org/officeDocument/2006/math">
                    <m:r>
                      <a:rPr lang="en-US" sz="45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vi-VN" sz="45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5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4500"/>
                  <a:t>có nghĩa.</a:t>
                </a:r>
                <a:endParaRPr lang="en-US" sz="45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33928FAB-AA37-499A-9B7B-5D0BFC0F30B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7729" y="10816832"/>
                <a:ext cx="23321211" cy="1477328"/>
              </a:xfrm>
              <a:prstGeom prst="rect">
                <a:avLst/>
              </a:prstGeom>
              <a:blipFill>
                <a:blip r:embed="rId5"/>
                <a:stretch>
                  <a:fillRect l="-1098" t="-10656" b="-192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itle 1">
            <a:extLst>
              <a:ext uri="{FF2B5EF4-FFF2-40B4-BE49-F238E27FC236}">
                <a16:creationId xmlns:a16="http://schemas.microsoft.com/office/drawing/2014/main" id="{1273952B-3A7C-4511-B683-AE6F48E49DDD}"/>
              </a:ext>
            </a:extLst>
          </p:cNvPr>
          <p:cNvSpPr txBox="1">
            <a:spLocks/>
          </p:cNvSpPr>
          <p:nvPr/>
        </p:nvSpPr>
        <p:spPr>
          <a:xfrm>
            <a:off x="838200" y="1760562"/>
            <a:ext cx="23164800" cy="105883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anchor="ctr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Tomaho"/>
                <a:ea typeface="+mj-ea"/>
                <a:cs typeface="+mj-cs"/>
              </a:defRPr>
            </a:lvl1pPr>
          </a:lstStyle>
          <a:p>
            <a:r>
              <a:rPr lang="en-US" b="1" dirty="0"/>
              <a:t>1</a:t>
            </a:r>
            <a:r>
              <a:rPr lang="en-US" b="1"/>
              <a:t>. KHÁI NIỆM HÀM SỐ</a:t>
            </a:r>
            <a:endParaRPr lang="en-US" dirty="0"/>
          </a:p>
        </p:txBody>
      </p:sp>
      <p:sp>
        <p:nvSpPr>
          <p:cNvPr id="101" name="Rounded Rectangle 100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   ·   BÀI 15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314539292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 animBg="1"/>
      <p:bldP spid="17" grpId="0" animBg="1"/>
      <p:bldP spid="2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0"/>
          <p:cNvSpPr>
            <a:spLocks noChangeArrowheads="1"/>
          </p:cNvSpPr>
          <p:nvPr/>
        </p:nvSpPr>
        <p:spPr bwMode="auto">
          <a:xfrm>
            <a:off x="0" y="0"/>
            <a:ext cx="2438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" name="Rectangle 13"/>
          <p:cNvSpPr>
            <a:spLocks noChangeArrowheads="1"/>
          </p:cNvSpPr>
          <p:nvPr/>
        </p:nvSpPr>
        <p:spPr bwMode="auto">
          <a:xfrm>
            <a:off x="0" y="687388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Calibri" pitchFamily="34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Calibri" pitchFamily="34" charset="0"/>
                <a:cs typeface="Times New Roman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626562" y="3972042"/>
                <a:ext cx="18859500" cy="9056570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/>
                  <a:t> Tìm tập xác định của các hàm số sau:</a:t>
                </a:r>
                <a:br>
                  <a:rPr lang="en-US"/>
                </a:br>
                <a:r>
                  <a:rPr lang="en-US"/>
                  <a:t>a)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vi-VN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−4</m:t>
                        </m:r>
                      </m:e>
                    </m:rad>
                  </m:oMath>
                </a14:m>
                <a:r>
                  <a:rPr lang="en-US"/>
                  <a:t>;					b)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vi-V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den>
                    </m:f>
                  </m:oMath>
                </a14:m>
                <a:r>
                  <a:rPr lang="en-US"/>
                  <a:t>.</a:t>
                </a:r>
                <a:endParaRPr lang="vi-VN"/>
              </a:p>
              <a:p>
                <a:pPr marL="0" indent="0">
                  <a:buNone/>
                </a:pPr>
                <a:r>
                  <a:rPr lang="en-US" b="1"/>
                  <a:t>Giải</a:t>
                </a:r>
                <a:endParaRPr lang="en-US"/>
              </a:p>
              <a:p>
                <a:pPr marL="0" indent="0">
                  <a:buNone/>
                </a:pPr>
                <a:r>
                  <a:rPr lang="en-US"/>
                  <a:t>a) 	Biểu thức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vi-VN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−4</m:t>
                        </m:r>
                      </m:e>
                    </m:rad>
                  </m:oMath>
                </a14:m>
                <a:r>
                  <a:rPr lang="en-US"/>
                  <a:t> có nghĩa khi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−4≥0</m:t>
                    </m:r>
                  </m:oMath>
                </a14:m>
                <a:r>
                  <a:rPr lang="en-US"/>
                  <a:t>, tức là khi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≥2</m:t>
                    </m:r>
                  </m:oMath>
                </a14:m>
                <a:r>
                  <a:rPr lang="en-US"/>
                  <a:t>.</a:t>
                </a:r>
                <a:endParaRPr lang="vi-VN"/>
              </a:p>
              <a:p>
                <a:pPr marL="0" indent="0">
                  <a:buNone/>
                </a:pPr>
                <a:r>
                  <a:rPr lang="en-US"/>
                  <a:t>	Vậy tập xác định của hàm số đã cho là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"/>
                        <m:ctrlPr>
                          <a:rPr lang="vi-V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2;+∞</m:t>
                        </m:r>
                      </m:e>
                    </m:d>
                  </m:oMath>
                </a14:m>
                <a:r>
                  <a:rPr lang="en-US"/>
                  <a:t>.</a:t>
                </a:r>
                <a:endParaRPr lang="vi-VN"/>
              </a:p>
              <a:p>
                <a:pPr marL="0" indent="0">
                  <a:buNone/>
                </a:pPr>
                <a:r>
                  <a:rPr lang="en-US"/>
                  <a:t>b) 	Biểu thức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vi-V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den>
                    </m:f>
                  </m:oMath>
                </a14:m>
                <a:r>
                  <a:rPr lang="en-US"/>
                  <a:t> có nghĩa khi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−1≠0</m:t>
                    </m:r>
                  </m:oMath>
                </a14:m>
                <a:r>
                  <a:rPr lang="en-US"/>
                  <a:t>, tức là khi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≠1</m:t>
                    </m:r>
                  </m:oMath>
                </a14:m>
                <a:r>
                  <a:rPr lang="en-US"/>
                  <a:t>.</a:t>
                </a:r>
                <a:endParaRPr lang="vi-VN"/>
              </a:p>
              <a:p>
                <a:pPr marL="0" indent="0">
                  <a:buNone/>
                </a:pPr>
                <a:r>
                  <a:rPr lang="en-US"/>
                  <a:t>	Vậy tập xác định của hàm số đã cho là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ℝ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\</m:t>
                    </m:r>
                    <m:d>
                      <m:dPr>
                        <m:begChr m:val="{"/>
                        <m:endChr m:val="}"/>
                        <m:ctrlPr>
                          <a:rPr lang="vi-V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/>
                  <a:t>.</a:t>
                </a:r>
                <a:endParaRPr lang="vi-VN"/>
              </a:p>
            </p:txBody>
          </p:sp>
        </mc:Choice>
        <mc:Fallback xmlns="">
          <p:sp>
            <p:nvSpPr>
              <p:cNvPr id="21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6562" y="3972042"/>
                <a:ext cx="18859500" cy="9056570"/>
              </a:xfrm>
              <a:prstGeom prst="rect">
                <a:avLst/>
              </a:prstGeom>
              <a:blipFill>
                <a:blip r:embed="rId3"/>
                <a:stretch>
                  <a:fillRect l="-1453" t="-2219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Group 57"/>
          <p:cNvGrpSpPr>
            <a:grpSpLocks/>
          </p:cNvGrpSpPr>
          <p:nvPr/>
        </p:nvGrpSpPr>
        <p:grpSpPr bwMode="auto">
          <a:xfrm>
            <a:off x="838200" y="3962400"/>
            <a:ext cx="3657600" cy="1815548"/>
            <a:chOff x="224" y="592"/>
            <a:chExt cx="8505" cy="2740"/>
          </a:xfrm>
        </p:grpSpPr>
        <p:grpSp>
          <p:nvGrpSpPr>
            <p:cNvPr id="15" name="Group 24"/>
            <p:cNvGrpSpPr>
              <a:grpSpLocks/>
            </p:cNvGrpSpPr>
            <p:nvPr/>
          </p:nvGrpSpPr>
          <p:grpSpPr bwMode="auto">
            <a:xfrm>
              <a:off x="224" y="592"/>
              <a:ext cx="8505" cy="1599"/>
              <a:chOff x="315" y="602"/>
              <a:chExt cx="11966" cy="1978"/>
            </a:xfrm>
          </p:grpSpPr>
          <p:sp>
            <p:nvSpPr>
              <p:cNvPr id="18" name="Arrow: Pentagon 25"/>
              <p:cNvSpPr>
                <a:spLocks noChangeArrowheads="1"/>
              </p:cNvSpPr>
              <p:nvPr/>
            </p:nvSpPr>
            <p:spPr bwMode="auto">
              <a:xfrm>
                <a:off x="2045" y="620"/>
                <a:ext cx="10237" cy="1961"/>
              </a:xfrm>
              <a:prstGeom prst="homePlate">
                <a:avLst>
                  <a:gd name="adj" fmla="val 50004"/>
                </a:avLst>
              </a:prstGeom>
              <a:solidFill>
                <a:srgbClr val="FCFFEF"/>
              </a:solidFill>
              <a:ln w="25400">
                <a:solidFill>
                  <a:srgbClr val="F2DCDB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000" b="1" i="0" u="none" strike="noStrike" cap="none" normalizeH="0" baseline="0">
                    <a:ln>
                      <a:noFill/>
                    </a:ln>
                    <a:solidFill>
                      <a:srgbClr val="0000CC"/>
                    </a:solidFill>
                    <a:effectLst/>
                    <a:latin typeface="Arial" pitchFamily="34" charset="0"/>
                    <a:ea typeface="Calibri" pitchFamily="34" charset="0"/>
                    <a:cs typeface="Times New Roman" pitchFamily="18" charset="0"/>
                  </a:rPr>
                  <a:t>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9" name="Arrow: Chevron 26"/>
              <p:cNvSpPr>
                <a:spLocks noChangeArrowheads="1"/>
              </p:cNvSpPr>
              <p:nvPr/>
            </p:nvSpPr>
            <p:spPr bwMode="auto">
              <a:xfrm>
                <a:off x="315" y="603"/>
                <a:ext cx="1627" cy="1961"/>
              </a:xfrm>
              <a:prstGeom prst="chevron">
                <a:avLst>
                  <a:gd name="adj" fmla="val 50000"/>
                </a:avLst>
              </a:prstGeom>
              <a:solidFill>
                <a:srgbClr val="4F81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0" name="Arrow: Chevron 27"/>
              <p:cNvSpPr>
                <a:spLocks noChangeArrowheads="1"/>
              </p:cNvSpPr>
              <p:nvPr/>
            </p:nvSpPr>
            <p:spPr bwMode="auto">
              <a:xfrm>
                <a:off x="1162" y="602"/>
                <a:ext cx="1768" cy="1961"/>
              </a:xfrm>
              <a:prstGeom prst="chevron">
                <a:avLst>
                  <a:gd name="adj" fmla="val 50000"/>
                </a:avLst>
              </a:prstGeom>
              <a:solidFill>
                <a:srgbClr val="FFC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16" name="TextBox 56"/>
            <p:cNvSpPr txBox="1">
              <a:spLocks noChangeArrowheads="1"/>
            </p:cNvSpPr>
            <p:nvPr/>
          </p:nvSpPr>
          <p:spPr bwMode="auto">
            <a:xfrm>
              <a:off x="2386" y="1032"/>
              <a:ext cx="4966" cy="2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4000" b="1" i="0" u="none" strike="noStrike" cap="none" normalizeH="0" baseline="0" dirty="0" err="1">
                  <a:ln>
                    <a:noFill/>
                  </a:ln>
                  <a:solidFill>
                    <a:srgbClr val="0000CC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Ví</a:t>
              </a:r>
              <a:r>
                <a:rPr kumimoji="0" lang="en-US" altLang="en-US" sz="4000" b="1" i="0" u="none" strike="noStrike" cap="none" normalizeH="0" baseline="0" dirty="0">
                  <a:ln>
                    <a:noFill/>
                  </a:ln>
                  <a:solidFill>
                    <a:srgbClr val="0000CC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altLang="en-US" sz="4000" b="1" i="0" u="none" strike="noStrike" cap="none" normalizeH="0" baseline="0" err="1">
                  <a:ln>
                    <a:noFill/>
                  </a:ln>
                  <a:solidFill>
                    <a:srgbClr val="0000CC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dụ</a:t>
              </a:r>
              <a:r>
                <a:rPr kumimoji="0" lang="en-US" altLang="en-US" sz="4000" b="1" i="0" u="none" strike="noStrike" cap="none" normalizeH="0" baseline="0">
                  <a:ln>
                    <a:noFill/>
                  </a:ln>
                  <a:solidFill>
                    <a:srgbClr val="0000CC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3.</a:t>
              </a:r>
              <a:endPara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sp>
        <p:nvSpPr>
          <p:cNvPr id="13" name="Title 1">
            <a:extLst>
              <a:ext uri="{FF2B5EF4-FFF2-40B4-BE49-F238E27FC236}">
                <a16:creationId xmlns:a16="http://schemas.microsoft.com/office/drawing/2014/main" id="{4DB7B710-B079-4ADD-B81F-3B99D073901B}"/>
              </a:ext>
            </a:extLst>
          </p:cNvPr>
          <p:cNvSpPr txBox="1">
            <a:spLocks/>
          </p:cNvSpPr>
          <p:nvPr/>
        </p:nvSpPr>
        <p:spPr>
          <a:xfrm>
            <a:off x="838200" y="1879600"/>
            <a:ext cx="23164800" cy="13842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anchor="ctr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Tomaho"/>
                <a:ea typeface="+mj-ea"/>
                <a:cs typeface="+mj-cs"/>
              </a:defRPr>
            </a:lvl1pPr>
          </a:lstStyle>
          <a:p>
            <a:r>
              <a:rPr lang="en-US" b="1" dirty="0"/>
              <a:t>1</a:t>
            </a:r>
            <a:r>
              <a:rPr lang="en-US" b="1"/>
              <a:t>. KHÁI NIỆM HÀM SỐ</a:t>
            </a:r>
            <a:endParaRPr lang="en-US" dirty="0"/>
          </a:p>
        </p:txBody>
      </p:sp>
      <p:sp>
        <p:nvSpPr>
          <p:cNvPr id="33" name="Rounded Rectangle 32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   ·   BÀI 15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427420682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3662959"/>
                <a:ext cx="22936200" cy="3804642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/>
                  <a:t>a</a:t>
                </a:r>
                <a:r>
                  <a:rPr lang="en-US" sz="4300"/>
                  <a:t>) Hãy cho biết Bảng </a:t>
                </a:r>
                <a14:m>
                  <m:oMath xmlns:m="http://schemas.openxmlformats.org/officeDocument/2006/math">
                    <m:r>
                      <a:rPr lang="en-US" sz="4300">
                        <a:latin typeface="Cambria Math" panose="02040503050406030204" pitchFamily="18" charset="0"/>
                      </a:rPr>
                      <m:t>6.4</m:t>
                    </m:r>
                  </m:oMath>
                </a14:m>
                <a:r>
                  <a:rPr lang="en-US" sz="4300"/>
                  <a:t> có cho ta một hàm số hay không. Nếu có, tìm tập xác định và tập giá trị của hàm số đó.</a:t>
                </a:r>
              </a:p>
              <a:p>
                <a:pPr marL="0" indent="0">
                  <a:buNone/>
                </a:pPr>
                <a:r>
                  <a:rPr lang="en-US" sz="4300"/>
                  <a:t>b) Trở lại HĐ2, ta có hàm số cho bằng biểu đồ. Hãy cho biết giá trị của hàm số tại </a:t>
                </a:r>
                <a14:m>
                  <m:oMath xmlns:m="http://schemas.openxmlformats.org/officeDocument/2006/math">
                    <m:r>
                      <a:rPr lang="en-US" sz="43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4300" i="1">
                        <a:latin typeface="Cambria Math" panose="02040503050406030204" pitchFamily="18" charset="0"/>
                      </a:rPr>
                      <m:t>=2018</m:t>
                    </m:r>
                  </m:oMath>
                </a14:m>
                <a:r>
                  <a:rPr lang="en-US" sz="4300"/>
                  <a:t>. </a:t>
                </a:r>
              </a:p>
              <a:p>
                <a:pPr marL="0" indent="0">
                  <a:buNone/>
                </a:pPr>
                <a:r>
                  <a:rPr lang="en-US" sz="4300"/>
                  <a:t>Tìm tập xác định, tập giá trị của hàm số đó.</a:t>
                </a:r>
                <a:endParaRPr lang="vi-VN" sz="4300"/>
              </a:p>
              <a:p>
                <a:pPr marL="0" indent="0">
                  <a:buNone/>
                </a:pPr>
                <a:r>
                  <a:rPr lang="en-US" sz="4300"/>
                  <a:t>c) Cho hàm số </a:t>
                </a:r>
                <a14:m>
                  <m:oMath xmlns:m="http://schemas.openxmlformats.org/officeDocument/2006/math">
                    <m:r>
                      <a:rPr lang="en-US" sz="43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43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43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vi-VN" sz="43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3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4300" i="1">
                        <a:latin typeface="Cambria Math" panose="02040503050406030204" pitchFamily="18" charset="0"/>
                      </a:rPr>
                      <m:t>=−2</m:t>
                    </m:r>
                    <m:sSup>
                      <m:sSupPr>
                        <m:ctrlPr>
                          <a:rPr lang="vi-VN" sz="43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3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43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4300"/>
                  <a:t>. Tính </a:t>
                </a:r>
                <a14:m>
                  <m:oMath xmlns:m="http://schemas.openxmlformats.org/officeDocument/2006/math">
                    <m:r>
                      <a:rPr lang="en-US" sz="43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vi-VN" sz="43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300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sz="4300"/>
                  <a:t>; </a:t>
                </a:r>
                <a14:m>
                  <m:oMath xmlns:m="http://schemas.openxmlformats.org/officeDocument/2006/math">
                    <m:r>
                      <a:rPr lang="en-US" sz="430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vi-VN" sz="43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3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lang="en-US" sz="4300"/>
                  <a:t>  và tìm tập xác định, tập giá trị của hàm số này. </a:t>
                </a:r>
                <a:endParaRPr lang="vi-VN" sz="4300"/>
              </a:p>
              <a:p>
                <a:pPr marL="0" indent="0">
                  <a:buNone/>
                </a:pPr>
                <a:endParaRPr lang="vi-VN"/>
              </a:p>
              <a:p>
                <a:pPr marL="0" indent="0">
                  <a:buNone/>
                </a:pPr>
                <a:r>
                  <a:rPr lang="en-US"/>
                  <a:t> </a:t>
                </a:r>
                <a:endParaRPr lang="vi-VN"/>
              </a:p>
            </p:txBody>
          </p:sp>
        </mc:Choice>
        <mc:Fallback xmlns="">
          <p:sp>
            <p:nvSpPr>
              <p:cNvPr id="21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662959"/>
                <a:ext cx="22936200" cy="3804642"/>
              </a:xfrm>
              <a:prstGeom prst="rect">
                <a:avLst/>
              </a:prstGeom>
              <a:blipFill>
                <a:blip r:embed="rId3"/>
                <a:stretch>
                  <a:fillRect l="-1196" t="-5272" b="-9265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Group 57"/>
          <p:cNvGrpSpPr>
            <a:grpSpLocks/>
          </p:cNvGrpSpPr>
          <p:nvPr/>
        </p:nvGrpSpPr>
        <p:grpSpPr bwMode="auto">
          <a:xfrm>
            <a:off x="723899" y="2628585"/>
            <a:ext cx="5116461" cy="1646755"/>
            <a:chOff x="224" y="592"/>
            <a:chExt cx="7128" cy="2556"/>
          </a:xfrm>
        </p:grpSpPr>
        <p:grpSp>
          <p:nvGrpSpPr>
            <p:cNvPr id="15" name="Group 24"/>
            <p:cNvGrpSpPr>
              <a:grpSpLocks/>
            </p:cNvGrpSpPr>
            <p:nvPr/>
          </p:nvGrpSpPr>
          <p:grpSpPr bwMode="auto">
            <a:xfrm>
              <a:off x="224" y="592"/>
              <a:ext cx="7128" cy="1586"/>
              <a:chOff x="315" y="602"/>
              <a:chExt cx="10029" cy="1962"/>
            </a:xfrm>
          </p:grpSpPr>
          <p:sp>
            <p:nvSpPr>
              <p:cNvPr id="18" name="Arrow: Pentagon 25"/>
              <p:cNvSpPr>
                <a:spLocks noChangeArrowheads="1"/>
              </p:cNvSpPr>
              <p:nvPr/>
            </p:nvSpPr>
            <p:spPr bwMode="auto">
              <a:xfrm>
                <a:off x="2045" y="620"/>
                <a:ext cx="8299" cy="1943"/>
              </a:xfrm>
              <a:prstGeom prst="homePlate">
                <a:avLst>
                  <a:gd name="adj" fmla="val 50004"/>
                </a:avLst>
              </a:prstGeom>
              <a:solidFill>
                <a:srgbClr val="FCFFEF"/>
              </a:solidFill>
              <a:ln w="25400">
                <a:solidFill>
                  <a:srgbClr val="F2DCDB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000" b="1" i="0" u="none" strike="noStrike" cap="none" normalizeH="0" baseline="0">
                    <a:ln>
                      <a:noFill/>
                    </a:ln>
                    <a:solidFill>
                      <a:srgbClr val="0000CC"/>
                    </a:solidFill>
                    <a:effectLst/>
                    <a:latin typeface="Arial" pitchFamily="34" charset="0"/>
                    <a:ea typeface="Calibri" pitchFamily="34" charset="0"/>
                    <a:cs typeface="Times New Roman" pitchFamily="18" charset="0"/>
                  </a:rPr>
                  <a:t>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9" name="Arrow: Chevron 26"/>
              <p:cNvSpPr>
                <a:spLocks noChangeArrowheads="1"/>
              </p:cNvSpPr>
              <p:nvPr/>
            </p:nvSpPr>
            <p:spPr bwMode="auto">
              <a:xfrm>
                <a:off x="315" y="603"/>
                <a:ext cx="1627" cy="1961"/>
              </a:xfrm>
              <a:prstGeom prst="chevron">
                <a:avLst>
                  <a:gd name="adj" fmla="val 50000"/>
                </a:avLst>
              </a:prstGeom>
              <a:solidFill>
                <a:srgbClr val="4F81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0" name="Arrow: Chevron 27"/>
              <p:cNvSpPr>
                <a:spLocks noChangeArrowheads="1"/>
              </p:cNvSpPr>
              <p:nvPr/>
            </p:nvSpPr>
            <p:spPr bwMode="auto">
              <a:xfrm>
                <a:off x="1162" y="602"/>
                <a:ext cx="1768" cy="1961"/>
              </a:xfrm>
              <a:prstGeom prst="chevron">
                <a:avLst>
                  <a:gd name="adj" fmla="val 50000"/>
                </a:avLst>
              </a:prstGeom>
              <a:solidFill>
                <a:srgbClr val="FFC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16" name="TextBox 56"/>
            <p:cNvSpPr txBox="1">
              <a:spLocks noChangeArrowheads="1"/>
            </p:cNvSpPr>
            <p:nvPr/>
          </p:nvSpPr>
          <p:spPr bwMode="auto">
            <a:xfrm>
              <a:off x="2363" y="848"/>
              <a:ext cx="4966" cy="2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4000" b="1" i="0" u="none" strike="noStrike" cap="none" normalizeH="0" baseline="0">
                  <a:ln>
                    <a:noFill/>
                  </a:ln>
                  <a:solidFill>
                    <a:srgbClr val="0000CC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Luyện tập 1.</a:t>
              </a:r>
              <a:endPara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sp>
        <p:nvSpPr>
          <p:cNvPr id="13" name="Title 1">
            <a:extLst>
              <a:ext uri="{FF2B5EF4-FFF2-40B4-BE49-F238E27FC236}">
                <a16:creationId xmlns:a16="http://schemas.microsoft.com/office/drawing/2014/main" id="{4DB7B710-B079-4ADD-B81F-3B99D073901B}"/>
              </a:ext>
            </a:extLst>
          </p:cNvPr>
          <p:cNvSpPr txBox="1">
            <a:spLocks/>
          </p:cNvSpPr>
          <p:nvPr/>
        </p:nvSpPr>
        <p:spPr>
          <a:xfrm>
            <a:off x="838200" y="1779478"/>
            <a:ext cx="23164800" cy="8491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Tomaho"/>
                <a:ea typeface="+mj-ea"/>
                <a:cs typeface="+mj-cs"/>
              </a:defRPr>
            </a:lvl1pPr>
          </a:lstStyle>
          <a:p>
            <a:r>
              <a:rPr lang="en-US" b="1" dirty="0"/>
              <a:t>1</a:t>
            </a:r>
            <a:r>
              <a:rPr lang="en-US" b="1"/>
              <a:t>. KHÁI NIỆM HÀM SỐ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232C76-7213-4547-A4CF-F56DF4C1A2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899" y="8335653"/>
            <a:ext cx="11353800" cy="288595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0" name="Content Placeholder 2">
                <a:extLst>
                  <a:ext uri="{FF2B5EF4-FFF2-40B4-BE49-F238E27FC236}">
                    <a16:creationId xmlns:a16="http://schemas.microsoft.com/office/drawing/2014/main" id="{A8177AEE-CCBC-4CB4-956A-B882B3B7E6E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405360" y="7514453"/>
                <a:ext cx="11353800" cy="4982348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/>
                <a:r>
                  <a:rPr lang="en-US" sz="4300"/>
                  <a:t>Bảng 6.4 cho ta một hàm số.</a:t>
                </a:r>
                <a:endParaRPr lang="vi-VN" sz="4300"/>
              </a:p>
              <a:p>
                <a:r>
                  <a:rPr lang="en-US" sz="4300"/>
                  <a:t>TXD </a:t>
                </a:r>
                <a14:m>
                  <m:oMath xmlns:m="http://schemas.openxmlformats.org/officeDocument/2006/math">
                    <m:r>
                      <a:rPr lang="en-US" sz="4300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43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vi-VN" sz="43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300" i="1">
                            <a:latin typeface="Cambria Math" panose="02040503050406030204" pitchFamily="18" charset="0"/>
                          </a:rPr>
                          <m:t>2013,2014,2015,2016,2017,2018</m:t>
                        </m:r>
                      </m:e>
                    </m:d>
                  </m:oMath>
                </a14:m>
                <a:r>
                  <a:rPr lang="en-US" sz="4300"/>
                  <a:t>.</a:t>
                </a:r>
                <a:endParaRPr lang="vi-VN" sz="4300"/>
              </a:p>
              <a:p>
                <a:r>
                  <a:rPr lang="en-US" sz="4300"/>
                  <a:t>Tập giá trị là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vi-VN" sz="43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300" i="1">
                            <a:latin typeface="Cambria Math" panose="02040503050406030204" pitchFamily="18" charset="0"/>
                          </a:rPr>
                          <m:t>73,1;73,2;73,3;73,4;73,5</m:t>
                        </m:r>
                      </m:e>
                    </m:d>
                  </m:oMath>
                </a14:m>
                <a:r>
                  <a:rPr lang="en-US" sz="4300"/>
                  <a:t>.</a:t>
                </a:r>
                <a:endParaRPr lang="vi-VN" sz="4300"/>
              </a:p>
              <a:p>
                <a:pPr lvl="0"/>
                <a:r>
                  <a:rPr lang="en-US" sz="4300"/>
                  <a:t>Giá trị hàm số tại </a:t>
                </a:r>
                <a14:m>
                  <m:oMath xmlns:m="http://schemas.openxmlformats.org/officeDocument/2006/math">
                    <m:r>
                      <a:rPr lang="en-US" sz="43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4300" i="1">
                        <a:latin typeface="Cambria Math" panose="02040503050406030204" pitchFamily="18" charset="0"/>
                      </a:rPr>
                      <m:t>=2018 </m:t>
                    </m:r>
                  </m:oMath>
                </a14:m>
                <a:r>
                  <a:rPr lang="en-US" sz="4300"/>
                  <a:t>là </a:t>
                </a:r>
                <a14:m>
                  <m:oMath xmlns:m="http://schemas.openxmlformats.org/officeDocument/2006/math">
                    <m:r>
                      <a:rPr lang="en-US" sz="4300" i="1">
                        <a:latin typeface="Cambria Math" panose="02040503050406030204" pitchFamily="18" charset="0"/>
                      </a:rPr>
                      <m:t>242</m:t>
                    </m:r>
                  </m:oMath>
                </a14:m>
                <a:endParaRPr lang="vi-VN" sz="4300"/>
              </a:p>
              <a:p>
                <a:pPr lvl="0"/>
                <a14:m>
                  <m:oMath xmlns:m="http://schemas.openxmlformats.org/officeDocument/2006/math">
                    <m:r>
                      <a:rPr lang="en-US" sz="43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vi-VN" sz="43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300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4300" i="1">
                        <a:latin typeface="Cambria Math" panose="02040503050406030204" pitchFamily="18" charset="0"/>
                      </a:rPr>
                      <m:t>=−2.</m:t>
                    </m:r>
                    <m:sSup>
                      <m:sSupPr>
                        <m:ctrlPr>
                          <a:rPr lang="vi-VN" sz="43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300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US" sz="43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4300" i="1">
                        <a:latin typeface="Cambria Math" panose="02040503050406030204" pitchFamily="18" charset="0"/>
                      </a:rPr>
                      <m:t>=−2</m:t>
                    </m:r>
                  </m:oMath>
                </a14:m>
                <a:r>
                  <a:rPr lang="en-US" sz="4300"/>
                  <a:t>,</a:t>
                </a:r>
                <a14:m>
                  <m:oMath xmlns:m="http://schemas.openxmlformats.org/officeDocument/2006/math">
                    <m:r>
                      <a:rPr lang="en-US" sz="43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vi-VN" sz="43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3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sz="4300" i="1">
                        <a:latin typeface="Cambria Math" panose="02040503050406030204" pitchFamily="18" charset="0"/>
                      </a:rPr>
                      <m:t>=−2.</m:t>
                    </m:r>
                    <m:sSup>
                      <m:sSupPr>
                        <m:ctrlPr>
                          <a:rPr lang="vi-VN" sz="43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3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43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4300" i="1">
                        <a:latin typeface="Cambria Math" panose="02040503050406030204" pitchFamily="18" charset="0"/>
                      </a:rPr>
                      <m:t>=−8</m:t>
                    </m:r>
                  </m:oMath>
                </a14:m>
                <a:r>
                  <a:rPr lang="en-US" sz="4300"/>
                  <a:t>. </a:t>
                </a:r>
                <a:endParaRPr lang="vi-VN" sz="4300"/>
              </a:p>
              <a:p>
                <a:r>
                  <a:rPr lang="en-US" sz="4300"/>
                  <a:t>Tập xác định </a:t>
                </a:r>
                <a14:m>
                  <m:oMath xmlns:m="http://schemas.openxmlformats.org/officeDocument/2006/math">
                    <m:r>
                      <a:rPr lang="en-US" sz="4300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43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4300" i="1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US" sz="4300"/>
                  <a:t>, Tập giá trị là </a:t>
                </a:r>
                <a14:m>
                  <m:oMath xmlns:m="http://schemas.openxmlformats.org/officeDocument/2006/math">
                    <m:r>
                      <a:rPr lang="en-US" sz="4300" i="1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US" sz="4300"/>
                  <a:t>.</a:t>
                </a:r>
                <a:endParaRPr lang="vi-VN" sz="430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0" name="Content Placeholder 2">
                <a:extLst>
                  <a:ext uri="{FF2B5EF4-FFF2-40B4-BE49-F238E27FC236}">
                    <a16:creationId xmlns:a16="http://schemas.microsoft.com/office/drawing/2014/main" id="{A8177AEE-CCBC-4CB4-956A-B882B3B7E6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05360" y="7514453"/>
                <a:ext cx="11353800" cy="4982348"/>
              </a:xfrm>
              <a:prstGeom prst="rect">
                <a:avLst/>
              </a:prstGeom>
              <a:blipFill>
                <a:blip r:embed="rId5"/>
                <a:stretch>
                  <a:fillRect l="-1823" t="-3663" b="-4029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Rectangle 30">
            <a:extLst>
              <a:ext uri="{FF2B5EF4-FFF2-40B4-BE49-F238E27FC236}">
                <a16:creationId xmlns:a16="http://schemas.microsoft.com/office/drawing/2014/main" id="{B6948861-5019-4A64-98EF-9C1ADC6DA970}"/>
              </a:ext>
            </a:extLst>
          </p:cNvPr>
          <p:cNvSpPr/>
          <p:nvPr/>
        </p:nvSpPr>
        <p:spPr>
          <a:xfrm>
            <a:off x="723900" y="12626189"/>
            <a:ext cx="22936200" cy="738664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vi-VN" sz="420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Nhận xét</a:t>
            </a:r>
            <a:r>
              <a:rPr lang="vi-VN" sz="4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</a:t>
            </a:r>
            <a:r>
              <a:rPr lang="en-US" sz="4200"/>
              <a:t>Một hàm số có thể được cho bằng bảng, bằng biểu đồ, bằng công thức hoặc bằng mô tả.</a:t>
            </a:r>
            <a:endParaRPr lang="vi-VN" sz="4200"/>
          </a:p>
        </p:txBody>
      </p:sp>
      <p:sp>
        <p:nvSpPr>
          <p:cNvPr id="38" name="Rounded Rectangle 37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   ·   BÀI 15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176362210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14822BB7-DB89-4357-87F0-6E511FC44A6A}"/>
              </a:ext>
            </a:extLst>
          </p:cNvPr>
          <p:cNvSpPr txBox="1">
            <a:spLocks/>
          </p:cNvSpPr>
          <p:nvPr/>
        </p:nvSpPr>
        <p:spPr>
          <a:xfrm>
            <a:off x="609600" y="2571749"/>
            <a:ext cx="22936200" cy="10461742"/>
          </a:xfrm>
          <a:prstGeom prst="rect">
            <a:avLst/>
          </a:prstGeom>
          <a:solidFill>
            <a:srgbClr val="D6F7FE"/>
          </a:solidFill>
          <a:ln>
            <a:solidFill>
              <a:srgbClr val="00B0F0"/>
            </a:solidFill>
          </a:ln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vi-VN"/>
          </a:p>
          <a:p>
            <a:pPr marL="0" indent="0">
              <a:buNone/>
            </a:pPr>
            <a:r>
              <a:rPr lang="en-US"/>
              <a:t> </a:t>
            </a:r>
            <a:endParaRPr lang="vi-VN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4DB7B710-B079-4ADD-B81F-3B99D073901B}"/>
              </a:ext>
            </a:extLst>
          </p:cNvPr>
          <p:cNvSpPr txBox="1">
            <a:spLocks/>
          </p:cNvSpPr>
          <p:nvPr/>
        </p:nvSpPr>
        <p:spPr>
          <a:xfrm>
            <a:off x="838200" y="1879600"/>
            <a:ext cx="23164800" cy="13842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anchor="ctr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Tomaho"/>
                <a:ea typeface="+mj-ea"/>
                <a:cs typeface="+mj-cs"/>
              </a:defRPr>
            </a:lvl1pPr>
          </a:lstStyle>
          <a:p>
            <a:r>
              <a:rPr lang="en-US" b="1"/>
              <a:t>2. ĐỒ THỊ HÀM SỐ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A8177AEE-CCBC-4CB4-956A-B882B3B7E6ED}"/>
              </a:ext>
            </a:extLst>
          </p:cNvPr>
          <p:cNvSpPr txBox="1">
            <a:spLocks/>
          </p:cNvSpPr>
          <p:nvPr/>
        </p:nvSpPr>
        <p:spPr>
          <a:xfrm>
            <a:off x="14434908" y="3442731"/>
            <a:ext cx="9032686" cy="9590759"/>
          </a:xfrm>
          <a:prstGeom prst="rect">
            <a:avLst/>
          </a:prstGeom>
          <a:solidFill>
            <a:srgbClr val="D6F7FE"/>
          </a:solidFill>
          <a:ln>
            <a:solidFill>
              <a:srgbClr val="00B0F0"/>
            </a:solidFill>
          </a:ln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9C165ACA-B6E6-4182-B42F-6BB73A7D118D}"/>
              </a:ext>
            </a:extLst>
          </p:cNvPr>
          <p:cNvSpPr txBox="1">
            <a:spLocks/>
          </p:cNvSpPr>
          <p:nvPr/>
        </p:nvSpPr>
        <p:spPr>
          <a:xfrm>
            <a:off x="637632" y="3469876"/>
            <a:ext cx="13340075" cy="9590759"/>
          </a:xfrm>
          <a:prstGeom prst="rect">
            <a:avLst/>
          </a:prstGeom>
          <a:solidFill>
            <a:srgbClr val="D6F7FE"/>
          </a:solidFill>
          <a:ln>
            <a:solidFill>
              <a:srgbClr val="00B0F0"/>
            </a:solidFill>
          </a:ln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grpSp>
        <p:nvGrpSpPr>
          <p:cNvPr id="17" name="Group 320">
            <a:extLst>
              <a:ext uri="{FF2B5EF4-FFF2-40B4-BE49-F238E27FC236}">
                <a16:creationId xmlns:a16="http://schemas.microsoft.com/office/drawing/2014/main" id="{460848BD-ABBA-48CB-8099-5324BB2C487E}"/>
              </a:ext>
            </a:extLst>
          </p:cNvPr>
          <p:cNvGrpSpPr>
            <a:grpSpLocks/>
          </p:cNvGrpSpPr>
          <p:nvPr/>
        </p:nvGrpSpPr>
        <p:grpSpPr bwMode="auto">
          <a:xfrm>
            <a:off x="1272072" y="3263899"/>
            <a:ext cx="2743200" cy="810070"/>
            <a:chOff x="0" y="923"/>
            <a:chExt cx="14509" cy="2283"/>
          </a:xfrm>
        </p:grpSpPr>
        <p:sp>
          <p:nvSpPr>
            <p:cNvPr id="22" name="TextBox 321">
              <a:extLst>
                <a:ext uri="{FF2B5EF4-FFF2-40B4-BE49-F238E27FC236}">
                  <a16:creationId xmlns:a16="http://schemas.microsoft.com/office/drawing/2014/main" id="{B8A28B29-3C0B-4EB0-A40C-C047EEEBA4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32" y="950"/>
              <a:ext cx="7977" cy="22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4400" b="1" i="0" u="none" strike="noStrike" cap="none" normalizeH="0" baseline="0">
                  <a:ln>
                    <a:noFill/>
                  </a:ln>
                  <a:solidFill>
                    <a:srgbClr val="FF0000"/>
                  </a:solidFill>
                  <a:effectLst/>
                  <a:latin typeface="Arial" pitchFamily="34" charset="0"/>
                  <a:ea typeface="Calibri" pitchFamily="34" charset="0"/>
                  <a:cs typeface="Times New Roman" pitchFamily="18" charset="0"/>
                </a:rPr>
                <a:t>HĐ4</a:t>
              </a:r>
              <a:r>
                <a:rPr kumimoji="0" lang="en-US" altLang="en-US" sz="4400" b="1" i="0" u="none" strike="noStrike" cap="none" normalizeH="0" baseline="0">
                  <a:ln>
                    <a:noFill/>
                  </a:ln>
                  <a:solidFill>
                    <a:srgbClr val="FF0000"/>
                  </a:solidFill>
                  <a:effectLst/>
                  <a:latin typeface="Cascadia Mono"/>
                  <a:ea typeface="Calibri" pitchFamily="34" charset="0"/>
                  <a:cs typeface="Times New Roman" pitchFamily="18" charset="0"/>
                </a:rPr>
                <a:t>:</a:t>
              </a:r>
              <a:endPara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grpSp>
          <p:nvGrpSpPr>
            <p:cNvPr id="23" name="Group 58">
              <a:extLst>
                <a:ext uri="{FF2B5EF4-FFF2-40B4-BE49-F238E27FC236}">
                  <a16:creationId xmlns:a16="http://schemas.microsoft.com/office/drawing/2014/main" id="{954144B9-EB80-4357-8031-9F00252293F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923"/>
              <a:ext cx="6270" cy="1976"/>
              <a:chOff x="0" y="923"/>
              <a:chExt cx="5754" cy="1976"/>
            </a:xfrm>
          </p:grpSpPr>
          <p:grpSp>
            <p:nvGrpSpPr>
              <p:cNvPr id="24" name="Group 59">
                <a:extLst>
                  <a:ext uri="{FF2B5EF4-FFF2-40B4-BE49-F238E27FC236}">
                    <a16:creationId xmlns:a16="http://schemas.microsoft.com/office/drawing/2014/main" id="{C519D046-2197-478E-935C-5B43BA043E0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923"/>
                <a:ext cx="5754" cy="1976"/>
                <a:chOff x="0" y="923"/>
                <a:chExt cx="6444" cy="3028"/>
              </a:xfrm>
            </p:grpSpPr>
            <p:sp>
              <p:nvSpPr>
                <p:cNvPr id="27" name="Arrow: Pentagon 60">
                  <a:extLst>
                    <a:ext uri="{FF2B5EF4-FFF2-40B4-BE49-F238E27FC236}">
                      <a16:creationId xmlns:a16="http://schemas.microsoft.com/office/drawing/2014/main" id="{92952B19-0A6C-400A-8402-545AD0F37F1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1038"/>
                  <a:ext cx="4206" cy="2913"/>
                </a:xfrm>
                <a:prstGeom prst="homePlate">
                  <a:avLst>
                    <a:gd name="adj" fmla="val 50001"/>
                  </a:avLst>
                </a:prstGeom>
                <a:solidFill>
                  <a:srgbClr val="B7DEE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8" name="Arrow: Chevron 61">
                  <a:extLst>
                    <a:ext uri="{FF2B5EF4-FFF2-40B4-BE49-F238E27FC236}">
                      <a16:creationId xmlns:a16="http://schemas.microsoft.com/office/drawing/2014/main" id="{14816856-906E-4FEF-A67B-6500C412551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02" y="923"/>
                  <a:ext cx="1695" cy="2916"/>
                </a:xfrm>
                <a:prstGeom prst="chevron">
                  <a:avLst>
                    <a:gd name="adj" fmla="val 83505"/>
                  </a:avLst>
                </a:prstGeom>
                <a:solidFill>
                  <a:srgbClr val="CCC1DA"/>
                </a:solidFill>
                <a:ln w="25400">
                  <a:solidFill>
                    <a:srgbClr val="FFC000"/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9" name="Arrow: Chevron 62">
                  <a:extLst>
                    <a:ext uri="{FF2B5EF4-FFF2-40B4-BE49-F238E27FC236}">
                      <a16:creationId xmlns:a16="http://schemas.microsoft.com/office/drawing/2014/main" id="{509E20D3-2F4A-4935-8368-B914E28B7DA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749" y="923"/>
                  <a:ext cx="1695" cy="2916"/>
                </a:xfrm>
                <a:prstGeom prst="chevron">
                  <a:avLst>
                    <a:gd name="adj" fmla="val 83505"/>
                  </a:avLst>
                </a:prstGeom>
                <a:solidFill>
                  <a:srgbClr val="0000CC"/>
                </a:solidFill>
                <a:ln w="25400">
                  <a:solidFill>
                    <a:srgbClr val="FFFF00"/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sp>
            <p:nvSpPr>
              <p:cNvPr id="25" name="Flowchart: Terminator 63">
                <a:extLst>
                  <a:ext uri="{FF2B5EF4-FFF2-40B4-BE49-F238E27FC236}">
                    <a16:creationId xmlns:a16="http://schemas.microsoft.com/office/drawing/2014/main" id="{E232A1FA-19C6-423B-84E9-A1155A137E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3" y="1376"/>
                <a:ext cx="2537" cy="1158"/>
              </a:xfrm>
              <a:prstGeom prst="flowChartTerminator">
                <a:avLst/>
              </a:prstGeom>
              <a:solidFill>
                <a:srgbClr val="FFF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6" name="Oval 64">
                <a:extLst>
                  <a:ext uri="{FF2B5EF4-FFF2-40B4-BE49-F238E27FC236}">
                    <a16:creationId xmlns:a16="http://schemas.microsoft.com/office/drawing/2014/main" id="{3556A273-DA4F-42B9-8134-A443B2D899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16" y="1427"/>
                <a:ext cx="924" cy="954"/>
              </a:xfrm>
              <a:prstGeom prst="ellipse">
                <a:avLst/>
              </a:prstGeom>
              <a:solidFill>
                <a:srgbClr val="3333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pic>
        <p:nvPicPr>
          <p:cNvPr id="33" name="Picture 32">
            <a:extLst>
              <a:ext uri="{FF2B5EF4-FFF2-40B4-BE49-F238E27FC236}">
                <a16:creationId xmlns:a16="http://schemas.microsoft.com/office/drawing/2014/main" id="{C8198A26-A2B1-456E-AA83-42A59C5D19BF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0400" y="4267479"/>
            <a:ext cx="8467735" cy="776243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21">
                <a:extLst>
                  <a:ext uri="{FF2B5EF4-FFF2-40B4-BE49-F238E27FC236}">
                    <a16:creationId xmlns:a16="http://schemas.microsoft.com/office/drawing/2014/main" id="{56919CCA-0156-44BF-A420-96DFD964B319}"/>
                  </a:ext>
                </a:extLst>
              </p:cNvPr>
              <p:cNvSpPr txBox="1"/>
              <p:nvPr/>
            </p:nvSpPr>
            <p:spPr>
              <a:xfrm>
                <a:off x="641829" y="4374794"/>
                <a:ext cx="12769371" cy="156210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470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Quan sát Hình </a:t>
                </a:r>
                <a14:m>
                  <m:oMath xmlns:m="http://schemas.openxmlformats.org/officeDocument/2006/math">
                    <m:r>
                      <a:rPr lang="en-US" sz="47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6.2</m:t>
                    </m:r>
                  </m:oMath>
                </a14:m>
                <a:r>
                  <a:rPr lang="en-US" sz="470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và cho biết những điểm nào sau đây nằm trên đồ thị của hàm số </a:t>
                </a:r>
                <a14:m>
                  <m:oMath xmlns:m="http://schemas.openxmlformats.org/officeDocument/2006/math">
                    <m:r>
                      <a:rPr lang="en-US" sz="47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47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vi-VN" sz="47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47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47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vi-VN" sz="47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47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47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470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:</a:t>
                </a:r>
                <a:endParaRPr lang="vi-VN" sz="47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algn="ctr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vi-VN" sz="47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47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0;0</m:t>
                          </m:r>
                        </m:e>
                      </m:d>
                      <m:r>
                        <a:rPr lang="en-US" sz="47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,</m:t>
                      </m:r>
                      <m:d>
                        <m:dPr>
                          <m:ctrlPr>
                            <a:rPr lang="vi-VN" sz="47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47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2;2</m:t>
                          </m:r>
                        </m:e>
                      </m:d>
                      <m:r>
                        <a:rPr lang="en-US" sz="47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,</m:t>
                      </m:r>
                      <m:d>
                        <m:dPr>
                          <m:ctrlPr>
                            <a:rPr lang="vi-VN" sz="47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47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−2;2</m:t>
                          </m:r>
                        </m:e>
                      </m:d>
                      <m:r>
                        <a:rPr lang="en-US" sz="47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,</m:t>
                      </m:r>
                      <m:d>
                        <m:dPr>
                          <m:ctrlPr>
                            <a:rPr lang="vi-VN" sz="47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47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1;2</m:t>
                          </m:r>
                        </m:e>
                      </m:d>
                      <m:r>
                        <a:rPr lang="en-US" sz="47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,</m:t>
                      </m:r>
                      <m:d>
                        <m:dPr>
                          <m:ctrlPr>
                            <a:rPr lang="vi-VN" sz="47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47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−1;2</m:t>
                          </m:r>
                        </m:e>
                      </m:d>
                      <m:r>
                        <a:rPr lang="en-US" sz="47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.</m:t>
                      </m:r>
                    </m:oMath>
                  </m:oMathPara>
                </a14:m>
                <a:endParaRPr lang="vi-VN" sz="47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470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Nêu nhận xét về mối quan hệ giữa hoành độ và tung độ của những điểm nằm trên đồ thị.</a:t>
                </a: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4700" b="1">
                    <a:solidFill>
                      <a:srgbClr val="0000CC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Giải:</a:t>
                </a:r>
                <a:endParaRPr lang="vi-VN" sz="47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470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Điểm  nằm trên đồ thị của hàm số là :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vi-VN" sz="47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47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0;0</m:t>
                        </m:r>
                      </m:e>
                    </m:d>
                    <m:r>
                      <a:rPr lang="en-US" sz="47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</m:t>
                    </m:r>
                    <m:d>
                      <m:dPr>
                        <m:ctrlPr>
                          <a:rPr lang="vi-VN" sz="47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47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2;2</m:t>
                        </m:r>
                      </m:e>
                    </m:d>
                    <m:r>
                      <a:rPr lang="en-US" sz="47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</m:t>
                    </m:r>
                    <m:d>
                      <m:dPr>
                        <m:ctrlPr>
                          <a:rPr lang="vi-VN" sz="47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47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−2;2</m:t>
                        </m:r>
                      </m:e>
                    </m:d>
                  </m:oMath>
                </a14:m>
                <a:r>
                  <a:rPr lang="en-US" sz="470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.</a:t>
                </a:r>
                <a:endParaRPr lang="vi-VN" sz="47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470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Nhận xét: Giá trị hàm số tại hoành độ chính là tung độ của điểm đó.</a:t>
                </a:r>
                <a:endParaRPr lang="vi-VN" sz="47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endParaRPr lang="vi-VN" sz="47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120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  <a:endParaRPr lang="vi-VN" sz="12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120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  <a:endParaRPr lang="vi-VN" sz="12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120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  <a:endParaRPr lang="vi-VN" sz="12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4" name="TextBox 321">
                <a:extLst>
                  <a:ext uri="{FF2B5EF4-FFF2-40B4-BE49-F238E27FC236}">
                    <a16:creationId xmlns:a16="http://schemas.microsoft.com/office/drawing/2014/main" id="{56919CCA-0156-44BF-A420-96DFD964B3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829" y="4374794"/>
                <a:ext cx="12769371" cy="1562100"/>
              </a:xfrm>
              <a:prstGeom prst="rect">
                <a:avLst/>
              </a:prstGeom>
              <a:blipFill>
                <a:blip r:embed="rId4"/>
                <a:stretch>
                  <a:fillRect l="-2100" t="-9375" r="-2434" b="-466797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Rounded Rectangle 35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   ·   BÀI 15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328141603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0"/>
          <p:cNvSpPr>
            <a:spLocks noChangeArrowheads="1"/>
          </p:cNvSpPr>
          <p:nvPr/>
        </p:nvSpPr>
        <p:spPr bwMode="auto">
          <a:xfrm>
            <a:off x="0" y="0"/>
            <a:ext cx="2438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" name="Rectangle 13"/>
          <p:cNvSpPr>
            <a:spLocks noChangeArrowheads="1"/>
          </p:cNvSpPr>
          <p:nvPr/>
        </p:nvSpPr>
        <p:spPr bwMode="auto">
          <a:xfrm>
            <a:off x="0" y="687388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Calibri" pitchFamily="34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Calibri" pitchFamily="34" charset="0"/>
                <a:cs typeface="Times New Roman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23900" y="5562601"/>
                <a:ext cx="22936200" cy="3733799"/>
              </a:xfrm>
              <a:prstGeom prst="rect">
                <a:avLst/>
              </a:prstGeom>
              <a:solidFill>
                <a:schemeClr val="accent1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endParaRPr lang="en-US" b="1">
                  <a:solidFill>
                    <a:schemeClr val="bg1"/>
                  </a:solidFill>
                </a:endParaRPr>
              </a:p>
              <a:p>
                <a:pPr marL="0" indent="0">
                  <a:buNone/>
                </a:pPr>
                <a:r>
                  <a:rPr lang="en-US" b="1">
                    <a:solidFill>
                      <a:schemeClr val="bg1"/>
                    </a:solidFill>
                  </a:rPr>
                  <a:t>Đồ thị của hàm số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vi-VN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en-US" b="1">
                    <a:solidFill>
                      <a:schemeClr val="bg1"/>
                    </a:solidFill>
                  </a:rPr>
                  <a:t> xác định trên tập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𝑫</m:t>
                    </m:r>
                  </m:oMath>
                </a14:m>
                <a:r>
                  <a:rPr lang="en-US" b="1">
                    <a:solidFill>
                      <a:schemeClr val="bg1"/>
                    </a:solidFill>
                  </a:rPr>
                  <a:t> là tập hợp tất cả các điểm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𝑴</m:t>
                    </m:r>
                    <m:d>
                      <m:dPr>
                        <m:ctrlPr>
                          <a:rPr lang="vi-VN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  <m:d>
                          <m:dPr>
                            <m:ctrlPr>
                              <a:rPr lang="vi-VN" b="1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</m:e>
                    </m:d>
                  </m:oMath>
                </a14:m>
                <a:r>
                  <a:rPr lang="en-US" b="1">
                    <a:solidFill>
                      <a:schemeClr val="bg1"/>
                    </a:solidFill>
                  </a:rPr>
                  <a:t> trên mặt phẳng toạ độ với mọi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b="1">
                    <a:solidFill>
                      <a:schemeClr val="bg1"/>
                    </a:solidFill>
                  </a:rPr>
                  <a:t> thuộc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𝑫</m:t>
                    </m:r>
                  </m:oMath>
                </a14:m>
                <a:r>
                  <a:rPr lang="en-US" b="1">
                    <a:solidFill>
                      <a:schemeClr val="bg1"/>
                    </a:solidFill>
                  </a:rPr>
                  <a:t>.</a:t>
                </a:r>
                <a:endParaRPr lang="vi-VN" b="1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1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900" y="5562601"/>
                <a:ext cx="22936200" cy="3733799"/>
              </a:xfrm>
              <a:prstGeom prst="rect">
                <a:avLst/>
              </a:prstGeom>
              <a:blipFill>
                <a:blip r:embed="rId3"/>
                <a:stretch>
                  <a:fillRect l="-1196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itle 1">
            <a:extLst>
              <a:ext uri="{FF2B5EF4-FFF2-40B4-BE49-F238E27FC236}">
                <a16:creationId xmlns:a16="http://schemas.microsoft.com/office/drawing/2014/main" id="{4DB7B710-B079-4ADD-B81F-3B99D073901B}"/>
              </a:ext>
            </a:extLst>
          </p:cNvPr>
          <p:cNvSpPr txBox="1">
            <a:spLocks/>
          </p:cNvSpPr>
          <p:nvPr/>
        </p:nvSpPr>
        <p:spPr>
          <a:xfrm>
            <a:off x="838200" y="1879600"/>
            <a:ext cx="23164800" cy="13842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anchor="ctr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Tomaho"/>
                <a:ea typeface="+mj-ea"/>
                <a:cs typeface="+mj-cs"/>
              </a:defRPr>
            </a:lvl1pPr>
          </a:lstStyle>
          <a:p>
            <a:r>
              <a:rPr lang="en-US" b="1"/>
              <a:t>2. ĐỒ THỊ HÀM SỐ</a:t>
            </a:r>
            <a:endParaRPr lang="en-US" dirty="0"/>
          </a:p>
        </p:txBody>
      </p:sp>
      <p:sp>
        <p:nvSpPr>
          <p:cNvPr id="23" name="Rounded Rectangle 22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   ·   BÀI 15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74534265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14822BB7-DB89-4357-87F0-6E511FC44A6A}"/>
              </a:ext>
            </a:extLst>
          </p:cNvPr>
          <p:cNvSpPr txBox="1">
            <a:spLocks/>
          </p:cNvSpPr>
          <p:nvPr/>
        </p:nvSpPr>
        <p:spPr>
          <a:xfrm>
            <a:off x="637632" y="3479966"/>
            <a:ext cx="22936200" cy="10087141"/>
          </a:xfrm>
          <a:prstGeom prst="rect">
            <a:avLst/>
          </a:prstGeom>
          <a:solidFill>
            <a:srgbClr val="D6F7FE"/>
          </a:solidFill>
          <a:ln>
            <a:solidFill>
              <a:srgbClr val="00B0F0"/>
            </a:solidFill>
          </a:ln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vi-VN"/>
          </a:p>
          <a:p>
            <a:pPr marL="0" indent="0">
              <a:buNone/>
            </a:pPr>
            <a:r>
              <a:rPr lang="en-US"/>
              <a:t> </a:t>
            </a:r>
            <a:endParaRPr lang="vi-VN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4DB7B710-B079-4ADD-B81F-3B99D073901B}"/>
              </a:ext>
            </a:extLst>
          </p:cNvPr>
          <p:cNvSpPr txBox="1">
            <a:spLocks/>
          </p:cNvSpPr>
          <p:nvPr/>
        </p:nvSpPr>
        <p:spPr>
          <a:xfrm>
            <a:off x="609600" y="1933646"/>
            <a:ext cx="23393400" cy="101270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anchor="ctr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Tomaho"/>
                <a:ea typeface="+mj-ea"/>
                <a:cs typeface="+mj-cs"/>
              </a:defRPr>
            </a:lvl1pPr>
          </a:lstStyle>
          <a:p>
            <a:r>
              <a:rPr lang="en-US" b="1"/>
              <a:t>2. ĐỒ THỊ HÀM SỐ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A8177AEE-CCBC-4CB4-956A-B882B3B7E6ED}"/>
              </a:ext>
            </a:extLst>
          </p:cNvPr>
          <p:cNvSpPr txBox="1">
            <a:spLocks/>
          </p:cNvSpPr>
          <p:nvPr/>
        </p:nvSpPr>
        <p:spPr>
          <a:xfrm>
            <a:off x="14434908" y="3442731"/>
            <a:ext cx="9032686" cy="9590759"/>
          </a:xfrm>
          <a:prstGeom prst="rect">
            <a:avLst/>
          </a:prstGeom>
          <a:solidFill>
            <a:srgbClr val="D6F7FE"/>
          </a:solidFill>
          <a:ln>
            <a:solidFill>
              <a:srgbClr val="00B0F0"/>
            </a:solidFill>
          </a:ln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9C165ACA-B6E6-4182-B42F-6BB73A7D118D}"/>
              </a:ext>
            </a:extLst>
          </p:cNvPr>
          <p:cNvSpPr txBox="1">
            <a:spLocks/>
          </p:cNvSpPr>
          <p:nvPr/>
        </p:nvSpPr>
        <p:spPr>
          <a:xfrm>
            <a:off x="637632" y="3469876"/>
            <a:ext cx="13340075" cy="9590759"/>
          </a:xfrm>
          <a:prstGeom prst="rect">
            <a:avLst/>
          </a:prstGeom>
          <a:solidFill>
            <a:srgbClr val="D6F7FE"/>
          </a:solidFill>
          <a:ln>
            <a:solidFill>
              <a:srgbClr val="00B0F0"/>
            </a:solidFill>
          </a:ln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4" name="TextBox 321">
            <a:extLst>
              <a:ext uri="{FF2B5EF4-FFF2-40B4-BE49-F238E27FC236}">
                <a16:creationId xmlns:a16="http://schemas.microsoft.com/office/drawing/2014/main" id="{56919CCA-0156-44BF-A420-96DFD964B319}"/>
              </a:ext>
            </a:extLst>
          </p:cNvPr>
          <p:cNvSpPr txBox="1"/>
          <p:nvPr/>
        </p:nvSpPr>
        <p:spPr>
          <a:xfrm>
            <a:off x="806756" y="4458039"/>
            <a:ext cx="12769371" cy="186656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/>
              <a:t>Viết công thức của hàm số cho ở HĐ3b. Tìm tập xác định, tập giá trị và vẽ đồ thị của hàm số này.</a:t>
            </a:r>
            <a:br>
              <a:rPr lang="en-US"/>
            </a:br>
            <a:endParaRPr lang="vi-VN" sz="470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2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vi-VN" sz="120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2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vi-VN" sz="120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2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vi-VN" sz="120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18" name="Group 57">
            <a:extLst>
              <a:ext uri="{FF2B5EF4-FFF2-40B4-BE49-F238E27FC236}">
                <a16:creationId xmlns:a16="http://schemas.microsoft.com/office/drawing/2014/main" id="{96EC4740-9F6A-4152-937F-1C73A96A87BD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3125727"/>
            <a:ext cx="3657600" cy="1637969"/>
            <a:chOff x="224" y="592"/>
            <a:chExt cx="8505" cy="2472"/>
          </a:xfrm>
        </p:grpSpPr>
        <p:grpSp>
          <p:nvGrpSpPr>
            <p:cNvPr id="19" name="Group 24">
              <a:extLst>
                <a:ext uri="{FF2B5EF4-FFF2-40B4-BE49-F238E27FC236}">
                  <a16:creationId xmlns:a16="http://schemas.microsoft.com/office/drawing/2014/main" id="{079F039B-2BFB-4B20-8992-1B5296BFBC2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4" y="592"/>
              <a:ext cx="8505" cy="1599"/>
              <a:chOff x="315" y="602"/>
              <a:chExt cx="11966" cy="1978"/>
            </a:xfrm>
          </p:grpSpPr>
          <p:sp>
            <p:nvSpPr>
              <p:cNvPr id="31" name="Arrow: Pentagon 25">
                <a:extLst>
                  <a:ext uri="{FF2B5EF4-FFF2-40B4-BE49-F238E27FC236}">
                    <a16:creationId xmlns:a16="http://schemas.microsoft.com/office/drawing/2014/main" id="{4BF2E7AB-2368-4AD6-A0C3-10528BB6E1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45" y="620"/>
                <a:ext cx="10237" cy="1961"/>
              </a:xfrm>
              <a:prstGeom prst="homePlate">
                <a:avLst>
                  <a:gd name="adj" fmla="val 50004"/>
                </a:avLst>
              </a:prstGeom>
              <a:solidFill>
                <a:srgbClr val="FCFFEF"/>
              </a:solidFill>
              <a:ln w="25400">
                <a:solidFill>
                  <a:srgbClr val="F2DCDB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000" b="1" i="0" u="none" strike="noStrike" cap="none" normalizeH="0" baseline="0">
                    <a:ln>
                      <a:noFill/>
                    </a:ln>
                    <a:solidFill>
                      <a:srgbClr val="0000CC"/>
                    </a:solidFill>
                    <a:effectLst/>
                    <a:latin typeface="Arial" pitchFamily="34" charset="0"/>
                    <a:ea typeface="Calibri" pitchFamily="34" charset="0"/>
                    <a:cs typeface="Times New Roman" pitchFamily="18" charset="0"/>
                  </a:rPr>
                  <a:t>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35" name="Arrow: Chevron 26">
                <a:extLst>
                  <a:ext uri="{FF2B5EF4-FFF2-40B4-BE49-F238E27FC236}">
                    <a16:creationId xmlns:a16="http://schemas.microsoft.com/office/drawing/2014/main" id="{4488C078-C5D0-40BD-B64D-E82D4438C3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5" y="603"/>
                <a:ext cx="1627" cy="1961"/>
              </a:xfrm>
              <a:prstGeom prst="chevron">
                <a:avLst>
                  <a:gd name="adj" fmla="val 50000"/>
                </a:avLst>
              </a:prstGeom>
              <a:solidFill>
                <a:srgbClr val="4F81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6" name="Arrow: Chevron 27">
                <a:extLst>
                  <a:ext uri="{FF2B5EF4-FFF2-40B4-BE49-F238E27FC236}">
                    <a16:creationId xmlns:a16="http://schemas.microsoft.com/office/drawing/2014/main" id="{B0061BBF-E245-4601-AEE0-324D456979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62" y="602"/>
                <a:ext cx="1768" cy="1961"/>
              </a:xfrm>
              <a:prstGeom prst="chevron">
                <a:avLst>
                  <a:gd name="adj" fmla="val 50000"/>
                </a:avLst>
              </a:prstGeom>
              <a:solidFill>
                <a:srgbClr val="FFC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20" name="TextBox 56">
              <a:extLst>
                <a:ext uri="{FF2B5EF4-FFF2-40B4-BE49-F238E27FC236}">
                  <a16:creationId xmlns:a16="http://schemas.microsoft.com/office/drawing/2014/main" id="{39799003-4230-4992-A4B8-CB2E86D66D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77" y="764"/>
              <a:ext cx="4966" cy="2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4000" b="1" i="0" u="none" strike="noStrike" cap="none" normalizeH="0" baseline="0" dirty="0" err="1">
                  <a:ln>
                    <a:noFill/>
                  </a:ln>
                  <a:solidFill>
                    <a:srgbClr val="0000CC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Ví</a:t>
              </a:r>
              <a:r>
                <a:rPr kumimoji="0" lang="en-US" altLang="en-US" sz="4000" b="1" i="0" u="none" strike="noStrike" cap="none" normalizeH="0" baseline="0" dirty="0">
                  <a:ln>
                    <a:noFill/>
                  </a:ln>
                  <a:solidFill>
                    <a:srgbClr val="0000CC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altLang="en-US" sz="4000" b="1" i="0" u="none" strike="noStrike" cap="none" normalizeH="0" baseline="0" err="1">
                  <a:ln>
                    <a:noFill/>
                  </a:ln>
                  <a:solidFill>
                    <a:srgbClr val="0000CC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dụ</a:t>
              </a:r>
              <a:r>
                <a:rPr kumimoji="0" lang="en-US" altLang="en-US" sz="4000" b="1" i="0" u="none" strike="noStrike" cap="none" normalizeH="0" baseline="0">
                  <a:ln>
                    <a:noFill/>
                  </a:ln>
                  <a:solidFill>
                    <a:srgbClr val="0000CC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4.</a:t>
              </a:r>
              <a:endPara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pic>
        <p:nvPicPr>
          <p:cNvPr id="37" name="Picture 36">
            <a:extLst>
              <a:ext uri="{FF2B5EF4-FFF2-40B4-BE49-F238E27FC236}">
                <a16:creationId xmlns:a16="http://schemas.microsoft.com/office/drawing/2014/main" id="{819CE4E4-E2BF-49E2-B668-83217095108F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63801" y="5159336"/>
            <a:ext cx="7620000" cy="6677064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321">
                <a:extLst>
                  <a:ext uri="{FF2B5EF4-FFF2-40B4-BE49-F238E27FC236}">
                    <a16:creationId xmlns:a16="http://schemas.microsoft.com/office/drawing/2014/main" id="{5503D791-EDE1-967E-E280-CC98159BBBD7}"/>
                  </a:ext>
                </a:extLst>
              </p:cNvPr>
              <p:cNvSpPr txBox="1"/>
              <p:nvPr/>
            </p:nvSpPr>
            <p:spPr>
              <a:xfrm>
                <a:off x="774911" y="6291687"/>
                <a:ext cx="12769371" cy="772200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r>
                  <a:rPr lang="en-US" b="1"/>
                  <a:t>Giải</a:t>
                </a:r>
                <a:endParaRPr lang="vi-VN"/>
              </a:p>
              <a:p>
                <a:r>
                  <a:rPr lang="en-US"/>
                  <a:t>Công thức của hàm số cho ở HĐ3b là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=1,678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/>
                  <a:t> với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0≤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≤50</m:t>
                    </m:r>
                  </m:oMath>
                </a14:m>
                <a:r>
                  <a:rPr lang="en-US"/>
                  <a:t>. </a:t>
                </a:r>
                <a:endParaRPr lang="vi-VN"/>
              </a:p>
              <a:p>
                <a:r>
                  <a:rPr lang="en-US"/>
                  <a:t>Tập xác định của hàm số này là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vi-V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0;50</m:t>
                        </m:r>
                      </m:e>
                    </m:d>
                  </m:oMath>
                </a14:m>
                <a:r>
                  <a:rPr lang="en-US"/>
                  <a:t>.</a:t>
                </a:r>
                <a:endParaRPr lang="vi-VN"/>
              </a:p>
              <a:p>
                <a:r>
                  <a:rPr lang="en-US"/>
                  <a:t>Vì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0≤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≤50</m:t>
                    </m:r>
                  </m:oMath>
                </a14:m>
                <a:r>
                  <a:rPr lang="en-US"/>
                  <a:t> nên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0≤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≤1,678⋅50=83,9</m:t>
                    </m:r>
                  </m:oMath>
                </a14:m>
                <a:r>
                  <a:rPr lang="en-US"/>
                  <a:t>.</a:t>
                </a:r>
                <a:endParaRPr lang="vi-VN"/>
              </a:p>
              <a:p>
                <a:r>
                  <a:rPr lang="en-US"/>
                  <a:t>Vậy tập giá trị của hàm số là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vi-V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0;83,9</m:t>
                        </m:r>
                      </m:e>
                    </m:d>
                  </m:oMath>
                </a14:m>
                <a:r>
                  <a:rPr lang="en-US"/>
                  <a:t>.</a:t>
                </a:r>
                <a:endParaRPr lang="vi-VN"/>
              </a:p>
              <a:p>
                <a:r>
                  <a:rPr lang="en-US"/>
                  <a:t>Đồ thị của hàm số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=1,678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/>
                  <a:t> trên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vi-V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0;50</m:t>
                        </m:r>
                      </m:e>
                    </m:d>
                  </m:oMath>
                </a14:m>
                <a:r>
                  <a:rPr lang="en-US"/>
                  <a:t> là một đoạn thẳng</a:t>
                </a:r>
                <a:endParaRPr lang="vi-VN"/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endParaRPr lang="vi-VN" sz="47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120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  <a:endParaRPr lang="vi-VN" sz="12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120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  <a:endParaRPr lang="vi-VN" sz="12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120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  <a:endParaRPr lang="vi-VN" sz="12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TextBox 321">
                <a:extLst>
                  <a:ext uri="{FF2B5EF4-FFF2-40B4-BE49-F238E27FC236}">
                    <a16:creationId xmlns:a16="http://schemas.microsoft.com/office/drawing/2014/main" id="{5503D791-EDE1-967E-E280-CC98159BBB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911" y="6291687"/>
                <a:ext cx="12769371" cy="7722000"/>
              </a:xfrm>
              <a:prstGeom prst="rect">
                <a:avLst/>
              </a:prstGeom>
              <a:blipFill>
                <a:blip r:embed="rId4"/>
                <a:stretch>
                  <a:fillRect l="-1862" t="-1500" r="-3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Rounded Rectangle 48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   ·   BÀI 15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97023895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14822BB7-DB89-4357-87F0-6E511FC44A6A}"/>
              </a:ext>
            </a:extLst>
          </p:cNvPr>
          <p:cNvSpPr txBox="1">
            <a:spLocks/>
          </p:cNvSpPr>
          <p:nvPr/>
        </p:nvSpPr>
        <p:spPr>
          <a:xfrm>
            <a:off x="609600" y="2571749"/>
            <a:ext cx="22936200" cy="10461742"/>
          </a:xfrm>
          <a:prstGeom prst="rect">
            <a:avLst/>
          </a:prstGeom>
          <a:solidFill>
            <a:srgbClr val="D6F7FE"/>
          </a:solidFill>
          <a:ln>
            <a:solidFill>
              <a:srgbClr val="00B0F0"/>
            </a:solidFill>
          </a:ln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vi-VN"/>
          </a:p>
          <a:p>
            <a:pPr marL="0" indent="0">
              <a:buNone/>
            </a:pPr>
            <a:r>
              <a:rPr lang="en-US"/>
              <a:t> </a:t>
            </a:r>
            <a:endParaRPr lang="vi-VN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4DB7B710-B079-4ADD-B81F-3B99D073901B}"/>
              </a:ext>
            </a:extLst>
          </p:cNvPr>
          <p:cNvSpPr txBox="1">
            <a:spLocks/>
          </p:cNvSpPr>
          <p:nvPr/>
        </p:nvSpPr>
        <p:spPr>
          <a:xfrm>
            <a:off x="609600" y="1879600"/>
            <a:ext cx="23393400" cy="13842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anchor="ctr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Tomaho"/>
                <a:ea typeface="+mj-ea"/>
                <a:cs typeface="+mj-cs"/>
              </a:defRPr>
            </a:lvl1pPr>
          </a:lstStyle>
          <a:p>
            <a:r>
              <a:rPr lang="en-US" b="1"/>
              <a:t>2. ĐỒ THỊ HÀM SỐ</a:t>
            </a:r>
            <a:endParaRPr lang="en-US" dirty="0"/>
          </a:p>
        </p:txBody>
      </p: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9C165ACA-B6E6-4182-B42F-6BB73A7D118D}"/>
              </a:ext>
            </a:extLst>
          </p:cNvPr>
          <p:cNvSpPr txBox="1">
            <a:spLocks/>
          </p:cNvSpPr>
          <p:nvPr/>
        </p:nvSpPr>
        <p:spPr>
          <a:xfrm>
            <a:off x="637632" y="3469876"/>
            <a:ext cx="13340075" cy="9590759"/>
          </a:xfrm>
          <a:prstGeom prst="rect">
            <a:avLst/>
          </a:prstGeom>
          <a:solidFill>
            <a:srgbClr val="D6F7FE"/>
          </a:solidFill>
          <a:ln>
            <a:solidFill>
              <a:srgbClr val="00B0F0"/>
            </a:solidFill>
          </a:ln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21">
                <a:extLst>
                  <a:ext uri="{FF2B5EF4-FFF2-40B4-BE49-F238E27FC236}">
                    <a16:creationId xmlns:a16="http://schemas.microsoft.com/office/drawing/2014/main" id="{56919CCA-0156-44BF-A420-96DFD964B319}"/>
                  </a:ext>
                </a:extLst>
              </p:cNvPr>
              <p:cNvSpPr txBox="1"/>
              <p:nvPr/>
            </p:nvSpPr>
            <p:spPr>
              <a:xfrm>
                <a:off x="641829" y="4374794"/>
                <a:ext cx="12769371" cy="3778606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>
                  <a:lnSpc>
                    <a:spcPct val="107000"/>
                  </a:lnSpc>
                  <a:spcAft>
                    <a:spcPts val="1200"/>
                  </a:spcAft>
                </a:pPr>
                <a:r>
                  <a:rPr lang="en-US" sz="470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a) Dựa vào đồ thị của hàm số </a:t>
                </a:r>
                <a14:m>
                  <m:oMath xmlns:m="http://schemas.openxmlformats.org/officeDocument/2006/math">
                    <m:r>
                      <a:rPr lang="en-US" sz="47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47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vi-VN" sz="47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47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47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vi-VN" sz="47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47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47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vi-VN" sz="47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47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𝐻</m:t>
                        </m:r>
                        <m:r>
                          <a:rPr lang="en-US" sz="47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.6.2</m:t>
                        </m:r>
                      </m:e>
                    </m:d>
                  </m:oMath>
                </a14:m>
                <a:r>
                  <a:rPr lang="en-US" sz="470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, tìm </a:t>
                </a:r>
                <a14:m>
                  <m:oMath xmlns:m="http://schemas.openxmlformats.org/officeDocument/2006/math">
                    <m:r>
                      <a:rPr lang="en-US" sz="47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n-US" sz="470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sao cho </a:t>
                </a:r>
                <a14:m>
                  <m:oMath xmlns:m="http://schemas.openxmlformats.org/officeDocument/2006/math">
                    <m:r>
                      <a:rPr lang="en-US" sz="47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47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=8</m:t>
                    </m:r>
                  </m:oMath>
                </a14:m>
                <a:r>
                  <a:rPr lang="en-US" sz="470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.</a:t>
                </a:r>
                <a:endParaRPr lang="vi-VN" sz="47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1200"/>
                  </a:spcAft>
                </a:pPr>
                <a:r>
                  <a:rPr lang="en-US" sz="470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b) Vẽ đồ thị của các hàm số </a:t>
                </a:r>
                <a14:m>
                  <m:oMath xmlns:m="http://schemas.openxmlformats.org/officeDocument/2006/math">
                    <m:r>
                      <a:rPr lang="en-US" sz="47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47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=2</m:t>
                    </m:r>
                    <m:r>
                      <a:rPr lang="en-US" sz="47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47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+1</m:t>
                    </m:r>
                  </m:oMath>
                </a14:m>
                <a:r>
                  <a:rPr lang="en-US" sz="470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và </a:t>
                </a:r>
                <a14:m>
                  <m:oMath xmlns:m="http://schemas.openxmlformats.org/officeDocument/2006/math">
                    <m:r>
                      <a:rPr lang="en-US" sz="47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47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=2</m:t>
                    </m:r>
                    <m:sSup>
                      <m:sSupPr>
                        <m:ctrlPr>
                          <a:rPr lang="vi-VN" sz="47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47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47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470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trên cùng một mặt phẳng toạ độ.</a:t>
                </a:r>
                <a:endParaRPr lang="vi-VN" sz="47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470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  <a:endParaRPr lang="vi-VN" sz="47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470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  <a:endParaRPr lang="vi-VN" sz="47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4" name="TextBox 321">
                <a:extLst>
                  <a:ext uri="{FF2B5EF4-FFF2-40B4-BE49-F238E27FC236}">
                    <a16:creationId xmlns:a16="http://schemas.microsoft.com/office/drawing/2014/main" id="{56919CCA-0156-44BF-A420-96DFD964B3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829" y="4374794"/>
                <a:ext cx="12769371" cy="3778606"/>
              </a:xfrm>
              <a:prstGeom prst="rect">
                <a:avLst/>
              </a:prstGeom>
              <a:blipFill>
                <a:blip r:embed="rId3"/>
                <a:stretch>
                  <a:fillRect l="-2100" r="-1050" b="-29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" name="Group 57">
            <a:extLst>
              <a:ext uri="{FF2B5EF4-FFF2-40B4-BE49-F238E27FC236}">
                <a16:creationId xmlns:a16="http://schemas.microsoft.com/office/drawing/2014/main" id="{96EC4740-9F6A-4152-937F-1C73A96A87BD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3125727"/>
            <a:ext cx="5867400" cy="1623391"/>
            <a:chOff x="224" y="592"/>
            <a:chExt cx="8505" cy="2450"/>
          </a:xfrm>
        </p:grpSpPr>
        <p:grpSp>
          <p:nvGrpSpPr>
            <p:cNvPr id="19" name="Group 24">
              <a:extLst>
                <a:ext uri="{FF2B5EF4-FFF2-40B4-BE49-F238E27FC236}">
                  <a16:creationId xmlns:a16="http://schemas.microsoft.com/office/drawing/2014/main" id="{079F039B-2BFB-4B20-8992-1B5296BFBC2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4" y="592"/>
              <a:ext cx="8505" cy="1599"/>
              <a:chOff x="315" y="602"/>
              <a:chExt cx="11966" cy="1978"/>
            </a:xfrm>
          </p:grpSpPr>
          <p:sp>
            <p:nvSpPr>
              <p:cNvPr id="31" name="Arrow: Pentagon 25">
                <a:extLst>
                  <a:ext uri="{FF2B5EF4-FFF2-40B4-BE49-F238E27FC236}">
                    <a16:creationId xmlns:a16="http://schemas.microsoft.com/office/drawing/2014/main" id="{4BF2E7AB-2368-4AD6-A0C3-10528BB6E1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45" y="620"/>
                <a:ext cx="10237" cy="1961"/>
              </a:xfrm>
              <a:prstGeom prst="homePlate">
                <a:avLst>
                  <a:gd name="adj" fmla="val 50004"/>
                </a:avLst>
              </a:prstGeom>
              <a:solidFill>
                <a:srgbClr val="FCFFEF"/>
              </a:solidFill>
              <a:ln w="25400">
                <a:solidFill>
                  <a:srgbClr val="F2DCDB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000" b="1" i="0" u="none" strike="noStrike" cap="none" normalizeH="0" baseline="0">
                    <a:ln>
                      <a:noFill/>
                    </a:ln>
                    <a:solidFill>
                      <a:srgbClr val="0000CC"/>
                    </a:solidFill>
                    <a:effectLst/>
                    <a:latin typeface="Arial" pitchFamily="34" charset="0"/>
                    <a:ea typeface="Calibri" pitchFamily="34" charset="0"/>
                    <a:cs typeface="Times New Roman" pitchFamily="18" charset="0"/>
                  </a:rPr>
                  <a:t>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35" name="Arrow: Chevron 26">
                <a:extLst>
                  <a:ext uri="{FF2B5EF4-FFF2-40B4-BE49-F238E27FC236}">
                    <a16:creationId xmlns:a16="http://schemas.microsoft.com/office/drawing/2014/main" id="{4488C078-C5D0-40BD-B64D-E82D4438C3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5" y="603"/>
                <a:ext cx="1627" cy="1961"/>
              </a:xfrm>
              <a:prstGeom prst="chevron">
                <a:avLst>
                  <a:gd name="adj" fmla="val 50000"/>
                </a:avLst>
              </a:prstGeom>
              <a:solidFill>
                <a:srgbClr val="4F81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6" name="Arrow: Chevron 27">
                <a:extLst>
                  <a:ext uri="{FF2B5EF4-FFF2-40B4-BE49-F238E27FC236}">
                    <a16:creationId xmlns:a16="http://schemas.microsoft.com/office/drawing/2014/main" id="{B0061BBF-E245-4601-AEE0-324D456979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62" y="602"/>
                <a:ext cx="1768" cy="1961"/>
              </a:xfrm>
              <a:prstGeom prst="chevron">
                <a:avLst>
                  <a:gd name="adj" fmla="val 50000"/>
                </a:avLst>
              </a:prstGeom>
              <a:solidFill>
                <a:srgbClr val="FFC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20" name="TextBox 56">
              <a:extLst>
                <a:ext uri="{FF2B5EF4-FFF2-40B4-BE49-F238E27FC236}">
                  <a16:creationId xmlns:a16="http://schemas.microsoft.com/office/drawing/2014/main" id="{39799003-4230-4992-A4B8-CB2E86D66D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74" y="742"/>
              <a:ext cx="4966" cy="2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4000" b="1" i="0" u="none" strike="noStrike" cap="none" normalizeH="0" baseline="0">
                  <a:ln>
                    <a:noFill/>
                  </a:ln>
                  <a:solidFill>
                    <a:srgbClr val="0000CC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Luyện tập 2</a:t>
              </a:r>
              <a:endPara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321">
                <a:extLst>
                  <a:ext uri="{FF2B5EF4-FFF2-40B4-BE49-F238E27FC236}">
                    <a16:creationId xmlns:a16="http://schemas.microsoft.com/office/drawing/2014/main" id="{33D2B26B-82AD-6571-9AA0-AE00F1F1D5B1}"/>
                  </a:ext>
                </a:extLst>
              </p:cNvPr>
              <p:cNvSpPr txBox="1"/>
              <p:nvPr/>
            </p:nvSpPr>
            <p:spPr>
              <a:xfrm>
                <a:off x="838200" y="8379959"/>
                <a:ext cx="12769371" cy="4653531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>
                  <a:lnSpc>
                    <a:spcPct val="107000"/>
                  </a:lnSpc>
                  <a:spcAft>
                    <a:spcPts val="1200"/>
                  </a:spcAft>
                </a:pPr>
                <a:r>
                  <a:rPr lang="en-US" sz="4700" b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Giải</a:t>
                </a:r>
                <a:endParaRPr lang="vi-VN" sz="47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1200"/>
                  </a:spcAft>
                </a:pPr>
                <a:r>
                  <a:rPr lang="en-US" sz="470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a) Dựa vào đồ thị của hàm số ta thấy </a:t>
                </a:r>
                <a14:m>
                  <m:oMath xmlns:m="http://schemas.openxmlformats.org/officeDocument/2006/math">
                    <m:r>
                      <a:rPr lang="en-US" sz="47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47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=8 </m:t>
                    </m:r>
                  </m:oMath>
                </a14:m>
                <a:r>
                  <a:rPr lang="en-US" sz="470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ứng với </a:t>
                </a:r>
                <a14:m>
                  <m:oMath xmlns:m="http://schemas.openxmlformats.org/officeDocument/2006/math">
                    <m:r>
                      <a:rPr lang="en-US" sz="47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47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=±4</m:t>
                    </m:r>
                  </m:oMath>
                </a14:m>
                <a:r>
                  <a:rPr lang="en-US" sz="470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.</a:t>
                </a:r>
                <a:endParaRPr lang="vi-VN" sz="47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endParaRPr lang="vi-VN" sz="47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470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  <a:endParaRPr lang="vi-VN" sz="47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470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  <a:endParaRPr lang="vi-VN" sz="47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TextBox 321">
                <a:extLst>
                  <a:ext uri="{FF2B5EF4-FFF2-40B4-BE49-F238E27FC236}">
                    <a16:creationId xmlns:a16="http://schemas.microsoft.com/office/drawing/2014/main" id="{33D2B26B-82AD-6571-9AA0-AE00F1F1D5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8379959"/>
                <a:ext cx="12769371" cy="4653531"/>
              </a:xfrm>
              <a:prstGeom prst="rect">
                <a:avLst/>
              </a:prstGeom>
              <a:blipFill>
                <a:blip r:embed="rId4"/>
                <a:stretch>
                  <a:fillRect l="-2149" t="-3145" r="-1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771A5339-5C0E-123F-19CF-E75C3142473F}"/>
              </a:ext>
            </a:extLst>
          </p:cNvPr>
          <p:cNvSpPr txBox="1">
            <a:spLocks/>
          </p:cNvSpPr>
          <p:nvPr/>
        </p:nvSpPr>
        <p:spPr>
          <a:xfrm>
            <a:off x="14367267" y="3442658"/>
            <a:ext cx="9032686" cy="9590759"/>
          </a:xfrm>
          <a:prstGeom prst="rect">
            <a:avLst/>
          </a:prstGeom>
          <a:solidFill>
            <a:srgbClr val="D6F7FE"/>
          </a:solidFill>
          <a:ln>
            <a:solidFill>
              <a:srgbClr val="00B0F0"/>
            </a:solidFill>
          </a:ln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9EB47E49-E520-BD80-BA00-50D3921E7ACE}"/>
              </a:ext>
            </a:extLst>
          </p:cNvPr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49742" y="3921404"/>
            <a:ext cx="8467735" cy="7762431"/>
          </a:xfrm>
          <a:prstGeom prst="rect">
            <a:avLst/>
          </a:prstGeom>
        </p:spPr>
      </p:pic>
      <p:sp>
        <p:nvSpPr>
          <p:cNvPr id="39" name="Rounded Rectangle 38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   ·   BÀI 15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388114596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2000"/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16" grpId="0"/>
      <p:bldP spid="1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14822BB7-DB89-4357-87F0-6E511FC44A6A}"/>
              </a:ext>
            </a:extLst>
          </p:cNvPr>
          <p:cNvSpPr txBox="1">
            <a:spLocks/>
          </p:cNvSpPr>
          <p:nvPr/>
        </p:nvSpPr>
        <p:spPr>
          <a:xfrm>
            <a:off x="609600" y="2571749"/>
            <a:ext cx="22936200" cy="10461742"/>
          </a:xfrm>
          <a:prstGeom prst="rect">
            <a:avLst/>
          </a:prstGeom>
          <a:solidFill>
            <a:srgbClr val="D6F7FE"/>
          </a:solidFill>
          <a:ln>
            <a:solidFill>
              <a:srgbClr val="00B0F0"/>
            </a:solidFill>
          </a:ln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vi-VN"/>
          </a:p>
          <a:p>
            <a:pPr marL="0" indent="0">
              <a:buNone/>
            </a:pPr>
            <a:r>
              <a:rPr lang="en-US"/>
              <a:t> </a:t>
            </a:r>
            <a:endParaRPr lang="vi-VN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4DB7B710-B079-4ADD-B81F-3B99D073901B}"/>
              </a:ext>
            </a:extLst>
          </p:cNvPr>
          <p:cNvSpPr txBox="1">
            <a:spLocks/>
          </p:cNvSpPr>
          <p:nvPr/>
        </p:nvSpPr>
        <p:spPr>
          <a:xfrm>
            <a:off x="609600" y="1879600"/>
            <a:ext cx="23393400" cy="13842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anchor="ctr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Tomaho"/>
                <a:ea typeface="+mj-ea"/>
                <a:cs typeface="+mj-cs"/>
              </a:defRPr>
            </a:lvl1pPr>
          </a:lstStyle>
          <a:p>
            <a:r>
              <a:rPr lang="en-US" b="1"/>
              <a:t>2. ĐỒ THỊ HÀM SỐ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A8177AEE-CCBC-4CB4-956A-B882B3B7E6ED}"/>
              </a:ext>
            </a:extLst>
          </p:cNvPr>
          <p:cNvSpPr txBox="1">
            <a:spLocks/>
          </p:cNvSpPr>
          <p:nvPr/>
        </p:nvSpPr>
        <p:spPr>
          <a:xfrm>
            <a:off x="14434908" y="3442731"/>
            <a:ext cx="9032686" cy="9590759"/>
          </a:xfrm>
          <a:prstGeom prst="rect">
            <a:avLst/>
          </a:prstGeom>
          <a:solidFill>
            <a:srgbClr val="D6F7FE"/>
          </a:solidFill>
          <a:ln>
            <a:solidFill>
              <a:srgbClr val="00B0F0"/>
            </a:solidFill>
          </a:ln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9C165ACA-B6E6-4182-B42F-6BB73A7D118D}"/>
              </a:ext>
            </a:extLst>
          </p:cNvPr>
          <p:cNvSpPr txBox="1">
            <a:spLocks/>
          </p:cNvSpPr>
          <p:nvPr/>
        </p:nvSpPr>
        <p:spPr>
          <a:xfrm>
            <a:off x="637632" y="3469876"/>
            <a:ext cx="13340075" cy="9590759"/>
          </a:xfrm>
          <a:prstGeom prst="rect">
            <a:avLst/>
          </a:prstGeom>
          <a:solidFill>
            <a:srgbClr val="D6F7FE"/>
          </a:solidFill>
          <a:ln>
            <a:solidFill>
              <a:srgbClr val="00B0F0"/>
            </a:solidFill>
          </a:ln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21">
                <a:extLst>
                  <a:ext uri="{FF2B5EF4-FFF2-40B4-BE49-F238E27FC236}">
                    <a16:creationId xmlns:a16="http://schemas.microsoft.com/office/drawing/2014/main" id="{56919CCA-0156-44BF-A420-96DFD964B319}"/>
                  </a:ext>
                </a:extLst>
              </p:cNvPr>
              <p:cNvSpPr txBox="1"/>
              <p:nvPr/>
            </p:nvSpPr>
            <p:spPr>
              <a:xfrm>
                <a:off x="641829" y="4374794"/>
                <a:ext cx="12769371" cy="3778606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>
                  <a:lnSpc>
                    <a:spcPct val="107000"/>
                  </a:lnSpc>
                  <a:spcAft>
                    <a:spcPts val="1200"/>
                  </a:spcAft>
                </a:pPr>
                <a:r>
                  <a:rPr lang="en-US" sz="470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a) Dựa vào đồ thị của hàm số </a:t>
                </a:r>
                <a14:m>
                  <m:oMath xmlns:m="http://schemas.openxmlformats.org/officeDocument/2006/math">
                    <m:r>
                      <a:rPr lang="en-US" sz="47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47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vi-VN" sz="47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47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47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vi-VN" sz="47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47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47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vi-VN" sz="47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47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𝐻</m:t>
                        </m:r>
                        <m:r>
                          <a:rPr lang="en-US" sz="47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.6.2</m:t>
                        </m:r>
                      </m:e>
                    </m:d>
                  </m:oMath>
                </a14:m>
                <a:r>
                  <a:rPr lang="en-US" sz="470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, tìm </a:t>
                </a:r>
                <a14:m>
                  <m:oMath xmlns:m="http://schemas.openxmlformats.org/officeDocument/2006/math">
                    <m:r>
                      <a:rPr lang="en-US" sz="47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n-US" sz="470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sao cho </a:t>
                </a:r>
                <a14:m>
                  <m:oMath xmlns:m="http://schemas.openxmlformats.org/officeDocument/2006/math">
                    <m:r>
                      <a:rPr lang="en-US" sz="47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47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=8</m:t>
                    </m:r>
                  </m:oMath>
                </a14:m>
                <a:r>
                  <a:rPr lang="en-US" sz="470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.</a:t>
                </a:r>
                <a:endParaRPr lang="vi-VN" sz="47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1200"/>
                  </a:spcAft>
                </a:pPr>
                <a:r>
                  <a:rPr lang="en-US" sz="470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b) Vẽ đồ thị của các hàm số </a:t>
                </a:r>
                <a14:m>
                  <m:oMath xmlns:m="http://schemas.openxmlformats.org/officeDocument/2006/math">
                    <m:r>
                      <a:rPr lang="en-US" sz="47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47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=2</m:t>
                    </m:r>
                    <m:r>
                      <a:rPr lang="en-US" sz="47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47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+1</m:t>
                    </m:r>
                  </m:oMath>
                </a14:m>
                <a:r>
                  <a:rPr lang="en-US" sz="470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và </a:t>
                </a:r>
                <a14:m>
                  <m:oMath xmlns:m="http://schemas.openxmlformats.org/officeDocument/2006/math">
                    <m:r>
                      <a:rPr lang="en-US" sz="47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47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=2</m:t>
                    </m:r>
                    <m:sSup>
                      <m:sSupPr>
                        <m:ctrlPr>
                          <a:rPr lang="vi-VN" sz="47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47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47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470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trên cùng một mặt phẳng toạ độ.</a:t>
                </a:r>
                <a:endParaRPr lang="vi-VN" sz="47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470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  <a:endParaRPr lang="vi-VN" sz="47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470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  <a:endParaRPr lang="vi-VN" sz="47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4" name="TextBox 321">
                <a:extLst>
                  <a:ext uri="{FF2B5EF4-FFF2-40B4-BE49-F238E27FC236}">
                    <a16:creationId xmlns:a16="http://schemas.microsoft.com/office/drawing/2014/main" id="{56919CCA-0156-44BF-A420-96DFD964B3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829" y="4374794"/>
                <a:ext cx="12769371" cy="3778606"/>
              </a:xfrm>
              <a:prstGeom prst="rect">
                <a:avLst/>
              </a:prstGeom>
              <a:blipFill>
                <a:blip r:embed="rId3"/>
                <a:stretch>
                  <a:fillRect l="-2100" r="-1050" b="-29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" name="Group 57">
            <a:extLst>
              <a:ext uri="{FF2B5EF4-FFF2-40B4-BE49-F238E27FC236}">
                <a16:creationId xmlns:a16="http://schemas.microsoft.com/office/drawing/2014/main" id="{96EC4740-9F6A-4152-937F-1C73A96A87BD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3125727"/>
            <a:ext cx="5867400" cy="1623391"/>
            <a:chOff x="224" y="592"/>
            <a:chExt cx="8505" cy="2450"/>
          </a:xfrm>
        </p:grpSpPr>
        <p:grpSp>
          <p:nvGrpSpPr>
            <p:cNvPr id="19" name="Group 24">
              <a:extLst>
                <a:ext uri="{FF2B5EF4-FFF2-40B4-BE49-F238E27FC236}">
                  <a16:creationId xmlns:a16="http://schemas.microsoft.com/office/drawing/2014/main" id="{079F039B-2BFB-4B20-8992-1B5296BFBC2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4" y="592"/>
              <a:ext cx="8505" cy="1599"/>
              <a:chOff x="315" y="602"/>
              <a:chExt cx="11966" cy="1978"/>
            </a:xfrm>
          </p:grpSpPr>
          <p:sp>
            <p:nvSpPr>
              <p:cNvPr id="31" name="Arrow: Pentagon 25">
                <a:extLst>
                  <a:ext uri="{FF2B5EF4-FFF2-40B4-BE49-F238E27FC236}">
                    <a16:creationId xmlns:a16="http://schemas.microsoft.com/office/drawing/2014/main" id="{4BF2E7AB-2368-4AD6-A0C3-10528BB6E1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45" y="620"/>
                <a:ext cx="10237" cy="1961"/>
              </a:xfrm>
              <a:prstGeom prst="homePlate">
                <a:avLst>
                  <a:gd name="adj" fmla="val 50004"/>
                </a:avLst>
              </a:prstGeom>
              <a:solidFill>
                <a:srgbClr val="FCFFEF"/>
              </a:solidFill>
              <a:ln w="25400">
                <a:solidFill>
                  <a:srgbClr val="F2DCDB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000" b="1" i="0" u="none" strike="noStrike" cap="none" normalizeH="0" baseline="0">
                    <a:ln>
                      <a:noFill/>
                    </a:ln>
                    <a:solidFill>
                      <a:srgbClr val="0000CC"/>
                    </a:solidFill>
                    <a:effectLst/>
                    <a:latin typeface="Arial" pitchFamily="34" charset="0"/>
                    <a:ea typeface="Calibri" pitchFamily="34" charset="0"/>
                    <a:cs typeface="Times New Roman" pitchFamily="18" charset="0"/>
                  </a:rPr>
                  <a:t>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35" name="Arrow: Chevron 26">
                <a:extLst>
                  <a:ext uri="{FF2B5EF4-FFF2-40B4-BE49-F238E27FC236}">
                    <a16:creationId xmlns:a16="http://schemas.microsoft.com/office/drawing/2014/main" id="{4488C078-C5D0-40BD-B64D-E82D4438C3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5" y="603"/>
                <a:ext cx="1627" cy="1961"/>
              </a:xfrm>
              <a:prstGeom prst="chevron">
                <a:avLst>
                  <a:gd name="adj" fmla="val 50000"/>
                </a:avLst>
              </a:prstGeom>
              <a:solidFill>
                <a:srgbClr val="4F81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6" name="Arrow: Chevron 27">
                <a:extLst>
                  <a:ext uri="{FF2B5EF4-FFF2-40B4-BE49-F238E27FC236}">
                    <a16:creationId xmlns:a16="http://schemas.microsoft.com/office/drawing/2014/main" id="{B0061BBF-E245-4601-AEE0-324D456979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62" y="602"/>
                <a:ext cx="1768" cy="1961"/>
              </a:xfrm>
              <a:prstGeom prst="chevron">
                <a:avLst>
                  <a:gd name="adj" fmla="val 50000"/>
                </a:avLst>
              </a:prstGeom>
              <a:solidFill>
                <a:srgbClr val="FFC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20" name="TextBox 56">
              <a:extLst>
                <a:ext uri="{FF2B5EF4-FFF2-40B4-BE49-F238E27FC236}">
                  <a16:creationId xmlns:a16="http://schemas.microsoft.com/office/drawing/2014/main" id="{39799003-4230-4992-A4B8-CB2E86D66D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74" y="742"/>
              <a:ext cx="4966" cy="2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4000" b="1" i="0" u="none" strike="noStrike" cap="none" normalizeH="0" baseline="0">
                  <a:ln>
                    <a:noFill/>
                  </a:ln>
                  <a:solidFill>
                    <a:srgbClr val="0000CC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Luyện tập 2</a:t>
              </a:r>
              <a:endPara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0382E8EB-5330-4DA8-B8C1-8FC72DC44439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36991" y="3931985"/>
            <a:ext cx="7212605" cy="7188203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   ·   BÀI 15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87477521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4DB7B710-B079-4ADD-B81F-3B99D073901B}"/>
              </a:ext>
            </a:extLst>
          </p:cNvPr>
          <p:cNvSpPr txBox="1">
            <a:spLocks/>
          </p:cNvSpPr>
          <p:nvPr/>
        </p:nvSpPr>
        <p:spPr>
          <a:xfrm>
            <a:off x="609600" y="1879600"/>
            <a:ext cx="23393400" cy="13842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anchor="ctr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Tomaho"/>
                <a:ea typeface="+mj-ea"/>
                <a:cs typeface="+mj-cs"/>
              </a:defRPr>
            </a:lvl1pPr>
          </a:lstStyle>
          <a:p>
            <a:r>
              <a:rPr lang="en-US" b="1"/>
              <a:t>2. ĐỒ THỊ HÀM SỐ</a:t>
            </a:r>
            <a:endParaRPr lang="en-US" dirty="0"/>
          </a:p>
        </p:txBody>
      </p: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9C165ACA-B6E6-4182-B42F-6BB73A7D118D}"/>
              </a:ext>
            </a:extLst>
          </p:cNvPr>
          <p:cNvSpPr txBox="1">
            <a:spLocks/>
          </p:cNvSpPr>
          <p:nvPr/>
        </p:nvSpPr>
        <p:spPr>
          <a:xfrm>
            <a:off x="637632" y="4495800"/>
            <a:ext cx="22721451" cy="8564835"/>
          </a:xfrm>
          <a:prstGeom prst="rect">
            <a:avLst/>
          </a:prstGeom>
          <a:solidFill>
            <a:srgbClr val="D6F7FE"/>
          </a:solidFill>
          <a:ln>
            <a:solidFill>
              <a:srgbClr val="00B0F0"/>
            </a:solidFill>
          </a:ln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21">
                <a:extLst>
                  <a:ext uri="{FF2B5EF4-FFF2-40B4-BE49-F238E27FC236}">
                    <a16:creationId xmlns:a16="http://schemas.microsoft.com/office/drawing/2014/main" id="{56919CCA-0156-44BF-A420-96DFD964B319}"/>
                  </a:ext>
                </a:extLst>
              </p:cNvPr>
              <p:cNvSpPr txBox="1"/>
              <p:nvPr/>
            </p:nvSpPr>
            <p:spPr>
              <a:xfrm>
                <a:off x="669861" y="4844793"/>
                <a:ext cx="22717254" cy="8927125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r>
                  <a:rPr lang="en-US" sz="5400"/>
                  <a:t>Nếu lượng điện tiêu thụ từ trên 50 đến </a:t>
                </a:r>
                <a14:m>
                  <m:oMath xmlns:m="http://schemas.openxmlformats.org/officeDocument/2006/math">
                    <m:r>
                      <a:rPr lang="en-US" sz="5400" i="1">
                        <a:latin typeface="Cambria Math" panose="02040503050406030204" pitchFamily="18" charset="0"/>
                      </a:rPr>
                      <m:t>100</m:t>
                    </m:r>
                    <m:r>
                      <m:rPr>
                        <m:nor/>
                      </m:rPr>
                      <a:rPr lang="en-US" sz="5400"/>
                      <m:t>kWh</m:t>
                    </m:r>
                    <m:r>
                      <a:rPr lang="en-US" sz="5400">
                        <a:latin typeface="Cambria Math" panose="02040503050406030204" pitchFamily="18" charset="0"/>
                      </a:rPr>
                      <m:t>(50&lt;</m:t>
                    </m:r>
                    <m:r>
                      <a:rPr lang="en-US" sz="5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5400">
                        <a:latin typeface="Cambria Math" panose="02040503050406030204" pitchFamily="18" charset="0"/>
                      </a:rPr>
                      <m:t>≤100)</m:t>
                    </m:r>
                  </m:oMath>
                </a14:m>
                <a:r>
                  <a:rPr lang="en-US" sz="5400"/>
                  <a:t> thì công thức liên hệ giữa </a:t>
                </a:r>
                <a14:m>
                  <m:oMath xmlns:m="http://schemas.openxmlformats.org/officeDocument/2006/math">
                    <m:r>
                      <a:rPr lang="en-US" sz="54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5400"/>
                  <a:t> và </a:t>
                </a:r>
                <a14:m>
                  <m:oMath xmlns:m="http://schemas.openxmlformats.org/officeDocument/2006/math">
                    <m:r>
                      <a:rPr lang="en-US" sz="54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5400"/>
                  <a:t> đã thiết lập ở HĐ3 không còn đúng nữa.</a:t>
                </a:r>
                <a:endParaRPr lang="vi-VN" sz="5400"/>
              </a:p>
              <a:p>
                <a:r>
                  <a:rPr lang="en-US" sz="5400"/>
                  <a:t>Theo bảng giá bán lẻ điện sinh hoạt (Bảng 6.2) thì số tiền phải trả là: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sz="5400" b="1" i="1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nl-NL" sz="54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nl-NL" sz="5400" b="1" i="1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nl-NL" sz="5400" b="1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nl-NL" sz="5400" b="1" i="1">
                          <a:latin typeface="Cambria Math" panose="02040503050406030204" pitchFamily="18" charset="0"/>
                        </a:rPr>
                        <m:t>𝟔𝟕𝟖</m:t>
                      </m:r>
                      <m:r>
                        <a:rPr lang="nl-NL" sz="5400" b="1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nl-NL" sz="5400" b="1" i="1">
                          <a:latin typeface="Cambria Math" panose="02040503050406030204" pitchFamily="18" charset="0"/>
                        </a:rPr>
                        <m:t>𝟓𝟎</m:t>
                      </m:r>
                      <m:r>
                        <a:rPr lang="nl-NL" sz="5400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nl-NL" sz="5400" b="1" i="1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nl-NL" sz="5400" b="1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nl-NL" sz="5400" b="1" i="1">
                          <a:latin typeface="Cambria Math" panose="02040503050406030204" pitchFamily="18" charset="0"/>
                        </a:rPr>
                        <m:t>𝟕𝟑𝟒</m:t>
                      </m:r>
                      <m:d>
                        <m:dPr>
                          <m:ctrlPr>
                            <a:rPr lang="vi-VN" sz="5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NL" sz="5400" b="1" i="1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nl-NL" sz="54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nl-NL" sz="5400" b="1" i="1">
                              <a:latin typeface="Cambria Math" panose="02040503050406030204" pitchFamily="18" charset="0"/>
                            </a:rPr>
                            <m:t>𝟓𝟎</m:t>
                          </m:r>
                        </m:e>
                      </m:d>
                      <m:r>
                        <a:rPr lang="nl-NL" sz="54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nl-NL" sz="5400" b="1" i="1">
                          <a:latin typeface="Cambria Math" panose="02040503050406030204" pitchFamily="18" charset="0"/>
                        </a:rPr>
                        <m:t>𝟖𝟑</m:t>
                      </m:r>
                      <m:r>
                        <a:rPr lang="nl-NL" sz="5400" b="1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nl-NL" sz="5400" b="1" i="1">
                          <a:latin typeface="Cambria Math" panose="02040503050406030204" pitchFamily="18" charset="0"/>
                        </a:rPr>
                        <m:t>𝟗</m:t>
                      </m:r>
                      <m:r>
                        <a:rPr lang="nl-NL" sz="5400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nl-NL" sz="5400" b="1" i="1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nl-NL" sz="5400" b="1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nl-NL" sz="5400" b="1" i="1">
                          <a:latin typeface="Cambria Math" panose="02040503050406030204" pitchFamily="18" charset="0"/>
                        </a:rPr>
                        <m:t>𝟕𝟑𝟒</m:t>
                      </m:r>
                      <m:d>
                        <m:dPr>
                          <m:ctrlPr>
                            <a:rPr lang="vi-VN" sz="5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NL" sz="5400" b="1" i="1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nl-NL" sz="54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nl-NL" sz="5400" b="1" i="1">
                              <a:latin typeface="Cambria Math" panose="02040503050406030204" pitchFamily="18" charset="0"/>
                            </a:rPr>
                            <m:t>𝟓𝟎</m:t>
                          </m:r>
                        </m:e>
                      </m:d>
                      <m:r>
                        <m:rPr>
                          <m:nor/>
                        </m:rPr>
                        <a:rPr lang="nl-NL" sz="5400" b="1" i="1"/>
                        <m:t> </m:t>
                      </m:r>
                    </m:oMath>
                  </m:oMathPara>
                </a14:m>
                <a:endParaRPr lang="en-US" sz="5400" b="1" i="1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nl-NL" sz="5400" b="1"/>
                        <m:t>hay</m:t>
                      </m:r>
                      <m:r>
                        <m:rPr>
                          <m:nor/>
                        </m:rPr>
                        <a:rPr lang="nl-NL" sz="5400" b="1" i="1"/>
                        <m:t> </m:t>
                      </m:r>
                      <m:r>
                        <a:rPr lang="nl-NL" sz="5400" b="1" i="1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nl-NL" sz="5400" b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nl-NL" sz="5400" b="1" i="1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nl-NL" sz="5400" b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nl-NL" sz="5400" b="1" i="1">
                          <a:latin typeface="Cambria Math" panose="02040503050406030204" pitchFamily="18" charset="0"/>
                        </a:rPr>
                        <m:t>𝟕𝟑𝟒</m:t>
                      </m:r>
                      <m:r>
                        <a:rPr lang="nl-NL" sz="5400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nl-NL" sz="5400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nl-NL" sz="5400" b="1" i="1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nl-NL" sz="5400" b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nl-NL" sz="5400" b="1" i="1"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nl-NL" sz="5400" b="1" i="1">
                          <a:latin typeface="Cambria Math" panose="02040503050406030204" pitchFamily="18" charset="0"/>
                        </a:rPr>
                        <m:t> (</m:t>
                      </m:r>
                      <m:r>
                        <m:rPr>
                          <m:nor/>
                        </m:rPr>
                        <a:rPr lang="nl-NL" sz="5400" b="1"/>
                        <m:t>ngh</m:t>
                      </m:r>
                      <m:r>
                        <m:rPr>
                          <m:nor/>
                        </m:rPr>
                        <a:rPr lang="nl-NL" sz="5400" b="1"/>
                        <m:t>ì</m:t>
                      </m:r>
                      <m:r>
                        <m:rPr>
                          <m:nor/>
                        </m:rPr>
                        <a:rPr lang="nl-NL" sz="5400" b="1"/>
                        <m:t>n</m:t>
                      </m:r>
                      <m:r>
                        <m:rPr>
                          <m:nor/>
                        </m:rPr>
                        <a:rPr lang="nl-NL" sz="5400" b="1" i="1"/>
                        <m:t> </m:t>
                      </m:r>
                      <m:r>
                        <m:rPr>
                          <m:nor/>
                        </m:rPr>
                        <a:rPr lang="nl-NL" sz="5400" b="1"/>
                        <m:t>đ</m:t>
                      </m:r>
                      <m:r>
                        <m:rPr>
                          <m:nor/>
                        </m:rPr>
                        <a:rPr lang="en-US" sz="5400" b="1" i="0" smtClean="0"/>
                        <m:t>ồ</m:t>
                      </m:r>
                      <m:r>
                        <m:rPr>
                          <m:nor/>
                        </m:rPr>
                        <a:rPr lang="nl-NL" sz="5400" b="1"/>
                        <m:t>ng</m:t>
                      </m:r>
                      <m:r>
                        <a:rPr lang="nl-NL" sz="5400" b="1"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nor/>
                        </m:rPr>
                        <a:rPr lang="nl-NL" sz="5400" b="1"/>
                        <m:t>.</m:t>
                      </m:r>
                      <m:r>
                        <m:rPr>
                          <m:nor/>
                        </m:rPr>
                        <a:rPr lang="nl-NL" sz="5400" b="1" i="1"/>
                        <m:t> </m:t>
                      </m:r>
                    </m:oMath>
                  </m:oMathPara>
                </a14:m>
                <a:endParaRPr lang="vi-VN" sz="5400" b="1"/>
              </a:p>
              <a:p>
                <a:r>
                  <a:rPr lang="en-US" sz="5400"/>
                  <a:t>Vậy trên tập xác định </a:t>
                </a:r>
                <a14:m>
                  <m:oMath xmlns:m="http://schemas.openxmlformats.org/officeDocument/2006/math">
                    <m:r>
                      <a:rPr lang="en-US" sz="5400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5400" i="1">
                        <a:latin typeface="Cambria Math" panose="02040503050406030204" pitchFamily="18" charset="0"/>
                      </a:rPr>
                      <m:t>=[</m:t>
                    </m:r>
                    <m:d>
                      <m:dPr>
                        <m:begChr m:val=""/>
                        <m:endChr m:val=""/>
                        <m:ctrlPr>
                          <a:rPr lang="vi-VN" sz="5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5400" i="1">
                            <a:latin typeface="Cambria Math" panose="02040503050406030204" pitchFamily="18" charset="0"/>
                          </a:rPr>
                          <m:t>50;100</m:t>
                        </m:r>
                        <m:r>
                          <a:rPr lang="en-US" sz="5400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d>
                    <m:r>
                      <a:rPr lang="en-US" sz="5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5400"/>
                  <a:t>, hàm số </a:t>
                </a:r>
                <a14:m>
                  <m:oMath xmlns:m="http://schemas.openxmlformats.org/officeDocument/2006/math">
                    <m:r>
                      <a:rPr lang="en-US" sz="54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5400"/>
                  <a:t> mô tả số tiền phải thanh toán có công thức là </a:t>
                </a:r>
                <a14:m>
                  <m:oMath xmlns:m="http://schemas.openxmlformats.org/officeDocument/2006/math">
                    <m:r>
                      <a:rPr lang="en-US" sz="54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5400" i="1">
                        <a:latin typeface="Cambria Math" panose="02040503050406030204" pitchFamily="18" charset="0"/>
                      </a:rPr>
                      <m:t>=1,734</m:t>
                    </m:r>
                    <m:r>
                      <a:rPr lang="en-US" sz="5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5400" i="1">
                        <a:latin typeface="Cambria Math" panose="02040503050406030204" pitchFamily="18" charset="0"/>
                      </a:rPr>
                      <m:t>−2,8</m:t>
                    </m:r>
                  </m:oMath>
                </a14:m>
                <a:r>
                  <a:rPr lang="en-US" sz="5400"/>
                  <a:t>; tập giá trị của nó là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"/>
                        <m:ctrlPr>
                          <a:rPr lang="vi-VN" sz="5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5400" i="1">
                            <a:latin typeface="Cambria Math" panose="02040503050406030204" pitchFamily="18" charset="0"/>
                          </a:rPr>
                          <m:t>83,9;170,6</m:t>
                        </m:r>
                      </m:e>
                    </m:d>
                  </m:oMath>
                </a14:m>
                <a:r>
                  <a:rPr lang="en-US" sz="5400"/>
                  <a:t>.</a:t>
                </a:r>
                <a:endParaRPr lang="vi-VN" sz="5400"/>
              </a:p>
              <a:p>
                <a:r>
                  <a:rPr lang="en-US" sz="5400"/>
                  <a:t>Hãy vẽ đồ thị ở Hình </a:t>
                </a:r>
                <a14:m>
                  <m:oMath xmlns:m="http://schemas.openxmlformats.org/officeDocument/2006/math">
                    <m:r>
                      <a:rPr lang="en-US" sz="5400" i="1">
                        <a:latin typeface="Cambria Math" panose="02040503050406030204" pitchFamily="18" charset="0"/>
                      </a:rPr>
                      <m:t>6.3</m:t>
                    </m:r>
                  </m:oMath>
                </a14:m>
                <a:r>
                  <a:rPr lang="en-US" sz="5400"/>
                  <a:t> vào vở rồi vẽ tiếp đồ thị của hàm số </a:t>
                </a:r>
                <a14:m>
                  <m:oMath xmlns:m="http://schemas.openxmlformats.org/officeDocument/2006/math">
                    <m:r>
                      <a:rPr lang="en-US" sz="54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5400" i="1">
                        <a:latin typeface="Cambria Math" panose="02040503050406030204" pitchFamily="18" charset="0"/>
                      </a:rPr>
                      <m:t>=1,734</m:t>
                    </m:r>
                    <m:r>
                      <a:rPr lang="en-US" sz="5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5400" i="1">
                        <a:latin typeface="Cambria Math" panose="02040503050406030204" pitchFamily="18" charset="0"/>
                      </a:rPr>
                      <m:t>−2,8</m:t>
                    </m:r>
                  </m:oMath>
                </a14:m>
                <a:r>
                  <a:rPr lang="en-US" sz="5400"/>
                  <a:t> trên tập </a:t>
                </a:r>
                <a14:m>
                  <m:oMath xmlns:m="http://schemas.openxmlformats.org/officeDocument/2006/math">
                    <m:r>
                      <a:rPr lang="en-US" sz="5400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54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"/>
                        <m:endChr m:val=""/>
                        <m:ctrlPr>
                          <a:rPr lang="vi-VN" sz="5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5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5400" i="1">
                                <a:latin typeface="Cambria Math" panose="02040503050406030204" pitchFamily="18" charset="0"/>
                              </a:rPr>
                              <m:t>50;100</m:t>
                            </m:r>
                          </m:e>
                        </m:d>
                        <m:r>
                          <a:rPr lang="en-US" sz="5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en-US" sz="5400"/>
                  <a:t>.</a:t>
                </a:r>
                <a:endParaRPr lang="vi-VN" sz="5400"/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470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  <a:endParaRPr lang="vi-VN" sz="47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470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  <a:endParaRPr lang="vi-VN" sz="47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4" name="TextBox 321">
                <a:extLst>
                  <a:ext uri="{FF2B5EF4-FFF2-40B4-BE49-F238E27FC236}">
                    <a16:creationId xmlns:a16="http://schemas.microsoft.com/office/drawing/2014/main" id="{56919CCA-0156-44BF-A420-96DFD964B3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861" y="4844793"/>
                <a:ext cx="22717254" cy="8927125"/>
              </a:xfrm>
              <a:prstGeom prst="rect">
                <a:avLst/>
              </a:prstGeom>
              <a:blipFill>
                <a:blip r:embed="rId3"/>
                <a:stretch>
                  <a:fillRect l="-1449" t="-2732" r="-10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" name="Group 57">
            <a:extLst>
              <a:ext uri="{FF2B5EF4-FFF2-40B4-BE49-F238E27FC236}">
                <a16:creationId xmlns:a16="http://schemas.microsoft.com/office/drawing/2014/main" id="{96EC4740-9F6A-4152-937F-1C73A96A87BD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3263899"/>
            <a:ext cx="5867400" cy="1704892"/>
            <a:chOff x="224" y="592"/>
            <a:chExt cx="8505" cy="2573"/>
          </a:xfrm>
        </p:grpSpPr>
        <p:grpSp>
          <p:nvGrpSpPr>
            <p:cNvPr id="19" name="Group 24">
              <a:extLst>
                <a:ext uri="{FF2B5EF4-FFF2-40B4-BE49-F238E27FC236}">
                  <a16:creationId xmlns:a16="http://schemas.microsoft.com/office/drawing/2014/main" id="{079F039B-2BFB-4B20-8992-1B5296BFBC2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4" y="592"/>
              <a:ext cx="8505" cy="1599"/>
              <a:chOff x="315" y="602"/>
              <a:chExt cx="11966" cy="1978"/>
            </a:xfrm>
          </p:grpSpPr>
          <p:sp>
            <p:nvSpPr>
              <p:cNvPr id="31" name="Arrow: Pentagon 25">
                <a:extLst>
                  <a:ext uri="{FF2B5EF4-FFF2-40B4-BE49-F238E27FC236}">
                    <a16:creationId xmlns:a16="http://schemas.microsoft.com/office/drawing/2014/main" id="{4BF2E7AB-2368-4AD6-A0C3-10528BB6E1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45" y="620"/>
                <a:ext cx="10237" cy="1961"/>
              </a:xfrm>
              <a:prstGeom prst="homePlate">
                <a:avLst>
                  <a:gd name="adj" fmla="val 50004"/>
                </a:avLst>
              </a:prstGeom>
              <a:solidFill>
                <a:srgbClr val="FCFFEF"/>
              </a:solidFill>
              <a:ln w="25400">
                <a:solidFill>
                  <a:srgbClr val="F2DCDB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000" b="1" i="0" u="none" strike="noStrike" cap="none" normalizeH="0" baseline="0">
                    <a:ln>
                      <a:noFill/>
                    </a:ln>
                    <a:solidFill>
                      <a:srgbClr val="0000CC"/>
                    </a:solidFill>
                    <a:effectLst/>
                    <a:latin typeface="Arial" pitchFamily="34" charset="0"/>
                    <a:ea typeface="Calibri" pitchFamily="34" charset="0"/>
                    <a:cs typeface="Times New Roman" pitchFamily="18" charset="0"/>
                  </a:rPr>
                  <a:t>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35" name="Arrow: Chevron 26">
                <a:extLst>
                  <a:ext uri="{FF2B5EF4-FFF2-40B4-BE49-F238E27FC236}">
                    <a16:creationId xmlns:a16="http://schemas.microsoft.com/office/drawing/2014/main" id="{4488C078-C5D0-40BD-B64D-E82D4438C3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5" y="603"/>
                <a:ext cx="1627" cy="1961"/>
              </a:xfrm>
              <a:prstGeom prst="chevron">
                <a:avLst>
                  <a:gd name="adj" fmla="val 50000"/>
                </a:avLst>
              </a:prstGeom>
              <a:solidFill>
                <a:srgbClr val="4F81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6" name="Arrow: Chevron 27">
                <a:extLst>
                  <a:ext uri="{FF2B5EF4-FFF2-40B4-BE49-F238E27FC236}">
                    <a16:creationId xmlns:a16="http://schemas.microsoft.com/office/drawing/2014/main" id="{B0061BBF-E245-4601-AEE0-324D456979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62" y="602"/>
                <a:ext cx="1768" cy="1961"/>
              </a:xfrm>
              <a:prstGeom prst="chevron">
                <a:avLst>
                  <a:gd name="adj" fmla="val 50000"/>
                </a:avLst>
              </a:prstGeom>
              <a:solidFill>
                <a:srgbClr val="FFC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20" name="TextBox 56">
              <a:extLst>
                <a:ext uri="{FF2B5EF4-FFF2-40B4-BE49-F238E27FC236}">
                  <a16:creationId xmlns:a16="http://schemas.microsoft.com/office/drawing/2014/main" id="{39799003-4230-4992-A4B8-CB2E86D66D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21" y="865"/>
              <a:ext cx="4966" cy="2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4000" b="1" i="0" u="none" strike="noStrike" cap="none" normalizeH="0" baseline="0">
                  <a:ln>
                    <a:noFill/>
                  </a:ln>
                  <a:solidFill>
                    <a:srgbClr val="0000CC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Vận dụng 1</a:t>
              </a:r>
              <a:endPara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sp>
        <p:nvSpPr>
          <p:cNvPr id="38" name="Rounded Rectangle 37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   ·   BÀI 15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74129194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4DB7B710-B079-4ADD-B81F-3B99D073901B}"/>
              </a:ext>
            </a:extLst>
          </p:cNvPr>
          <p:cNvSpPr txBox="1">
            <a:spLocks/>
          </p:cNvSpPr>
          <p:nvPr/>
        </p:nvSpPr>
        <p:spPr>
          <a:xfrm>
            <a:off x="609600" y="1879600"/>
            <a:ext cx="23393400" cy="85463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anchor="ctr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Tomaho"/>
                <a:ea typeface="+mj-ea"/>
                <a:cs typeface="+mj-cs"/>
              </a:defRPr>
            </a:lvl1pPr>
          </a:lstStyle>
          <a:p>
            <a:r>
              <a:rPr lang="en-US" b="1"/>
              <a:t>2. ĐỒ THỊ HÀM SỐ</a:t>
            </a:r>
            <a:endParaRPr lang="en-US" dirty="0"/>
          </a:p>
        </p:txBody>
      </p: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9C165ACA-B6E6-4182-B42F-6BB73A7D118D}"/>
              </a:ext>
            </a:extLst>
          </p:cNvPr>
          <p:cNvSpPr txBox="1">
            <a:spLocks/>
          </p:cNvSpPr>
          <p:nvPr/>
        </p:nvSpPr>
        <p:spPr>
          <a:xfrm>
            <a:off x="637632" y="3886200"/>
            <a:ext cx="22721451" cy="9590759"/>
          </a:xfrm>
          <a:prstGeom prst="rect">
            <a:avLst/>
          </a:prstGeom>
          <a:solidFill>
            <a:srgbClr val="D6F7FE"/>
          </a:solidFill>
          <a:ln>
            <a:solidFill>
              <a:srgbClr val="00B0F0"/>
            </a:solidFill>
          </a:ln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21">
                <a:extLst>
                  <a:ext uri="{FF2B5EF4-FFF2-40B4-BE49-F238E27FC236}">
                    <a16:creationId xmlns:a16="http://schemas.microsoft.com/office/drawing/2014/main" id="{56919CCA-0156-44BF-A420-96DFD964B319}"/>
                  </a:ext>
                </a:extLst>
              </p:cNvPr>
              <p:cNvSpPr txBox="1"/>
              <p:nvPr/>
            </p:nvSpPr>
            <p:spPr>
              <a:xfrm>
                <a:off x="641830" y="4374794"/>
                <a:ext cx="14445770" cy="6902806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r>
                  <a:rPr lang="en-US" sz="4800"/>
                  <a:t>Hàm số mô tả sự phụ thuộc của </a:t>
                </a:r>
                <a14:m>
                  <m:oMath xmlns:m="http://schemas.openxmlformats.org/officeDocument/2006/math">
                    <m:r>
                      <a:rPr lang="en-US" sz="48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4800"/>
                  <a:t> (số tiền phải trả vào </a:t>
                </a:r>
                <a14:m>
                  <m:oMath xmlns:m="http://schemas.openxmlformats.org/officeDocument/2006/math">
                    <m:r>
                      <a:rPr lang="en-US" sz="48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4800"/>
                  <a:t>) (lượng điện tiêu thụ ) trên từng khoảng giá trị </a:t>
                </a:r>
                <a14:m>
                  <m:oMath xmlns:m="http://schemas.openxmlformats.org/officeDocument/2006/math">
                    <m:r>
                      <a:rPr lang="en-US" sz="48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4800"/>
                  <a:t> được cho bằng công thức như sau:</a:t>
                </a:r>
                <a:endParaRPr lang="vi-VN" sz="480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8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48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vi-VN" sz="4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vi-VN" sz="48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4800" i="1">
                                  <a:latin typeface="Cambria Math" panose="02040503050406030204" pitchFamily="18" charset="0"/>
                                </a:rPr>
                                <m:t>&amp;1,678</m:t>
                              </m:r>
                              <m:r>
                                <a:rPr lang="en-US" sz="4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nor/>
                                </m:rPr>
                                <a:rPr lang="en-US" sz="4800"/>
                                <m:t>              </m:t>
                              </m:r>
                              <m:r>
                                <m:rPr>
                                  <m:nor/>
                                </m:rPr>
                                <a:rPr lang="en-US" sz="4800"/>
                                <m:t>n</m:t>
                              </m:r>
                              <m:r>
                                <m:rPr>
                                  <m:nor/>
                                </m:rPr>
                                <a:rPr lang="en-US" sz="4800"/>
                                <m:t>ế</m:t>
                              </m:r>
                              <m:r>
                                <m:rPr>
                                  <m:nor/>
                                </m:rPr>
                                <a:rPr lang="en-US" sz="4800"/>
                                <m:t>u</m:t>
                              </m:r>
                              <m:r>
                                <m:rPr>
                                  <m:nor/>
                                </m:rPr>
                                <a:rPr lang="en-US" sz="4800"/>
                                <m:t>  </m:t>
                              </m:r>
                              <m:r>
                                <a:rPr lang="en-US" sz="4800">
                                  <a:latin typeface="Cambria Math" panose="02040503050406030204" pitchFamily="18" charset="0"/>
                                </a:rPr>
                                <m:t>0≤</m:t>
                              </m:r>
                              <m:r>
                                <a:rPr lang="en-US" sz="4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4800">
                                  <a:latin typeface="Cambria Math" panose="02040503050406030204" pitchFamily="18" charset="0"/>
                                </a:rPr>
                                <m:t>≤50</m:t>
                              </m:r>
                            </m:e>
                            <m:e>
                              <m:r>
                                <a:rPr lang="en-US" sz="4800" i="1">
                                  <a:latin typeface="Cambria Math" panose="02040503050406030204" pitchFamily="18" charset="0"/>
                                </a:rPr>
                                <m:t>&amp;1,734</m:t>
                              </m:r>
                              <m:r>
                                <a:rPr lang="en-US" sz="4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4800" i="1">
                                  <a:latin typeface="Cambria Math" panose="02040503050406030204" pitchFamily="18" charset="0"/>
                                </a:rPr>
                                <m:t>−2,8</m:t>
                              </m:r>
                              <m:r>
                                <m:rPr>
                                  <m:nor/>
                                </m:rPr>
                                <a:rPr lang="en-US" sz="4800"/>
                                <m:t>     </m:t>
                              </m:r>
                              <m:r>
                                <m:rPr>
                                  <m:nor/>
                                </m:rPr>
                                <a:rPr lang="en-US" sz="4800"/>
                                <m:t>n</m:t>
                              </m:r>
                              <m:r>
                                <m:rPr>
                                  <m:nor/>
                                </m:rPr>
                                <a:rPr lang="en-US" sz="4800"/>
                                <m:t>ế</m:t>
                              </m:r>
                              <m:r>
                                <m:rPr>
                                  <m:nor/>
                                </m:rPr>
                                <a:rPr lang="en-US" sz="4800"/>
                                <m:t>u</m:t>
                              </m:r>
                              <m:r>
                                <m:rPr>
                                  <m:nor/>
                                </m:rPr>
                                <a:rPr lang="en-US" sz="4800"/>
                                <m:t>  </m:t>
                              </m:r>
                              <m:r>
                                <a:rPr lang="en-US" sz="4800">
                                  <a:latin typeface="Cambria Math" panose="02040503050406030204" pitchFamily="18" charset="0"/>
                                </a:rPr>
                                <m:t>50&lt;</m:t>
                              </m:r>
                              <m:r>
                                <a:rPr lang="en-US" sz="4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4800">
                                  <a:latin typeface="Cambria Math" panose="02040503050406030204" pitchFamily="18" charset="0"/>
                                </a:rPr>
                                <m:t>≤100</m:t>
                              </m:r>
                            </m:e>
                            <m:e>
                              <m:r>
                                <a:rPr lang="en-US" sz="4800" i="1">
                                  <a:latin typeface="Cambria Math" panose="02040503050406030204" pitchFamily="18" charset="0"/>
                                </a:rPr>
                                <m:t>&amp;2,014</m:t>
                              </m:r>
                              <m:r>
                                <a:rPr lang="en-US" sz="4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4800" i="1">
                                  <a:latin typeface="Cambria Math" panose="02040503050406030204" pitchFamily="18" charset="0"/>
                                </a:rPr>
                                <m:t>−30,8</m:t>
                              </m:r>
                              <m:r>
                                <m:rPr>
                                  <m:nor/>
                                </m:rPr>
                                <a:rPr lang="en-US" sz="4800"/>
                                <m:t>   </m:t>
                              </m:r>
                              <m:r>
                                <m:rPr>
                                  <m:nor/>
                                </m:rPr>
                                <a:rPr lang="en-US" sz="4800"/>
                                <m:t>n</m:t>
                              </m:r>
                              <m:r>
                                <m:rPr>
                                  <m:nor/>
                                </m:rPr>
                                <a:rPr lang="en-US" sz="4800"/>
                                <m:t>ế</m:t>
                              </m:r>
                              <m:r>
                                <m:rPr>
                                  <m:nor/>
                                </m:rPr>
                                <a:rPr lang="en-US" sz="4800"/>
                                <m:t>u</m:t>
                              </m:r>
                              <m:r>
                                <m:rPr>
                                  <m:nor/>
                                </m:rPr>
                                <a:rPr lang="en-US" sz="4800"/>
                                <m:t> </m:t>
                              </m:r>
                              <m:r>
                                <a:rPr lang="en-US" sz="4800">
                                  <a:latin typeface="Cambria Math" panose="02040503050406030204" pitchFamily="18" charset="0"/>
                                </a:rPr>
                                <m:t>100&lt;</m:t>
                              </m:r>
                              <m:r>
                                <a:rPr lang="en-US" sz="4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4800">
                                  <a:latin typeface="Cambria Math" panose="02040503050406030204" pitchFamily="18" charset="0"/>
                                </a:rPr>
                                <m:t>≤200</m:t>
                              </m:r>
                            </m:e>
                            <m:e>
                              <m:r>
                                <a:rPr lang="en-US" sz="4800" i="1">
                                  <a:latin typeface="Cambria Math" panose="02040503050406030204" pitchFamily="18" charset="0"/>
                                </a:rPr>
                                <m:t>&amp;2,536</m:t>
                              </m:r>
                              <m:r>
                                <a:rPr lang="en-US" sz="4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4800" i="1">
                                  <a:latin typeface="Cambria Math" panose="02040503050406030204" pitchFamily="18" charset="0"/>
                                </a:rPr>
                                <m:t>−135,2</m:t>
                              </m:r>
                              <m:r>
                                <m:rPr>
                                  <m:nor/>
                                </m:rPr>
                                <a:rPr lang="en-US" sz="4800"/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4800"/>
                                <m:t>n</m:t>
                              </m:r>
                              <m:r>
                                <m:rPr>
                                  <m:nor/>
                                </m:rPr>
                                <a:rPr lang="en-US" sz="4800"/>
                                <m:t>ế</m:t>
                              </m:r>
                              <m:r>
                                <m:rPr>
                                  <m:nor/>
                                </m:rPr>
                                <a:rPr lang="en-US" sz="4800"/>
                                <m:t>u</m:t>
                              </m:r>
                              <m:r>
                                <m:rPr>
                                  <m:nor/>
                                </m:rPr>
                                <a:rPr lang="en-US" sz="4800"/>
                                <m:t> </m:t>
                              </m:r>
                              <m:r>
                                <a:rPr lang="en-US" sz="4800">
                                  <a:latin typeface="Cambria Math" panose="02040503050406030204" pitchFamily="18" charset="0"/>
                                </a:rPr>
                                <m:t>200</m:t>
                              </m:r>
                              <m:r>
                                <a:rPr lang="en-US" sz="4800" i="1">
                                  <a:latin typeface="Cambria Math" panose="02040503050406030204" pitchFamily="18" charset="0"/>
                                </a:rPr>
                                <m:t> &lt; </m:t>
                              </m:r>
                              <m:r>
                                <a:rPr lang="en-US" sz="4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4800" i="1">
                                  <a:latin typeface="Cambria Math" panose="02040503050406030204" pitchFamily="18" charset="0"/>
                                </a:rPr>
                                <m:t>≤300</m:t>
                              </m:r>
                            </m:e>
                            <m:e>
                              <m:r>
                                <a:rPr lang="en-US" sz="4800" i="1">
                                  <a:latin typeface="Cambria Math" panose="02040503050406030204" pitchFamily="18" charset="0"/>
                                </a:rPr>
                                <m:t>&amp;2,927</m:t>
                              </m:r>
                              <m:r>
                                <a:rPr lang="en-US" sz="4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4800" i="1">
                                  <a:latin typeface="Cambria Math" panose="02040503050406030204" pitchFamily="18" charset="0"/>
                                </a:rPr>
                                <m:t>−261,8</m:t>
                              </m:r>
                              <m:r>
                                <m:rPr>
                                  <m:nor/>
                                </m:rPr>
                                <a:rPr lang="en-US" sz="4800"/>
                                <m:t>  </m:t>
                              </m:r>
                              <m:r>
                                <m:rPr>
                                  <m:nor/>
                                </m:rPr>
                                <a:rPr lang="en-US" sz="4800"/>
                                <m:t>n</m:t>
                              </m:r>
                              <m:r>
                                <m:rPr>
                                  <m:nor/>
                                </m:rPr>
                                <a:rPr lang="en-US" sz="4800"/>
                                <m:t>ê</m:t>
                              </m:r>
                              <m:r>
                                <m:rPr>
                                  <m:nor/>
                                </m:rPr>
                                <a:rPr lang="en-US" sz="4800"/>
                                <m:t>u</m:t>
                              </m:r>
                              <m:r>
                                <m:rPr>
                                  <m:nor/>
                                </m:rPr>
                                <a:rPr lang="en-US" sz="4800"/>
                                <m:t>  </m:t>
                              </m:r>
                              <m:r>
                                <a:rPr lang="en-US" sz="4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4800">
                                  <a:latin typeface="Cambria Math" panose="02040503050406030204" pitchFamily="18" charset="0"/>
                                </a:rPr>
                                <m:t>&gt;400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vi-VN" sz="4800"/>
              </a:p>
              <a:p>
                <a:r>
                  <a:rPr lang="en-US" sz="4800"/>
                  <a:t>Đồ thị của hàm số trên được vẽ như hình 6.4.</a:t>
                </a:r>
                <a:r>
                  <a:rPr lang="en-US" sz="540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  <a:endParaRPr lang="vi-VN" sz="54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4" name="TextBox 321">
                <a:extLst>
                  <a:ext uri="{FF2B5EF4-FFF2-40B4-BE49-F238E27FC236}">
                    <a16:creationId xmlns:a16="http://schemas.microsoft.com/office/drawing/2014/main" id="{56919CCA-0156-44BF-A420-96DFD964B3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830" y="4374794"/>
                <a:ext cx="14445770" cy="6902806"/>
              </a:xfrm>
              <a:prstGeom prst="rect">
                <a:avLst/>
              </a:prstGeom>
              <a:blipFill>
                <a:blip r:embed="rId3"/>
                <a:stretch>
                  <a:fillRect l="-1899" t="-1943" r="-1477" b="-30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" name="Group 57">
            <a:extLst>
              <a:ext uri="{FF2B5EF4-FFF2-40B4-BE49-F238E27FC236}">
                <a16:creationId xmlns:a16="http://schemas.microsoft.com/office/drawing/2014/main" id="{96EC4740-9F6A-4152-937F-1C73A96A87BD}"/>
              </a:ext>
            </a:extLst>
          </p:cNvPr>
          <p:cNvGrpSpPr>
            <a:grpSpLocks/>
          </p:cNvGrpSpPr>
          <p:nvPr/>
        </p:nvGrpSpPr>
        <p:grpSpPr bwMode="auto">
          <a:xfrm>
            <a:off x="583442" y="2786992"/>
            <a:ext cx="7315200" cy="1587611"/>
            <a:chOff x="224" y="592"/>
            <a:chExt cx="8505" cy="2396"/>
          </a:xfrm>
        </p:grpSpPr>
        <p:grpSp>
          <p:nvGrpSpPr>
            <p:cNvPr id="19" name="Group 24">
              <a:extLst>
                <a:ext uri="{FF2B5EF4-FFF2-40B4-BE49-F238E27FC236}">
                  <a16:creationId xmlns:a16="http://schemas.microsoft.com/office/drawing/2014/main" id="{079F039B-2BFB-4B20-8992-1B5296BFBC2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4" y="592"/>
              <a:ext cx="8505" cy="1599"/>
              <a:chOff x="315" y="602"/>
              <a:chExt cx="11966" cy="1978"/>
            </a:xfrm>
          </p:grpSpPr>
          <p:sp>
            <p:nvSpPr>
              <p:cNvPr id="31" name="Arrow: Pentagon 25">
                <a:extLst>
                  <a:ext uri="{FF2B5EF4-FFF2-40B4-BE49-F238E27FC236}">
                    <a16:creationId xmlns:a16="http://schemas.microsoft.com/office/drawing/2014/main" id="{4BF2E7AB-2368-4AD6-A0C3-10528BB6E1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45" y="620"/>
                <a:ext cx="10237" cy="1961"/>
              </a:xfrm>
              <a:prstGeom prst="homePlate">
                <a:avLst>
                  <a:gd name="adj" fmla="val 50004"/>
                </a:avLst>
              </a:prstGeom>
              <a:solidFill>
                <a:srgbClr val="FCFFEF"/>
              </a:solidFill>
              <a:ln w="25400">
                <a:solidFill>
                  <a:srgbClr val="F2DCDB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000" b="1" i="0" u="none" strike="noStrike" cap="none" normalizeH="0" baseline="0">
                    <a:ln>
                      <a:noFill/>
                    </a:ln>
                    <a:solidFill>
                      <a:srgbClr val="0000CC"/>
                    </a:solidFill>
                    <a:effectLst/>
                    <a:latin typeface="Arial" pitchFamily="34" charset="0"/>
                    <a:ea typeface="Calibri" pitchFamily="34" charset="0"/>
                    <a:cs typeface="Times New Roman" pitchFamily="18" charset="0"/>
                  </a:rPr>
                  <a:t>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35" name="Arrow: Chevron 26">
                <a:extLst>
                  <a:ext uri="{FF2B5EF4-FFF2-40B4-BE49-F238E27FC236}">
                    <a16:creationId xmlns:a16="http://schemas.microsoft.com/office/drawing/2014/main" id="{4488C078-C5D0-40BD-B64D-E82D4438C3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5" y="603"/>
                <a:ext cx="1627" cy="1961"/>
              </a:xfrm>
              <a:prstGeom prst="chevron">
                <a:avLst>
                  <a:gd name="adj" fmla="val 50000"/>
                </a:avLst>
              </a:prstGeom>
              <a:solidFill>
                <a:srgbClr val="4F81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6" name="Arrow: Chevron 27">
                <a:extLst>
                  <a:ext uri="{FF2B5EF4-FFF2-40B4-BE49-F238E27FC236}">
                    <a16:creationId xmlns:a16="http://schemas.microsoft.com/office/drawing/2014/main" id="{B0061BBF-E245-4601-AEE0-324D456979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62" y="602"/>
                <a:ext cx="1768" cy="1961"/>
              </a:xfrm>
              <a:prstGeom prst="chevron">
                <a:avLst>
                  <a:gd name="adj" fmla="val 50000"/>
                </a:avLst>
              </a:prstGeom>
              <a:solidFill>
                <a:srgbClr val="FFC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20" name="TextBox 56">
              <a:extLst>
                <a:ext uri="{FF2B5EF4-FFF2-40B4-BE49-F238E27FC236}">
                  <a16:creationId xmlns:a16="http://schemas.microsoft.com/office/drawing/2014/main" id="{39799003-4230-4992-A4B8-CB2E86D66D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21" y="688"/>
              <a:ext cx="4966" cy="2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4000" b="1" i="0" u="none" strike="noStrike" cap="none" normalizeH="0" baseline="0">
                  <a:ln>
                    <a:noFill/>
                  </a:ln>
                  <a:solidFill>
                    <a:srgbClr val="0000CC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Tìm hiểu thêm</a:t>
              </a:r>
              <a:endPara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58B92809-EBAF-4001-9715-1EF5D06FA9A8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16201" y="4374794"/>
            <a:ext cx="8042882" cy="7461606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   ·   BÀI 15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37429753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4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3FF6797-9084-4088-B03C-F68BB0D6D29D}"/>
              </a:ext>
            </a:extLst>
          </p:cNvPr>
          <p:cNvGrpSpPr/>
          <p:nvPr/>
        </p:nvGrpSpPr>
        <p:grpSpPr>
          <a:xfrm>
            <a:off x="9144000" y="1676400"/>
            <a:ext cx="15011400" cy="11181523"/>
            <a:chOff x="9317787" y="2126503"/>
            <a:chExt cx="14478000" cy="11181523"/>
          </a:xfrm>
        </p:grpSpPr>
        <p:grpSp>
          <p:nvGrpSpPr>
            <p:cNvPr id="8" name="Group 7"/>
            <p:cNvGrpSpPr/>
            <p:nvPr/>
          </p:nvGrpSpPr>
          <p:grpSpPr>
            <a:xfrm>
              <a:off x="9317787" y="2126503"/>
              <a:ext cx="14478000" cy="11181523"/>
              <a:chOff x="806299" y="3448230"/>
              <a:chExt cx="14478000" cy="11181523"/>
            </a:xfrm>
          </p:grpSpPr>
          <p:sp>
            <p:nvSpPr>
              <p:cNvPr id="10" name="Right Triangle 9"/>
              <p:cNvSpPr/>
              <p:nvPr/>
            </p:nvSpPr>
            <p:spPr>
              <a:xfrm flipH="1">
                <a:off x="8958821" y="3486542"/>
                <a:ext cx="193377" cy="212342"/>
              </a:xfrm>
              <a:prstGeom prst="rtTriangle">
                <a:avLst/>
              </a:prstGeom>
              <a:solidFill>
                <a:schemeClr val="accent5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1" name="Group 10"/>
              <p:cNvGrpSpPr/>
              <p:nvPr/>
            </p:nvGrpSpPr>
            <p:grpSpPr>
              <a:xfrm>
                <a:off x="806299" y="3448230"/>
                <a:ext cx="14478000" cy="11181523"/>
                <a:chOff x="806299" y="3448230"/>
                <a:chExt cx="14478000" cy="11181523"/>
              </a:xfrm>
            </p:grpSpPr>
            <p:sp>
              <p:nvSpPr>
                <p:cNvPr id="12" name="Rounded Rectangle 11"/>
                <p:cNvSpPr/>
                <p:nvPr/>
              </p:nvSpPr>
              <p:spPr>
                <a:xfrm>
                  <a:off x="806299" y="3696072"/>
                  <a:ext cx="14478000" cy="10933681"/>
                </a:xfrm>
                <a:prstGeom prst="roundRect">
                  <a:avLst>
                    <a:gd name="adj" fmla="val 2374"/>
                  </a:avLst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 w="28575">
                  <a:solidFill>
                    <a:srgbClr val="0999C8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18000" rIns="36000" bIns="18000" rtlCol="0" anchor="ctr"/>
                <a:lstStyle/>
                <a:p>
                  <a:pPr algn="ctr"/>
                  <a:endParaRPr lang="en-US" sz="4600"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  <p:sp>
              <p:nvSpPr>
                <p:cNvPr id="14" name="TextBox 13"/>
                <p:cNvSpPr txBox="1"/>
                <p:nvPr/>
              </p:nvSpPr>
              <p:spPr>
                <a:xfrm>
                  <a:off x="5759299" y="3448230"/>
                  <a:ext cx="3890809" cy="92333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 fontAlgn="auto">
                    <a:spcBef>
                      <a:spcPct val="50000"/>
                    </a:spcBef>
                    <a:spcAft>
                      <a:spcPts val="0"/>
                    </a:spcAft>
                    <a:defRPr/>
                  </a:pPr>
                  <a:r>
                    <a:rPr lang="en-US" sz="5400" b="1" cap="all" dirty="0">
                      <a:ln w="0"/>
                      <a:solidFill>
                        <a:schemeClr val="bg1"/>
                      </a:solidFill>
                      <a:effectLst>
                        <a:reflection blurRad="12700" stA="50000" endPos="50000" dist="5000" dir="5400000" sy="-100000" rotWithShape="0"/>
                      </a:effectLst>
                      <a:latin typeface="Tahoma" pitchFamily="34" charset="0"/>
                      <a:ea typeface="Tahoma" pitchFamily="34" charset="0"/>
                      <a:cs typeface="Tahoma" pitchFamily="34" charset="0"/>
                    </a:rPr>
                    <a:t>CHƯƠNG I</a:t>
                  </a:r>
                </a:p>
              </p:txBody>
            </p:sp>
          </p:grpSp>
        </p:grpSp>
        <p:sp>
          <p:nvSpPr>
            <p:cNvPr id="15" name="Right Triangle 14"/>
            <p:cNvSpPr/>
            <p:nvPr/>
          </p:nvSpPr>
          <p:spPr>
            <a:xfrm flipH="1">
              <a:off x="11477625" y="2164818"/>
              <a:ext cx="193377" cy="212342"/>
            </a:xfrm>
            <a:prstGeom prst="rtTriangle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ound Same Side Corner Rectangle 15"/>
            <p:cNvSpPr/>
            <p:nvPr/>
          </p:nvSpPr>
          <p:spPr>
            <a:xfrm flipV="1">
              <a:off x="9927387" y="2164809"/>
              <a:ext cx="13716000" cy="1333291"/>
            </a:xfrm>
            <a:prstGeom prst="round2Same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6"/>
            <p:cNvSpPr>
              <a:spLocks noChangeArrowheads="1"/>
            </p:cNvSpPr>
            <p:nvPr/>
          </p:nvSpPr>
          <p:spPr bwMode="auto">
            <a:xfrm>
              <a:off x="10041687" y="4564903"/>
              <a:ext cx="12458700" cy="76769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just">
                <a:lnSpc>
                  <a:spcPct val="150000"/>
                </a:lnSpc>
                <a:spcBef>
                  <a:spcPct val="20000"/>
                </a:spcBef>
                <a:defRPr/>
              </a:pPr>
              <a:r>
                <a:rPr lang="en-US" sz="6000" b="1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§15. Hàm số</a:t>
              </a:r>
              <a:endParaRPr lang="en-US" sz="6000" b="1" dirty="0">
                <a:solidFill>
                  <a:srgbClr val="0000FF"/>
                </a:solidFill>
                <a:latin typeface="Tahoma" pitchFamily="34" charset="0"/>
                <a:ea typeface="Tahoma" pitchFamily="34" charset="0"/>
                <a:cs typeface="Tahoma" pitchFamily="34" charset="0"/>
              </a:endParaRPr>
            </a:p>
            <a:p>
              <a:pPr algn="just">
                <a:lnSpc>
                  <a:spcPct val="150000"/>
                </a:lnSpc>
                <a:spcBef>
                  <a:spcPct val="20000"/>
                </a:spcBef>
                <a:defRPr/>
              </a:pPr>
              <a:r>
                <a:rPr lang="en-US" sz="6000" b="1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§16. Hàm số bậc hai</a:t>
              </a:r>
              <a:endParaRPr lang="en-US" sz="6000" b="1" dirty="0">
                <a:solidFill>
                  <a:srgbClr val="0000FF"/>
                </a:solidFill>
                <a:latin typeface="Tahoma" pitchFamily="34" charset="0"/>
                <a:ea typeface="Tahoma" pitchFamily="34" charset="0"/>
                <a:cs typeface="Tahoma" pitchFamily="34" charset="0"/>
              </a:endParaRPr>
            </a:p>
            <a:p>
              <a:pPr algn="just">
                <a:lnSpc>
                  <a:spcPct val="150000"/>
                </a:lnSpc>
                <a:spcBef>
                  <a:spcPct val="20000"/>
                </a:spcBef>
                <a:defRPr/>
              </a:pPr>
              <a:r>
                <a:rPr lang="en-US" sz="6000" b="1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§17. Dấu của tam thức bậc hai</a:t>
              </a:r>
            </a:p>
            <a:p>
              <a:pPr>
                <a:lnSpc>
                  <a:spcPct val="150000"/>
                </a:lnSpc>
                <a:spcBef>
                  <a:spcPct val="20000"/>
                </a:spcBef>
                <a:defRPr/>
              </a:pPr>
              <a:r>
                <a:rPr lang="en-US" sz="6000" b="1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§18. Phương trình quy về phương trình bậc hai</a:t>
              </a:r>
              <a:endParaRPr lang="en-US" sz="6000" b="1" dirty="0">
                <a:solidFill>
                  <a:srgbClr val="0000FF"/>
                </a:solidFill>
                <a:latin typeface="Tahoma" pitchFamily="34" charset="0"/>
                <a:ea typeface="Tahoma" pitchFamily="34" charset="0"/>
                <a:cs typeface="Tahoma" pitchFamily="34" charset="0"/>
              </a:endParaRPr>
            </a:p>
          </p:txBody>
        </p:sp>
        <p:sp>
          <p:nvSpPr>
            <p:cNvPr id="2" name="TextBox 1"/>
            <p:cNvSpPr txBox="1"/>
            <p:nvPr/>
          </p:nvSpPr>
          <p:spPr>
            <a:xfrm>
              <a:off x="10079787" y="2542426"/>
              <a:ext cx="1363980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800" b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CHƯƠNG VI. HÀM SỐ, ĐỒ THỊ VÀ ỨNG DỤNG</a:t>
              </a:r>
              <a:endParaRPr lang="vi-VN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1E56EB0B-BF56-4C28-BD2E-F7F40F4BD9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010" y="2029060"/>
            <a:ext cx="7669790" cy="1072274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   ·   BÀI 15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266339567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Rectangle 115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08C62C3-3138-4092-86C2-85A1567C6E78}"/>
              </a:ext>
            </a:extLst>
          </p:cNvPr>
          <p:cNvGrpSpPr/>
          <p:nvPr/>
        </p:nvGrpSpPr>
        <p:grpSpPr>
          <a:xfrm>
            <a:off x="609600" y="1783002"/>
            <a:ext cx="22808129" cy="11677585"/>
            <a:chOff x="1447798" y="1793811"/>
            <a:chExt cx="22808129" cy="11677585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E17C9077-2F0E-4830-9CBB-2CF87E745444}"/>
                </a:ext>
              </a:extLst>
            </p:cNvPr>
            <p:cNvGrpSpPr/>
            <p:nvPr/>
          </p:nvGrpSpPr>
          <p:grpSpPr>
            <a:xfrm>
              <a:off x="1447798" y="1793811"/>
              <a:ext cx="22808129" cy="11677585"/>
              <a:chOff x="1447798" y="1793811"/>
              <a:chExt cx="22808129" cy="11677585"/>
            </a:xfrm>
          </p:grpSpPr>
          <p:grpSp>
            <p:nvGrpSpPr>
              <p:cNvPr id="69" name="Group 68"/>
              <p:cNvGrpSpPr/>
              <p:nvPr/>
            </p:nvGrpSpPr>
            <p:grpSpPr>
              <a:xfrm>
                <a:off x="1575873" y="1797127"/>
                <a:ext cx="22680054" cy="11674269"/>
                <a:chOff x="-3538955" y="3448230"/>
                <a:chExt cx="22680054" cy="11674269"/>
              </a:xfrm>
            </p:grpSpPr>
            <p:sp>
              <p:nvSpPr>
                <p:cNvPr id="70" name="Right Triangle 69"/>
                <p:cNvSpPr/>
                <p:nvPr/>
              </p:nvSpPr>
              <p:spPr>
                <a:xfrm flipH="1">
                  <a:off x="8958821" y="3486542"/>
                  <a:ext cx="193377" cy="212342"/>
                </a:xfrm>
                <a:prstGeom prst="rtTriangle">
                  <a:avLst/>
                </a:prstGeom>
                <a:solidFill>
                  <a:schemeClr val="accent5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71" name="Group 70"/>
                <p:cNvGrpSpPr/>
                <p:nvPr/>
              </p:nvGrpSpPr>
              <p:grpSpPr>
                <a:xfrm>
                  <a:off x="-3538955" y="3448230"/>
                  <a:ext cx="22680054" cy="11674269"/>
                  <a:chOff x="-3538955" y="3448230"/>
                  <a:chExt cx="22680054" cy="11674269"/>
                </a:xfrm>
              </p:grpSpPr>
              <p:sp>
                <p:nvSpPr>
                  <p:cNvPr id="72" name="Rounded Rectangle 71"/>
                  <p:cNvSpPr/>
                  <p:nvPr/>
                </p:nvSpPr>
                <p:spPr>
                  <a:xfrm>
                    <a:off x="-3538955" y="3592713"/>
                    <a:ext cx="22680054" cy="11529786"/>
                  </a:xfrm>
                  <a:prstGeom prst="roundRect">
                    <a:avLst>
                      <a:gd name="adj" fmla="val 2127"/>
                    </a:avLst>
                  </a:prstGeom>
                  <a:solidFill>
                    <a:schemeClr val="bg1"/>
                  </a:solidFill>
                  <a:ln w="28575">
                    <a:solidFill>
                      <a:srgbClr val="0999C8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36000" tIns="18000" rIns="36000" bIns="18000" rtlCol="0" anchor="ctr"/>
                  <a:lstStyle/>
                  <a:p>
                    <a:pPr algn="ctr"/>
                    <a:endParaRPr lang="en-US" sz="4600" dirty="0">
                      <a:latin typeface="Tahoma" pitchFamily="34" charset="0"/>
                      <a:ea typeface="Tahoma" pitchFamily="34" charset="0"/>
                      <a:cs typeface="Tahoma" pitchFamily="34" charset="0"/>
                    </a:endParaRPr>
                  </a:p>
                </p:txBody>
              </p:sp>
              <p:sp>
                <p:nvSpPr>
                  <p:cNvPr id="73" name="TextBox 72"/>
                  <p:cNvSpPr txBox="1"/>
                  <p:nvPr/>
                </p:nvSpPr>
                <p:spPr>
                  <a:xfrm>
                    <a:off x="5759299" y="3448230"/>
                    <a:ext cx="3890809" cy="92333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 fontAlgn="auto">
                      <a:spcBef>
                        <a:spcPct val="50000"/>
                      </a:spcBef>
                      <a:spcAft>
                        <a:spcPts val="0"/>
                      </a:spcAft>
                      <a:defRPr/>
                    </a:pPr>
                    <a:r>
                      <a:rPr lang="en-US" sz="5400" b="1" cap="all" dirty="0">
                        <a:ln w="0"/>
                        <a:solidFill>
                          <a:schemeClr val="bg1"/>
                        </a:solidFill>
                        <a:effectLst>
                          <a:reflection blurRad="12700" stA="50000" endPos="50000" dist="5000" dir="5400000" sy="-100000" rotWithShape="0"/>
                        </a:effectLst>
                        <a:latin typeface="Tahoma" pitchFamily="34" charset="0"/>
                        <a:ea typeface="Tahoma" pitchFamily="34" charset="0"/>
                        <a:cs typeface="Tahoma" pitchFamily="34" charset="0"/>
                      </a:rPr>
                      <a:t>CHƯƠNG I</a:t>
                    </a:r>
                  </a:p>
                </p:txBody>
              </p:sp>
            </p:grpSp>
          </p:grpSp>
          <p:sp>
            <p:nvSpPr>
              <p:cNvPr id="74" name="Right Triangle 73"/>
              <p:cNvSpPr/>
              <p:nvPr/>
            </p:nvSpPr>
            <p:spPr>
              <a:xfrm flipH="1">
                <a:off x="7921388" y="1793819"/>
                <a:ext cx="193377" cy="212342"/>
              </a:xfrm>
              <a:prstGeom prst="rtTriangle">
                <a:avLst/>
              </a:prstGeom>
              <a:solidFill>
                <a:schemeClr val="accent5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6" name="Round Same Side Corner Rectangle 95"/>
              <p:cNvSpPr/>
              <p:nvPr/>
            </p:nvSpPr>
            <p:spPr>
              <a:xfrm flipV="1">
                <a:off x="6400799" y="1793811"/>
                <a:ext cx="14554199" cy="1181261"/>
              </a:xfrm>
              <a:prstGeom prst="round2SameRect">
                <a:avLst>
                  <a:gd name="adj1" fmla="val 6458"/>
                  <a:gd name="adj2" fmla="val 0"/>
                </a:avLst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8" name="TextBox 97"/>
              <p:cNvSpPr txBox="1"/>
              <p:nvPr/>
            </p:nvSpPr>
            <p:spPr>
              <a:xfrm>
                <a:off x="6705599" y="2082512"/>
                <a:ext cx="13881336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4800" b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CHƯƠNG VI. HÀM SỐ, ĐỒ THỊ VÀ ỨNG DỤNG</a:t>
                </a:r>
                <a:endParaRPr lang="vi-VN" sz="4800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104" name="Picture 53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771230" y="2975075"/>
                <a:ext cx="1495424" cy="149542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17" name="Rectangle 16"/>
              <p:cNvSpPr/>
              <p:nvPr/>
            </p:nvSpPr>
            <p:spPr>
              <a:xfrm>
                <a:off x="7467544" y="4114018"/>
                <a:ext cx="13632086" cy="83322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10" tIns="45705" rIns="91410" bIns="45705" rtlCol="0" anchor="ctr"/>
              <a:lstStyle/>
              <a:p>
                <a:pPr algn="ctr"/>
                <a:endParaRPr lang="en-US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grpSp>
            <p:nvGrpSpPr>
              <p:cNvPr id="56" name="Group 60"/>
              <p:cNvGrpSpPr/>
              <p:nvPr/>
            </p:nvGrpSpPr>
            <p:grpSpPr>
              <a:xfrm>
                <a:off x="1447802" y="5264645"/>
                <a:ext cx="15534160" cy="922573"/>
                <a:chOff x="7459670" y="7086600"/>
                <a:chExt cx="15535959" cy="922680"/>
              </a:xfrm>
            </p:grpSpPr>
            <p:sp>
              <p:nvSpPr>
                <p:cNvPr id="57" name="Rectangle 56"/>
                <p:cNvSpPr/>
                <p:nvPr/>
              </p:nvSpPr>
              <p:spPr>
                <a:xfrm>
                  <a:off x="9092456" y="7178187"/>
                  <a:ext cx="13903173" cy="83109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  <a:defRPr/>
                  </a:pPr>
                  <a:r>
                    <a:rPr lang="en-US" sz="4800" b="1">
                      <a:solidFill>
                        <a:srgbClr val="242452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SỰ ĐỒNG BIẾN, NGHỊCH BIẾN CỦA HÀM SỐ </a:t>
                  </a:r>
                  <a:endParaRPr lang="en-US" sz="4800" b="1" dirty="0">
                    <a:solidFill>
                      <a:srgbClr val="242452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grpSp>
              <p:nvGrpSpPr>
                <p:cNvPr id="58" name="Group 26"/>
                <p:cNvGrpSpPr/>
                <p:nvPr/>
              </p:nvGrpSpPr>
              <p:grpSpPr>
                <a:xfrm>
                  <a:off x="7459670" y="7086600"/>
                  <a:ext cx="1392615" cy="872846"/>
                  <a:chOff x="7459669" y="7543800"/>
                  <a:chExt cx="1381118" cy="872846"/>
                </a:xfrm>
              </p:grpSpPr>
              <p:sp>
                <p:nvSpPr>
                  <p:cNvPr id="59" name="Isosceles Triangle 44"/>
                  <p:cNvSpPr/>
                  <p:nvPr/>
                </p:nvSpPr>
                <p:spPr>
                  <a:xfrm rot="16200000">
                    <a:off x="7469936" y="7533533"/>
                    <a:ext cx="143688" cy="164221"/>
                  </a:xfrm>
                  <a:custGeom>
                    <a:avLst/>
                    <a:gdLst>
                      <a:gd name="connsiteX0" fmla="*/ 0 w 293725"/>
                      <a:gd name="connsiteY0" fmla="*/ 164224 h 164224"/>
                      <a:gd name="connsiteX1" fmla="*/ 146863 w 293725"/>
                      <a:gd name="connsiteY1" fmla="*/ 0 h 164224"/>
                      <a:gd name="connsiteX2" fmla="*/ 293725 w 293725"/>
                      <a:gd name="connsiteY2" fmla="*/ 164224 h 164224"/>
                      <a:gd name="connsiteX3" fmla="*/ 0 w 293725"/>
                      <a:gd name="connsiteY3" fmla="*/ 164224 h 164224"/>
                      <a:gd name="connsiteX0" fmla="*/ 2363 w 296088"/>
                      <a:gd name="connsiteY0" fmla="*/ 164221 h 164221"/>
                      <a:gd name="connsiteX1" fmla="*/ 0 w 296088"/>
                      <a:gd name="connsiteY1" fmla="*/ 0 h 164221"/>
                      <a:gd name="connsiteX2" fmla="*/ 296088 w 296088"/>
                      <a:gd name="connsiteY2" fmla="*/ 164221 h 164221"/>
                      <a:gd name="connsiteX3" fmla="*/ 2363 w 296088"/>
                      <a:gd name="connsiteY3" fmla="*/ 164221 h 16422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96088" h="164221">
                        <a:moveTo>
                          <a:pt x="2363" y="164221"/>
                        </a:moveTo>
                        <a:cubicBezTo>
                          <a:pt x="1575" y="109481"/>
                          <a:pt x="788" y="54740"/>
                          <a:pt x="0" y="0"/>
                        </a:cubicBezTo>
                        <a:lnTo>
                          <a:pt x="296088" y="164221"/>
                        </a:lnTo>
                        <a:lnTo>
                          <a:pt x="2363" y="164221"/>
                        </a:lnTo>
                        <a:close/>
                      </a:path>
                    </a:pathLst>
                  </a:custGeom>
                  <a:solidFill>
                    <a:schemeClr val="accent5">
                      <a:lumMod val="5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3200">
                      <a:solidFill>
                        <a:prstClr val="white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endParaRPr>
                  </a:p>
                </p:txBody>
              </p:sp>
              <p:grpSp>
                <p:nvGrpSpPr>
                  <p:cNvPr id="60" name="Group 28"/>
                  <p:cNvGrpSpPr/>
                  <p:nvPr/>
                </p:nvGrpSpPr>
                <p:grpSpPr>
                  <a:xfrm>
                    <a:off x="7469187" y="7685126"/>
                    <a:ext cx="1371600" cy="731520"/>
                    <a:chOff x="7469187" y="7685126"/>
                    <a:chExt cx="1371600" cy="731520"/>
                  </a:xfrm>
                </p:grpSpPr>
                <p:sp>
                  <p:nvSpPr>
                    <p:cNvPr id="61" name="Round Same Side Corner Rectangle 60"/>
                    <p:cNvSpPr/>
                    <p:nvPr/>
                  </p:nvSpPr>
                  <p:spPr>
                    <a:xfrm rot="5400000">
                      <a:off x="7789227" y="7365086"/>
                      <a:ext cx="731520" cy="1371600"/>
                    </a:xfrm>
                    <a:prstGeom prst="round2SameRect">
                      <a:avLst/>
                    </a:prstGeom>
                    <a:solidFill>
                      <a:srgbClr val="135F82"/>
                    </a:solidFill>
                    <a:ln>
                      <a:solidFill>
                        <a:schemeClr val="bg1">
                          <a:lumMod val="7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3200">
                        <a:solidFill>
                          <a:prstClr val="white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p:txBody>
                </p:sp>
                <p:sp>
                  <p:nvSpPr>
                    <p:cNvPr id="62" name="TextBox 61"/>
                    <p:cNvSpPr txBox="1"/>
                    <p:nvPr/>
                  </p:nvSpPr>
                  <p:spPr>
                    <a:xfrm>
                      <a:off x="7958807" y="7688759"/>
                      <a:ext cx="507514" cy="70796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 algn="ctr"/>
                      <a:r>
                        <a:rPr lang="en-US" sz="4000" b="1">
                          <a:solidFill>
                            <a:prstClr val="white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</a:t>
                      </a:r>
                      <a:endParaRPr lang="en-US" sz="4000" b="1" dirty="0">
                        <a:solidFill>
                          <a:prstClr val="white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p:txBody>
                </p:sp>
              </p:grpSp>
            </p:grpSp>
          </p:grpSp>
          <p:grpSp>
            <p:nvGrpSpPr>
              <p:cNvPr id="63" name="Group 67"/>
              <p:cNvGrpSpPr/>
              <p:nvPr/>
            </p:nvGrpSpPr>
            <p:grpSpPr>
              <a:xfrm>
                <a:off x="1447798" y="7546341"/>
                <a:ext cx="4056569" cy="2120520"/>
                <a:chOff x="7459663" y="7256657"/>
                <a:chExt cx="4057036" cy="2120764"/>
              </a:xfrm>
            </p:grpSpPr>
            <p:sp>
              <p:nvSpPr>
                <p:cNvPr id="75" name="Rectangle 74"/>
                <p:cNvSpPr/>
                <p:nvPr/>
              </p:nvSpPr>
              <p:spPr>
                <a:xfrm>
                  <a:off x="8996167" y="7264786"/>
                  <a:ext cx="2520532" cy="81570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None/>
                    <a:defRPr/>
                  </a:pPr>
                  <a:r>
                    <a:rPr lang="en-US" sz="4700" b="1" spc="-150">
                      <a:solidFill>
                        <a:srgbClr val="242452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BÀI TẬP</a:t>
                  </a:r>
                  <a:endParaRPr lang="en-US" sz="4700" b="1" spc="-150" dirty="0">
                    <a:solidFill>
                      <a:srgbClr val="242452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grpSp>
              <p:nvGrpSpPr>
                <p:cNvPr id="78" name="Group 41"/>
                <p:cNvGrpSpPr/>
                <p:nvPr/>
              </p:nvGrpSpPr>
              <p:grpSpPr>
                <a:xfrm>
                  <a:off x="7459663" y="7256657"/>
                  <a:ext cx="1383018" cy="2120764"/>
                  <a:chOff x="7459661" y="6275962"/>
                  <a:chExt cx="1371600" cy="2120764"/>
                </a:xfrm>
              </p:grpSpPr>
              <p:sp>
                <p:nvSpPr>
                  <p:cNvPr id="79" name="Round Same Side Corner Rectangle 78"/>
                  <p:cNvSpPr/>
                  <p:nvPr/>
                </p:nvSpPr>
                <p:spPr>
                  <a:xfrm rot="5400000">
                    <a:off x="7779701" y="5955922"/>
                    <a:ext cx="731520" cy="1371600"/>
                  </a:xfrm>
                  <a:prstGeom prst="round2SameRect">
                    <a:avLst/>
                  </a:prstGeom>
                  <a:solidFill>
                    <a:srgbClr val="135F82"/>
                  </a:solidFill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3200">
                      <a:solidFill>
                        <a:prstClr val="white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endParaRPr>
                  </a:p>
                </p:txBody>
              </p:sp>
              <p:sp>
                <p:nvSpPr>
                  <p:cNvPr id="80" name="TextBox 79"/>
                  <p:cNvSpPr txBox="1"/>
                  <p:nvPr/>
                </p:nvSpPr>
                <p:spPr>
                  <a:xfrm>
                    <a:off x="8120949" y="7688759"/>
                    <a:ext cx="183226" cy="70796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endParaRPr lang="en-US" sz="4000" b="1" dirty="0">
                      <a:solidFill>
                        <a:prstClr val="white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endParaRPr>
                  </a:p>
                </p:txBody>
              </p:sp>
            </p:grpSp>
          </p:grpSp>
          <p:sp>
            <p:nvSpPr>
              <p:cNvPr id="87" name="TextBox 86"/>
              <p:cNvSpPr txBox="1"/>
              <p:nvPr/>
            </p:nvSpPr>
            <p:spPr>
              <a:xfrm>
                <a:off x="1951038" y="11270143"/>
                <a:ext cx="511679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4000" b="1">
                    <a:solidFill>
                      <a:prstClr val="white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4</a:t>
                </a:r>
                <a:endParaRPr lang="en-US" sz="4000" b="1" dirty="0">
                  <a:solidFill>
                    <a:prstClr val="white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91" name="TextBox 90"/>
              <p:cNvSpPr txBox="1"/>
              <p:nvPr/>
            </p:nvSpPr>
            <p:spPr>
              <a:xfrm>
                <a:off x="3844753" y="6486123"/>
                <a:ext cx="543740" cy="7694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4400" b="1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1</a:t>
                </a:r>
              </a:p>
            </p:txBody>
          </p:sp>
          <p:sp>
            <p:nvSpPr>
              <p:cNvPr id="53" name="TextBox 52"/>
              <p:cNvSpPr txBox="1"/>
              <p:nvPr/>
            </p:nvSpPr>
            <p:spPr>
              <a:xfrm>
                <a:off x="2114504" y="10163803"/>
                <a:ext cx="184730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endParaRPr lang="en-US" sz="4000" b="1" dirty="0">
                  <a:solidFill>
                    <a:prstClr val="white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68" name="TextBox 67"/>
              <p:cNvSpPr txBox="1"/>
              <p:nvPr/>
            </p:nvSpPr>
            <p:spPr>
              <a:xfrm>
                <a:off x="1941420" y="12402770"/>
                <a:ext cx="530915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4000" b="1">
                    <a:solidFill>
                      <a:prstClr val="white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5</a:t>
                </a:r>
                <a:endParaRPr lang="en-US" sz="4000" b="1" dirty="0">
                  <a:solidFill>
                    <a:prstClr val="white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103" name="Google Shape;122;p14">
              <a:extLst>
                <a:ext uri="{FF2B5EF4-FFF2-40B4-BE49-F238E27FC236}">
                  <a16:creationId xmlns:a16="http://schemas.microsoft.com/office/drawing/2014/main" id="{FAF7E6E7-D68E-4774-9801-54F6529B128E}"/>
                </a:ext>
              </a:extLst>
            </p:cNvPr>
            <p:cNvSpPr/>
            <p:nvPr/>
          </p:nvSpPr>
          <p:spPr>
            <a:xfrm>
              <a:off x="3165290" y="3009806"/>
              <a:ext cx="4418523" cy="882637"/>
            </a:xfrm>
            <a:prstGeom prst="rect">
              <a:avLst/>
            </a:prstGeom>
            <a:noFill/>
            <a:ln>
              <a:noFill/>
            </a:ln>
            <a:effectLst>
              <a:outerShdw blurRad="152400" dist="317500" dir="5400000" sx="90000" sy="-19000" rotWithShape="0">
                <a:srgbClr val="000000">
                  <a:alpha val="14901"/>
                </a:srgbClr>
              </a:outerShdw>
            </a:effectLst>
          </p:spPr>
          <p:txBody>
            <a:bodyPr spcFirstLastPara="1" wrap="square" lIns="91425" tIns="45700" rIns="91425" bIns="45700" anchor="t" anchorCtr="0">
              <a:noAutofit/>
              <a:scene3d>
                <a:camera prst="orthographicFront"/>
                <a:lightRig rig="threePt" dir="t"/>
              </a:scene3d>
              <a:sp3d prstMaterial="metal"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000">
                  <a:solidFill>
                    <a:srgbClr val="FF0000"/>
                  </a:solidFill>
                  <a:effectLst>
                    <a:glow rad="76200">
                      <a:srgbClr val="FFFF00">
                        <a:alpha val="47000"/>
                      </a:srgbClr>
                    </a:glow>
                    <a:outerShdw blurRad="50800" dist="38100" dir="18900000" algn="bl" rotWithShape="0">
                      <a:srgbClr val="0000CC">
                        <a:alpha val="40000"/>
                      </a:srgbClr>
                    </a:outerShdw>
                  </a:effectLst>
                  <a:latin typeface="Bahnschrift SemiBold SemiConden" panose="020B0502040204020203" pitchFamily="34" charset="0"/>
                  <a:sym typeface="Baumans"/>
                </a:rPr>
                <a:t>TOÁN ĐẠI SỐ  </a:t>
              </a:r>
              <a:endParaRPr sz="6000" dirty="0">
                <a:solidFill>
                  <a:srgbClr val="FF0000"/>
                </a:solidFill>
                <a:effectLst>
                  <a:glow rad="76200">
                    <a:srgbClr val="FFFF00">
                      <a:alpha val="47000"/>
                    </a:srgbClr>
                  </a:glow>
                  <a:outerShdw blurRad="50800" dist="38100" dir="18900000" algn="bl" rotWithShape="0">
                    <a:srgbClr val="0000CC">
                      <a:alpha val="40000"/>
                    </a:srgbClr>
                  </a:outerShdw>
                </a:effectLst>
                <a:latin typeface="Bahnschrift SemiBold SemiConden" panose="020B0502040204020203" pitchFamily="34" charset="0"/>
              </a:endParaRPr>
            </a:p>
          </p:txBody>
        </p:sp>
        <p:grpSp>
          <p:nvGrpSpPr>
            <p:cNvPr id="105" name="Group 104">
              <a:extLst>
                <a:ext uri="{FF2B5EF4-FFF2-40B4-BE49-F238E27FC236}">
                  <a16:creationId xmlns:a16="http://schemas.microsoft.com/office/drawing/2014/main" id="{7EC462C3-097E-478F-9154-33220765427C}"/>
                </a:ext>
              </a:extLst>
            </p:cNvPr>
            <p:cNvGrpSpPr/>
            <p:nvPr/>
          </p:nvGrpSpPr>
          <p:grpSpPr>
            <a:xfrm>
              <a:off x="4441592" y="3900043"/>
              <a:ext cx="1316269" cy="1323399"/>
              <a:chOff x="4902568" y="2922072"/>
              <a:chExt cx="1316269" cy="1323399"/>
            </a:xfrm>
          </p:grpSpPr>
          <p:grpSp>
            <p:nvGrpSpPr>
              <p:cNvPr id="106" name="Group 105">
                <a:extLst>
                  <a:ext uri="{FF2B5EF4-FFF2-40B4-BE49-F238E27FC236}">
                    <a16:creationId xmlns:a16="http://schemas.microsoft.com/office/drawing/2014/main" id="{392A2278-170A-49E8-B48D-301797CCDF5E}"/>
                  </a:ext>
                </a:extLst>
              </p:cNvPr>
              <p:cNvGrpSpPr/>
              <p:nvPr/>
            </p:nvGrpSpPr>
            <p:grpSpPr>
              <a:xfrm>
                <a:off x="5015148" y="2971696"/>
                <a:ext cx="1175009" cy="1143519"/>
                <a:chOff x="5015148" y="2971695"/>
                <a:chExt cx="1175009" cy="1143520"/>
              </a:xfrm>
            </p:grpSpPr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4E1041DC-D475-450B-91E9-794165D6DE77}"/>
                    </a:ext>
                  </a:extLst>
                </p:cNvPr>
                <p:cNvSpPr/>
                <p:nvPr/>
              </p:nvSpPr>
              <p:spPr>
                <a:xfrm>
                  <a:off x="5015148" y="2971695"/>
                  <a:ext cx="1175009" cy="1143520"/>
                </a:xfrm>
                <a:prstGeom prst="ellipse">
                  <a:avLst/>
                </a:prstGeom>
                <a:solidFill>
                  <a:srgbClr val="FFFF00"/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" name="Oval 108">
                  <a:extLst>
                    <a:ext uri="{FF2B5EF4-FFF2-40B4-BE49-F238E27FC236}">
                      <a16:creationId xmlns:a16="http://schemas.microsoft.com/office/drawing/2014/main" id="{1BBB2B80-ECD5-421E-A4F7-BBA59D5C9CDF}"/>
                    </a:ext>
                  </a:extLst>
                </p:cNvPr>
                <p:cNvSpPr/>
                <p:nvPr/>
              </p:nvSpPr>
              <p:spPr>
                <a:xfrm>
                  <a:off x="5015148" y="2993775"/>
                  <a:ext cx="1091111" cy="1121440"/>
                </a:xfrm>
                <a:prstGeom prst="ellipse">
                  <a:avLst/>
                </a:prstGeom>
                <a:solidFill>
                  <a:srgbClr val="3333FF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7" name="Google Shape;123;p14">
                <a:extLst>
                  <a:ext uri="{FF2B5EF4-FFF2-40B4-BE49-F238E27FC236}">
                    <a16:creationId xmlns:a16="http://schemas.microsoft.com/office/drawing/2014/main" id="{F38EB064-8955-4FC1-9AF5-C49985002268}"/>
                  </a:ext>
                </a:extLst>
              </p:cNvPr>
              <p:cNvSpPr txBox="1"/>
              <p:nvPr/>
            </p:nvSpPr>
            <p:spPr>
              <a:xfrm>
                <a:off x="4902568" y="2922072"/>
                <a:ext cx="1316269" cy="1323399"/>
              </a:xfrm>
              <a:prstGeom prst="rect">
                <a:avLst/>
              </a:prstGeom>
              <a:noFill/>
              <a:ln>
                <a:noFill/>
              </a:ln>
              <a:effectLst>
                <a:innerShdw blurRad="63500" dist="50800">
                  <a:prstClr val="black">
                    <a:alpha val="50000"/>
                  </a:prstClr>
                </a:innerShdw>
              </a:effectLst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0">
                    <a:solidFill>
                      <a:schemeClr val="bg1"/>
                    </a:solidFill>
                    <a:latin typeface="Yu Gothic UI Semilight" panose="020B0400000000000000" pitchFamily="34" charset="-128"/>
                    <a:ea typeface="Yu Gothic UI Semilight" panose="020B0400000000000000" pitchFamily="34" charset="-128"/>
                  </a:rPr>
                  <a:t>➉</a:t>
                </a:r>
                <a:endParaRPr sz="8000" dirty="0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1F6311BF-A4CF-4E55-85D0-0A86514BB33B}"/>
              </a:ext>
            </a:extLst>
          </p:cNvPr>
          <p:cNvGrpSpPr/>
          <p:nvPr/>
        </p:nvGrpSpPr>
        <p:grpSpPr>
          <a:xfrm>
            <a:off x="7279296" y="3347059"/>
            <a:ext cx="11110068" cy="1275969"/>
            <a:chOff x="71819" y="108752"/>
            <a:chExt cx="6395438" cy="872484"/>
          </a:xfrm>
        </p:grpSpPr>
        <p:pic>
          <p:nvPicPr>
            <p:cNvPr id="113" name="Picture 112">
              <a:extLst>
                <a:ext uri="{FF2B5EF4-FFF2-40B4-BE49-F238E27FC236}">
                  <a16:creationId xmlns:a16="http://schemas.microsoft.com/office/drawing/2014/main" id="{E248C2BE-8566-4C92-B9DC-0F7EBDD761B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1819" y="148683"/>
              <a:ext cx="6395438" cy="824094"/>
            </a:xfrm>
            <a:prstGeom prst="rect">
              <a:avLst/>
            </a:prstGeom>
          </p:spPr>
        </p:pic>
        <p:sp>
          <p:nvSpPr>
            <p:cNvPr id="114" name="TextBox 321">
              <a:extLst>
                <a:ext uri="{FF2B5EF4-FFF2-40B4-BE49-F238E27FC236}">
                  <a16:creationId xmlns:a16="http://schemas.microsoft.com/office/drawing/2014/main" id="{39A246B9-3D0B-4A2B-A2B0-AD412E909BB4}"/>
                </a:ext>
              </a:extLst>
            </p:cNvPr>
            <p:cNvSpPr txBox="1"/>
            <p:nvPr/>
          </p:nvSpPr>
          <p:spPr>
            <a:xfrm>
              <a:off x="1236809" y="245789"/>
              <a:ext cx="4239341" cy="59589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0" marR="0" algn="ctr">
                <a:lnSpc>
                  <a:spcPct val="106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5400" b="1" kern="1200">
                  <a:solidFill>
                    <a:srgbClr val="FCFFEF"/>
                  </a:solidFill>
                  <a:effectLst/>
                  <a:latin typeface="Times New Roman" panose="02020603050405020304" pitchFamily="18" charset="0"/>
                  <a:ea typeface="Cascadia Mono" panose="020B0609020000020004" pitchFamily="49" charset="0"/>
                  <a:cs typeface="Times New Roman" panose="02020603050405020304" pitchFamily="18" charset="0"/>
                </a:rPr>
                <a:t>HÀM SỐ</a:t>
              </a:r>
              <a:endParaRPr lang="en-US" sz="54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15" name="TextBox 321">
              <a:extLst>
                <a:ext uri="{FF2B5EF4-FFF2-40B4-BE49-F238E27FC236}">
                  <a16:creationId xmlns:a16="http://schemas.microsoft.com/office/drawing/2014/main" id="{EFE5FD9A-8DAE-41E9-BE5B-4B8636094028}"/>
                </a:ext>
              </a:extLst>
            </p:cNvPr>
            <p:cNvSpPr txBox="1"/>
            <p:nvPr/>
          </p:nvSpPr>
          <p:spPr>
            <a:xfrm>
              <a:off x="366091" y="108752"/>
              <a:ext cx="715323" cy="87248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0" marR="0" algn="ctr">
                <a:lnSpc>
                  <a:spcPct val="106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6000" b="1">
                  <a:solidFill>
                    <a:srgbClr val="FFFFFF"/>
                  </a:solidFill>
                  <a:latin typeface="Calibri" panose="020F0502020204030204" pitchFamily="34" charset="0"/>
                  <a:ea typeface="Cascadia Mono" panose="020B0609020000020004" pitchFamily="49" charset="0"/>
                  <a:cs typeface="Times New Roman" panose="02020603050405020304" pitchFamily="18" charset="0"/>
                </a:rPr>
                <a:t>15</a:t>
              </a:r>
              <a:endParaRPr lang="en-US" sz="60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591204FA-5AC6-4836-861C-39C7769277D9}"/>
              </a:ext>
            </a:extLst>
          </p:cNvPr>
          <p:cNvSpPr txBox="1"/>
          <p:nvPr/>
        </p:nvSpPr>
        <p:spPr>
          <a:xfrm>
            <a:off x="1155071" y="7591407"/>
            <a:ext cx="51168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b="1">
                <a:solidFill>
                  <a:prstClr val="whit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</a:t>
            </a:r>
            <a:endParaRPr lang="en-US" sz="4000" b="1" dirty="0">
              <a:solidFill>
                <a:prstClr val="white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17" name="Rounded Rectangle 116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   ·   BÀI 15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37413392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Rectangle 1054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itle 1">
            <a:extLst>
              <a:ext uri="{FF2B5EF4-FFF2-40B4-BE49-F238E27FC236}">
                <a16:creationId xmlns:a16="http://schemas.microsoft.com/office/drawing/2014/main" id="{D87ADF89-46F9-4713-9744-A644701231B8}"/>
              </a:ext>
            </a:extLst>
          </p:cNvPr>
          <p:cNvSpPr txBox="1">
            <a:spLocks/>
          </p:cNvSpPr>
          <p:nvPr/>
        </p:nvSpPr>
        <p:spPr>
          <a:xfrm>
            <a:off x="623454" y="2133600"/>
            <a:ext cx="17556480" cy="1059358"/>
          </a:xfrm>
          <a:prstGeom prst="rect">
            <a:avLst/>
          </a:prstGeom>
          <a:solidFill>
            <a:schemeClr val="bg2"/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anchor="ctr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Tomaho"/>
                <a:ea typeface="+mj-ea"/>
                <a:cs typeface="+mj-cs"/>
              </a:defRPr>
            </a:lvl1pPr>
          </a:lstStyle>
          <a:p>
            <a:r>
              <a:rPr lang="en-US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3. SỰ ĐỒNG BIẾN, NGHỊCH BIẾN CỦA HÀM SỐ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4495800"/>
                <a:ext cx="21564600" cy="6553200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5400" b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Cho hàm số </a:t>
                </a:r>
                <a14:m>
                  <m:oMath xmlns:m="http://schemas.openxmlformats.org/officeDocument/2006/math">
                    <m:r>
                      <a:rPr lang="en-US" sz="5400" b="1" i="1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𝒚</m:t>
                    </m:r>
                    <m:r>
                      <a:rPr lang="en-US" sz="5400" b="1" i="1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=−</m:t>
                    </m:r>
                    <m:r>
                      <a:rPr lang="en-US" sz="5400" b="1" i="1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𝒙</m:t>
                    </m:r>
                    <m:r>
                      <a:rPr lang="en-US" sz="5400" b="1" i="1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+</m:t>
                    </m:r>
                    <m:r>
                      <a:rPr lang="en-US" sz="5400" b="1" i="1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𝟏</m:t>
                    </m:r>
                  </m:oMath>
                </a14:m>
                <a:r>
                  <a:rPr lang="en-US" sz="5400" b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và </a:t>
                </a:r>
                <a14:m>
                  <m:oMath xmlns:m="http://schemas.openxmlformats.org/officeDocument/2006/math">
                    <m:r>
                      <a:rPr lang="en-US" sz="5400" b="1" i="1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𝒚</m:t>
                    </m:r>
                    <m:r>
                      <a:rPr lang="en-US" sz="5400" b="1" i="1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=</m:t>
                    </m:r>
                    <m:r>
                      <a:rPr lang="en-US" sz="5400" b="1" i="1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𝒙</m:t>
                    </m:r>
                  </m:oMath>
                </a14:m>
                <a:r>
                  <a:rPr lang="en-US" sz="5400" b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Tính giá trị </a:t>
                </a:r>
                <a14:m>
                  <m:oMath xmlns:m="http://schemas.openxmlformats.org/officeDocument/2006/math">
                    <m:r>
                      <a:rPr lang="en-US" sz="5400" b="1" i="1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𝒚</m:t>
                    </m:r>
                  </m:oMath>
                </a14:m>
                <a:r>
                  <a:rPr lang="en-US" sz="5400" b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theo giá trị </a:t>
                </a:r>
                <a14:m>
                  <m:oMath xmlns:m="http://schemas.openxmlformats.org/officeDocument/2006/math">
                    <m:r>
                      <a:rPr lang="en-US" sz="5400" b="1" i="1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𝒙</m:t>
                    </m:r>
                  </m:oMath>
                </a14:m>
                <a:r>
                  <a:rPr lang="en-US" sz="5400" b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để hoàn thành bảng sau:</a:t>
                </a:r>
              </a:p>
              <a:p>
                <a:pPr marL="0" indent="0">
                  <a:buNone/>
                </a:pPr>
                <a:r>
                  <a:rPr lang="en-US" sz="5400" b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495800"/>
                <a:ext cx="21564600" cy="6553200"/>
              </a:xfrm>
              <a:prstGeom prst="rect">
                <a:avLst/>
              </a:prstGeom>
              <a:blipFill>
                <a:blip r:embed="rId4"/>
                <a:stretch>
                  <a:fillRect l="-1498" t="-3900" r="-509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23AE246F-2268-48BE-A3B0-6410E899F6AC}"/>
              </a:ext>
            </a:extLst>
          </p:cNvPr>
          <p:cNvSpPr txBox="1"/>
          <p:nvPr/>
        </p:nvSpPr>
        <p:spPr>
          <a:xfrm>
            <a:off x="825500" y="3332729"/>
            <a:ext cx="4051300" cy="769441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44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Hoạt động 5</a:t>
            </a:r>
          </a:p>
        </p:txBody>
      </p:sp>
      <p:graphicFrame>
        <p:nvGraphicFramePr>
          <p:cNvPr id="36" name="Object 35">
            <a:extLst>
              <a:ext uri="{FF2B5EF4-FFF2-40B4-BE49-F238E27FC236}">
                <a16:creationId xmlns:a16="http://schemas.microsoft.com/office/drawing/2014/main" id="{AC16D58E-E5D0-411D-92DE-97655047AD7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-457200" y="6410323"/>
          <a:ext cx="23232021" cy="54006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" name="Document" r:id="rId5" imgW="6473592" imgH="1504652" progId="Word.Document.12">
                  <p:embed/>
                </p:oleObj>
              </mc:Choice>
              <mc:Fallback>
                <p:oleObj name="Document" r:id="rId5" imgW="6473592" imgH="1504652" progId="Word.Document.12">
                  <p:embed/>
                  <p:pic>
                    <p:nvPicPr>
                      <p:cNvPr id="36" name="Object 35">
                        <a:extLst>
                          <a:ext uri="{FF2B5EF4-FFF2-40B4-BE49-F238E27FC236}">
                            <a16:creationId xmlns:a16="http://schemas.microsoft.com/office/drawing/2014/main" id="{AC16D58E-E5D0-411D-92DE-97655047AD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-457200" y="6410323"/>
                        <a:ext cx="23232021" cy="54006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8" name="Content Placeholder 2">
                <a:extLst>
                  <a:ext uri="{FF2B5EF4-FFF2-40B4-BE49-F238E27FC236}">
                    <a16:creationId xmlns:a16="http://schemas.microsoft.com/office/drawing/2014/main" id="{7113B74B-158A-4579-B5D7-D35AB5E325F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1049000"/>
                <a:ext cx="21564600" cy="2115349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 anchor="ctr"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b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Khi giá trị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b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tăng thì giá trị của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n-US" b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của mỗi hàm số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b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và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b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tăng hay giảm</a:t>
                </a:r>
              </a:p>
            </p:txBody>
          </p:sp>
        </mc:Choice>
        <mc:Fallback xmlns="">
          <p:sp>
            <p:nvSpPr>
              <p:cNvPr id="48" name="Content Placeholder 2">
                <a:extLst>
                  <a:ext uri="{FF2B5EF4-FFF2-40B4-BE49-F238E27FC236}">
                    <a16:creationId xmlns:a16="http://schemas.microsoft.com/office/drawing/2014/main" id="{7113B74B-158A-4579-B5D7-D35AB5E325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1049000"/>
                <a:ext cx="21564600" cy="2115349"/>
              </a:xfrm>
              <a:prstGeom prst="rect">
                <a:avLst/>
              </a:prstGeom>
              <a:blipFill>
                <a:blip r:embed="rId7"/>
                <a:stretch>
                  <a:fillRect l="-1272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54" name="Picture 30">
            <a:extLst>
              <a:ext uri="{FF2B5EF4-FFF2-40B4-BE49-F238E27FC236}">
                <a16:creationId xmlns:a16="http://schemas.microsoft.com/office/drawing/2014/main" id="{7D12C89B-C15E-4A61-8979-80FE7ED100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9063" cy="119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3" name="Picture 29">
            <a:extLst>
              <a:ext uri="{FF2B5EF4-FFF2-40B4-BE49-F238E27FC236}">
                <a16:creationId xmlns:a16="http://schemas.microsoft.com/office/drawing/2014/main" id="{CB25EBBF-F662-477A-8979-A27492B01E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90500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2" name="Picture 28">
            <a:extLst>
              <a:ext uri="{FF2B5EF4-FFF2-40B4-BE49-F238E27FC236}">
                <a16:creationId xmlns:a16="http://schemas.microsoft.com/office/drawing/2014/main" id="{26AC4010-E5C2-4C23-BBEE-535207898C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90500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1" name="Picture 27">
            <a:extLst>
              <a:ext uri="{FF2B5EF4-FFF2-40B4-BE49-F238E27FC236}">
                <a16:creationId xmlns:a16="http://schemas.microsoft.com/office/drawing/2014/main" id="{FB57FA63-998E-4A6A-BEAF-480DA4934B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38175" cy="190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0" name="Picture 26">
            <a:extLst>
              <a:ext uri="{FF2B5EF4-FFF2-40B4-BE49-F238E27FC236}">
                <a16:creationId xmlns:a16="http://schemas.microsoft.com/office/drawing/2014/main" id="{520D0333-ABE4-41C6-A184-E756EFC57C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9063" cy="190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9" name="Picture 25">
            <a:extLst>
              <a:ext uri="{FF2B5EF4-FFF2-40B4-BE49-F238E27FC236}">
                <a16:creationId xmlns:a16="http://schemas.microsoft.com/office/drawing/2014/main" id="{C41493B4-4F00-4B56-8337-0AD26D91CB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9063" cy="190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8" name="Picture 24">
            <a:extLst>
              <a:ext uri="{FF2B5EF4-FFF2-40B4-BE49-F238E27FC236}">
                <a16:creationId xmlns:a16="http://schemas.microsoft.com/office/drawing/2014/main" id="{3241278E-1BAD-4284-8357-F2AE50DCF4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9063" cy="190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7" name="Picture 23">
            <a:extLst>
              <a:ext uri="{FF2B5EF4-FFF2-40B4-BE49-F238E27FC236}">
                <a16:creationId xmlns:a16="http://schemas.microsoft.com/office/drawing/2014/main" id="{DB9345DA-EE83-4F90-A119-8243986992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9063" cy="190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>
            <a:extLst>
              <a:ext uri="{FF2B5EF4-FFF2-40B4-BE49-F238E27FC236}">
                <a16:creationId xmlns:a16="http://schemas.microsoft.com/office/drawing/2014/main" id="{299160CC-C38D-4F97-B317-34F1BE105B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9063" cy="190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5" name="Picture 21">
            <a:extLst>
              <a:ext uri="{FF2B5EF4-FFF2-40B4-BE49-F238E27FC236}">
                <a16:creationId xmlns:a16="http://schemas.microsoft.com/office/drawing/2014/main" id="{EE3D3FCA-626F-4F74-8AA5-790E1BC057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61950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>
            <a:extLst>
              <a:ext uri="{FF2B5EF4-FFF2-40B4-BE49-F238E27FC236}">
                <a16:creationId xmlns:a16="http://schemas.microsoft.com/office/drawing/2014/main" id="{6A64D26A-0520-4F7E-BEC2-AE55E891E8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9063" cy="190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3" name="Picture 19">
            <a:extLst>
              <a:ext uri="{FF2B5EF4-FFF2-40B4-BE49-F238E27FC236}">
                <a16:creationId xmlns:a16="http://schemas.microsoft.com/office/drawing/2014/main" id="{776CB20A-7040-46F9-AEB6-199F9CE80D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9063" cy="190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>
            <a:extLst>
              <a:ext uri="{FF2B5EF4-FFF2-40B4-BE49-F238E27FC236}">
                <a16:creationId xmlns:a16="http://schemas.microsoft.com/office/drawing/2014/main" id="{E02C67A8-3379-47E9-B489-EED3CEA785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9063" cy="190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1" name="Picture 17">
            <a:extLst>
              <a:ext uri="{FF2B5EF4-FFF2-40B4-BE49-F238E27FC236}">
                <a16:creationId xmlns:a16="http://schemas.microsoft.com/office/drawing/2014/main" id="{5FA4AF3E-2F67-460A-A53D-3BC9C84A24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9063" cy="190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>
            <a:extLst>
              <a:ext uri="{FF2B5EF4-FFF2-40B4-BE49-F238E27FC236}">
                <a16:creationId xmlns:a16="http://schemas.microsoft.com/office/drawing/2014/main" id="{77A73FD6-9D45-4387-BD55-23423CC198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9063" cy="190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56" name="Rounded Rectangle 1055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7" name="Rectangle 1056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8" name="Rectangle 1057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9" name="TextBox 1058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   ·   BÀI 15</a:t>
            </a:r>
          </a:p>
        </p:txBody>
      </p:sp>
      <p:sp>
        <p:nvSpPr>
          <p:cNvPr id="1060" name="TextBox 1059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394449257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" grpId="0" animBg="1"/>
      <p:bldP spid="99" grpId="0" animBg="1"/>
      <p:bldP spid="8" grpId="0" animBg="1"/>
      <p:bldP spid="4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itle 1">
            <a:extLst>
              <a:ext uri="{FF2B5EF4-FFF2-40B4-BE49-F238E27FC236}">
                <a16:creationId xmlns:a16="http://schemas.microsoft.com/office/drawing/2014/main" id="{D87ADF89-46F9-4713-9744-A644701231B8}"/>
              </a:ext>
            </a:extLst>
          </p:cNvPr>
          <p:cNvSpPr txBox="1">
            <a:spLocks/>
          </p:cNvSpPr>
          <p:nvPr/>
        </p:nvSpPr>
        <p:spPr>
          <a:xfrm>
            <a:off x="623454" y="2133600"/>
            <a:ext cx="17556480" cy="1059358"/>
          </a:xfrm>
          <a:prstGeom prst="rect">
            <a:avLst/>
          </a:prstGeom>
          <a:solidFill>
            <a:schemeClr val="bg2"/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anchor="ctr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Tomaho"/>
                <a:ea typeface="+mj-ea"/>
                <a:cs typeface="+mj-cs"/>
              </a:defRPr>
            </a:lvl1pPr>
          </a:lstStyle>
          <a:p>
            <a:r>
              <a:rPr lang="en-US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3. SỰ ĐỒNG BIẾN, NGHỊCH BIẾN CỦA HÀM SỐ</a:t>
            </a:r>
          </a:p>
        </p:txBody>
      </p:sp>
      <p:sp>
        <p:nvSpPr>
          <p:cNvPr id="99" name="Content Placeholder 2">
            <a:extLst>
              <a:ext uri="{FF2B5EF4-FFF2-40B4-BE49-F238E27FC236}">
                <a16:creationId xmlns:a16="http://schemas.microsoft.com/office/drawing/2014/main" id="{14822BB7-DB89-4357-87F0-6E511FC44A6A}"/>
              </a:ext>
            </a:extLst>
          </p:cNvPr>
          <p:cNvSpPr txBox="1">
            <a:spLocks/>
          </p:cNvSpPr>
          <p:nvPr/>
        </p:nvSpPr>
        <p:spPr>
          <a:xfrm>
            <a:off x="838200" y="4216540"/>
            <a:ext cx="21564600" cy="8737459"/>
          </a:xfrm>
          <a:prstGeom prst="rect">
            <a:avLst/>
          </a:prstGeom>
          <a:solidFill>
            <a:srgbClr val="D6F7FE"/>
          </a:solidFill>
          <a:ln>
            <a:solidFill>
              <a:srgbClr val="00B0F0"/>
            </a:solidFill>
          </a:ln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5400" b="1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3AE246F-2268-48BE-A3B0-6410E899F6AC}"/>
              </a:ext>
            </a:extLst>
          </p:cNvPr>
          <p:cNvSpPr txBox="1"/>
          <p:nvPr/>
        </p:nvSpPr>
        <p:spPr>
          <a:xfrm>
            <a:off x="825500" y="3332729"/>
            <a:ext cx="4051300" cy="769441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44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Hoạt động 5</a:t>
            </a:r>
          </a:p>
        </p:txBody>
      </p:sp>
      <p:graphicFrame>
        <p:nvGraphicFramePr>
          <p:cNvPr id="36" name="Object 35">
            <a:extLst>
              <a:ext uri="{FF2B5EF4-FFF2-40B4-BE49-F238E27FC236}">
                <a16:creationId xmlns:a16="http://schemas.microsoft.com/office/drawing/2014/main" id="{AC16D58E-E5D0-411D-92DE-97655047AD7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1416224"/>
              </p:ext>
            </p:extLst>
          </p:nvPr>
        </p:nvGraphicFramePr>
        <p:xfrm>
          <a:off x="-457200" y="4716959"/>
          <a:ext cx="23117175" cy="5364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6" name="Document" r:id="rId4" imgW="6473592" imgH="1503573" progId="Word.Document.12">
                  <p:embed/>
                </p:oleObj>
              </mc:Choice>
              <mc:Fallback>
                <p:oleObj name="Document" r:id="rId4" imgW="6473592" imgH="1503573" progId="Word.Document.12">
                  <p:embed/>
                  <p:pic>
                    <p:nvPicPr>
                      <p:cNvPr id="36" name="Object 35">
                        <a:extLst>
                          <a:ext uri="{FF2B5EF4-FFF2-40B4-BE49-F238E27FC236}">
                            <a16:creationId xmlns:a16="http://schemas.microsoft.com/office/drawing/2014/main" id="{AC16D58E-E5D0-411D-92DE-97655047AD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-457200" y="4716959"/>
                        <a:ext cx="23117175" cy="53641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8" name="Content Placeholder 2">
                <a:extLst>
                  <a:ext uri="{FF2B5EF4-FFF2-40B4-BE49-F238E27FC236}">
                    <a16:creationId xmlns:a16="http://schemas.microsoft.com/office/drawing/2014/main" id="{7113B74B-158A-4579-B5D7-D35AB5E325F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66788" y="9753600"/>
                <a:ext cx="21207412" cy="2115349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 anchor="ctr"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b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Khi giá trị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b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tăng thì giá trị của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n-US" b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của hàm số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b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tăng còn giá trị của hàm số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b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giảm.</a:t>
                </a:r>
              </a:p>
            </p:txBody>
          </p:sp>
        </mc:Choice>
        <mc:Fallback xmlns="">
          <p:sp>
            <p:nvSpPr>
              <p:cNvPr id="48" name="Content Placeholder 2">
                <a:extLst>
                  <a:ext uri="{FF2B5EF4-FFF2-40B4-BE49-F238E27FC236}">
                    <a16:creationId xmlns:a16="http://schemas.microsoft.com/office/drawing/2014/main" id="{7113B74B-158A-4579-B5D7-D35AB5E325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788" y="9753600"/>
                <a:ext cx="21207412" cy="2115349"/>
              </a:xfrm>
              <a:prstGeom prst="rect">
                <a:avLst/>
              </a:prstGeom>
              <a:blipFill>
                <a:blip r:embed="rId6"/>
                <a:stretch>
                  <a:fillRect l="-1293" r="-776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1" name="Rounded Rectangle 100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   ·   BÀI 15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95285823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itle 1">
            <a:extLst>
              <a:ext uri="{FF2B5EF4-FFF2-40B4-BE49-F238E27FC236}">
                <a16:creationId xmlns:a16="http://schemas.microsoft.com/office/drawing/2014/main" id="{D87ADF89-46F9-4713-9744-A644701231B8}"/>
              </a:ext>
            </a:extLst>
          </p:cNvPr>
          <p:cNvSpPr txBox="1">
            <a:spLocks/>
          </p:cNvSpPr>
          <p:nvPr/>
        </p:nvSpPr>
        <p:spPr>
          <a:xfrm>
            <a:off x="623454" y="2133600"/>
            <a:ext cx="17556480" cy="1059358"/>
          </a:xfrm>
          <a:prstGeom prst="rect">
            <a:avLst/>
          </a:prstGeom>
          <a:solidFill>
            <a:schemeClr val="bg2"/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anchor="ctr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Tomaho"/>
                <a:ea typeface="+mj-ea"/>
                <a:cs typeface="+mj-cs"/>
              </a:defRPr>
            </a:lvl1pPr>
          </a:lstStyle>
          <a:p>
            <a:r>
              <a:rPr lang="en-US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3. SỰ ĐỒNG BIẾN, NGHỊCH BIẾN CỦA HÀM SỐ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4241941"/>
                <a:ext cx="22936200" cy="9093059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 anchor="ctr"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5400" b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	Quan sát đồ thị của hàm số </a:t>
                </a:r>
                <a14:m>
                  <m:oMath xmlns:m="http://schemas.openxmlformats.org/officeDocument/2006/math">
                    <m:r>
                      <a:rPr lang="en-US" sz="5400" b="1" i="1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𝒚</m:t>
                    </m:r>
                    <m:r>
                      <a:rPr lang="en-US" sz="5400" b="1" i="1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=</m:t>
                    </m:r>
                    <m:r>
                      <a:rPr lang="en-US" sz="5400" b="1" i="1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𝒇</m:t>
                    </m:r>
                    <m:d>
                      <m:dPr>
                        <m:ctrlPr>
                          <a:rPr lang="en-US" sz="5400" b="1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</m:ctrlPr>
                      </m:dPr>
                      <m:e>
                        <m:r>
                          <a:rPr lang="en-US" sz="5400" b="1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𝒙</m:t>
                        </m:r>
                      </m:e>
                    </m:d>
                    <m:r>
                      <a:rPr lang="en-US" sz="5400" b="1" i="1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=−</m:t>
                    </m:r>
                    <m:sSup>
                      <m:sSupPr>
                        <m:ctrlPr>
                          <a:rPr lang="en-US" sz="5400" b="1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</m:ctrlPr>
                      </m:sSupPr>
                      <m:e>
                        <m:r>
                          <a:rPr lang="en-US" sz="5400" b="1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𝒙</m:t>
                        </m:r>
                      </m:e>
                      <m:sup>
                        <m:r>
                          <a:rPr lang="en-US" sz="5400" b="1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sz="5400" b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trên </a:t>
                </a:r>
                <a14:m>
                  <m:oMath xmlns:m="http://schemas.openxmlformats.org/officeDocument/2006/math">
                    <m:r>
                      <a:rPr lang="en-US" sz="5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ahoma" panose="020B0604030504040204" pitchFamily="34" charset="0"/>
                      </a:rPr>
                      <m:t>ℝ</m:t>
                    </m:r>
                  </m:oMath>
                </a14:m>
                <a:r>
                  <a:rPr lang="en-US" sz="5400" b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</a:t>
                </a:r>
              </a:p>
              <a:p>
                <a:pPr marL="0" indent="0">
                  <a:buNone/>
                </a:pPr>
                <a:r>
                  <a:rPr lang="en-US" sz="5400" b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	Hỏi:</a:t>
                </a:r>
              </a:p>
              <a:p>
                <a:pPr marL="0" indent="0">
                  <a:buNone/>
                </a:pPr>
                <a:r>
                  <a:rPr lang="en-US" sz="5400" b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	a, Giá trị của </a:t>
                </a:r>
                <a14:m>
                  <m:oMath xmlns:m="http://schemas.openxmlformats.org/officeDocument/2006/math">
                    <m:r>
                      <a:rPr lang="en-US" sz="5400" b="1" i="1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𝒇</m:t>
                    </m:r>
                    <m:d>
                      <m:dPr>
                        <m:ctrlPr>
                          <a:rPr lang="en-US" sz="5400" b="1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</m:ctrlPr>
                      </m:dPr>
                      <m:e>
                        <m:r>
                          <a:rPr lang="en-US" sz="5400" b="1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en-US" sz="5400" b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tăng hay giảm </a:t>
                </a:r>
              </a:p>
              <a:p>
                <a:pPr marL="0" indent="0">
                  <a:buNone/>
                </a:pPr>
                <a:r>
                  <a:rPr lang="en-US" sz="5400" b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	khi </a:t>
                </a:r>
                <a14:m>
                  <m:oMath xmlns:m="http://schemas.openxmlformats.org/officeDocument/2006/math">
                    <m:r>
                      <a:rPr lang="en-US" sz="5400" b="1" i="0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  </m:t>
                    </m:r>
                    <m:r>
                      <a:rPr lang="en-US" sz="5400" b="1" i="1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𝒙</m:t>
                    </m:r>
                  </m:oMath>
                </a14:m>
                <a:r>
                  <a:rPr lang="en-US" sz="5400" b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tăng trên khoảng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5400" b="1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</m:ctrlPr>
                      </m:dPr>
                      <m:e>
                        <m:r>
                          <a:rPr lang="en-US" sz="5400" b="1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−∞;</m:t>
                        </m:r>
                        <m:r>
                          <a:rPr lang="en-US" sz="5400" b="1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𝟎</m:t>
                        </m:r>
                      </m:e>
                    </m:d>
                  </m:oMath>
                </a14:m>
                <a:r>
                  <a:rPr lang="en-US" sz="5400" b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?</a:t>
                </a:r>
              </a:p>
              <a:p>
                <a:pPr marL="0" indent="0">
                  <a:buNone/>
                </a:pPr>
                <a:r>
                  <a:rPr lang="en-US" sz="5400" b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	b, Giá trị của </a:t>
                </a:r>
                <a14:m>
                  <m:oMath xmlns:m="http://schemas.openxmlformats.org/officeDocument/2006/math">
                    <m:r>
                      <a:rPr lang="en-US" sz="5400" b="1" i="1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𝒇</m:t>
                    </m:r>
                    <m:d>
                      <m:dPr>
                        <m:ctrlPr>
                          <a:rPr lang="en-US" sz="5400" b="1" i="1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</m:ctrlPr>
                      </m:dPr>
                      <m:e>
                        <m:r>
                          <a:rPr lang="en-US" sz="5400" b="1" i="1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en-US" sz="5400" b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tăng hay giảm </a:t>
                </a:r>
              </a:p>
              <a:p>
                <a:pPr marL="0" indent="0">
                  <a:buNone/>
                </a:pPr>
                <a:r>
                  <a:rPr lang="en-US" sz="5400" b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	khi </a:t>
                </a:r>
                <a14:m>
                  <m:oMath xmlns:m="http://schemas.openxmlformats.org/officeDocument/2006/math">
                    <m:r>
                      <a:rPr lang="en-US" sz="5400" b="1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  </m:t>
                    </m:r>
                    <m:r>
                      <a:rPr lang="en-US" sz="5400" b="1" i="1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𝒙</m:t>
                    </m:r>
                  </m:oMath>
                </a14:m>
                <a:r>
                  <a:rPr lang="en-US" sz="5400" b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tăng trên khoảng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5400" b="1" i="1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</m:ctrlPr>
                      </m:dPr>
                      <m:e>
                        <m:r>
                          <a:rPr lang="en-US" sz="5400" b="1" i="1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𝟎</m:t>
                        </m:r>
                        <m:r>
                          <a:rPr lang="en-US" sz="5400" b="1" i="1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;+∞</m:t>
                        </m:r>
                      </m:e>
                    </m:d>
                  </m:oMath>
                </a14:m>
                <a:r>
                  <a:rPr lang="en-US" sz="5400" b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?</a:t>
                </a:r>
              </a:p>
              <a:p>
                <a:pPr marL="0" indent="0">
                  <a:buNone/>
                </a:pPr>
                <a:r>
                  <a:rPr lang="en-US" sz="5400" b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241941"/>
                <a:ext cx="22936200" cy="909305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23AE246F-2268-48BE-A3B0-6410E899F6AC}"/>
              </a:ext>
            </a:extLst>
          </p:cNvPr>
          <p:cNvSpPr txBox="1"/>
          <p:nvPr/>
        </p:nvSpPr>
        <p:spPr>
          <a:xfrm>
            <a:off x="825500" y="3332729"/>
            <a:ext cx="4051300" cy="769441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44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Hoạt động 6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2CE2F2C-D29F-4D22-A359-E05C133BB8C6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59200" y="6400800"/>
            <a:ext cx="5867400" cy="6934200"/>
          </a:xfrm>
          <a:prstGeom prst="rect">
            <a:avLst/>
          </a:prstGeom>
        </p:spPr>
      </p:pic>
      <p:sp>
        <p:nvSpPr>
          <p:cNvPr id="101" name="Rounded Rectangle 100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   ·   BÀI 15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146980994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 animBg="1"/>
      <p:bldP spid="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Rectangle 2054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14400" y="5029200"/>
                <a:ext cx="23137091" cy="6296026"/>
              </a:xfrm>
              <a:prstGeom prst="rect">
                <a:avLst/>
              </a:prstGeom>
              <a:solidFill>
                <a:srgbClr val="E7F7FF"/>
              </a:solidFill>
              <a:ln>
                <a:solidFill>
                  <a:srgbClr val="00B0F0"/>
                </a:solidFill>
              </a:ln>
            </p:spPr>
            <p:txBody>
              <a:bodyPr anchor="ctr"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50000"/>
                  </a:lnSpc>
                </a:pPr>
                <a:r>
                  <a:rPr lang="en-US" sz="5400" b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Hàm số </a:t>
                </a:r>
                <a14:m>
                  <m:oMath xmlns:m="http://schemas.openxmlformats.org/officeDocument/2006/math">
                    <m:r>
                      <a:rPr lang="en-US" sz="5400" b="1" i="1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sz="54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5400" b="1" i="1" smtClean="0"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sz="54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54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54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5400" b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được gọi là đồng biến trên khoảng </a:t>
                </a:r>
                <a14:m>
                  <m:oMath xmlns:m="http://schemas.openxmlformats.org/officeDocument/2006/math">
                    <m:r>
                      <a:rPr lang="en-US" sz="54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5400" b="1" i="1" smtClean="0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sz="5400" b="1" i="1" smtClean="0">
                        <a:latin typeface="Cambria Math" panose="02040503050406030204" pitchFamily="18" charset="0"/>
                      </a:rPr>
                      <m:t>;</m:t>
                    </m:r>
                    <m:r>
                      <a:rPr lang="en-US" sz="5400" b="1" i="1" smtClean="0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sz="54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5400" b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nếu 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sSub>
                        <m:sSubPr>
                          <m:ctrlPr>
                            <a:rPr lang="en-US" sz="5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5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5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5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5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5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d>
                        <m:dPr>
                          <m:ctrlPr>
                            <a:rPr lang="en-US" sz="5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5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𝒂</m:t>
                          </m:r>
                          <m:r>
                            <a:rPr lang="en-US" sz="5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r>
                            <a:rPr lang="en-US" sz="5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𝒃</m:t>
                          </m:r>
                        </m:e>
                      </m:d>
                      <m:r>
                        <a:rPr lang="en-US" sz="5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5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5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5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US" sz="5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5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5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a:rPr lang="en-US" sz="5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US" sz="5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5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5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5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  <m:r>
                        <a:rPr lang="en-US" sz="5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n-US" sz="5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𝒇</m:t>
                      </m:r>
                      <m:r>
                        <a:rPr lang="en-US" sz="5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5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5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5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5400" b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5400" b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Hàm số </a:t>
                </a:r>
                <a14:m>
                  <m:oMath xmlns:m="http://schemas.openxmlformats.org/officeDocument/2006/math">
                    <m:r>
                      <a:rPr lang="en-US" sz="5400" b="1" i="1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sz="54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5400" b="1" i="1"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sz="5400" b="1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5400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5400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5400" b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được gọi là đồng biến trên khoảng </a:t>
                </a:r>
                <a14:m>
                  <m:oMath xmlns:m="http://schemas.openxmlformats.org/officeDocument/2006/math">
                    <m:r>
                      <a:rPr lang="en-US" sz="5400" b="1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5400" b="1" i="1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sz="5400" b="1" i="1">
                        <a:latin typeface="Cambria Math" panose="02040503050406030204" pitchFamily="18" charset="0"/>
                      </a:rPr>
                      <m:t>;</m:t>
                    </m:r>
                    <m:r>
                      <a:rPr lang="en-US" sz="5400" b="1" i="1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sz="5400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5400" b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nếu 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sSub>
                        <m:sSubPr>
                          <m:ctrlPr>
                            <a:rPr lang="en-US" sz="5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5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5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5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5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5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d>
                        <m:dPr>
                          <m:ctrlPr>
                            <a:rPr lang="en-US" sz="5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5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𝒂</m:t>
                          </m:r>
                          <m:r>
                            <a:rPr lang="en-US" sz="5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r>
                            <a:rPr lang="en-US" sz="5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𝒃</m:t>
                          </m:r>
                        </m:e>
                      </m:d>
                      <m:r>
                        <a:rPr lang="en-US" sz="5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5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5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5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US" sz="5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5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5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a:rPr lang="en-US" sz="5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US" sz="5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5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5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5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  <m:r>
                        <a:rPr lang="en-US" sz="5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r>
                        <a:rPr lang="en-US" sz="5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𝒇</m:t>
                      </m:r>
                      <m:r>
                        <a:rPr lang="en-US" sz="5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5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5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5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5400" b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5029200"/>
                <a:ext cx="23137091" cy="6296026"/>
              </a:xfrm>
              <a:prstGeom prst="rect">
                <a:avLst/>
              </a:prstGeom>
              <a:blipFill>
                <a:blip r:embed="rId4"/>
                <a:stretch>
                  <a:fillRect l="-1238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itle 1">
            <a:extLst>
              <a:ext uri="{FF2B5EF4-FFF2-40B4-BE49-F238E27FC236}">
                <a16:creationId xmlns:a16="http://schemas.microsoft.com/office/drawing/2014/main" id="{1CFD7C57-E014-490F-84A5-4278212D6958}"/>
              </a:ext>
            </a:extLst>
          </p:cNvPr>
          <p:cNvSpPr txBox="1">
            <a:spLocks/>
          </p:cNvSpPr>
          <p:nvPr/>
        </p:nvSpPr>
        <p:spPr>
          <a:xfrm>
            <a:off x="623454" y="2133600"/>
            <a:ext cx="17556480" cy="1059358"/>
          </a:xfrm>
          <a:prstGeom prst="rect">
            <a:avLst/>
          </a:prstGeom>
          <a:solidFill>
            <a:schemeClr val="bg2"/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anchor="ctr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Tomaho"/>
                <a:ea typeface="+mj-ea"/>
                <a:cs typeface="+mj-cs"/>
              </a:defRPr>
            </a:lvl1pPr>
          </a:lstStyle>
          <a:p>
            <a:r>
              <a:rPr lang="en-US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3. SỰ ĐỒNG BIẾN, NGHỊCH BIẾN CỦA HÀM SỐ</a:t>
            </a:r>
          </a:p>
        </p:txBody>
      </p:sp>
      <p:pic>
        <p:nvPicPr>
          <p:cNvPr id="2054" name="Picture 6">
            <a:extLst>
              <a:ext uri="{FF2B5EF4-FFF2-40B4-BE49-F238E27FC236}">
                <a16:creationId xmlns:a16="http://schemas.microsoft.com/office/drawing/2014/main" id="{4E9CA503-9605-4D83-A46B-9211E5C0FA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04838" cy="257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3" name="Picture 5">
            <a:extLst>
              <a:ext uri="{FF2B5EF4-FFF2-40B4-BE49-F238E27FC236}">
                <a16:creationId xmlns:a16="http://schemas.microsoft.com/office/drawing/2014/main" id="{E5E47298-3F81-478C-B26E-F2C79E84AB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61950" cy="257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6520C750-4B91-49A7-A819-FD493A0E78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552700" cy="257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">
            <a:extLst>
              <a:ext uri="{FF2B5EF4-FFF2-40B4-BE49-F238E27FC236}">
                <a16:creationId xmlns:a16="http://schemas.microsoft.com/office/drawing/2014/main" id="{B113B0A1-1C9E-4FCA-B33D-7F1395B796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04838" cy="257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1026BE77-8E96-43AA-B335-7227A6376B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61950" cy="257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9" name="Picture 1">
            <a:extLst>
              <a:ext uri="{FF2B5EF4-FFF2-40B4-BE49-F238E27FC236}">
                <a16:creationId xmlns:a16="http://schemas.microsoft.com/office/drawing/2014/main" id="{B027583E-B8B2-49F4-AFBF-80F3ED6A2B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538413" cy="252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56" name="Rounded Rectangle 2055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7" name="Rectangle 2056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8" name="Rectangle 2057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9" name="TextBox 2058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   ·   BÀI 15</a:t>
            </a:r>
          </a:p>
        </p:txBody>
      </p:sp>
      <p:sp>
        <p:nvSpPr>
          <p:cNvPr id="2060" name="TextBox 2059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315866508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D4DA4A0-360D-45F2-9172-532669A120F2}"/>
              </a:ext>
            </a:extLst>
          </p:cNvPr>
          <p:cNvGrpSpPr/>
          <p:nvPr/>
        </p:nvGrpSpPr>
        <p:grpSpPr>
          <a:xfrm>
            <a:off x="76200" y="1524000"/>
            <a:ext cx="4724400" cy="1371600"/>
            <a:chOff x="22440" y="16831"/>
            <a:chExt cx="850471" cy="230002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E551ED27-A202-47C8-BA89-B8CA6F72A8E0}"/>
                </a:ext>
              </a:extLst>
            </p:cNvPr>
            <p:cNvGrpSpPr/>
            <p:nvPr/>
          </p:nvGrpSpPr>
          <p:grpSpPr>
            <a:xfrm>
              <a:off x="22440" y="59287"/>
              <a:ext cx="850471" cy="159855"/>
              <a:chOff x="31572" y="60276"/>
              <a:chExt cx="1196628" cy="197828"/>
            </a:xfrm>
          </p:grpSpPr>
          <p:sp>
            <p:nvSpPr>
              <p:cNvPr id="7" name="Arrow: Pentagon 6">
                <a:extLst>
                  <a:ext uri="{FF2B5EF4-FFF2-40B4-BE49-F238E27FC236}">
                    <a16:creationId xmlns:a16="http://schemas.microsoft.com/office/drawing/2014/main" id="{075523BB-18BD-4526-B20E-B1996C9A4990}"/>
                  </a:ext>
                </a:extLst>
              </p:cNvPr>
              <p:cNvSpPr/>
              <p:nvPr/>
            </p:nvSpPr>
            <p:spPr>
              <a:xfrm>
                <a:off x="204585" y="62042"/>
                <a:ext cx="1023615" cy="196062"/>
              </a:xfrm>
              <a:prstGeom prst="homePlate">
                <a:avLst/>
              </a:prstGeom>
              <a:solidFill>
                <a:srgbClr val="FCFFEF"/>
              </a:solidFill>
              <a:ln>
                <a:solidFill>
                  <a:schemeClr val="accent2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>
                  <a:lnSpc>
                    <a:spcPct val="106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1000" b="1" kern="1200">
                    <a:solidFill>
                      <a:srgbClr val="0000CC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endParaRPr lang="en-US" sz="12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" name="Arrow: Chevron 7">
                <a:extLst>
                  <a:ext uri="{FF2B5EF4-FFF2-40B4-BE49-F238E27FC236}">
                    <a16:creationId xmlns:a16="http://schemas.microsoft.com/office/drawing/2014/main" id="{479DD62A-6293-4FC8-A5B5-38AA838480C4}"/>
                  </a:ext>
                </a:extLst>
              </p:cNvPr>
              <p:cNvSpPr/>
              <p:nvPr/>
            </p:nvSpPr>
            <p:spPr>
              <a:xfrm>
                <a:off x="31572" y="60341"/>
                <a:ext cx="162630" cy="196062"/>
              </a:xfrm>
              <a:prstGeom prst="chevron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" name="Arrow: Chevron 8">
                <a:extLst>
                  <a:ext uri="{FF2B5EF4-FFF2-40B4-BE49-F238E27FC236}">
                    <a16:creationId xmlns:a16="http://schemas.microsoft.com/office/drawing/2014/main" id="{B8491207-0B65-4A86-9A15-3E569A4E5506}"/>
                  </a:ext>
                </a:extLst>
              </p:cNvPr>
              <p:cNvSpPr/>
              <p:nvPr/>
            </p:nvSpPr>
            <p:spPr>
              <a:xfrm>
                <a:off x="116273" y="60276"/>
                <a:ext cx="176766" cy="196062"/>
              </a:xfrm>
              <a:prstGeom prst="chevron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6" name="TextBox 56">
              <a:extLst>
                <a:ext uri="{FF2B5EF4-FFF2-40B4-BE49-F238E27FC236}">
                  <a16:creationId xmlns:a16="http://schemas.microsoft.com/office/drawing/2014/main" id="{0345BCD7-1D99-4813-A6A0-482895B1CD17}"/>
                </a:ext>
              </a:extLst>
            </p:cNvPr>
            <p:cNvSpPr txBox="1"/>
            <p:nvPr/>
          </p:nvSpPr>
          <p:spPr>
            <a:xfrm>
              <a:off x="188148" y="16831"/>
              <a:ext cx="591618" cy="230002"/>
            </a:xfrm>
            <a:prstGeom prst="rect">
              <a:avLst/>
            </a:prstGeom>
            <a:noFill/>
          </p:spPr>
          <p:txBody>
            <a:bodyPr wrap="square" anchor="ctr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4800" b="1" kern="1200">
                  <a:solidFill>
                    <a:srgbClr val="0000CC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Ví dụ 5.</a:t>
              </a:r>
              <a:endParaRPr lang="en-US" sz="66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4ED04A2C-C798-4B60-8DC3-E5A13E47F16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04800" y="2975140"/>
                <a:ext cx="16764000" cy="1901660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 anchor="ctr"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5400" b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Hàm số </a:t>
                </a:r>
                <a14:m>
                  <m:oMath xmlns:m="http://schemas.openxmlformats.org/officeDocument/2006/math">
                    <m:r>
                      <a:rPr lang="en-US" sz="5400" b="1" i="1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𝒚</m:t>
                    </m:r>
                    <m:r>
                      <a:rPr lang="en-US" sz="5400" b="1" i="1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=</m:t>
                    </m:r>
                    <m:r>
                      <a:rPr lang="en-US" sz="5400" b="1" i="1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𝒇</m:t>
                    </m:r>
                    <m:d>
                      <m:dPr>
                        <m:ctrlPr>
                          <a:rPr lang="en-US" sz="5400" b="1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</m:ctrlPr>
                      </m:dPr>
                      <m:e>
                        <m:r>
                          <a:rPr lang="en-US" sz="5400" b="1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𝒙</m:t>
                        </m:r>
                      </m:e>
                    </m:d>
                    <m:r>
                      <a:rPr lang="en-US" sz="5400" b="1" i="1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=</m:t>
                    </m:r>
                    <m:sSup>
                      <m:sSupPr>
                        <m:ctrlPr>
                          <a:rPr lang="en-US" sz="5400" b="1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</m:ctrlPr>
                      </m:sSupPr>
                      <m:e>
                        <m:r>
                          <a:rPr lang="en-US" sz="5400" b="1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𝒙</m:t>
                        </m:r>
                      </m:e>
                      <m:sup>
                        <m:r>
                          <a:rPr lang="en-US" sz="5400" b="1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sz="5400" b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đồng biến hay nghịch biến trên mỗi khoảng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5400" b="1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</m:ctrlPr>
                      </m:dPr>
                      <m:e>
                        <m:r>
                          <a:rPr lang="en-US" sz="5400" b="1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−∞;</m:t>
                        </m:r>
                        <m:r>
                          <a:rPr lang="en-US" sz="5400" b="1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𝟎</m:t>
                        </m:r>
                      </m:e>
                    </m:d>
                  </m:oMath>
                </a14:m>
                <a:r>
                  <a:rPr lang="en-US" sz="5400" b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và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5400" b="1" i="1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</m:ctrlPr>
                      </m:dPr>
                      <m:e>
                        <m:r>
                          <a:rPr lang="en-US" sz="5400" b="1" i="1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𝟎</m:t>
                        </m:r>
                        <m:r>
                          <a:rPr lang="en-US" sz="5400" b="1" i="1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;+∞</m:t>
                        </m:r>
                      </m:e>
                    </m:d>
                  </m:oMath>
                </a14:m>
                <a:r>
                  <a:rPr lang="en-US" sz="5400" b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?</a:t>
                </a:r>
              </a:p>
            </p:txBody>
          </p:sp>
        </mc:Choice>
        <mc:Fallback xmlns="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4ED04A2C-C798-4B60-8DC3-E5A13E47F1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2975140"/>
                <a:ext cx="16764000" cy="1901660"/>
              </a:xfrm>
              <a:prstGeom prst="rect">
                <a:avLst/>
              </a:prstGeom>
              <a:blipFill>
                <a:blip r:embed="rId2"/>
                <a:stretch>
                  <a:fillRect l="-1890" t="-4459" r="-1490" b="-10510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00C90404-7A63-4C0A-8FAD-4A2D35539FC7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16200" y="5105400"/>
            <a:ext cx="7260590" cy="8458201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1D94A34-83BC-4152-B027-1DBD5270FFF3}"/>
                  </a:ext>
                </a:extLst>
              </p:cNvPr>
              <p:cNvSpPr txBox="1"/>
              <p:nvPr/>
            </p:nvSpPr>
            <p:spPr>
              <a:xfrm>
                <a:off x="609601" y="5715000"/>
                <a:ext cx="14401800" cy="61037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vi-VN" sz="4400">
                    <a:latin typeface="+mj-lt"/>
                  </a:rPr>
                  <a:t>•</a:t>
                </a:r>
                <a:r>
                  <a:rPr lang="en-US" sz="4400">
                    <a:latin typeface="+mj-lt"/>
                  </a:rPr>
                  <a:t> </a:t>
                </a:r>
                <a:r>
                  <a:rPr lang="vi-VN" sz="4400">
                    <a:latin typeface="+mj-lt"/>
                  </a:rPr>
                  <a:t>Trên khoảng </a:t>
                </a:r>
                <a14:m>
                  <m:oMath xmlns:m="http://schemas.openxmlformats.org/officeDocument/2006/math">
                    <m:r>
                      <a:rPr lang="en-US" sz="4400" b="0" i="1" smtClean="0">
                        <a:latin typeface="Cambria Math" panose="02040503050406030204" pitchFamily="18" charset="0"/>
                      </a:rPr>
                      <m:t>(−∞;0)</m:t>
                    </m:r>
                  </m:oMath>
                </a14:m>
                <a:r>
                  <a:rPr lang="vi-VN" sz="4400">
                    <a:latin typeface="+mj-lt"/>
                  </a:rPr>
                  <a:t> , đồ thị “đi xuống" từ trái sang phải và với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4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4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4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4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4400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ctrlPr>
                          <a:rPr lang="en-US" sz="4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400" b="0" i="1" smtClean="0">
                            <a:latin typeface="Cambria Math" panose="02040503050406030204" pitchFamily="18" charset="0"/>
                          </a:rPr>
                          <m:t>−∞;0</m:t>
                        </m:r>
                      </m:e>
                    </m:d>
                    <m:r>
                      <a:rPr lang="en-US" sz="44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4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4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4400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sz="4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4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vi-VN" sz="4400">
                    <a:latin typeface="+mj-lt"/>
                  </a:rPr>
                  <a:t> thì </a:t>
                </a:r>
                <a14:m>
                  <m:oMath xmlns:m="http://schemas.openxmlformats.org/officeDocument/2006/math">
                    <m:r>
                      <a:rPr lang="en-US" sz="4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4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4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4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4400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4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44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4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4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4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vi-VN" sz="4400">
                    <a:latin typeface="+mj-lt"/>
                  </a:rPr>
                  <a:t> . Như vậy, hàm số </a:t>
                </a:r>
                <a14:m>
                  <m:oMath xmlns:m="http://schemas.openxmlformats.org/officeDocument/2006/math">
                    <m:r>
                      <a:rPr lang="en-US" sz="4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4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4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4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vi-VN" sz="4400">
                    <a:latin typeface="+mj-lt"/>
                  </a:rPr>
                  <a:t>  nghịch biến trên khoảng  </a:t>
                </a:r>
                <a14:m>
                  <m:oMath xmlns:m="http://schemas.openxmlformats.org/officeDocument/2006/math">
                    <m:r>
                      <a:rPr lang="en-US" sz="4400" b="0" i="1" smtClean="0">
                        <a:latin typeface="Cambria Math" panose="02040503050406030204" pitchFamily="18" charset="0"/>
                      </a:rPr>
                      <m:t>(−∞;0)</m:t>
                    </m:r>
                  </m:oMath>
                </a14:m>
                <a:r>
                  <a:rPr lang="vi-VN" sz="4400">
                    <a:latin typeface="+mj-lt"/>
                  </a:rPr>
                  <a:t>. </a:t>
                </a:r>
              </a:p>
              <a:p>
                <a:pPr>
                  <a:lnSpc>
                    <a:spcPct val="150000"/>
                  </a:lnSpc>
                </a:pPr>
                <a:r>
                  <a:rPr lang="vi-VN" sz="4400">
                    <a:latin typeface="+mj-lt"/>
                  </a:rPr>
                  <a:t>•</a:t>
                </a:r>
                <a:r>
                  <a:rPr lang="en-US" sz="4400">
                    <a:latin typeface="+mj-lt"/>
                  </a:rPr>
                  <a:t> </a:t>
                </a:r>
                <a:r>
                  <a:rPr lang="vi-VN" sz="4400">
                    <a:latin typeface="+mj-lt"/>
                  </a:rPr>
                  <a:t>Trên khoảng  </a:t>
                </a:r>
                <a14:m>
                  <m:oMath xmlns:m="http://schemas.openxmlformats.org/officeDocument/2006/math">
                    <m:r>
                      <a:rPr lang="en-US" sz="4400" b="0" i="1" smtClean="0">
                        <a:latin typeface="Cambria Math" panose="02040503050406030204" pitchFamily="18" charset="0"/>
                      </a:rPr>
                      <m:t>(0;+∞)</m:t>
                    </m:r>
                  </m:oMath>
                </a14:m>
                <a:r>
                  <a:rPr lang="vi-VN" sz="4400">
                    <a:latin typeface="+mj-lt"/>
                  </a:rPr>
                  <a:t>, đồ thị "đi lên" từ trái sang phải và </a:t>
                </a:r>
                <a:r>
                  <a:rPr lang="en-US" sz="4400">
                    <a:latin typeface="+mj-lt"/>
                  </a:rPr>
                  <a:t>     </a:t>
                </a:r>
                <a:r>
                  <a:rPr lang="vi-VN" sz="4400">
                    <a:latin typeface="+mj-lt"/>
                  </a:rPr>
                  <a:t>với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4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4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4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4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4400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ctrlPr>
                          <a:rPr lang="en-US" sz="4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400" b="0" i="1" smtClean="0">
                            <a:latin typeface="Cambria Math" panose="02040503050406030204" pitchFamily="18" charset="0"/>
                          </a:rPr>
                          <m:t>0;+∞</m:t>
                        </m:r>
                      </m:e>
                    </m:d>
                    <m:r>
                      <a:rPr lang="en-US" sz="4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4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4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4400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sz="4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4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vi-VN" sz="4400">
                    <a:latin typeface="+mj-lt"/>
                  </a:rPr>
                  <a:t> thì </a:t>
                </a:r>
                <a14:m>
                  <m:oMath xmlns:m="http://schemas.openxmlformats.org/officeDocument/2006/math">
                    <m:r>
                      <a:rPr lang="en-US" sz="4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4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4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4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4400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4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44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4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4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4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vi-VN" sz="4400">
                    <a:latin typeface="+mj-lt"/>
                  </a:rPr>
                  <a:t>. Như vậy, hàm số </a:t>
                </a:r>
                <a14:m>
                  <m:oMath xmlns:m="http://schemas.openxmlformats.org/officeDocument/2006/math">
                    <m:r>
                      <a:rPr lang="en-US" sz="4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4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4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4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vi-VN" sz="4400">
                    <a:latin typeface="+mj-lt"/>
                  </a:rPr>
                  <a:t>  đồng biến trên khoảng </a:t>
                </a:r>
                <a14:m>
                  <m:oMath xmlns:m="http://schemas.openxmlformats.org/officeDocument/2006/math">
                    <m:r>
                      <a:rPr lang="en-US" sz="4400" b="0" i="1" smtClean="0">
                        <a:latin typeface="Cambria Math" panose="02040503050406030204" pitchFamily="18" charset="0"/>
                      </a:rPr>
                      <m:t>(0;+∞)</m:t>
                    </m:r>
                  </m:oMath>
                </a14:m>
                <a:r>
                  <a:rPr lang="vi-VN" sz="4400">
                    <a:latin typeface="+mj-lt"/>
                  </a:rPr>
                  <a:t> .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1D94A34-83BC-4152-B027-1DBD5270FF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1" y="5715000"/>
                <a:ext cx="14401800" cy="6103722"/>
              </a:xfrm>
              <a:prstGeom prst="rect">
                <a:avLst/>
              </a:prstGeom>
              <a:blipFill>
                <a:blip r:embed="rId4"/>
                <a:stretch>
                  <a:fillRect l="-1693" r="-423" b="-37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ounded Rectangle 37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   ·   BÀI 15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1277013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8FCA9E0-450B-4BE8-9668-1E66908F1D30}"/>
              </a:ext>
            </a:extLst>
          </p:cNvPr>
          <p:cNvSpPr txBox="1"/>
          <p:nvPr/>
        </p:nvSpPr>
        <p:spPr>
          <a:xfrm>
            <a:off x="1676400" y="3728542"/>
            <a:ext cx="2971800" cy="99129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>
            <a:spAutoFit/>
          </a:bodyPr>
          <a:lstStyle/>
          <a:p>
            <a:pPr marL="22860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6000" b="1">
                <a:solidFill>
                  <a:srgbClr val="FFC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Chú ý</a:t>
            </a:r>
            <a:endParaRPr lang="en-US" sz="6000"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F544DE68-FBAF-4708-B739-A8C365F0805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76400" y="4800600"/>
                <a:ext cx="20193000" cy="6296026"/>
              </a:xfrm>
              <a:prstGeom prst="rect">
                <a:avLst/>
              </a:prstGeom>
              <a:solidFill>
                <a:srgbClr val="E7F7FF"/>
              </a:solidFill>
              <a:ln>
                <a:solidFill>
                  <a:srgbClr val="00B0F0"/>
                </a:solidFill>
              </a:ln>
            </p:spPr>
            <p:txBody>
              <a:bodyPr anchor="ctr"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vi-VN" b="1" i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Đồ thị của một hàm số đồng biến trên khoảng 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(</m:t>
                    </m:r>
                    <m:r>
                      <a:rPr lang="en-US" b="1" i="1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𝒂</m:t>
                    </m:r>
                    <m:r>
                      <a:rPr lang="en-US" b="1" i="1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;</m:t>
                    </m:r>
                    <m:r>
                      <a:rPr lang="en-US" b="1" i="1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𝒃</m:t>
                    </m:r>
                    <m:r>
                      <a:rPr lang="en-US" b="1" i="1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)</m:t>
                    </m:r>
                  </m:oMath>
                </a14:m>
                <a:r>
                  <a:rPr lang="vi-VN" b="1" i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là đường "đi lên" từ trái sang phải;</a:t>
                </a:r>
              </a:p>
              <a:p>
                <a:r>
                  <a:rPr lang="vi-VN" b="1" i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Đồ thị của một hàm số nghịch biến trên khoảng 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(</m:t>
                    </m:r>
                    <m:r>
                      <a:rPr lang="en-US" b="1" i="1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𝒂</m:t>
                    </m:r>
                    <m:r>
                      <a:rPr lang="en-US" b="1" i="1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;</m:t>
                    </m:r>
                    <m:r>
                      <a:rPr lang="en-US" b="1" i="1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𝒃</m:t>
                    </m:r>
                    <m:r>
                      <a:rPr lang="en-US" b="1" i="1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)</m:t>
                    </m:r>
                  </m:oMath>
                </a14:m>
                <a:r>
                  <a:rPr lang="vi-VN" b="1" i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là đường "đi xuống" từ trái sang phải.</a:t>
                </a:r>
              </a:p>
            </p:txBody>
          </p:sp>
        </mc:Choice>
        <mc:Fallback xmlns=""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F544DE68-FBAF-4708-B739-A8C365F080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6400" y="4800600"/>
                <a:ext cx="20193000" cy="6296026"/>
              </a:xfrm>
              <a:prstGeom prst="rect">
                <a:avLst/>
              </a:prstGeom>
              <a:blipFill>
                <a:blip r:embed="rId2"/>
                <a:stretch>
                  <a:fillRect l="-1207" r="-935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>
            <a:extLst>
              <a:ext uri="{FF2B5EF4-FFF2-40B4-BE49-F238E27FC236}">
                <a16:creationId xmlns:a16="http://schemas.microsoft.com/office/drawing/2014/main" id="{40E5FE84-824B-414E-8686-14470CBE42A7}"/>
              </a:ext>
            </a:extLst>
          </p:cNvPr>
          <p:cNvSpPr txBox="1">
            <a:spLocks/>
          </p:cNvSpPr>
          <p:nvPr/>
        </p:nvSpPr>
        <p:spPr>
          <a:xfrm>
            <a:off x="623454" y="2133600"/>
            <a:ext cx="17556480" cy="1059358"/>
          </a:xfrm>
          <a:prstGeom prst="rect">
            <a:avLst/>
          </a:prstGeom>
          <a:solidFill>
            <a:schemeClr val="bg2"/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anchor="ctr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Tomaho"/>
                <a:ea typeface="+mj-ea"/>
                <a:cs typeface="+mj-cs"/>
              </a:defRPr>
            </a:lvl1pPr>
          </a:lstStyle>
          <a:p>
            <a:r>
              <a:rPr lang="en-US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3. SỰ ĐỒNG BIẾN, NGHỊCH BIẾN CỦA HÀM SỐ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   ·   BÀI 15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85081497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561DA75-0082-4BBD-BEE1-E2ACD5917047}"/>
              </a:ext>
            </a:extLst>
          </p:cNvPr>
          <p:cNvGrpSpPr/>
          <p:nvPr/>
        </p:nvGrpSpPr>
        <p:grpSpPr>
          <a:xfrm>
            <a:off x="533400" y="2477534"/>
            <a:ext cx="7696200" cy="1637266"/>
            <a:chOff x="22440" y="59288"/>
            <a:chExt cx="1598059" cy="247672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3BD3623D-9359-487F-8CDC-9AF8D7816FC7}"/>
                </a:ext>
              </a:extLst>
            </p:cNvPr>
            <p:cNvGrpSpPr/>
            <p:nvPr/>
          </p:nvGrpSpPr>
          <p:grpSpPr>
            <a:xfrm>
              <a:off x="22440" y="59288"/>
              <a:ext cx="953655" cy="159667"/>
              <a:chOff x="31572" y="60276"/>
              <a:chExt cx="1341810" cy="197595"/>
            </a:xfrm>
          </p:grpSpPr>
          <p:sp>
            <p:nvSpPr>
              <p:cNvPr id="7" name="Arrow: Pentagon 6">
                <a:extLst>
                  <a:ext uri="{FF2B5EF4-FFF2-40B4-BE49-F238E27FC236}">
                    <a16:creationId xmlns:a16="http://schemas.microsoft.com/office/drawing/2014/main" id="{A2455C10-5511-422A-8343-507554CD6C45}"/>
                  </a:ext>
                </a:extLst>
              </p:cNvPr>
              <p:cNvSpPr/>
              <p:nvPr/>
            </p:nvSpPr>
            <p:spPr>
              <a:xfrm>
                <a:off x="204506" y="61809"/>
                <a:ext cx="1168876" cy="196062"/>
              </a:xfrm>
              <a:prstGeom prst="homePlate">
                <a:avLst/>
              </a:prstGeom>
              <a:solidFill>
                <a:srgbClr val="FCFFEF"/>
              </a:solidFill>
              <a:ln w="12700" cap="flat" cmpd="sng" algn="ctr">
                <a:solidFill>
                  <a:srgbClr val="ED7D31">
                    <a:lumMod val="20000"/>
                    <a:lumOff val="8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>
                  <a:lnSpc>
                    <a:spcPct val="106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1000" b="1" kern="1200">
                    <a:solidFill>
                      <a:srgbClr val="0000CC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endParaRPr lang="en-US" sz="12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" name="Arrow: Chevron 7">
                <a:extLst>
                  <a:ext uri="{FF2B5EF4-FFF2-40B4-BE49-F238E27FC236}">
                    <a16:creationId xmlns:a16="http://schemas.microsoft.com/office/drawing/2014/main" id="{11C69036-8067-4536-BA27-D31082576331}"/>
                  </a:ext>
                </a:extLst>
              </p:cNvPr>
              <p:cNvSpPr/>
              <p:nvPr/>
            </p:nvSpPr>
            <p:spPr>
              <a:xfrm>
                <a:off x="31572" y="60341"/>
                <a:ext cx="162630" cy="196062"/>
              </a:xfrm>
              <a:prstGeom prst="chevron">
                <a:avLst/>
              </a:prstGeom>
              <a:solidFill>
                <a:srgbClr val="447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" name="Arrow: Chevron 8">
                <a:extLst>
                  <a:ext uri="{FF2B5EF4-FFF2-40B4-BE49-F238E27FC236}">
                    <a16:creationId xmlns:a16="http://schemas.microsoft.com/office/drawing/2014/main" id="{FBBE2718-9F08-4686-A615-75C3AC519082}"/>
                  </a:ext>
                </a:extLst>
              </p:cNvPr>
              <p:cNvSpPr/>
              <p:nvPr/>
            </p:nvSpPr>
            <p:spPr>
              <a:xfrm>
                <a:off x="116273" y="60276"/>
                <a:ext cx="176766" cy="196062"/>
              </a:xfrm>
              <a:prstGeom prst="chevron">
                <a:avLst/>
              </a:prstGeom>
              <a:solidFill>
                <a:srgbClr val="FFC00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6" name="TextBox 56">
              <a:extLst>
                <a:ext uri="{FF2B5EF4-FFF2-40B4-BE49-F238E27FC236}">
                  <a16:creationId xmlns:a16="http://schemas.microsoft.com/office/drawing/2014/main" id="{EDE1D979-89E1-406E-86B2-617B63442BA0}"/>
                </a:ext>
              </a:extLst>
            </p:cNvPr>
            <p:cNvSpPr txBox="1"/>
            <p:nvPr/>
          </p:nvSpPr>
          <p:spPr>
            <a:xfrm>
              <a:off x="198224" y="76422"/>
              <a:ext cx="1422275" cy="230538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5400" b="1" kern="1200">
                  <a:solidFill>
                    <a:srgbClr val="0000CC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Luyện tập 3.</a:t>
              </a:r>
              <a:endParaRPr lang="en-US" sz="54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Content Placeholder 2">
                <a:extLst>
                  <a:ext uri="{FF2B5EF4-FFF2-40B4-BE49-F238E27FC236}">
                    <a16:creationId xmlns:a16="http://schemas.microsoft.com/office/drawing/2014/main" id="{37E79B26-82F4-4623-8CAC-F23C6894289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15162" y="3665203"/>
                <a:ext cx="22730638" cy="7575776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 anchor="ctr"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5400" b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   Vẽ đồ thị của hàm số  </a:t>
                </a:r>
                <a14:m>
                  <m:oMath xmlns:m="http://schemas.openxmlformats.org/officeDocument/2006/math">
                    <m:r>
                      <a:rPr lang="en-US" sz="5400" b="1" i="1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𝒚</m:t>
                    </m:r>
                    <m:r>
                      <a:rPr lang="en-US" sz="5400" b="1" i="1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=</m:t>
                    </m:r>
                    <m:r>
                      <a:rPr lang="en-US" sz="5400" b="1" i="1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𝟑</m:t>
                    </m:r>
                    <m:r>
                      <a:rPr lang="en-US" sz="5400" b="1" i="1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𝒙</m:t>
                    </m:r>
                    <m:r>
                      <a:rPr lang="en-US" sz="5400" b="1" i="1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+</m:t>
                    </m:r>
                    <m:r>
                      <a:rPr lang="en-US" sz="5400" b="1" i="1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𝟏</m:t>
                    </m:r>
                  </m:oMath>
                </a14:m>
                <a:r>
                  <a:rPr lang="en-US" sz="5400" b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và </a:t>
                </a:r>
                <a14:m>
                  <m:oMath xmlns:m="http://schemas.openxmlformats.org/officeDocument/2006/math">
                    <m:r>
                      <a:rPr lang="en-US" sz="5400" b="1" i="1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𝒚</m:t>
                    </m:r>
                    <m:r>
                      <a:rPr lang="en-US" sz="5400" b="1" i="1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=−</m:t>
                    </m:r>
                    <m:r>
                      <a:rPr lang="en-US" sz="5400" b="1" i="1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𝟐</m:t>
                    </m:r>
                    <m:sSup>
                      <m:sSupPr>
                        <m:ctrlPr>
                          <a:rPr lang="en-US" sz="5400" b="1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</m:ctrlPr>
                      </m:sSupPr>
                      <m:e>
                        <m:r>
                          <a:rPr lang="en-US" sz="5400" b="1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𝒙</m:t>
                        </m:r>
                      </m:e>
                      <m:sup>
                        <m:r>
                          <a:rPr lang="en-US" sz="5400" b="1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sz="5400" b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Hãy cho biết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5400" b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a) Hàm số </a:t>
                </a:r>
                <a14:m>
                  <m:oMath xmlns:m="http://schemas.openxmlformats.org/officeDocument/2006/math">
                    <m:r>
                      <a:rPr lang="en-US" sz="5400" b="1" i="1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𝒚</m:t>
                    </m:r>
                    <m:r>
                      <a:rPr lang="en-US" sz="5400" b="1" i="1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=</m:t>
                    </m:r>
                    <m:r>
                      <a:rPr lang="en-US" sz="5400" b="1" i="1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𝟑</m:t>
                    </m:r>
                    <m:r>
                      <a:rPr lang="en-US" sz="5400" b="1" i="1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𝒙</m:t>
                    </m:r>
                    <m:r>
                      <a:rPr lang="en-US" sz="5400" b="1" i="1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+</m:t>
                    </m:r>
                    <m:r>
                      <a:rPr lang="en-US" sz="5400" b="1" i="1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𝟏</m:t>
                    </m:r>
                  </m:oMath>
                </a14:m>
                <a:r>
                  <a:rPr lang="en-US" sz="5400" b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đồng biến hay nghịch biến trên </a:t>
                </a:r>
                <a14:m>
                  <m:oMath xmlns:m="http://schemas.openxmlformats.org/officeDocument/2006/math">
                    <m:r>
                      <a:rPr lang="en-US" sz="5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ahoma" panose="020B0604030504040204" pitchFamily="34" charset="0"/>
                      </a:rPr>
                      <m:t>ℝ</m:t>
                    </m:r>
                  </m:oMath>
                </a14:m>
                <a:r>
                  <a:rPr lang="en-US" sz="5400" b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5400" b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b)  Hàm số </a:t>
                </a:r>
                <a14:m>
                  <m:oMath xmlns:m="http://schemas.openxmlformats.org/officeDocument/2006/math">
                    <m:r>
                      <a:rPr lang="en-US" sz="5400" b="1" i="1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𝒚</m:t>
                    </m:r>
                    <m:r>
                      <a:rPr lang="en-US" sz="5400" b="1" i="1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=−</m:t>
                    </m:r>
                    <m:r>
                      <a:rPr lang="en-US" sz="5400" b="1" i="1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𝟐</m:t>
                    </m:r>
                    <m:sSup>
                      <m:sSupPr>
                        <m:ctrlPr>
                          <a:rPr lang="en-US" sz="5400" b="1" i="1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</m:ctrlPr>
                      </m:sSupPr>
                      <m:e>
                        <m:r>
                          <a:rPr lang="en-US" sz="5400" b="1" i="1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𝒙</m:t>
                        </m:r>
                      </m:e>
                      <m:sup>
                        <m:r>
                          <a:rPr lang="en-US" sz="5400" b="1" i="1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sz="5400" b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đồng biến hay nghịch biến trên mỗi khoảng: </a:t>
                </a:r>
                <a14:m>
                  <m:oMath xmlns:m="http://schemas.openxmlformats.org/officeDocument/2006/math">
                    <m:r>
                      <a:rPr lang="en-US" sz="5400" b="1" i="1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(−∞;</m:t>
                    </m:r>
                    <m:r>
                      <a:rPr lang="en-US" sz="5400" b="1" i="1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𝟎</m:t>
                    </m:r>
                    <m:r>
                      <a:rPr lang="en-US" sz="5400" b="1" i="1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)</m:t>
                    </m:r>
                  </m:oMath>
                </a14:m>
                <a:r>
                  <a:rPr lang="en-US" sz="5400" b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và </a:t>
                </a:r>
                <a14:m>
                  <m:oMath xmlns:m="http://schemas.openxmlformats.org/officeDocument/2006/math">
                    <m:r>
                      <a:rPr lang="en-US" sz="5400" b="1" i="1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(</m:t>
                    </m:r>
                    <m:r>
                      <a:rPr lang="en-US" sz="5400" b="1" i="1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𝟎</m:t>
                    </m:r>
                    <m:r>
                      <a:rPr lang="en-US" sz="5400" b="1" i="1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;+∞)</m:t>
                    </m:r>
                  </m:oMath>
                </a14:m>
                <a:r>
                  <a:rPr lang="en-US" sz="5400" b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5" name="Content Placeholder 2">
                <a:extLst>
                  <a:ext uri="{FF2B5EF4-FFF2-40B4-BE49-F238E27FC236}">
                    <a16:creationId xmlns:a16="http://schemas.microsoft.com/office/drawing/2014/main" id="{37E79B26-82F4-4623-8CAC-F23C689428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162" y="3665203"/>
                <a:ext cx="22730638" cy="7575776"/>
              </a:xfrm>
              <a:prstGeom prst="rect">
                <a:avLst/>
              </a:prstGeom>
              <a:blipFill>
                <a:blip r:embed="rId2"/>
                <a:stretch>
                  <a:fillRect l="-1421" r="-1045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Rounded Rectangle 36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   ·   BÀI 15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223155647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561DA75-0082-4BBD-BEE1-E2ACD5917047}"/>
              </a:ext>
            </a:extLst>
          </p:cNvPr>
          <p:cNvGrpSpPr/>
          <p:nvPr/>
        </p:nvGrpSpPr>
        <p:grpSpPr>
          <a:xfrm>
            <a:off x="533400" y="2446002"/>
            <a:ext cx="6727081" cy="1219200"/>
            <a:chOff x="22440" y="54518"/>
            <a:chExt cx="1598059" cy="252442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3BD3623D-9359-487F-8CDC-9AF8D7816FC7}"/>
                </a:ext>
              </a:extLst>
            </p:cNvPr>
            <p:cNvGrpSpPr/>
            <p:nvPr/>
          </p:nvGrpSpPr>
          <p:grpSpPr>
            <a:xfrm>
              <a:off x="22440" y="59288"/>
              <a:ext cx="953655" cy="159667"/>
              <a:chOff x="31572" y="60276"/>
              <a:chExt cx="1341810" cy="197595"/>
            </a:xfrm>
          </p:grpSpPr>
          <p:sp>
            <p:nvSpPr>
              <p:cNvPr id="7" name="Arrow: Pentagon 6">
                <a:extLst>
                  <a:ext uri="{FF2B5EF4-FFF2-40B4-BE49-F238E27FC236}">
                    <a16:creationId xmlns:a16="http://schemas.microsoft.com/office/drawing/2014/main" id="{A2455C10-5511-422A-8343-507554CD6C45}"/>
                  </a:ext>
                </a:extLst>
              </p:cNvPr>
              <p:cNvSpPr/>
              <p:nvPr/>
            </p:nvSpPr>
            <p:spPr>
              <a:xfrm>
                <a:off x="204506" y="61809"/>
                <a:ext cx="1168876" cy="196062"/>
              </a:xfrm>
              <a:prstGeom prst="homePlate">
                <a:avLst/>
              </a:prstGeom>
              <a:solidFill>
                <a:srgbClr val="FCFFEF"/>
              </a:solidFill>
              <a:ln w="12700" cap="flat" cmpd="sng" algn="ctr">
                <a:solidFill>
                  <a:srgbClr val="ED7D31">
                    <a:lumMod val="20000"/>
                    <a:lumOff val="8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>
                  <a:lnSpc>
                    <a:spcPct val="106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1000" b="1" kern="1200">
                    <a:solidFill>
                      <a:srgbClr val="0000CC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endParaRPr lang="en-US" sz="12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" name="Arrow: Chevron 7">
                <a:extLst>
                  <a:ext uri="{FF2B5EF4-FFF2-40B4-BE49-F238E27FC236}">
                    <a16:creationId xmlns:a16="http://schemas.microsoft.com/office/drawing/2014/main" id="{11C69036-8067-4536-BA27-D31082576331}"/>
                  </a:ext>
                </a:extLst>
              </p:cNvPr>
              <p:cNvSpPr/>
              <p:nvPr/>
            </p:nvSpPr>
            <p:spPr>
              <a:xfrm>
                <a:off x="31572" y="60341"/>
                <a:ext cx="162630" cy="196062"/>
              </a:xfrm>
              <a:prstGeom prst="chevron">
                <a:avLst/>
              </a:prstGeom>
              <a:solidFill>
                <a:srgbClr val="447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" name="Arrow: Chevron 8">
                <a:extLst>
                  <a:ext uri="{FF2B5EF4-FFF2-40B4-BE49-F238E27FC236}">
                    <a16:creationId xmlns:a16="http://schemas.microsoft.com/office/drawing/2014/main" id="{FBBE2718-9F08-4686-A615-75C3AC519082}"/>
                  </a:ext>
                </a:extLst>
              </p:cNvPr>
              <p:cNvSpPr/>
              <p:nvPr/>
            </p:nvSpPr>
            <p:spPr>
              <a:xfrm>
                <a:off x="116273" y="60276"/>
                <a:ext cx="176766" cy="196062"/>
              </a:xfrm>
              <a:prstGeom prst="chevron">
                <a:avLst/>
              </a:prstGeom>
              <a:solidFill>
                <a:srgbClr val="FFC00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6" name="TextBox 56">
              <a:extLst>
                <a:ext uri="{FF2B5EF4-FFF2-40B4-BE49-F238E27FC236}">
                  <a16:creationId xmlns:a16="http://schemas.microsoft.com/office/drawing/2014/main" id="{EDE1D979-89E1-406E-86B2-617B63442BA0}"/>
                </a:ext>
              </a:extLst>
            </p:cNvPr>
            <p:cNvSpPr txBox="1"/>
            <p:nvPr/>
          </p:nvSpPr>
          <p:spPr>
            <a:xfrm>
              <a:off x="198224" y="54518"/>
              <a:ext cx="1422275" cy="252442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4800" b="1" kern="1200">
                  <a:solidFill>
                    <a:srgbClr val="0000CC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Luyện tập 3.</a:t>
              </a:r>
              <a:endParaRPr lang="en-US" sz="48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B3ECFCF0-AE5B-48CC-902F-DA17E01EF09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6306800" y="3505200"/>
            <a:ext cx="7189470" cy="96774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5" name="Content Placeholder 2">
                <a:extLst>
                  <a:ext uri="{FF2B5EF4-FFF2-40B4-BE49-F238E27FC236}">
                    <a16:creationId xmlns:a16="http://schemas.microsoft.com/office/drawing/2014/main" id="{37E79B26-82F4-4623-8CAC-F23C6894289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81000" y="3505200"/>
                <a:ext cx="17526000" cy="2202392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 anchor="ctr"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540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Vẽ đồ thị của hàm số  </a:t>
                </a:r>
                <a14:m>
                  <m:oMath xmlns:m="http://schemas.openxmlformats.org/officeDocument/2006/math">
                    <m:r>
                      <a:rPr lang="en-US" sz="5400" b="0" i="1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𝑦</m:t>
                    </m:r>
                    <m:r>
                      <a:rPr lang="en-US" sz="5400" b="0" i="1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=3</m:t>
                    </m:r>
                    <m:r>
                      <a:rPr lang="en-US" sz="5400" b="0" i="1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𝑥</m:t>
                    </m:r>
                    <m:r>
                      <a:rPr lang="en-US" sz="5400" b="0" i="1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+1</m:t>
                    </m:r>
                  </m:oMath>
                </a14:m>
                <a:r>
                  <a:rPr lang="en-US" sz="540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540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a) Hàm số </a:t>
                </a:r>
                <a14:m>
                  <m:oMath xmlns:m="http://schemas.openxmlformats.org/officeDocument/2006/math">
                    <m:r>
                      <a:rPr lang="en-US" sz="5400" b="0" i="1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𝑦</m:t>
                    </m:r>
                    <m:r>
                      <a:rPr lang="en-US" sz="5400" b="0" i="1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=3</m:t>
                    </m:r>
                    <m:r>
                      <a:rPr lang="en-US" sz="5400" b="0" i="1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𝑥</m:t>
                    </m:r>
                    <m:r>
                      <a:rPr lang="en-US" sz="5400" b="0" i="1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+1</m:t>
                    </m:r>
                  </m:oMath>
                </a14:m>
                <a:r>
                  <a:rPr lang="en-US" sz="540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đồng biến hay nghịch biến trên </a:t>
                </a:r>
                <a14:m>
                  <m:oMath xmlns:m="http://schemas.openxmlformats.org/officeDocument/2006/math">
                    <m:r>
                      <a:rPr lang="en-US" sz="5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ahoma" panose="020B0604030504040204" pitchFamily="34" charset="0"/>
                      </a:rPr>
                      <m:t>ℝ</m:t>
                    </m:r>
                  </m:oMath>
                </a14:m>
                <a:r>
                  <a:rPr lang="en-US" sz="540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5" name="Content Placeholder 2">
                <a:extLst>
                  <a:ext uri="{FF2B5EF4-FFF2-40B4-BE49-F238E27FC236}">
                    <a16:creationId xmlns:a16="http://schemas.microsoft.com/office/drawing/2014/main" id="{37E79B26-82F4-4623-8CAC-F23C689428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3505200"/>
                <a:ext cx="17526000" cy="2202392"/>
              </a:xfrm>
              <a:prstGeom prst="rect">
                <a:avLst/>
              </a:prstGeom>
              <a:blipFill>
                <a:blip r:embed="rId3"/>
                <a:stretch>
                  <a:fillRect l="-1842" t="-3306" r="-1008" b="-11295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D19EE79-81E5-4661-BC8D-F9D424895934}"/>
                  </a:ext>
                </a:extLst>
              </p:cNvPr>
              <p:cNvSpPr txBox="1"/>
              <p:nvPr/>
            </p:nvSpPr>
            <p:spPr>
              <a:xfrm>
                <a:off x="887730" y="9753600"/>
                <a:ext cx="12190228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540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Hàm số </a:t>
                </a:r>
                <a14:m>
                  <m:oMath xmlns:m="http://schemas.openxmlformats.org/officeDocument/2006/math">
                    <m:r>
                      <a:rPr lang="en-US" sz="5400" b="1" i="1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𝒚</m:t>
                    </m:r>
                    <m:r>
                      <a:rPr lang="en-US" sz="5400" b="1" i="1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=</m:t>
                    </m:r>
                    <m:r>
                      <a:rPr lang="en-US" sz="5400" b="1" i="1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𝟑</m:t>
                    </m:r>
                    <m:r>
                      <a:rPr lang="en-US" sz="5400" b="1" i="1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𝒙</m:t>
                    </m:r>
                    <m:r>
                      <a:rPr lang="en-US" sz="5400" b="1" i="1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+</m:t>
                    </m:r>
                    <m:r>
                      <a:rPr lang="en-US" sz="5400" b="1" i="1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𝟏</m:t>
                    </m:r>
                  </m:oMath>
                </a14:m>
                <a:r>
                  <a:rPr lang="en-US" sz="540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đồng biến trên </a:t>
                </a:r>
                <a14:m>
                  <m:oMath xmlns:m="http://schemas.openxmlformats.org/officeDocument/2006/math">
                    <m:r>
                      <a:rPr lang="en-US" sz="5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ahoma" panose="020B0604030504040204" pitchFamily="34" charset="0"/>
                      </a:rPr>
                      <m:t>ℝ</m:t>
                    </m:r>
                  </m:oMath>
                </a14:m>
                <a:r>
                  <a:rPr lang="en-US" sz="540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D19EE79-81E5-4661-BC8D-F9D4248959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7730" y="9753600"/>
                <a:ext cx="12190228" cy="923330"/>
              </a:xfrm>
              <a:prstGeom prst="rect">
                <a:avLst/>
              </a:prstGeom>
              <a:blipFill>
                <a:blip r:embed="rId4"/>
                <a:stretch>
                  <a:fillRect l="-2701" t="-19868" b="-384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Rounded Rectangle 36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   ·   BÀI 15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326262417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11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561DA75-0082-4BBD-BEE1-E2ACD5917047}"/>
              </a:ext>
            </a:extLst>
          </p:cNvPr>
          <p:cNvGrpSpPr/>
          <p:nvPr/>
        </p:nvGrpSpPr>
        <p:grpSpPr>
          <a:xfrm>
            <a:off x="533400" y="2446002"/>
            <a:ext cx="6727081" cy="1219200"/>
            <a:chOff x="22440" y="54518"/>
            <a:chExt cx="1598059" cy="252442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3BD3623D-9359-487F-8CDC-9AF8D7816FC7}"/>
                </a:ext>
              </a:extLst>
            </p:cNvPr>
            <p:cNvGrpSpPr/>
            <p:nvPr/>
          </p:nvGrpSpPr>
          <p:grpSpPr>
            <a:xfrm>
              <a:off x="22440" y="59288"/>
              <a:ext cx="953655" cy="159667"/>
              <a:chOff x="31572" y="60276"/>
              <a:chExt cx="1341810" cy="197595"/>
            </a:xfrm>
          </p:grpSpPr>
          <p:sp>
            <p:nvSpPr>
              <p:cNvPr id="7" name="Arrow: Pentagon 6">
                <a:extLst>
                  <a:ext uri="{FF2B5EF4-FFF2-40B4-BE49-F238E27FC236}">
                    <a16:creationId xmlns:a16="http://schemas.microsoft.com/office/drawing/2014/main" id="{A2455C10-5511-422A-8343-507554CD6C45}"/>
                  </a:ext>
                </a:extLst>
              </p:cNvPr>
              <p:cNvSpPr/>
              <p:nvPr/>
            </p:nvSpPr>
            <p:spPr>
              <a:xfrm>
                <a:off x="204506" y="61809"/>
                <a:ext cx="1168876" cy="196062"/>
              </a:xfrm>
              <a:prstGeom prst="homePlate">
                <a:avLst/>
              </a:prstGeom>
              <a:solidFill>
                <a:srgbClr val="FCFFEF"/>
              </a:solidFill>
              <a:ln w="12700" cap="flat" cmpd="sng" algn="ctr">
                <a:solidFill>
                  <a:srgbClr val="ED7D31">
                    <a:lumMod val="20000"/>
                    <a:lumOff val="8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>
                  <a:lnSpc>
                    <a:spcPct val="106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1000" b="1" kern="1200">
                    <a:solidFill>
                      <a:srgbClr val="0000CC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endParaRPr lang="en-US" sz="12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" name="Arrow: Chevron 7">
                <a:extLst>
                  <a:ext uri="{FF2B5EF4-FFF2-40B4-BE49-F238E27FC236}">
                    <a16:creationId xmlns:a16="http://schemas.microsoft.com/office/drawing/2014/main" id="{11C69036-8067-4536-BA27-D31082576331}"/>
                  </a:ext>
                </a:extLst>
              </p:cNvPr>
              <p:cNvSpPr/>
              <p:nvPr/>
            </p:nvSpPr>
            <p:spPr>
              <a:xfrm>
                <a:off x="31572" y="60341"/>
                <a:ext cx="162630" cy="196062"/>
              </a:xfrm>
              <a:prstGeom prst="chevron">
                <a:avLst/>
              </a:prstGeom>
              <a:solidFill>
                <a:srgbClr val="447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" name="Arrow: Chevron 8">
                <a:extLst>
                  <a:ext uri="{FF2B5EF4-FFF2-40B4-BE49-F238E27FC236}">
                    <a16:creationId xmlns:a16="http://schemas.microsoft.com/office/drawing/2014/main" id="{FBBE2718-9F08-4686-A615-75C3AC519082}"/>
                  </a:ext>
                </a:extLst>
              </p:cNvPr>
              <p:cNvSpPr/>
              <p:nvPr/>
            </p:nvSpPr>
            <p:spPr>
              <a:xfrm>
                <a:off x="116273" y="60276"/>
                <a:ext cx="176766" cy="196062"/>
              </a:xfrm>
              <a:prstGeom prst="chevron">
                <a:avLst/>
              </a:prstGeom>
              <a:solidFill>
                <a:srgbClr val="FFC00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6" name="TextBox 56">
              <a:extLst>
                <a:ext uri="{FF2B5EF4-FFF2-40B4-BE49-F238E27FC236}">
                  <a16:creationId xmlns:a16="http://schemas.microsoft.com/office/drawing/2014/main" id="{EDE1D979-89E1-406E-86B2-617B63442BA0}"/>
                </a:ext>
              </a:extLst>
            </p:cNvPr>
            <p:cNvSpPr txBox="1"/>
            <p:nvPr/>
          </p:nvSpPr>
          <p:spPr>
            <a:xfrm>
              <a:off x="198224" y="54518"/>
              <a:ext cx="1422275" cy="252442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4800" b="1" kern="1200">
                  <a:solidFill>
                    <a:srgbClr val="0000CC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Luyện tập 3.</a:t>
              </a:r>
              <a:endParaRPr lang="en-US" sz="48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Content Placeholder 2">
                <a:extLst>
                  <a:ext uri="{FF2B5EF4-FFF2-40B4-BE49-F238E27FC236}">
                    <a16:creationId xmlns:a16="http://schemas.microsoft.com/office/drawing/2014/main" id="{37E79B26-82F4-4623-8CAC-F23C6894289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85800" y="3665202"/>
                <a:ext cx="12748438" cy="3802397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 anchor="ctr"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540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Vẽ đồ thị của hàm số  </a:t>
                </a:r>
                <a14:m>
                  <m:oMath xmlns:m="http://schemas.openxmlformats.org/officeDocument/2006/math">
                    <m:r>
                      <a:rPr lang="en-US" sz="5400" b="0" i="1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𝑦</m:t>
                    </m:r>
                    <m:r>
                      <a:rPr lang="en-US" sz="5400" b="0" i="1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=−2</m:t>
                    </m:r>
                    <m:sSup>
                      <m:sSupPr>
                        <m:ctrlPr>
                          <a:rPr lang="en-US" sz="5400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</m:ctrlPr>
                      </m:sSupPr>
                      <m:e>
                        <m:r>
                          <a:rPr lang="en-US" sz="5400" b="0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𝑥</m:t>
                        </m:r>
                      </m:e>
                      <m:sup>
                        <m:r>
                          <a:rPr lang="en-US" sz="5400" b="0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540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540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b)  Hàm số </a:t>
                </a:r>
                <a14:m>
                  <m:oMath xmlns:m="http://schemas.openxmlformats.org/officeDocument/2006/math">
                    <m:r>
                      <a:rPr lang="en-US" sz="5400" b="0" i="1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𝑦</m:t>
                    </m:r>
                    <m:r>
                      <a:rPr lang="en-US" sz="5400" b="0" i="1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=−2</m:t>
                    </m:r>
                    <m:sSup>
                      <m:sSupPr>
                        <m:ctrlPr>
                          <a:rPr lang="en-US" sz="5400" i="1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</m:ctrlPr>
                      </m:sSupPr>
                      <m:e>
                        <m:r>
                          <a:rPr lang="en-US" sz="5400" b="0" i="1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𝑥</m:t>
                        </m:r>
                      </m:e>
                      <m:sup>
                        <m:r>
                          <a:rPr lang="en-US" sz="5400" b="0" i="1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540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đồng biến hay nghịch biến trên mỗi khoảng: </a:t>
                </a:r>
                <a14:m>
                  <m:oMath xmlns:m="http://schemas.openxmlformats.org/officeDocument/2006/math">
                    <m:r>
                      <a:rPr lang="en-US" sz="5400" b="0" i="1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(−∞;0)</m:t>
                    </m:r>
                  </m:oMath>
                </a14:m>
                <a:r>
                  <a:rPr lang="en-US" sz="540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và </a:t>
                </a:r>
                <a14:m>
                  <m:oMath xmlns:m="http://schemas.openxmlformats.org/officeDocument/2006/math">
                    <m:r>
                      <a:rPr lang="en-US" sz="5400" b="0" i="1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(0;+∞)</m:t>
                    </m:r>
                  </m:oMath>
                </a14:m>
                <a:r>
                  <a:rPr lang="en-US" sz="540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5" name="Content Placeholder 2">
                <a:extLst>
                  <a:ext uri="{FF2B5EF4-FFF2-40B4-BE49-F238E27FC236}">
                    <a16:creationId xmlns:a16="http://schemas.microsoft.com/office/drawing/2014/main" id="{37E79B26-82F4-4623-8CAC-F23C689428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3665202"/>
                <a:ext cx="12748438" cy="3802397"/>
              </a:xfrm>
              <a:prstGeom prst="rect">
                <a:avLst/>
              </a:prstGeom>
              <a:blipFill>
                <a:blip r:embed="rId2"/>
                <a:stretch>
                  <a:fillRect l="-2532" t="-2396" r="-2867" b="-7188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64E72DCE-5FC5-4DB7-B302-1441737A7DDA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4630400" y="3657600"/>
            <a:ext cx="8343900" cy="81534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7F3A8F5-B79D-4A64-BBF7-6B2B4661F64E}"/>
                  </a:ext>
                </a:extLst>
              </p:cNvPr>
              <p:cNvSpPr txBox="1"/>
              <p:nvPr/>
            </p:nvSpPr>
            <p:spPr>
              <a:xfrm>
                <a:off x="685800" y="8991600"/>
                <a:ext cx="12877800" cy="17730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540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Hàm số </a:t>
                </a:r>
                <a14:m>
                  <m:oMath xmlns:m="http://schemas.openxmlformats.org/officeDocument/2006/math">
                    <m:r>
                      <a:rPr lang="en-US" sz="5400" b="1" i="1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𝒚</m:t>
                    </m:r>
                    <m:r>
                      <a:rPr lang="en-US" sz="5400" b="1" i="1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=</m:t>
                    </m:r>
                    <m:sSup>
                      <m:sSupPr>
                        <m:ctrlPr>
                          <a:rPr lang="en-US" sz="5400" b="1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</m:ctrlPr>
                      </m:sSupPr>
                      <m:e>
                        <m:r>
                          <a:rPr lang="en-US" sz="5400" b="1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−</m:t>
                        </m:r>
                        <m:r>
                          <a:rPr lang="en-US" sz="5400" b="1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𝟐</m:t>
                        </m:r>
                        <m:r>
                          <a:rPr lang="en-US" sz="5400" b="1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𝒙</m:t>
                        </m:r>
                      </m:e>
                      <m:sup>
                        <m:r>
                          <a:rPr lang="en-US" sz="5400" b="1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sz="540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đồng biến trên </a:t>
                </a:r>
                <a14:m>
                  <m:oMath xmlns:m="http://schemas.openxmlformats.org/officeDocument/2006/math">
                    <m:r>
                      <a:rPr lang="en-US" sz="5400" b="0" i="1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(−∞;0)</m:t>
                    </m:r>
                  </m:oMath>
                </a14:m>
                <a:r>
                  <a:rPr lang="en-US" sz="540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và nghịch biến trên </a:t>
                </a:r>
                <a14:m>
                  <m:oMath xmlns:m="http://schemas.openxmlformats.org/officeDocument/2006/math">
                    <m:r>
                      <a:rPr lang="en-US" sz="5400" b="0" i="1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(0;+∞)</m:t>
                    </m:r>
                  </m:oMath>
                </a14:m>
                <a:r>
                  <a:rPr lang="en-US" sz="540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7F3A8F5-B79D-4A64-BBF7-6B2B4661F6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8991600"/>
                <a:ext cx="12877800" cy="1773049"/>
              </a:xfrm>
              <a:prstGeom prst="rect">
                <a:avLst/>
              </a:prstGeom>
              <a:blipFill>
                <a:blip r:embed="rId4"/>
                <a:stretch>
                  <a:fillRect l="-2557" t="-9278" b="-192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Rounded Rectangle 36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   ·   BÀI 15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285073760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11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E3DEBD0-15CA-4230-B053-17EB2B13AEE9}"/>
              </a:ext>
            </a:extLst>
          </p:cNvPr>
          <p:cNvGrpSpPr/>
          <p:nvPr/>
        </p:nvGrpSpPr>
        <p:grpSpPr>
          <a:xfrm>
            <a:off x="457200" y="2057400"/>
            <a:ext cx="5257800" cy="1171187"/>
            <a:chOff x="22440" y="12281"/>
            <a:chExt cx="1091693" cy="252442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BE2BFAD4-F1D4-4EE8-BFD1-870EF43142DE}"/>
                </a:ext>
              </a:extLst>
            </p:cNvPr>
            <p:cNvGrpSpPr/>
            <p:nvPr/>
          </p:nvGrpSpPr>
          <p:grpSpPr>
            <a:xfrm>
              <a:off x="22440" y="59288"/>
              <a:ext cx="953655" cy="159667"/>
              <a:chOff x="31572" y="60276"/>
              <a:chExt cx="1341810" cy="197595"/>
            </a:xfrm>
          </p:grpSpPr>
          <p:sp>
            <p:nvSpPr>
              <p:cNvPr id="7" name="Arrow: Pentagon 6">
                <a:extLst>
                  <a:ext uri="{FF2B5EF4-FFF2-40B4-BE49-F238E27FC236}">
                    <a16:creationId xmlns:a16="http://schemas.microsoft.com/office/drawing/2014/main" id="{D7C308FE-C99B-4101-A96D-FC0DD5A17F1E}"/>
                  </a:ext>
                </a:extLst>
              </p:cNvPr>
              <p:cNvSpPr/>
              <p:nvPr/>
            </p:nvSpPr>
            <p:spPr>
              <a:xfrm>
                <a:off x="204506" y="61809"/>
                <a:ext cx="1168876" cy="196062"/>
              </a:xfrm>
              <a:prstGeom prst="homePlate">
                <a:avLst/>
              </a:prstGeom>
              <a:solidFill>
                <a:srgbClr val="FCFFEF"/>
              </a:solidFill>
              <a:ln w="12700" cap="flat" cmpd="sng" algn="ctr">
                <a:solidFill>
                  <a:srgbClr val="ED7D31">
                    <a:lumMod val="20000"/>
                    <a:lumOff val="8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>
                  <a:lnSpc>
                    <a:spcPct val="106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1000" b="1" kern="1200">
                    <a:solidFill>
                      <a:srgbClr val="0000CC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endParaRPr lang="en-US" sz="12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" name="Arrow: Chevron 7">
                <a:extLst>
                  <a:ext uri="{FF2B5EF4-FFF2-40B4-BE49-F238E27FC236}">
                    <a16:creationId xmlns:a16="http://schemas.microsoft.com/office/drawing/2014/main" id="{A724397D-E273-4AC4-B2C5-1183D9C0DD88}"/>
                  </a:ext>
                </a:extLst>
              </p:cNvPr>
              <p:cNvSpPr/>
              <p:nvPr/>
            </p:nvSpPr>
            <p:spPr>
              <a:xfrm>
                <a:off x="31572" y="60341"/>
                <a:ext cx="162630" cy="196062"/>
              </a:xfrm>
              <a:prstGeom prst="chevron">
                <a:avLst/>
              </a:prstGeom>
              <a:solidFill>
                <a:srgbClr val="447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" name="Arrow: Chevron 8">
                <a:extLst>
                  <a:ext uri="{FF2B5EF4-FFF2-40B4-BE49-F238E27FC236}">
                    <a16:creationId xmlns:a16="http://schemas.microsoft.com/office/drawing/2014/main" id="{65B3B00C-BAC0-4E5C-A52D-35F934CE6C4B}"/>
                  </a:ext>
                </a:extLst>
              </p:cNvPr>
              <p:cNvSpPr/>
              <p:nvPr/>
            </p:nvSpPr>
            <p:spPr>
              <a:xfrm>
                <a:off x="116273" y="60276"/>
                <a:ext cx="176766" cy="196062"/>
              </a:xfrm>
              <a:prstGeom prst="chevron">
                <a:avLst/>
              </a:prstGeom>
              <a:solidFill>
                <a:srgbClr val="FFC00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6" name="TextBox 56">
              <a:extLst>
                <a:ext uri="{FF2B5EF4-FFF2-40B4-BE49-F238E27FC236}">
                  <a16:creationId xmlns:a16="http://schemas.microsoft.com/office/drawing/2014/main" id="{EAA9907C-71A2-4344-8259-05EA103C90A8}"/>
                </a:ext>
              </a:extLst>
            </p:cNvPr>
            <p:cNvSpPr txBox="1"/>
            <p:nvPr/>
          </p:nvSpPr>
          <p:spPr>
            <a:xfrm>
              <a:off x="208271" y="12281"/>
              <a:ext cx="905862" cy="252442"/>
            </a:xfrm>
            <a:prstGeom prst="rect">
              <a:avLst/>
            </a:prstGeom>
            <a:noFill/>
          </p:spPr>
          <p:txBody>
            <a:bodyPr wrap="square" anchor="ctr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4800" b="1" kern="1200">
                  <a:solidFill>
                    <a:srgbClr val="0000CC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Vận dụng 2.</a:t>
              </a:r>
              <a:endParaRPr lang="en-US" sz="66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CC8272D4-822B-45F5-A1CB-9AA4689B659C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34800" y="5164498"/>
            <a:ext cx="11201400" cy="770536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74CAB7D2-A4AA-451D-A18A-D0E78C8D65F0}"/>
              </a:ext>
            </a:extLst>
          </p:cNvPr>
          <p:cNvSpPr txBox="1">
            <a:spLocks/>
          </p:cNvSpPr>
          <p:nvPr/>
        </p:nvSpPr>
        <p:spPr>
          <a:xfrm>
            <a:off x="735538" y="3262837"/>
            <a:ext cx="22124462" cy="1901660"/>
          </a:xfrm>
          <a:prstGeom prst="rect">
            <a:avLst/>
          </a:prstGeom>
          <a:solidFill>
            <a:srgbClr val="D6F7FE"/>
          </a:solidFill>
          <a:ln>
            <a:solidFill>
              <a:srgbClr val="00B0F0"/>
            </a:solidFill>
          </a:ln>
        </p:spPr>
        <p:txBody>
          <a:bodyPr anchor="ctr"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54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Quan sát bảng giá cước taxi bốn chỗ trong Hình 6.7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842E107-1FF8-4909-816B-465DE60CB95E}"/>
              </a:ext>
            </a:extLst>
          </p:cNvPr>
          <p:cNvSpPr txBox="1">
            <a:spLocks/>
          </p:cNvSpPr>
          <p:nvPr/>
        </p:nvSpPr>
        <p:spPr>
          <a:xfrm>
            <a:off x="735537" y="5198746"/>
            <a:ext cx="10999263" cy="7983853"/>
          </a:xfrm>
          <a:prstGeom prst="rect">
            <a:avLst/>
          </a:prstGeom>
          <a:solidFill>
            <a:srgbClr val="D6F7FE"/>
          </a:solidFill>
          <a:ln>
            <a:solidFill>
              <a:srgbClr val="00B0F0"/>
            </a:solidFill>
          </a:ln>
        </p:spPr>
        <p:txBody>
          <a:bodyPr anchor="ctr"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54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a, Tính số tiền phải trả khi di chuyển 25 km.</a:t>
            </a:r>
          </a:p>
          <a:p>
            <a:pPr marL="0" indent="0">
              <a:buNone/>
            </a:pPr>
            <a:r>
              <a:rPr lang="en-US" sz="54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b, Lập công thức tính số tiền cước taxi phải trả theo kilomet số di chuyển.</a:t>
            </a:r>
          </a:p>
          <a:p>
            <a:pPr marL="0" indent="0">
              <a:buNone/>
            </a:pPr>
            <a:r>
              <a:rPr lang="en-US" sz="54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c, Vẽ đồ thị và cho biết hàm số đồng biến trên khoảng nào, nghịch biến trên khoảng nào.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   ·   BÀI 15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83036069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E3DEBD0-15CA-4230-B053-17EB2B13AEE9}"/>
              </a:ext>
            </a:extLst>
          </p:cNvPr>
          <p:cNvGrpSpPr/>
          <p:nvPr/>
        </p:nvGrpSpPr>
        <p:grpSpPr>
          <a:xfrm>
            <a:off x="457200" y="2057400"/>
            <a:ext cx="5257800" cy="1171187"/>
            <a:chOff x="22440" y="12281"/>
            <a:chExt cx="1091693" cy="252442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BE2BFAD4-F1D4-4EE8-BFD1-870EF43142DE}"/>
                </a:ext>
              </a:extLst>
            </p:cNvPr>
            <p:cNvGrpSpPr/>
            <p:nvPr/>
          </p:nvGrpSpPr>
          <p:grpSpPr>
            <a:xfrm>
              <a:off x="22440" y="59288"/>
              <a:ext cx="953655" cy="159667"/>
              <a:chOff x="31572" y="60276"/>
              <a:chExt cx="1341810" cy="197595"/>
            </a:xfrm>
          </p:grpSpPr>
          <p:sp>
            <p:nvSpPr>
              <p:cNvPr id="7" name="Arrow: Pentagon 6">
                <a:extLst>
                  <a:ext uri="{FF2B5EF4-FFF2-40B4-BE49-F238E27FC236}">
                    <a16:creationId xmlns:a16="http://schemas.microsoft.com/office/drawing/2014/main" id="{D7C308FE-C99B-4101-A96D-FC0DD5A17F1E}"/>
                  </a:ext>
                </a:extLst>
              </p:cNvPr>
              <p:cNvSpPr/>
              <p:nvPr/>
            </p:nvSpPr>
            <p:spPr>
              <a:xfrm>
                <a:off x="204506" y="61809"/>
                <a:ext cx="1168876" cy="196062"/>
              </a:xfrm>
              <a:prstGeom prst="homePlate">
                <a:avLst/>
              </a:prstGeom>
              <a:solidFill>
                <a:srgbClr val="FCFFEF"/>
              </a:solidFill>
              <a:ln w="12700" cap="flat" cmpd="sng" algn="ctr">
                <a:solidFill>
                  <a:srgbClr val="ED7D31">
                    <a:lumMod val="20000"/>
                    <a:lumOff val="8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>
                  <a:lnSpc>
                    <a:spcPct val="106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1000" b="1" kern="1200">
                    <a:solidFill>
                      <a:srgbClr val="0000CC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endParaRPr lang="en-US" sz="12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" name="Arrow: Chevron 7">
                <a:extLst>
                  <a:ext uri="{FF2B5EF4-FFF2-40B4-BE49-F238E27FC236}">
                    <a16:creationId xmlns:a16="http://schemas.microsoft.com/office/drawing/2014/main" id="{A724397D-E273-4AC4-B2C5-1183D9C0DD88}"/>
                  </a:ext>
                </a:extLst>
              </p:cNvPr>
              <p:cNvSpPr/>
              <p:nvPr/>
            </p:nvSpPr>
            <p:spPr>
              <a:xfrm>
                <a:off x="31572" y="60341"/>
                <a:ext cx="162630" cy="196062"/>
              </a:xfrm>
              <a:prstGeom prst="chevron">
                <a:avLst/>
              </a:prstGeom>
              <a:solidFill>
                <a:srgbClr val="447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" name="Arrow: Chevron 8">
                <a:extLst>
                  <a:ext uri="{FF2B5EF4-FFF2-40B4-BE49-F238E27FC236}">
                    <a16:creationId xmlns:a16="http://schemas.microsoft.com/office/drawing/2014/main" id="{65B3B00C-BAC0-4E5C-A52D-35F934CE6C4B}"/>
                  </a:ext>
                </a:extLst>
              </p:cNvPr>
              <p:cNvSpPr/>
              <p:nvPr/>
            </p:nvSpPr>
            <p:spPr>
              <a:xfrm>
                <a:off x="116273" y="60276"/>
                <a:ext cx="176766" cy="196062"/>
              </a:xfrm>
              <a:prstGeom prst="chevron">
                <a:avLst/>
              </a:prstGeom>
              <a:solidFill>
                <a:srgbClr val="FFC00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6" name="TextBox 56">
              <a:extLst>
                <a:ext uri="{FF2B5EF4-FFF2-40B4-BE49-F238E27FC236}">
                  <a16:creationId xmlns:a16="http://schemas.microsoft.com/office/drawing/2014/main" id="{EAA9907C-71A2-4344-8259-05EA103C90A8}"/>
                </a:ext>
              </a:extLst>
            </p:cNvPr>
            <p:cNvSpPr txBox="1"/>
            <p:nvPr/>
          </p:nvSpPr>
          <p:spPr>
            <a:xfrm>
              <a:off x="208271" y="12281"/>
              <a:ext cx="905862" cy="252442"/>
            </a:xfrm>
            <a:prstGeom prst="rect">
              <a:avLst/>
            </a:prstGeom>
            <a:noFill/>
          </p:spPr>
          <p:txBody>
            <a:bodyPr wrap="square" anchor="ctr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4800" b="1" kern="1200">
                  <a:solidFill>
                    <a:srgbClr val="0000CC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Vận dụng 2.</a:t>
              </a:r>
              <a:endParaRPr lang="en-US" sz="66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A842E107-1FF8-4909-816B-465DE60CB95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85800" y="3211731"/>
                <a:ext cx="22346003" cy="3112869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 anchor="ctr"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5400" i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a, Số tiền phải trả khi di chuyển 25 km là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5400" b="0" i="1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10000+</m:t>
                    </m:r>
                    <m:d>
                      <m:dPr>
                        <m:ctrlPr>
                          <a:rPr lang="en-US" sz="5400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</m:ctrlPr>
                      </m:dPr>
                      <m:e>
                        <m:r>
                          <a:rPr lang="en-US" sz="5400" b="0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24−0,6</m:t>
                        </m:r>
                      </m:e>
                    </m:d>
                    <m:r>
                      <a:rPr lang="en-US" sz="5400" b="0" i="1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.13000+11000=325200</m:t>
                    </m:r>
                  </m:oMath>
                </a14:m>
                <a:r>
                  <a:rPr lang="en-US" sz="5400" i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(nghìn đồng)</a:t>
                </a:r>
              </a:p>
            </p:txBody>
          </p:sp>
        </mc:Choice>
        <mc:Fallback xmlns="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A842E107-1FF8-4909-816B-465DE60CB9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3211731"/>
                <a:ext cx="22346003" cy="3112869"/>
              </a:xfrm>
              <a:prstGeom prst="rect">
                <a:avLst/>
              </a:prstGeom>
              <a:blipFill>
                <a:blip r:embed="rId2"/>
                <a:stretch>
                  <a:fillRect l="-1445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CC8272D4-822B-45F5-A1CB-9AA4689B659C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96800" y="6324600"/>
            <a:ext cx="10439400" cy="6934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Rounded Rectangle 18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   ·   BÀI 15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294538220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E3DEBD0-15CA-4230-B053-17EB2B13AEE9}"/>
              </a:ext>
            </a:extLst>
          </p:cNvPr>
          <p:cNvGrpSpPr/>
          <p:nvPr/>
        </p:nvGrpSpPr>
        <p:grpSpPr>
          <a:xfrm>
            <a:off x="457200" y="2057400"/>
            <a:ext cx="5257800" cy="1171187"/>
            <a:chOff x="22440" y="12281"/>
            <a:chExt cx="1091693" cy="252442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BE2BFAD4-F1D4-4EE8-BFD1-870EF43142DE}"/>
                </a:ext>
              </a:extLst>
            </p:cNvPr>
            <p:cNvGrpSpPr/>
            <p:nvPr/>
          </p:nvGrpSpPr>
          <p:grpSpPr>
            <a:xfrm>
              <a:off x="22440" y="59288"/>
              <a:ext cx="953655" cy="159667"/>
              <a:chOff x="31572" y="60276"/>
              <a:chExt cx="1341810" cy="197595"/>
            </a:xfrm>
          </p:grpSpPr>
          <p:sp>
            <p:nvSpPr>
              <p:cNvPr id="7" name="Arrow: Pentagon 6">
                <a:extLst>
                  <a:ext uri="{FF2B5EF4-FFF2-40B4-BE49-F238E27FC236}">
                    <a16:creationId xmlns:a16="http://schemas.microsoft.com/office/drawing/2014/main" id="{D7C308FE-C99B-4101-A96D-FC0DD5A17F1E}"/>
                  </a:ext>
                </a:extLst>
              </p:cNvPr>
              <p:cNvSpPr/>
              <p:nvPr/>
            </p:nvSpPr>
            <p:spPr>
              <a:xfrm>
                <a:off x="204506" y="61809"/>
                <a:ext cx="1168876" cy="196062"/>
              </a:xfrm>
              <a:prstGeom prst="homePlate">
                <a:avLst/>
              </a:prstGeom>
              <a:solidFill>
                <a:srgbClr val="FCFFEF"/>
              </a:solidFill>
              <a:ln w="12700" cap="flat" cmpd="sng" algn="ctr">
                <a:solidFill>
                  <a:srgbClr val="ED7D31">
                    <a:lumMod val="20000"/>
                    <a:lumOff val="8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>
                  <a:lnSpc>
                    <a:spcPct val="106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1000" b="1" kern="1200">
                    <a:solidFill>
                      <a:srgbClr val="0000CC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endParaRPr lang="en-US" sz="12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" name="Arrow: Chevron 7">
                <a:extLst>
                  <a:ext uri="{FF2B5EF4-FFF2-40B4-BE49-F238E27FC236}">
                    <a16:creationId xmlns:a16="http://schemas.microsoft.com/office/drawing/2014/main" id="{A724397D-E273-4AC4-B2C5-1183D9C0DD88}"/>
                  </a:ext>
                </a:extLst>
              </p:cNvPr>
              <p:cNvSpPr/>
              <p:nvPr/>
            </p:nvSpPr>
            <p:spPr>
              <a:xfrm>
                <a:off x="31572" y="60341"/>
                <a:ext cx="162630" cy="196062"/>
              </a:xfrm>
              <a:prstGeom prst="chevron">
                <a:avLst/>
              </a:prstGeom>
              <a:solidFill>
                <a:srgbClr val="447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" name="Arrow: Chevron 8">
                <a:extLst>
                  <a:ext uri="{FF2B5EF4-FFF2-40B4-BE49-F238E27FC236}">
                    <a16:creationId xmlns:a16="http://schemas.microsoft.com/office/drawing/2014/main" id="{65B3B00C-BAC0-4E5C-A52D-35F934CE6C4B}"/>
                  </a:ext>
                </a:extLst>
              </p:cNvPr>
              <p:cNvSpPr/>
              <p:nvPr/>
            </p:nvSpPr>
            <p:spPr>
              <a:xfrm>
                <a:off x="116273" y="60276"/>
                <a:ext cx="176766" cy="196062"/>
              </a:xfrm>
              <a:prstGeom prst="chevron">
                <a:avLst/>
              </a:prstGeom>
              <a:solidFill>
                <a:srgbClr val="FFC00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6" name="TextBox 56">
              <a:extLst>
                <a:ext uri="{FF2B5EF4-FFF2-40B4-BE49-F238E27FC236}">
                  <a16:creationId xmlns:a16="http://schemas.microsoft.com/office/drawing/2014/main" id="{EAA9907C-71A2-4344-8259-05EA103C90A8}"/>
                </a:ext>
              </a:extLst>
            </p:cNvPr>
            <p:cNvSpPr txBox="1"/>
            <p:nvPr/>
          </p:nvSpPr>
          <p:spPr>
            <a:xfrm>
              <a:off x="208271" y="12281"/>
              <a:ext cx="905862" cy="252442"/>
            </a:xfrm>
            <a:prstGeom prst="rect">
              <a:avLst/>
            </a:prstGeom>
            <a:noFill/>
          </p:spPr>
          <p:txBody>
            <a:bodyPr wrap="square" anchor="ctr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4800" b="1" kern="1200">
                  <a:solidFill>
                    <a:srgbClr val="0000CC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Vận dụng 2.</a:t>
              </a:r>
              <a:endParaRPr lang="en-US" sz="66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842E107-1FF8-4909-816B-465DE60CB95E}"/>
              </a:ext>
            </a:extLst>
          </p:cNvPr>
          <p:cNvSpPr txBox="1">
            <a:spLocks/>
          </p:cNvSpPr>
          <p:nvPr/>
        </p:nvSpPr>
        <p:spPr>
          <a:xfrm>
            <a:off x="685800" y="3211731"/>
            <a:ext cx="23393400" cy="1512669"/>
          </a:xfrm>
          <a:prstGeom prst="rect">
            <a:avLst/>
          </a:prstGeom>
          <a:solidFill>
            <a:srgbClr val="D6F7FE"/>
          </a:solidFill>
          <a:ln>
            <a:solidFill>
              <a:srgbClr val="00B0F0"/>
            </a:solidFill>
          </a:ln>
        </p:spPr>
        <p:txBody>
          <a:bodyPr anchor="ctr"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5400" i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b, Lập công thức tính số tiền cước taxi phải trả theo kilomet số di chuyển.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C8272D4-822B-45F5-A1CB-9AA4689B659C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38028" y="4724400"/>
            <a:ext cx="10439400" cy="69342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78C6538B-BCD2-4966-AEFC-39D93D93EE5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82819" y="8001000"/>
          <a:ext cx="12507185" cy="2747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Equation" r:id="rId4" imgW="3511400" imgH="770851" progId="Equation.DSMT4">
                  <p:embed/>
                </p:oleObj>
              </mc:Choice>
              <mc:Fallback>
                <p:oleObj name="Equation" r:id="rId4" imgW="3511400" imgH="770851" progId="Equation.DSMT4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78C6538B-BCD2-4966-AEFC-39D93D93EE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82819" y="8001000"/>
                        <a:ext cx="12507185" cy="27479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D205C8E-5520-4B43-95C9-F9BB7BB4D95A}"/>
                  </a:ext>
                </a:extLst>
              </p:cNvPr>
              <p:cNvSpPr txBox="1"/>
              <p:nvPr/>
            </p:nvSpPr>
            <p:spPr>
              <a:xfrm>
                <a:off x="685800" y="5654814"/>
                <a:ext cx="12801600" cy="14157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vi-VN"/>
                  <a:t>Gọi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vi-VN"/>
                  <a:t> là số kilomét di chuyển khi đó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vi-VN"/>
                  <a:t>(nghìn đồng) là số tiền phải trả được tính theo công thức:</a:t>
                </a:r>
                <a:endParaRPr lang="en-US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D205C8E-5520-4B43-95C9-F9BB7BB4D9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5654814"/>
                <a:ext cx="12801600" cy="1415772"/>
              </a:xfrm>
              <a:prstGeom prst="rect">
                <a:avLst/>
              </a:prstGeom>
              <a:blipFill>
                <a:blip r:embed="rId6"/>
                <a:stretch>
                  <a:fillRect l="-1905" t="-8621" b="-185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Rounded Rectangle 25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   ·   BÀI 15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428136371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E3DEBD0-15CA-4230-B053-17EB2B13AEE9}"/>
              </a:ext>
            </a:extLst>
          </p:cNvPr>
          <p:cNvGrpSpPr/>
          <p:nvPr/>
        </p:nvGrpSpPr>
        <p:grpSpPr>
          <a:xfrm>
            <a:off x="457200" y="2057400"/>
            <a:ext cx="5257800" cy="1171187"/>
            <a:chOff x="22440" y="12281"/>
            <a:chExt cx="1091693" cy="252442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BE2BFAD4-F1D4-4EE8-BFD1-870EF43142DE}"/>
                </a:ext>
              </a:extLst>
            </p:cNvPr>
            <p:cNvGrpSpPr/>
            <p:nvPr/>
          </p:nvGrpSpPr>
          <p:grpSpPr>
            <a:xfrm>
              <a:off x="22440" y="59288"/>
              <a:ext cx="953655" cy="159667"/>
              <a:chOff x="31572" y="60276"/>
              <a:chExt cx="1341810" cy="197595"/>
            </a:xfrm>
          </p:grpSpPr>
          <p:sp>
            <p:nvSpPr>
              <p:cNvPr id="7" name="Arrow: Pentagon 6">
                <a:extLst>
                  <a:ext uri="{FF2B5EF4-FFF2-40B4-BE49-F238E27FC236}">
                    <a16:creationId xmlns:a16="http://schemas.microsoft.com/office/drawing/2014/main" id="{D7C308FE-C99B-4101-A96D-FC0DD5A17F1E}"/>
                  </a:ext>
                </a:extLst>
              </p:cNvPr>
              <p:cNvSpPr/>
              <p:nvPr/>
            </p:nvSpPr>
            <p:spPr>
              <a:xfrm>
                <a:off x="204506" y="61809"/>
                <a:ext cx="1168876" cy="196062"/>
              </a:xfrm>
              <a:prstGeom prst="homePlate">
                <a:avLst/>
              </a:prstGeom>
              <a:solidFill>
                <a:srgbClr val="FCFFEF"/>
              </a:solidFill>
              <a:ln w="12700" cap="flat" cmpd="sng" algn="ctr">
                <a:solidFill>
                  <a:srgbClr val="ED7D31">
                    <a:lumMod val="20000"/>
                    <a:lumOff val="8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>
                  <a:lnSpc>
                    <a:spcPct val="106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1000" b="1" kern="1200">
                    <a:solidFill>
                      <a:srgbClr val="0000CC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endParaRPr lang="en-US" sz="12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" name="Arrow: Chevron 7">
                <a:extLst>
                  <a:ext uri="{FF2B5EF4-FFF2-40B4-BE49-F238E27FC236}">
                    <a16:creationId xmlns:a16="http://schemas.microsoft.com/office/drawing/2014/main" id="{A724397D-E273-4AC4-B2C5-1183D9C0DD88}"/>
                  </a:ext>
                </a:extLst>
              </p:cNvPr>
              <p:cNvSpPr/>
              <p:nvPr/>
            </p:nvSpPr>
            <p:spPr>
              <a:xfrm>
                <a:off x="31572" y="60341"/>
                <a:ext cx="162630" cy="196062"/>
              </a:xfrm>
              <a:prstGeom prst="chevron">
                <a:avLst/>
              </a:prstGeom>
              <a:solidFill>
                <a:srgbClr val="447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" name="Arrow: Chevron 8">
                <a:extLst>
                  <a:ext uri="{FF2B5EF4-FFF2-40B4-BE49-F238E27FC236}">
                    <a16:creationId xmlns:a16="http://schemas.microsoft.com/office/drawing/2014/main" id="{65B3B00C-BAC0-4E5C-A52D-35F934CE6C4B}"/>
                  </a:ext>
                </a:extLst>
              </p:cNvPr>
              <p:cNvSpPr/>
              <p:nvPr/>
            </p:nvSpPr>
            <p:spPr>
              <a:xfrm>
                <a:off x="116273" y="60276"/>
                <a:ext cx="176766" cy="196062"/>
              </a:xfrm>
              <a:prstGeom prst="chevron">
                <a:avLst/>
              </a:prstGeom>
              <a:solidFill>
                <a:srgbClr val="FFC00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6" name="TextBox 56">
              <a:extLst>
                <a:ext uri="{FF2B5EF4-FFF2-40B4-BE49-F238E27FC236}">
                  <a16:creationId xmlns:a16="http://schemas.microsoft.com/office/drawing/2014/main" id="{EAA9907C-71A2-4344-8259-05EA103C90A8}"/>
                </a:ext>
              </a:extLst>
            </p:cNvPr>
            <p:cNvSpPr txBox="1"/>
            <p:nvPr/>
          </p:nvSpPr>
          <p:spPr>
            <a:xfrm>
              <a:off x="208271" y="12281"/>
              <a:ext cx="905862" cy="252442"/>
            </a:xfrm>
            <a:prstGeom prst="rect">
              <a:avLst/>
            </a:prstGeom>
            <a:noFill/>
          </p:spPr>
          <p:txBody>
            <a:bodyPr wrap="square" anchor="ctr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4800" b="1" kern="1200">
                  <a:solidFill>
                    <a:srgbClr val="0000CC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Vận dụng 2.</a:t>
              </a:r>
              <a:endParaRPr lang="en-US" sz="66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842E107-1FF8-4909-816B-465DE60CB95E}"/>
              </a:ext>
            </a:extLst>
          </p:cNvPr>
          <p:cNvSpPr txBox="1">
            <a:spLocks/>
          </p:cNvSpPr>
          <p:nvPr/>
        </p:nvSpPr>
        <p:spPr>
          <a:xfrm>
            <a:off x="685800" y="3211731"/>
            <a:ext cx="22346003" cy="1893669"/>
          </a:xfrm>
          <a:prstGeom prst="rect">
            <a:avLst/>
          </a:prstGeom>
          <a:solidFill>
            <a:srgbClr val="D6F7FE"/>
          </a:solidFill>
          <a:ln>
            <a:solidFill>
              <a:srgbClr val="00B0F0"/>
            </a:solidFill>
          </a:ln>
        </p:spPr>
        <p:txBody>
          <a:bodyPr anchor="ctr"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5400" i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c, Vẽ đồ thị và cho biết hàm số đồng biến trên khoảng nào, nghịch biến trên khoảng nào.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C8272D4-822B-45F5-A1CB-9AA4689B659C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2403" y="5143501"/>
            <a:ext cx="10439400" cy="69342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41885F0-A511-46B1-BF31-02C002A7703C}"/>
                  </a:ext>
                </a:extLst>
              </p:cNvPr>
              <p:cNvSpPr txBox="1"/>
              <p:nvPr/>
            </p:nvSpPr>
            <p:spPr>
              <a:xfrm>
                <a:off x="1352195" y="12084789"/>
                <a:ext cx="12190228" cy="7540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/>
                  <a:t>Hàm số đồng biến trên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0,6;+∞</m:t>
                        </m:r>
                      </m:e>
                    </m:d>
                  </m:oMath>
                </a14:m>
                <a:r>
                  <a:rPr lang="en-US"/>
                  <a:t>. 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41885F0-A511-46B1-BF31-02C002A770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2195" y="12084789"/>
                <a:ext cx="12190228" cy="754053"/>
              </a:xfrm>
              <a:prstGeom prst="rect">
                <a:avLst/>
              </a:prstGeom>
              <a:blipFill>
                <a:blip r:embed="rId3"/>
                <a:stretch>
                  <a:fillRect l="-2000" t="-16129" b="-370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Picture 15" descr="Chart, line chart&#10;&#10;Description automatically generated">
            <a:extLst>
              <a:ext uri="{FF2B5EF4-FFF2-40B4-BE49-F238E27FC236}">
                <a16:creationId xmlns:a16="http://schemas.microsoft.com/office/drawing/2014/main" id="{48F960BB-8CF4-430A-8F54-3777AEF05E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2195" y="5286704"/>
            <a:ext cx="9387471" cy="6469743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   ·   BÀI 15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53106624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607C58-0254-4291-902D-DAA2C403D846}"/>
              </a:ext>
            </a:extLst>
          </p:cNvPr>
          <p:cNvSpPr txBox="1"/>
          <p:nvPr/>
        </p:nvSpPr>
        <p:spPr>
          <a:xfrm>
            <a:off x="609600" y="2057400"/>
            <a:ext cx="2679700" cy="769441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44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BÀI TẬP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1606382-FA39-4A3B-B1DD-A91C81EDAB28}"/>
                  </a:ext>
                </a:extLst>
              </p:cNvPr>
              <p:cNvSpPr txBox="1"/>
              <p:nvPr/>
            </p:nvSpPr>
            <p:spPr>
              <a:xfrm>
                <a:off x="609600" y="3048000"/>
                <a:ext cx="22631400" cy="2077492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00FF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vi-VN" b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6.1.  Xét hai đại lượng 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vi-VN" b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phụ thuộc vào nhau theo các hệ thức dưới đây. Những trường hợp nào thì 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vi-VN" b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là hàm số của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vi-VN" b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?</a:t>
                </a:r>
              </a:p>
              <a:p>
                <a:r>
                  <a:rPr lang="vi-VN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a)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vi-VN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;	b)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vi-VN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;		c)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vi-VN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;		d)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vi-VN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1606382-FA39-4A3B-B1DD-A91C81EDAB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3048000"/>
                <a:ext cx="22631400" cy="2077492"/>
              </a:xfrm>
              <a:prstGeom prst="rect">
                <a:avLst/>
              </a:prstGeom>
              <a:blipFill>
                <a:blip r:embed="rId2"/>
                <a:stretch>
                  <a:fillRect l="-1023" t="-5831" r="-565" b="-12245"/>
                </a:stretch>
              </a:blipFill>
              <a:ln>
                <a:solidFill>
                  <a:srgbClr val="0000FF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DE89D63F-048E-4070-975F-2CEC65B4CEE3}"/>
              </a:ext>
            </a:extLst>
          </p:cNvPr>
          <p:cNvSpPr txBox="1"/>
          <p:nvPr/>
        </p:nvSpPr>
        <p:spPr>
          <a:xfrm>
            <a:off x="609600" y="5486400"/>
            <a:ext cx="2679700" cy="769441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44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Lời giải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81CC5FD-A94A-4291-A0C7-A339D447C1C1}"/>
                  </a:ext>
                </a:extLst>
              </p:cNvPr>
              <p:cNvSpPr txBox="1"/>
              <p:nvPr/>
            </p:nvSpPr>
            <p:spPr>
              <a:xfrm>
                <a:off x="609600" y="6477000"/>
                <a:ext cx="22631400" cy="1569660"/>
              </a:xfrm>
              <a:prstGeom prst="rect">
                <a:avLst/>
              </a:prstGeom>
              <a:solidFill>
                <a:srgbClr val="D6F7FE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480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Theo định nghĩa hàm số, mỗi giá trị </a:t>
                </a:r>
                <a14:m>
                  <m:oMath xmlns:m="http://schemas.openxmlformats.org/officeDocument/2006/math">
                    <m:r>
                      <a:rPr lang="en-US" sz="480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48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480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 một và chỉ một giá trị tương ứng của </a:t>
                </a:r>
                <a14:m>
                  <m:oMath xmlns:m="http://schemas.openxmlformats.org/officeDocument/2006/math">
                    <m:r>
                      <a:rPr lang="en-US" sz="48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480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nên hệ thức ở câu a và câu b cho ta </a:t>
                </a:r>
                <a14:m>
                  <m:oMath xmlns:m="http://schemas.openxmlformats.org/officeDocument/2006/math">
                    <m:r>
                      <a:rPr lang="en-US" sz="48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480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là hàm số của </a:t>
                </a:r>
                <a14:m>
                  <m:oMath xmlns:m="http://schemas.openxmlformats.org/officeDocument/2006/math">
                    <m:r>
                      <a:rPr lang="en-US" sz="48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480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81CC5FD-A94A-4291-A0C7-A339D447C1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6477000"/>
                <a:ext cx="22631400" cy="1569660"/>
              </a:xfrm>
              <a:prstGeom prst="rect">
                <a:avLst/>
              </a:prstGeom>
              <a:blipFill>
                <a:blip r:embed="rId3"/>
                <a:stretch>
                  <a:fillRect l="-1212" t="-9339" b="-190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Rounded Rectangle 24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   ·   BÀI 15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233277869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7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607C58-0254-4291-902D-DAA2C403D846}"/>
              </a:ext>
            </a:extLst>
          </p:cNvPr>
          <p:cNvSpPr txBox="1"/>
          <p:nvPr/>
        </p:nvSpPr>
        <p:spPr>
          <a:xfrm>
            <a:off x="609600" y="2057400"/>
            <a:ext cx="2679700" cy="769441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44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BÀI TẬP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606382-FA39-4A3B-B1DD-A91C81EDAB28}"/>
              </a:ext>
            </a:extLst>
          </p:cNvPr>
          <p:cNvSpPr txBox="1"/>
          <p:nvPr/>
        </p:nvSpPr>
        <p:spPr>
          <a:xfrm>
            <a:off x="609600" y="3048000"/>
            <a:ext cx="21717000" cy="1569660"/>
          </a:xfrm>
          <a:prstGeom prst="rect">
            <a:avLst/>
          </a:prstGeom>
          <a:solidFill>
            <a:srgbClr val="D6F7FE"/>
          </a:solidFill>
          <a:ln>
            <a:solidFill>
              <a:srgbClr val="0000FF"/>
            </a:solidFill>
          </a:ln>
        </p:spPr>
        <p:txBody>
          <a:bodyPr wrap="square">
            <a:spAutoFit/>
          </a:bodyPr>
          <a:lstStyle/>
          <a:p>
            <a:r>
              <a:rPr lang="vi-VN" sz="48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6.</a:t>
            </a:r>
            <a:r>
              <a:rPr lang="en-US" sz="48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</a:t>
            </a:r>
            <a:r>
              <a:rPr lang="vi-VN" sz="48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Hãy cho một ví dụ về hàm số được cho bằng bảng hoặc biểu đồ. Hãy chỉ ra tập xác định và tập giá trị của hàm số đó.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8F5105-27D0-4982-8200-537CAD8207B7}"/>
              </a:ext>
            </a:extLst>
          </p:cNvPr>
          <p:cNvSpPr txBox="1"/>
          <p:nvPr/>
        </p:nvSpPr>
        <p:spPr>
          <a:xfrm>
            <a:off x="533400" y="4838819"/>
            <a:ext cx="2679700" cy="769441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44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Lời giải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7BEB6D-AB9A-475A-AB44-B974E3D693B2}"/>
              </a:ext>
            </a:extLst>
          </p:cNvPr>
          <p:cNvSpPr txBox="1"/>
          <p:nvPr/>
        </p:nvSpPr>
        <p:spPr>
          <a:xfrm>
            <a:off x="526312" y="5909255"/>
            <a:ext cx="21800288" cy="2846933"/>
          </a:xfrm>
          <a:prstGeom prst="rect">
            <a:avLst/>
          </a:prstGeom>
          <a:solidFill>
            <a:srgbClr val="D6F7FE"/>
          </a:solidFill>
        </p:spPr>
        <p:txBody>
          <a:bodyPr wrap="square" rtlCol="0">
            <a:spAutoFit/>
          </a:bodyPr>
          <a:lstStyle/>
          <a:p>
            <a:r>
              <a:rPr lang="en-US" sz="4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Ví dụ 1: Hàm số cho bởi bảng</a:t>
            </a:r>
          </a:p>
          <a:p>
            <a:r>
              <a:rPr lang="vi-VN" sz="440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Thống kê s</a:t>
            </a:r>
            <a:r>
              <a:rPr lang="en-US" sz="440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ố</a:t>
            </a:r>
            <a:r>
              <a:rPr lang="vi-VN" sz="440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ca mắc covid trong 10 ngày đầu tháng 8 năm 2021 </a:t>
            </a:r>
            <a:endParaRPr lang="en-US" sz="4400">
              <a:solidFill>
                <a:srgbClr val="00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vi-VN" sz="4400" i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(theo bản tin dịch covid-19 của Bộ y tế).</a:t>
            </a:r>
            <a:endParaRPr lang="en-US" sz="44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US"/>
          </a:p>
        </p:txBody>
      </p:sp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300B7FB9-FE2B-42B7-91B0-781BEA68152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-1981200" y="8756188"/>
          <a:ext cx="24924394" cy="26517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4" name="Document" r:id="rId3" imgW="6737521" imgH="715667" progId="Word.Document.12">
                  <p:embed/>
                </p:oleObj>
              </mc:Choice>
              <mc:Fallback>
                <p:oleObj name="Document" r:id="rId3" imgW="6737521" imgH="715667" progId="Word.Document.12">
                  <p:embed/>
                  <p:pic>
                    <p:nvPicPr>
                      <p:cNvPr id="10" name="Object 9">
                        <a:extLst>
                          <a:ext uri="{FF2B5EF4-FFF2-40B4-BE49-F238E27FC236}">
                            <a16:creationId xmlns:a16="http://schemas.microsoft.com/office/drawing/2014/main" id="{300B7FB9-FE2B-42B7-91B0-781BEA68152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-1981200" y="8756188"/>
                        <a:ext cx="24924394" cy="26517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DA9ED74-4BB3-48E0-B802-B8F527E02B98}"/>
                  </a:ext>
                </a:extLst>
              </p:cNvPr>
              <p:cNvSpPr txBox="1"/>
              <p:nvPr/>
            </p:nvSpPr>
            <p:spPr>
              <a:xfrm>
                <a:off x="609600" y="10950714"/>
                <a:ext cx="21564600" cy="1415772"/>
              </a:xfrm>
              <a:prstGeom prst="rect">
                <a:avLst/>
              </a:prstGeom>
              <a:solidFill>
                <a:srgbClr val="D6F7FE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Tập xác định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1;2;3;4;5;6;7;8;9;10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b="0"/>
              </a:p>
              <a:p>
                <a:r>
                  <a:rPr lang="en-US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Tập giá trị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={2025;2267;2173;935;1537;1497;2049;2002;1642;1466}</m:t>
                    </m:r>
                  </m:oMath>
                </a14:m>
                <a:r>
                  <a:rPr lang="en-US"/>
                  <a:t>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DA9ED74-4BB3-48E0-B802-B8F527E02B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10950714"/>
                <a:ext cx="21564600" cy="1415772"/>
              </a:xfrm>
              <a:prstGeom prst="rect">
                <a:avLst/>
              </a:prstGeom>
              <a:blipFill>
                <a:blip r:embed="rId5"/>
                <a:stretch>
                  <a:fillRect l="-1102" t="-10300" b="-193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Rounded Rectangle 35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   ·   BÀI 15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67023822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7" grpId="0" animBg="1"/>
      <p:bldP spid="8" grpId="0" animBg="1"/>
      <p:bldP spid="14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C8CE468-D547-4644-844D-41BB393D3C2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590800" y="3352800"/>
            <a:ext cx="19050000" cy="97536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018457B-8DE3-4844-9133-57BE93FE8ACC}"/>
              </a:ext>
            </a:extLst>
          </p:cNvPr>
          <p:cNvSpPr txBox="1"/>
          <p:nvPr/>
        </p:nvSpPr>
        <p:spPr>
          <a:xfrm>
            <a:off x="533400" y="1981200"/>
            <a:ext cx="9677400" cy="914400"/>
          </a:xfrm>
          <a:prstGeom prst="rect">
            <a:avLst/>
          </a:prstGeom>
          <a:solidFill>
            <a:srgbClr val="D6F7FE"/>
          </a:solidFill>
        </p:spPr>
        <p:txBody>
          <a:bodyPr wrap="square" rtlCol="0">
            <a:spAutoFit/>
          </a:bodyPr>
          <a:lstStyle/>
          <a:p>
            <a:r>
              <a:rPr lang="en-US" sz="4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Ví dụ 2: Hàm số cho bởi biểu đồ.</a:t>
            </a:r>
            <a:endParaRPr lang="en-US" sz="44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   ·   BÀI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171523075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607C58-0254-4291-902D-DAA2C403D846}"/>
              </a:ext>
            </a:extLst>
          </p:cNvPr>
          <p:cNvSpPr txBox="1"/>
          <p:nvPr/>
        </p:nvSpPr>
        <p:spPr>
          <a:xfrm>
            <a:off x="609600" y="2057400"/>
            <a:ext cx="2679700" cy="769441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44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BÀI TẬP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1606382-FA39-4A3B-B1DD-A91C81EDAB28}"/>
                  </a:ext>
                </a:extLst>
              </p:cNvPr>
              <p:cNvSpPr txBox="1"/>
              <p:nvPr/>
            </p:nvSpPr>
            <p:spPr>
              <a:xfrm>
                <a:off x="609600" y="3048000"/>
                <a:ext cx="22631400" cy="3154582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00FF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vi-VN" sz="4800" b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6.</a:t>
                </a:r>
                <a:r>
                  <a:rPr lang="en-US" sz="4800" b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3</a:t>
                </a:r>
                <a:r>
                  <a:rPr lang="vi-VN" sz="4800" b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  <a:r>
                  <a:rPr lang="en-US" sz="4800" b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Tìm tập xác định của các hàm số sau:</a:t>
                </a:r>
              </a:p>
              <a:p>
                <a:r>
                  <a:rPr lang="vi-VN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y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2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3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+3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+1</m:t>
                    </m:r>
                  </m:oMath>
                </a14:m>
                <a:endParaRPr lang="en-US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r>
                  <a:rPr lang="en-US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b,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−1</m:t>
                        </m:r>
                      </m:num>
                      <m:den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−3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+2</m:t>
                        </m:r>
                      </m:den>
                    </m:f>
                  </m:oMath>
                </a14:m>
                <a:endParaRPr lang="en-US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r>
                  <a:rPr lang="en-US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c,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b="0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</m:ctrlPr>
                      </m:radPr>
                      <m:deg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+1</m:t>
                        </m:r>
                      </m:e>
                    </m:rad>
                    <m:r>
                      <a:rPr lang="en-US" b="0" i="1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US" b="0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</m:ctrlPr>
                      </m:radPr>
                      <m:deg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1−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𝑥</m:t>
                        </m:r>
                      </m:e>
                    </m:rad>
                  </m:oMath>
                </a14:m>
                <a:endParaRPr lang="vi-VN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1606382-FA39-4A3B-B1DD-A91C81EDAB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3048000"/>
                <a:ext cx="22631400" cy="3154582"/>
              </a:xfrm>
              <a:prstGeom prst="rect">
                <a:avLst/>
              </a:prstGeom>
              <a:blipFill>
                <a:blip r:embed="rId2"/>
                <a:stretch>
                  <a:fillRect l="-1184" t="-4239" b="-7900"/>
                </a:stretch>
              </a:blipFill>
              <a:ln>
                <a:solidFill>
                  <a:srgbClr val="0000FF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A8064904-725F-4E2A-94DD-F4AA25441C77}"/>
              </a:ext>
            </a:extLst>
          </p:cNvPr>
          <p:cNvSpPr txBox="1"/>
          <p:nvPr/>
        </p:nvSpPr>
        <p:spPr>
          <a:xfrm>
            <a:off x="622005" y="6553200"/>
            <a:ext cx="2679700" cy="769441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44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Lời giải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DA42A4B-E2B4-4C5B-B25E-5E1E8B8F244F}"/>
                  </a:ext>
                </a:extLst>
              </p:cNvPr>
              <p:cNvSpPr txBox="1"/>
              <p:nvPr/>
            </p:nvSpPr>
            <p:spPr>
              <a:xfrm>
                <a:off x="625548" y="7699917"/>
                <a:ext cx="22631399" cy="923330"/>
              </a:xfrm>
              <a:prstGeom prst="rect">
                <a:avLst/>
              </a:prstGeom>
              <a:solidFill>
                <a:srgbClr val="D6F7FE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540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a, Tập xác định </a:t>
                </a:r>
                <a14:m>
                  <m:oMath xmlns:m="http://schemas.openxmlformats.org/officeDocument/2006/math">
                    <m:r>
                      <a:rPr lang="en-US" sz="5400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5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5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US" sz="540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DA42A4B-E2B4-4C5B-B25E-5E1E8B8F24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548" y="7699917"/>
                <a:ext cx="22631399" cy="923330"/>
              </a:xfrm>
              <a:prstGeom prst="rect">
                <a:avLst/>
              </a:prstGeom>
              <a:blipFill>
                <a:blip r:embed="rId3"/>
                <a:stretch>
                  <a:fillRect l="-1455" t="-19737" b="-37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7F56DF4-436B-4143-AF3E-657563C89874}"/>
                  </a:ext>
                </a:extLst>
              </p:cNvPr>
              <p:cNvSpPr txBox="1"/>
              <p:nvPr/>
            </p:nvSpPr>
            <p:spPr>
              <a:xfrm>
                <a:off x="609600" y="9000523"/>
                <a:ext cx="22631400" cy="1945982"/>
              </a:xfrm>
              <a:prstGeom prst="rect">
                <a:avLst/>
              </a:prstGeom>
              <a:solidFill>
                <a:srgbClr val="D6F7FE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540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b, </a:t>
                </a:r>
                <a14:m>
                  <m:oMath xmlns:m="http://schemas.openxmlformats.org/officeDocument/2006/math">
                    <m:r>
                      <a:rPr lang="en-US" sz="5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5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540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xác định </a:t>
                </a:r>
                <a14:m>
                  <m:oMath xmlns:m="http://schemas.openxmlformats.org/officeDocument/2006/math">
                    <m:r>
                      <a:rPr lang="en-US" sz="5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⟺</m:t>
                    </m:r>
                    <m:sSup>
                      <m:sSupPr>
                        <m:ctrlPr>
                          <a:rPr lang="en-US" sz="5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5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5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5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−3</m:t>
                    </m:r>
                    <m:r>
                      <a:rPr lang="en-US" sz="5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5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+2≠0⟺</m:t>
                    </m:r>
                    <m:d>
                      <m:dPr>
                        <m:begChr m:val="{"/>
                        <m:endChr m:val=""/>
                        <m:ctrlPr>
                          <a:rPr lang="en-US" sz="5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5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sz="5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5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≠1</m:t>
                            </m:r>
                          </m:e>
                          <m:e>
                            <m:r>
                              <a:rPr lang="en-US" sz="5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5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≠2</m:t>
                            </m:r>
                          </m:e>
                        </m:eqArr>
                      </m:e>
                    </m:d>
                    <m:r>
                      <a:rPr lang="en-US" sz="5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 </m:t>
                    </m:r>
                  </m:oMath>
                </a14:m>
                <a:r>
                  <a:rPr lang="en-US" sz="540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Tập xác định </a:t>
                </a:r>
                <a14:m>
                  <m:oMath xmlns:m="http://schemas.openxmlformats.org/officeDocument/2006/math">
                    <m:r>
                      <a:rPr lang="en-US" sz="5400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5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5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  <m:r>
                      <a:rPr lang="en-US" sz="5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\</m:t>
                    </m:r>
                    <m:r>
                      <m:rPr>
                        <m:lit/>
                      </m:rPr>
                      <a:rPr lang="en-US" sz="5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{</m:t>
                    </m:r>
                    <m:r>
                      <a:rPr lang="en-US" sz="5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1;2}</m:t>
                    </m:r>
                  </m:oMath>
                </a14:m>
                <a:r>
                  <a:rPr lang="en-US" sz="540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7F56DF4-436B-4143-AF3E-657563C898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9000523"/>
                <a:ext cx="22631400" cy="1945982"/>
              </a:xfrm>
              <a:prstGeom prst="rect">
                <a:avLst/>
              </a:prstGeom>
              <a:blipFill>
                <a:blip r:embed="rId4"/>
                <a:stretch>
                  <a:fillRect l="-14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83522A7-7AE9-4894-B9F6-10FD7250AA9F}"/>
                  </a:ext>
                </a:extLst>
              </p:cNvPr>
              <p:cNvSpPr txBox="1"/>
              <p:nvPr/>
            </p:nvSpPr>
            <p:spPr>
              <a:xfrm>
                <a:off x="609600" y="11323782"/>
                <a:ext cx="22650891" cy="1945982"/>
              </a:xfrm>
              <a:prstGeom prst="rect">
                <a:avLst/>
              </a:prstGeom>
              <a:solidFill>
                <a:srgbClr val="D6F7FE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540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c, </a:t>
                </a:r>
                <a14:m>
                  <m:oMath xmlns:m="http://schemas.openxmlformats.org/officeDocument/2006/math">
                    <m:r>
                      <a:rPr lang="en-US" sz="54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5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540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xác định </a:t>
                </a:r>
                <a14:m>
                  <m:oMath xmlns:m="http://schemas.openxmlformats.org/officeDocument/2006/math">
                    <m:r>
                      <a:rPr lang="en-US" sz="5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⟺</m:t>
                    </m:r>
                    <m:d>
                      <m:dPr>
                        <m:begChr m:val="{"/>
                        <m:endChr m:val=""/>
                        <m:ctrlPr>
                          <a:rPr lang="en-US" sz="5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5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sz="5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5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+1≥0</m:t>
                            </m:r>
                          </m:e>
                          <m:e>
                            <m:r>
                              <a:rPr lang="en-US" sz="5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sz="5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5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≥0</m:t>
                            </m:r>
                          </m:e>
                        </m:eqArr>
                      </m:e>
                    </m:d>
                    <m:r>
                      <a:rPr lang="en-US" sz="5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5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⟺</m:t>
                    </m:r>
                    <m:d>
                      <m:dPr>
                        <m:begChr m:val="{"/>
                        <m:endChr m:val=""/>
                        <m:ctrlPr>
                          <a:rPr lang="en-US" sz="5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5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sz="5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5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≥−1</m:t>
                            </m:r>
                          </m:e>
                          <m:e>
                            <m:r>
                              <a:rPr lang="en-US" sz="5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5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≤1</m:t>
                            </m:r>
                          </m:e>
                        </m:eqArr>
                      </m:e>
                    </m:d>
                    <m:r>
                      <a:rPr lang="en-US" sz="5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  </m:t>
                    </m:r>
                  </m:oMath>
                </a14:m>
                <a:r>
                  <a:rPr lang="en-US" sz="540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Tập xác định </a:t>
                </a:r>
                <a14:m>
                  <m:oMath xmlns:m="http://schemas.openxmlformats.org/officeDocument/2006/math">
                    <m:r>
                      <a:rPr lang="en-US" sz="5400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5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5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5400" b="0" i="1" smtClean="0">
                            <a:latin typeface="Cambria Math" panose="02040503050406030204" pitchFamily="18" charset="0"/>
                          </a:rPr>
                          <m:t>−1;1</m:t>
                        </m:r>
                      </m:e>
                    </m:d>
                  </m:oMath>
                </a14:m>
                <a:r>
                  <a:rPr lang="en-US" sz="540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83522A7-7AE9-4894-B9F6-10FD7250AA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11323782"/>
                <a:ext cx="22650891" cy="1945982"/>
              </a:xfrm>
              <a:prstGeom prst="rect">
                <a:avLst/>
              </a:prstGeom>
              <a:blipFill>
                <a:blip r:embed="rId5"/>
                <a:stretch>
                  <a:fillRect l="-14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ounded Rectangle 37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   ·   BÀI 15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330108663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607C58-0254-4291-902D-DAA2C403D846}"/>
              </a:ext>
            </a:extLst>
          </p:cNvPr>
          <p:cNvSpPr txBox="1"/>
          <p:nvPr/>
        </p:nvSpPr>
        <p:spPr>
          <a:xfrm>
            <a:off x="609600" y="2057400"/>
            <a:ext cx="2679700" cy="769441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44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BÀI TẬP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1606382-FA39-4A3B-B1DD-A91C81EDAB28}"/>
                  </a:ext>
                </a:extLst>
              </p:cNvPr>
              <p:cNvSpPr txBox="1"/>
              <p:nvPr/>
            </p:nvSpPr>
            <p:spPr>
              <a:xfrm>
                <a:off x="609600" y="3048000"/>
                <a:ext cx="22631400" cy="1431161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00FF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vi-VN" sz="4400" b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6.</a:t>
                </a:r>
                <a:r>
                  <a:rPr lang="en-US" sz="4400" b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4</a:t>
                </a:r>
                <a:r>
                  <a:rPr lang="vi-VN" sz="4400" b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  <a:r>
                  <a:rPr lang="en-US" sz="4400" b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Tìm tập xác định và tập giá trị của mỗi hàm số sau:</a:t>
                </a:r>
              </a:p>
              <a:p>
                <a:r>
                  <a:rPr lang="vi-VN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a)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=2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+3</m:t>
                    </m:r>
                  </m:oMath>
                </a14:m>
                <a:r>
                  <a:rPr lang="vi-VN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;	b)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vi-VN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1606382-FA39-4A3B-B1DD-A91C81EDAB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3048000"/>
                <a:ext cx="22631400" cy="1431161"/>
              </a:xfrm>
              <a:prstGeom prst="rect">
                <a:avLst/>
              </a:prstGeom>
              <a:blipFill>
                <a:blip r:embed="rId2"/>
                <a:stretch>
                  <a:fillRect l="-1050" t="-8017" b="-18143"/>
                </a:stretch>
              </a:blipFill>
              <a:ln>
                <a:solidFill>
                  <a:srgbClr val="0000FF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411594FB-0AC9-426E-8F5E-F34EC97112E0}"/>
              </a:ext>
            </a:extLst>
          </p:cNvPr>
          <p:cNvSpPr txBox="1"/>
          <p:nvPr/>
        </p:nvSpPr>
        <p:spPr>
          <a:xfrm>
            <a:off x="572386" y="5105400"/>
            <a:ext cx="2679700" cy="769441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44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Lời giải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769BC58-7930-4018-BED1-E7A4179BEC03}"/>
                  </a:ext>
                </a:extLst>
              </p:cNvPr>
              <p:cNvSpPr txBox="1"/>
              <p:nvPr/>
            </p:nvSpPr>
            <p:spPr>
              <a:xfrm>
                <a:off x="721242" y="8191619"/>
                <a:ext cx="16306800" cy="1569660"/>
              </a:xfrm>
              <a:prstGeom prst="rect">
                <a:avLst/>
              </a:prstGeom>
              <a:solidFill>
                <a:srgbClr val="D6F7FE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480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b, Tập xác định </a:t>
                </a:r>
                <a14:m>
                  <m:oMath xmlns:m="http://schemas.openxmlformats.org/officeDocument/2006/math">
                    <m:r>
                      <a:rPr lang="en-US" sz="4800" b="0" i="1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𝐷</m:t>
                    </m:r>
                    <m:r>
                      <a:rPr lang="en-US" sz="4800" b="0" i="1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=</m:t>
                    </m:r>
                    <m:r>
                      <a:rPr lang="en-US" sz="4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ahoma" panose="020B0604030504040204" pitchFamily="34" charset="0"/>
                      </a:rPr>
                      <m:t>ℝ</m:t>
                    </m:r>
                  </m:oMath>
                </a14:m>
                <a:r>
                  <a:rPr lang="en-US" sz="480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</a:t>
                </a:r>
              </a:p>
              <a:p>
                <a:r>
                  <a:rPr lang="en-US" sz="480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 Tập giá trị </a:t>
                </a:r>
                <a14:m>
                  <m:oMath xmlns:m="http://schemas.openxmlformats.org/officeDocument/2006/math">
                    <m:r>
                      <a:rPr lang="en-US" sz="4800" b="0" i="1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𝑇</m:t>
                    </m:r>
                    <m:r>
                      <a:rPr lang="en-US" sz="4800" b="0" i="1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=</m:t>
                    </m:r>
                    <m:d>
                      <m:dPr>
                        <m:begChr m:val="["/>
                        <m:ctrlPr>
                          <a:rPr lang="en-US" sz="4800" b="0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</m:ctrlPr>
                      </m:dPr>
                      <m:e>
                        <m:r>
                          <a:rPr lang="en-US" sz="4800" b="0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0;+∞</m:t>
                        </m:r>
                      </m:e>
                    </m:d>
                  </m:oMath>
                </a14:m>
                <a:r>
                  <a:rPr lang="en-US" sz="480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769BC58-7930-4018-BED1-E7A4179BEC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242" y="8191619"/>
                <a:ext cx="16306800" cy="1569660"/>
              </a:xfrm>
              <a:prstGeom prst="rect">
                <a:avLst/>
              </a:prstGeom>
              <a:blipFill>
                <a:blip r:embed="rId3"/>
                <a:stretch>
                  <a:fillRect l="-1682" t="-9339" b="-194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71937F9-8194-442B-BE99-0DCC93B299FE}"/>
                  </a:ext>
                </a:extLst>
              </p:cNvPr>
              <p:cNvSpPr txBox="1"/>
              <p:nvPr/>
            </p:nvSpPr>
            <p:spPr>
              <a:xfrm>
                <a:off x="703521" y="6248400"/>
                <a:ext cx="16306800" cy="1569660"/>
              </a:xfrm>
              <a:prstGeom prst="rect">
                <a:avLst/>
              </a:prstGeom>
              <a:solidFill>
                <a:srgbClr val="D6F7FE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480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a, Tập xác định </a:t>
                </a:r>
                <a14:m>
                  <m:oMath xmlns:m="http://schemas.openxmlformats.org/officeDocument/2006/math">
                    <m:r>
                      <a:rPr lang="en-US" sz="4800" b="0" i="1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𝐷</m:t>
                    </m:r>
                    <m:r>
                      <a:rPr lang="en-US" sz="4800" b="0" i="1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=</m:t>
                    </m:r>
                    <m:r>
                      <a:rPr lang="en-US" sz="4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ahoma" panose="020B0604030504040204" pitchFamily="34" charset="0"/>
                      </a:rPr>
                      <m:t>ℝ</m:t>
                    </m:r>
                  </m:oMath>
                </a14:m>
                <a:r>
                  <a:rPr lang="en-US" sz="480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</a:t>
                </a:r>
              </a:p>
              <a:p>
                <a:r>
                  <a:rPr lang="en-US" sz="480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 Tập giá trị </a:t>
                </a:r>
                <a14:m>
                  <m:oMath xmlns:m="http://schemas.openxmlformats.org/officeDocument/2006/math">
                    <m:r>
                      <a:rPr lang="en-US" sz="4800" b="0" i="1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𝑇</m:t>
                    </m:r>
                    <m:r>
                      <a:rPr lang="en-US" sz="4800" b="0" i="1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=</m:t>
                    </m:r>
                    <m:r>
                      <a:rPr lang="en-US" sz="4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ahoma" panose="020B0604030504040204" pitchFamily="34" charset="0"/>
                      </a:rPr>
                      <m:t>ℝ</m:t>
                    </m:r>
                  </m:oMath>
                </a14:m>
                <a:r>
                  <a:rPr lang="en-US" sz="480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71937F9-8194-442B-BE99-0DCC93B299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521" y="6248400"/>
                <a:ext cx="16306800" cy="1569660"/>
              </a:xfrm>
              <a:prstGeom prst="rect">
                <a:avLst/>
              </a:prstGeom>
              <a:blipFill>
                <a:blip r:embed="rId4"/>
                <a:stretch>
                  <a:fillRect l="-1682" t="-9339" b="-194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Rounded Rectangle 31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   ·   BÀI 15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47235980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4" grpId="0" animBg="1"/>
      <p:bldP spid="6" grpId="0" animBg="1"/>
      <p:bldP spid="7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607C58-0254-4291-902D-DAA2C403D846}"/>
              </a:ext>
            </a:extLst>
          </p:cNvPr>
          <p:cNvSpPr txBox="1"/>
          <p:nvPr/>
        </p:nvSpPr>
        <p:spPr>
          <a:xfrm>
            <a:off x="609600" y="2057400"/>
            <a:ext cx="2679700" cy="769441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44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BÀI TẬP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1606382-FA39-4A3B-B1DD-A91C81EDAB28}"/>
                  </a:ext>
                </a:extLst>
              </p:cNvPr>
              <p:cNvSpPr txBox="1"/>
              <p:nvPr/>
            </p:nvSpPr>
            <p:spPr>
              <a:xfrm>
                <a:off x="609600" y="3048000"/>
                <a:ext cx="22631400" cy="2380908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00FF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vi-VN" sz="4400" b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6.</a:t>
                </a:r>
                <a:r>
                  <a:rPr lang="en-US" sz="4400" b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5</a:t>
                </a:r>
                <a:r>
                  <a:rPr lang="vi-VN" sz="4400" b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  <a:r>
                  <a:rPr lang="en-US" sz="4400" b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Vẽ đồ thị của các hàm số sau và chỉ ra các khoảng đồng biến, nghịch biến của chúng:</a:t>
                </a:r>
              </a:p>
              <a:p>
                <a:r>
                  <a:rPr lang="vi-VN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a)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=−2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+1</m:t>
                    </m:r>
                  </m:oMath>
                </a14:m>
                <a:r>
                  <a:rPr lang="vi-VN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;	b)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vi-VN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1606382-FA39-4A3B-B1DD-A91C81EDAB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3048000"/>
                <a:ext cx="22631400" cy="2380908"/>
              </a:xfrm>
              <a:prstGeom prst="rect">
                <a:avLst/>
              </a:prstGeom>
              <a:blipFill>
                <a:blip r:embed="rId2"/>
                <a:stretch>
                  <a:fillRect l="-1050" t="-4835" b="-4071"/>
                </a:stretch>
              </a:blipFill>
              <a:ln>
                <a:solidFill>
                  <a:srgbClr val="0000FF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A43B1CCF-5899-40A5-BFB4-CAA46DF8E662}"/>
              </a:ext>
            </a:extLst>
          </p:cNvPr>
          <p:cNvSpPr txBox="1"/>
          <p:nvPr/>
        </p:nvSpPr>
        <p:spPr>
          <a:xfrm>
            <a:off x="590107" y="5867400"/>
            <a:ext cx="2679700" cy="769441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44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Lời giải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9A8656B-C432-422C-B4E4-F97A2CA9D7E0}"/>
                  </a:ext>
                </a:extLst>
              </p:cNvPr>
              <p:cNvSpPr txBox="1"/>
              <p:nvPr/>
            </p:nvSpPr>
            <p:spPr>
              <a:xfrm>
                <a:off x="622005" y="7043435"/>
                <a:ext cx="16306800" cy="1569660"/>
              </a:xfrm>
              <a:prstGeom prst="rect">
                <a:avLst/>
              </a:prstGeom>
              <a:solidFill>
                <a:srgbClr val="D6F7FE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480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a, Vẽ đồ thị hàm số </a:t>
                </a:r>
                <a14:m>
                  <m:oMath xmlns:m="http://schemas.openxmlformats.org/officeDocument/2006/math">
                    <m:r>
                      <a:rPr lang="en-US" sz="4800" b="0" i="1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𝑦</m:t>
                    </m:r>
                    <m:r>
                      <a:rPr lang="en-US" sz="4800" b="0" i="1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=−2</m:t>
                    </m:r>
                    <m:r>
                      <a:rPr lang="en-US" sz="4800" b="0" i="1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𝑥</m:t>
                    </m:r>
                    <m:r>
                      <a:rPr lang="en-US" sz="4800" b="0" i="1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+1.</m:t>
                    </m:r>
                  </m:oMath>
                </a14:m>
                <a:endParaRPr lang="en-US" sz="480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r>
                  <a:rPr lang="en-US" sz="480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Hàm số </a:t>
                </a:r>
                <a14:m>
                  <m:oMath xmlns:m="http://schemas.openxmlformats.org/officeDocument/2006/math">
                    <m:r>
                      <a:rPr lang="en-US" sz="4800" b="0" i="1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𝑦</m:t>
                    </m:r>
                    <m:r>
                      <a:rPr lang="en-US" sz="4800" b="0" i="1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=−2</m:t>
                    </m:r>
                    <m:r>
                      <a:rPr lang="en-US" sz="4800" b="0" i="1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𝑥</m:t>
                    </m:r>
                    <m:r>
                      <a:rPr lang="en-US" sz="4800" b="0" i="1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+1</m:t>
                    </m:r>
                  </m:oMath>
                </a14:m>
                <a:r>
                  <a:rPr lang="en-US" sz="480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nghịch biến trên </a:t>
                </a:r>
                <a14:m>
                  <m:oMath xmlns:m="http://schemas.openxmlformats.org/officeDocument/2006/math">
                    <m:r>
                      <a:rPr lang="en-US" sz="4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ahoma" panose="020B0604030504040204" pitchFamily="34" charset="0"/>
                      </a:rPr>
                      <m:t>ℝ</m:t>
                    </m:r>
                  </m:oMath>
                </a14:m>
                <a:r>
                  <a:rPr lang="en-US" sz="480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9A8656B-C432-422C-B4E4-F97A2CA9D7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005" y="7043435"/>
                <a:ext cx="16306800" cy="1569660"/>
              </a:xfrm>
              <a:prstGeom prst="rect">
                <a:avLst/>
              </a:prstGeom>
              <a:blipFill>
                <a:blip r:embed="rId3"/>
                <a:stretch>
                  <a:fillRect l="-1682" t="-9302" b="-189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B1FC1868-A66A-459C-97EF-47E90E1F1D43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17297400" y="5650067"/>
            <a:ext cx="6065202" cy="7052473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   ·   BÀI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95307219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4" grpId="0" animBg="1"/>
      <p:bldP spid="6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607C58-0254-4291-902D-DAA2C403D846}"/>
              </a:ext>
            </a:extLst>
          </p:cNvPr>
          <p:cNvSpPr txBox="1"/>
          <p:nvPr/>
        </p:nvSpPr>
        <p:spPr>
          <a:xfrm>
            <a:off x="609600" y="2057400"/>
            <a:ext cx="2679700" cy="769441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44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BÀI TẬP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1606382-FA39-4A3B-B1DD-A91C81EDAB28}"/>
                  </a:ext>
                </a:extLst>
              </p:cNvPr>
              <p:cNvSpPr txBox="1"/>
              <p:nvPr/>
            </p:nvSpPr>
            <p:spPr>
              <a:xfrm>
                <a:off x="609600" y="3048000"/>
                <a:ext cx="22631400" cy="2380908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00FF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vi-VN" sz="4400" b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6.</a:t>
                </a:r>
                <a:r>
                  <a:rPr lang="en-US" sz="4400" b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5</a:t>
                </a:r>
                <a:r>
                  <a:rPr lang="vi-VN" sz="4400" b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  <a:r>
                  <a:rPr lang="en-US" sz="4400" b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Vẽ đồ thị của các hàm số sau và chỉ ra các khoảng đồng biến, nghịch biến của chúng:</a:t>
                </a:r>
              </a:p>
              <a:p>
                <a:r>
                  <a:rPr lang="vi-VN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a)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=−2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+1</m:t>
                    </m:r>
                  </m:oMath>
                </a14:m>
                <a:r>
                  <a:rPr lang="vi-VN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;	b)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vi-VN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1606382-FA39-4A3B-B1DD-A91C81EDAB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3048000"/>
                <a:ext cx="22631400" cy="2380908"/>
              </a:xfrm>
              <a:prstGeom prst="rect">
                <a:avLst/>
              </a:prstGeom>
              <a:blipFill>
                <a:blip r:embed="rId2"/>
                <a:stretch>
                  <a:fillRect l="-1050" t="-4835" b="-4071"/>
                </a:stretch>
              </a:blipFill>
              <a:ln>
                <a:solidFill>
                  <a:srgbClr val="0000FF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A43B1CCF-5899-40A5-BFB4-CAA46DF8E662}"/>
              </a:ext>
            </a:extLst>
          </p:cNvPr>
          <p:cNvSpPr txBox="1"/>
          <p:nvPr/>
        </p:nvSpPr>
        <p:spPr>
          <a:xfrm>
            <a:off x="590107" y="5867400"/>
            <a:ext cx="2679700" cy="769441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44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Lời giải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9A8656B-C432-422C-B4E4-F97A2CA9D7E0}"/>
                  </a:ext>
                </a:extLst>
              </p:cNvPr>
              <p:cNvSpPr txBox="1"/>
              <p:nvPr/>
            </p:nvSpPr>
            <p:spPr>
              <a:xfrm>
                <a:off x="622005" y="7043435"/>
                <a:ext cx="12941595" cy="2916952"/>
              </a:xfrm>
              <a:prstGeom prst="rect">
                <a:avLst/>
              </a:prstGeom>
              <a:solidFill>
                <a:srgbClr val="D6F7FE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480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b, Vẽ đồ thị hàm số </a:t>
                </a:r>
                <a14:m>
                  <m:oMath xmlns:m="http://schemas.openxmlformats.org/officeDocument/2006/math">
                    <m:r>
                      <a:rPr lang="en-US" sz="4800" b="0" i="1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𝑦</m:t>
                    </m:r>
                    <m:r>
                      <a:rPr lang="en-US" sz="4800" b="0" i="1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=−</m:t>
                    </m:r>
                    <m:f>
                      <m:fPr>
                        <m:ctrlPr>
                          <a:rPr lang="en-US" sz="4800" b="0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</m:ctrlPr>
                      </m:fPr>
                      <m:num>
                        <m:r>
                          <a:rPr lang="en-US" sz="4800" b="0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1</m:t>
                        </m:r>
                      </m:num>
                      <m:den>
                        <m:r>
                          <a:rPr lang="en-US" sz="4800" b="0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sz="4800" b="0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</m:ctrlPr>
                      </m:sSupPr>
                      <m:e>
                        <m:r>
                          <a:rPr lang="en-US" sz="4800" b="0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𝑥</m:t>
                        </m:r>
                      </m:e>
                      <m:sup>
                        <m:r>
                          <a:rPr lang="en-US" sz="4800" b="0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480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r>
                  <a:rPr lang="en-US" sz="480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Hàm số </a:t>
                </a:r>
                <a14:m>
                  <m:oMath xmlns:m="http://schemas.openxmlformats.org/officeDocument/2006/math">
                    <m:r>
                      <a:rPr lang="en-US" sz="4800" b="0" i="1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𝑦</m:t>
                    </m:r>
                    <m:r>
                      <a:rPr lang="en-US" sz="4800" b="0" i="1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=−</m:t>
                    </m:r>
                    <m:f>
                      <m:fPr>
                        <m:ctrlPr>
                          <a:rPr lang="en-US" sz="4800" b="0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</m:ctrlPr>
                      </m:fPr>
                      <m:num>
                        <m:r>
                          <a:rPr lang="en-US" sz="4800" b="0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1</m:t>
                        </m:r>
                      </m:num>
                      <m:den>
                        <m:r>
                          <a:rPr lang="en-US" sz="4800" b="0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sz="4800" b="0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</m:ctrlPr>
                      </m:sSupPr>
                      <m:e>
                        <m:r>
                          <a:rPr lang="en-US" sz="4800" b="0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𝑥</m:t>
                        </m:r>
                      </m:e>
                      <m:sup>
                        <m:r>
                          <a:rPr lang="en-US" sz="4800" b="0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480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đồng biến trên </a:t>
                </a:r>
                <a14:m>
                  <m:oMath xmlns:m="http://schemas.openxmlformats.org/officeDocument/2006/math">
                    <m:r>
                      <a:rPr lang="en-US" sz="4800" b="0" i="1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(−∞;0)</m:t>
                    </m:r>
                  </m:oMath>
                </a14:m>
                <a:r>
                  <a:rPr lang="en-US" sz="480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và  nghịch biến trên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4800" b="0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</m:ctrlPr>
                      </m:dPr>
                      <m:e>
                        <m:r>
                          <a:rPr lang="en-US" sz="4800" b="0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0;+∞</m:t>
                        </m:r>
                      </m:e>
                    </m:d>
                  </m:oMath>
                </a14:m>
                <a:r>
                  <a:rPr lang="en-US" sz="480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9A8656B-C432-422C-B4E4-F97A2CA9D7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005" y="7043435"/>
                <a:ext cx="12941595" cy="2916952"/>
              </a:xfrm>
              <a:prstGeom prst="rect">
                <a:avLst/>
              </a:prstGeom>
              <a:blipFill>
                <a:blip r:embed="rId3"/>
                <a:stretch>
                  <a:fillRect l="-2120" t="-626" r="-471" b="-98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6EDF044B-A3CE-4D30-A7CD-A04F5DC62B17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16002000" y="5650067"/>
            <a:ext cx="5859780" cy="762000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   ·   BÀI 15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234436191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607C58-0254-4291-902D-DAA2C403D846}"/>
              </a:ext>
            </a:extLst>
          </p:cNvPr>
          <p:cNvSpPr txBox="1"/>
          <p:nvPr/>
        </p:nvSpPr>
        <p:spPr>
          <a:xfrm>
            <a:off x="609600" y="2057400"/>
            <a:ext cx="2679700" cy="769441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44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BÀI TẬP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1606382-FA39-4A3B-B1DD-A91C81EDAB28}"/>
                  </a:ext>
                </a:extLst>
              </p:cNvPr>
              <p:cNvSpPr txBox="1"/>
              <p:nvPr/>
            </p:nvSpPr>
            <p:spPr>
              <a:xfrm>
                <a:off x="609600" y="3048000"/>
                <a:ext cx="23317200" cy="3785652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00FF"/>
                </a:solidFill>
              </a:ln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vi-VN" sz="4400" b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6.</a:t>
                </a:r>
                <a:r>
                  <a:rPr lang="en-US" sz="4400" b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6</a:t>
                </a:r>
                <a:r>
                  <a:rPr lang="vi-VN" sz="4400" b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  <a:r>
                  <a:rPr lang="en-US" sz="4400" b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Giá thuê xe ô tô tự lái là 1,2 triệu đồng một ngày cho hai ngày đầu tiên và 900 nghìn đồng cho mỗi ngày tiếp theo. Tổng số tiền </a:t>
                </a:r>
                <a14:m>
                  <m:oMath xmlns:m="http://schemas.openxmlformats.org/officeDocument/2006/math">
                    <m:r>
                      <a:rPr lang="en-US" sz="4800" b="1" i="1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𝑻</m:t>
                    </m:r>
                  </m:oMath>
                </a14:m>
                <a:r>
                  <a:rPr lang="en-US" sz="4800" b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phải trả là một hàm số của số ngày </a:t>
                </a:r>
                <a14:m>
                  <m:oMath xmlns:m="http://schemas.openxmlformats.org/officeDocument/2006/math">
                    <m:r>
                      <a:rPr lang="en-US" sz="4800" b="1" i="1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𝒙</m:t>
                    </m:r>
                  </m:oMath>
                </a14:m>
                <a:r>
                  <a:rPr lang="en-US" sz="4800" b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mà khách thuê xe.</a:t>
                </a:r>
              </a:p>
              <a:p>
                <a:pPr algn="just"/>
                <a:r>
                  <a:rPr lang="en-US" sz="4800" b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a, Viết công thức của hàm số </a:t>
                </a:r>
                <a14:m>
                  <m:oMath xmlns:m="http://schemas.openxmlformats.org/officeDocument/2006/math">
                    <m:r>
                      <a:rPr lang="en-US" sz="4800" b="1" i="1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𝑻</m:t>
                    </m:r>
                    <m:r>
                      <a:rPr lang="en-US" sz="4800" b="1" i="1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=</m:t>
                    </m:r>
                    <m:r>
                      <a:rPr lang="en-US" sz="4800" b="1" i="1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𝑻</m:t>
                    </m:r>
                    <m:d>
                      <m:dPr>
                        <m:ctrlPr>
                          <a:rPr lang="en-US" sz="4800" b="1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</m:ctrlPr>
                      </m:dPr>
                      <m:e>
                        <m:r>
                          <a:rPr lang="en-US" sz="4800" b="1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en-US" sz="4800" b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pPr algn="just"/>
                <a:r>
                  <a:rPr lang="en-US" sz="4800" b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b, Tính </a:t>
                </a:r>
                <a14:m>
                  <m:oMath xmlns:m="http://schemas.openxmlformats.org/officeDocument/2006/math">
                    <m:r>
                      <a:rPr lang="en-US" sz="4800" b="1" i="1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𝑻</m:t>
                    </m:r>
                    <m:d>
                      <m:dPr>
                        <m:ctrlPr>
                          <a:rPr lang="en-US" sz="4800" b="1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</m:ctrlPr>
                      </m:dPr>
                      <m:e>
                        <m:r>
                          <a:rPr lang="en-US" sz="4800" b="1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𝟐</m:t>
                        </m:r>
                      </m:e>
                    </m:d>
                    <m:r>
                      <a:rPr lang="en-US" sz="4800" b="1" i="1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, </m:t>
                    </m:r>
                    <m:r>
                      <a:rPr lang="en-US" sz="4800" b="1" i="1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𝑻</m:t>
                    </m:r>
                    <m:d>
                      <m:dPr>
                        <m:ctrlPr>
                          <a:rPr lang="en-US" sz="4800" b="1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</m:ctrlPr>
                      </m:dPr>
                      <m:e>
                        <m:r>
                          <a:rPr lang="en-US" sz="4800" b="1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𝟑</m:t>
                        </m:r>
                      </m:e>
                    </m:d>
                    <m:r>
                      <a:rPr lang="en-US" sz="4800" b="1" i="1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, </m:t>
                    </m:r>
                    <m:r>
                      <a:rPr lang="en-US" sz="4800" b="1" i="1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𝑻</m:t>
                    </m:r>
                    <m:d>
                      <m:dPr>
                        <m:ctrlPr>
                          <a:rPr lang="en-US" sz="4800" b="1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</m:ctrlPr>
                      </m:dPr>
                      <m:e>
                        <m:r>
                          <a:rPr lang="en-US" sz="4800" b="1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𝟓</m:t>
                        </m:r>
                      </m:e>
                    </m:d>
                  </m:oMath>
                </a14:m>
                <a:r>
                  <a:rPr lang="en-US" sz="4800" b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và cho biết ý nghĩa của mỗi giá trị này.</a:t>
                </a:r>
                <a:endParaRPr lang="vi-VN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1606382-FA39-4A3B-B1DD-A91C81EDAB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3048000"/>
                <a:ext cx="23317200" cy="3785652"/>
              </a:xfrm>
              <a:prstGeom prst="rect">
                <a:avLst/>
              </a:prstGeom>
              <a:blipFill>
                <a:blip r:embed="rId2"/>
                <a:stretch>
                  <a:fillRect l="-1150" t="-3531" r="-1150" b="-7223"/>
                </a:stretch>
              </a:blipFill>
              <a:ln>
                <a:solidFill>
                  <a:srgbClr val="0000FF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575B8A6F-B734-401A-97BA-B98E4019E877}"/>
              </a:ext>
            </a:extLst>
          </p:cNvPr>
          <p:cNvSpPr txBox="1"/>
          <p:nvPr/>
        </p:nvSpPr>
        <p:spPr>
          <a:xfrm>
            <a:off x="616688" y="6882349"/>
            <a:ext cx="2679700" cy="769441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44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Lời giải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1A879FA-C0B8-4EAD-955F-1CAA0E9AF37D}"/>
                  </a:ext>
                </a:extLst>
              </p:cNvPr>
              <p:cNvSpPr txBox="1"/>
              <p:nvPr/>
            </p:nvSpPr>
            <p:spPr>
              <a:xfrm>
                <a:off x="609600" y="7700487"/>
                <a:ext cx="23317200" cy="3217356"/>
              </a:xfrm>
              <a:prstGeom prst="rect">
                <a:avLst/>
              </a:prstGeom>
              <a:solidFill>
                <a:srgbClr val="D6F7FE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480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a, Hàm số </a:t>
                </a:r>
                <a14:m>
                  <m:oMath xmlns:m="http://schemas.openxmlformats.org/officeDocument/2006/math">
                    <m:r>
                      <a:rPr lang="en-US" sz="4800" b="0" i="1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𝑇</m:t>
                    </m:r>
                    <m:r>
                      <a:rPr lang="en-US" sz="4800" b="0" i="1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=</m:t>
                    </m:r>
                    <m:r>
                      <a:rPr lang="en-US" sz="4800" b="0" i="1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𝑇</m:t>
                    </m:r>
                    <m:d>
                      <m:dPr>
                        <m:ctrlPr>
                          <a:rPr lang="en-US" sz="4800" b="0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</m:ctrlPr>
                      </m:dPr>
                      <m:e>
                        <m:r>
                          <a:rPr lang="en-US" sz="4800" b="0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480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được cho bởi công thức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4800" i="1">
                          <a:latin typeface="Cambria Math" panose="02040503050406030204" pitchFamily="18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m:t>T</m:t>
                      </m:r>
                      <m:d>
                        <m:dPr>
                          <m:ctrlPr>
                            <a:rPr lang="en-US" sz="4800" b="0" i="1" smtClean="0">
                              <a:latin typeface="Cambria Math" panose="02040503050406030204" pitchFamily="18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</m:ctrlPr>
                        </m:dPr>
                        <m:e>
                          <m:r>
                            <a:rPr lang="en-US" sz="4800" b="0" i="1" smtClean="0">
                              <a:latin typeface="Cambria Math" panose="02040503050406030204" pitchFamily="18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m:t>𝑥</m:t>
                          </m:r>
                        </m:e>
                      </m:d>
                      <m:r>
                        <a:rPr lang="en-US" sz="4800" b="0" i="1" smtClean="0">
                          <a:latin typeface="Cambria Math" panose="02040503050406030204" pitchFamily="18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4800" i="1" smtClean="0">
                              <a:latin typeface="Cambria Math" panose="02040503050406030204" pitchFamily="18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4800" b="0" i="1" smtClean="0">
                                  <a:latin typeface="Cambria Math" panose="02040503050406030204" pitchFamily="18" charset="0"/>
                                  <a:ea typeface="Tahoma" panose="020B0604030504040204" pitchFamily="34" charset="0"/>
                                  <a:cs typeface="Tahoma" panose="020B0604030504040204" pitchFamily="34" charset="0"/>
                                </a:rPr>
                              </m:ctrlPr>
                            </m:eqArrPr>
                            <m:e>
                              <m:r>
                                <a:rPr lang="en-US" sz="4800" b="0" i="1" smtClean="0">
                                  <a:latin typeface="Cambria Math" panose="02040503050406030204" pitchFamily="18" charset="0"/>
                                  <a:ea typeface="Tahoma" panose="020B0604030504040204" pitchFamily="34" charset="0"/>
                                  <a:cs typeface="Tahoma" panose="020B0604030504040204" pitchFamily="34" charset="0"/>
                                </a:rPr>
                                <m:t>1200000</m:t>
                              </m:r>
                              <m:r>
                                <a:rPr lang="en-US" sz="4800" b="0" i="1" smtClean="0">
                                  <a:latin typeface="Cambria Math" panose="02040503050406030204" pitchFamily="18" charset="0"/>
                                  <a:ea typeface="Tahoma" panose="020B0604030504040204" pitchFamily="34" charset="0"/>
                                  <a:cs typeface="Tahoma" panose="020B0604030504040204" pitchFamily="34" charset="0"/>
                                </a:rPr>
                                <m:t>𝑥</m:t>
                              </m:r>
                              <m:r>
                                <a:rPr lang="en-US" sz="4800" b="0" i="1" smtClean="0">
                                  <a:latin typeface="Cambria Math" panose="02040503050406030204" pitchFamily="18" charset="0"/>
                                  <a:ea typeface="Tahoma" panose="020B0604030504040204" pitchFamily="34" charset="0"/>
                                  <a:cs typeface="Tahoma" panose="020B0604030504040204" pitchFamily="34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4800" b="0" i="0" smtClean="0">
                                  <a:latin typeface="Cambria Math" panose="02040503050406030204" pitchFamily="18" charset="0"/>
                                  <a:ea typeface="Tahoma" panose="020B0604030504040204" pitchFamily="34" charset="0"/>
                                  <a:cs typeface="Tahoma" panose="020B0604030504040204" pitchFamily="34" charset="0"/>
                                </a:rPr>
                                <m:t>khi</m:t>
                              </m:r>
                              <m:r>
                                <a:rPr lang="en-US" sz="4800" b="0" i="0" smtClean="0">
                                  <a:latin typeface="Cambria Math" panose="02040503050406030204" pitchFamily="18" charset="0"/>
                                  <a:ea typeface="Tahoma" panose="020B0604030504040204" pitchFamily="34" charset="0"/>
                                  <a:cs typeface="Tahoma" panose="020B0604030504040204" pitchFamily="34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4800" b="0" i="0" smtClean="0">
                                  <a:latin typeface="Cambria Math" panose="02040503050406030204" pitchFamily="18" charset="0"/>
                                  <a:ea typeface="Tahoma" panose="020B0604030504040204" pitchFamily="34" charset="0"/>
                                  <a:cs typeface="Tahoma" panose="020B0604030504040204" pitchFamily="34" charset="0"/>
                                </a:rPr>
                                <m:t>x</m:t>
                              </m:r>
                              <m:r>
                                <a:rPr lang="en-US" sz="4800" b="0" i="1" smtClean="0">
                                  <a:latin typeface="Cambria Math" panose="02040503050406030204" pitchFamily="18" charset="0"/>
                                  <a:ea typeface="Tahoma" panose="020B0604030504040204" pitchFamily="34" charset="0"/>
                                  <a:cs typeface="Tahoma" panose="020B0604030504040204" pitchFamily="34" charset="0"/>
                                </a:rPr>
                                <m:t>∈{1;2}</m:t>
                              </m:r>
                            </m:e>
                            <m:e>
                              <m:r>
                                <a:rPr lang="en-US" sz="4800" b="0" i="1" smtClean="0">
                                  <a:latin typeface="Cambria Math" panose="02040503050406030204" pitchFamily="18" charset="0"/>
                                  <a:ea typeface="Tahoma" panose="020B0604030504040204" pitchFamily="34" charset="0"/>
                                  <a:cs typeface="Tahoma" panose="020B0604030504040204" pitchFamily="34" charset="0"/>
                                </a:rPr>
                                <m:t>2400000+900000.</m:t>
                              </m:r>
                              <m:d>
                                <m:dPr>
                                  <m:ctrlPr>
                                    <a:rPr lang="en-US" sz="4800" b="0" i="1" smtClean="0">
                                      <a:latin typeface="Cambria Math" panose="02040503050406030204" pitchFamily="18" charset="0"/>
                                      <a:ea typeface="Tahoma" panose="020B0604030504040204" pitchFamily="34" charset="0"/>
                                      <a:cs typeface="Tahoma" panose="020B060403050404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4800" b="0" i="1" smtClean="0">
                                      <a:latin typeface="Cambria Math" panose="02040503050406030204" pitchFamily="18" charset="0"/>
                                      <a:ea typeface="Tahoma" panose="020B0604030504040204" pitchFamily="34" charset="0"/>
                                      <a:cs typeface="Tahoma" panose="020B0604030504040204" pitchFamily="34" charset="0"/>
                                    </a:rPr>
                                    <m:t>𝑥</m:t>
                                  </m:r>
                                  <m:r>
                                    <a:rPr lang="en-US" sz="4800" b="0" i="1" smtClean="0">
                                      <a:latin typeface="Cambria Math" panose="02040503050406030204" pitchFamily="18" charset="0"/>
                                      <a:ea typeface="Tahoma" panose="020B0604030504040204" pitchFamily="34" charset="0"/>
                                      <a:cs typeface="Tahoma" panose="020B0604030504040204" pitchFamily="34" charset="0"/>
                                    </a:rPr>
                                    <m:t>−2</m:t>
                                  </m:r>
                                </m:e>
                              </m:d>
                              <m:r>
                                <a:rPr lang="en-US" sz="4800" b="0" i="0" smtClean="0">
                                  <a:latin typeface="Cambria Math" panose="02040503050406030204" pitchFamily="18" charset="0"/>
                                  <a:ea typeface="Tahoma" panose="020B0604030504040204" pitchFamily="34" charset="0"/>
                                  <a:cs typeface="Tahoma" panose="020B0604030504040204" pitchFamily="34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4800" b="0" i="0" smtClean="0">
                                  <a:latin typeface="Cambria Math" panose="02040503050406030204" pitchFamily="18" charset="0"/>
                                  <a:ea typeface="Tahoma" panose="020B0604030504040204" pitchFamily="34" charset="0"/>
                                  <a:cs typeface="Tahoma" panose="020B0604030504040204" pitchFamily="34" charset="0"/>
                                </a:rPr>
                                <m:t>khi</m:t>
                              </m:r>
                              <m:r>
                                <a:rPr lang="en-US" sz="4800" b="0" i="0" smtClean="0">
                                  <a:latin typeface="Cambria Math" panose="02040503050406030204" pitchFamily="18" charset="0"/>
                                  <a:ea typeface="Tahoma" panose="020B0604030504040204" pitchFamily="34" charset="0"/>
                                  <a:cs typeface="Tahoma" panose="020B0604030504040204" pitchFamily="34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4800" b="0" i="0" smtClean="0">
                                  <a:latin typeface="Cambria Math" panose="02040503050406030204" pitchFamily="18" charset="0"/>
                                  <a:ea typeface="Tahoma" panose="020B0604030504040204" pitchFamily="34" charset="0"/>
                                  <a:cs typeface="Tahoma" panose="020B0604030504040204" pitchFamily="34" charset="0"/>
                                </a:rPr>
                                <m:t>x</m:t>
                              </m:r>
                              <m:r>
                                <a:rPr lang="en-US" sz="4800" b="0" i="0" smtClean="0">
                                  <a:latin typeface="Cambria Math" panose="02040503050406030204" pitchFamily="18" charset="0"/>
                                  <a:ea typeface="Tahoma" panose="020B0604030504040204" pitchFamily="34" charset="0"/>
                                  <a:cs typeface="Tahoma" panose="020B0604030504040204" pitchFamily="34" charset="0"/>
                                </a:rPr>
                                <m:t>&gt;2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480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r>
                  <a:rPr lang="en-US" sz="480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ở đó </a:t>
                </a:r>
                <a14:m>
                  <m:oMath xmlns:m="http://schemas.openxmlformats.org/officeDocument/2006/math">
                    <m:r>
                      <a:rPr lang="en-US" sz="4800" i="1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𝑥</m:t>
                    </m:r>
                  </m:oMath>
                </a14:m>
                <a:r>
                  <a:rPr lang="en-US" sz="480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là số ngày thuê xe,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4800" b="0" i="0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T</m:t>
                    </m:r>
                    <m:r>
                      <a:rPr lang="en-US" sz="4800" b="0" i="1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(</m:t>
                    </m:r>
                    <m:r>
                      <a:rPr lang="en-US" sz="4800" b="0" i="1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𝑥</m:t>
                    </m:r>
                    <m:r>
                      <a:rPr lang="en-US" sz="4800" b="0" i="1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)</m:t>
                    </m:r>
                  </m:oMath>
                </a14:m>
                <a:r>
                  <a:rPr lang="en-US" sz="480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là số tiền tính theo đơn vị nghìn đồng.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1A879FA-C0B8-4EAD-955F-1CAA0E9AF3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7700487"/>
                <a:ext cx="23317200" cy="3217356"/>
              </a:xfrm>
              <a:prstGeom prst="rect">
                <a:avLst/>
              </a:prstGeom>
              <a:blipFill>
                <a:blip r:embed="rId3"/>
                <a:stretch>
                  <a:fillRect l="-1176" t="-4545" b="-89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0892AB9-A163-4ADC-85D3-CCB3B270BE1F}"/>
                  </a:ext>
                </a:extLst>
              </p:cNvPr>
              <p:cNvSpPr txBox="1"/>
              <p:nvPr/>
            </p:nvSpPr>
            <p:spPr>
              <a:xfrm>
                <a:off x="609600" y="11369179"/>
                <a:ext cx="23317200" cy="830997"/>
              </a:xfrm>
              <a:prstGeom prst="rect">
                <a:avLst/>
              </a:prstGeom>
              <a:solidFill>
                <a:srgbClr val="D6F7FE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480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b, Theo công thức, ta có </a:t>
                </a:r>
                <a14:m>
                  <m:oMath xmlns:m="http://schemas.openxmlformats.org/officeDocument/2006/math">
                    <m:r>
                      <a:rPr lang="en-US" sz="4800" b="0" i="1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𝑇</m:t>
                    </m:r>
                    <m:d>
                      <m:dPr>
                        <m:ctrlPr>
                          <a:rPr lang="en-US" sz="4800" b="0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</m:ctrlPr>
                      </m:dPr>
                      <m:e>
                        <m:r>
                          <a:rPr lang="en-US" sz="4800" b="0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2</m:t>
                        </m:r>
                      </m:e>
                    </m:d>
                    <m:r>
                      <a:rPr lang="en-US" sz="4800" b="0" i="1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=2400000;</m:t>
                    </m:r>
                    <m:r>
                      <a:rPr lang="en-US" sz="4800" b="0" i="1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𝑇</m:t>
                    </m:r>
                    <m:d>
                      <m:dPr>
                        <m:ctrlPr>
                          <a:rPr lang="en-US" sz="4800" b="0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</m:ctrlPr>
                      </m:dPr>
                      <m:e>
                        <m:r>
                          <a:rPr lang="en-US" sz="4800" b="0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3</m:t>
                        </m:r>
                      </m:e>
                    </m:d>
                    <m:r>
                      <a:rPr lang="en-US" sz="4800" b="0" i="1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=3300000;</m:t>
                    </m:r>
                    <m:r>
                      <a:rPr lang="en-US" sz="4800" b="0" i="1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𝑇</m:t>
                    </m:r>
                    <m:d>
                      <m:dPr>
                        <m:ctrlPr>
                          <a:rPr lang="en-US" sz="4800" b="0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</m:ctrlPr>
                      </m:dPr>
                      <m:e>
                        <m:r>
                          <a:rPr lang="en-US" sz="4800" b="0" i="1" smtClean="0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5</m:t>
                        </m:r>
                      </m:e>
                    </m:d>
                    <m:r>
                      <a:rPr lang="en-US" sz="4800" b="0" i="1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=5100000 </m:t>
                    </m:r>
                  </m:oMath>
                </a14:m>
                <a:r>
                  <a:rPr lang="en-US" sz="480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0892AB9-A163-4ADC-85D3-CCB3B270BE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11369179"/>
                <a:ext cx="23317200" cy="830997"/>
              </a:xfrm>
              <a:prstGeom prst="rect">
                <a:avLst/>
              </a:prstGeom>
              <a:blipFill>
                <a:blip r:embed="rId4"/>
                <a:stretch>
                  <a:fillRect l="-1176" t="-17647" b="-37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ounded Rectangle 21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VI   ·   BÀI 15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279995552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8.0&quot;&gt;&lt;object type=&quot;1&quot; unique_id=&quot;10001&quot;&gt;&lt;object type=&quot;2&quot; unique_id=&quot;10002&quot;&gt;&lt;object type=&quot;3&quot; unique_id=&quot;10003&quot;&gt;&lt;property id=&quot;20148&quot; value=&quot;5&quot;/&gt;&lt;property id=&quot;20300&quot; value=&quot;Slide 1&quot;/&gt;&lt;property id=&quot;20307&quot; value=&quot;257&quot;/&gt;&lt;/object&gt;&lt;object type=&quot;3&quot; unique_id=&quot;10004&quot;&gt;&lt;property id=&quot;20148&quot; value=&quot;5&quot;/&gt;&lt;property id=&quot;20300&quot; value=&quot;Slide 2&quot;/&gt;&lt;property id=&quot;20307&quot; value=&quot;258&quot;/&gt;&lt;/object&gt;&lt;object type=&quot;3&quot; unique_id=&quot;10005&quot;&gt;&lt;property id=&quot;20148&quot; value=&quot;5&quot;/&gt;&lt;property id=&quot;20300&quot; value=&quot;Slide 3&quot;/&gt;&lt;property id=&quot;20307&quot; value=&quot;259&quot;/&gt;&lt;/object&gt;&lt;object type=&quot;3&quot; unique_id=&quot;10006&quot;&gt;&lt;property id=&quot;20148&quot; value=&quot;5&quot;/&gt;&lt;property id=&quot;20300&quot; value=&quot;Slide 4&quot;/&gt;&lt;property id=&quot;20307&quot; value=&quot;260&quot;/&gt;&lt;/object&gt;&lt;object type=&quot;3&quot; unique_id=&quot;10007&quot;&gt;&lt;property id=&quot;20148&quot; value=&quot;5&quot;/&gt;&lt;property id=&quot;20300&quot; value=&quot;Slide 5&quot;/&gt;&lt;property id=&quot;20307&quot; value=&quot;262&quot;/&gt;&lt;/object&gt;&lt;object type=&quot;3&quot; unique_id=&quot;10008&quot;&gt;&lt;property id=&quot;20148&quot; value=&quot;5&quot;/&gt;&lt;property id=&quot;20300&quot; value=&quot;Slide 6&quot;/&gt;&lt;property id=&quot;20307&quot; value=&quot;263&quot;/&gt;&lt;/object&gt;&lt;object type=&quot;3&quot; unique_id=&quot;10009&quot;&gt;&lt;property id=&quot;20148&quot; value=&quot;5&quot;/&gt;&lt;property id=&quot;20300&quot; value=&quot;Slide 7&quot;/&gt;&lt;property id=&quot;20307&quot; value=&quot;264&quot;/&gt;&lt;/object&gt;&lt;object type=&quot;3&quot; unique_id=&quot;10010&quot;&gt;&lt;property id=&quot;20148&quot; value=&quot;5&quot;/&gt;&lt;property id=&quot;20300&quot; value=&quot;Slide 8&quot;/&gt;&lt;property id=&quot;20307&quot; value=&quot;265&quot;/&gt;&lt;/object&gt;&lt;object type=&quot;3&quot; unique_id=&quot;10011&quot;&gt;&lt;property id=&quot;20148&quot; value=&quot;5&quot;/&gt;&lt;property id=&quot;20300&quot; value=&quot;Slide 9&quot;/&gt;&lt;property id=&quot;20307&quot; value=&quot;266&quot;/&gt;&lt;/object&gt;&lt;object type=&quot;3&quot; unique_id=&quot;10012&quot;&gt;&lt;property id=&quot;20148&quot; value=&quot;5&quot;/&gt;&lt;property id=&quot;20300&quot; value=&quot;Slide 10&quot;/&gt;&lt;property id=&quot;20307&quot; value=&quot;267&quot;/&gt;&lt;/object&gt;&lt;object type=&quot;3&quot; unique_id=&quot;10013&quot;&gt;&lt;property id=&quot;20148&quot; value=&quot;5&quot;/&gt;&lt;property id=&quot;20300&quot; value=&quot;Slide 11&quot;/&gt;&lt;property id=&quot;20307&quot; value=&quot;269&quot;/&gt;&lt;/object&gt;&lt;object type=&quot;3&quot; unique_id=&quot;10014&quot;&gt;&lt;property id=&quot;20148&quot; value=&quot;5&quot;/&gt;&lt;property id=&quot;20300&quot; value=&quot;Slide 12&quot;/&gt;&lt;property id=&quot;20307&quot; value=&quot;270&quot;/&gt;&lt;/object&gt;&lt;object type=&quot;3&quot; unique_id=&quot;10015&quot;&gt;&lt;property id=&quot;20148&quot; value=&quot;5&quot;/&gt;&lt;property id=&quot;20300&quot; value=&quot;Slide 13&quot;/&gt;&lt;property id=&quot;20307&quot; value=&quot;274&quot;/&gt;&lt;/object&gt;&lt;object type=&quot;3&quot; unique_id=&quot;10016&quot;&gt;&lt;property id=&quot;20148&quot; value=&quot;5&quot;/&gt;&lt;property id=&quot;20300&quot; value=&quot;Slide 14&quot;/&gt;&lt;property id=&quot;20307&quot; value=&quot;275&quot;/&gt;&lt;/object&gt;&lt;object type=&quot;3&quot; unique_id=&quot;10017&quot;&gt;&lt;property id=&quot;20148&quot; value=&quot;5&quot;/&gt;&lt;property id=&quot;20300&quot; value=&quot;Slide 15&quot;/&gt;&lt;property id=&quot;20307&quot; value=&quot;276&quot;/&gt;&lt;/object&gt;&lt;object type=&quot;3&quot; unique_id=&quot;10018&quot;&gt;&lt;property id=&quot;20148&quot; value=&quot;5&quot;/&gt;&lt;property id=&quot;20300&quot; value=&quot;Slide 16&quot;/&gt;&lt;property id=&quot;20307&quot; value=&quot;277&quot;/&gt;&lt;/object&gt;&lt;object type=&quot;3&quot; unique_id=&quot;10019&quot;&gt;&lt;property id=&quot;20148&quot; value=&quot;5&quot;/&gt;&lt;property id=&quot;20300&quot; value=&quot;Slide 17&quot;/&gt;&lt;property id=&quot;20307&quot; value=&quot;271&quot;/&gt;&lt;/object&gt;&lt;object type=&quot;3&quot; unique_id=&quot;10020&quot;&gt;&lt;property id=&quot;20148&quot; value=&quot;5&quot;/&gt;&lt;property id=&quot;20300&quot; value=&quot;Slide 18&quot;/&gt;&lt;property id=&quot;20307&quot; value=&quot;278&quot;/&gt;&lt;/object&gt;&lt;object type=&quot;3&quot; unique_id=&quot;10021&quot;&gt;&lt;property id=&quot;20148&quot; value=&quot;5&quot;/&gt;&lt;property id=&quot;20300&quot; value=&quot;Slide 19&quot;/&gt;&lt;property id=&quot;20307&quot; value=&quot;279&quot;/&gt;&lt;/object&gt;&lt;object type=&quot;3&quot; unique_id=&quot;10022&quot;&gt;&lt;property id=&quot;20148&quot; value=&quot;5&quot;/&gt;&lt;property id=&quot;20300&quot; value=&quot;Slide 20&quot;/&gt;&lt;property id=&quot;20307&quot; value=&quot;272&quot;/&gt;&lt;/object&gt;&lt;object type=&quot;3&quot; unique_id=&quot;10023&quot;&gt;&lt;property id=&quot;20148&quot; value=&quot;5&quot;/&gt;&lt;property id=&quot;20300&quot; value=&quot;Slide 21&quot;/&gt;&lt;property id=&quot;20307&quot; value=&quot;273&quot;/&gt;&lt;/object&gt;&lt;object type=&quot;3&quot; unique_id=&quot;10024&quot;&gt;&lt;property id=&quot;20148&quot; value=&quot;5&quot;/&gt;&lt;property id=&quot;20300&quot; value=&quot;Slide 22&quot;/&gt;&lt;property id=&quot;20307&quot; value=&quot;268&quot;/&gt;&lt;/object&gt;&lt;object type=&quot;3&quot; unique_id=&quot;10025&quot;&gt;&lt;property id=&quot;20148&quot; value=&quot;5&quot;/&gt;&lt;property id=&quot;20300&quot; value=&quot;Slide 23&quot;/&gt;&lt;property id=&quot;20307&quot; value=&quot;280&quot;/&gt;&lt;/object&gt;&lt;object type=&quot;3&quot; unique_id=&quot;10026&quot;&gt;&lt;property id=&quot;20148&quot; value=&quot;5&quot;/&gt;&lt;property id=&quot;20300&quot; value=&quot;Slide 24&quot;/&gt;&lt;property id=&quot;20307&quot; value=&quot;281&quot;/&gt;&lt;/object&gt;&lt;object type=&quot;3&quot; unique_id=&quot;10027&quot;&gt;&lt;property id=&quot;20148&quot; value=&quot;5&quot;/&gt;&lt;property id=&quot;20300&quot; value=&quot;Slide 25&quot;/&gt;&lt;property id=&quot;20307&quot; value=&quot;282&quot;/&gt;&lt;/object&gt;&lt;/object&gt;&lt;object type=&quot;8&quot; unique_id=&quot;10056&quot;&gt;&lt;/object&gt;&lt;/object&gt;&lt;/database&gt;"/>
  <p:tag name="SECTOMILLISECCONVERTED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9Slide.vn</Template>
  <TotalTime>4147</TotalTime>
  <Words>2210</Words>
  <Application>Microsoft Office PowerPoint</Application>
  <PresentationFormat>Custom</PresentationFormat>
  <Paragraphs>375</Paragraphs>
  <Slides>41</Slides>
  <Notes>22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41</vt:i4>
      </vt:variant>
    </vt:vector>
  </HeadingPairs>
  <TitlesOfParts>
    <vt:vector size="56" baseType="lpstr">
      <vt:lpstr>Yu Gothic UI Semilight</vt:lpstr>
      <vt:lpstr>Arial</vt:lpstr>
      <vt:lpstr>Bahnschrift SemiBold SemiConden</vt:lpstr>
      <vt:lpstr>Baumans</vt:lpstr>
      <vt:lpstr>Calibri</vt:lpstr>
      <vt:lpstr>Calibri Light</vt:lpstr>
      <vt:lpstr>Cambria Math</vt:lpstr>
      <vt:lpstr>Cascadia Mono</vt:lpstr>
      <vt:lpstr>Tahoma</vt:lpstr>
      <vt:lpstr>Times New Roman</vt:lpstr>
      <vt:lpstr>Tomaho</vt:lpstr>
      <vt:lpstr>Office Theme</vt:lpstr>
      <vt:lpstr>1_Office Theme</vt:lpstr>
      <vt:lpstr>Document</vt:lpstr>
      <vt:lpstr>Equation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>9Slide.vn</Manager>
  <Company>9Slide.vn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subject>9Slide.vn</dc:subject>
  <dc:creator>BINH</dc:creator>
  <dc:description>9Slide.vn</dc:description>
  <cp:lastModifiedBy>Admin</cp:lastModifiedBy>
  <cp:revision>449</cp:revision>
  <dcterms:created xsi:type="dcterms:W3CDTF">2013-08-31T11:42:51Z</dcterms:created>
  <dcterms:modified xsi:type="dcterms:W3CDTF">2022-08-29T10:16:20Z</dcterms:modified>
  <cp:category>9Slide.vn</cp:category>
</cp:coreProperties>
</file>