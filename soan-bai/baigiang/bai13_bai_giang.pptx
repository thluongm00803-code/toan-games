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43"/>
  </p:notesMasterIdLst>
  <p:sldIdLst>
    <p:sldId id="313" r:id="rId3"/>
    <p:sldId id="301" r:id="rId4"/>
    <p:sldId id="316" r:id="rId5"/>
    <p:sldId id="318" r:id="rId6"/>
    <p:sldId id="317" r:id="rId7"/>
    <p:sldId id="319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24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  <p:sldId id="357" r:id="rId42"/>
  </p:sldIdLst>
  <p:sldSz cx="24384000" cy="13716000"/>
  <p:notesSz cx="6858000" cy="9144000"/>
  <p:custDataLst>
    <p:tags r:id="rId44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7FF"/>
    <a:srgbClr val="D6F7FE"/>
    <a:srgbClr val="EEF7E9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138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notesMaster" Target="notesMasters/notesMaster1.xml"/><Relationship Id="rId44" Type="http://schemas.openxmlformats.org/officeDocument/2006/relationships/tags" Target="tags/tag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43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62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0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9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5.png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0.png"/><Relationship Id="rId3" Type="http://schemas.openxmlformats.org/officeDocument/2006/relationships/image" Target="../media/image1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0.png"/><Relationship Id="rId3" Type="http://schemas.openxmlformats.org/officeDocument/2006/relationships/image" Target="../media/image1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0.png"/><Relationship Id="rId3" Type="http://schemas.openxmlformats.org/officeDocument/2006/relationships/image" Target="../media/image20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0.png"/><Relationship Id="rId3" Type="http://schemas.openxmlformats.org/officeDocument/2006/relationships/image" Target="../media/image2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0.png"/><Relationship Id="rId3" Type="http://schemas.openxmlformats.org/officeDocument/2006/relationships/image" Target="../media/image2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50.png"/><Relationship Id="rId3" Type="http://schemas.openxmlformats.org/officeDocument/2006/relationships/image" Target="../media/image26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0.png"/><Relationship Id="rId4" Type="http://schemas.openxmlformats.org/officeDocument/2006/relationships/image" Target="../media/image28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181523"/>
            <a:chOff x="9851187" y="2126503"/>
            <a:chExt cx="139446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477625" y="2164810"/>
              <a:ext cx="12025128" cy="2400092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1757873" y="5288484"/>
              <a:ext cx="10634253" cy="51054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§12.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gần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đúng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§13.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Các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đặc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trưng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đo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	xu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thế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trung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tâm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§14.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Các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đặc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trưng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đo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	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độ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phân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tán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583035" y="2428363"/>
              <a:ext cx="118317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 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</a:t>
              </a:r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CÁC SỐ ĐẶC TRƯNG CỦA MẪU SỐ LIỆU KHÔNG GHÉP NHÓM</a:t>
              </a:r>
              <a:endParaRPr lang="vi-VN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FF52DF-8AC8-4DAD-B751-39601E57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4" y="1924240"/>
            <a:ext cx="8813299" cy="109336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7C9077-2F0E-4830-9CBB-2CF87E745444}"/>
              </a:ext>
            </a:extLst>
          </p:cNvPr>
          <p:cNvGrpSpPr/>
          <p:nvPr/>
        </p:nvGrpSpPr>
        <p:grpSpPr>
          <a:xfrm>
            <a:off x="878961" y="1507105"/>
            <a:ext cx="22854965" cy="12074719"/>
            <a:chOff x="1400962" y="1396677"/>
            <a:chExt cx="22854965" cy="12074719"/>
          </a:xfrm>
        </p:grpSpPr>
        <p:grpSp>
          <p:nvGrpSpPr>
            <p:cNvPr id="69" name="Group 68"/>
            <p:cNvGrpSpPr/>
            <p:nvPr/>
          </p:nvGrpSpPr>
          <p:grpSpPr>
            <a:xfrm>
              <a:off x="1447799" y="1797127"/>
              <a:ext cx="22808128" cy="11674269"/>
              <a:chOff x="-3667029" y="3448230"/>
              <a:chExt cx="22808128" cy="11674269"/>
            </a:xfrm>
          </p:grpSpPr>
          <p:sp>
            <p:nvSpPr>
              <p:cNvPr id="70" name="Right Triangle 6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/>
              </a:p>
            </p:txBody>
          </p:sp>
          <p:grpSp>
            <p:nvGrpSpPr>
              <p:cNvPr id="71" name="Group 70"/>
              <p:cNvGrpSpPr/>
              <p:nvPr/>
            </p:nvGrpSpPr>
            <p:grpSpPr>
              <a:xfrm>
                <a:off x="-3667029" y="3448230"/>
                <a:ext cx="22808128" cy="11674269"/>
                <a:chOff x="-3667029" y="3448230"/>
                <a:chExt cx="22808128" cy="11674269"/>
              </a:xfrm>
            </p:grpSpPr>
            <p:sp>
              <p:nvSpPr>
                <p:cNvPr id="72" name="Rounded Rectangle 71"/>
                <p:cNvSpPr/>
                <p:nvPr/>
              </p:nvSpPr>
              <p:spPr>
                <a:xfrm>
                  <a:off x="-3667029" y="3592713"/>
                  <a:ext cx="22808128" cy="11529786"/>
                </a:xfrm>
                <a:prstGeom prst="roundRect">
                  <a:avLst>
                    <a:gd name="adj" fmla="val 2127"/>
                  </a:avLst>
                </a:prstGeom>
                <a:solidFill>
                  <a:schemeClr val="bg1"/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5965285" y="3448230"/>
                  <a:ext cx="3478837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48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74" name="Right Triangle 73"/>
            <p:cNvSpPr/>
            <p:nvPr/>
          </p:nvSpPr>
          <p:spPr>
            <a:xfrm flipH="1">
              <a:off x="7921388" y="1793819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  <p:sp>
          <p:nvSpPr>
            <p:cNvPr id="96" name="Round Same Side Corner Rectangle 95"/>
            <p:cNvSpPr/>
            <p:nvPr/>
          </p:nvSpPr>
          <p:spPr>
            <a:xfrm flipV="1">
              <a:off x="4908407" y="1433823"/>
              <a:ext cx="16191223" cy="1545939"/>
            </a:xfrm>
            <a:prstGeom prst="round2SameRect">
              <a:avLst>
                <a:gd name="adj1" fmla="val 6458"/>
                <a:gd name="adj2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14210" y="1396677"/>
              <a:ext cx="1440497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 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</a:t>
              </a:r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CÁC SỐ ĐẶC TRƯNG CỦA MẪU SỐ LIỆU KHÔNG GHÉP NHÓM</a:t>
              </a:r>
              <a:endParaRPr lang="vi-VN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467544" y="4114018"/>
              <a:ext cx="13632086" cy="8332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0" tIns="45705" rIns="91410" bIns="45705" rtlCol="0" anchor="ctr"/>
            <a:lstStyle/>
            <a:p>
              <a:pPr algn="ctr"/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6" name="Group 60"/>
            <p:cNvGrpSpPr/>
            <p:nvPr/>
          </p:nvGrpSpPr>
          <p:grpSpPr>
            <a:xfrm>
              <a:off x="1511839" y="7151110"/>
              <a:ext cx="11069900" cy="839599"/>
              <a:chOff x="7523709" y="8973279"/>
              <a:chExt cx="11071165" cy="839696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9001087" y="8981882"/>
                <a:ext cx="9593787" cy="8310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/>
                </a:pPr>
                <a:r>
                  <a:rPr lang="en-US" sz="4800" b="1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 TRUNG BÌNH VÀ TRUNG VỊ</a:t>
                </a:r>
              </a:p>
            </p:txBody>
          </p:sp>
          <p:grpSp>
            <p:nvGrpSpPr>
              <p:cNvPr id="60" name="Group 28"/>
              <p:cNvGrpSpPr/>
              <p:nvPr/>
            </p:nvGrpSpPr>
            <p:grpSpPr>
              <a:xfrm>
                <a:off x="7523709" y="8973279"/>
                <a:ext cx="1383018" cy="831093"/>
                <a:chOff x="7523182" y="9430479"/>
                <a:chExt cx="1371600" cy="831093"/>
              </a:xfrm>
            </p:grpSpPr>
            <p:sp>
              <p:nvSpPr>
                <p:cNvPr id="61" name="Round Same Side Corner Rectangle 60"/>
                <p:cNvSpPr/>
                <p:nvPr/>
              </p:nvSpPr>
              <p:spPr>
                <a:xfrm rot="5400000">
                  <a:off x="7843222" y="9146031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7900154" y="9430479"/>
                  <a:ext cx="507514" cy="831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8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1</a:t>
                  </a:r>
                </a:p>
              </p:txBody>
            </p:sp>
          </p:grpSp>
        </p:grpSp>
        <p:grpSp>
          <p:nvGrpSpPr>
            <p:cNvPr id="63" name="Group 67"/>
            <p:cNvGrpSpPr/>
            <p:nvPr/>
          </p:nvGrpSpPr>
          <p:grpSpPr>
            <a:xfrm>
              <a:off x="1400962" y="8483102"/>
              <a:ext cx="5395942" cy="839307"/>
              <a:chOff x="7412831" y="8193529"/>
              <a:chExt cx="5396569" cy="839404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9110522" y="8193529"/>
                <a:ext cx="3698878" cy="8310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sz="4800" b="1" spc="-150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 PHÂN VỊ</a:t>
                </a:r>
              </a:p>
            </p:txBody>
          </p:sp>
          <p:grpSp>
            <p:nvGrpSpPr>
              <p:cNvPr id="78" name="Group 41"/>
              <p:cNvGrpSpPr/>
              <p:nvPr/>
            </p:nvGrpSpPr>
            <p:grpSpPr>
              <a:xfrm>
                <a:off x="7412831" y="8198205"/>
                <a:ext cx="1383018" cy="834728"/>
                <a:chOff x="7413217" y="7217510"/>
                <a:chExt cx="1371600" cy="834728"/>
              </a:xfrm>
            </p:grpSpPr>
            <p:sp>
              <p:nvSpPr>
                <p:cNvPr id="79" name="Round Same Side Corner Rectangle 78"/>
                <p:cNvSpPr/>
                <p:nvPr/>
              </p:nvSpPr>
              <p:spPr>
                <a:xfrm rot="5400000">
                  <a:off x="7733257" y="6897470"/>
                  <a:ext cx="731520" cy="1371600"/>
                </a:xfrm>
                <a:prstGeom prst="round2SameRect">
                  <a:avLst/>
                </a:prstGeom>
                <a:solidFill>
                  <a:srgbClr val="135F82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7870240" y="7221146"/>
                  <a:ext cx="572702" cy="8310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8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</a:t>
                  </a:r>
                </a:p>
              </p:txBody>
            </p:sp>
          </p:grpSp>
        </p:grpSp>
        <p:sp>
          <p:nvSpPr>
            <p:cNvPr id="87" name="TextBox 86"/>
            <p:cNvSpPr txBox="1"/>
            <p:nvPr/>
          </p:nvSpPr>
          <p:spPr>
            <a:xfrm>
              <a:off x="1918171" y="11270140"/>
              <a:ext cx="5774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827922" y="6486123"/>
              <a:ext cx="5774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793168" y="7688223"/>
              <a:ext cx="5774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  <p:grpSp>
          <p:nvGrpSpPr>
            <p:cNvPr id="47" name="Group 67"/>
            <p:cNvGrpSpPr/>
            <p:nvPr/>
          </p:nvGrpSpPr>
          <p:grpSpPr>
            <a:xfrm>
              <a:off x="1447799" y="9982195"/>
              <a:ext cx="3129205" cy="1012597"/>
              <a:chOff x="7459670" y="8524495"/>
              <a:chExt cx="4045805" cy="1012714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9529920" y="8665822"/>
                <a:ext cx="1975555" cy="8310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sz="4800" b="1" spc="-150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</a:p>
            </p:txBody>
          </p:sp>
          <p:grpSp>
            <p:nvGrpSpPr>
              <p:cNvPr id="49" name="Group 32"/>
              <p:cNvGrpSpPr/>
              <p:nvPr/>
            </p:nvGrpSpPr>
            <p:grpSpPr>
              <a:xfrm>
                <a:off x="7459670" y="8524495"/>
                <a:ext cx="1800329" cy="1012714"/>
                <a:chOff x="7459669" y="7543800"/>
                <a:chExt cx="1785466" cy="1012714"/>
              </a:xfrm>
            </p:grpSpPr>
            <p:sp>
              <p:nvSpPr>
                <p:cNvPr id="50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1" name="Group 41"/>
                <p:cNvGrpSpPr/>
                <p:nvPr/>
              </p:nvGrpSpPr>
              <p:grpSpPr>
                <a:xfrm>
                  <a:off x="7469189" y="7685126"/>
                  <a:ext cx="1775946" cy="871388"/>
                  <a:chOff x="7469189" y="7685126"/>
                  <a:chExt cx="1775946" cy="871388"/>
                </a:xfrm>
              </p:grpSpPr>
              <p:sp>
                <p:nvSpPr>
                  <p:cNvPr id="52" name="Round Same Side Corner Rectangle 51"/>
                  <p:cNvSpPr/>
                  <p:nvPr/>
                </p:nvSpPr>
                <p:spPr>
                  <a:xfrm rot="5400000">
                    <a:off x="7962883" y="7191432"/>
                    <a:ext cx="788557" cy="1775946"/>
                  </a:xfrm>
                  <a:prstGeom prst="round2SameRect">
                    <a:avLst/>
                  </a:prstGeom>
                  <a:solidFill>
                    <a:srgbClr val="135F82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53" name="TextBox 52"/>
                  <p:cNvSpPr txBox="1"/>
                  <p:nvPr/>
                </p:nvSpPr>
                <p:spPr>
                  <a:xfrm>
                    <a:off x="8062804" y="7725421"/>
                    <a:ext cx="740370" cy="8310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4800" b="1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3</a:t>
                    </a:r>
                    <a:endParaRPr lang="en-US" sz="48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</p:grpSp>
        <p:sp>
          <p:nvSpPr>
            <p:cNvPr id="68" name="TextBox 67"/>
            <p:cNvSpPr txBox="1"/>
            <p:nvPr/>
          </p:nvSpPr>
          <p:spPr>
            <a:xfrm>
              <a:off x="1918177" y="12402770"/>
              <a:ext cx="5774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4428307" y="3582583"/>
            <a:ext cx="16191223" cy="1882880"/>
            <a:chOff x="71819" y="148683"/>
            <a:chExt cx="6445708" cy="1287478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9" y="148683"/>
              <a:ext cx="6395438" cy="1287478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1236809" y="306005"/>
              <a:ext cx="5280718" cy="53568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dirty="0">
                  <a:solidFill>
                    <a:srgbClr val="0000FF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CÁC SỐ ĐẶC TRƯNG ĐO XU THẾ TRUNG TÂM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426113" y="393460"/>
              <a:ext cx="652658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13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7" name="Isosceles Triangle 44">
            <a:extLst>
              <a:ext uri="{FF2B5EF4-FFF2-40B4-BE49-F238E27FC236}">
                <a16:creationId xmlns:a16="http://schemas.microsoft.com/office/drawing/2014/main" id="{A94E7FD5-249A-4CDD-AA63-97034047938A}"/>
              </a:ext>
            </a:extLst>
          </p:cNvPr>
          <p:cNvSpPr/>
          <p:nvPr/>
        </p:nvSpPr>
        <p:spPr>
          <a:xfrm rot="16200000">
            <a:off x="798886" y="8854207"/>
            <a:ext cx="143672" cy="165569"/>
          </a:xfrm>
          <a:custGeom>
            <a:avLst/>
            <a:gdLst>
              <a:gd name="connsiteX0" fmla="*/ 0 w 293725"/>
              <a:gd name="connsiteY0" fmla="*/ 164224 h 164224"/>
              <a:gd name="connsiteX1" fmla="*/ 146863 w 293725"/>
              <a:gd name="connsiteY1" fmla="*/ 0 h 164224"/>
              <a:gd name="connsiteX2" fmla="*/ 293725 w 293725"/>
              <a:gd name="connsiteY2" fmla="*/ 164224 h 164224"/>
              <a:gd name="connsiteX3" fmla="*/ 0 w 293725"/>
              <a:gd name="connsiteY3" fmla="*/ 164224 h 164224"/>
              <a:gd name="connsiteX0" fmla="*/ 2363 w 296088"/>
              <a:gd name="connsiteY0" fmla="*/ 164221 h 164221"/>
              <a:gd name="connsiteX1" fmla="*/ 0 w 296088"/>
              <a:gd name="connsiteY1" fmla="*/ 0 h 164221"/>
              <a:gd name="connsiteX2" fmla="*/ 296088 w 296088"/>
              <a:gd name="connsiteY2" fmla="*/ 164221 h 164221"/>
              <a:gd name="connsiteX3" fmla="*/ 2363 w 296088"/>
              <a:gd name="connsiteY3" fmla="*/ 164221 h 16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088" h="164221">
                <a:moveTo>
                  <a:pt x="2363" y="164221"/>
                </a:moveTo>
                <a:cubicBezTo>
                  <a:pt x="1575" y="109481"/>
                  <a:pt x="788" y="54740"/>
                  <a:pt x="0" y="0"/>
                </a:cubicBezTo>
                <a:lnTo>
                  <a:pt x="296088" y="164221"/>
                </a:lnTo>
                <a:lnTo>
                  <a:pt x="2363" y="164221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Isosceles Triangle 44">
            <a:extLst>
              <a:ext uri="{FF2B5EF4-FFF2-40B4-BE49-F238E27FC236}">
                <a16:creationId xmlns:a16="http://schemas.microsoft.com/office/drawing/2014/main" id="{734DD7D0-3C3E-4599-BE32-4C0F896A7BBB}"/>
              </a:ext>
            </a:extLst>
          </p:cNvPr>
          <p:cNvSpPr/>
          <p:nvPr/>
        </p:nvSpPr>
        <p:spPr>
          <a:xfrm rot="16200000">
            <a:off x="770691" y="7143183"/>
            <a:ext cx="157732" cy="207901"/>
          </a:xfrm>
          <a:custGeom>
            <a:avLst/>
            <a:gdLst>
              <a:gd name="connsiteX0" fmla="*/ 0 w 293725"/>
              <a:gd name="connsiteY0" fmla="*/ 164224 h 164224"/>
              <a:gd name="connsiteX1" fmla="*/ 146863 w 293725"/>
              <a:gd name="connsiteY1" fmla="*/ 0 h 164224"/>
              <a:gd name="connsiteX2" fmla="*/ 293725 w 293725"/>
              <a:gd name="connsiteY2" fmla="*/ 164224 h 164224"/>
              <a:gd name="connsiteX3" fmla="*/ 0 w 293725"/>
              <a:gd name="connsiteY3" fmla="*/ 164224 h 164224"/>
              <a:gd name="connsiteX0" fmla="*/ 2363 w 296088"/>
              <a:gd name="connsiteY0" fmla="*/ 164221 h 164221"/>
              <a:gd name="connsiteX1" fmla="*/ 0 w 296088"/>
              <a:gd name="connsiteY1" fmla="*/ 0 h 164221"/>
              <a:gd name="connsiteX2" fmla="*/ 296088 w 296088"/>
              <a:gd name="connsiteY2" fmla="*/ 164221 h 164221"/>
              <a:gd name="connsiteX3" fmla="*/ 2363 w 296088"/>
              <a:gd name="connsiteY3" fmla="*/ 164221 h 16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088" h="164221">
                <a:moveTo>
                  <a:pt x="2363" y="164221"/>
                </a:moveTo>
                <a:cubicBezTo>
                  <a:pt x="1575" y="109481"/>
                  <a:pt x="788" y="54740"/>
                  <a:pt x="0" y="0"/>
                </a:cubicBezTo>
                <a:lnTo>
                  <a:pt x="296088" y="164221"/>
                </a:lnTo>
                <a:lnTo>
                  <a:pt x="2363" y="164221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828800"/>
            <a:ext cx="23545800" cy="1156414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34A16-CB4D-44FE-A96B-1A4785656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2295524"/>
            <a:ext cx="3800475" cy="4562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E04562-4643-4351-A7EE-98F70ADBC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7892" y="2295524"/>
            <a:ext cx="3667125" cy="456247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966020-4192-477D-BC58-2CEBBD7E0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35259"/>
              </p:ext>
            </p:extLst>
          </p:nvPr>
        </p:nvGraphicFramePr>
        <p:xfrm>
          <a:off x="1219200" y="2470377"/>
          <a:ext cx="13812983" cy="39135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12983">
                  <a:extLst>
                    <a:ext uri="{9D8B030D-6E8A-4147-A177-3AD203B41FA5}">
                      <a16:colId xmlns:a16="http://schemas.microsoft.com/office/drawing/2014/main" val="903725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Hai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pháp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học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tiếng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Anh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khác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nhau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được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áp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dụng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cho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lớp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có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độ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tiếng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Anh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nhau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Sau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điểm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khảo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sát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tiếng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Anh (thang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điểm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10)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lớp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được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cho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như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bên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89915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D4BB448-E566-4239-B703-018C9F3DA6BA}"/>
              </a:ext>
            </a:extLst>
          </p:cNvPr>
          <p:cNvSpPr txBox="1"/>
          <p:nvPr/>
        </p:nvSpPr>
        <p:spPr>
          <a:xfrm>
            <a:off x="1018309" y="6857999"/>
            <a:ext cx="22555200" cy="4069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rồi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828800"/>
            <a:ext cx="23545800" cy="1156414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34A16-CB4D-44FE-A96B-1A4785656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0" y="2295524"/>
            <a:ext cx="3800475" cy="4562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E04562-4643-4351-A7EE-98F70ADBC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7892" y="2295524"/>
            <a:ext cx="3667125" cy="4562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69A818-1AAD-4F25-AFE0-91CABCC8B6A1}"/>
              </a:ext>
            </a:extLst>
          </p:cNvPr>
          <p:cNvSpPr txBox="1"/>
          <p:nvPr/>
        </p:nvSpPr>
        <p:spPr>
          <a:xfrm>
            <a:off x="1123950" y="3159009"/>
            <a:ext cx="5676900" cy="811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</a:pPr>
            <a:r>
              <a:rPr lang="vi-VN" sz="4800" b="1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Arial" panose="020B0604020202020204" pitchFamily="34" charset="0"/>
              </a:rPr>
              <a:t>a. </a:t>
            </a:r>
            <a:r>
              <a:rPr lang="en-US" sz="4800" b="1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Arial" panose="020B0604020202020204" pitchFamily="34" charset="0"/>
              </a:rPr>
              <a:t>Số</a:t>
            </a:r>
            <a:r>
              <a:rPr lang="en-US" sz="4800" b="1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Arial" panose="020B0604020202020204" pitchFamily="34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Arial" panose="020B0604020202020204" pitchFamily="34" charset="0"/>
              </a:rPr>
              <a:t>trung</a:t>
            </a:r>
            <a:r>
              <a:rPr lang="en-US" sz="4800" b="1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Arial" panose="020B0604020202020204" pitchFamily="34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Arial" panose="020B0604020202020204" pitchFamily="34" charset="0"/>
              </a:rPr>
              <a:t>bình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F7905-BFA1-4576-A93C-AA1B101CD44F}"/>
              </a:ext>
            </a:extLst>
          </p:cNvPr>
          <p:cNvSpPr txBox="1"/>
          <p:nvPr/>
        </p:nvSpPr>
        <p:spPr>
          <a:xfrm>
            <a:off x="1409700" y="2133600"/>
            <a:ext cx="1078230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b="1" dirty="0">
                <a:solidFill>
                  <a:srgbClr val="FF0000"/>
                </a:solidFill>
              </a:rPr>
              <a:t>1. </a:t>
            </a:r>
            <a:r>
              <a:rPr lang="en-US" sz="4400" b="1" dirty="0">
                <a:solidFill>
                  <a:srgbClr val="FF0000"/>
                </a:solidFill>
              </a:rPr>
              <a:t>SỐ TRUNG BÌNH VÀ TRUNG VỊ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02952-4139-489F-9D70-F2DDBDDF01E6}"/>
              </a:ext>
            </a:extLst>
          </p:cNvPr>
          <p:cNvSpPr txBox="1"/>
          <p:nvPr/>
        </p:nvSpPr>
        <p:spPr>
          <a:xfrm>
            <a:off x="1409700" y="4576761"/>
            <a:ext cx="1866900" cy="121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94702C-D4E6-4C08-A191-52724551FC72}"/>
              </a:ext>
            </a:extLst>
          </p:cNvPr>
          <p:cNvGrpSpPr/>
          <p:nvPr/>
        </p:nvGrpSpPr>
        <p:grpSpPr>
          <a:xfrm>
            <a:off x="1430482" y="4548882"/>
            <a:ext cx="1454536" cy="751840"/>
            <a:chOff x="0" y="92326"/>
            <a:chExt cx="575416" cy="1976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85B281-6E85-4565-BA8B-36A710968BED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21" name="Arrow: Pentagon 20">
                <a:extLst>
                  <a:ext uri="{FF2B5EF4-FFF2-40B4-BE49-F238E27FC236}">
                    <a16:creationId xmlns:a16="http://schemas.microsoft.com/office/drawing/2014/main" id="{00C9E7CC-E644-485C-821B-9D8EB4DE96E8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Arrow: Chevron 21">
                <a:extLst>
                  <a:ext uri="{FF2B5EF4-FFF2-40B4-BE49-F238E27FC236}">
                    <a16:creationId xmlns:a16="http://schemas.microsoft.com/office/drawing/2014/main" id="{DF1840ED-3BD7-4F8F-A136-39ABA324F55A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Arrow: Chevron 22">
                <a:extLst>
                  <a:ext uri="{FF2B5EF4-FFF2-40B4-BE49-F238E27FC236}">
                    <a16:creationId xmlns:a16="http://schemas.microsoft.com/office/drawing/2014/main" id="{8C32CA7B-2CD7-4D73-BEA0-E5EC25C638FF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" name="Flowchart: Terminator 18">
              <a:extLst>
                <a:ext uri="{FF2B5EF4-FFF2-40B4-BE49-F238E27FC236}">
                  <a16:creationId xmlns:a16="http://schemas.microsoft.com/office/drawing/2014/main" id="{7A990684-B90B-4944-B669-00EF8155CA78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90A6B2-7D9F-40F8-869D-D7D93A39FED6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C98DF68-8776-4D7A-8035-EE21DF21A030}"/>
              </a:ext>
            </a:extLst>
          </p:cNvPr>
          <p:cNvSpPr txBox="1"/>
          <p:nvPr/>
        </p:nvSpPr>
        <p:spPr>
          <a:xfrm>
            <a:off x="3007669" y="4399150"/>
            <a:ext cx="12112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1200" dirty="0"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HĐ1: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B.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19813D-66C9-4159-BCB9-737241DF4D7E}"/>
                  </a:ext>
                </a:extLst>
              </p:cNvPr>
              <p:cNvSpPr txBox="1"/>
              <p:nvPr/>
            </p:nvSpPr>
            <p:spPr>
              <a:xfrm>
                <a:off x="1314450" y="7070246"/>
                <a:ext cx="225933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vi-VN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92</m:t>
                    </m:r>
                  </m:oMath>
                </a14:m>
                <a:r>
                  <a:rPr lang="vi-VN" sz="4800" b="1" dirty="0">
                    <a:solidFill>
                      <a:srgbClr val="0000C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vi-VN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28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19813D-66C9-4159-BCB9-737241DF4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7070246"/>
                <a:ext cx="22593300" cy="1569660"/>
              </a:xfrm>
              <a:prstGeom prst="rect">
                <a:avLst/>
              </a:prstGeom>
              <a:blipFill>
                <a:blip r:embed="rId5"/>
                <a:stretch>
                  <a:fillRect l="-1241" t="-9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3DBF5DCE-5E04-417F-8102-A47318ADF0A5}"/>
              </a:ext>
            </a:extLst>
          </p:cNvPr>
          <p:cNvGrpSpPr/>
          <p:nvPr/>
        </p:nvGrpSpPr>
        <p:grpSpPr>
          <a:xfrm>
            <a:off x="1471738" y="8852153"/>
            <a:ext cx="1454536" cy="751840"/>
            <a:chOff x="0" y="92326"/>
            <a:chExt cx="575416" cy="19766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A02251B-ACDA-427A-ACB5-F1BCADB0454A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47" name="Arrow: Pentagon 46">
                <a:extLst>
                  <a:ext uri="{FF2B5EF4-FFF2-40B4-BE49-F238E27FC236}">
                    <a16:creationId xmlns:a16="http://schemas.microsoft.com/office/drawing/2014/main" id="{4AE85663-88CA-43EE-91E0-0E5C06D8BD99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Arrow: Chevron 47">
                <a:extLst>
                  <a:ext uri="{FF2B5EF4-FFF2-40B4-BE49-F238E27FC236}">
                    <a16:creationId xmlns:a16="http://schemas.microsoft.com/office/drawing/2014/main" id="{5F8B64E1-150D-47F6-8B05-65CAEF51E4BE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Arrow: Chevron 48">
                <a:extLst>
                  <a:ext uri="{FF2B5EF4-FFF2-40B4-BE49-F238E27FC236}">
                    <a16:creationId xmlns:a16="http://schemas.microsoft.com/office/drawing/2014/main" id="{37590421-E802-4962-B98A-0F077C4FA65C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5" name="Flowchart: Terminator 44">
              <a:extLst>
                <a:ext uri="{FF2B5EF4-FFF2-40B4-BE49-F238E27FC236}">
                  <a16:creationId xmlns:a16="http://schemas.microsoft.com/office/drawing/2014/main" id="{FD410494-FCA8-4847-9699-0713427E49A1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7D98BF-F4E3-4FE8-BBBF-D40BDA38FF3D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D9F3AB3A-E96E-43F0-A14F-35267CAB0D28}"/>
              </a:ext>
            </a:extLst>
          </p:cNvPr>
          <p:cNvSpPr txBox="1"/>
          <p:nvPr/>
        </p:nvSpPr>
        <p:spPr>
          <a:xfrm>
            <a:off x="2971467" y="8852153"/>
            <a:ext cx="20553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HĐ2: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Dựa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quả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4800" b="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93D22-87EE-48C2-86A3-61A0DC927639}"/>
                  </a:ext>
                </a:extLst>
              </p:cNvPr>
              <p:cNvSpPr txBox="1"/>
              <p:nvPr/>
            </p:nvSpPr>
            <p:spPr>
              <a:xfrm>
                <a:off x="1674748" y="10972800"/>
                <a:ext cx="2223300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vi-VN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vi-VN" sz="4800" i="1">
                                <a:effectLst/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quả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93D22-87EE-48C2-86A3-61A0DC927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748" y="10972800"/>
                <a:ext cx="22233002" cy="1569660"/>
              </a:xfrm>
              <a:prstGeom prst="rect">
                <a:avLst/>
              </a:prstGeom>
              <a:blipFill>
                <a:blip r:embed="rId6"/>
                <a:stretch>
                  <a:fillRect l="-1261" t="-9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ounded Rectangle 10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86935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/>
      <p:bldP spid="9" grpId="0"/>
      <p:bldP spid="2" grpId="0"/>
      <p:bldP spid="3" grpId="0"/>
      <p:bldP spid="29" grpId="0"/>
      <p:bldP spid="101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759527"/>
            <a:ext cx="23164800" cy="1143000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15A74E3-81AE-4616-BF3B-A89D1AA3F5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9182392"/>
                  </p:ext>
                </p:extLst>
              </p:nvPr>
            </p:nvGraphicFramePr>
            <p:xfrm>
              <a:off x="1143000" y="1981201"/>
              <a:ext cx="22631400" cy="34289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31400">
                      <a:extLst>
                        <a:ext uri="{9D8B030D-6E8A-4147-A177-3AD203B41FA5}">
                          <a16:colId xmlns:a16="http://schemas.microsoft.com/office/drawing/2014/main" val="1285752918"/>
                        </a:ext>
                      </a:extLst>
                    </a:gridCol>
                  </a:tblGrid>
                  <a:tr h="342899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6000"/>
                            </a:lnSpc>
                          </a:pP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Số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trung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bình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(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số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trung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bình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cộng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)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mẫu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số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liệu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vi-VN" sz="48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sz="4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vi-VN" sz="48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vi-VN" sz="4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en-US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,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kí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hiệu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̄"/>
                                  <m:ctrlPr>
                                    <a:rPr lang="en-US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,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được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tính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bằng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công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thức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: </a:t>
                          </a:r>
                        </a:p>
                        <a:p>
                          <a:pPr algn="ctr">
                            <a:lnSpc>
                              <a:spcPct val="106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̄"/>
                                    <m:ctrlPr>
                                      <a:rPr lang="en-US" sz="48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vi-VN" sz="48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a:rPr lang="vi-VN" sz="48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48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vi-VN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vi-VN" sz="48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vi-VN" sz="4800" b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vi-VN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vi-VN" sz="48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vi-VN" sz="4800" b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+...+</m:t>
                                    </m:r>
                                    <m:sSub>
                                      <m:sSubPr>
                                        <m:ctrlPr>
                                          <a:rPr lang="en-US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vi-VN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vi-VN" sz="48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vi-VN" sz="48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 b="0" dirty="0"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184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15A74E3-81AE-4616-BF3B-A89D1AA3F5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9182392"/>
                  </p:ext>
                </p:extLst>
              </p:nvPr>
            </p:nvGraphicFramePr>
            <p:xfrm>
              <a:off x="1143000" y="1981201"/>
              <a:ext cx="22631400" cy="34289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31400">
                      <a:extLst>
                        <a:ext uri="{9D8B030D-6E8A-4147-A177-3AD203B41FA5}">
                          <a16:colId xmlns:a16="http://schemas.microsoft.com/office/drawing/2014/main" val="1285752918"/>
                        </a:ext>
                      </a:extLst>
                    </a:gridCol>
                  </a:tblGrid>
                  <a:tr h="3428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7" t="-4796" r="-135" b="-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1845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97BB12-EB9D-4510-991F-DF5694C93E43}"/>
                  </a:ext>
                </a:extLst>
              </p:cNvPr>
              <p:cNvSpPr txBox="1"/>
              <p:nvPr/>
            </p:nvSpPr>
            <p:spPr>
              <a:xfrm>
                <a:off x="1143000" y="5867400"/>
                <a:ext cx="22631400" cy="4637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ý.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tần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algn="ctr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vi-VN" sz="4800" i="1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vi-VN" sz="4800" i="1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vi-VN" sz="4800" i="1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+...+</m:t>
                          </m:r>
                          <m:sSub>
                            <m:sSubPr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4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vi-VN" sz="4800" i="1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</a:pPr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tần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+...+</m:t>
                    </m:r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97BB12-EB9D-4510-991F-DF5694C93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867400"/>
                <a:ext cx="22631400" cy="4637680"/>
              </a:xfrm>
              <a:prstGeom prst="rect">
                <a:avLst/>
              </a:prstGeom>
              <a:blipFill>
                <a:blip r:embed="rId4"/>
                <a:stretch>
                  <a:fillRect l="-1239" t="-3421" r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24528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7E5F8E-568F-4C09-8821-B3240CED4818}"/>
              </a:ext>
            </a:extLst>
          </p:cNvPr>
          <p:cNvGrpSpPr/>
          <p:nvPr/>
        </p:nvGrpSpPr>
        <p:grpSpPr>
          <a:xfrm>
            <a:off x="990600" y="2362200"/>
            <a:ext cx="1454536" cy="751840"/>
            <a:chOff x="0" y="92326"/>
            <a:chExt cx="575416" cy="1976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5A7C0D7-4E47-4230-AE58-37187B9A34DE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5930CD37-7AAB-42B3-A017-0F628A9B1BAF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31928315-A0C2-4769-93C8-D19A3D87BAB3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40A41EAD-7346-4B6A-8310-035BB87AA81F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Flowchart: Terminator 3">
              <a:extLst>
                <a:ext uri="{FF2B5EF4-FFF2-40B4-BE49-F238E27FC236}">
                  <a16:creationId xmlns:a16="http://schemas.microsoft.com/office/drawing/2014/main" id="{560451AD-3BB7-4D04-9AEB-9545A062DB46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8A60348-2FE3-4290-BFAB-07A66D94F9DF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28A6E00-0452-4DB1-BDFB-C77F082C3928}"/>
              </a:ext>
            </a:extLst>
          </p:cNvPr>
          <p:cNvSpPr txBox="1"/>
          <p:nvPr/>
        </p:nvSpPr>
        <p:spPr>
          <a:xfrm>
            <a:off x="2603543" y="2301489"/>
            <a:ext cx="117982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 dụ 1.</a:t>
            </a:r>
            <a:r>
              <a:rPr lang="en-US" sz="48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kê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cuốn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sách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2021, An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2021,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bao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nhiêu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cuốn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sách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F7D5B1-D3C2-4C1E-AB64-5FEC3C7C4FD4}"/>
                  </a:ext>
                </a:extLst>
              </p:cNvPr>
              <p:cNvSpPr txBox="1"/>
              <p:nvPr/>
            </p:nvSpPr>
            <p:spPr>
              <a:xfrm>
                <a:off x="2445136" y="6553200"/>
                <a:ext cx="20643996" cy="3597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7000"/>
                  </a:lnSpc>
                </a:pPr>
                <a:r>
                  <a:rPr lang="en-US" sz="4800" b="1" dirty="0" err="1">
                    <a:solidFill>
                      <a:srgbClr val="C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Bài</a:t>
                </a:r>
                <a:r>
                  <a:rPr lang="en-US" sz="4800" b="1" dirty="0">
                    <a:solidFill>
                      <a:srgbClr val="C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800" dirty="0">
                  <a:solidFill>
                    <a:srgbClr val="C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15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40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2021,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đọc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cuốn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sách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den>
                    </m:f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325</m:t>
                    </m:r>
                  </m:oMath>
                </a14:m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cuốn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F7D5B1-D3C2-4C1E-AB64-5FEC3C7C4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136" y="6553200"/>
                <a:ext cx="20643996" cy="3597267"/>
              </a:xfrm>
              <a:prstGeom prst="rect">
                <a:avLst/>
              </a:prstGeom>
              <a:blipFill>
                <a:blip r:embed="rId2"/>
                <a:stretch>
                  <a:fillRect l="-1329" t="-4407" b="-2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F4D64E7-AA02-46D9-965D-59DC9AAA5F58}"/>
              </a:ext>
            </a:extLst>
          </p:cNvPr>
          <p:cNvSpPr txBox="1"/>
          <p:nvPr/>
        </p:nvSpPr>
        <p:spPr>
          <a:xfrm>
            <a:off x="2445136" y="10515600"/>
            <a:ext cx="198814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 </a:t>
            </a:r>
            <a:r>
              <a:rPr lang="en-US" sz="48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48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trí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4B7D2D-C239-4785-93E2-D9AADCD08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865" y="2554037"/>
            <a:ext cx="10036335" cy="2323037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94527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DDFE50-2A59-41C3-8DF5-74B5C84006A4}"/>
                  </a:ext>
                </a:extLst>
              </p:cNvPr>
              <p:cNvSpPr txBox="1"/>
              <p:nvPr/>
            </p:nvSpPr>
            <p:spPr>
              <a:xfrm>
                <a:off x="2472845" y="2362200"/>
                <a:ext cx="20955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4800" b="1" kern="1200" dirty="0">
                    <a:solidFill>
                      <a:srgbClr val="0000C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 tập 1.</a:t>
                </a:r>
                <a:r>
                  <a:rPr lang="en-US" sz="4800" b="1" kern="1200" dirty="0">
                    <a:solidFill>
                      <a:srgbClr val="0000C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chạy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li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100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giây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DDFE50-2A59-41C3-8DF5-74B5C840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845" y="2362200"/>
                <a:ext cx="20955000" cy="1569660"/>
              </a:xfrm>
              <a:prstGeom prst="rect">
                <a:avLst/>
              </a:prstGeom>
              <a:blipFill>
                <a:blip r:embed="rId2"/>
                <a:stretch>
                  <a:fillRect l="-1338" t="-9339" b="-19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B78059D-964A-4612-B524-3DAABB58379B}"/>
              </a:ext>
            </a:extLst>
          </p:cNvPr>
          <p:cNvGrpSpPr/>
          <p:nvPr/>
        </p:nvGrpSpPr>
        <p:grpSpPr>
          <a:xfrm>
            <a:off x="990600" y="2362200"/>
            <a:ext cx="1454536" cy="751840"/>
            <a:chOff x="0" y="92326"/>
            <a:chExt cx="575416" cy="1976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9AD925-EB48-4B9A-BAF9-A7DCBE1EE81E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13" name="Arrow: Pentagon 12">
                <a:extLst>
                  <a:ext uri="{FF2B5EF4-FFF2-40B4-BE49-F238E27FC236}">
                    <a16:creationId xmlns:a16="http://schemas.microsoft.com/office/drawing/2014/main" id="{F7E8832F-59D7-495B-B619-10D12FB7B804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Arrow: Chevron 13">
                <a:extLst>
                  <a:ext uri="{FF2B5EF4-FFF2-40B4-BE49-F238E27FC236}">
                    <a16:creationId xmlns:a16="http://schemas.microsoft.com/office/drawing/2014/main" id="{8D3C7173-AD43-4150-BF19-4CB81A4244D8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C02D75C1-FC00-486B-AEAF-CEC4B100B109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Flowchart: Terminator 10">
              <a:extLst>
                <a:ext uri="{FF2B5EF4-FFF2-40B4-BE49-F238E27FC236}">
                  <a16:creationId xmlns:a16="http://schemas.microsoft.com/office/drawing/2014/main" id="{F4005362-B8EF-4F5B-90F8-9C8D94514162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A962C3-33DF-4A08-8DFF-CC3926E825D1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216DB5-B273-4000-A51A-A91E084584BF}"/>
                  </a:ext>
                </a:extLst>
              </p:cNvPr>
              <p:cNvSpPr txBox="1"/>
              <p:nvPr/>
            </p:nvSpPr>
            <p:spPr>
              <a:xfrm>
                <a:off x="990600" y="6858000"/>
                <a:ext cx="227076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chạy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li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100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216DB5-B273-4000-A51A-A91E08458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6858000"/>
                <a:ext cx="22707600" cy="1569660"/>
              </a:xfrm>
              <a:prstGeom prst="rect">
                <a:avLst/>
              </a:prstGeom>
              <a:blipFill>
                <a:blip r:embed="rId3"/>
                <a:stretch>
                  <a:fillRect l="-1235" t="-9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281BC9-83DD-4318-A234-725A16D3D9DB}"/>
                  </a:ext>
                </a:extLst>
              </p:cNvPr>
              <p:cNvSpPr txBox="1"/>
              <p:nvPr/>
            </p:nvSpPr>
            <p:spPr>
              <a:xfrm>
                <a:off x="762000" y="8427660"/>
                <a:ext cx="22021800" cy="4566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</a:pP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algn="just">
                  <a:lnSpc>
                    <a:spcPct val="107000"/>
                  </a:lnSpc>
                  <a:spcBef>
                    <a:spcPts val="600"/>
                  </a:spcBef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chạy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cự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li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100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tabLst>
                    <a:tab pos="3238500" algn="ctr"/>
                    <a:tab pos="6477000" algn="r"/>
                  </a:tabLst>
                </a:pP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tabLst>
                    <a:tab pos="3238500" algn="ctr"/>
                    <a:tab pos="6477000" algn="r"/>
                  </a:tabLst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𝑥</m:t>
                        </m:r>
                      </m:e>
                    </m:acc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12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5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+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13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7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+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14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10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+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15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8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+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16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6</m:t>
                        </m:r>
                      </m:num>
                      <m:den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36</m:t>
                        </m:r>
                      </m:den>
                    </m:f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≈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14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,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08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281BC9-83DD-4318-A234-725A16D3D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8427660"/>
                <a:ext cx="22021800" cy="4566763"/>
              </a:xfrm>
              <a:prstGeom prst="rect">
                <a:avLst/>
              </a:prstGeom>
              <a:blipFill>
                <a:blip r:embed="rId4"/>
                <a:stretch>
                  <a:fillRect l="-1246" t="-3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08EFFA3-234B-401C-B1CF-65A90321BB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939" y="4025814"/>
            <a:ext cx="21903383" cy="245208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6972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7B546-2C5B-43CF-B1AC-B0F5B1AF150F}"/>
              </a:ext>
            </a:extLst>
          </p:cNvPr>
          <p:cNvSpPr txBox="1"/>
          <p:nvPr/>
        </p:nvSpPr>
        <p:spPr>
          <a:xfrm>
            <a:off x="533400" y="1758361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vi-VN" sz="4800" b="1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b="1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b="1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endParaRPr lang="en-US" sz="4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6A5C34-A743-47D2-B1A2-6CCF930AFA27}"/>
              </a:ext>
            </a:extLst>
          </p:cNvPr>
          <p:cNvGrpSpPr/>
          <p:nvPr/>
        </p:nvGrpSpPr>
        <p:grpSpPr>
          <a:xfrm>
            <a:off x="661003" y="2819400"/>
            <a:ext cx="1454536" cy="751840"/>
            <a:chOff x="0" y="92326"/>
            <a:chExt cx="575416" cy="1976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FEA2D93-D254-45C1-BD5A-0D30FA7E2B98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5AED9E88-21A5-4F6C-A63F-1963DFF3B5B8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5BB5944D-00AB-4ED1-AA88-A0EA2D9F6458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B9068707-A5B7-4D30-A785-2FDBEB93D29F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7CE2713B-FE5C-44F9-991D-6F0907678CC2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8A02305-B42A-4104-A30B-317365B372BE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0FD5535-6296-4834-9653-CA028E131262}"/>
              </a:ext>
            </a:extLst>
          </p:cNvPr>
          <p:cNvSpPr txBox="1"/>
          <p:nvPr/>
        </p:nvSpPr>
        <p:spPr>
          <a:xfrm>
            <a:off x="521002" y="2819400"/>
            <a:ext cx="23341996" cy="3079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</a:t>
            </a:r>
            <a:r>
              <a:rPr lang="vi-VN" sz="4800" b="1" kern="1200" dirty="0"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</a:t>
            </a:r>
            <a:r>
              <a:rPr lang="en-US" sz="4800" b="1" kern="1200" dirty="0"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vi-VN" sz="4800" b="1" kern="1200" dirty="0"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nhỏ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gồm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đốc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nhập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tháng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đốc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triệu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đồng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triệu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kern="1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đồng</a:t>
            </a:r>
            <a:r>
              <a:rPr lang="en-US" sz="4800" kern="1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4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</a:pP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ty.</a:t>
            </a:r>
          </a:p>
          <a:p>
            <a:pPr algn="just">
              <a:lnSpc>
                <a:spcPct val="107000"/>
              </a:lnSpc>
            </a:pP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 Thu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phản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23E94E-36A7-4217-9D1B-1956830F7B2D}"/>
                  </a:ext>
                </a:extLst>
              </p:cNvPr>
              <p:cNvSpPr txBox="1"/>
              <p:nvPr/>
            </p:nvSpPr>
            <p:spPr>
              <a:xfrm>
                <a:off x="533400" y="6539346"/>
                <a:ext cx="23469600" cy="7014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</a:pP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en-US" sz="48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algn="just">
                  <a:lnSpc>
                    <a:spcPct val="107000"/>
                  </a:lnSpc>
                  <a:spcBef>
                    <a:spcPts val="600"/>
                  </a:spcBef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Thu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ty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algn="ctr">
                  <a:lnSpc>
                    <a:spcPct val="107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20+4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Cambria Math" panose="02040503050406030204" pitchFamily="18" charset="0"/>
                          </a:rPr>
                          <m:t>⋅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≈6,67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Bef>
                    <a:spcPts val="600"/>
                  </a:spcBef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Thu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ánh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nhân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ty.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thường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rất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rất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so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dùng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xu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thế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dùng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23E94E-36A7-4217-9D1B-1956830F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6539346"/>
                <a:ext cx="23469600" cy="7014741"/>
              </a:xfrm>
              <a:prstGeom prst="rect">
                <a:avLst/>
              </a:prstGeom>
              <a:blipFill>
                <a:blip r:embed="rId2"/>
                <a:stretch>
                  <a:fillRect l="-1195" t="-2261" r="-1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ounded Rectangle 3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912468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B0FD56-71AB-4BF4-88BA-F10BCB83A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80738"/>
              </p:ext>
            </p:extLst>
          </p:nvPr>
        </p:nvGraphicFramePr>
        <p:xfrm>
          <a:off x="467590" y="2062740"/>
          <a:ext cx="23164800" cy="3193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0">
                  <a:extLst>
                    <a:ext uri="{9D8B030D-6E8A-4147-A177-3AD203B41FA5}">
                      <a16:colId xmlns:a16="http://schemas.microsoft.com/office/drawing/2014/main" val="104773545"/>
                    </a:ext>
                  </a:extLst>
                </a:gridCol>
              </a:tblGrid>
              <a:tr h="797560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Để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tìm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một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mẫu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số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liệu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ta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thực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hiện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như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</a:t>
                      </a:r>
                    </a:p>
                    <a:p>
                      <a:pPr marL="342900" lvl="0" indent="-342900" algn="just">
                        <a:lnSpc>
                          <a:spcPct val="106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Sắp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xếp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giá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trong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mẫu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số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liệu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theo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thứ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tự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không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giảm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  <a:p>
                      <a:pPr marL="342900" lvl="0" indent="-342900" algn="just">
                        <a:lnSpc>
                          <a:spcPct val="106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Nếu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số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giá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mẫu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số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liệu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số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lẻ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thì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giá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chính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giữa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mẫu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Nếu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số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chẵn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thì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cộng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giá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chính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giữa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mẫu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903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17C1C7-EA06-4B5E-AD25-7AFDDC426BDF}"/>
              </a:ext>
            </a:extLst>
          </p:cNvPr>
          <p:cNvSpPr txBox="1"/>
          <p:nvPr/>
        </p:nvSpPr>
        <p:spPr>
          <a:xfrm>
            <a:off x="1814754" y="5735818"/>
            <a:ext cx="21869400" cy="160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Ví dụ 2</a:t>
            </a:r>
            <a:r>
              <a:rPr lang="vi-VN" sz="48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48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lương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HĐ3.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CD3DA5-F7E1-4221-83A2-842197A5AD49}"/>
              </a:ext>
            </a:extLst>
          </p:cNvPr>
          <p:cNvGrpSpPr/>
          <p:nvPr/>
        </p:nvGrpSpPr>
        <p:grpSpPr>
          <a:xfrm>
            <a:off x="360218" y="5735818"/>
            <a:ext cx="1454536" cy="751840"/>
            <a:chOff x="0" y="92326"/>
            <a:chExt cx="575416" cy="19766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843F5B1-43DF-4287-9047-8D665028A2CD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11" name="Arrow: Pentagon 10">
                <a:extLst>
                  <a:ext uri="{FF2B5EF4-FFF2-40B4-BE49-F238E27FC236}">
                    <a16:creationId xmlns:a16="http://schemas.microsoft.com/office/drawing/2014/main" id="{92B78E12-6B43-4D24-A75A-2CCD2DA8DF83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A55F2740-5112-4409-80CF-D13D961982FE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Arrow: Chevron 12">
                <a:extLst>
                  <a:ext uri="{FF2B5EF4-FFF2-40B4-BE49-F238E27FC236}">
                    <a16:creationId xmlns:a16="http://schemas.microsoft.com/office/drawing/2014/main" id="{B4B89B27-4276-4AA3-BD9E-DC797FA255A4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lowchart: Terminator 8">
              <a:extLst>
                <a:ext uri="{FF2B5EF4-FFF2-40B4-BE49-F238E27FC236}">
                  <a16:creationId xmlns:a16="http://schemas.microsoft.com/office/drawing/2014/main" id="{C47BCD94-BAA6-4CC0-8F5A-C0B9D325BDA2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D1B3F6C-0DED-4E4E-B28A-F0316D84BAFB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F8703B4-E86F-4A0E-A03E-5AA6C4A0CAFA}"/>
              </a:ext>
            </a:extLst>
          </p:cNvPr>
          <p:cNvSpPr txBox="1"/>
          <p:nvPr/>
        </p:nvSpPr>
        <p:spPr>
          <a:xfrm>
            <a:off x="325582" y="7504752"/>
            <a:ext cx="22686818" cy="3738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48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800" dirty="0">
              <a:solidFill>
                <a:srgbClr val="FF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ta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Sắp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xếp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tự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endParaRPr lang="en-US" sz="4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B0F138-0CEB-4FD8-AFB1-CD70D734B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8036" y="9373950"/>
            <a:ext cx="11772660" cy="16759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348286-61FB-40CA-A770-359F811185E7}"/>
              </a:ext>
            </a:extLst>
          </p:cNvPr>
          <p:cNvSpPr txBox="1"/>
          <p:nvPr/>
        </p:nvSpPr>
        <p:spPr>
          <a:xfrm>
            <a:off x="467590" y="10917094"/>
            <a:ext cx="23078209" cy="2157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Dãy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4.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cũng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51023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45224-6AE5-438F-9ED8-E5BAFE05A405}"/>
              </a:ext>
            </a:extLst>
          </p:cNvPr>
          <p:cNvSpPr txBox="1"/>
          <p:nvPr/>
        </p:nvSpPr>
        <p:spPr>
          <a:xfrm>
            <a:off x="304800" y="2514600"/>
            <a:ext cx="23164800" cy="3182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 </a:t>
            </a:r>
            <a:r>
              <a:rPr lang="en-US" sz="48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48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là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́ trị chia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mẫu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sô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́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liệu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nghĩa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là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mẫu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sô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́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liệu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được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sắp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xếp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́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̣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giảm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̀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́ trị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vị ở vị trí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chính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giữa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vị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ảnh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hưởng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bởi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ảnh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hưởng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bởi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88493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24631-4A94-4FBA-8C28-4384AEBDAB06}"/>
              </a:ext>
            </a:extLst>
          </p:cNvPr>
          <p:cNvSpPr txBox="1"/>
          <p:nvPr/>
        </p:nvSpPr>
        <p:spPr>
          <a:xfrm>
            <a:off x="1905000" y="2286000"/>
            <a:ext cx="21836995" cy="160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b="1" kern="1200" dirty="0" err="1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kern="1200" dirty="0" err="1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</a:t>
            </a:r>
            <a:r>
              <a:rPr lang="vi-VN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Chiều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dài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feet)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 con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trưởng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E7C3AB-4D3A-4B43-B8F5-285629BD4467}"/>
              </a:ext>
            </a:extLst>
          </p:cNvPr>
          <p:cNvGrpSpPr/>
          <p:nvPr/>
        </p:nvGrpSpPr>
        <p:grpSpPr>
          <a:xfrm>
            <a:off x="350507" y="2286000"/>
            <a:ext cx="1454536" cy="751840"/>
            <a:chOff x="0" y="92326"/>
            <a:chExt cx="575416" cy="19766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FE4C6D4-A1E6-4601-8E52-77FD59997FDA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11" name="Arrow: Pentagon 10">
                <a:extLst>
                  <a:ext uri="{FF2B5EF4-FFF2-40B4-BE49-F238E27FC236}">
                    <a16:creationId xmlns:a16="http://schemas.microsoft.com/office/drawing/2014/main" id="{96927614-26D0-4D7C-AB54-A584A55BD74B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89BC7787-B2C7-4F94-8203-32D938B3B214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" name="Arrow: Chevron 12">
                <a:extLst>
                  <a:ext uri="{FF2B5EF4-FFF2-40B4-BE49-F238E27FC236}">
                    <a16:creationId xmlns:a16="http://schemas.microsoft.com/office/drawing/2014/main" id="{DFD882C7-BAB0-42A9-92EA-9A40B581EF81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Flowchart: Terminator 8">
              <a:extLst>
                <a:ext uri="{FF2B5EF4-FFF2-40B4-BE49-F238E27FC236}">
                  <a16:creationId xmlns:a16="http://schemas.microsoft.com/office/drawing/2014/main" id="{21D1F173-7D08-4B9C-899D-5D1DA1432C1B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12D541-3E0D-4548-AF02-2BFD686D9E84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4BFA37-6D89-418D-A554-291F03DEFF81}"/>
                  </a:ext>
                </a:extLst>
              </p:cNvPr>
              <p:cNvSpPr txBox="1"/>
              <p:nvPr/>
            </p:nvSpPr>
            <p:spPr>
              <a:xfrm>
                <a:off x="5023441" y="3609648"/>
                <a:ext cx="12192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smtClean="0">
                          <a:latin typeface="Cambria Math" panose="02040503050406030204" pitchFamily="18" charset="0"/>
                        </a:rPr>
                        <m:t>48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51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112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4BFA37-6D89-418D-A554-291F03DEF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441" y="3609648"/>
                <a:ext cx="12192000" cy="830997"/>
              </a:xfrm>
              <a:prstGeom prst="rect">
                <a:avLst/>
              </a:prstGeom>
              <a:blipFill>
                <a:blip r:embed="rId2"/>
                <a:stretch>
                  <a:fillRect r="-2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853CA8A-C83E-4258-A1D8-52D35EFB4D45}"/>
              </a:ext>
            </a:extLst>
          </p:cNvPr>
          <p:cNvSpPr txBox="1"/>
          <p:nvPr/>
        </p:nvSpPr>
        <p:spPr>
          <a:xfrm>
            <a:off x="527641" y="4590808"/>
            <a:ext cx="23164800" cy="160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phù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chiều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dài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 con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trưởng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E39642-1B74-413A-B14F-275EAEAE4EC8}"/>
                  </a:ext>
                </a:extLst>
              </p:cNvPr>
              <p:cNvSpPr txBox="1"/>
              <p:nvPr/>
            </p:nvSpPr>
            <p:spPr>
              <a:xfrm>
                <a:off x="350507" y="6342820"/>
                <a:ext cx="23164801" cy="5893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</a:pP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 </a:t>
                </a: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48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+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Chiều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 con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voi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trưởng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48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53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51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31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53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112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52</m:t>
                        </m:r>
                      </m:num>
                      <m:den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57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14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(feet).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+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dãy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dãy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31</m:t>
                    </m:r>
                    <m:r>
                      <a:rPr lang="en-US" sz="4800" b="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48</m:t>
                    </m:r>
                    <m:r>
                      <a:rPr lang="en-US" sz="4800" b="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51</m:t>
                    </m:r>
                    <m:r>
                      <a:rPr lang="en-US" sz="4800" b="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52</m:t>
                    </m:r>
                    <m:r>
                      <a:rPr lang="en-US" sz="4800" b="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53</m:t>
                    </m:r>
                    <m:r>
                      <a:rPr lang="en-US" sz="4800" b="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53</m:t>
                    </m:r>
                    <m:r>
                      <a:rPr lang="en-US" sz="4800" b="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112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dãy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52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sô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́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sô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́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vị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̀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hợp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đê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̉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đại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diện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chiều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dài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của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 con cá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voi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trưởng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thành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này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E39642-1B74-413A-B14F-275EAEAE4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07" y="6342820"/>
                <a:ext cx="23164801" cy="5893345"/>
              </a:xfrm>
              <a:prstGeom prst="rect">
                <a:avLst/>
              </a:prstGeom>
              <a:blipFill>
                <a:blip r:embed="rId3"/>
                <a:stretch>
                  <a:fillRect l="-1184" t="-2689" r="-2053" b="-4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685350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9E8E4-66ED-4693-B09D-5C82A03BA523}"/>
              </a:ext>
            </a:extLst>
          </p:cNvPr>
          <p:cNvSpPr txBox="1"/>
          <p:nvPr/>
        </p:nvSpPr>
        <p:spPr>
          <a:xfrm>
            <a:off x="533400" y="1905000"/>
            <a:ext cx="12192000" cy="81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vi-VN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b="1" kern="1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 PHÂN VỊ</a:t>
            </a:r>
            <a:endParaRPr lang="en-US" sz="4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868DAC-2F78-4295-B621-5B36784CA00C}"/>
              </a:ext>
            </a:extLst>
          </p:cNvPr>
          <p:cNvGrpSpPr/>
          <p:nvPr/>
        </p:nvGrpSpPr>
        <p:grpSpPr>
          <a:xfrm>
            <a:off x="505691" y="3048000"/>
            <a:ext cx="1454536" cy="751840"/>
            <a:chOff x="0" y="92326"/>
            <a:chExt cx="575416" cy="1976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EBC4E0-561E-4B1B-A25F-CC140D98F92F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A656BA62-CA44-4D05-A23F-DBDA16F4F56F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D30D1776-5AD8-4BA5-98BD-EB62402421A4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9EADDF6F-F596-47B4-9800-CFAA98F58BB6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6A835D2D-1567-41E5-BC6E-76839FF926AA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62A26E-4AED-47B7-BD52-865AF85B41C5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1A8CA62-E828-405C-B0AF-DD8C8119DB59}"/>
              </a:ext>
            </a:extLst>
          </p:cNvPr>
          <p:cNvSpPr txBox="1"/>
          <p:nvPr/>
        </p:nvSpPr>
        <p:spPr>
          <a:xfrm>
            <a:off x="2208312" y="2998915"/>
            <a:ext cx="20672136" cy="160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vi-VN" sz="4800" b="1" kern="1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</a:t>
            </a:r>
            <a:r>
              <a:rPr lang="en-US" sz="4800" b="1" kern="1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vi-VN" sz="4800" b="1" kern="1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(thang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100)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12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thí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cuộc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0A87EC-3D0C-4751-A523-022C7E73D9D1}"/>
                  </a:ext>
                </a:extLst>
              </p:cNvPr>
              <p:cNvSpPr txBox="1"/>
              <p:nvPr/>
            </p:nvSpPr>
            <p:spPr>
              <a:xfrm>
                <a:off x="4876800" y="4883175"/>
                <a:ext cx="121920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smtClean="0">
                          <a:latin typeface="Cambria Math" panose="02040503050406030204" pitchFamily="18" charset="0"/>
                        </a:rPr>
                        <m:t>58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74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92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81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97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88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</m:oMath>
                  </m:oMathPara>
                </a14:m>
                <a:endParaRPr lang="en-US" sz="48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69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69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        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77</m:t>
                      </m:r>
                      <m:r>
                        <a:rPr lang="en-US" sz="48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0A87EC-3D0C-4751-A523-022C7E73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883175"/>
                <a:ext cx="12192000" cy="1569660"/>
              </a:xfrm>
              <a:prstGeom prst="rect">
                <a:avLst/>
              </a:prstGeom>
              <a:blipFill>
                <a:blip r:embed="rId2"/>
                <a:stretch>
                  <a:fillRect r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49C062-9D4A-4083-905A-4D89EECFAD57}"/>
                  </a:ext>
                </a:extLst>
              </p:cNvPr>
              <p:cNvSpPr txBox="1"/>
              <p:nvPr/>
            </p:nvSpPr>
            <p:spPr>
              <a:xfrm>
                <a:off x="538164" y="6646371"/>
                <a:ext cx="23007636" cy="2392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Ban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muốn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Nhì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Ba,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25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(3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giúp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ban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ngưỡng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loại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49C062-9D4A-4083-905A-4D89EECFA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64" y="6646371"/>
                <a:ext cx="23007636" cy="2392193"/>
              </a:xfrm>
              <a:prstGeom prst="rect">
                <a:avLst/>
              </a:prstGeom>
              <a:blipFill>
                <a:blip r:embed="rId3"/>
                <a:stretch>
                  <a:fillRect l="-1192" t="-6616" r="-2040" b="-12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99746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94E7CE-A6E7-48B2-9424-A1EB1E923405}"/>
                  </a:ext>
                </a:extLst>
              </p:cNvPr>
              <p:cNvSpPr txBox="1"/>
              <p:nvPr/>
            </p:nvSpPr>
            <p:spPr>
              <a:xfrm>
                <a:off x="838200" y="1752600"/>
                <a:ext cx="24307800" cy="6023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en-US" sz="4800" b="1" i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sz="4800" b="1" i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i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i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dãy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58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69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69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</m:t>
                      </m:r>
                      <m:r>
                        <a:rPr lang="en-US" sz="4800" b="0" i="1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75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75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77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81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87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88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92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    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97</m:t>
                      </m:r>
                      <m:r>
                        <a:rPr lang="vi-VN" sz="4800" i="1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87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nhì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76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87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71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76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600"/>
                  </a:spcAft>
                </a:pPr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đạt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58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71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94E7CE-A6E7-48B2-9424-A1EB1E92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2600"/>
                <a:ext cx="24307800" cy="6023700"/>
              </a:xfrm>
              <a:prstGeom prst="rect">
                <a:avLst/>
              </a:prstGeom>
              <a:blipFill>
                <a:blip r:embed="rId2"/>
                <a:stretch>
                  <a:fillRect l="-1154" t="-2632" b="-4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98773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97F73-A306-48DD-B47C-912230CC9D18}"/>
                  </a:ext>
                </a:extLst>
              </p:cNvPr>
              <p:cNvSpPr txBox="1"/>
              <p:nvPr/>
            </p:nvSpPr>
            <p:spPr>
              <a:xfrm>
                <a:off x="609600" y="2008563"/>
                <a:ext cx="22783800" cy="8650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200"/>
                  </a:spcAft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lvl="0" algn="just">
                  <a:lnSpc>
                    <a:spcPct val="150000"/>
                  </a:lnSpc>
                </a:pP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bao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lẻ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bao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lẻ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solidFill>
                      <a:srgbClr val="0000F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997F73-A306-48DD-B47C-912230CC9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08563"/>
                <a:ext cx="22783800" cy="8650381"/>
              </a:xfrm>
              <a:prstGeom prst="rect">
                <a:avLst/>
              </a:prstGeom>
              <a:blipFill>
                <a:blip r:embed="rId2"/>
                <a:stretch>
                  <a:fillRect l="-1257" t="-1831" r="-2033" b="-2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5864290-5B18-48E8-BB75-8AE2196AA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3733799"/>
            <a:ext cx="11282772" cy="2844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1E3A26-3EB5-48FB-836A-0ADD13D54D0F}"/>
                  </a:ext>
                </a:extLst>
              </p:cNvPr>
              <p:cNvSpPr txBox="1"/>
              <p:nvPr/>
            </p:nvSpPr>
            <p:spPr>
              <a:xfrm>
                <a:off x="609600" y="11049000"/>
                <a:ext cx="22555200" cy="1601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800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</a:t>
                </a:r>
                <a:r>
                  <a:rPr lang="en-US" sz="48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hay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hay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1E3A26-3EB5-48FB-836A-0ADD13D54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049000"/>
                <a:ext cx="22555200" cy="1601849"/>
              </a:xfrm>
              <a:prstGeom prst="rect">
                <a:avLst/>
              </a:prstGeom>
              <a:blipFill>
                <a:blip r:embed="rId4"/>
                <a:stretch>
                  <a:fillRect l="-1216" t="-9924" r="-2081" b="-19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87116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994F4-F0BD-48D9-BE77-AAEFE53EA074}"/>
                  </a:ext>
                </a:extLst>
              </p:cNvPr>
              <p:cNvSpPr txBox="1"/>
              <p:nvPr/>
            </p:nvSpPr>
            <p:spPr>
              <a:xfrm>
                <a:off x="533400" y="2362200"/>
                <a:ext cx="229362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Ý </a:t>
                </a: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chia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nhỏ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bốn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25%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994F4-F0BD-48D9-BE77-AAEFE53EA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362200"/>
                <a:ext cx="22936200" cy="1569660"/>
              </a:xfrm>
              <a:prstGeom prst="rect">
                <a:avLst/>
              </a:prstGeom>
              <a:blipFill>
                <a:blip r:embed="rId2"/>
                <a:stretch>
                  <a:fillRect l="-1223" t="-9339" b="-19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C1F6672-5D16-4528-9C49-227DA2CDE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540768"/>
            <a:ext cx="15391812" cy="23088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60067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40024D-F471-4503-AC68-F2D60F9C4ADF}"/>
              </a:ext>
            </a:extLst>
          </p:cNvPr>
          <p:cNvGrpSpPr/>
          <p:nvPr/>
        </p:nvGrpSpPr>
        <p:grpSpPr>
          <a:xfrm>
            <a:off x="609600" y="2264920"/>
            <a:ext cx="1454536" cy="751840"/>
            <a:chOff x="0" y="92326"/>
            <a:chExt cx="575416" cy="1976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0B5C00-33EE-47D2-A535-52238321FE33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7DE59BA1-56F2-4C38-9E76-4741E2717556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AC1565CE-67CD-4C72-B2F8-FB5E2D6A6212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019225E3-A0BB-4255-A5D2-7C5D5FC190D5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3A791692-6ED7-4C93-BCF4-A3FC505E6C93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DBB1742-26FF-418C-96C3-C0486DF49CF9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E79E03-65DA-4592-B2C7-A4C12FE49566}"/>
                  </a:ext>
                </a:extLst>
              </p:cNvPr>
              <p:cNvSpPr txBox="1"/>
              <p:nvPr/>
            </p:nvSpPr>
            <p:spPr>
              <a:xfrm>
                <a:off x="2417228" y="2293423"/>
                <a:ext cx="21966772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kern="1200" dirty="0">
                    <a:solidFill>
                      <a:srgbClr val="00B05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Ví dụ 3</a:t>
                </a:r>
                <a:r>
                  <a:rPr lang="vi-VN" sz="4800" b="1" kern="1200" dirty="0">
                    <a:solidFill>
                      <a:srgbClr val="00B05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800" b="1" kern="1200" dirty="0">
                    <a:solidFill>
                      <a:srgbClr val="00B05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Natri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miligam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𝑚𝑔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001</m:t>
                    </m:r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100</a:t>
                </a:r>
                <a14:m>
                  <m:oMath xmlns:m="http://schemas.openxmlformats.org/officeDocument/2006/math">
                    <m:r>
                      <a:rPr lang="vi-VN" sz="48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loại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cốc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E79E03-65DA-4592-B2C7-A4C12FE49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228" y="2293423"/>
                <a:ext cx="21966772" cy="1569660"/>
              </a:xfrm>
              <a:prstGeom prst="rect">
                <a:avLst/>
              </a:prstGeom>
              <a:blipFill>
                <a:blip r:embed="rId2"/>
                <a:stretch>
                  <a:fillRect l="-1277" t="-9302" b="-19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403C2E0-BF1F-4E81-809C-7FD32CAB6F1B}"/>
              </a:ext>
            </a:extLst>
          </p:cNvPr>
          <p:cNvSpPr txBox="1"/>
          <p:nvPr/>
        </p:nvSpPr>
        <p:spPr>
          <a:xfrm>
            <a:off x="812610" y="6858000"/>
            <a:ext cx="17678400" cy="81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tin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gì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4D73C6-6917-429F-9811-7B8DB428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12" y="4496295"/>
            <a:ext cx="21298132" cy="15696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077066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04A2CD-C28C-4133-B794-898BC037939D}"/>
              </a:ext>
            </a:extLst>
          </p:cNvPr>
          <p:cNvSpPr txBox="1"/>
          <p:nvPr/>
        </p:nvSpPr>
        <p:spPr>
          <a:xfrm>
            <a:off x="685800" y="1524000"/>
            <a:ext cx="17449800" cy="829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US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Sắp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xếp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tự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A49F8C-3453-47EA-99EA-FC4F43317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281" y="2610686"/>
            <a:ext cx="21499438" cy="1732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B695F4-BEDE-45D9-BEDD-3CD8EF177380}"/>
                  </a:ext>
                </a:extLst>
              </p:cNvPr>
              <p:cNvSpPr txBox="1"/>
              <p:nvPr/>
            </p:nvSpPr>
            <p:spPr>
              <a:xfrm>
                <a:off x="685800" y="4038600"/>
                <a:ext cx="23393400" cy="8725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 </a:t>
                </a:r>
                <a14:m>
                  <m:oMath xmlns:m="http://schemas.openxmlformats.org/officeDocument/2006/math"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20</m:t>
                    </m:r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chẵn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cộng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270510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180</m:t>
                        </m:r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180</m:t>
                        </m:r>
                      </m:e>
                    </m:d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180</m:t>
                    </m:r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5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70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100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limLow>
                      <m:limLowPr>
                        <m:ctrlPr>
                          <a:rPr lang="en-US" sz="45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45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a:rPr lang="en-US" sz="45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130</m:t>
                            </m:r>
                            <m:r>
                              <a:rPr lang="en-US" sz="45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</m:t>
                            </m:r>
                            <m:r>
                              <a:rPr lang="en-US" sz="45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140</m:t>
                            </m:r>
                          </m:e>
                        </m:groupChr>
                      </m:e>
                      <m:lim/>
                    </m:limLow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140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150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en-US" sz="45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60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en-US" sz="45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180</m:t>
                    </m:r>
                  </m:oMath>
                </a14:m>
                <a:r>
                  <a:rPr lang="en-US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5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70510" algn="just">
                  <a:lnSpc>
                    <a:spcPct val="150000"/>
                  </a:lnSpc>
                </a:pP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130</m:t>
                        </m:r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140</m:t>
                        </m:r>
                      </m:e>
                    </m:d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135</m:t>
                    </m:r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 Ta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270510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180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180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190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200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</m:t>
                    </m:r>
                    <m:limLow>
                      <m:limLow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4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groupChrPr>
                          <m:e>
                            <m:r>
                              <a:rPr lang="en-US" sz="4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200</m:t>
                            </m:r>
                            <m:r>
                              <a:rPr lang="en-US" sz="45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    </m:t>
                            </m:r>
                            <m:r>
                              <a:rPr lang="en-US" sz="4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210</m:t>
                            </m:r>
                          </m:e>
                        </m:groupChr>
                        <m:r>
                          <a:rPr lang="en-US" sz="45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   </m:t>
                        </m:r>
                      </m:e>
                      <m:lim/>
                    </m:limLow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210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220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290</m:t>
                    </m:r>
                    <m:r>
                      <a:rPr lang="en-US" sz="45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  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340</m:t>
                    </m:r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270510" algn="just">
                  <a:lnSpc>
                    <a:spcPct val="150000"/>
                  </a:lnSpc>
                </a:pP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5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200</m:t>
                        </m:r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4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210</m:t>
                        </m:r>
                      </m:e>
                    </m:d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205</m:t>
                    </m:r>
                  </m:oMath>
                </a14:m>
                <a:r>
                  <a:rPr lang="en-US" sz="45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B695F4-BEDE-45D9-BEDD-3CD8EF177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38600"/>
                <a:ext cx="23393400" cy="8725594"/>
              </a:xfrm>
              <a:prstGeom prst="rect">
                <a:avLst/>
              </a:prstGeom>
              <a:blipFill>
                <a:blip r:embed="rId3"/>
                <a:stretch>
                  <a:fillRect l="-1147" b="-14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34709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C07F78-2B6B-49D3-B6A8-1DC21F585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80" y="2743200"/>
            <a:ext cx="15256329" cy="15590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35CD60-458A-434E-BBCA-6ED2BB83CC4B}"/>
                  </a:ext>
                </a:extLst>
              </p:cNvPr>
              <p:cNvSpPr txBox="1"/>
              <p:nvPr/>
            </p:nvSpPr>
            <p:spPr>
              <a:xfrm>
                <a:off x="838200" y="6201599"/>
                <a:ext cx="22707600" cy="2400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ảnh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45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25.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thấy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mật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cao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mật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thấp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vi-VN" sz="48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(H.5.4).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35CD60-458A-434E-BBCA-6ED2BB83C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201599"/>
                <a:ext cx="22707600" cy="2400657"/>
              </a:xfrm>
              <a:prstGeom prst="rect">
                <a:avLst/>
              </a:prstGeom>
              <a:blipFill>
                <a:blip r:embed="rId3"/>
                <a:stretch>
                  <a:fillRect l="-1235" t="-6599" r="-1208" b="-1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1435010-2A0E-47EA-A7A9-C0CDB84A6F0E}"/>
              </a:ext>
            </a:extLst>
          </p:cNvPr>
          <p:cNvSpPr txBox="1"/>
          <p:nvPr/>
        </p:nvSpPr>
        <p:spPr>
          <a:xfrm>
            <a:off x="3334244" y="4302241"/>
            <a:ext cx="14706600" cy="81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5.4.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ảnh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bố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i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lang="en-US" sz="4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03348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02486-98EF-4E9C-8201-3D66E930921B}"/>
              </a:ext>
            </a:extLst>
          </p:cNvPr>
          <p:cNvSpPr txBox="1"/>
          <p:nvPr/>
        </p:nvSpPr>
        <p:spPr>
          <a:xfrm>
            <a:off x="2236340" y="2314205"/>
            <a:ext cx="21335049" cy="160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4800" b="1" kern="1200" dirty="0" err="1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Luyện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kern="1200" dirty="0" err="1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tập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</a:t>
            </a:r>
            <a:r>
              <a:rPr lang="vi-VN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4800" b="1" kern="1200" dirty="0">
                <a:solidFill>
                  <a:srgbClr val="0000C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lần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Internet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tuần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FCEE91-51C7-4CAA-BCFE-E1E66A0BE1FE}"/>
              </a:ext>
            </a:extLst>
          </p:cNvPr>
          <p:cNvGrpSpPr/>
          <p:nvPr/>
        </p:nvGrpSpPr>
        <p:grpSpPr>
          <a:xfrm>
            <a:off x="609600" y="2264920"/>
            <a:ext cx="1454536" cy="751840"/>
            <a:chOff x="0" y="92326"/>
            <a:chExt cx="575416" cy="19766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D7CF228-B3EA-4C54-B215-91357F7C6D8E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441DAEF-BE9B-4A5C-B04F-F250E2204F97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1CC7B1B0-944B-4324-B6D1-4040CC272F75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203B43CD-040F-4C17-9269-81826EE2D48A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7" name="Flowchart: Terminator 6">
              <a:extLst>
                <a:ext uri="{FF2B5EF4-FFF2-40B4-BE49-F238E27FC236}">
                  <a16:creationId xmlns:a16="http://schemas.microsoft.com/office/drawing/2014/main" id="{8B5094AC-53B4-41BF-94FD-D4A37F432497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B6C7FDA-9BA4-4498-A785-0ECE09D21DCE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485D86A-47AE-44E6-ABC1-3B6003D2D708}"/>
              </a:ext>
            </a:extLst>
          </p:cNvPr>
          <p:cNvSpPr txBox="1"/>
          <p:nvPr/>
        </p:nvSpPr>
        <p:spPr>
          <a:xfrm>
            <a:off x="677228" y="6851073"/>
            <a:ext cx="12192000" cy="81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</a:pP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7DD23A-AC2C-435B-AF57-4BD460198AB9}"/>
                  </a:ext>
                </a:extLst>
              </p:cNvPr>
              <p:cNvSpPr txBox="1"/>
              <p:nvPr/>
            </p:nvSpPr>
            <p:spPr>
              <a:xfrm>
                <a:off x="1378124" y="8017797"/>
                <a:ext cx="22555199" cy="4141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</a:pPr>
                <a:r>
                  <a:rPr lang="en-US" sz="4800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sz="4800" b="1" i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i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</a:t>
                </a:r>
                <a:r>
                  <a:rPr lang="en-US" sz="4800" b="1" i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iải</a:t>
                </a:r>
                <a:r>
                  <a:rPr lang="en-US" sz="4800" i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 marL="34290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35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lẻ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18: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17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9: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17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27: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4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4</m:t>
                    </m:r>
                  </m:oMath>
                </a14:m>
                <a:r>
                  <a:rPr lang="en-US" sz="48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7DD23A-AC2C-435B-AF57-4BD460198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124" y="8017797"/>
                <a:ext cx="22555199" cy="4141455"/>
              </a:xfrm>
              <a:prstGeom prst="rect">
                <a:avLst/>
              </a:prstGeom>
              <a:blipFill>
                <a:blip r:embed="rId2"/>
                <a:stretch>
                  <a:fillRect l="-1270" t="-3824" b="-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5E6AF859-7C21-4C13-BD96-B928B2BB1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63" y="4138928"/>
            <a:ext cx="22250400" cy="273986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12776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2744386" cy="1160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3</a:t>
            </a:r>
            <a:r>
              <a:rPr lang="vi-VN" b="1"/>
              <a:t>. </a:t>
            </a:r>
            <a:r>
              <a:rPr lang="en-US" b="1"/>
              <a:t>MỐT</a:t>
            </a:r>
            <a:endParaRPr lang="en-US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924928" y="3429000"/>
            <a:ext cx="11215207" cy="99901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b="1" dirty="0"/>
              <a:t>HĐ</a:t>
            </a:r>
            <a:r>
              <a:rPr lang="en-US" b="1" dirty="0"/>
              <a:t>5</a:t>
            </a:r>
            <a:r>
              <a:rPr lang="vi-VN" b="1" dirty="0"/>
              <a:t>: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giày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</a:t>
            </a:r>
            <a:r>
              <a:rPr lang="en-US" dirty="0" err="1"/>
              <a:t>giày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hàng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r>
              <a:rPr lang="en-US" dirty="0"/>
              <a:t> 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a)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</a:t>
            </a:r>
            <a:r>
              <a:rPr lang="en-US" dirty="0" err="1"/>
              <a:t>giày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.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ý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pPr marL="0" lvl="0" indent="0">
              <a:buNone/>
            </a:pPr>
            <a:r>
              <a:rPr lang="en-US" dirty="0"/>
              <a:t>b)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</a:t>
            </a:r>
            <a:r>
              <a:rPr lang="en-US" dirty="0" err="1"/>
              <a:t>giày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1629" y="3429000"/>
                <a:ext cx="11630891" cy="8702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Giải</a:t>
                </a:r>
                <a:endParaRPr lang="en-US" dirty="0"/>
              </a:p>
              <a:p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thống</a:t>
                </a:r>
                <a:r>
                  <a:rPr lang="en-US" dirty="0"/>
                  <a:t> </a:t>
                </a:r>
                <a:r>
                  <a:rPr lang="en-US" dirty="0" err="1"/>
                  <a:t>kê</a:t>
                </a:r>
                <a:r>
                  <a:rPr lang="en-US" dirty="0"/>
                  <a:t> </a:t>
                </a:r>
                <a:r>
                  <a:rPr lang="en-US" dirty="0" err="1"/>
                  <a:t>cỡ</a:t>
                </a:r>
                <a:r>
                  <a:rPr lang="en-US" dirty="0"/>
                  <a:t> </a:t>
                </a:r>
                <a:r>
                  <a:rPr lang="en-US" dirty="0" err="1"/>
                  <a:t>giày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nam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vi-VN" dirty="0"/>
                  <a:t>Cỡ giày trung bình là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067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ý </a:t>
                </a:r>
                <a:r>
                  <a:rPr lang="en-US" dirty="0" err="1"/>
                  <a:t>nghĩa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cỡ</a:t>
                </a:r>
                <a:r>
                  <a:rPr lang="en-US" dirty="0"/>
                  <a:t> </a:t>
                </a:r>
                <a:r>
                  <a:rPr lang="en-US" dirty="0" err="1"/>
                  <a:t>giày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39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1629" y="3429000"/>
                <a:ext cx="11630891" cy="8702676"/>
              </a:xfrm>
              <a:prstGeom prst="rect">
                <a:avLst/>
              </a:prstGeom>
              <a:blipFill>
                <a:blip r:embed="rId3"/>
                <a:stretch>
                  <a:fillRect l="-2356" t="-2309" b="-105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0">
            <a:extLst>
              <a:ext uri="{FF2B5EF4-FFF2-40B4-BE49-F238E27FC236}">
                <a16:creationId xmlns:a16="http://schemas.microsoft.com/office/drawing/2014/main" id="{BD255DE9-A7E5-4D26-8DFE-87BBB50D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01414" y="800100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45CFDF-3A67-4BCA-A0BF-82789625131D}"/>
              </a:ext>
            </a:extLst>
          </p:cNvPr>
          <p:cNvGrpSpPr/>
          <p:nvPr/>
        </p:nvGrpSpPr>
        <p:grpSpPr>
          <a:xfrm>
            <a:off x="-801414" y="8056277"/>
            <a:ext cx="433096" cy="140199"/>
            <a:chOff x="0" y="92326"/>
            <a:chExt cx="575416" cy="19766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9B14BE2-60F2-4D6A-88A7-F848F0373D75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14" name="Arrow: Pentagon 13">
                <a:extLst>
                  <a:ext uri="{FF2B5EF4-FFF2-40B4-BE49-F238E27FC236}">
                    <a16:creationId xmlns:a16="http://schemas.microsoft.com/office/drawing/2014/main" id="{65D14AA6-F834-47C0-9251-F5C628C12BF7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rgbClr val="5B9BD5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D53ADCC8-9EB4-4109-A466-318E3ADDFEFA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56D69F26-7E39-4758-8C95-359E2CFF2E6D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lowchart: Terminator 11">
              <a:extLst>
                <a:ext uri="{FF2B5EF4-FFF2-40B4-BE49-F238E27FC236}">
                  <a16:creationId xmlns:a16="http://schemas.microsoft.com/office/drawing/2014/main" id="{B3BD190A-AF1C-47AE-8CD7-B804B9802D0F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447F6-1B8F-4074-98B2-D7F61A644BCE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E044DE9C-E420-4A99-B68B-6F301997AD34}"/>
              </a:ext>
            </a:extLst>
          </p:cNvPr>
          <p:cNvGraphicFramePr>
            <a:graphicFrameLocks noGrp="1"/>
          </p:cNvGraphicFramePr>
          <p:nvPr/>
        </p:nvGraphicFramePr>
        <p:xfrm>
          <a:off x="1211498" y="5793521"/>
          <a:ext cx="10642065" cy="112319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09471">
                  <a:extLst>
                    <a:ext uri="{9D8B030D-6E8A-4147-A177-3AD203B41FA5}">
                      <a16:colId xmlns:a16="http://schemas.microsoft.com/office/drawing/2014/main" val="4111019033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4294460821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2006573200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357481502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2585470549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669479381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2293929716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2131465456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3460226092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2460047931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4064085348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2245696258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73679073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3936426495"/>
                    </a:ext>
                  </a:extLst>
                </a:gridCol>
                <a:gridCol w="709471">
                  <a:extLst>
                    <a:ext uri="{9D8B030D-6E8A-4147-A177-3AD203B41FA5}">
                      <a16:colId xmlns:a16="http://schemas.microsoft.com/office/drawing/2014/main" val="3452962954"/>
                    </a:ext>
                  </a:extLst>
                </a:gridCol>
              </a:tblGrid>
              <a:tr h="1123199"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80521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81158D8-D13B-434A-8D09-B58F561C04B5}"/>
              </a:ext>
            </a:extLst>
          </p:cNvPr>
          <p:cNvGraphicFramePr>
            <a:graphicFrameLocks noGrp="1"/>
          </p:cNvGraphicFramePr>
          <p:nvPr/>
        </p:nvGraphicFramePr>
        <p:xfrm>
          <a:off x="12877800" y="5636560"/>
          <a:ext cx="9675410" cy="1280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35082">
                  <a:extLst>
                    <a:ext uri="{9D8B030D-6E8A-4147-A177-3AD203B41FA5}">
                      <a16:colId xmlns:a16="http://schemas.microsoft.com/office/drawing/2014/main" val="1561738541"/>
                    </a:ext>
                  </a:extLst>
                </a:gridCol>
                <a:gridCol w="1935082">
                  <a:extLst>
                    <a:ext uri="{9D8B030D-6E8A-4147-A177-3AD203B41FA5}">
                      <a16:colId xmlns:a16="http://schemas.microsoft.com/office/drawing/2014/main" val="621532858"/>
                    </a:ext>
                  </a:extLst>
                </a:gridCol>
                <a:gridCol w="1935082">
                  <a:extLst>
                    <a:ext uri="{9D8B030D-6E8A-4147-A177-3AD203B41FA5}">
                      <a16:colId xmlns:a16="http://schemas.microsoft.com/office/drawing/2014/main" val="1342274067"/>
                    </a:ext>
                  </a:extLst>
                </a:gridCol>
                <a:gridCol w="1935082">
                  <a:extLst>
                    <a:ext uri="{9D8B030D-6E8A-4147-A177-3AD203B41FA5}">
                      <a16:colId xmlns:a16="http://schemas.microsoft.com/office/drawing/2014/main" val="778555016"/>
                    </a:ext>
                  </a:extLst>
                </a:gridCol>
                <a:gridCol w="1935082">
                  <a:extLst>
                    <a:ext uri="{9D8B030D-6E8A-4147-A177-3AD203B41FA5}">
                      <a16:colId xmlns:a16="http://schemas.microsoft.com/office/drawing/2014/main" val="427514230"/>
                    </a:ext>
                  </a:extLst>
                </a:gridCol>
              </a:tblGrid>
              <a:tr h="167899">
                <a:tc>
                  <a:txBody>
                    <a:bodyPr/>
                    <a:lstStyle/>
                    <a:p>
                      <a:r>
                        <a:rPr lang="en-US" dirty="0" err="1"/>
                        <a:t>Cỡ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giày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634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lượng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752188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9BD91AE6-2941-4AC3-92D5-65BDB0B7026B}"/>
              </a:ext>
            </a:extLst>
          </p:cNvPr>
          <p:cNvGrpSpPr/>
          <p:nvPr/>
        </p:nvGrpSpPr>
        <p:grpSpPr>
          <a:xfrm>
            <a:off x="167174" y="3333150"/>
            <a:ext cx="1112520" cy="1123199"/>
            <a:chOff x="0" y="92326"/>
            <a:chExt cx="575416" cy="1976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73E042D-A379-4729-8249-291A59C19173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23" name="Arrow: Pentagon 22">
                <a:extLst>
                  <a:ext uri="{FF2B5EF4-FFF2-40B4-BE49-F238E27FC236}">
                    <a16:creationId xmlns:a16="http://schemas.microsoft.com/office/drawing/2014/main" id="{02BDE42E-9835-4551-8D26-D5B42D7E6029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" name="Arrow: Chevron 23">
                <a:extLst>
                  <a:ext uri="{FF2B5EF4-FFF2-40B4-BE49-F238E27FC236}">
                    <a16:creationId xmlns:a16="http://schemas.microsoft.com/office/drawing/2014/main" id="{E8AF279F-57B7-480E-92E4-B7E5F2CBC63B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" name="Arrow: Chevron 24">
                <a:extLst>
                  <a:ext uri="{FF2B5EF4-FFF2-40B4-BE49-F238E27FC236}">
                    <a16:creationId xmlns:a16="http://schemas.microsoft.com/office/drawing/2014/main" id="{3F52C0EC-2E61-4C3A-BED5-851A09E4D800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1" name="Flowchart: Terminator 20">
              <a:extLst>
                <a:ext uri="{FF2B5EF4-FFF2-40B4-BE49-F238E27FC236}">
                  <a16:creationId xmlns:a16="http://schemas.microsoft.com/office/drawing/2014/main" id="{1F5BF2A2-C6A4-482B-9FB2-427D1DC075AF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86DC983-56EB-47D2-A16C-EABFEF4F617E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97353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Hình chữ nhật: Góc Tròn 50">
            <a:extLst>
              <a:ext uri="{FF2B5EF4-FFF2-40B4-BE49-F238E27FC236}">
                <a16:creationId xmlns:a16="http://schemas.microsoft.com/office/drawing/2014/main" id="{E7BFEE55-F0F2-4595-B450-715BD6B421CB}"/>
              </a:ext>
            </a:extLst>
          </p:cNvPr>
          <p:cNvSpPr/>
          <p:nvPr/>
        </p:nvSpPr>
        <p:spPr>
          <a:xfrm>
            <a:off x="2781300" y="1905000"/>
            <a:ext cx="18821400" cy="1447800"/>
          </a:xfrm>
          <a:prstGeom prst="roundRect">
            <a:avLst/>
          </a:prstGeom>
          <a:solidFill>
            <a:srgbClr val="0070C0">
              <a:alpha val="68000"/>
            </a:srgbClr>
          </a:solidFill>
          <a:ln w="63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</a:pPr>
            <a:endParaRPr lang="en-US" sz="5200" dirty="0">
              <a:solidFill>
                <a:srgbClr val="FF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7000"/>
              </a:lnSpc>
            </a:pPr>
            <a:r>
              <a:rPr lang="vi-VN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vi-VN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của mẫu số liệu là giá trị xuất hiện với tần số lớn nhất.</a:t>
            </a: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7000"/>
              </a:lnSpc>
            </a:pP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6D99B-21A0-4083-960B-6AD5F16F857D}"/>
              </a:ext>
            </a:extLst>
          </p:cNvPr>
          <p:cNvSpPr txBox="1"/>
          <p:nvPr/>
        </p:nvSpPr>
        <p:spPr>
          <a:xfrm>
            <a:off x="609600" y="3834819"/>
            <a:ext cx="22402800" cy="1727781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 </a:t>
            </a:r>
            <a:r>
              <a:rPr lang="en-US" sz="5200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xu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trùng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31AA9-C143-446F-86D3-9B02A184616B}"/>
              </a:ext>
            </a:extLst>
          </p:cNvPr>
          <p:cNvSpPr txBox="1"/>
          <p:nvPr/>
        </p:nvSpPr>
        <p:spPr>
          <a:xfrm>
            <a:off x="2411285" y="5958530"/>
            <a:ext cx="20774598" cy="2686633"/>
          </a:xfrm>
          <a:prstGeom prst="rect">
            <a:avLst/>
          </a:prstGeom>
          <a:solidFill>
            <a:schemeClr val="accent2">
              <a:alpha val="9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5200" b="1" kern="1200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sz="52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b="1" kern="1200" dirty="0" err="1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sz="52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4</a:t>
            </a:r>
            <a:r>
              <a:rPr lang="vi-VN" sz="52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5200" b="1" kern="1200" dirty="0">
                <a:solidFill>
                  <a:srgbClr val="00B05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107000"/>
              </a:lnSpc>
            </a:pP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kê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Internet (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một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CD3DA5-F7E1-4221-83A2-842197A5AD49}"/>
              </a:ext>
            </a:extLst>
          </p:cNvPr>
          <p:cNvGrpSpPr/>
          <p:nvPr/>
        </p:nvGrpSpPr>
        <p:grpSpPr>
          <a:xfrm>
            <a:off x="0" y="6044619"/>
            <a:ext cx="2251268" cy="1189301"/>
            <a:chOff x="0" y="92326"/>
            <a:chExt cx="575416" cy="1976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843F5B1-43DF-4287-9047-8D665028A2CD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13" name="Arrow: Pentagon 12">
                <a:extLst>
                  <a:ext uri="{FF2B5EF4-FFF2-40B4-BE49-F238E27FC236}">
                    <a16:creationId xmlns:a16="http://schemas.microsoft.com/office/drawing/2014/main" id="{92B78E12-6B43-4D24-A75A-2CCD2DA8DF83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4" name="Arrow: Chevron 13">
                <a:extLst>
                  <a:ext uri="{FF2B5EF4-FFF2-40B4-BE49-F238E27FC236}">
                    <a16:creationId xmlns:a16="http://schemas.microsoft.com/office/drawing/2014/main" id="{A55F2740-5112-4409-80CF-D13D961982FE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B4B89B27-4276-4AA3-BD9E-DC797FA255A4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1" name="Flowchart: Terminator 10">
              <a:extLst>
                <a:ext uri="{FF2B5EF4-FFF2-40B4-BE49-F238E27FC236}">
                  <a16:creationId xmlns:a16="http://schemas.microsoft.com/office/drawing/2014/main" id="{C47BCD94-BAA6-4CC0-8F5A-C0B9D325BDA2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1B3F6C-0DED-4E4E-B28A-F0316D84BAFB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A3CD8F-18AD-4AD0-A7C6-7D72DCE950DF}"/>
              </a:ext>
            </a:extLst>
          </p:cNvPr>
          <p:cNvGraphicFramePr>
            <a:graphicFrameLocks noGrp="1"/>
          </p:cNvGraphicFramePr>
          <p:nvPr/>
        </p:nvGraphicFramePr>
        <p:xfrm>
          <a:off x="3524249" y="8680051"/>
          <a:ext cx="17335501" cy="1189383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1675499">
                  <a:extLst>
                    <a:ext uri="{9D8B030D-6E8A-4147-A177-3AD203B41FA5}">
                      <a16:colId xmlns:a16="http://schemas.microsoft.com/office/drawing/2014/main" val="3795413051"/>
                    </a:ext>
                  </a:extLst>
                </a:gridCol>
                <a:gridCol w="1762570">
                  <a:extLst>
                    <a:ext uri="{9D8B030D-6E8A-4147-A177-3AD203B41FA5}">
                      <a16:colId xmlns:a16="http://schemas.microsoft.com/office/drawing/2014/main" val="3099757654"/>
                    </a:ext>
                  </a:extLst>
                </a:gridCol>
                <a:gridCol w="1847009">
                  <a:extLst>
                    <a:ext uri="{9D8B030D-6E8A-4147-A177-3AD203B41FA5}">
                      <a16:colId xmlns:a16="http://schemas.microsoft.com/office/drawing/2014/main" val="1641655604"/>
                    </a:ext>
                  </a:extLst>
                </a:gridCol>
                <a:gridCol w="1693972">
                  <a:extLst>
                    <a:ext uri="{9D8B030D-6E8A-4147-A177-3AD203B41FA5}">
                      <a16:colId xmlns:a16="http://schemas.microsoft.com/office/drawing/2014/main" val="3897608366"/>
                    </a:ext>
                  </a:extLst>
                </a:gridCol>
                <a:gridCol w="1662307">
                  <a:extLst>
                    <a:ext uri="{9D8B030D-6E8A-4147-A177-3AD203B41FA5}">
                      <a16:colId xmlns:a16="http://schemas.microsoft.com/office/drawing/2014/main" val="4161492375"/>
                    </a:ext>
                  </a:extLst>
                </a:gridCol>
                <a:gridCol w="1862841">
                  <a:extLst>
                    <a:ext uri="{9D8B030D-6E8A-4147-A177-3AD203B41FA5}">
                      <a16:colId xmlns:a16="http://schemas.microsoft.com/office/drawing/2014/main" val="4038712925"/>
                    </a:ext>
                  </a:extLst>
                </a:gridCol>
                <a:gridCol w="1709806">
                  <a:extLst>
                    <a:ext uri="{9D8B030D-6E8A-4147-A177-3AD203B41FA5}">
                      <a16:colId xmlns:a16="http://schemas.microsoft.com/office/drawing/2014/main" val="719924640"/>
                    </a:ext>
                  </a:extLst>
                </a:gridCol>
                <a:gridCol w="1543576">
                  <a:extLst>
                    <a:ext uri="{9D8B030D-6E8A-4147-A177-3AD203B41FA5}">
                      <a16:colId xmlns:a16="http://schemas.microsoft.com/office/drawing/2014/main" val="3632860154"/>
                    </a:ext>
                  </a:extLst>
                </a:gridCol>
                <a:gridCol w="1865478">
                  <a:extLst>
                    <a:ext uri="{9D8B030D-6E8A-4147-A177-3AD203B41FA5}">
                      <a16:colId xmlns:a16="http://schemas.microsoft.com/office/drawing/2014/main" val="3189055703"/>
                    </a:ext>
                  </a:extLst>
                </a:gridCol>
                <a:gridCol w="1712443">
                  <a:extLst>
                    <a:ext uri="{9D8B030D-6E8A-4147-A177-3AD203B41FA5}">
                      <a16:colId xmlns:a16="http://schemas.microsoft.com/office/drawing/2014/main" val="697547569"/>
                    </a:ext>
                  </a:extLst>
                </a:gridCol>
              </a:tblGrid>
              <a:tr h="11893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 dirty="0">
                          <a:effectLst/>
                        </a:rPr>
                        <a:t> 0                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0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1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1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1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3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4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4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 dirty="0">
                          <a:effectLst/>
                        </a:rPr>
                        <a:t>5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 dirty="0">
                          <a:effectLst/>
                        </a:rPr>
                        <a:t>6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489103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D33DF71-4229-4DAA-BB74-30738281E524}"/>
              </a:ext>
            </a:extLst>
          </p:cNvPr>
          <p:cNvSpPr txBox="1"/>
          <p:nvPr/>
        </p:nvSpPr>
        <p:spPr>
          <a:xfrm>
            <a:off x="355357" y="10000466"/>
            <a:ext cx="23673286" cy="2584041"/>
          </a:xfrm>
          <a:prstGeom prst="rect">
            <a:avLst/>
          </a:prstGeom>
          <a:solidFill>
            <a:srgbClr val="3333FF">
              <a:alpha val="76000"/>
            </a:srgb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52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Vì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Internet 1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nên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84840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3A11E-73DC-443A-A25E-CE36EF7318DC}"/>
              </a:ext>
            </a:extLst>
          </p:cNvPr>
          <p:cNvSpPr txBox="1"/>
          <p:nvPr/>
        </p:nvSpPr>
        <p:spPr>
          <a:xfrm>
            <a:off x="1133061" y="1607655"/>
            <a:ext cx="5953539" cy="1021305"/>
          </a:xfrm>
          <a:prstGeom prst="rect">
            <a:avLst/>
          </a:prstGeom>
          <a:solidFill>
            <a:srgbClr val="FF0000">
              <a:alpha val="32000"/>
            </a:srgbClr>
          </a:solidFill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62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6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2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xét</a:t>
            </a:r>
            <a:r>
              <a:rPr lang="en-US" sz="6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6200" b="1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D7D2AC-3BB5-4883-A3CD-0220AC5C30A6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598482"/>
          <a:ext cx="13868397" cy="1188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03137">
                  <a:extLst>
                    <a:ext uri="{9D8B030D-6E8A-4147-A177-3AD203B41FA5}">
                      <a16:colId xmlns:a16="http://schemas.microsoft.com/office/drawing/2014/main" val="3351927718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2136553158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1029017582"/>
                    </a:ext>
                  </a:extLst>
                </a:gridCol>
                <a:gridCol w="1703137">
                  <a:extLst>
                    <a:ext uri="{9D8B030D-6E8A-4147-A177-3AD203B41FA5}">
                      <a16:colId xmlns:a16="http://schemas.microsoft.com/office/drawing/2014/main" val="1610345853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527938537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2321475653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936237311"/>
                    </a:ext>
                  </a:extLst>
                </a:gridCol>
                <a:gridCol w="1459831">
                  <a:extLst>
                    <a:ext uri="{9D8B030D-6E8A-4147-A177-3AD203B41FA5}">
                      <a16:colId xmlns:a16="http://schemas.microsoft.com/office/drawing/2014/main" val="3102325064"/>
                    </a:ext>
                  </a:extLst>
                </a:gridCol>
                <a:gridCol w="1703137">
                  <a:extLst>
                    <a:ext uri="{9D8B030D-6E8A-4147-A177-3AD203B41FA5}">
                      <a16:colId xmlns:a16="http://schemas.microsoft.com/office/drawing/2014/main" val="3305596062"/>
                    </a:ext>
                  </a:extLst>
                </a:gridCol>
              </a:tblGrid>
              <a:tr h="765015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8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7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10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9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7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 dirty="0">
                          <a:effectLst/>
                        </a:rPr>
                        <a:t>5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7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>
                          <a:effectLst/>
                        </a:rPr>
                        <a:t>8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646680" algn="l"/>
                        </a:tabLst>
                      </a:pPr>
                      <a:r>
                        <a:rPr lang="en-US" sz="5200" dirty="0">
                          <a:effectLst/>
                        </a:rPr>
                        <a:t>8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09782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CE154C3-A87D-478F-A6AC-F4FE2A2B6A28}"/>
              </a:ext>
            </a:extLst>
          </p:cNvPr>
          <p:cNvSpPr txBox="1"/>
          <p:nvPr/>
        </p:nvSpPr>
        <p:spPr>
          <a:xfrm>
            <a:off x="609600" y="3048951"/>
            <a:ext cx="19505544" cy="1129540"/>
          </a:xfrm>
          <a:prstGeom prst="rect">
            <a:avLst/>
          </a:prstGeom>
          <a:solidFill>
            <a:srgbClr val="0070C0">
              <a:alpha val="60000"/>
            </a:srgbClr>
          </a:solidFill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646680" algn="l"/>
              </a:tabLst>
            </a:pP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là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Chẳng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90D5A5-F47C-4C04-A850-9A6B2E8A9718}"/>
                  </a:ext>
                </a:extLst>
              </p:cNvPr>
              <p:cNvSpPr txBox="1"/>
              <p:nvPr/>
            </p:nvSpPr>
            <p:spPr>
              <a:xfrm>
                <a:off x="1666461" y="6389010"/>
                <a:ext cx="21564599" cy="1727781"/>
              </a:xfrm>
              <a:prstGeom prst="rect">
                <a:avLst/>
              </a:prstGeom>
              <a:solidFill>
                <a:srgbClr val="0070C0">
                  <a:alpha val="60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45720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xuất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lần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(3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lần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8.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90D5A5-F47C-4C04-A850-9A6B2E8A9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461" y="6389010"/>
                <a:ext cx="21564599" cy="1727781"/>
              </a:xfrm>
              <a:prstGeom prst="rect">
                <a:avLst/>
              </a:prstGeom>
              <a:blipFill>
                <a:blip r:embed="rId2"/>
                <a:stretch>
                  <a:fillRect t="-10247" b="-19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091BCF0-1928-49EE-9AFC-87C2C27C565A}"/>
              </a:ext>
            </a:extLst>
          </p:cNvPr>
          <p:cNvSpPr txBox="1"/>
          <p:nvPr/>
        </p:nvSpPr>
        <p:spPr>
          <a:xfrm>
            <a:off x="622852" y="8673619"/>
            <a:ext cx="22631400" cy="1727781"/>
          </a:xfrm>
          <a:prstGeom prst="rect">
            <a:avLst/>
          </a:prstGeom>
          <a:solidFill>
            <a:srgbClr val="0070C0">
              <a:alpha val="60000"/>
            </a:srgbClr>
          </a:solidFill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9393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3A11E-73DC-443A-A25E-CE36EF7318DC}"/>
              </a:ext>
            </a:extLst>
          </p:cNvPr>
          <p:cNvSpPr txBox="1"/>
          <p:nvPr/>
        </p:nvSpPr>
        <p:spPr>
          <a:xfrm>
            <a:off x="1133061" y="1607655"/>
            <a:ext cx="5953539" cy="1021305"/>
          </a:xfrm>
          <a:prstGeom prst="rect">
            <a:avLst/>
          </a:prstGeom>
          <a:solidFill>
            <a:srgbClr val="FF0000">
              <a:alpha val="32000"/>
            </a:srgbClr>
          </a:solidFill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62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6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2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xét</a:t>
            </a:r>
            <a:r>
              <a:rPr lang="en-US" sz="6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6200" b="1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154C3-A87D-478F-A6AC-F4FE2A2B6A28}"/>
              </a:ext>
            </a:extLst>
          </p:cNvPr>
          <p:cNvSpPr txBox="1"/>
          <p:nvPr/>
        </p:nvSpPr>
        <p:spPr>
          <a:xfrm>
            <a:off x="342899" y="2628960"/>
            <a:ext cx="23698200" cy="4893647"/>
          </a:xfrm>
          <a:prstGeom prst="rect">
            <a:avLst/>
          </a:prstGeom>
          <a:solidFill>
            <a:srgbClr val="0070C0">
              <a:alpha val="60000"/>
            </a:srgbClr>
          </a:solidFill>
        </p:spPr>
        <p:txBody>
          <a:bodyPr wrap="square">
            <a:spAutoFit/>
          </a:bodyPr>
          <a:lstStyle/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còn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phải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</a:p>
          <a:p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Tuổi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trẻ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thăm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ý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câu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‘ Theo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VFF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nên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huấn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ngoại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hay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dẫn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dắt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tuyển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bóng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Nam?”.</a:t>
            </a:r>
          </a:p>
          <a:p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21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27-4-2021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0D5A5-F47C-4C04-A850-9A6B2E8A9718}"/>
              </a:ext>
            </a:extLst>
          </p:cNvPr>
          <p:cNvSpPr txBox="1"/>
          <p:nvPr/>
        </p:nvSpPr>
        <p:spPr>
          <a:xfrm>
            <a:off x="1409700" y="11261959"/>
            <a:ext cx="21564599" cy="1692771"/>
          </a:xfrm>
          <a:prstGeom prst="rect">
            <a:avLst/>
          </a:prstGeom>
          <a:solidFill>
            <a:srgbClr val="0070C0">
              <a:alpha val="60000"/>
            </a:srgbClr>
          </a:solidFill>
        </p:spPr>
        <p:txBody>
          <a:bodyPr wrap="square">
            <a:spAutoFit/>
          </a:bodyPr>
          <a:lstStyle/>
          <a:p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lựa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huấn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ngoại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gọi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50EBB2-78BD-4C4E-B817-6D6639B28509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7748524"/>
          <a:ext cx="18745202" cy="3391916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4741987">
                  <a:extLst>
                    <a:ext uri="{9D8B030D-6E8A-4147-A177-3AD203B41FA5}">
                      <a16:colId xmlns:a16="http://schemas.microsoft.com/office/drawing/2014/main" val="832739804"/>
                    </a:ext>
                  </a:extLst>
                </a:gridCol>
                <a:gridCol w="5166813">
                  <a:extLst>
                    <a:ext uri="{9D8B030D-6E8A-4147-A177-3AD203B41FA5}">
                      <a16:colId xmlns:a16="http://schemas.microsoft.com/office/drawing/2014/main" val="233391940"/>
                    </a:ext>
                  </a:extLst>
                </a:gridCol>
                <a:gridCol w="5580159">
                  <a:extLst>
                    <a:ext uri="{9D8B030D-6E8A-4147-A177-3AD203B41FA5}">
                      <a16:colId xmlns:a16="http://schemas.microsoft.com/office/drawing/2014/main" val="1270535166"/>
                    </a:ext>
                  </a:extLst>
                </a:gridCol>
                <a:gridCol w="3256243">
                  <a:extLst>
                    <a:ext uri="{9D8B030D-6E8A-4147-A177-3AD203B41FA5}">
                      <a16:colId xmlns:a16="http://schemas.microsoft.com/office/drawing/2014/main" val="2941485603"/>
                    </a:ext>
                  </a:extLst>
                </a:gridCol>
              </a:tblGrid>
              <a:tr h="136960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en-US" sz="5200">
                          <a:effectLst/>
                        </a:rPr>
                        <a:t>Lựa chọn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5200" dirty="0" err="1">
                          <a:effectLst/>
                        </a:rPr>
                        <a:t>Huấn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luyện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viên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nội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5200" dirty="0" err="1">
                          <a:effectLst/>
                        </a:rPr>
                        <a:t>Huấn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luyện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viên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ngoại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5200" dirty="0">
                          <a:effectLst/>
                        </a:rPr>
                        <a:t>Ý </a:t>
                      </a:r>
                      <a:r>
                        <a:rPr lang="en-US" sz="5200" dirty="0" err="1">
                          <a:effectLst/>
                        </a:rPr>
                        <a:t>kiến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khác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8599399"/>
                  </a:ext>
                </a:extLst>
              </a:tr>
              <a:tr h="136960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en-US" sz="5200" dirty="0" err="1">
                          <a:effectLst/>
                        </a:rPr>
                        <a:t>Số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lượt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</a:p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en-US" sz="5200" dirty="0" err="1">
                          <a:effectLst/>
                        </a:rPr>
                        <a:t>bình</a:t>
                      </a:r>
                      <a:r>
                        <a:rPr lang="en-US" sz="5200" dirty="0">
                          <a:effectLst/>
                        </a:rPr>
                        <a:t> </a:t>
                      </a:r>
                      <a:r>
                        <a:rPr lang="en-US" sz="5200" dirty="0" err="1">
                          <a:effectLst/>
                        </a:rPr>
                        <a:t>chọn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5200">
                          <a:effectLst/>
                        </a:rPr>
                        <a:t>1 897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5200">
                          <a:effectLst/>
                        </a:rPr>
                        <a:t>3 781</a:t>
                      </a:r>
                      <a:endParaRPr lang="en-US" sz="5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5200" dirty="0">
                          <a:effectLst/>
                        </a:rPr>
                        <a:t>747</a:t>
                      </a:r>
                      <a:endParaRPr lang="en-US" sz="5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451515"/>
                  </a:ext>
                </a:extLst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42233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FCEE91-51C7-4CAA-BCFE-E1E66A0BE1FE}"/>
              </a:ext>
            </a:extLst>
          </p:cNvPr>
          <p:cNvGrpSpPr/>
          <p:nvPr/>
        </p:nvGrpSpPr>
        <p:grpSpPr>
          <a:xfrm>
            <a:off x="381000" y="2362200"/>
            <a:ext cx="1454536" cy="833120"/>
            <a:chOff x="0" y="92326"/>
            <a:chExt cx="575416" cy="1976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7CF228-B3EA-4C54-B215-91357F7C6D8E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B441DAEF-BE9B-4A5C-B04F-F250E2204F97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1CC7B1B0-944B-4324-B6D1-4040CC272F75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203B43CD-040F-4C17-9269-81826EE2D48A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" name="Flowchart: Terminator 3">
              <a:extLst>
                <a:ext uri="{FF2B5EF4-FFF2-40B4-BE49-F238E27FC236}">
                  <a16:creationId xmlns:a16="http://schemas.microsoft.com/office/drawing/2014/main" id="{8B5094AC-53B4-41BF-94FD-D4A37F432497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B6C7FDA-9BA4-4498-A785-0ECE09D21DCE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43E7986-32AE-4602-B1BF-5E2DC7E8E940}"/>
              </a:ext>
            </a:extLst>
          </p:cNvPr>
          <p:cNvSpPr txBox="1"/>
          <p:nvPr/>
        </p:nvSpPr>
        <p:spPr>
          <a:xfrm>
            <a:off x="2007741" y="2362200"/>
            <a:ext cx="21528194" cy="2584041"/>
          </a:xfrm>
          <a:prstGeom prst="rect">
            <a:avLst/>
          </a:prstGeom>
          <a:solidFill>
            <a:schemeClr val="accent2">
              <a:alpha val="83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5200" b="1" kern="1200" dirty="0" err="1">
                <a:solidFill>
                  <a:srgbClr val="5381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5200" b="1" kern="1200" dirty="0">
                <a:solidFill>
                  <a:srgbClr val="5381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b="1" kern="1200" dirty="0" err="1">
                <a:solidFill>
                  <a:srgbClr val="5381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5200" b="1" kern="1200" dirty="0">
                <a:solidFill>
                  <a:srgbClr val="53813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xu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̀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 ở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3662AB-AFA9-4A13-99C2-A13D9EE1A445}"/>
                  </a:ext>
                </a:extLst>
              </p:cNvPr>
              <p:cNvSpPr txBox="1"/>
              <p:nvPr/>
            </p:nvSpPr>
            <p:spPr>
              <a:xfrm>
                <a:off x="904707" y="5095464"/>
                <a:ext cx="23030782" cy="7653314"/>
              </a:xfrm>
              <a:prstGeom prst="rect">
                <a:avLst/>
              </a:prstGeom>
              <a:solidFill>
                <a:srgbClr val="0070C0">
                  <a:alpha val="79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5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i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5200" b="1" i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A: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5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5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5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𝐴</m:t>
                            </m:r>
                          </m:sub>
                        </m:sSub>
                      </m:e>
                    </m:acc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92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2233445555566777777888999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6.		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4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6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7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3662AB-AFA9-4A13-99C2-A13D9EE1A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707" y="5095464"/>
                <a:ext cx="23030782" cy="7653314"/>
              </a:xfrm>
              <a:prstGeom prst="rect">
                <a:avLst/>
              </a:prstGeom>
              <a:blipFill>
                <a:blip r:embed="rId2"/>
                <a:stretch>
                  <a:fillRect b="-3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971401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FCEE91-51C7-4CAA-BCFE-E1E66A0BE1FE}"/>
              </a:ext>
            </a:extLst>
          </p:cNvPr>
          <p:cNvGrpSpPr/>
          <p:nvPr/>
        </p:nvGrpSpPr>
        <p:grpSpPr>
          <a:xfrm>
            <a:off x="381000" y="2362200"/>
            <a:ext cx="1454536" cy="833120"/>
            <a:chOff x="0" y="92326"/>
            <a:chExt cx="575416" cy="1976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7CF228-B3EA-4C54-B215-91357F7C6D8E}"/>
                </a:ext>
              </a:extLst>
            </p:cNvPr>
            <p:cNvGrpSpPr/>
            <p:nvPr/>
          </p:nvGrpSpPr>
          <p:grpSpPr>
            <a:xfrm>
              <a:off x="0" y="92326"/>
              <a:ext cx="575416" cy="197663"/>
              <a:chOff x="0" y="92326"/>
              <a:chExt cx="644449" cy="302837"/>
            </a:xfrm>
          </p:grpSpPr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B441DAEF-BE9B-4A5C-B04F-F250E2204F97}"/>
                  </a:ext>
                </a:extLst>
              </p:cNvPr>
              <p:cNvSpPr/>
              <p:nvPr/>
            </p:nvSpPr>
            <p:spPr>
              <a:xfrm>
                <a:off x="0" y="103807"/>
                <a:ext cx="420648" cy="291356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1CC7B1B0-944B-4324-B6D1-4040CC272F75}"/>
                  </a:ext>
                </a:extLst>
              </p:cNvPr>
              <p:cNvSpPr/>
              <p:nvPr/>
            </p:nvSpPr>
            <p:spPr>
              <a:xfrm>
                <a:off x="380243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203B43CD-040F-4C17-9269-81826EE2D48A}"/>
                  </a:ext>
                </a:extLst>
              </p:cNvPr>
              <p:cNvSpPr/>
              <p:nvPr/>
            </p:nvSpPr>
            <p:spPr>
              <a:xfrm>
                <a:off x="474990" y="92326"/>
                <a:ext cx="169459" cy="291671"/>
              </a:xfrm>
              <a:prstGeom prst="chevron">
                <a:avLst>
                  <a:gd name="adj" fmla="val 83506"/>
                </a:avLst>
              </a:prstGeom>
              <a:solidFill>
                <a:srgbClr val="0000CC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088639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177278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265917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354556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5443195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6531834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620472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8709111" algn="l" defTabSz="2177278" rtl="0" eaLnBrk="1" latinLnBrk="0" hangingPunct="1">
                  <a:defRPr sz="43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" name="Flowchart: Terminator 3">
              <a:extLst>
                <a:ext uri="{FF2B5EF4-FFF2-40B4-BE49-F238E27FC236}">
                  <a16:creationId xmlns:a16="http://schemas.microsoft.com/office/drawing/2014/main" id="{8B5094AC-53B4-41BF-94FD-D4A37F432497}"/>
                </a:ext>
              </a:extLst>
            </p:cNvPr>
            <p:cNvSpPr/>
            <p:nvPr/>
          </p:nvSpPr>
          <p:spPr>
            <a:xfrm>
              <a:off x="80311" y="137613"/>
              <a:ext cx="253736" cy="115827"/>
            </a:xfrm>
            <a:prstGeom prst="flowChartTerminator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B6C7FDA-9BA4-4498-A785-0ECE09D21DCE}"/>
                </a:ext>
              </a:extLst>
            </p:cNvPr>
            <p:cNvSpPr/>
            <p:nvPr/>
          </p:nvSpPr>
          <p:spPr>
            <a:xfrm>
              <a:off x="211660" y="142761"/>
              <a:ext cx="92369" cy="95432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088639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177278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265917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354556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5443195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6531834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7620472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8709111" algn="l" defTabSz="2177278" rtl="0" eaLnBrk="1" latinLnBrk="0" hangingPunct="1">
                <a:defRPr sz="43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43E7986-32AE-4602-B1BF-5E2DC7E8E940}"/>
              </a:ext>
            </a:extLst>
          </p:cNvPr>
          <p:cNvSpPr txBox="1"/>
          <p:nvPr/>
        </p:nvSpPr>
        <p:spPr>
          <a:xfrm>
            <a:off x="2007741" y="2362200"/>
            <a:ext cx="21528194" cy="2584041"/>
          </a:xfrm>
          <a:prstGeom prst="rect">
            <a:avLst/>
          </a:prstGeom>
          <a:solidFill>
            <a:schemeClr val="accent2">
              <a:alpha val="83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5200" b="1" kern="1200" dirty="0" err="1">
                <a:solidFill>
                  <a:srgbClr val="5381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5200" b="1" kern="1200" dirty="0">
                <a:solidFill>
                  <a:srgbClr val="5381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b="1" kern="1200" dirty="0" err="1">
                <a:solidFill>
                  <a:srgbClr val="538135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5200" b="1" kern="1200" dirty="0">
                <a:solidFill>
                  <a:srgbClr val="53813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xu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̀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 ở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3662AB-AFA9-4A13-99C2-A13D9EE1A445}"/>
                  </a:ext>
                </a:extLst>
              </p:cNvPr>
              <p:cNvSpPr txBox="1"/>
              <p:nvPr/>
            </p:nvSpPr>
            <p:spPr>
              <a:xfrm>
                <a:off x="839141" y="4977826"/>
                <a:ext cx="23030782" cy="7131183"/>
              </a:xfrm>
              <a:prstGeom prst="rect">
                <a:avLst/>
              </a:prstGeom>
              <a:solidFill>
                <a:srgbClr val="0070C0">
                  <a:alpha val="79000"/>
                </a:srgb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5200" b="1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52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B:</a:t>
                </a:r>
                <a:endParaRPr lang="en-US" sz="5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5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5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5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334455556666667777777889910</m:t>
                    </m:r>
                  </m:oMath>
                </a14:m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		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7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quả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chất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đồng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52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3662AB-AFA9-4A13-99C2-A13D9EE1A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41" y="4977826"/>
                <a:ext cx="23030782" cy="7131183"/>
              </a:xfrm>
              <a:prstGeom prst="rect">
                <a:avLst/>
              </a:prstGeom>
              <a:blipFill>
                <a:blip r:embed="rId2"/>
                <a:stretch>
                  <a:fillRect l="-1350" b="-4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88381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34433-D390-467A-9810-1A818200C397}"/>
              </a:ext>
            </a:extLst>
          </p:cNvPr>
          <p:cNvSpPr txBox="1"/>
          <p:nvPr/>
        </p:nvSpPr>
        <p:spPr>
          <a:xfrm>
            <a:off x="1066800" y="2880102"/>
            <a:ext cx="22250400" cy="2686633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5.7.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algn="l">
              <a:lnSpc>
                <a:spcPct val="107000"/>
              </a:lnSpc>
              <a:tabLst>
                <a:tab pos="2646680" algn="l"/>
              </a:tabLst>
            </a:pP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bóng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rổ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29EA9A5-FF52-4473-B08E-18FDE0A45AA0}"/>
              </a:ext>
            </a:extLst>
          </p:cNvPr>
          <p:cNvGraphicFramePr>
            <a:graphicFrameLocks noGrp="1"/>
          </p:cNvGraphicFramePr>
          <p:nvPr/>
        </p:nvGraphicFramePr>
        <p:xfrm>
          <a:off x="4419600" y="5943600"/>
          <a:ext cx="13716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44606894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8444553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465652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657306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5265885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5200" dirty="0"/>
                        <a:t>9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8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15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8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20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581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5AF5C1-CA57-4B53-B898-DA2FB45E3174}"/>
                  </a:ext>
                </a:extLst>
              </p:cNvPr>
              <p:cNvSpPr txBox="1"/>
              <p:nvPr/>
            </p:nvSpPr>
            <p:spPr>
              <a:xfrm>
                <a:off x="1093304" y="7234865"/>
                <a:ext cx="22250400" cy="5047472"/>
              </a:xfrm>
              <a:prstGeom prst="rect">
                <a:avLst/>
              </a:prstGeom>
              <a:solidFill>
                <a:schemeClr val="accent2">
                  <a:alpha val="72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Times New Roman" panose="02020603050405020304" pitchFamily="18" charset="0"/>
                  <a:buAutoNum type="alphaLcParenR" startAt="2"/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của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loại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giày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nghìn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):</a:t>
                </a:r>
              </a:p>
              <a:p>
                <a:pPr marL="685800" algn="ctr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350300650300450500300250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lvl="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kênh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truyền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685800" algn="ctr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36​​​38333432303435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5AF5C1-CA57-4B53-B898-DA2FB45E3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304" y="7234865"/>
                <a:ext cx="22250400" cy="5047472"/>
              </a:xfrm>
              <a:prstGeom prst="rect">
                <a:avLst/>
              </a:prstGeom>
              <a:blipFill>
                <a:blip r:embed="rId2"/>
                <a:stretch>
                  <a:fillRect l="-1370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84656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1676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34433-D390-467A-9810-1A818200C397}"/>
              </a:ext>
            </a:extLst>
          </p:cNvPr>
          <p:cNvSpPr txBox="1"/>
          <p:nvPr/>
        </p:nvSpPr>
        <p:spPr>
          <a:xfrm>
            <a:off x="1066800" y="2499102"/>
            <a:ext cx="22250400" cy="2686633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5.7.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algn="l">
              <a:lnSpc>
                <a:spcPct val="107000"/>
              </a:lnSpc>
              <a:tabLst>
                <a:tab pos="2646680" algn="l"/>
              </a:tabLst>
            </a:pP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bóng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rổ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29EA9A5-FF52-4473-B08E-18FDE0A45AA0}"/>
              </a:ext>
            </a:extLst>
          </p:cNvPr>
          <p:cNvGraphicFramePr>
            <a:graphicFrameLocks noGrp="1"/>
          </p:cNvGraphicFramePr>
          <p:nvPr/>
        </p:nvGraphicFramePr>
        <p:xfrm>
          <a:off x="4419600" y="5486400"/>
          <a:ext cx="13716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44606894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8444553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465652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657306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5265885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5200" dirty="0"/>
                        <a:t>9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8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15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8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200" dirty="0"/>
                        <a:t>20</a:t>
                      </a:r>
                      <a:endParaRPr lang="en-US" sz="5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581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6A6CDC-A52B-48A5-AE16-701FE2E8A55E}"/>
                  </a:ext>
                </a:extLst>
              </p:cNvPr>
              <p:cNvSpPr txBox="1"/>
              <p:nvPr/>
            </p:nvSpPr>
            <p:spPr>
              <a:xfrm>
                <a:off x="1066800" y="6537960"/>
                <a:ext cx="22250400" cy="6872009"/>
              </a:xfrm>
              <a:prstGeom prst="rect">
                <a:avLst/>
              </a:prstGeom>
              <a:solidFill>
                <a:schemeClr val="accent1">
                  <a:alpha val="72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8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.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9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15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5</m:t>
                        </m:r>
                      </m:den>
                    </m:f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12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520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8891520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9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8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xuất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nhiều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8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8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9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17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6A6CDC-A52B-48A5-AE16-701FE2E8A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6537960"/>
                <a:ext cx="22250400" cy="6872009"/>
              </a:xfrm>
              <a:prstGeom prst="rect">
                <a:avLst/>
              </a:prstGeom>
              <a:blipFill>
                <a:blip r:embed="rId2"/>
                <a:stretch>
                  <a:fillRect b="-3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31730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18288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651502"/>
                <a:ext cx="22250400" cy="3641959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Times New Roman" panose="02020603050405020304" pitchFamily="18" charset="0"/>
                  <a:buAutoNum type="alphaLcParenR" startAt="2"/>
                  <a:tabLst>
                    <a:tab pos="2646680" algn="l"/>
                  </a:tabLst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5.7.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đây:b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của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loại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giày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nghìn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):</a:t>
                </a:r>
              </a:p>
              <a:p>
                <a:pPr marL="685800" algn="ctr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350300650300450500300250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651502"/>
                <a:ext cx="22250400" cy="3641959"/>
              </a:xfrm>
              <a:prstGeom prst="rect">
                <a:avLst/>
              </a:prstGeom>
              <a:blipFill>
                <a:blip r:embed="rId2"/>
                <a:stretch>
                  <a:fillRect l="-1370" b="-8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70A8C6-5B17-40FF-A08A-6145804020FA}"/>
                  </a:ext>
                </a:extLst>
              </p:cNvPr>
              <p:cNvSpPr txBox="1"/>
              <p:nvPr/>
            </p:nvSpPr>
            <p:spPr>
              <a:xfrm>
                <a:off x="914400" y="6351148"/>
                <a:ext cx="22479000" cy="6872779"/>
              </a:xfrm>
              <a:prstGeom prst="rect">
                <a:avLst/>
              </a:prstGeom>
              <a:solidFill>
                <a:srgbClr val="0070C0">
                  <a:alpha val="66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250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300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.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350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450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500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650</m:t>
                        </m:r>
                      </m:num>
                      <m:den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8</m:t>
                        </m:r>
                      </m:den>
                    </m:f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387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250300300300350450500650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325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300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300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325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475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70A8C6-5B17-40FF-A08A-614580402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6351148"/>
                <a:ext cx="22479000" cy="6872779"/>
              </a:xfrm>
              <a:prstGeom prst="rect">
                <a:avLst/>
              </a:prstGeom>
              <a:blipFill>
                <a:blip r:embed="rId3"/>
                <a:stretch>
                  <a:fillRect r="-380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945257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880102"/>
                <a:ext cx="22250400" cy="3641959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5.7.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:c)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kênh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truyền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685800" algn="ctr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36​​​38333432303435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880102"/>
                <a:ext cx="22250400" cy="3641959"/>
              </a:xfrm>
              <a:prstGeom prst="rect">
                <a:avLst/>
              </a:prstGeom>
              <a:blipFill>
                <a:blip r:embed="rId2"/>
                <a:stretch>
                  <a:fillRect l="-1370" r="-2055" b="-8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0AB5FE-812A-4D37-A883-D363EBC29DDD}"/>
                  </a:ext>
                </a:extLst>
              </p:cNvPr>
              <p:cNvSpPr txBox="1"/>
              <p:nvPr/>
            </p:nvSpPr>
            <p:spPr>
              <a:xfrm>
                <a:off x="1028700" y="6858000"/>
                <a:ext cx="22250400" cy="6195927"/>
              </a:xfrm>
              <a:prstGeom prst="rect">
                <a:avLst/>
              </a:prstGeom>
              <a:solidFill>
                <a:srgbClr val="0070C0">
                  <a:alpha val="76000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Số trung bình là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30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32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33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34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35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36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38</m:t>
                        </m:r>
                      </m:num>
                      <m:den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vi-VN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34</m:t>
                    </m:r>
                  </m:oMath>
                </a14:m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30323334343536​​​38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34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34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32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34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0AB5FE-812A-4D37-A883-D363EBC29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6858000"/>
                <a:ext cx="22250400" cy="6195927"/>
              </a:xfrm>
              <a:prstGeom prst="rect">
                <a:avLst/>
              </a:prstGeom>
              <a:blipFill>
                <a:blip r:embed="rId3"/>
                <a:stretch>
                  <a:fillRect l="-1397" t="-197" b="-4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055831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34433-D390-467A-9810-1A818200C397}"/>
              </a:ext>
            </a:extLst>
          </p:cNvPr>
          <p:cNvSpPr txBox="1"/>
          <p:nvPr/>
        </p:nvSpPr>
        <p:spPr>
          <a:xfrm>
            <a:off x="1066800" y="2860515"/>
            <a:ext cx="22250400" cy="534530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wrap="square">
            <a:spAutoFit/>
          </a:bodyPr>
          <a:lstStyle/>
          <a:p>
            <a:pPr marL="685800" indent="-4000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5.8</a:t>
            </a:r>
            <a:r>
              <a:rPr lang="vi-VN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 chọn số đặc trưng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phù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 xu thế trung tâm của mỗi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mẫu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 liệu sau. Giải thích và tính giá trị của số đặc trưng đó.</a:t>
            </a: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algn="l">
              <a:lnSpc>
                <a:spcPct val="150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giống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Trái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trăng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trăng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hành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tinh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trời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rất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kê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mặt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trăng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hành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tinh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52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B82EDA-566B-4623-8CAE-75D32A2B543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8686800"/>
          <a:ext cx="23164800" cy="2994403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4126976">
                  <a:extLst>
                    <a:ext uri="{9D8B030D-6E8A-4147-A177-3AD203B41FA5}">
                      <a16:colId xmlns:a16="http://schemas.microsoft.com/office/drawing/2014/main" val="2754776376"/>
                    </a:ext>
                  </a:extLst>
                </a:gridCol>
                <a:gridCol w="2378507">
                  <a:extLst>
                    <a:ext uri="{9D8B030D-6E8A-4147-A177-3AD203B41FA5}">
                      <a16:colId xmlns:a16="http://schemas.microsoft.com/office/drawing/2014/main" val="1902886683"/>
                    </a:ext>
                  </a:extLst>
                </a:gridCol>
                <a:gridCol w="2380949">
                  <a:extLst>
                    <a:ext uri="{9D8B030D-6E8A-4147-A177-3AD203B41FA5}">
                      <a16:colId xmlns:a16="http://schemas.microsoft.com/office/drawing/2014/main" val="3738646665"/>
                    </a:ext>
                  </a:extLst>
                </a:gridCol>
                <a:gridCol w="2378507">
                  <a:extLst>
                    <a:ext uri="{9D8B030D-6E8A-4147-A177-3AD203B41FA5}">
                      <a16:colId xmlns:a16="http://schemas.microsoft.com/office/drawing/2014/main" val="1294762326"/>
                    </a:ext>
                  </a:extLst>
                </a:gridCol>
                <a:gridCol w="2380949">
                  <a:extLst>
                    <a:ext uri="{9D8B030D-6E8A-4147-A177-3AD203B41FA5}">
                      <a16:colId xmlns:a16="http://schemas.microsoft.com/office/drawing/2014/main" val="1750634212"/>
                    </a:ext>
                  </a:extLst>
                </a:gridCol>
                <a:gridCol w="2378507">
                  <a:extLst>
                    <a:ext uri="{9D8B030D-6E8A-4147-A177-3AD203B41FA5}">
                      <a16:colId xmlns:a16="http://schemas.microsoft.com/office/drawing/2014/main" val="4001160022"/>
                    </a:ext>
                  </a:extLst>
                </a:gridCol>
                <a:gridCol w="2380949">
                  <a:extLst>
                    <a:ext uri="{9D8B030D-6E8A-4147-A177-3AD203B41FA5}">
                      <a16:colId xmlns:a16="http://schemas.microsoft.com/office/drawing/2014/main" val="3100206117"/>
                    </a:ext>
                  </a:extLst>
                </a:gridCol>
                <a:gridCol w="2378507">
                  <a:extLst>
                    <a:ext uri="{9D8B030D-6E8A-4147-A177-3AD203B41FA5}">
                      <a16:colId xmlns:a16="http://schemas.microsoft.com/office/drawing/2014/main" val="886572476"/>
                    </a:ext>
                  </a:extLst>
                </a:gridCol>
                <a:gridCol w="2380949">
                  <a:extLst>
                    <a:ext uri="{9D8B030D-6E8A-4147-A177-3AD203B41FA5}">
                      <a16:colId xmlns:a16="http://schemas.microsoft.com/office/drawing/2014/main" val="2464890466"/>
                    </a:ext>
                  </a:extLst>
                </a:gridCol>
              </a:tblGrid>
              <a:tr h="20712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 err="1">
                          <a:effectLst/>
                        </a:rPr>
                        <a:t>Hành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tinh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 err="1">
                          <a:effectLst/>
                        </a:rPr>
                        <a:t>Thuỷ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tinh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Kim </a:t>
                      </a:r>
                      <a:r>
                        <a:rPr lang="en-US" sz="4200" dirty="0" err="1">
                          <a:effectLst/>
                        </a:rPr>
                        <a:t>tinh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 err="1">
                          <a:effectLst/>
                        </a:rPr>
                        <a:t>Trái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Đất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 err="1">
                          <a:effectLst/>
                        </a:rPr>
                        <a:t>Hoả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tinh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>
                          <a:effectLst/>
                        </a:rPr>
                        <a:t>Mộc tinh</a:t>
                      </a:r>
                      <a:endParaRPr lang="en-US" sz="4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>
                          <a:effectLst/>
                        </a:rPr>
                        <a:t>Thổ tinh</a:t>
                      </a:r>
                      <a:endParaRPr lang="en-US" sz="4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 err="1">
                          <a:effectLst/>
                        </a:rPr>
                        <a:t>Thiên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Vương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tinh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 err="1">
                          <a:effectLst/>
                        </a:rPr>
                        <a:t>Hải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Vương</a:t>
                      </a:r>
                      <a:r>
                        <a:rPr lang="en-US" sz="4200" dirty="0">
                          <a:effectLst/>
                        </a:rPr>
                        <a:t> </a:t>
                      </a:r>
                      <a:r>
                        <a:rPr lang="en-US" sz="4200" dirty="0" err="1">
                          <a:effectLst/>
                        </a:rPr>
                        <a:t>tinh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9303558"/>
                  </a:ext>
                </a:extLst>
              </a:tr>
              <a:tr h="9231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>
                          <a:effectLst/>
                        </a:rPr>
                        <a:t>Số mặt trăng</a:t>
                      </a:r>
                      <a:endParaRPr lang="en-US" sz="4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>
                          <a:effectLst/>
                        </a:rPr>
                        <a:t>0</a:t>
                      </a:r>
                      <a:endParaRPr lang="en-US" sz="4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>
                          <a:effectLst/>
                        </a:rPr>
                        <a:t>0</a:t>
                      </a:r>
                      <a:endParaRPr lang="en-US" sz="4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1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2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63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34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27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200" dirty="0">
                          <a:effectLst/>
                        </a:rPr>
                        <a:t>13</a:t>
                      </a:r>
                      <a:endParaRPr lang="en-US" sz="4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012074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56635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77D709-06E1-44AE-BDB6-42D1782C71B1}"/>
                  </a:ext>
                </a:extLst>
              </p:cNvPr>
              <p:cNvSpPr txBox="1"/>
              <p:nvPr/>
            </p:nvSpPr>
            <p:spPr>
              <a:xfrm>
                <a:off x="838200" y="2590800"/>
                <a:ext cx="22555200" cy="6862584"/>
              </a:xfrm>
              <a:prstGeom prst="rect">
                <a:avLst/>
              </a:prstGeom>
              <a:solidFill>
                <a:srgbClr val="0070C0">
                  <a:alpha val="64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5.8</a:t>
                </a:r>
              </a:p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68580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 số đặc trưng là tứ phân vị, vì các số liệu không đồng đều nhau, nhiều số liệu trong mẫu chênh lệch lớn so với trung vị. 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001213273463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7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5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77D709-06E1-44AE-BDB6-42D1782C7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90800"/>
                <a:ext cx="22555200" cy="6862584"/>
              </a:xfrm>
              <a:prstGeom prst="rect">
                <a:avLst/>
              </a:prstGeom>
              <a:blipFill>
                <a:blip r:embed="rId2"/>
                <a:stretch>
                  <a:fillRect b="-3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787044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928767"/>
                <a:ext cx="22250400" cy="6055312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685800" indent="-40005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5.8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 chọn số đặc trưng </a:t>
                </a:r>
                <a:r>
                  <a:rPr lang="en-US" sz="5200" dirty="0" err="1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phù</a:t>
                </a:r>
                <a:r>
                  <a:rPr lang="en-US" sz="5200" dirty="0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 xu thế trung tâm của mỗi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mẫu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 liệu sau. Giải thích và tính giá trị của số đặc trưng đó.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685800" algn="just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chuyền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trận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sô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́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thủ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3224201423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indent="2286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IQ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nhóm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60726383687490867480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indent="2286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phép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1015181514134215121442</m:t>
                    </m:r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928767"/>
                <a:ext cx="22250400" cy="6055312"/>
              </a:xfrm>
              <a:prstGeom prst="rect">
                <a:avLst/>
              </a:prstGeom>
              <a:blipFill>
                <a:blip r:embed="rId2"/>
                <a:stretch>
                  <a:fillRect l="-82" t="-2918" r="-2329" b="-4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316990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928767"/>
                <a:ext cx="22250400" cy="4154151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685800" indent="-40005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5.8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 chọn số đặc trưng </a:t>
                </a:r>
                <a:r>
                  <a:rPr lang="en-US" sz="5200" dirty="0" err="1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phù</a:t>
                </a:r>
                <a:r>
                  <a:rPr lang="en-US" sz="5200" dirty="0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 xu thế trung tâm của mỗi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mẫu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 liệu sau. Giải thích và tính giá trị của số đặc trưng đó.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685800" algn="just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chuyền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trận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sô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́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thủ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3224201423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928767"/>
                <a:ext cx="22250400" cy="4154151"/>
              </a:xfrm>
              <a:prstGeom prst="rect">
                <a:avLst/>
              </a:prstGeom>
              <a:blipFill>
                <a:blip r:embed="rId2"/>
                <a:stretch>
                  <a:fillRect l="-82" t="-4252" r="-2329" b="-7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5118E0-087E-47CB-907F-FD45744A2968}"/>
                  </a:ext>
                </a:extLst>
              </p:cNvPr>
              <p:cNvSpPr txBox="1"/>
              <p:nvPr/>
            </p:nvSpPr>
            <p:spPr>
              <a:xfrm>
                <a:off x="1066800" y="8305800"/>
                <a:ext cx="22250400" cy="2613985"/>
              </a:xfrm>
              <a:prstGeom prst="rect">
                <a:avLst/>
              </a:prstGeom>
              <a:solidFill>
                <a:srgbClr val="0070C0">
                  <a:alpha val="78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68580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 số đặc trưng là số trung bình, các giá trị không lặp lại. 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32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24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14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23</m:t>
                        </m:r>
                      </m:num>
                      <m:den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5</m:t>
                        </m:r>
                      </m:den>
                    </m:f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22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6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5118E0-087E-47CB-907F-FD45744A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8305800"/>
                <a:ext cx="22250400" cy="2613985"/>
              </a:xfrm>
              <a:prstGeom prst="rect">
                <a:avLst/>
              </a:prstGeom>
              <a:blipFill>
                <a:blip r:embed="rId3"/>
                <a:stretch>
                  <a:fillRect t="-7009" b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51177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928767"/>
                <a:ext cx="22250400" cy="3552063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685800" indent="-40005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5.8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 chọn số đặc trưng </a:t>
                </a:r>
                <a:r>
                  <a:rPr lang="en-US" sz="5200" dirty="0" err="1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phù</a:t>
                </a:r>
                <a:r>
                  <a:rPr lang="en-US" sz="5200" dirty="0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highlight>
                      <a:srgbClr val="FFFF00"/>
                    </a:highligh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 xu thế trung tâm của mỗi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mẫu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 liệu sau. Giải thích và tính giá trị của số đặc trưng đó.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457200" indent="2286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IQ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nhóm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60726383687490867480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indent="2286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phép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1015181514134215121442</m:t>
                    </m:r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928767"/>
                <a:ext cx="22250400" cy="3552063"/>
              </a:xfrm>
              <a:prstGeom prst="rect">
                <a:avLst/>
              </a:prstGeom>
              <a:blipFill>
                <a:blip r:embed="rId2"/>
                <a:stretch>
                  <a:fillRect l="-82" t="-4974" b="-8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6DE445-55E6-4C51-9764-FBED42751CD5}"/>
                  </a:ext>
                </a:extLst>
              </p:cNvPr>
              <p:cNvSpPr txBox="1"/>
              <p:nvPr/>
            </p:nvSpPr>
            <p:spPr>
              <a:xfrm>
                <a:off x="1066799" y="7235171"/>
                <a:ext cx="22783801" cy="4263347"/>
              </a:xfrm>
              <a:prstGeom prst="rect">
                <a:avLst/>
              </a:prstGeom>
              <a:solidFill>
                <a:srgbClr val="00B0F0">
                  <a:alpha val="71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68580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 marL="685800" algn="l">
                  <a:lnSpc>
                    <a:spcPct val="107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 số đặc trưng là trung bình, vì các số liệu gần nhau.Số trung bình là: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60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63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68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72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74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80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83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86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90</m:t>
                        </m:r>
                      </m:num>
                      <m:den>
                        <m:r>
                          <a:rPr lang="vi-VN" sz="5200" i="1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  <m:r>
                      <a:rPr lang="vi-VN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75</m:t>
                    </m:r>
                  </m:oMath>
                </a14:m>
                <a:r>
                  <a:rPr lang="vi-VN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42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thường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15.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6DE445-55E6-4C51-9764-FBED4275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99" y="7235171"/>
                <a:ext cx="22783801" cy="4263347"/>
              </a:xfrm>
              <a:prstGeom prst="rect">
                <a:avLst/>
              </a:prstGeom>
              <a:blipFill>
                <a:blip r:embed="rId3"/>
                <a:stretch>
                  <a:fillRect t="-4292" r="-1204" b="-7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189359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1676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547767"/>
                <a:ext cx="22250400" cy="3440301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457200" indent="-171450" algn="just">
                  <a:lnSpc>
                    <a:spcPct val="107000"/>
                  </a:lnSpc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5.9.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giỏi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2018 - 2019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10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phổ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00400010060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47767"/>
                <a:ext cx="22250400" cy="3440301"/>
              </a:xfrm>
              <a:prstGeom prst="rect">
                <a:avLst/>
              </a:prstGeom>
              <a:blipFill>
                <a:blip r:embed="rId2"/>
                <a:stretch>
                  <a:fillRect l="-82" t="-5319" r="-2329" b="-9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3A7D3-605E-4F57-984E-C07F49CA4134}"/>
                  </a:ext>
                </a:extLst>
              </p:cNvPr>
              <p:cNvSpPr txBox="1"/>
              <p:nvPr/>
            </p:nvSpPr>
            <p:spPr>
              <a:xfrm>
                <a:off x="1028700" y="5949968"/>
                <a:ext cx="21793200" cy="6854890"/>
              </a:xfrm>
              <a:prstGeom prst="rect">
                <a:avLst/>
              </a:prstGeom>
              <a:solidFill>
                <a:srgbClr val="00B0F0">
                  <a:alpha val="48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R"/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.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7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10</m:t>
                        </m:r>
                      </m:num>
                      <m:den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10</m:t>
                        </m:r>
                      </m:den>
                    </m:f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520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00000004610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0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xuất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nhiều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4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3A7D3-605E-4F57-984E-C07F49CA4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5949968"/>
                <a:ext cx="21793200" cy="6854890"/>
              </a:xfrm>
              <a:prstGeom prst="rect">
                <a:avLst/>
              </a:prstGeom>
              <a:blipFill>
                <a:blip r:embed="rId3"/>
                <a:stretch>
                  <a:fillRect l="-1427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840340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1676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547767"/>
                <a:ext cx="22250400" cy="3440301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457200" indent="-171450" algn="just">
                  <a:lnSpc>
                    <a:spcPct val="107000"/>
                  </a:lnSpc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5.9.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giỏi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2018 - 2019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10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phổ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00400010060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47767"/>
                <a:ext cx="22250400" cy="3440301"/>
              </a:xfrm>
              <a:prstGeom prst="rect">
                <a:avLst/>
              </a:prstGeom>
              <a:blipFill>
                <a:blip r:embed="rId2"/>
                <a:stretch>
                  <a:fillRect l="-82" t="-5319" r="-1370" b="-9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3A7D3-605E-4F57-984E-C07F49CA4134}"/>
                  </a:ext>
                </a:extLst>
              </p:cNvPr>
              <p:cNvSpPr txBox="1"/>
              <p:nvPr/>
            </p:nvSpPr>
            <p:spPr>
              <a:xfrm>
                <a:off x="1028700" y="6175310"/>
                <a:ext cx="21793200" cy="6854890"/>
              </a:xfrm>
              <a:prstGeom prst="rect">
                <a:avLst/>
              </a:prstGeom>
              <a:solidFill>
                <a:srgbClr val="00B0F0">
                  <a:alpha val="48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6858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lang="en-US" sz="5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R"/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.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7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10</m:t>
                        </m:r>
                      </m:num>
                      <m:den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10</m:t>
                        </m:r>
                      </m:den>
                    </m:f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Sắp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xếp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5200" i="1" smtClean="0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00000004610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0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xuất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nhiều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algn="l">
                  <a:lnSpc>
                    <a:spcPct val="150000"/>
                  </a:lnSpc>
                  <a:spcAft>
                    <a:spcPts val="800"/>
                  </a:spcAft>
                  <a:tabLst>
                    <a:tab pos="2646680" algn="l"/>
                  </a:tabLst>
                </a:pP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;</m:t>
                    </m:r>
                    <m:sSub>
                      <m:sSubPr>
                        <m:ctrlP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5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4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3A7D3-605E-4F57-984E-C07F49CA4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6175310"/>
                <a:ext cx="21793200" cy="6854890"/>
              </a:xfrm>
              <a:prstGeom prst="rect">
                <a:avLst/>
              </a:prstGeom>
              <a:blipFill>
                <a:blip r:embed="rId3"/>
                <a:stretch>
                  <a:fillRect l="-1427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04196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1676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/>
              <p:nvPr/>
            </p:nvSpPr>
            <p:spPr>
              <a:xfrm>
                <a:off x="1066800" y="2547767"/>
                <a:ext cx="22250400" cy="3440301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457200" indent="-171450" algn="just">
                  <a:lnSpc>
                    <a:spcPct val="107000"/>
                  </a:lnSpc>
                </a:pPr>
                <a:r>
                  <a:rPr lang="en-US" sz="5200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5.9.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giỏi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năm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2018 - 2019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10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học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phổ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thông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200" i="1">
                        <a:effectLst/>
                        <a:latin typeface="Cambria Math" panose="020405030504060302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rPr>
                      <m:t>00400010060</m:t>
                    </m:r>
                  </m:oMath>
                </a14:m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mẫu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200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2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634433-D390-467A-9810-1A818200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47767"/>
                <a:ext cx="22250400" cy="3440301"/>
              </a:xfrm>
              <a:prstGeom prst="rect">
                <a:avLst/>
              </a:prstGeom>
              <a:blipFill>
                <a:blip r:embed="rId2"/>
                <a:stretch>
                  <a:fillRect l="-82" t="-5319" r="-2329" b="-9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703A7D3-605E-4F57-984E-C07F49CA4134}"/>
              </a:ext>
            </a:extLst>
          </p:cNvPr>
          <p:cNvSpPr txBox="1"/>
          <p:nvPr/>
        </p:nvSpPr>
        <p:spPr>
          <a:xfrm>
            <a:off x="1066800" y="6553200"/>
            <a:ext cx="22250400" cy="2971800"/>
          </a:xfrm>
          <a:prstGeom prst="rect">
            <a:avLst/>
          </a:prstGeom>
          <a:solidFill>
            <a:srgbClr val="00B0F0">
              <a:alpha val="48000"/>
            </a:srgbClr>
          </a:solidFill>
        </p:spPr>
        <p:txBody>
          <a:bodyPr wrap="square">
            <a:spAutoFit/>
          </a:bodyPr>
          <a:lstStyle/>
          <a:p>
            <a:pPr marL="685800" algn="l">
              <a:lnSpc>
                <a:spcPct val="150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sz="5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Tứ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trùng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0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 </a:t>
            </a:r>
            <a:r>
              <a:rPr lang="en-US" sz="5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lần</a:t>
            </a:r>
            <a:r>
              <a:rPr lang="en-US" sz="5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690986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0E7F-7991-4EFA-9451-C9E1B9453586}"/>
              </a:ext>
            </a:extLst>
          </p:cNvPr>
          <p:cNvSpPr txBox="1"/>
          <p:nvPr/>
        </p:nvSpPr>
        <p:spPr>
          <a:xfrm>
            <a:off x="609600" y="2057400"/>
            <a:ext cx="3584713" cy="765015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txBody>
          <a:bodyPr wrap="square">
            <a:spAutoFit/>
          </a:bodyPr>
          <a:lstStyle/>
          <a:p>
            <a:pPr marL="457200" indent="-1714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4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TẬP</a:t>
            </a:r>
            <a:r>
              <a:rPr lang="en-US" sz="44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34433-D390-467A-9810-1A818200C397}"/>
              </a:ext>
            </a:extLst>
          </p:cNvPr>
          <p:cNvSpPr txBox="1"/>
          <p:nvPr/>
        </p:nvSpPr>
        <p:spPr>
          <a:xfrm>
            <a:off x="1066800" y="2928767"/>
            <a:ext cx="22250400" cy="2584041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wrap="square">
            <a:spAutoFit/>
          </a:bodyPr>
          <a:lstStyle/>
          <a:p>
            <a:pPr marL="514350" indent="-68580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</a:t>
            </a:r>
            <a:r>
              <a:rPr lang="en-US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</a:t>
            </a:r>
            <a:r>
              <a:rPr lang="vi-VN" sz="5200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chỗ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ngồi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Bóng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Vô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địch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Nam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2018 (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gần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A973B3-0A14-440E-A448-6FDB338214BA}"/>
              </a:ext>
            </a:extLst>
          </p:cNvPr>
          <p:cNvGraphicFramePr>
            <a:graphicFrameLocks noGrp="1"/>
          </p:cNvGraphicFramePr>
          <p:nvPr/>
        </p:nvGraphicFramePr>
        <p:xfrm>
          <a:off x="1200151" y="5867400"/>
          <a:ext cx="21983698" cy="2991440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4429998">
                  <a:extLst>
                    <a:ext uri="{9D8B030D-6E8A-4147-A177-3AD203B41FA5}">
                      <a16:colId xmlns:a16="http://schemas.microsoft.com/office/drawing/2014/main" val="487006059"/>
                    </a:ext>
                  </a:extLst>
                </a:gridCol>
                <a:gridCol w="2961993">
                  <a:extLst>
                    <a:ext uri="{9D8B030D-6E8A-4147-A177-3AD203B41FA5}">
                      <a16:colId xmlns:a16="http://schemas.microsoft.com/office/drawing/2014/main" val="4254740383"/>
                    </a:ext>
                  </a:extLst>
                </a:gridCol>
                <a:gridCol w="4068844">
                  <a:extLst>
                    <a:ext uri="{9D8B030D-6E8A-4147-A177-3AD203B41FA5}">
                      <a16:colId xmlns:a16="http://schemas.microsoft.com/office/drawing/2014/main" val="2222358040"/>
                    </a:ext>
                  </a:extLst>
                </a:gridCol>
                <a:gridCol w="3507621">
                  <a:extLst>
                    <a:ext uri="{9D8B030D-6E8A-4147-A177-3AD203B41FA5}">
                      <a16:colId xmlns:a16="http://schemas.microsoft.com/office/drawing/2014/main" val="1714926269"/>
                    </a:ext>
                  </a:extLst>
                </a:gridCol>
                <a:gridCol w="3507621">
                  <a:extLst>
                    <a:ext uri="{9D8B030D-6E8A-4147-A177-3AD203B41FA5}">
                      <a16:colId xmlns:a16="http://schemas.microsoft.com/office/drawing/2014/main" val="182965347"/>
                    </a:ext>
                  </a:extLst>
                </a:gridCol>
                <a:gridCol w="3507621">
                  <a:extLst>
                    <a:ext uri="{9D8B030D-6E8A-4147-A177-3AD203B41FA5}">
                      <a16:colId xmlns:a16="http://schemas.microsoft.com/office/drawing/2014/main" val="402084081"/>
                    </a:ext>
                  </a:extLst>
                </a:gridCol>
              </a:tblGrid>
              <a:tr h="20097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4800" dirty="0" err="1">
                          <a:effectLst/>
                        </a:rPr>
                        <a:t>Sân</a:t>
                      </a:r>
                      <a:r>
                        <a:rPr lang="en-US" sz="4800" dirty="0">
                          <a:effectLst/>
                        </a:rPr>
                        <a:t> </a:t>
                      </a:r>
                      <a:r>
                        <a:rPr lang="en-US" sz="4800" dirty="0" err="1">
                          <a:effectLst/>
                        </a:rPr>
                        <a:t>vận</a:t>
                      </a:r>
                      <a:r>
                        <a:rPr lang="en-US" sz="4800" dirty="0">
                          <a:effectLst/>
                        </a:rPr>
                        <a:t> </a:t>
                      </a:r>
                      <a:r>
                        <a:rPr lang="en-US" sz="4800" dirty="0" err="1">
                          <a:effectLst/>
                        </a:rPr>
                        <a:t>động</a:t>
                      </a:r>
                      <a:endParaRPr lang="en-US" sz="4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Cẩm phả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Thiên Trường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Hàng Đẫy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Thanh Hoá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Mỹ Đình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6272473"/>
                  </a:ext>
                </a:extLst>
              </a:tr>
              <a:tr h="98172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Chỗ ngồi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20 120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21 315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23 405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>
                          <a:effectLst/>
                        </a:rPr>
                        <a:t>20 120</a:t>
                      </a:r>
                      <a:endParaRPr lang="en-US" sz="48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4800" dirty="0">
                          <a:effectLst/>
                        </a:rPr>
                        <a:t>37 546</a:t>
                      </a:r>
                      <a:endParaRPr lang="en-US" sz="4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77554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46B430-7386-480C-8897-BC14698AA8ED}"/>
              </a:ext>
            </a:extLst>
          </p:cNvPr>
          <p:cNvSpPr txBox="1"/>
          <p:nvPr/>
        </p:nvSpPr>
        <p:spPr>
          <a:xfrm>
            <a:off x="1066800" y="9124367"/>
            <a:ext cx="22117049" cy="2686633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(Theo</a:t>
            </a:r>
            <a:r>
              <a:rPr lang="en-US" sz="52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vov.vn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51435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sô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́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ảnh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hưởng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nếu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bỏ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chỗ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ngồi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Mỹ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409662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200" b="1" dirty="0" err="1"/>
                  <a:t>Giải</a:t>
                </a:r>
                <a:endParaRPr lang="en-US" sz="5200" b="1" dirty="0"/>
              </a:p>
              <a:p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trung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bình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là</a:t>
                </a:r>
                <a:r>
                  <a:rPr lang="en-US" sz="5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20120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21315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23405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20120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37546</m:t>
                        </m:r>
                      </m:num>
                      <m:den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5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24501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5200" dirty="0"/>
                  <a:t> </a:t>
                </a:r>
              </a:p>
              <a:p>
                <a:r>
                  <a:rPr lang="en-US" sz="5200" dirty="0" err="1"/>
                  <a:t>Sắp</a:t>
                </a:r>
                <a:r>
                  <a:rPr lang="en-US" sz="5200" dirty="0"/>
                  <a:t> </a:t>
                </a:r>
                <a:r>
                  <a:rPr lang="en-US" sz="5200" dirty="0" err="1"/>
                  <a:t>xếp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liệu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theo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thứ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tự</a:t>
                </a:r>
                <a:r>
                  <a:rPr lang="en-US" sz="5200" dirty="0"/>
                  <a:t> </a:t>
                </a:r>
                <a:r>
                  <a:rPr lang="en-US" sz="5200" dirty="0" err="1"/>
                  <a:t>không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giảm</a:t>
                </a:r>
                <a:r>
                  <a:rPr lang="en-US" sz="5200" dirty="0"/>
                  <a:t> 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2012020120213152340537546</m:t>
                    </m:r>
                  </m:oMath>
                </a14:m>
                <a:r>
                  <a:rPr lang="en-US" sz="5200" dirty="0"/>
                  <a:t>.</a:t>
                </a:r>
              </a:p>
              <a:p>
                <a:r>
                  <a:rPr lang="en-US" sz="5200" dirty="0"/>
                  <a:t> </a:t>
                </a:r>
                <a:r>
                  <a:rPr lang="en-US" sz="5200" dirty="0" err="1"/>
                  <a:t>mốt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là</a:t>
                </a:r>
                <a:r>
                  <a:rPr lang="en-US" sz="5200" dirty="0"/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20120</m:t>
                    </m:r>
                  </m:oMath>
                </a14:m>
                <a:r>
                  <a:rPr lang="en-US" sz="5200" dirty="0"/>
                  <a:t> . </a:t>
                </a:r>
              </a:p>
              <a:p>
                <a:r>
                  <a:rPr lang="en-US" sz="5200" dirty="0" err="1"/>
                  <a:t>Trung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vị</a:t>
                </a:r>
                <a:r>
                  <a:rPr lang="en-US" sz="5200" dirty="0"/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21315</m:t>
                    </m:r>
                  </m:oMath>
                </a14:m>
                <a:r>
                  <a:rPr lang="en-US" sz="5200" dirty="0"/>
                  <a:t>.</a:t>
                </a:r>
              </a:p>
              <a:p>
                <a:r>
                  <a:rPr lang="en-US" sz="5200" dirty="0" err="1"/>
                  <a:t>Nếu</a:t>
                </a:r>
                <a:r>
                  <a:rPr lang="en-US" sz="5200" dirty="0"/>
                  <a:t> </a:t>
                </a:r>
                <a:r>
                  <a:rPr lang="en-US" sz="5200" dirty="0" err="1"/>
                  <a:t>bỏ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liệu</a:t>
                </a:r>
                <a:r>
                  <a:rPr lang="en-US" sz="5200" dirty="0"/>
                  <a:t>  </a:t>
                </a:r>
                <a:r>
                  <a:rPr lang="en-US" sz="5200" dirty="0" err="1"/>
                  <a:t>chỗ</a:t>
                </a:r>
                <a:r>
                  <a:rPr lang="en-US" sz="5200" dirty="0"/>
                  <a:t> </a:t>
                </a:r>
                <a:r>
                  <a:rPr lang="en-US" sz="5200" dirty="0" err="1"/>
                  <a:t>ngồi</a:t>
                </a:r>
                <a:r>
                  <a:rPr lang="en-US" sz="5200" dirty="0"/>
                  <a:t> </a:t>
                </a:r>
                <a:r>
                  <a:rPr lang="en-US" sz="5200" dirty="0" err="1"/>
                  <a:t>của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Sân</a:t>
                </a:r>
                <a:r>
                  <a:rPr lang="en-US" sz="5200" dirty="0"/>
                  <a:t> </a:t>
                </a:r>
                <a:r>
                  <a:rPr lang="en-US" sz="5200" dirty="0" err="1"/>
                  <a:t>vận</a:t>
                </a:r>
                <a:r>
                  <a:rPr lang="en-US" sz="5200" dirty="0"/>
                  <a:t> </a:t>
                </a:r>
                <a:r>
                  <a:rPr lang="en-US" sz="5200" dirty="0" err="1"/>
                  <a:t>động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Quốc</a:t>
                </a:r>
                <a:r>
                  <a:rPr lang="en-US" sz="5200" dirty="0"/>
                  <a:t> </a:t>
                </a:r>
                <a:r>
                  <a:rPr lang="en-US" sz="5200" dirty="0" err="1"/>
                  <a:t>gia</a:t>
                </a:r>
                <a:r>
                  <a:rPr lang="en-US" sz="5200" dirty="0"/>
                  <a:t> </a:t>
                </a:r>
                <a:r>
                  <a:rPr lang="en-US" sz="5200" dirty="0" err="1"/>
                  <a:t>Mỹ</a:t>
                </a:r>
                <a:r>
                  <a:rPr lang="en-US" sz="5200" dirty="0"/>
                  <a:t> </a:t>
                </a:r>
                <a:r>
                  <a:rPr lang="en-US" sz="5200" dirty="0" err="1"/>
                  <a:t>Đình</a:t>
                </a:r>
                <a:endParaRPr lang="en-US" sz="5200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737" t="-197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63401" y="1981199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trung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bình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là</a:t>
                </a:r>
                <a:endParaRPr lang="en-US" sz="5200" dirty="0"/>
              </a:p>
              <a:p>
                <a:pPr marL="0" indent="0">
                  <a:buNone/>
                </a:pPr>
                <a:r>
                  <a:rPr lang="en-US" sz="5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5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20120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21315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23405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20120</m:t>
                        </m:r>
                      </m:num>
                      <m:den>
                        <m:r>
                          <a:rPr lang="en-US" sz="52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5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21240</m:t>
                    </m:r>
                  </m:oMath>
                </a14:m>
                <a:r>
                  <a:rPr lang="en-US" sz="5200" dirty="0"/>
                  <a:t> .</a:t>
                </a:r>
              </a:p>
              <a:p>
                <a:r>
                  <a:rPr lang="en-US" sz="5200" dirty="0" err="1"/>
                  <a:t>Sắp</a:t>
                </a:r>
                <a:r>
                  <a:rPr lang="en-US" sz="5200" dirty="0"/>
                  <a:t> </a:t>
                </a:r>
                <a:r>
                  <a:rPr lang="en-US" sz="5200" dirty="0" err="1"/>
                  <a:t>xếp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liệu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theo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thứ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tự</a:t>
                </a:r>
                <a:r>
                  <a:rPr lang="en-US" sz="5200" dirty="0"/>
                  <a:t> </a:t>
                </a:r>
                <a:r>
                  <a:rPr lang="en-US" sz="5200" dirty="0" err="1"/>
                  <a:t>không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giảm</a:t>
                </a:r>
                <a:r>
                  <a:rPr lang="en-US" sz="5200" dirty="0"/>
                  <a:t> 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20120201202131523405</m:t>
                    </m:r>
                  </m:oMath>
                </a14:m>
                <a:r>
                  <a:rPr lang="en-US" sz="5200" dirty="0"/>
                  <a:t>.</a:t>
                </a:r>
              </a:p>
              <a:p>
                <a:r>
                  <a:rPr lang="en-US" sz="5200" dirty="0"/>
                  <a:t> </a:t>
                </a:r>
                <a:r>
                  <a:rPr lang="en-US" sz="5200" dirty="0" err="1"/>
                  <a:t>mốt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là</a:t>
                </a:r>
                <a:r>
                  <a:rPr lang="en-US" sz="5200" dirty="0"/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20120</m:t>
                    </m:r>
                  </m:oMath>
                </a14:m>
                <a:r>
                  <a:rPr lang="en-US" sz="5200" dirty="0"/>
                  <a:t> . </a:t>
                </a:r>
              </a:p>
              <a:p>
                <a:r>
                  <a:rPr lang="en-US" sz="5200" dirty="0" err="1"/>
                  <a:t>Trung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vị</a:t>
                </a:r>
                <a:r>
                  <a:rPr lang="en-US" sz="5200" dirty="0"/>
                  <a:t> </a:t>
                </a:r>
                <a14:m>
                  <m:oMath xmlns:m="http://schemas.openxmlformats.org/officeDocument/2006/math">
                    <m:r>
                      <a:rPr lang="en-US" sz="5200" i="1">
                        <a:latin typeface="Cambria Math" panose="02040503050406030204" pitchFamily="18" charset="0"/>
                      </a:rPr>
                      <m:t>20717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52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5200" dirty="0"/>
                  <a:t>. </a:t>
                </a:r>
              </a:p>
              <a:p>
                <a:r>
                  <a:rPr lang="en-US" sz="5200" dirty="0" err="1"/>
                  <a:t>Vậy</a:t>
                </a:r>
                <a:r>
                  <a:rPr lang="en-US" sz="5200" dirty="0"/>
                  <a:t> </a:t>
                </a:r>
                <a:r>
                  <a:rPr lang="en-US" sz="5200" dirty="0" err="1"/>
                  <a:t>nếu</a:t>
                </a:r>
                <a:r>
                  <a:rPr lang="en-US" sz="5200" dirty="0"/>
                  <a:t> </a:t>
                </a:r>
                <a:r>
                  <a:rPr lang="en-US" sz="5200" dirty="0" err="1"/>
                  <a:t>bỏ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liệu</a:t>
                </a:r>
                <a:r>
                  <a:rPr lang="en-US" sz="5200" dirty="0"/>
                  <a:t> </a:t>
                </a:r>
                <a:r>
                  <a:rPr lang="en-US" sz="5200" dirty="0" err="1"/>
                  <a:t>chỗ</a:t>
                </a:r>
                <a:r>
                  <a:rPr lang="en-US" sz="5200" dirty="0"/>
                  <a:t> </a:t>
                </a:r>
                <a:r>
                  <a:rPr lang="en-US" sz="5200" dirty="0" err="1"/>
                  <a:t>ngồi</a:t>
                </a:r>
                <a:r>
                  <a:rPr lang="en-US" sz="5200" dirty="0"/>
                  <a:t> </a:t>
                </a:r>
                <a:r>
                  <a:rPr lang="en-US" sz="5200" dirty="0" err="1"/>
                  <a:t>của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Sân</a:t>
                </a:r>
                <a:r>
                  <a:rPr lang="en-US" sz="5200" dirty="0"/>
                  <a:t> </a:t>
                </a:r>
                <a:r>
                  <a:rPr lang="en-US" sz="5200" dirty="0" err="1"/>
                  <a:t>vận</a:t>
                </a:r>
                <a:r>
                  <a:rPr lang="en-US" sz="5200" dirty="0"/>
                  <a:t> </a:t>
                </a:r>
                <a:r>
                  <a:rPr lang="en-US" sz="5200" dirty="0" err="1"/>
                  <a:t>động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Quốc</a:t>
                </a:r>
                <a:r>
                  <a:rPr lang="en-US" sz="5200" dirty="0"/>
                  <a:t> </a:t>
                </a:r>
                <a:r>
                  <a:rPr lang="en-US" sz="5200" dirty="0" err="1"/>
                  <a:t>gia</a:t>
                </a:r>
                <a:r>
                  <a:rPr lang="en-US" sz="5200" dirty="0"/>
                  <a:t> </a:t>
                </a:r>
                <a:r>
                  <a:rPr lang="en-US" sz="5200" dirty="0" err="1"/>
                  <a:t>Mỹ</a:t>
                </a:r>
                <a:r>
                  <a:rPr lang="en-US" sz="5200" dirty="0"/>
                  <a:t> </a:t>
                </a:r>
                <a:r>
                  <a:rPr lang="en-US" sz="5200" dirty="0" err="1"/>
                  <a:t>Đình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thì</a:t>
                </a:r>
                <a:r>
                  <a:rPr lang="en-US" sz="5200" dirty="0"/>
                  <a:t> </a:t>
                </a:r>
                <a:r>
                  <a:rPr lang="en-US" sz="5200" dirty="0" err="1"/>
                  <a:t>mốt</a:t>
                </a:r>
                <a:r>
                  <a:rPr lang="en-US" sz="5200" dirty="0"/>
                  <a:t> </a:t>
                </a:r>
                <a:r>
                  <a:rPr lang="en-US" sz="5200" dirty="0" err="1"/>
                  <a:t>giữ</a:t>
                </a:r>
                <a:r>
                  <a:rPr lang="en-US" sz="5200" dirty="0"/>
                  <a:t> </a:t>
                </a:r>
                <a:r>
                  <a:rPr lang="en-US" sz="5200" dirty="0" err="1"/>
                  <a:t>nguyên</a:t>
                </a:r>
                <a:r>
                  <a:rPr lang="en-US" sz="5200" dirty="0"/>
                  <a:t>, </a:t>
                </a:r>
                <a:r>
                  <a:rPr lang="en-US" sz="5200" dirty="0" err="1"/>
                  <a:t>số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trung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bình</a:t>
                </a:r>
                <a:r>
                  <a:rPr lang="en-US" sz="5200" dirty="0"/>
                  <a:t> </a:t>
                </a:r>
                <a:r>
                  <a:rPr lang="en-US" sz="5200" dirty="0" err="1"/>
                  <a:t>và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trung</a:t>
                </a:r>
                <a:r>
                  <a:rPr lang="en-US" sz="5200" dirty="0"/>
                  <a:t> </a:t>
                </a:r>
                <a:r>
                  <a:rPr lang="en-US" sz="5200" dirty="0" err="1"/>
                  <a:t>vị</a:t>
                </a:r>
                <a:r>
                  <a:rPr lang="en-US" sz="5200" dirty="0"/>
                  <a:t> </a:t>
                </a:r>
                <a:r>
                  <a:rPr lang="en-US" sz="5200" dirty="0" err="1"/>
                  <a:t>sẽ</a:t>
                </a:r>
                <a:r>
                  <a:rPr lang="en-US" sz="5200" dirty="0"/>
                  <a:t> </a:t>
                </a:r>
                <a:r>
                  <a:rPr lang="en-US" sz="5200" dirty="0" err="1"/>
                  <a:t>thay</a:t>
                </a:r>
                <a:r>
                  <a:rPr lang="en-US" sz="5200" dirty="0"/>
                  <a:t> </a:t>
                </a:r>
                <a:r>
                  <a:rPr lang="en-US" sz="5200" dirty="0" err="1"/>
                  <a:t>đổi</a:t>
                </a:r>
                <a:r>
                  <a:rPr lang="en-US" sz="5200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3401" y="1981199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568" t="-1974" r="-102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58835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FB6A2-81E7-4192-A110-8CC9BAB33C9C}"/>
              </a:ext>
            </a:extLst>
          </p:cNvPr>
          <p:cNvSpPr txBox="1"/>
          <p:nvPr/>
        </p:nvSpPr>
        <p:spPr>
          <a:xfrm>
            <a:off x="914399" y="2075729"/>
            <a:ext cx="15392401" cy="1124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algn="l">
              <a:lnSpc>
                <a:spcPct val="107000"/>
              </a:lnSpc>
              <a:spcAft>
                <a:spcPts val="800"/>
              </a:spcAft>
              <a:tabLst>
                <a:tab pos="2646680" algn="l"/>
              </a:tabLst>
            </a:pPr>
            <a:r>
              <a:rPr lang="en-US" sz="52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5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có </a:t>
            </a:r>
            <a:r>
              <a:rPr lang="en-US" sz="52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biết</a:t>
            </a:r>
            <a:r>
              <a:rPr lang="en-US" sz="5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lang="en-US" sz="5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8100" algn="just">
              <a:lnSpc>
                <a:spcPct val="107000"/>
              </a:lnSpc>
              <a:tabLst>
                <a:tab pos="2646680" algn="l"/>
              </a:tabLst>
            </a:pP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John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Graunt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(1620 –1674)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buôn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xem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tin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1662,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khẩu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rằng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11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mất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tỉ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lệ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này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đổi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toàn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bộ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cư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London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rằng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London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13 000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mất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London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48 000.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đình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8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ông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dân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London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384 000 </a:t>
            </a:r>
            <a:r>
              <a:rPr lang="en-US" sz="52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52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6" name="Ảnh 1">
            <a:extLst>
              <a:ext uri="{FF2B5EF4-FFF2-40B4-BE49-F238E27FC236}">
                <a16:creationId xmlns:a16="http://schemas.microsoft.com/office/drawing/2014/main" id="{1F388AA2-146F-4AF8-AA02-A694CAF3D69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200" y="3124200"/>
            <a:ext cx="7162799" cy="69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ounded Rectangle 1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   ·   BÀI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87824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3579</TotalTime>
  <Words>2757</Words>
  <Application>Microsoft Office PowerPoint</Application>
  <PresentationFormat>Custom</PresentationFormat>
  <Paragraphs>352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Cascadia Mono</vt:lpstr>
      <vt:lpstr>Symbol</vt:lpstr>
      <vt:lpstr>Tahoma</vt:lpstr>
      <vt:lpstr>Times New Roman</vt:lpstr>
      <vt:lpstr>Tomaho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342</cp:revision>
  <dcterms:created xsi:type="dcterms:W3CDTF">2013-08-31T11:42:51Z</dcterms:created>
  <dcterms:modified xsi:type="dcterms:W3CDTF">2022-08-29T09:59:25Z</dcterms:modified>
  <cp:category>9Slide.vn</cp:category>
</cp:coreProperties>
</file>