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54" r:id="rId2"/>
  </p:sldMasterIdLst>
  <p:notesMasterIdLst>
    <p:notesMasterId r:id="rId39"/>
  </p:notesMasterIdLst>
  <p:sldIdLst>
    <p:sldId id="313" r:id="rId3"/>
    <p:sldId id="301" r:id="rId4"/>
    <p:sldId id="323" r:id="rId5"/>
    <p:sldId id="324" r:id="rId6"/>
    <p:sldId id="316" r:id="rId7"/>
    <p:sldId id="327" r:id="rId8"/>
    <p:sldId id="328" r:id="rId9"/>
    <p:sldId id="329" r:id="rId10"/>
    <p:sldId id="330" r:id="rId11"/>
    <p:sldId id="331" r:id="rId12"/>
    <p:sldId id="332" r:id="rId13"/>
    <p:sldId id="335" r:id="rId14"/>
    <p:sldId id="336" r:id="rId15"/>
    <p:sldId id="337" r:id="rId16"/>
    <p:sldId id="338" r:id="rId17"/>
    <p:sldId id="339" r:id="rId18"/>
    <p:sldId id="340" r:id="rId19"/>
    <p:sldId id="341" r:id="rId20"/>
    <p:sldId id="342" r:id="rId21"/>
    <p:sldId id="343" r:id="rId22"/>
    <p:sldId id="344" r:id="rId23"/>
    <p:sldId id="345" r:id="rId24"/>
    <p:sldId id="346" r:id="rId25"/>
    <p:sldId id="347" r:id="rId26"/>
    <p:sldId id="348" r:id="rId27"/>
    <p:sldId id="349" r:id="rId28"/>
    <p:sldId id="350" r:id="rId29"/>
    <p:sldId id="351" r:id="rId30"/>
    <p:sldId id="352" r:id="rId31"/>
    <p:sldId id="353" r:id="rId32"/>
    <p:sldId id="354" r:id="rId33"/>
    <p:sldId id="355" r:id="rId34"/>
    <p:sldId id="356" r:id="rId35"/>
    <p:sldId id="357" r:id="rId36"/>
    <p:sldId id="358" r:id="rId37"/>
    <p:sldId id="359" r:id="rId38"/>
  </p:sldIdLst>
  <p:sldSz cx="24384000" cy="13716000"/>
  <p:notesSz cx="6858000" cy="9144000"/>
  <p:custDataLst>
    <p:tags r:id="rId40"/>
  </p:custDataLst>
  <p:defaultTextStyle>
    <a:defPPr>
      <a:defRPr lang="en-US"/>
    </a:defPPr>
    <a:lvl1pPr marL="0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4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ếu Võ" initials="HV" lastIdx="1" clrIdx="0">
    <p:extLst>
      <p:ext uri="{19B8F6BF-5375-455C-9EA6-DF929625EA0E}">
        <p15:presenceInfo xmlns:p15="http://schemas.microsoft.com/office/powerpoint/2012/main" userId="35e7ba5cbe9875a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F7FF"/>
    <a:srgbClr val="D6F7FE"/>
    <a:srgbClr val="EEF7E9"/>
    <a:srgbClr val="0000FF"/>
    <a:srgbClr val="135F82"/>
    <a:srgbClr val="FFFFFF"/>
    <a:srgbClr val="008000"/>
    <a:srgbClr val="242452"/>
    <a:srgbClr val="270F6B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698" autoAdjust="0"/>
    <p:restoredTop sz="94139" autoAdjust="0"/>
  </p:normalViewPr>
  <p:slideViewPr>
    <p:cSldViewPr>
      <p:cViewPr varScale="1">
        <p:scale>
          <a:sx n="31" d="100"/>
          <a:sy n="31" d="100"/>
        </p:scale>
        <p:origin x="210" y="348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notesMaster" Target="notesMasters/notesMaster1.xml"/><Relationship Id="rId40" Type="http://schemas.openxmlformats.org/officeDocument/2006/relationships/tags" Target="tags/tag1.xml"/><Relationship Id="rId41" Type="http://schemas.openxmlformats.org/officeDocument/2006/relationships/commentAuthors" Target="commentAuthors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3BB293-0719-4B19-A181-EE36FD0623AD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A8B73-FCCD-4D4C-BC4E-0CE5120A1B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63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1pPr>
    <a:lvl2pPr marL="1088639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2pPr>
    <a:lvl3pPr marL="2177278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3pPr>
    <a:lvl4pPr marL="3265917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4pPr>
    <a:lvl5pPr marL="4354556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5pPr>
    <a:lvl6pPr marL="5443195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6pPr>
    <a:lvl7pPr marL="6531834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7pPr>
    <a:lvl8pPr marL="7620472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8pPr>
    <a:lvl9pPr marL="8709111" algn="l" defTabSz="2177278" rtl="0" eaLnBrk="1" latinLnBrk="0" hangingPunct="1">
      <a:defRPr sz="2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564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160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6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65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6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62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6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6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62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462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276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5050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3433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9428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3316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1589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4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002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7606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644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9010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1803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4108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9926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623D8C-BCC6-453A-B078-455701A5542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29660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9727" y="1781954"/>
            <a:ext cx="21031200" cy="2651126"/>
          </a:xfrm>
          <a:prstGeom prst="rect">
            <a:avLst/>
          </a:prstGeom>
        </p:spPr>
        <p:txBody>
          <a:bodyPr/>
          <a:lstStyle>
            <a:lvl1pPr algn="l">
              <a:defRPr sz="5400">
                <a:latin typeface="Tomaho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9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67727" y="4702953"/>
            <a:ext cx="10363200" cy="8702676"/>
          </a:xfrm>
          <a:prstGeom prst="rect">
            <a:avLst/>
          </a:prstGeom>
        </p:spPr>
        <p:txBody>
          <a:bodyPr/>
          <a:lstStyle>
            <a:lvl1pPr algn="l">
              <a:defRPr sz="4800">
                <a:latin typeface="Tomaho"/>
              </a:defRPr>
            </a:lvl1pPr>
            <a:lvl2pPr algn="l">
              <a:defRPr sz="4800">
                <a:latin typeface="Tomaho"/>
              </a:defRPr>
            </a:lvl2pPr>
            <a:lvl3pPr algn="l">
              <a:defRPr sz="4800">
                <a:latin typeface="Tomaho"/>
              </a:defRPr>
            </a:lvl3pPr>
            <a:lvl4pPr algn="l">
              <a:defRPr sz="4800">
                <a:latin typeface="Tomaho"/>
              </a:defRPr>
            </a:lvl4pPr>
            <a:lvl5pPr algn="l">
              <a:defRPr sz="4800">
                <a:latin typeface="Tomaho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2073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080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510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9381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419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89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558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83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85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30250"/>
            <a:ext cx="15468600" cy="11623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330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56836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9597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244726"/>
            <a:ext cx="18288000" cy="47752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0" y="7204076"/>
            <a:ext cx="18288000" cy="331152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87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6152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19477"/>
            <a:ext cx="21031200" cy="5705474"/>
          </a:xfrm>
          <a:prstGeom prst="rect">
            <a:avLst/>
          </a:prstGeo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78927"/>
            <a:ext cx="21031200" cy="300037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944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8330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9577" y="3362326"/>
            <a:ext cx="10315574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9577" y="5010150"/>
            <a:ext cx="10315574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0" y="3362326"/>
            <a:ext cx="10366376" cy="164782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0" y="5010150"/>
            <a:ext cx="10366376" cy="736917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782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105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2462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4811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7" y="914400"/>
            <a:ext cx="7864474" cy="3200400"/>
          </a:xfrm>
          <a:prstGeom prst="rect">
            <a:avLst/>
          </a:prstGeo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6376" y="1974851"/>
            <a:ext cx="12344400" cy="9747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7" y="4114800"/>
            <a:ext cx="7864474" cy="76231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073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9306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30250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F9E5E443-43CC-47C0-B016-9A203293290C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24C77148-22BA-41E4-AAE6-AAE78D0077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485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0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D15044BE-B3F3-4258-B55D-9238C2EBFDF1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5" y="12712706"/>
            <a:ext cx="7721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4" y="12712706"/>
            <a:ext cx="5689601" cy="730250"/>
          </a:xfrm>
          <a:prstGeom prst="rect">
            <a:avLst/>
          </a:prstGeom>
        </p:spPr>
        <p:txBody>
          <a:bodyPr lIns="91426" tIns="45713" rIns="91426" bIns="45713"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620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2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2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1" y="12712702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644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60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9201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D15044BE-B3F3-4258-B55D-9238C2EBFDF1}" type="datetimeFigureOut">
              <a:rPr lang="en-US" smtClean="0"/>
              <a:pPr/>
              <a:t>8/29/2022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331200" y="12712701"/>
            <a:ext cx="7721600" cy="73025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75200" y="12712701"/>
            <a:ext cx="5689600" cy="730250"/>
          </a:xfrm>
          <a:prstGeom prst="rect">
            <a:avLst/>
          </a:prstGeom>
        </p:spPr>
        <p:txBody>
          <a:bodyPr/>
          <a:lstStyle/>
          <a:p>
            <a:fld id="{E56A0A80-8336-46B1-B89F-89FB7E7362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8135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gi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theme" Target="../theme/theme2.xml"/><Relationship Id="rId17" Type="http://schemas.openxmlformats.org/officeDocument/2006/relationships/image" Target="../media/image1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14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0" r:id="rId3"/>
    <p:sldLayoutId id="2147483741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82" r:id="rId12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09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emf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0.png"/><Relationship Id="rId4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0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4.png"/><Relationship Id="rId4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0.png"/><Relationship Id="rId4" Type="http://schemas.openxmlformats.org/officeDocument/2006/relationships/image" Target="../media/image35.png"/><Relationship Id="rId5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1.png"/><Relationship Id="rId4" Type="http://schemas.openxmlformats.org/officeDocument/2006/relationships/image" Target="../media/image9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6.png"/><Relationship Id="rId4" Type="http://schemas.openxmlformats.org/officeDocument/2006/relationships/image" Target="../media/image111.png"/><Relationship Id="rId5" Type="http://schemas.openxmlformats.org/officeDocument/2006/relationships/image" Target="../media/image120.png"/><Relationship Id="rId6" Type="http://schemas.openxmlformats.org/officeDocument/2006/relationships/image" Target="../media/image1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1.png"/><Relationship Id="rId4" Type="http://schemas.openxmlformats.org/officeDocument/2006/relationships/image" Target="../media/image150.png"/><Relationship Id="rId5" Type="http://schemas.openxmlformats.org/officeDocument/2006/relationships/image" Target="../media/image161.png"/><Relationship Id="rId7" Type="http://schemas.openxmlformats.org/officeDocument/2006/relationships/image" Target="../media/image18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0.png"/><Relationship Id="rId4" Type="http://schemas.openxmlformats.org/officeDocument/2006/relationships/image" Target="../media/image191.png"/><Relationship Id="rId5" Type="http://schemas.openxmlformats.org/officeDocument/2006/relationships/image" Target="../media/image20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00.png"/><Relationship Id="rId4" Type="http://schemas.openxmlformats.org/officeDocument/2006/relationships/image" Target="../media/image210.png"/><Relationship Id="rId5" Type="http://schemas.openxmlformats.org/officeDocument/2006/relationships/image" Target="../media/image2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0.png"/><Relationship Id="rId4" Type="http://schemas.openxmlformats.org/officeDocument/2006/relationships/image" Target="../media/image230.png"/><Relationship Id="rId5" Type="http://schemas.openxmlformats.org/officeDocument/2006/relationships/image" Target="../media/image37.png"/><Relationship Id="rId6" Type="http://schemas.openxmlformats.org/officeDocument/2006/relationships/image" Target="../media/image260.png"/><Relationship Id="rId7" Type="http://schemas.openxmlformats.org/officeDocument/2006/relationships/image" Target="../media/image27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1.png"/><Relationship Id="rId4" Type="http://schemas.openxmlformats.org/officeDocument/2006/relationships/image" Target="../media/image280.png"/><Relationship Id="rId5" Type="http://schemas.openxmlformats.org/officeDocument/2006/relationships/image" Target="../media/image30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0.png"/><Relationship Id="rId4" Type="http://schemas.openxmlformats.org/officeDocument/2006/relationships/image" Target="../media/image320.png"/><Relationship Id="rId5" Type="http://schemas.openxmlformats.org/officeDocument/2006/relationships/image" Target="../media/image330.png"/><Relationship Id="rId6" Type="http://schemas.openxmlformats.org/officeDocument/2006/relationships/image" Target="../media/image340.png"/><Relationship Id="rId7" Type="http://schemas.openxmlformats.org/officeDocument/2006/relationships/image" Target="../media/image35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0.png"/><Relationship Id="rId4" Type="http://schemas.openxmlformats.org/officeDocument/2006/relationships/image" Target="../media/image360.png"/><Relationship Id="rId5" Type="http://schemas.openxmlformats.org/officeDocument/2006/relationships/image" Target="../media/image380.png"/><Relationship Id="rId6" Type="http://schemas.openxmlformats.org/officeDocument/2006/relationships/image" Target="../media/image39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00.png"/><Relationship Id="rId4" Type="http://schemas.openxmlformats.org/officeDocument/2006/relationships/image" Target="../media/image4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70.png"/><Relationship Id="rId4" Type="http://schemas.openxmlformats.org/officeDocument/2006/relationships/image" Target="../media/image420.png"/><Relationship Id="rId5" Type="http://schemas.openxmlformats.org/officeDocument/2006/relationships/image" Target="../media/image440.png"/><Relationship Id="rId6" Type="http://schemas.openxmlformats.org/officeDocument/2006/relationships/image" Target="../media/image45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8.jpe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511.png"/><Relationship Id="rId9" Type="http://schemas.openxmlformats.org/officeDocument/2006/relationships/image" Target="../media/image48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8.jpe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Relationship Id="rId9" Type="http://schemas.openxmlformats.org/officeDocument/2006/relationships/image" Target="../media/image5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8.jpe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51.png"/><Relationship Id="rId8" Type="http://schemas.openxmlformats.org/officeDocument/2006/relationships/image" Target="../media/image57.png"/><Relationship Id="rId9" Type="http://schemas.openxmlformats.org/officeDocument/2006/relationships/image" Target="../media/image6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52.jpeg"/><Relationship Id="rId5" Type="http://schemas.openxmlformats.org/officeDocument/2006/relationships/image" Target="../media/image51.png"/><Relationship Id="rId6" Type="http://schemas.openxmlformats.org/officeDocument/2006/relationships/image" Target="../media/image68.png"/><Relationship Id="rId7" Type="http://schemas.openxmlformats.org/officeDocument/2006/relationships/image" Target="../media/image63.png"/><Relationship Id="rId8" Type="http://schemas.openxmlformats.org/officeDocument/2006/relationships/image" Target="../media/image70.png"/><Relationship Id="rId9" Type="http://schemas.openxmlformats.org/officeDocument/2006/relationships/image" Target="../media/image7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52.jpeg"/><Relationship Id="rId5" Type="http://schemas.openxmlformats.org/officeDocument/2006/relationships/image" Target="../media/image51.png"/><Relationship Id="rId6" Type="http://schemas.openxmlformats.org/officeDocument/2006/relationships/image" Target="../media/image74.png"/><Relationship Id="rId7" Type="http://schemas.openxmlformats.org/officeDocument/2006/relationships/image" Target="../media/image67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69.png"/><Relationship Id="rId11" Type="http://schemas.openxmlformats.org/officeDocument/2006/relationships/image" Target="../media/image7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8.jpe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51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8.jpeg"/><Relationship Id="rId3" Type="http://schemas.openxmlformats.org/officeDocument/2006/relationships/image" Target="../media/image85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88.png"/><Relationship Id="rId7" Type="http://schemas.openxmlformats.org/officeDocument/2006/relationships/image" Target="../media/image51.png"/><Relationship Id="rId8" Type="http://schemas.openxmlformats.org/officeDocument/2006/relationships/image" Target="../media/image89.png"/><Relationship Id="rId9" Type="http://schemas.openxmlformats.org/officeDocument/2006/relationships/image" Target="../media/image9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52.jpeg"/><Relationship Id="rId5" Type="http://schemas.openxmlformats.org/officeDocument/2006/relationships/image" Target="../media/image51.png"/><Relationship Id="rId6" Type="http://schemas.openxmlformats.org/officeDocument/2006/relationships/image" Target="../media/image93.png"/><Relationship Id="rId7" Type="http://schemas.openxmlformats.org/officeDocument/2006/relationships/image" Target="../media/image460.png"/><Relationship Id="rId8" Type="http://schemas.openxmlformats.org/officeDocument/2006/relationships/image" Target="../media/image95.png"/><Relationship Id="rId9" Type="http://schemas.openxmlformats.org/officeDocument/2006/relationships/image" Target="../media/image96.png"/><Relationship Id="rId10" Type="http://schemas.openxmlformats.org/officeDocument/2006/relationships/image" Target="../media/image510.png"/><Relationship Id="rId11" Type="http://schemas.openxmlformats.org/officeDocument/2006/relationships/image" Target="../media/image670.png"/><Relationship Id="rId12" Type="http://schemas.openxmlformats.org/officeDocument/2006/relationships/image" Target="../media/image78.png"/><Relationship Id="rId13" Type="http://schemas.openxmlformats.org/officeDocument/2006/relationships/image" Target="../media/image94.png"/><Relationship Id="rId14" Type="http://schemas.openxmlformats.org/officeDocument/2006/relationships/image" Target="../media/image97.png"/><Relationship Id="rId15" Type="http://schemas.openxmlformats.org/officeDocument/2006/relationships/image" Target="../media/image98.png"/><Relationship Id="rId16" Type="http://schemas.openxmlformats.org/officeDocument/2006/relationships/image" Target="../media/image9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8.jpeg"/><Relationship Id="rId3" Type="http://schemas.openxmlformats.org/officeDocument/2006/relationships/image" Target="../media/image980.png"/><Relationship Id="rId4" Type="http://schemas.openxmlformats.org/officeDocument/2006/relationships/image" Target="../media/image990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51.png"/><Relationship Id="rId8" Type="http://schemas.openxmlformats.org/officeDocument/2006/relationships/image" Target="../media/image102.png"/><Relationship Id="rId9" Type="http://schemas.openxmlformats.org/officeDocument/2006/relationships/image" Target="../media/image10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Relationship Id="rId4" Type="http://schemas.openxmlformats.org/officeDocument/2006/relationships/image" Target="../media/image52.jpeg"/><Relationship Id="rId5" Type="http://schemas.openxmlformats.org/officeDocument/2006/relationships/image" Target="../media/image51.png"/><Relationship Id="rId6" Type="http://schemas.openxmlformats.org/officeDocument/2006/relationships/image" Target="../media/image780.png"/><Relationship Id="rId7" Type="http://schemas.openxmlformats.org/officeDocument/2006/relationships/image" Target="../media/image105.png"/><Relationship Id="rId8" Type="http://schemas.openxmlformats.org/officeDocument/2006/relationships/image" Target="../media/image76.png"/><Relationship Id="rId9" Type="http://schemas.openxmlformats.org/officeDocument/2006/relationships/image" Target="../media/image77.png"/><Relationship Id="rId10" Type="http://schemas.openxmlformats.org/officeDocument/2006/relationships/image" Target="../media/image104.png"/><Relationship Id="rId11" Type="http://schemas.openxmlformats.org/officeDocument/2006/relationships/image" Target="../media/image10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3FF6797-9084-4088-B03C-F68BB0D6D29D}"/>
              </a:ext>
            </a:extLst>
          </p:cNvPr>
          <p:cNvGrpSpPr/>
          <p:nvPr/>
        </p:nvGrpSpPr>
        <p:grpSpPr>
          <a:xfrm>
            <a:off x="9677400" y="1676400"/>
            <a:ext cx="13944600" cy="11181523"/>
            <a:chOff x="9851187" y="2126503"/>
            <a:chExt cx="13944600" cy="11181523"/>
          </a:xfrm>
        </p:grpSpPr>
        <p:grpSp>
          <p:nvGrpSpPr>
            <p:cNvPr id="8" name="Group 7"/>
            <p:cNvGrpSpPr/>
            <p:nvPr/>
          </p:nvGrpSpPr>
          <p:grpSpPr>
            <a:xfrm>
              <a:off x="9851187" y="2126503"/>
              <a:ext cx="13944600" cy="11181523"/>
              <a:chOff x="1339699" y="3448230"/>
              <a:chExt cx="13944600" cy="11181523"/>
            </a:xfrm>
          </p:grpSpPr>
          <p:sp>
            <p:nvSpPr>
              <p:cNvPr id="10" name="Right Triangle 9"/>
              <p:cNvSpPr/>
              <p:nvPr/>
            </p:nvSpPr>
            <p:spPr>
              <a:xfrm flipH="1">
                <a:off x="8958821" y="3486542"/>
                <a:ext cx="193377" cy="212342"/>
              </a:xfrm>
              <a:prstGeom prst="rtTriangl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" name="Group 10"/>
              <p:cNvGrpSpPr/>
              <p:nvPr/>
            </p:nvGrpSpPr>
            <p:grpSpPr>
              <a:xfrm>
                <a:off x="1339699" y="3448230"/>
                <a:ext cx="13944600" cy="11181523"/>
                <a:chOff x="1339699" y="3448230"/>
                <a:chExt cx="13944600" cy="11181523"/>
              </a:xfrm>
            </p:grpSpPr>
            <p:sp>
              <p:nvSpPr>
                <p:cNvPr id="12" name="Rounded Rectangle 11"/>
                <p:cNvSpPr/>
                <p:nvPr/>
              </p:nvSpPr>
              <p:spPr>
                <a:xfrm>
                  <a:off x="1339699" y="3696072"/>
                  <a:ext cx="13944600" cy="10933681"/>
                </a:xfrm>
                <a:prstGeom prst="roundRect">
                  <a:avLst>
                    <a:gd name="adj" fmla="val 2374"/>
                  </a:avLst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 w="28575">
                  <a:solidFill>
                    <a:srgbClr val="0999C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18000" rIns="36000" bIns="18000" rtlCol="0" anchor="ctr"/>
                <a:lstStyle/>
                <a:p>
                  <a:pPr algn="ctr"/>
                  <a:endParaRPr lang="en-US" sz="4600"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14" name="TextBox 13"/>
                <p:cNvSpPr txBox="1"/>
                <p:nvPr/>
              </p:nvSpPr>
              <p:spPr>
                <a:xfrm>
                  <a:off x="5759299" y="3448230"/>
                  <a:ext cx="3890809" cy="92333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fontAlgn="auto">
                    <a:spcBef>
                      <a:spcPct val="50000"/>
                    </a:spcBef>
                    <a:spcAft>
                      <a:spcPts val="0"/>
                    </a:spcAft>
                    <a:defRPr/>
                  </a:pPr>
                  <a:r>
                    <a:rPr lang="en-US" sz="5400" b="1" cap="all" dirty="0">
                      <a:ln w="0"/>
                      <a:solidFill>
                        <a:schemeClr val="bg1"/>
                      </a:solidFill>
                      <a:effectLst>
                        <a:reflection blurRad="12700" stA="50000" endPos="50000" dist="5000" dir="5400000" sy="-100000" rotWithShape="0"/>
                      </a:effectLst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CHƯƠNG I</a:t>
                  </a:r>
                </a:p>
              </p:txBody>
            </p:sp>
          </p:grpSp>
        </p:grpSp>
        <p:sp>
          <p:nvSpPr>
            <p:cNvPr id="15" name="Right Triangle 14"/>
            <p:cNvSpPr/>
            <p:nvPr/>
          </p:nvSpPr>
          <p:spPr>
            <a:xfrm flipH="1">
              <a:off x="11477625" y="2164818"/>
              <a:ext cx="193377" cy="212342"/>
            </a:xfrm>
            <a:prstGeom prst="rtTriangl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ound Same Side Corner Rectangle 15"/>
            <p:cNvSpPr/>
            <p:nvPr/>
          </p:nvSpPr>
          <p:spPr>
            <a:xfrm flipV="1">
              <a:off x="11671001" y="2164811"/>
              <a:ext cx="10807999" cy="1333291"/>
            </a:xfrm>
            <a:prstGeom prst="round2Same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6"/>
            <p:cNvSpPr>
              <a:spLocks noChangeArrowheads="1"/>
            </p:cNvSpPr>
            <p:nvPr/>
          </p:nvSpPr>
          <p:spPr bwMode="auto">
            <a:xfrm>
              <a:off x="10116799" y="3468887"/>
              <a:ext cx="13413376" cy="93341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§7.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Các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khái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niệm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mở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đầu</a:t>
              </a:r>
              <a:endParaRPr lang="en-US" sz="58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§8.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Tổng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và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hiệu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của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hai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vectơ</a:t>
              </a:r>
              <a:endParaRPr lang="en-US" sz="58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§9.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Tích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của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một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vectơ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với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một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số</a:t>
              </a:r>
              <a:endParaRPr lang="en-US" sz="58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§10.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Vectơ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trong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mặt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phẳng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tọa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độ</a:t>
              </a:r>
              <a:endParaRPr lang="en-US" sz="5800" b="1" dirty="0">
                <a:solidFill>
                  <a:srgbClr val="0000FF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5800" b="1" dirty="0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§11. </a:t>
              </a:r>
              <a:r>
                <a:rPr lang="en-US" sz="5800" b="1" dirty="0" err="1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Tích</a:t>
              </a:r>
              <a:r>
                <a:rPr lang="en-US" sz="5800" b="1" dirty="0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vô</a:t>
              </a:r>
              <a:r>
                <a:rPr lang="en-US" sz="5800" b="1" dirty="0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hướng</a:t>
              </a:r>
              <a:r>
                <a:rPr lang="en-US" sz="5800" b="1" dirty="0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của</a:t>
              </a:r>
              <a:r>
                <a:rPr lang="en-US" sz="5800" b="1" dirty="0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hai</a:t>
              </a:r>
              <a:r>
                <a:rPr lang="en-US" sz="5800" b="1" dirty="0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FF0000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vectơ</a:t>
              </a:r>
              <a:endParaRPr lang="en-US" sz="5800" b="1" dirty="0">
                <a:solidFill>
                  <a:srgbClr val="FF0000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  <a:p>
              <a:pPr algn="just">
                <a:lnSpc>
                  <a:spcPct val="150000"/>
                </a:lnSpc>
                <a:spcBef>
                  <a:spcPct val="20000"/>
                </a:spcBef>
                <a:defRPr/>
              </a:pP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Bài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tập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cuối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</a:t>
              </a:r>
              <a:r>
                <a:rPr lang="en-US" sz="5800" b="1" dirty="0" err="1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chương</a:t>
              </a:r>
              <a:r>
                <a:rPr lang="en-US" sz="5800" b="1" dirty="0">
                  <a:solidFill>
                    <a:srgbClr val="0000FF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4</a:t>
              </a: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11912450" y="2428363"/>
              <a:ext cx="103251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48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CHƯƠNG I</a:t>
              </a:r>
              <a:r>
                <a:rPr lang="en-US" sz="48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</a:t>
              </a:r>
              <a:r>
                <a:rPr lang="vi-VN" sz="48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. </a:t>
              </a:r>
              <a:r>
                <a:rPr lang="en-US" sz="48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VECTƠ</a:t>
              </a:r>
              <a:endParaRPr lang="vi-VN" sz="4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4FF52DF-8AC8-4DAD-B751-39601E57B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34" y="1924240"/>
            <a:ext cx="8813299" cy="10933681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5140518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Rectangle 115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8C62C3-3138-4092-86C2-85A1567C6E78}"/>
              </a:ext>
            </a:extLst>
          </p:cNvPr>
          <p:cNvGrpSpPr/>
          <p:nvPr/>
        </p:nvGrpSpPr>
        <p:grpSpPr>
          <a:xfrm>
            <a:off x="981493" y="1809817"/>
            <a:ext cx="22717380" cy="9935454"/>
            <a:chOff x="1438692" y="1793813"/>
            <a:chExt cx="22717380" cy="1062903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17C9077-2F0E-4830-9CBB-2CF87E745444}"/>
                </a:ext>
              </a:extLst>
            </p:cNvPr>
            <p:cNvGrpSpPr/>
            <p:nvPr/>
          </p:nvGrpSpPr>
          <p:grpSpPr>
            <a:xfrm>
              <a:off x="1438692" y="1793813"/>
              <a:ext cx="22717380" cy="10629033"/>
              <a:chOff x="1438692" y="1793813"/>
              <a:chExt cx="22717380" cy="10629033"/>
            </a:xfrm>
          </p:grpSpPr>
          <p:grpSp>
            <p:nvGrpSpPr>
              <p:cNvPr id="69" name="Group 68"/>
              <p:cNvGrpSpPr/>
              <p:nvPr/>
            </p:nvGrpSpPr>
            <p:grpSpPr>
              <a:xfrm>
                <a:off x="1476018" y="1797127"/>
                <a:ext cx="22680054" cy="10625719"/>
                <a:chOff x="-3638810" y="3448230"/>
                <a:chExt cx="22680054" cy="10625719"/>
              </a:xfrm>
            </p:grpSpPr>
            <p:sp>
              <p:nvSpPr>
                <p:cNvPr id="70" name="Right Triangle 69"/>
                <p:cNvSpPr/>
                <p:nvPr/>
              </p:nvSpPr>
              <p:spPr>
                <a:xfrm flipH="1">
                  <a:off x="8958821" y="3486542"/>
                  <a:ext cx="193377" cy="212342"/>
                </a:xfrm>
                <a:prstGeom prst="rtTriangle">
                  <a:avLst/>
                </a:prstGeom>
                <a:solidFill>
                  <a:schemeClr val="accent5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71" name="Group 70"/>
                <p:cNvGrpSpPr/>
                <p:nvPr/>
              </p:nvGrpSpPr>
              <p:grpSpPr>
                <a:xfrm>
                  <a:off x="-3638810" y="3448230"/>
                  <a:ext cx="22680054" cy="10625719"/>
                  <a:chOff x="-3638810" y="3448230"/>
                  <a:chExt cx="22680054" cy="10625719"/>
                </a:xfrm>
              </p:grpSpPr>
              <p:sp>
                <p:nvSpPr>
                  <p:cNvPr id="72" name="Rounded Rectangle 71"/>
                  <p:cNvSpPr/>
                  <p:nvPr/>
                </p:nvSpPr>
                <p:spPr>
                  <a:xfrm>
                    <a:off x="-3638810" y="3580684"/>
                    <a:ext cx="22680054" cy="10493265"/>
                  </a:xfrm>
                  <a:prstGeom prst="roundRect">
                    <a:avLst>
                      <a:gd name="adj" fmla="val 2127"/>
                    </a:avLst>
                  </a:prstGeom>
                  <a:solidFill>
                    <a:schemeClr val="bg1"/>
                  </a:solidFill>
                  <a:ln w="76200">
                    <a:solidFill>
                      <a:srgbClr val="0999C8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36000" tIns="18000" rIns="36000" bIns="18000" rtlCol="0" anchor="ctr"/>
                  <a:lstStyle/>
                  <a:p>
                    <a:pPr algn="ctr"/>
                    <a:endParaRPr lang="en-US" sz="4600" dirty="0">
                      <a:latin typeface="Tahoma" pitchFamily="34" charset="0"/>
                      <a:ea typeface="Tahoma" pitchFamily="34" charset="0"/>
                      <a:cs typeface="Tahoma" pitchFamily="34" charset="0"/>
                    </a:endParaRPr>
                  </a:p>
                </p:txBody>
              </p:sp>
              <p:sp>
                <p:nvSpPr>
                  <p:cNvPr id="73" name="TextBox 72"/>
                  <p:cNvSpPr txBox="1"/>
                  <p:nvPr/>
                </p:nvSpPr>
                <p:spPr>
                  <a:xfrm>
                    <a:off x="5759299" y="3448230"/>
                    <a:ext cx="3890809" cy="92333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 fontAlgn="auto">
                      <a:spcBef>
                        <a:spcPct val="50000"/>
                      </a:spcBef>
                      <a:spcAft>
                        <a:spcPts val="0"/>
                      </a:spcAft>
                      <a:defRPr/>
                    </a:pPr>
                    <a:r>
                      <a:rPr lang="en-US" sz="5400" b="1" cap="all" dirty="0">
                        <a:ln w="0"/>
                        <a:solidFill>
                          <a:schemeClr val="bg1"/>
                        </a:solidFill>
                        <a:effectLst>
                          <a:reflection blurRad="12700" stA="50000" endPos="50000" dist="5000" dir="5400000" sy="-100000" rotWithShape="0"/>
                        </a:effectLst>
                        <a:latin typeface="Tahoma" pitchFamily="34" charset="0"/>
                        <a:ea typeface="Tahoma" pitchFamily="34" charset="0"/>
                        <a:cs typeface="Tahoma" pitchFamily="34" charset="0"/>
                      </a:rPr>
                      <a:t>CHƯƠNG I</a:t>
                    </a:r>
                  </a:p>
                </p:txBody>
              </p:sp>
            </p:grpSp>
          </p:grpSp>
          <p:sp>
            <p:nvSpPr>
              <p:cNvPr id="74" name="Right Triangle 73"/>
              <p:cNvSpPr/>
              <p:nvPr/>
            </p:nvSpPr>
            <p:spPr>
              <a:xfrm flipH="1">
                <a:off x="7921388" y="1793819"/>
                <a:ext cx="193377" cy="212342"/>
              </a:xfrm>
              <a:prstGeom prst="rtTriangle">
                <a:avLst/>
              </a:prstGeom>
              <a:solidFill>
                <a:schemeClr val="accent5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ound Same Side Corner Rectangle 95"/>
              <p:cNvSpPr/>
              <p:nvPr/>
            </p:nvSpPr>
            <p:spPr>
              <a:xfrm flipV="1">
                <a:off x="8114764" y="1793813"/>
                <a:ext cx="10807999" cy="1181261"/>
              </a:xfrm>
              <a:prstGeom prst="round2SameRect">
                <a:avLst>
                  <a:gd name="adj1" fmla="val 6458"/>
                  <a:gd name="adj2" fmla="val 0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8114763" y="1953929"/>
                <a:ext cx="108080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800" b="1" dirty="0">
                    <a:solidFill>
                      <a:srgbClr val="C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CHƯƠNG I</a:t>
                </a:r>
                <a:r>
                  <a:rPr lang="en-US" sz="4800" b="1" dirty="0">
                    <a:solidFill>
                      <a:srgbClr val="C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</a:t>
                </a:r>
                <a:r>
                  <a:rPr lang="vi-VN" sz="4800" b="1" dirty="0">
                    <a:solidFill>
                      <a:srgbClr val="C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800" b="1" dirty="0">
                    <a:solidFill>
                      <a:srgbClr val="C0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endParaRPr lang="vi-VN" sz="4800" b="1" dirty="0">
                  <a:solidFill>
                    <a:srgbClr val="C0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pic>
            <p:nvPicPr>
              <p:cNvPr id="104" name="Picture 53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71230" y="2975075"/>
                <a:ext cx="1495424" cy="149542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7" name="Rectangle 16"/>
              <p:cNvSpPr/>
              <p:nvPr/>
            </p:nvSpPr>
            <p:spPr>
              <a:xfrm>
                <a:off x="7467544" y="4114018"/>
                <a:ext cx="13632086" cy="83322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10" tIns="45705" rIns="91410" bIns="45705" rtlCol="0" anchor="ctr"/>
              <a:lstStyle/>
              <a:p>
                <a:pPr algn="ctr"/>
                <a:endParaRPr lang="en-US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grpSp>
            <p:nvGrpSpPr>
              <p:cNvPr id="56" name="Group 60"/>
              <p:cNvGrpSpPr/>
              <p:nvPr/>
            </p:nvGrpSpPr>
            <p:grpSpPr>
              <a:xfrm>
                <a:off x="1438692" y="6012522"/>
                <a:ext cx="10206737" cy="904496"/>
                <a:chOff x="7450558" y="7834555"/>
                <a:chExt cx="10207920" cy="904600"/>
              </a:xfrm>
            </p:grpSpPr>
            <p:sp>
              <p:nvSpPr>
                <p:cNvPr id="57" name="Rectangle 56"/>
                <p:cNvSpPr/>
                <p:nvPr/>
              </p:nvSpPr>
              <p:spPr>
                <a:xfrm>
                  <a:off x="9073744" y="7850045"/>
                  <a:ext cx="8584734" cy="8891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FontTx/>
                    <a:buNone/>
                    <a:defRPr/>
                  </a:pPr>
                  <a:r>
                    <a:rPr lang="en-US" sz="4800" b="1" dirty="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GÓC GIỮA HAI VECTƠ</a:t>
                  </a:r>
                </a:p>
              </p:txBody>
            </p:sp>
            <p:grpSp>
              <p:nvGrpSpPr>
                <p:cNvPr id="58" name="Group 26"/>
                <p:cNvGrpSpPr/>
                <p:nvPr/>
              </p:nvGrpSpPr>
              <p:grpSpPr>
                <a:xfrm>
                  <a:off x="7450558" y="7834555"/>
                  <a:ext cx="1383018" cy="796752"/>
                  <a:chOff x="7450631" y="8291755"/>
                  <a:chExt cx="1371600" cy="796752"/>
                </a:xfrm>
              </p:grpSpPr>
              <p:sp>
                <p:nvSpPr>
                  <p:cNvPr id="59" name="Isosceles Triangle 44"/>
                  <p:cNvSpPr/>
                  <p:nvPr/>
                </p:nvSpPr>
                <p:spPr>
                  <a:xfrm rot="16200000">
                    <a:off x="7469936" y="8281488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" fmla="*/ 2363 w 296088"/>
                      <a:gd name="connsiteY0" fmla="*/ 164221 h 164221"/>
                      <a:gd name="connsiteX1" fmla="*/ 0 w 296088"/>
                      <a:gd name="connsiteY1" fmla="*/ 0 h 164221"/>
                      <a:gd name="connsiteX2" fmla="*/ 296088 w 296088"/>
                      <a:gd name="connsiteY2" fmla="*/ 164221 h 164221"/>
                      <a:gd name="connsiteX3" fmla="*/ 2363 w 296088"/>
                      <a:gd name="connsiteY3" fmla="*/ 164221 h 16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60" name="Group 28"/>
                  <p:cNvGrpSpPr/>
                  <p:nvPr/>
                </p:nvGrpSpPr>
                <p:grpSpPr>
                  <a:xfrm>
                    <a:off x="7450631" y="8356987"/>
                    <a:ext cx="1371600" cy="731520"/>
                    <a:chOff x="7450631" y="8356987"/>
                    <a:chExt cx="1371600" cy="731520"/>
                  </a:xfrm>
                </p:grpSpPr>
                <p:sp>
                  <p:nvSpPr>
                    <p:cNvPr id="61" name="Round Same Side Corner Rectangle 60"/>
                    <p:cNvSpPr/>
                    <p:nvPr/>
                  </p:nvSpPr>
                  <p:spPr>
                    <a:xfrm rot="5400000">
                      <a:off x="7770671" y="8036947"/>
                      <a:ext cx="731520" cy="1371600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62" name="TextBox 61"/>
                    <p:cNvSpPr txBox="1"/>
                    <p:nvPr/>
                  </p:nvSpPr>
                  <p:spPr>
                    <a:xfrm>
                      <a:off x="7940249" y="8360620"/>
                      <a:ext cx="507514" cy="70796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US" sz="4000" b="1" dirty="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63" name="Group 67"/>
              <p:cNvGrpSpPr/>
              <p:nvPr/>
            </p:nvGrpSpPr>
            <p:grpSpPr>
              <a:xfrm>
                <a:off x="1447805" y="7460330"/>
                <a:ext cx="11646258" cy="979073"/>
                <a:chOff x="7459672" y="7170625"/>
                <a:chExt cx="11647595" cy="979184"/>
              </a:xfrm>
            </p:grpSpPr>
            <p:sp>
              <p:nvSpPr>
                <p:cNvPr id="75" name="Rectangle 74"/>
                <p:cNvSpPr/>
                <p:nvPr/>
              </p:nvSpPr>
              <p:spPr>
                <a:xfrm>
                  <a:off x="9111075" y="7260701"/>
                  <a:ext cx="9996192" cy="88910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None/>
                    <a:defRPr/>
                  </a:pPr>
                  <a:r>
                    <a:rPr lang="en-US" sz="4800" b="1" spc="-150" dirty="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TÍCH VÔ HƯỚNG CỦA HAI VECTƠ</a:t>
                  </a:r>
                </a:p>
              </p:txBody>
            </p:sp>
            <p:grpSp>
              <p:nvGrpSpPr>
                <p:cNvPr id="76" name="Group 32"/>
                <p:cNvGrpSpPr/>
                <p:nvPr/>
              </p:nvGrpSpPr>
              <p:grpSpPr>
                <a:xfrm>
                  <a:off x="7459672" y="7170625"/>
                  <a:ext cx="1411234" cy="848755"/>
                  <a:chOff x="7459669" y="6189930"/>
                  <a:chExt cx="1399583" cy="848755"/>
                </a:xfrm>
              </p:grpSpPr>
              <p:sp>
                <p:nvSpPr>
                  <p:cNvPr id="77" name="Isosceles Triangle 44"/>
                  <p:cNvSpPr/>
                  <p:nvPr/>
                </p:nvSpPr>
                <p:spPr>
                  <a:xfrm rot="16200000">
                    <a:off x="7469936" y="6179663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" fmla="*/ 2363 w 296088"/>
                      <a:gd name="connsiteY0" fmla="*/ 164221 h 164221"/>
                      <a:gd name="connsiteX1" fmla="*/ 0 w 296088"/>
                      <a:gd name="connsiteY1" fmla="*/ 0 h 164221"/>
                      <a:gd name="connsiteX2" fmla="*/ 296088 w 296088"/>
                      <a:gd name="connsiteY2" fmla="*/ 164221 h 164221"/>
                      <a:gd name="connsiteX3" fmla="*/ 2363 w 296088"/>
                      <a:gd name="connsiteY3" fmla="*/ 164221 h 16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78" name="Group 41"/>
                  <p:cNvGrpSpPr/>
                  <p:nvPr/>
                </p:nvGrpSpPr>
                <p:grpSpPr>
                  <a:xfrm>
                    <a:off x="7487652" y="6307165"/>
                    <a:ext cx="1371600" cy="731520"/>
                    <a:chOff x="7487652" y="6307165"/>
                    <a:chExt cx="1371600" cy="731520"/>
                  </a:xfrm>
                </p:grpSpPr>
                <p:sp>
                  <p:nvSpPr>
                    <p:cNvPr id="79" name="Round Same Side Corner Rectangle 78"/>
                    <p:cNvSpPr/>
                    <p:nvPr/>
                  </p:nvSpPr>
                  <p:spPr>
                    <a:xfrm rot="5400000">
                      <a:off x="7807692" y="5987125"/>
                      <a:ext cx="731520" cy="1371600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80" name="TextBox 79"/>
                    <p:cNvSpPr txBox="1"/>
                    <p:nvPr/>
                  </p:nvSpPr>
                  <p:spPr>
                    <a:xfrm>
                      <a:off x="7977269" y="6310797"/>
                      <a:ext cx="507513" cy="707967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US" sz="4000" b="1" dirty="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</p:grpSp>
          </p:grpSp>
          <p:grpSp>
            <p:nvGrpSpPr>
              <p:cNvPr id="47" name="Group 67"/>
              <p:cNvGrpSpPr/>
              <p:nvPr/>
            </p:nvGrpSpPr>
            <p:grpSpPr>
              <a:xfrm>
                <a:off x="1447798" y="8899390"/>
                <a:ext cx="18481164" cy="965255"/>
                <a:chOff x="7459670" y="7441560"/>
                <a:chExt cx="23894632" cy="965366"/>
              </a:xfrm>
            </p:grpSpPr>
            <p:sp>
              <p:nvSpPr>
                <p:cNvPr id="48" name="Rectangle 47"/>
                <p:cNvSpPr/>
                <p:nvPr/>
              </p:nvSpPr>
              <p:spPr>
                <a:xfrm>
                  <a:off x="9529919" y="7517816"/>
                  <a:ext cx="21824383" cy="889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None/>
                    <a:defRPr/>
                  </a:pPr>
                  <a:r>
                    <a:rPr lang="en-US" sz="4800" b="1" spc="-150" dirty="0">
                      <a:solidFill>
                        <a:srgbClr val="242452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BIỂU THỨC TỌA ĐỘ VÀ TÍNH CHẤT CỦA TÍCH VÔ HƯỚNG</a:t>
                  </a:r>
                </a:p>
              </p:txBody>
            </p:sp>
            <p:grpSp>
              <p:nvGrpSpPr>
                <p:cNvPr id="49" name="Group 32"/>
                <p:cNvGrpSpPr/>
                <p:nvPr/>
              </p:nvGrpSpPr>
              <p:grpSpPr>
                <a:xfrm>
                  <a:off x="7459670" y="7441560"/>
                  <a:ext cx="1800333" cy="864774"/>
                  <a:chOff x="7459669" y="6460865"/>
                  <a:chExt cx="1785470" cy="864774"/>
                </a:xfrm>
              </p:grpSpPr>
              <p:sp>
                <p:nvSpPr>
                  <p:cNvPr id="50" name="Isosceles Triangle 44"/>
                  <p:cNvSpPr/>
                  <p:nvPr/>
                </p:nvSpPr>
                <p:spPr>
                  <a:xfrm rot="16200000">
                    <a:off x="7469936" y="6450598"/>
                    <a:ext cx="143688" cy="164221"/>
                  </a:xfrm>
                  <a:custGeom>
                    <a:avLst/>
                    <a:gdLst>
                      <a:gd name="connsiteX0" fmla="*/ 0 w 293725"/>
                      <a:gd name="connsiteY0" fmla="*/ 164224 h 164224"/>
                      <a:gd name="connsiteX1" fmla="*/ 146863 w 293725"/>
                      <a:gd name="connsiteY1" fmla="*/ 0 h 164224"/>
                      <a:gd name="connsiteX2" fmla="*/ 293725 w 293725"/>
                      <a:gd name="connsiteY2" fmla="*/ 164224 h 164224"/>
                      <a:gd name="connsiteX3" fmla="*/ 0 w 293725"/>
                      <a:gd name="connsiteY3" fmla="*/ 164224 h 164224"/>
                      <a:gd name="connsiteX0" fmla="*/ 2363 w 296088"/>
                      <a:gd name="connsiteY0" fmla="*/ 164221 h 164221"/>
                      <a:gd name="connsiteX1" fmla="*/ 0 w 296088"/>
                      <a:gd name="connsiteY1" fmla="*/ 0 h 164221"/>
                      <a:gd name="connsiteX2" fmla="*/ 296088 w 296088"/>
                      <a:gd name="connsiteY2" fmla="*/ 164221 h 164221"/>
                      <a:gd name="connsiteX3" fmla="*/ 2363 w 296088"/>
                      <a:gd name="connsiteY3" fmla="*/ 164221 h 164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96088" h="164221">
                        <a:moveTo>
                          <a:pt x="2363" y="164221"/>
                        </a:moveTo>
                        <a:cubicBezTo>
                          <a:pt x="1575" y="109481"/>
                          <a:pt x="788" y="54740"/>
                          <a:pt x="0" y="0"/>
                        </a:cubicBezTo>
                        <a:lnTo>
                          <a:pt x="296088" y="164221"/>
                        </a:lnTo>
                        <a:lnTo>
                          <a:pt x="2363" y="164221"/>
                        </a:lnTo>
                        <a:close/>
                      </a:path>
                    </a:pathLst>
                  </a:custGeom>
                  <a:solidFill>
                    <a:schemeClr val="accent5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320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endParaRPr>
                  </a:p>
                </p:txBody>
              </p:sp>
              <p:grpSp>
                <p:nvGrpSpPr>
                  <p:cNvPr id="51" name="Group 41"/>
                  <p:cNvGrpSpPr/>
                  <p:nvPr/>
                </p:nvGrpSpPr>
                <p:grpSpPr>
                  <a:xfrm>
                    <a:off x="7469193" y="6537082"/>
                    <a:ext cx="1775946" cy="788557"/>
                    <a:chOff x="7469193" y="6537082"/>
                    <a:chExt cx="1775946" cy="788557"/>
                  </a:xfrm>
                </p:grpSpPr>
                <p:sp>
                  <p:nvSpPr>
                    <p:cNvPr id="52" name="Round Same Side Corner Rectangle 51"/>
                    <p:cNvSpPr/>
                    <p:nvPr/>
                  </p:nvSpPr>
                  <p:spPr>
                    <a:xfrm rot="5400000">
                      <a:off x="7962887" y="6043388"/>
                      <a:ext cx="788557" cy="1775946"/>
                    </a:xfrm>
                    <a:prstGeom prst="round2SameRect">
                      <a:avLst/>
                    </a:prstGeom>
                    <a:solidFill>
                      <a:srgbClr val="135F82"/>
                    </a:solidFill>
                    <a:ln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320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  <p:sp>
                  <p:nvSpPr>
                    <p:cNvPr id="53" name="TextBox 52"/>
                    <p:cNvSpPr txBox="1"/>
                    <p:nvPr/>
                  </p:nvSpPr>
                  <p:spPr>
                    <a:xfrm>
                      <a:off x="8104943" y="6577389"/>
                      <a:ext cx="656096" cy="707968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4000" b="1">
                          <a:solidFill>
                            <a:prstClr val="white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US" sz="4000" b="1" dirty="0">
                        <a:solidFill>
                          <a:prstClr val="white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p:txBody>
                </p:sp>
              </p:grpSp>
            </p:grpSp>
          </p:grpSp>
        </p:grpSp>
        <p:sp>
          <p:nvSpPr>
            <p:cNvPr id="103" name="Google Shape;122;p14">
              <a:extLst>
                <a:ext uri="{FF2B5EF4-FFF2-40B4-BE49-F238E27FC236}">
                  <a16:creationId xmlns:a16="http://schemas.microsoft.com/office/drawing/2014/main" id="{FAF7E6E7-D68E-4774-9801-54F6529B128E}"/>
                </a:ext>
              </a:extLst>
            </p:cNvPr>
            <p:cNvSpPr/>
            <p:nvPr/>
          </p:nvSpPr>
          <p:spPr>
            <a:xfrm>
              <a:off x="3165290" y="3009806"/>
              <a:ext cx="4418523" cy="882637"/>
            </a:xfrm>
            <a:prstGeom prst="rect">
              <a:avLst/>
            </a:prstGeom>
            <a:noFill/>
            <a:ln>
              <a:noFill/>
            </a:ln>
            <a:effectLst>
              <a:outerShdw blurRad="152400" dist="317500" dir="5400000" sx="90000" sy="-19000" rotWithShape="0">
                <a:srgbClr val="000000">
                  <a:alpha val="14901"/>
                </a:srgbClr>
              </a:outerShdw>
            </a:effectLst>
          </p:spPr>
          <p:txBody>
            <a:bodyPr spcFirstLastPara="1" wrap="square" lIns="91425" tIns="45700" rIns="91425" bIns="45700" anchor="t" anchorCtr="0">
              <a:noAutofit/>
              <a:scene3d>
                <a:camera prst="orthographicFront"/>
                <a:lightRig rig="threePt" dir="t"/>
              </a:scene3d>
              <a:sp3d prstMaterial="metal"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>
                  <a:solidFill>
                    <a:srgbClr val="FF0000"/>
                  </a:solidFill>
                  <a:effectLst>
                    <a:glow rad="76200">
                      <a:srgbClr val="FFFF00">
                        <a:alpha val="47000"/>
                      </a:srgbClr>
                    </a:glow>
                    <a:outerShdw blurRad="50800" dist="38100" dir="18900000" algn="bl" rotWithShape="0">
                      <a:srgbClr val="0000CC">
                        <a:alpha val="40000"/>
                      </a:srgbClr>
                    </a:outerShdw>
                  </a:effectLst>
                  <a:latin typeface="Bahnschrift SemiBold SemiConden" panose="020B0502040204020203" pitchFamily="34" charset="0"/>
                  <a:sym typeface="Baumans"/>
                </a:rPr>
                <a:t>TOÁN ĐẠI SỐ  </a:t>
              </a:r>
              <a:endParaRPr sz="6000" dirty="0">
                <a:solidFill>
                  <a:srgbClr val="FF0000"/>
                </a:solidFill>
                <a:effectLst>
                  <a:glow rad="76200">
                    <a:srgbClr val="FFFF00">
                      <a:alpha val="47000"/>
                    </a:srgbClr>
                  </a:glow>
                  <a:outerShdw blurRad="50800" dist="38100" dir="18900000" algn="bl" rotWithShape="0">
                    <a:srgbClr val="0000CC">
                      <a:alpha val="40000"/>
                    </a:srgbClr>
                  </a:outerShdw>
                </a:effectLst>
                <a:latin typeface="Bahnschrift SemiBold SemiConden" panose="020B0502040204020203" pitchFamily="34" charset="0"/>
              </a:endParaRP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7EC462C3-097E-478F-9154-33220765427C}"/>
                </a:ext>
              </a:extLst>
            </p:cNvPr>
            <p:cNvGrpSpPr/>
            <p:nvPr/>
          </p:nvGrpSpPr>
          <p:grpSpPr>
            <a:xfrm>
              <a:off x="4441592" y="3900043"/>
              <a:ext cx="1316269" cy="1323399"/>
              <a:chOff x="4902568" y="2922072"/>
              <a:chExt cx="1316269" cy="1323399"/>
            </a:xfrm>
          </p:grpSpPr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392A2278-170A-49E8-B48D-301797CCDF5E}"/>
                  </a:ext>
                </a:extLst>
              </p:cNvPr>
              <p:cNvGrpSpPr/>
              <p:nvPr/>
            </p:nvGrpSpPr>
            <p:grpSpPr>
              <a:xfrm>
                <a:off x="5015148" y="2971696"/>
                <a:ext cx="1175009" cy="1143519"/>
                <a:chOff x="5015148" y="2971695"/>
                <a:chExt cx="1175009" cy="1143520"/>
              </a:xfrm>
            </p:grpSpPr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4E1041DC-D475-450B-91E9-794165D6DE77}"/>
                    </a:ext>
                  </a:extLst>
                </p:cNvPr>
                <p:cNvSpPr/>
                <p:nvPr/>
              </p:nvSpPr>
              <p:spPr>
                <a:xfrm>
                  <a:off x="5015148" y="2971695"/>
                  <a:ext cx="1175009" cy="1143520"/>
                </a:xfrm>
                <a:prstGeom prst="ellipse">
                  <a:avLst/>
                </a:prstGeom>
                <a:solidFill>
                  <a:srgbClr val="FFFF00"/>
                </a:solidFill>
                <a:effectLst>
                  <a:innerShdw blurRad="63500" dist="508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1BBB2B80-ECD5-421E-A4F7-BBA59D5C9CDF}"/>
                    </a:ext>
                  </a:extLst>
                </p:cNvPr>
                <p:cNvSpPr/>
                <p:nvPr/>
              </p:nvSpPr>
              <p:spPr>
                <a:xfrm>
                  <a:off x="5015148" y="2993775"/>
                  <a:ext cx="1091111" cy="1121440"/>
                </a:xfrm>
                <a:prstGeom prst="ellipse">
                  <a:avLst/>
                </a:prstGeom>
                <a:solidFill>
                  <a:srgbClr val="3333FF"/>
                </a:solidFill>
                <a:ln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7" name="Google Shape;123;p14">
                <a:extLst>
                  <a:ext uri="{FF2B5EF4-FFF2-40B4-BE49-F238E27FC236}">
                    <a16:creationId xmlns:a16="http://schemas.microsoft.com/office/drawing/2014/main" id="{F38EB064-8955-4FC1-9AF5-C49985002268}"/>
                  </a:ext>
                </a:extLst>
              </p:cNvPr>
              <p:cNvSpPr txBox="1"/>
              <p:nvPr/>
            </p:nvSpPr>
            <p:spPr>
              <a:xfrm>
                <a:off x="4902568" y="2922072"/>
                <a:ext cx="1316269" cy="1323399"/>
              </a:xfrm>
              <a:prstGeom prst="rect">
                <a:avLst/>
              </a:prstGeom>
              <a:noFill/>
              <a:ln>
                <a:noFill/>
              </a:ln>
              <a:effectLst>
                <a:innerShdw blurRad="63500" dist="50800">
                  <a:prstClr val="black">
                    <a:alpha val="50000"/>
                  </a:prstClr>
                </a:innerShdw>
              </a:effectLst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8000" dirty="0">
                    <a:solidFill>
                      <a:schemeClr val="bg1"/>
                    </a:solidFill>
                    <a:latin typeface="Yu Gothic UI Semilight" panose="020B0400000000000000" pitchFamily="34" charset="-128"/>
                    <a:ea typeface="Yu Gothic UI Semilight" panose="020B0400000000000000" pitchFamily="34" charset="-128"/>
                  </a:rPr>
                  <a:t>➉</a:t>
                </a:r>
                <a:endParaRPr sz="80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39786C1-301C-402F-B908-633A570E2C52}"/>
              </a:ext>
            </a:extLst>
          </p:cNvPr>
          <p:cNvGrpSpPr/>
          <p:nvPr/>
        </p:nvGrpSpPr>
        <p:grpSpPr>
          <a:xfrm>
            <a:off x="7007312" y="3313402"/>
            <a:ext cx="15852688" cy="1309627"/>
            <a:chOff x="7007312" y="3313402"/>
            <a:chExt cx="16791416" cy="1309627"/>
          </a:xfrm>
        </p:grpSpPr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1F6311BF-A4CF-4E55-85D0-0A86514BB33B}"/>
                </a:ext>
              </a:extLst>
            </p:cNvPr>
            <p:cNvGrpSpPr/>
            <p:nvPr/>
          </p:nvGrpSpPr>
          <p:grpSpPr>
            <a:xfrm>
              <a:off x="7007312" y="3330718"/>
              <a:ext cx="11110067" cy="1292311"/>
              <a:chOff x="-84747" y="97578"/>
              <a:chExt cx="6395438" cy="883658"/>
            </a:xfrm>
          </p:grpSpPr>
          <p:pic>
            <p:nvPicPr>
              <p:cNvPr id="113" name="Picture 112">
                <a:extLst>
                  <a:ext uri="{FF2B5EF4-FFF2-40B4-BE49-F238E27FC236}">
                    <a16:creationId xmlns:a16="http://schemas.microsoft.com/office/drawing/2014/main" id="{E248C2BE-8566-4C92-B9DC-0F7EBDD761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4747" y="97578"/>
                <a:ext cx="6395438" cy="824094"/>
              </a:xfrm>
              <a:prstGeom prst="rect">
                <a:avLst/>
              </a:prstGeom>
            </p:spPr>
          </p:pic>
          <p:sp>
            <p:nvSpPr>
              <p:cNvPr id="115" name="TextBox 321">
                <a:extLst>
                  <a:ext uri="{FF2B5EF4-FFF2-40B4-BE49-F238E27FC236}">
                    <a16:creationId xmlns:a16="http://schemas.microsoft.com/office/drawing/2014/main" id="{EFE5FD9A-8DAE-41E9-BE5B-4B8636094028}"/>
                  </a:ext>
                </a:extLst>
              </p:cNvPr>
              <p:cNvSpPr txBox="1"/>
              <p:nvPr/>
            </p:nvSpPr>
            <p:spPr>
              <a:xfrm>
                <a:off x="180215" y="108752"/>
                <a:ext cx="715323" cy="87248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algn="ctr">
                  <a:lnSpc>
                    <a:spcPct val="106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6000" b="1" dirty="0">
                    <a:solidFill>
                      <a:srgbClr val="FFFFFF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11</a:t>
                </a:r>
                <a:endParaRPr lang="en-US" sz="6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93D231A-4F31-4CD1-BF95-3B25C6FBC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925800" y="3313402"/>
              <a:ext cx="7872928" cy="1222516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EB80CDAB-FCA9-4E95-8F6A-72A9575E1286}"/>
              </a:ext>
            </a:extLst>
          </p:cNvPr>
          <p:cNvSpPr txBox="1"/>
          <p:nvPr/>
        </p:nvSpPr>
        <p:spPr>
          <a:xfrm>
            <a:off x="9829801" y="3434715"/>
            <a:ext cx="1158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TÍCH VÔ HƯỚNG CỦA HAI VECTƠ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2184254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930449"/>
            <a:ext cx="23164800" cy="8127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/>
              <a:t>1. GÓC GIỮA HAI VECTƠ</a:t>
            </a:r>
            <a:endParaRPr lang="en-US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048000"/>
                <a:ext cx="11353800" cy="1037114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/>
                  <a:t>HĐ1. </a:t>
                </a:r>
                <a:r>
                  <a:rPr lang="en-US" b="1" dirty="0" err="1"/>
                  <a:t>Trong</a:t>
                </a:r>
                <a:r>
                  <a:rPr lang="en-US" b="1" dirty="0"/>
                  <a:t> </a:t>
                </a:r>
                <a:r>
                  <a:rPr lang="en-US" b="1" dirty="0" err="1"/>
                  <a:t>hình</a:t>
                </a:r>
                <a:r>
                  <a:rPr lang="en-US" b="1" dirty="0"/>
                  <a:t> 4.39 , </a:t>
                </a:r>
                <a:r>
                  <a:rPr lang="en-US" b="1" dirty="0" err="1"/>
                  <a:t>số</a:t>
                </a:r>
                <a:r>
                  <a:rPr lang="en-US" b="1" dirty="0"/>
                  <a:t> </a:t>
                </a:r>
                <a:r>
                  <a:rPr lang="en-US" b="1" dirty="0" err="1"/>
                  <a:t>đo</a:t>
                </a:r>
                <a:r>
                  <a:rPr lang="en-US" b="1" dirty="0"/>
                  <a:t> </a:t>
                </a:r>
                <a:r>
                  <a:rPr lang="en-US" b="1" dirty="0" err="1"/>
                  <a:t>góc</a:t>
                </a:r>
                <a:r>
                  <a:rPr lang="en-US" b="1" dirty="0"/>
                  <a:t> BAC </a:t>
                </a:r>
                <a:r>
                  <a:rPr lang="en-US" b="1" dirty="0" err="1"/>
                  <a:t>cũng</a:t>
                </a:r>
                <a:r>
                  <a:rPr lang="en-US" b="1" dirty="0"/>
                  <a:t> </a:t>
                </a:r>
                <a:r>
                  <a:rPr lang="en-US" b="1" dirty="0" err="1"/>
                  <a:t>được</a:t>
                </a:r>
                <a:r>
                  <a:rPr lang="en-US" b="1" dirty="0"/>
                  <a:t> </a:t>
                </a:r>
                <a:r>
                  <a:rPr lang="en-US" b="1" dirty="0" err="1"/>
                  <a:t>gọi</a:t>
                </a:r>
                <a:r>
                  <a:rPr lang="en-US" b="1" dirty="0"/>
                  <a:t> </a:t>
                </a:r>
                <a:r>
                  <a:rPr lang="en-US" b="1" dirty="0" err="1"/>
                  <a:t>là</a:t>
                </a:r>
                <a:r>
                  <a:rPr lang="en-US" b="1" dirty="0"/>
                  <a:t> </a:t>
                </a:r>
                <a:r>
                  <a:rPr lang="en-US" b="1" dirty="0" err="1"/>
                  <a:t>số</a:t>
                </a:r>
                <a:r>
                  <a:rPr lang="en-US" b="1" dirty="0"/>
                  <a:t> </a:t>
                </a:r>
                <a:r>
                  <a:rPr lang="en-US" b="1" dirty="0" err="1"/>
                  <a:t>đo</a:t>
                </a:r>
                <a:r>
                  <a:rPr lang="en-US" b="1" dirty="0"/>
                  <a:t> </a:t>
                </a:r>
                <a:r>
                  <a:rPr lang="en-US" b="1" dirty="0" err="1"/>
                  <a:t>góc</a:t>
                </a:r>
                <a:r>
                  <a:rPr lang="en-US" b="1" dirty="0"/>
                  <a:t> </a:t>
                </a:r>
                <a:r>
                  <a:rPr lang="en-US" b="1" dirty="0" err="1"/>
                  <a:t>giữa</a:t>
                </a:r>
                <a:r>
                  <a:rPr lang="en-US" b="1" dirty="0"/>
                  <a:t>  </a:t>
                </a:r>
                <a:r>
                  <a:rPr lang="en-US" b="1" dirty="0" err="1"/>
                  <a:t>vectơ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</m:oMath>
                </a14:m>
                <a:r>
                  <a:rPr lang="en-US" b="1" dirty="0"/>
                  <a:t> </a:t>
                </a:r>
                <a:r>
                  <a:rPr lang="en-US" b="1" dirty="0" err="1"/>
                  <a:t>và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</m:oMath>
                </a14:m>
                <a:r>
                  <a:rPr lang="en-US" b="1" dirty="0"/>
                  <a:t> . </a:t>
                </a:r>
                <a:r>
                  <a:rPr lang="en-US" b="1" dirty="0" err="1"/>
                  <a:t>Hãy</a:t>
                </a:r>
                <a:r>
                  <a:rPr lang="en-US" b="1" dirty="0"/>
                  <a:t> </a:t>
                </a:r>
                <a:r>
                  <a:rPr lang="en-US" b="1" dirty="0" err="1"/>
                  <a:t>tìm</a:t>
                </a:r>
                <a:r>
                  <a:rPr lang="en-US" b="1" dirty="0"/>
                  <a:t> </a:t>
                </a:r>
                <a:r>
                  <a:rPr lang="en-US" b="1" dirty="0" err="1"/>
                  <a:t>số</a:t>
                </a:r>
                <a:r>
                  <a:rPr lang="en-US" b="1" dirty="0"/>
                  <a:t> </a:t>
                </a:r>
                <a:r>
                  <a:rPr lang="en-US" b="1" dirty="0" err="1"/>
                  <a:t>đo</a:t>
                </a:r>
                <a:r>
                  <a:rPr lang="en-US" b="1" dirty="0"/>
                  <a:t> </a:t>
                </a:r>
                <a:r>
                  <a:rPr lang="en-US" b="1" dirty="0" err="1"/>
                  <a:t>các</a:t>
                </a:r>
                <a:r>
                  <a:rPr lang="en-US" b="1" dirty="0"/>
                  <a:t> </a:t>
                </a:r>
                <a:r>
                  <a:rPr lang="en-US" b="1" dirty="0" err="1"/>
                  <a:t>góc</a:t>
                </a:r>
                <a:r>
                  <a:rPr lang="en-US" b="1" dirty="0"/>
                  <a:t> </a:t>
                </a:r>
                <a:r>
                  <a:rPr lang="en-US" b="1" dirty="0" err="1"/>
                  <a:t>giữa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𝑩𝑪</m:t>
                        </m:r>
                      </m:e>
                    </m:acc>
                  </m:oMath>
                </a14:m>
                <a:r>
                  <a:rPr lang="en-US" b="1" dirty="0"/>
                  <a:t> </a:t>
                </a:r>
                <a:r>
                  <a:rPr lang="en-US" b="1" dirty="0" err="1"/>
                  <a:t>và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𝑩𝑫</m:t>
                        </m:r>
                      </m:e>
                    </m:acc>
                  </m:oMath>
                </a14:m>
                <a:r>
                  <a:rPr lang="en-US" b="1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𝑫𝑨</m:t>
                        </m:r>
                      </m:e>
                    </m:acc>
                  </m:oMath>
                </a14:m>
                <a:r>
                  <a:rPr lang="en-US" b="1" dirty="0"/>
                  <a:t> </a:t>
                </a:r>
                <a:r>
                  <a:rPr lang="en-US" b="1" dirty="0" err="1"/>
                  <a:t>và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𝑫𝑩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Cho </a:t>
                </a:r>
                <a:r>
                  <a:rPr lang="en-US" b="1" dirty="0" err="1"/>
                  <a:t>hai</a:t>
                </a:r>
                <a:r>
                  <a:rPr lang="en-US" b="1" dirty="0"/>
                  <a:t> </a:t>
                </a:r>
                <a:r>
                  <a:rPr lang="en-US" b="1" dirty="0" err="1"/>
                  <a:t>vectơ</a:t>
                </a:r>
                <a:r>
                  <a:rPr lang="en-US" b="1" dirty="0"/>
                  <a:t>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b="1" dirty="0"/>
                  <a:t> </a:t>
                </a:r>
                <a:r>
                  <a:rPr lang="en-US" b="1" dirty="0" err="1"/>
                  <a:t>và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US" b="1" dirty="0"/>
                  <a:t> </a:t>
                </a:r>
                <a:r>
                  <a:rPr lang="en-US" b="1" dirty="0" err="1"/>
                  <a:t>khác</a:t>
                </a:r>
                <a:r>
                  <a:rPr lang="en-US" b="1" dirty="0"/>
                  <a:t> </a:t>
                </a:r>
                <a:r>
                  <a:rPr lang="en-US" b="1" dirty="0" err="1"/>
                  <a:t>vec</a:t>
                </a:r>
                <a:r>
                  <a:rPr lang="en-US" b="1" dirty="0"/>
                  <a:t> </a:t>
                </a:r>
                <a:r>
                  <a:rPr lang="en-US" b="1" dirty="0" err="1"/>
                  <a:t>tơ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b="1" dirty="0"/>
                  <a:t>. </a:t>
                </a:r>
                <a:r>
                  <a:rPr lang="en-US" b="1" dirty="0" err="1"/>
                  <a:t>Từ</a:t>
                </a:r>
                <a:r>
                  <a:rPr lang="en-US" b="1" dirty="0"/>
                  <a:t> </a:t>
                </a:r>
                <a:r>
                  <a:rPr lang="en-US" b="1" dirty="0" err="1"/>
                  <a:t>một</a:t>
                </a:r>
                <a:r>
                  <a:rPr lang="en-US" b="1" dirty="0"/>
                  <a:t> </a:t>
                </a:r>
                <a:r>
                  <a:rPr lang="en-US" b="1" dirty="0" err="1"/>
                  <a:t>điểm</a:t>
                </a:r>
                <a:r>
                  <a:rPr lang="en-US" b="1" dirty="0"/>
                  <a:t> A </a:t>
                </a:r>
                <a:r>
                  <a:rPr lang="en-US" b="1" dirty="0" err="1"/>
                  <a:t>tuỳ</a:t>
                </a:r>
                <a:r>
                  <a:rPr lang="en-US" b="1" dirty="0"/>
                  <a:t> ý , </a:t>
                </a:r>
                <a:r>
                  <a:rPr lang="en-US" b="1" dirty="0" err="1"/>
                  <a:t>vẽ</a:t>
                </a:r>
                <a:r>
                  <a:rPr lang="en-US" b="1" dirty="0"/>
                  <a:t> </a:t>
                </a:r>
                <a:r>
                  <a:rPr lang="en-US" b="1" dirty="0" err="1"/>
                  <a:t>các</a:t>
                </a:r>
                <a:r>
                  <a:rPr lang="en-US" b="1" dirty="0"/>
                  <a:t> </a:t>
                </a:r>
                <a:r>
                  <a:rPr lang="en-US" b="1" dirty="0" err="1"/>
                  <a:t>vec</a:t>
                </a:r>
                <a:r>
                  <a:rPr lang="en-US" b="1" dirty="0"/>
                  <a:t> </a:t>
                </a:r>
                <a:r>
                  <a:rPr lang="en-US" b="1" dirty="0" err="1"/>
                  <a:t>tơ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b="1" dirty="0"/>
                  <a:t> và</a:t>
                </a:r>
              </a:p>
              <a:p>
                <a:pPr marL="0" indent="0">
                  <a:buNone/>
                </a:pP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(H 4.40). Khi </a:t>
                </a:r>
                <a:r>
                  <a:rPr lang="en-US" b="1" dirty="0" err="1"/>
                  <a:t>đó</a:t>
                </a:r>
                <a:r>
                  <a:rPr lang="en-US" b="1" dirty="0"/>
                  <a:t>, </a:t>
                </a:r>
                <a:r>
                  <a:rPr lang="en-US" b="1" dirty="0" err="1"/>
                  <a:t>số</a:t>
                </a:r>
                <a:r>
                  <a:rPr lang="en-US" b="1" dirty="0"/>
                  <a:t> </a:t>
                </a:r>
                <a:r>
                  <a:rPr lang="en-US" b="1" dirty="0" err="1"/>
                  <a:t>đo</a:t>
                </a:r>
                <a:r>
                  <a:rPr lang="en-US" b="1" dirty="0"/>
                  <a:t> </a:t>
                </a:r>
                <a:r>
                  <a:rPr lang="en-US" b="1" dirty="0" err="1"/>
                  <a:t>của</a:t>
                </a:r>
                <a:r>
                  <a:rPr lang="en-US" b="1" dirty="0"/>
                  <a:t> </a:t>
                </a:r>
                <a:r>
                  <a:rPr lang="en-US" b="1" dirty="0" err="1"/>
                  <a:t>góc</a:t>
                </a:r>
                <a:r>
                  <a:rPr lang="en-US" b="1" dirty="0"/>
                  <a:t> </a:t>
                </a:r>
                <a:r>
                  <a:rPr lang="en-US" b="1" i="1" dirty="0"/>
                  <a:t>BAC</a:t>
                </a:r>
                <a:r>
                  <a:rPr lang="en-US" b="1" dirty="0"/>
                  <a:t> </a:t>
                </a:r>
                <a:r>
                  <a:rPr lang="en-US" b="1" dirty="0" err="1"/>
                  <a:t>được</a:t>
                </a:r>
                <a:r>
                  <a:rPr lang="en-US" b="1" dirty="0"/>
                  <a:t> </a:t>
                </a:r>
                <a:r>
                  <a:rPr lang="en-US" b="1" dirty="0" err="1"/>
                  <a:t>gọi</a:t>
                </a:r>
                <a:r>
                  <a:rPr lang="en-US" b="1" dirty="0"/>
                  <a:t> </a:t>
                </a:r>
                <a:r>
                  <a:rPr lang="en-US" b="1" dirty="0" err="1"/>
                  <a:t>là</a:t>
                </a:r>
                <a:r>
                  <a:rPr lang="en-US" b="1" dirty="0"/>
                  <a:t> </a:t>
                </a:r>
                <a:r>
                  <a:rPr lang="en-US" b="1" dirty="0" err="1"/>
                  <a:t>số</a:t>
                </a:r>
                <a:r>
                  <a:rPr lang="en-US" b="1" dirty="0"/>
                  <a:t> </a:t>
                </a:r>
                <a:r>
                  <a:rPr lang="en-US" b="1" dirty="0" err="1"/>
                  <a:t>đo</a:t>
                </a:r>
                <a:r>
                  <a:rPr lang="en-US" b="1" dirty="0"/>
                  <a:t> </a:t>
                </a:r>
                <a:r>
                  <a:rPr lang="en-US" b="1" dirty="0" err="1"/>
                  <a:t>của</a:t>
                </a:r>
                <a:r>
                  <a:rPr lang="en-US" b="1" dirty="0"/>
                  <a:t> </a:t>
                </a:r>
                <a:r>
                  <a:rPr lang="en-US" b="1" dirty="0" err="1"/>
                  <a:t>góc</a:t>
                </a:r>
                <a:r>
                  <a:rPr lang="en-US" b="1" dirty="0"/>
                  <a:t> </a:t>
                </a:r>
                <a:r>
                  <a:rPr lang="en-US" b="1" dirty="0" err="1"/>
                  <a:t>giữa</a:t>
                </a:r>
                <a:r>
                  <a:rPr lang="en-US" b="1" dirty="0"/>
                  <a:t> </a:t>
                </a:r>
                <a:r>
                  <a:rPr lang="en-US" b="1" dirty="0" err="1"/>
                  <a:t>hai</a:t>
                </a:r>
                <a:r>
                  <a:rPr lang="en-US" b="1" dirty="0"/>
                  <a:t> </a:t>
                </a:r>
                <a:r>
                  <a:rPr lang="en-US" b="1" dirty="0" err="1"/>
                  <a:t>vectơ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b="1" dirty="0"/>
                  <a:t> </a:t>
                </a:r>
                <a:r>
                  <a:rPr lang="en-US" b="1" dirty="0" err="1"/>
                  <a:t>và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US" b="1" dirty="0"/>
                  <a:t> hay </a:t>
                </a:r>
                <a:r>
                  <a:rPr lang="en-US" b="1" dirty="0" err="1"/>
                  <a:t>đơn</a:t>
                </a:r>
                <a:r>
                  <a:rPr lang="en-US" b="1" dirty="0"/>
                  <a:t> </a:t>
                </a:r>
                <a:r>
                  <a:rPr lang="en-US" b="1" dirty="0" err="1"/>
                  <a:t>giản</a:t>
                </a:r>
                <a:r>
                  <a:rPr lang="en-US" b="1" dirty="0"/>
                  <a:t> </a:t>
                </a:r>
                <a:r>
                  <a:rPr lang="en-US" b="1" dirty="0" err="1"/>
                  <a:t>là</a:t>
                </a:r>
                <a:r>
                  <a:rPr lang="en-US" b="1" dirty="0"/>
                  <a:t> </a:t>
                </a:r>
                <a:r>
                  <a:rPr lang="en-US" b="1" dirty="0" err="1"/>
                  <a:t>góc</a:t>
                </a:r>
                <a:r>
                  <a:rPr lang="en-US" b="1" dirty="0"/>
                  <a:t> </a:t>
                </a:r>
                <a:r>
                  <a:rPr lang="en-US" b="1" dirty="0" err="1"/>
                  <a:t>giữa</a:t>
                </a:r>
                <a:r>
                  <a:rPr lang="en-US" b="1" dirty="0"/>
                  <a:t> </a:t>
                </a:r>
                <a:r>
                  <a:rPr lang="en-US" b="1" dirty="0" err="1"/>
                  <a:t>hai</a:t>
                </a:r>
                <a:r>
                  <a:rPr lang="en-US" b="1" dirty="0"/>
                  <a:t> </a:t>
                </a:r>
                <a:r>
                  <a:rPr lang="en-US" b="1" dirty="0" err="1"/>
                  <a:t>vectơ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US" b="1" dirty="0"/>
                  <a:t>, </a:t>
                </a:r>
                <a:r>
                  <a:rPr lang="en-US" b="1" dirty="0" err="1"/>
                  <a:t>kí</a:t>
                </a:r>
                <a:r>
                  <a:rPr lang="en-US" b="1" dirty="0"/>
                  <a:t> </a:t>
                </a:r>
                <a:r>
                  <a:rPr lang="en-US" b="1" dirty="0" err="1"/>
                  <a:t>hiệu</a:t>
                </a:r>
                <a:r>
                  <a:rPr lang="en-US" b="1" dirty="0"/>
                  <a:t> </a:t>
                </a:r>
                <a:r>
                  <a:rPr lang="en-US" b="1" dirty="0" err="1"/>
                  <a:t>là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1" dirty="0"/>
                  <a:t> 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48000"/>
                <a:ext cx="11353800" cy="10371140"/>
              </a:xfrm>
              <a:prstGeom prst="rect">
                <a:avLst/>
              </a:prstGeom>
              <a:blipFill>
                <a:blip r:embed="rId3"/>
                <a:stretch>
                  <a:fillRect l="-2414" t="-1938" r="-359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2344400" y="3048000"/>
            <a:ext cx="11630891" cy="10371140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B5C06D40-9CC1-4802-BA11-CF631AA77BCD}"/>
              </a:ext>
            </a:extLst>
          </p:cNvPr>
          <p:cNvSpPr/>
          <p:nvPr/>
        </p:nvSpPr>
        <p:spPr>
          <a:xfrm>
            <a:off x="14706600" y="3657600"/>
            <a:ext cx="6705600" cy="3200400"/>
          </a:xfrm>
          <a:prstGeom prst="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CD8AF3E-9EC5-4B70-8943-ACE15900A589}"/>
              </a:ext>
            </a:extLst>
          </p:cNvPr>
          <p:cNvCxnSpPr>
            <a:cxnSpLocks/>
            <a:stCxn id="3" idx="0"/>
          </p:cNvCxnSpPr>
          <p:nvPr/>
        </p:nvCxnSpPr>
        <p:spPr>
          <a:xfrm>
            <a:off x="18059400" y="3657600"/>
            <a:ext cx="838200" cy="320040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D2347DA-03B7-4CD1-9222-BB1CA925DA42}"/>
              </a:ext>
            </a:extLst>
          </p:cNvPr>
          <p:cNvCxnSpPr>
            <a:cxnSpLocks/>
            <a:stCxn id="3" idx="2"/>
            <a:endCxn id="3" idx="0"/>
          </p:cNvCxnSpPr>
          <p:nvPr/>
        </p:nvCxnSpPr>
        <p:spPr>
          <a:xfrm flipV="1">
            <a:off x="14706600" y="3657600"/>
            <a:ext cx="3352800" cy="32004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8BB8DD-B248-492F-BEBC-14E9331BFF7D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14706600" y="6858000"/>
            <a:ext cx="4191000" cy="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c 16">
            <a:extLst>
              <a:ext uri="{FF2B5EF4-FFF2-40B4-BE49-F238E27FC236}">
                <a16:creationId xmlns:a16="http://schemas.microsoft.com/office/drawing/2014/main" id="{EA51EC46-9D5D-4F00-B7D0-A59926F27050}"/>
              </a:ext>
            </a:extLst>
          </p:cNvPr>
          <p:cNvSpPr/>
          <p:nvPr/>
        </p:nvSpPr>
        <p:spPr>
          <a:xfrm rot="15351051">
            <a:off x="18415420" y="6228252"/>
            <a:ext cx="873894" cy="973168"/>
          </a:xfrm>
          <a:prstGeom prst="arc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0350E249-CC12-411E-B78F-D932A1CB7A8E}"/>
              </a:ext>
            </a:extLst>
          </p:cNvPr>
          <p:cNvSpPr/>
          <p:nvPr/>
        </p:nvSpPr>
        <p:spPr>
          <a:xfrm rot="6145243">
            <a:off x="18040886" y="3824879"/>
            <a:ext cx="618991" cy="732242"/>
          </a:xfrm>
          <a:prstGeom prst="arc">
            <a:avLst/>
          </a:prstGeom>
          <a:ln w="7620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30CCD6B-ED17-4322-8671-550A6AD1D87A}"/>
                  </a:ext>
                </a:extLst>
              </p:cNvPr>
              <p:cNvSpPr/>
              <p:nvPr/>
            </p:nvSpPr>
            <p:spPr>
              <a:xfrm>
                <a:off x="13940408" y="6705599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30CCD6B-ED17-4322-8671-550A6AD1D8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40408" y="6705599"/>
                <a:ext cx="914400" cy="914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B504155-849B-4D60-95C1-9702C848B389}"/>
                  </a:ext>
                </a:extLst>
              </p:cNvPr>
              <p:cNvSpPr/>
              <p:nvPr/>
            </p:nvSpPr>
            <p:spPr>
              <a:xfrm>
                <a:off x="17390298" y="2895601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b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B504155-849B-4D60-95C1-9702C848B3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0298" y="2895601"/>
                <a:ext cx="914400" cy="914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C38BD12-49AC-4CF3-AEBD-34210F5944F8}"/>
                  </a:ext>
                </a:extLst>
              </p:cNvPr>
              <p:cNvSpPr/>
              <p:nvPr/>
            </p:nvSpPr>
            <p:spPr>
              <a:xfrm>
                <a:off x="21472015" y="654526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lang="en-US" b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C38BD12-49AC-4CF3-AEBD-34210F5944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72015" y="6545260"/>
                <a:ext cx="914400" cy="914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D30171C-5D37-4D85-BF72-FEF8268FFF14}"/>
                  </a:ext>
                </a:extLst>
              </p:cNvPr>
              <p:cNvSpPr/>
              <p:nvPr/>
            </p:nvSpPr>
            <p:spPr>
              <a:xfrm>
                <a:off x="17612621" y="594360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𝟖𝟎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p>
                    </m:oMath>
                  </m:oMathPara>
                </a14:m>
                <a:endParaRPr lang="en-US" b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D30171C-5D37-4D85-BF72-FEF8268FFF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12621" y="5943600"/>
                <a:ext cx="914400" cy="914400"/>
              </a:xfrm>
              <a:prstGeom prst="rect">
                <a:avLst/>
              </a:prstGeom>
              <a:blipFill>
                <a:blip r:embed="rId7"/>
                <a:stretch>
                  <a:fillRect l="-4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3133871-131C-428B-AEC6-219E843EF5C5}"/>
                  </a:ext>
                </a:extLst>
              </p:cNvPr>
              <p:cNvSpPr/>
              <p:nvPr/>
            </p:nvSpPr>
            <p:spPr>
              <a:xfrm>
                <a:off x="18364200" y="4495800"/>
                <a:ext cx="838200" cy="533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𝟑𝟎</m:t>
                          </m:r>
                        </m:e>
                        <m:sup>
                          <m:r>
                            <a:rPr lang="en-US" sz="32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p>
                    </m:oMath>
                  </m:oMathPara>
                </a14:m>
                <a:endParaRPr lang="en-US" b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3133871-131C-428B-AEC6-219E843EF5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64200" y="4495800"/>
                <a:ext cx="838200" cy="5334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Arc 18">
            <a:extLst>
              <a:ext uri="{FF2B5EF4-FFF2-40B4-BE49-F238E27FC236}">
                <a16:creationId xmlns:a16="http://schemas.microsoft.com/office/drawing/2014/main" id="{82C2A509-3D3D-4E5D-8266-DE011F542B57}"/>
              </a:ext>
            </a:extLst>
          </p:cNvPr>
          <p:cNvSpPr/>
          <p:nvPr/>
        </p:nvSpPr>
        <p:spPr>
          <a:xfrm rot="1543240">
            <a:off x="14649006" y="6248399"/>
            <a:ext cx="914400" cy="914400"/>
          </a:xfrm>
          <a:prstGeom prst="arc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8CAA6E-7F56-4B04-91BB-689E022CD93D}"/>
              </a:ext>
            </a:extLst>
          </p:cNvPr>
          <p:cNvCxnSpPr>
            <a:cxnSpLocks/>
          </p:cNvCxnSpPr>
          <p:nvPr/>
        </p:nvCxnSpPr>
        <p:spPr>
          <a:xfrm flipV="1">
            <a:off x="15396523" y="6400800"/>
            <a:ext cx="300677" cy="16693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71E44B27-EB18-4599-BA20-7FBA6AE9E54C}"/>
              </a:ext>
            </a:extLst>
          </p:cNvPr>
          <p:cNvSpPr/>
          <p:nvPr/>
        </p:nvSpPr>
        <p:spPr>
          <a:xfrm>
            <a:off x="16687610" y="7486072"/>
            <a:ext cx="276442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2"/>
                </a:solidFill>
              </a:rPr>
              <a:t>Hình 4.39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346B509-8847-423C-BDF6-ACB092B07F2C}"/>
                  </a:ext>
                </a:extLst>
              </p:cNvPr>
              <p:cNvSpPr/>
              <p:nvPr/>
            </p:nvSpPr>
            <p:spPr>
              <a:xfrm>
                <a:off x="18869921" y="6788571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b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346B509-8847-423C-BDF6-ACB092B07F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69921" y="6788571"/>
                <a:ext cx="914400" cy="9144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ECDBC09-E8CF-451E-9C03-E4CEDF682746}"/>
              </a:ext>
            </a:extLst>
          </p:cNvPr>
          <p:cNvCxnSpPr>
            <a:cxnSpLocks/>
          </p:cNvCxnSpPr>
          <p:nvPr/>
        </p:nvCxnSpPr>
        <p:spPr>
          <a:xfrm flipH="1" flipV="1">
            <a:off x="15191479" y="10433766"/>
            <a:ext cx="2081645" cy="16002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D9AD082-0297-4C28-8F08-7185677D018D}"/>
              </a:ext>
            </a:extLst>
          </p:cNvPr>
          <p:cNvCxnSpPr>
            <a:cxnSpLocks/>
          </p:cNvCxnSpPr>
          <p:nvPr/>
        </p:nvCxnSpPr>
        <p:spPr>
          <a:xfrm>
            <a:off x="17245445" y="12039600"/>
            <a:ext cx="3633355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rc 36">
            <a:extLst>
              <a:ext uri="{FF2B5EF4-FFF2-40B4-BE49-F238E27FC236}">
                <a16:creationId xmlns:a16="http://schemas.microsoft.com/office/drawing/2014/main" id="{10201817-7D35-428F-AA3A-F08456DFE782}"/>
              </a:ext>
            </a:extLst>
          </p:cNvPr>
          <p:cNvSpPr/>
          <p:nvPr/>
        </p:nvSpPr>
        <p:spPr>
          <a:xfrm rot="20290766">
            <a:off x="16499320" y="11631028"/>
            <a:ext cx="1282206" cy="1283036"/>
          </a:xfrm>
          <a:prstGeom prst="arc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5DF84CF-466A-4C3A-944D-C1949FEE3ACC}"/>
              </a:ext>
            </a:extLst>
          </p:cNvPr>
          <p:cNvCxnSpPr>
            <a:cxnSpLocks/>
          </p:cNvCxnSpPr>
          <p:nvPr/>
        </p:nvCxnSpPr>
        <p:spPr>
          <a:xfrm flipH="1" flipV="1">
            <a:off x="15434964" y="9035575"/>
            <a:ext cx="2081645" cy="160020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14233BE-F077-474A-964B-DC246AF663FF}"/>
              </a:ext>
            </a:extLst>
          </p:cNvPr>
          <p:cNvCxnSpPr>
            <a:cxnSpLocks/>
          </p:cNvCxnSpPr>
          <p:nvPr/>
        </p:nvCxnSpPr>
        <p:spPr>
          <a:xfrm>
            <a:off x="18295860" y="11423452"/>
            <a:ext cx="3633355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DE50489F-E22D-4EB7-981D-D01D818CEC8F}"/>
              </a:ext>
            </a:extLst>
          </p:cNvPr>
          <p:cNvSpPr/>
          <p:nvPr/>
        </p:nvSpPr>
        <p:spPr>
          <a:xfrm>
            <a:off x="16777634" y="12496800"/>
            <a:ext cx="276442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2"/>
                </a:solidFill>
              </a:rPr>
              <a:t>Hình 4.40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450FCCDF-C55D-407A-866E-E3BBBCCC0DDB}"/>
                  </a:ext>
                </a:extLst>
              </p:cNvPr>
              <p:cNvSpPr/>
              <p:nvPr/>
            </p:nvSpPr>
            <p:spPr>
              <a:xfrm>
                <a:off x="16511124" y="11904193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450FCCDF-C55D-407A-866E-E3BBBCCC0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1124" y="11904193"/>
                <a:ext cx="914400" cy="9144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A3160A0D-E987-4A30-A114-070F44849EE7}"/>
                  </a:ext>
                </a:extLst>
              </p:cNvPr>
              <p:cNvSpPr/>
              <p:nvPr/>
            </p:nvSpPr>
            <p:spPr>
              <a:xfrm>
                <a:off x="14368164" y="10059117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b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A3160A0D-E987-4A30-A114-070F44849E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8164" y="10059117"/>
                <a:ext cx="914400" cy="9144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41EB41A-C9B4-4019-A618-DF00280AAB78}"/>
                  </a:ext>
                </a:extLst>
              </p:cNvPr>
              <p:cNvSpPr/>
              <p:nvPr/>
            </p:nvSpPr>
            <p:spPr>
              <a:xfrm>
                <a:off x="20684917" y="11962801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b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41EB41A-C9B4-4019-A618-DF00280AAB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4917" y="11962801"/>
                <a:ext cx="914400" cy="9144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6EDA512-0F27-4121-A966-1B6EC0ECA6D4}"/>
                  </a:ext>
                </a:extLst>
              </p:cNvPr>
              <p:cNvSpPr/>
              <p:nvPr/>
            </p:nvSpPr>
            <p:spPr>
              <a:xfrm>
                <a:off x="19692773" y="10552324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acc>
                    </m:oMath>
                  </m:oMathPara>
                </a14:m>
                <a:endParaRPr lang="en-US" b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6EDA512-0F27-4121-A966-1B6EC0ECA6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92773" y="10552324"/>
                <a:ext cx="914400" cy="9144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F71D1F1D-CAD6-4B86-A91E-229968263B5F}"/>
                  </a:ext>
                </a:extLst>
              </p:cNvPr>
              <p:cNvSpPr/>
              <p:nvPr/>
            </p:nvSpPr>
            <p:spPr>
              <a:xfrm rot="2235963">
                <a:off x="16337897" y="9098897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</m:oMath>
                  </m:oMathPara>
                </a14:m>
                <a:endParaRPr lang="en-US" b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F71D1F1D-CAD6-4B86-A91E-229968263B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235963">
                <a:off x="16337897" y="9098897"/>
                <a:ext cx="914400" cy="9144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Rounded Rectangle 11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0816613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  <p:bldP spid="3" grpId="0" animBg="1"/>
      <p:bldP spid="17" grpId="0" animBg="1"/>
      <p:bldP spid="18" grpId="0" animBg="1"/>
      <p:bldP spid="21" grpId="0"/>
      <p:bldP spid="22" grpId="0"/>
      <p:bldP spid="23" grpId="0"/>
      <p:bldP spid="24" grpId="0"/>
      <p:bldP spid="25" grpId="0"/>
      <p:bldP spid="19" grpId="0" animBg="1"/>
      <p:bldP spid="30" grpId="0"/>
      <p:bldP spid="31" grpId="0"/>
      <p:bldP spid="37" grpId="0" animBg="1"/>
      <p:bldP spid="44" grpId="0"/>
      <p:bldP spid="45" grpId="0"/>
      <p:bldP spid="46" grpId="0"/>
      <p:bldP spid="47" grpId="0"/>
      <p:bldP spid="50" grpId="0"/>
      <p:bldP spid="5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2000" y="3124200"/>
                <a:ext cx="22860000" cy="85344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Chú ý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•</m:t>
                    </m:r>
                  </m:oMath>
                </a14:m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ước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rằng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thể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nhận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trị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tuỳ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ý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đến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𝟏𝟖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•</m:t>
                    </m:r>
                  </m:oMath>
                </a14:m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Nếu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𝟗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nói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rằng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vuông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⊥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hoặc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⊥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Đặc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biệt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coi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vuông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mọi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véctơ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 Khi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𝟏𝟖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𝟏𝟖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ngược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124200"/>
                <a:ext cx="22860000" cy="8534400"/>
              </a:xfrm>
              <a:prstGeom prst="rect">
                <a:avLst/>
              </a:prstGeom>
              <a:blipFill>
                <a:blip r:embed="rId3"/>
                <a:stretch>
                  <a:fillRect l="-1173" t="-2425" b="-456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438222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65580" y="2286000"/>
                <a:ext cx="10993581" cy="10744200"/>
              </a:xfrm>
              <a:prstGeom prst="rect">
                <a:avLst/>
              </a:prstGeom>
              <a:solidFill>
                <a:srgbClr val="E7F7FF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Ví </a:t>
                </a:r>
                <a:r>
                  <a:rPr lang="en-US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dụ</a:t>
                </a: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1.  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tam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ABC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vuông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𝑨𝑪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𝑪𝑨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𝑪𝑩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𝑩𝑪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 H 4. 41)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𝑨𝑪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𝑩𝑨𝑪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𝟗𝟎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°,</m:t>
                    </m:r>
                  </m:oMath>
                </a14:m>
                <a:endParaRPr lang="en-US" b="1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𝑪𝑨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𝑪𝑩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𝑨𝑪𝑩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𝟔𝟎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°,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𝑨𝑩</m:t>
                              </m:r>
                            </m:e>
                          </m:acc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𝑩𝑪</m:t>
                              </m:r>
                            </m:e>
                          </m:acc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𝑩𝑫</m:t>
                              </m:r>
                            </m:e>
                          </m:acc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𝑩𝑪</m:t>
                              </m:r>
                            </m:e>
                          </m:acc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𝑫𝑩𝑪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𝟏𝟓𝟎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°.</m:t>
                      </m:r>
                    </m:oMath>
                  </m:oMathPara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Luyện</a:t>
                </a: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1. 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tam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ABC,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𝑩𝑪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Vẽ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𝑩𝑪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𝑩𝑪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𝑩𝑪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𝟏𝟐𝟎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°.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5580" y="2286000"/>
                <a:ext cx="10993581" cy="10744200"/>
              </a:xfrm>
              <a:prstGeom prst="rect">
                <a:avLst/>
              </a:prstGeom>
              <a:blipFill>
                <a:blip r:embed="rId3"/>
                <a:stretch>
                  <a:fillRect l="-2493" t="-1926" r="-60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2324840" y="2286000"/>
            <a:ext cx="10792691" cy="10744200"/>
          </a:xfrm>
          <a:prstGeom prst="rect">
            <a:avLst/>
          </a:prstGeom>
          <a:solidFill>
            <a:srgbClr val="E7F7FF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Right Triangle 1">
            <a:extLst>
              <a:ext uri="{FF2B5EF4-FFF2-40B4-BE49-F238E27FC236}">
                <a16:creationId xmlns:a16="http://schemas.microsoft.com/office/drawing/2014/main" id="{DA2D00A3-7607-4911-A2CC-C0CE2CE2AA2B}"/>
              </a:ext>
            </a:extLst>
          </p:cNvPr>
          <p:cNvSpPr/>
          <p:nvPr/>
        </p:nvSpPr>
        <p:spPr>
          <a:xfrm>
            <a:off x="12725401" y="5105400"/>
            <a:ext cx="4495800" cy="2438400"/>
          </a:xfrm>
          <a:prstGeom prst="rtTriangle">
            <a:avLst/>
          </a:prstGeom>
          <a:noFill/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2DDD75-D9F6-465A-9D3B-D4817917D934}"/>
              </a:ext>
            </a:extLst>
          </p:cNvPr>
          <p:cNvSpPr/>
          <p:nvPr/>
        </p:nvSpPr>
        <p:spPr>
          <a:xfrm>
            <a:off x="12725400" y="7239000"/>
            <a:ext cx="338327" cy="304800"/>
          </a:xfrm>
          <a:prstGeom prst="rect">
            <a:avLst/>
          </a:prstGeom>
          <a:noFill/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FD324600-AA73-4C80-908A-DB54C3F3B4AD}"/>
              </a:ext>
            </a:extLst>
          </p:cNvPr>
          <p:cNvSpPr/>
          <p:nvPr/>
        </p:nvSpPr>
        <p:spPr>
          <a:xfrm rot="14060200">
            <a:off x="16367574" y="6947291"/>
            <a:ext cx="504339" cy="783606"/>
          </a:xfrm>
          <a:prstGeom prst="arc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F55C11-C870-49E4-9D01-6A86F7245729}"/>
              </a:ext>
            </a:extLst>
          </p:cNvPr>
          <p:cNvCxnSpPr>
            <a:cxnSpLocks/>
          </p:cNvCxnSpPr>
          <p:nvPr/>
        </p:nvCxnSpPr>
        <p:spPr>
          <a:xfrm>
            <a:off x="17254729" y="7543800"/>
            <a:ext cx="4495800" cy="0"/>
          </a:xfrm>
          <a:prstGeom prst="line">
            <a:avLst/>
          </a:prstGeom>
          <a:ln w="76200">
            <a:solidFill>
              <a:schemeClr val="tx1"/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03D4365F-9C30-4439-B439-C2BD8798AFF2}"/>
              </a:ext>
            </a:extLst>
          </p:cNvPr>
          <p:cNvSpPr/>
          <p:nvPr/>
        </p:nvSpPr>
        <p:spPr>
          <a:xfrm>
            <a:off x="21750529" y="7467600"/>
            <a:ext cx="169642" cy="17373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1831DE6-1C28-44E2-861E-8C65C5C2F223}"/>
                  </a:ext>
                </a:extLst>
              </p:cNvPr>
              <p:cNvSpPr/>
              <p:nvPr/>
            </p:nvSpPr>
            <p:spPr>
              <a:xfrm>
                <a:off x="12344400" y="426720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b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1831DE6-1C28-44E2-861E-8C65C5C2F2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4400" y="4267200"/>
                <a:ext cx="914400" cy="914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0404C8A-2F4D-4816-A790-5968D49ADF76}"/>
                  </a:ext>
                </a:extLst>
              </p:cNvPr>
              <p:cNvSpPr/>
              <p:nvPr/>
            </p:nvSpPr>
            <p:spPr>
              <a:xfrm>
                <a:off x="12268200" y="754380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0404C8A-2F4D-4816-A790-5968D49ADF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8200" y="7543800"/>
                <a:ext cx="914400" cy="914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3BBFBD9-5464-4091-9469-C2B87C8198EA}"/>
                  </a:ext>
                </a:extLst>
              </p:cNvPr>
              <p:cNvSpPr/>
              <p:nvPr/>
            </p:nvSpPr>
            <p:spPr>
              <a:xfrm>
                <a:off x="16777219" y="7510272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b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3BBFBD9-5464-4091-9469-C2B87C8198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7219" y="7510272"/>
                <a:ext cx="914400" cy="914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C3AE965-3C8A-4FF7-B1E1-1EADD62BB6A2}"/>
                  </a:ext>
                </a:extLst>
              </p:cNvPr>
              <p:cNvSpPr/>
              <p:nvPr/>
            </p:nvSpPr>
            <p:spPr>
              <a:xfrm>
                <a:off x="21640800" y="754380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lang="en-US" b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C3AE965-3C8A-4FF7-B1E1-1EADD62BB6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40800" y="7543800"/>
                <a:ext cx="914400" cy="914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1577C53-2EF1-4569-B652-AD1AB7B0B004}"/>
                  </a:ext>
                </a:extLst>
              </p:cNvPr>
              <p:cNvSpPr/>
              <p:nvPr/>
            </p:nvSpPr>
            <p:spPr>
              <a:xfrm>
                <a:off x="15107161" y="670560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𝟑𝟎</m:t>
                          </m:r>
                        </m:e>
                        <m:sup>
                          <m:r>
                            <a:rPr lang="en-US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p>
                      </m:sSup>
                    </m:oMath>
                  </m:oMathPara>
                </a14:m>
                <a:endParaRPr lang="en-US" b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1577C53-2EF1-4569-B652-AD1AB7B0B0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07161" y="6705600"/>
                <a:ext cx="914400" cy="914400"/>
              </a:xfrm>
              <a:prstGeom prst="rect">
                <a:avLst/>
              </a:prstGeom>
              <a:blipFill>
                <a:blip r:embed="rId8"/>
                <a:stretch>
                  <a:fillRect l="-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26C03113-9B21-4DC4-BE08-0B94CE301F96}"/>
              </a:ext>
            </a:extLst>
          </p:cNvPr>
          <p:cNvSpPr/>
          <p:nvPr/>
        </p:nvSpPr>
        <p:spPr>
          <a:xfrm>
            <a:off x="16590378" y="8407908"/>
            <a:ext cx="276442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2"/>
                </a:solidFill>
              </a:rPr>
              <a:t>Hình 4.41 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1586650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  <p:bldP spid="2" grpId="0" animBg="1"/>
      <p:bldP spid="3" grpId="0" animBg="1"/>
      <p:bldP spid="4" grpId="0" animBg="1"/>
      <p:bldP spid="12" grpId="0" animBg="1"/>
      <p:bldP spid="13" grpId="0"/>
      <p:bldP spid="15" grpId="0"/>
      <p:bldP spid="16" grpId="0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1"/>
            <a:ext cx="23164800" cy="939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/>
              <a:t>2. TÍCH VÔ HƯỚNG CỦA HAI VECTƠ</a:t>
            </a:r>
            <a:endParaRPr lang="en-US" sz="4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3124200"/>
                <a:ext cx="13210309" cy="103790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 err="1"/>
                  <a:t>Trong</a:t>
                </a:r>
                <a:r>
                  <a:rPr lang="en-US" b="1" dirty="0"/>
                  <a:t> </a:t>
                </a:r>
                <a:r>
                  <a:rPr lang="en-US" b="1" dirty="0" err="1"/>
                  <a:t>Vật</a:t>
                </a:r>
                <a:r>
                  <a:rPr lang="en-US" b="1" dirty="0"/>
                  <a:t> </a:t>
                </a:r>
                <a:r>
                  <a:rPr lang="en-US" b="1" dirty="0" err="1"/>
                  <a:t>lí</a:t>
                </a:r>
                <a:r>
                  <a:rPr lang="en-US" b="1" dirty="0"/>
                  <a:t>, </a:t>
                </a:r>
                <a:r>
                  <a:rPr lang="en-US" b="1" dirty="0" err="1"/>
                  <a:t>nếu</a:t>
                </a:r>
                <a:r>
                  <a:rPr lang="en-US" b="1" dirty="0"/>
                  <a:t> </a:t>
                </a:r>
                <a:r>
                  <a:rPr lang="en-US" b="1" dirty="0" err="1"/>
                  <a:t>lực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</m:acc>
                  </m:oMath>
                </a14:m>
                <a:r>
                  <a:rPr lang="en-US" b="1" dirty="0" err="1"/>
                  <a:t>không</a:t>
                </a:r>
                <a:r>
                  <a:rPr lang="en-US" b="1" dirty="0"/>
                  <a:t> </a:t>
                </a:r>
                <a:r>
                  <a:rPr lang="en-US" b="1" dirty="0" err="1"/>
                  <a:t>đổi</a:t>
                </a:r>
                <a:r>
                  <a:rPr lang="en-US" b="1" dirty="0"/>
                  <a:t> </a:t>
                </a:r>
                <a:r>
                  <a:rPr lang="en-US" b="1" dirty="0" err="1"/>
                  <a:t>tác</a:t>
                </a:r>
                <a:r>
                  <a:rPr lang="en-US" b="1" dirty="0"/>
                  <a:t> </a:t>
                </a:r>
                <a:r>
                  <a:rPr lang="en-US" b="1" dirty="0" err="1"/>
                  <a:t>dụng</a:t>
                </a:r>
                <a:r>
                  <a:rPr lang="en-US" b="1" dirty="0"/>
                  <a:t> </a:t>
                </a:r>
                <a:r>
                  <a:rPr lang="en-US" b="1" dirty="0" err="1"/>
                  <a:t>vào</a:t>
                </a:r>
                <a:r>
                  <a:rPr lang="en-US" b="1" dirty="0"/>
                  <a:t> </a:t>
                </a:r>
                <a:r>
                  <a:rPr lang="en-US" b="1" dirty="0" err="1"/>
                  <a:t>một</a:t>
                </a:r>
                <a:r>
                  <a:rPr lang="en-US" b="1" dirty="0"/>
                  <a:t> </a:t>
                </a:r>
                <a:r>
                  <a:rPr lang="en-US" b="1" dirty="0" err="1"/>
                  <a:t>vật</a:t>
                </a:r>
                <a:r>
                  <a:rPr lang="en-US" b="1" dirty="0"/>
                  <a:t> </a:t>
                </a:r>
                <a:r>
                  <a:rPr lang="en-US" b="1" dirty="0" err="1"/>
                  <a:t>và</a:t>
                </a:r>
                <a:r>
                  <a:rPr lang="en-US" b="1" dirty="0"/>
                  <a:t> </a:t>
                </a:r>
                <a:r>
                  <a:rPr lang="en-US" b="1" dirty="0" err="1"/>
                  <a:t>điểm</a:t>
                </a:r>
                <a:r>
                  <a:rPr lang="en-US" b="1" dirty="0"/>
                  <a:t> </a:t>
                </a:r>
                <a:r>
                  <a:rPr lang="en-US" b="1" dirty="0" err="1"/>
                  <a:t>đặt</a:t>
                </a:r>
                <a:r>
                  <a:rPr lang="en-US" b="1" dirty="0"/>
                  <a:t> </a:t>
                </a:r>
                <a:r>
                  <a:rPr lang="en-US" b="1" dirty="0" err="1"/>
                  <a:t>của</a:t>
                </a:r>
                <a:r>
                  <a:rPr lang="en-US" b="1" dirty="0"/>
                  <a:t> </a:t>
                </a:r>
                <a:r>
                  <a:rPr lang="en-US" b="1" dirty="0" err="1"/>
                  <a:t>lực</a:t>
                </a:r>
                <a:r>
                  <a:rPr lang="en-US" b="1" dirty="0"/>
                  <a:t> </a:t>
                </a:r>
                <a:r>
                  <a:rPr lang="en-US" b="1" dirty="0" err="1"/>
                  <a:t>chuyển</a:t>
                </a:r>
                <a:r>
                  <a:rPr lang="en-US" b="1" dirty="0"/>
                  <a:t> </a:t>
                </a:r>
                <a:r>
                  <a:rPr lang="en-US" b="1" dirty="0" err="1"/>
                  <a:t>động</a:t>
                </a:r>
                <a:r>
                  <a:rPr lang="en-US" b="1" dirty="0"/>
                  <a:t> </a:t>
                </a:r>
                <a:r>
                  <a:rPr lang="en-US" b="1" dirty="0" err="1"/>
                  <a:t>thẳng</a:t>
                </a:r>
                <a:r>
                  <a:rPr lang="en-US" b="1" dirty="0"/>
                  <a:t> </a:t>
                </a:r>
                <a:r>
                  <a:rPr lang="en-US" b="1" dirty="0" err="1"/>
                  <a:t>từ</a:t>
                </a:r>
                <a:r>
                  <a:rPr lang="en-US" b="1" dirty="0"/>
                  <a:t> </a:t>
                </a:r>
                <a:r>
                  <a:rPr lang="en-US" b="1" i="1" dirty="0"/>
                  <a:t>M</a:t>
                </a:r>
                <a:r>
                  <a:rPr lang="en-US" b="1" dirty="0"/>
                  <a:t> </a:t>
                </a:r>
                <a:r>
                  <a:rPr lang="en-US" b="1" dirty="0" err="1"/>
                  <a:t>tới</a:t>
                </a:r>
                <a:r>
                  <a:rPr lang="en-US" b="1" dirty="0"/>
                  <a:t> </a:t>
                </a:r>
                <a:r>
                  <a:rPr lang="en-US" b="1" i="1" dirty="0"/>
                  <a:t>N</a:t>
                </a:r>
                <a:r>
                  <a:rPr lang="en-US" b="1" dirty="0"/>
                  <a:t>, </a:t>
                </a:r>
                <a:r>
                  <a:rPr lang="en-US" b="1" dirty="0" err="1"/>
                  <a:t>thì</a:t>
                </a:r>
                <a:r>
                  <a:rPr lang="en-US" b="1" dirty="0"/>
                  <a:t> </a:t>
                </a:r>
                <a:r>
                  <a:rPr lang="en-US" b="1" dirty="0" err="1"/>
                  <a:t>công</a:t>
                </a:r>
                <a:r>
                  <a:rPr lang="en-US" b="1" dirty="0"/>
                  <a:t> </a:t>
                </a:r>
                <a:r>
                  <a:rPr lang="en-US" b="1" i="1" dirty="0"/>
                  <a:t>A </a:t>
                </a:r>
                <a:r>
                  <a:rPr lang="en-US" b="1" dirty="0" err="1"/>
                  <a:t>của</a:t>
                </a:r>
                <a:r>
                  <a:rPr lang="en-US" b="1" dirty="0"/>
                  <a:t> </a:t>
                </a:r>
                <a:r>
                  <a:rPr lang="en-US" b="1" dirty="0" err="1"/>
                  <a:t>lực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</m:acc>
                  </m:oMath>
                </a14:m>
                <a:r>
                  <a:rPr lang="en-US" b="1" dirty="0" err="1"/>
                  <a:t>được</a:t>
                </a:r>
                <a:r>
                  <a:rPr lang="en-US" b="1" dirty="0"/>
                  <a:t> </a:t>
                </a:r>
                <a:r>
                  <a:rPr lang="en-US" b="1" dirty="0" err="1"/>
                  <a:t>tính</a:t>
                </a:r>
                <a:r>
                  <a:rPr lang="en-US" b="1" dirty="0"/>
                  <a:t> </a:t>
                </a:r>
                <a:r>
                  <a:rPr lang="en-US" b="1" dirty="0" err="1"/>
                  <a:t>theo</a:t>
                </a:r>
                <a:r>
                  <a:rPr lang="en-US" b="1" dirty="0"/>
                  <a:t> </a:t>
                </a:r>
                <a:r>
                  <a:rPr lang="en-US" b="1" dirty="0" err="1"/>
                  <a:t>công</a:t>
                </a:r>
                <a:r>
                  <a:rPr lang="en-US" b="1" dirty="0"/>
                  <a:t> </a:t>
                </a:r>
                <a:r>
                  <a:rPr lang="en-US" b="1" dirty="0" err="1"/>
                  <a:t>thức</a:t>
                </a:r>
                <a:r>
                  <a:rPr lang="en-US" b="1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</m:acc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𝑴𝑵</m:t>
                              </m:r>
                            </m:e>
                          </m:acc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𝒄𝒐𝒔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𝑭</m:t>
                              </m:r>
                            </m:e>
                          </m:acc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𝑴𝑵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b="1" dirty="0"/>
              </a:p>
              <a:p>
                <a:r>
                  <a:rPr lang="en-US" b="1" dirty="0" err="1"/>
                  <a:t>Trong</a:t>
                </a:r>
                <a:r>
                  <a:rPr lang="en-US" b="1" dirty="0"/>
                  <a:t> </a:t>
                </a:r>
                <a:r>
                  <a:rPr lang="en-US" b="1" dirty="0" err="1"/>
                  <a:t>đó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</m:acc>
                      </m:e>
                    </m:d>
                  </m:oMath>
                </a14:m>
                <a:r>
                  <a:rPr lang="en-US" b="1" dirty="0" err="1"/>
                  <a:t>là</a:t>
                </a:r>
                <a:r>
                  <a:rPr lang="en-US" b="1" dirty="0"/>
                  <a:t> </a:t>
                </a:r>
                <a:r>
                  <a:rPr lang="en-US" b="1" dirty="0" err="1"/>
                  <a:t>độ</a:t>
                </a:r>
                <a:r>
                  <a:rPr lang="en-US" b="1" dirty="0"/>
                  <a:t> </a:t>
                </a:r>
                <a:r>
                  <a:rPr lang="en-US" b="1" dirty="0" err="1"/>
                  <a:t>lớn</a:t>
                </a:r>
                <a:r>
                  <a:rPr lang="en-US" b="1" dirty="0"/>
                  <a:t> </a:t>
                </a:r>
                <a:r>
                  <a:rPr lang="en-US" b="1" dirty="0" err="1"/>
                  <a:t>của</a:t>
                </a:r>
                <a:r>
                  <a:rPr lang="en-US" b="1" dirty="0"/>
                  <a:t> </a:t>
                </a:r>
                <a:r>
                  <a:rPr lang="en-US" b="1" dirty="0" err="1"/>
                  <a:t>lực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</m:acc>
                  </m:oMath>
                </a14:m>
                <a:r>
                  <a:rPr lang="en-US" b="1" dirty="0"/>
                  <a:t> (</a:t>
                </a:r>
                <a:r>
                  <a:rPr lang="en-US" b="1" dirty="0" err="1"/>
                  <a:t>theo</a:t>
                </a:r>
                <a:r>
                  <a:rPr lang="en-US" b="1" dirty="0"/>
                  <a:t> </a:t>
                </a:r>
                <a:r>
                  <a:rPr lang="en-US" b="1" dirty="0" err="1"/>
                  <a:t>đơn</a:t>
                </a:r>
                <a:r>
                  <a:rPr lang="en-US" b="1" dirty="0"/>
                  <a:t> </a:t>
                </a:r>
                <a:r>
                  <a:rPr lang="en-US" b="1" dirty="0" err="1"/>
                  <a:t>vị</a:t>
                </a:r>
                <a:r>
                  <a:rPr lang="en-US" b="1" dirty="0"/>
                  <a:t> Newton);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𝑴𝑵</m:t>
                            </m:r>
                          </m:e>
                        </m:acc>
                      </m:e>
                    </m:d>
                  </m:oMath>
                </a14:m>
                <a:r>
                  <a:rPr lang="en-US" b="1" dirty="0" err="1"/>
                  <a:t>là</a:t>
                </a:r>
                <a:r>
                  <a:rPr lang="en-US" b="1" dirty="0"/>
                  <a:t> </a:t>
                </a:r>
                <a:r>
                  <a:rPr lang="en-US" b="1" dirty="0" err="1"/>
                  <a:t>độ</a:t>
                </a:r>
                <a:r>
                  <a:rPr lang="en-US" b="1" dirty="0"/>
                  <a:t> </a:t>
                </a:r>
                <a:r>
                  <a:rPr lang="en-US" b="1" dirty="0" err="1"/>
                  <a:t>dài</a:t>
                </a:r>
                <a:r>
                  <a:rPr lang="en-US" b="1" dirty="0"/>
                  <a:t> </a:t>
                </a:r>
                <a:r>
                  <a:rPr lang="en-US" b="1" dirty="0" err="1"/>
                  <a:t>của</a:t>
                </a:r>
                <a:r>
                  <a:rPr lang="en-US" b="1" dirty="0"/>
                  <a:t> </a:t>
                </a:r>
                <a:r>
                  <a:rPr lang="en-US" b="1" dirty="0" err="1"/>
                  <a:t>vectơ</a:t>
                </a:r>
                <a:r>
                  <a:rPr lang="en-US" b="1" dirty="0"/>
                  <a:t> </a:t>
                </a:r>
                <a:r>
                  <a:rPr lang="en-US" b="1" i="1" dirty="0"/>
                  <a:t>MN</a:t>
                </a:r>
                <a:r>
                  <a:rPr lang="en-US" b="1" dirty="0"/>
                  <a:t> (</a:t>
                </a:r>
                <a:r>
                  <a:rPr lang="en-US" b="1" dirty="0" err="1"/>
                  <a:t>theo</a:t>
                </a:r>
                <a:r>
                  <a:rPr lang="en-US" b="1" dirty="0"/>
                  <a:t> </a:t>
                </a:r>
                <a:r>
                  <a:rPr lang="en-US" b="1" dirty="0" err="1"/>
                  <a:t>đơn</a:t>
                </a:r>
                <a:r>
                  <a:rPr lang="en-US" b="1" dirty="0"/>
                  <a:t> </a:t>
                </a:r>
                <a:r>
                  <a:rPr lang="en-US" b="1" dirty="0" err="1"/>
                  <a:t>vị</a:t>
                </a:r>
                <a:r>
                  <a:rPr lang="en-US" b="1" dirty="0"/>
                  <a:t> </a:t>
                </a:r>
                <a:r>
                  <a:rPr lang="en-US" b="1" dirty="0" err="1"/>
                  <a:t>mét</a:t>
                </a:r>
                <a:r>
                  <a:rPr lang="en-US" b="1" dirty="0"/>
                  <a:t>);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𝑴𝑵</m:t>
                            </m:r>
                          </m:e>
                        </m:acc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b="1" dirty="0" err="1"/>
                  <a:t>góc</a:t>
                </a:r>
                <a:r>
                  <a:rPr lang="en-US" b="1" dirty="0"/>
                  <a:t> </a:t>
                </a:r>
                <a:r>
                  <a:rPr lang="en-US" b="1" dirty="0" err="1"/>
                  <a:t>giữa</a:t>
                </a:r>
                <a:r>
                  <a:rPr lang="en-US" b="1" dirty="0"/>
                  <a:t> </a:t>
                </a:r>
                <a:r>
                  <a:rPr lang="en-US" b="1" dirty="0" err="1"/>
                  <a:t>hai</a:t>
                </a:r>
                <a:r>
                  <a:rPr lang="en-US" b="1" dirty="0"/>
                  <a:t> </a:t>
                </a:r>
                <a:r>
                  <a:rPr lang="en-US" b="1" dirty="0" err="1"/>
                  <a:t>vec</a:t>
                </a:r>
                <a:r>
                  <a:rPr lang="en-US" b="1" dirty="0"/>
                  <a:t> </a:t>
                </a:r>
                <a:r>
                  <a:rPr lang="en-US" b="1" dirty="0" err="1"/>
                  <a:t>tơ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</m:acc>
                  </m:oMath>
                </a14:m>
                <a:r>
                  <a:rPr lang="en-US" b="1" dirty="0" err="1"/>
                  <a:t>và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𝑴𝑵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/>
              </a:p>
              <a:p>
                <a:r>
                  <a:rPr lang="en-US" b="1" dirty="0" err="1"/>
                  <a:t>Toán</a:t>
                </a:r>
                <a:r>
                  <a:rPr lang="en-US" b="1" dirty="0"/>
                  <a:t> </a:t>
                </a:r>
                <a:r>
                  <a:rPr lang="en-US" b="1" dirty="0" err="1"/>
                  <a:t>học</a:t>
                </a:r>
                <a:r>
                  <a:rPr lang="en-US" b="1" dirty="0"/>
                  <a:t> </a:t>
                </a:r>
                <a:r>
                  <a:rPr lang="en-US" b="1" dirty="0" err="1"/>
                  <a:t>gọi</a:t>
                </a:r>
                <a:r>
                  <a:rPr lang="en-US" b="1" dirty="0"/>
                  <a:t> </a:t>
                </a:r>
                <a:r>
                  <a:rPr lang="en-US" b="1" dirty="0" err="1"/>
                  <a:t>giá</a:t>
                </a:r>
                <a:r>
                  <a:rPr lang="en-US" b="1" dirty="0"/>
                  <a:t> </a:t>
                </a:r>
                <a:r>
                  <a:rPr lang="en-US" b="1" dirty="0" err="1"/>
                  <a:t>trị</a:t>
                </a:r>
                <a:r>
                  <a:rPr lang="en-US" b="1" i="1" dirty="0"/>
                  <a:t> A</a:t>
                </a:r>
                <a:r>
                  <a:rPr lang="en-US" b="1" dirty="0"/>
                  <a:t> (</a:t>
                </a:r>
                <a:r>
                  <a:rPr lang="en-US" b="1" dirty="0" err="1"/>
                  <a:t>không</a:t>
                </a:r>
                <a:r>
                  <a:rPr lang="en-US" b="1" dirty="0"/>
                  <a:t> </a:t>
                </a:r>
                <a:r>
                  <a:rPr lang="en-US" b="1" dirty="0" err="1"/>
                  <a:t>kể</a:t>
                </a:r>
                <a:r>
                  <a:rPr lang="en-US" b="1" dirty="0"/>
                  <a:t> </a:t>
                </a:r>
                <a:r>
                  <a:rPr lang="en-US" b="1" dirty="0" err="1"/>
                  <a:t>đơn</a:t>
                </a:r>
                <a:r>
                  <a:rPr lang="en-US" b="1" dirty="0"/>
                  <a:t> </a:t>
                </a:r>
                <a:r>
                  <a:rPr lang="en-US" b="1" dirty="0" err="1"/>
                  <a:t>vị</a:t>
                </a:r>
                <a:r>
                  <a:rPr lang="en-US" b="1" dirty="0"/>
                  <a:t> </a:t>
                </a:r>
                <a:r>
                  <a:rPr lang="en-US" b="1" dirty="0" err="1"/>
                  <a:t>đo</a:t>
                </a:r>
                <a:r>
                  <a:rPr lang="en-US" b="1" dirty="0"/>
                  <a:t>) </a:t>
                </a:r>
                <a:r>
                  <a:rPr lang="en-US" b="1" dirty="0" err="1"/>
                  <a:t>trong</a:t>
                </a:r>
                <a:r>
                  <a:rPr lang="en-US" b="1" dirty="0"/>
                  <a:t> </a:t>
                </a:r>
                <a:r>
                  <a:rPr lang="en-US" b="1" dirty="0" err="1"/>
                  <a:t>biểu</a:t>
                </a:r>
                <a:r>
                  <a:rPr lang="en-US" b="1" dirty="0"/>
                  <a:t> </a:t>
                </a:r>
                <a:r>
                  <a:rPr lang="en-US" b="1" dirty="0" err="1"/>
                  <a:t>thức</a:t>
                </a:r>
                <a:r>
                  <a:rPr lang="en-US" b="1" dirty="0"/>
                  <a:t> </a:t>
                </a:r>
                <a:r>
                  <a:rPr lang="en-US" b="1" dirty="0" err="1"/>
                  <a:t>nói</a:t>
                </a:r>
                <a:r>
                  <a:rPr lang="en-US" b="1" dirty="0"/>
                  <a:t> </a:t>
                </a:r>
                <a:r>
                  <a:rPr lang="en-US" b="1" dirty="0" err="1"/>
                  <a:t>trên</a:t>
                </a:r>
                <a:r>
                  <a:rPr lang="en-US" b="1" dirty="0"/>
                  <a:t> </a:t>
                </a:r>
                <a:r>
                  <a:rPr lang="en-US" b="1" dirty="0" err="1"/>
                  <a:t>là</a:t>
                </a:r>
                <a:r>
                  <a:rPr lang="en-US" b="1" dirty="0"/>
                  <a:t> </a:t>
                </a:r>
                <a:r>
                  <a:rPr lang="en-US" b="1" dirty="0" err="1"/>
                  <a:t>tích</a:t>
                </a:r>
                <a:r>
                  <a:rPr lang="en-US" b="1" dirty="0"/>
                  <a:t> </a:t>
                </a:r>
                <a:r>
                  <a:rPr lang="en-US" b="1" dirty="0" err="1"/>
                  <a:t>vô</a:t>
                </a:r>
                <a:r>
                  <a:rPr lang="en-US" b="1" dirty="0"/>
                  <a:t> </a:t>
                </a:r>
                <a:r>
                  <a:rPr lang="en-US" b="1" dirty="0" err="1"/>
                  <a:t>hướng</a:t>
                </a:r>
                <a:r>
                  <a:rPr lang="en-US" b="1" dirty="0"/>
                  <a:t> </a:t>
                </a:r>
                <a:r>
                  <a:rPr lang="en-US" b="1" dirty="0" err="1"/>
                  <a:t>của</a:t>
                </a:r>
                <a:r>
                  <a:rPr lang="en-US" b="1" dirty="0"/>
                  <a:t> </a:t>
                </a:r>
                <a:r>
                  <a:rPr lang="en-US" b="1" dirty="0" err="1"/>
                  <a:t>hai</a:t>
                </a:r>
                <a:r>
                  <a:rPr lang="en-US" b="1" dirty="0"/>
                  <a:t> </a:t>
                </a:r>
                <a:r>
                  <a:rPr lang="en-US" b="1" dirty="0" err="1"/>
                  <a:t>vec</a:t>
                </a:r>
                <a:r>
                  <a:rPr lang="en-US" b="1" dirty="0"/>
                  <a:t> </a:t>
                </a:r>
                <a:r>
                  <a:rPr lang="en-US" b="1" dirty="0" err="1"/>
                  <a:t>tơ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</m:acc>
                  </m:oMath>
                </a14:m>
                <a:r>
                  <a:rPr lang="en-US" b="1" dirty="0" err="1"/>
                  <a:t>và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𝑴𝑵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/>
              </a:p>
            </p:txBody>
          </p:sp>
        </mc:Choice>
        <mc:Fallback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3124200"/>
                <a:ext cx="13210309" cy="10379076"/>
              </a:xfrm>
              <a:prstGeom prst="rect">
                <a:avLst/>
              </a:prstGeom>
              <a:blipFill>
                <a:blip r:embed="rId3"/>
                <a:stretch>
                  <a:fillRect l="-1843" t="-1291" r="-1843" b="-352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4249400" y="3124200"/>
            <a:ext cx="9725891" cy="10379076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76CBC9-DF49-4F8F-9161-6EBC18B37BD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4249400" y="4648200"/>
            <a:ext cx="9525000" cy="6730998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5175576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5800" y="2362200"/>
                <a:ext cx="13868399" cy="102108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Tích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vô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hiệu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bởi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công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acc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⃗"/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acc>
                        </m:e>
                      </m:d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|"/>
                          <m:endChr m:val="|"/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acc>
                        </m:e>
                      </m:d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𝒄𝒐𝒔</m:t>
                      </m:r>
                      <m:d>
                        <m:dPr>
                          <m:ctrlP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acc>
                          <m:r>
                            <a:rPr 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acc>
                        </m:e>
                      </m:d>
                      <m:r>
                        <a:rPr lang="en-US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1" dirty="0">
                  <a:solidFill>
                    <a:srgbClr val="FF00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  Khi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tích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vô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âm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 </a:t>
                </a:r>
              </a:p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Tích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vô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nhọn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hoặc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).</a:t>
                </a: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Tích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vô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âm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tù</a:t>
                </a: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(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hoặc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𝟏𝟖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2362200"/>
                <a:ext cx="13868399" cy="10210800"/>
              </a:xfrm>
              <a:prstGeom prst="rect">
                <a:avLst/>
              </a:prstGeom>
              <a:blipFill>
                <a:blip r:embed="rId3"/>
                <a:stretch>
                  <a:fillRect l="-1977" t="-2087" r="-1977" b="-11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4782800" y="2362200"/>
            <a:ext cx="9161116" cy="10210800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A2B33A-AC74-46EB-AE4C-4775A84D79F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5104716" y="2590800"/>
            <a:ext cx="8839200" cy="6781800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7708259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000" y="2743200"/>
                <a:ext cx="23698200" cy="96774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Chú ý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•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⊥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•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còn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viết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vô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.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begChr m:val="|"/>
                        <m:endChr m:val="|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𝒄𝒐𝒔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?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Khi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nào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</m:e>
                            </m:acc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</m:e>
                            </m:acc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["/>
                        <m:endChr m:val="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d>
                              <m:d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𝒖</m:t>
                                    </m:r>
                                  </m:e>
                                </m:acc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e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d>
                              <m:d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𝒖</m:t>
                                    </m:r>
                                  </m:e>
                                </m:acc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𝟏𝟖</m:t>
                            </m:r>
                            <m:sSup>
                              <m:sSup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e>
                              <m:sup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∘</m:t>
                                </m:r>
                              </m:sup>
                            </m:sSup>
                          </m:e>
                        </m:eqArr>
                      </m:e>
                    </m:d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743200"/>
                <a:ext cx="23698200" cy="9677400"/>
              </a:xfrm>
              <a:prstGeom prst="rect">
                <a:avLst/>
              </a:prstGeom>
              <a:blipFill>
                <a:blip r:embed="rId3"/>
                <a:stretch>
                  <a:fillRect l="-1157" t="-213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686484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6309" y="1981200"/>
                <a:ext cx="14297891" cy="115062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Ví </a:t>
                </a:r>
                <a:r>
                  <a:rPr lang="en-US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dụ</a:t>
                </a: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2. 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vuông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ABCD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cạnh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bằng.Tính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tích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vô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𝑨𝑫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𝑩𝑫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r>
                  <a:rPr lang="en-US" b="1" u="sng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u="sng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.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𝑨𝑫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𝟗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𝑨𝑫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vuông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cạnh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chéo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𝒂</m:t>
                    </m:r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𝑨𝑪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𝑩𝑫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𝟏𝟑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do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𝑨𝑪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func>
                      <m:func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𝒄𝒐𝒔</m:t>
                        </m:r>
                      </m:fName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func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𝒂</m:t>
                    </m:r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rad>
                      </m:num>
                      <m:den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b="1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𝑩𝑫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𝑩𝑫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func>
                      <m:func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𝒄𝒐𝒔</m:t>
                        </m:r>
                      </m:fName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func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endParaRPr lang="en-US" b="1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𝒂</m:t>
                      </m:r>
                      <m:rad>
                        <m:radPr>
                          <m:degHide m:val="on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09" y="1981200"/>
                <a:ext cx="14297891" cy="11506200"/>
              </a:xfrm>
              <a:prstGeom prst="rect">
                <a:avLst/>
              </a:prstGeom>
              <a:blipFill>
                <a:blip r:embed="rId3"/>
                <a:stretch>
                  <a:fillRect l="-1874" t="-179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4782800" y="1981200"/>
            <a:ext cx="9344891" cy="11506199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8A386E-63B8-4A7A-8283-C3B8AE7CDC12}"/>
              </a:ext>
            </a:extLst>
          </p:cNvPr>
          <p:cNvSpPr/>
          <p:nvPr/>
        </p:nvSpPr>
        <p:spPr>
          <a:xfrm>
            <a:off x="17297400" y="3352800"/>
            <a:ext cx="4572000" cy="4572000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E7E1A19-68DE-435E-A869-14A3EF21B861}"/>
              </a:ext>
            </a:extLst>
          </p:cNvPr>
          <p:cNvCxnSpPr>
            <a:cxnSpLocks/>
          </p:cNvCxnSpPr>
          <p:nvPr/>
        </p:nvCxnSpPr>
        <p:spPr>
          <a:xfrm>
            <a:off x="17297400" y="3352800"/>
            <a:ext cx="4572000" cy="457200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18FA8F-7A46-4EEF-86C7-26AF54145239}"/>
              </a:ext>
            </a:extLst>
          </p:cNvPr>
          <p:cNvCxnSpPr>
            <a:cxnSpLocks/>
          </p:cNvCxnSpPr>
          <p:nvPr/>
        </p:nvCxnSpPr>
        <p:spPr>
          <a:xfrm flipH="1">
            <a:off x="17297400" y="3352800"/>
            <a:ext cx="4572000" cy="457200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916C585-6138-46DD-91E4-55ABD0172C8D}"/>
              </a:ext>
            </a:extLst>
          </p:cNvPr>
          <p:cNvSpPr/>
          <p:nvPr/>
        </p:nvSpPr>
        <p:spPr>
          <a:xfrm>
            <a:off x="18073034" y="8229600"/>
            <a:ext cx="2764422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solidFill>
                  <a:schemeClr val="accent2"/>
                </a:solidFill>
              </a:rPr>
              <a:t>Hình 4.43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728CFDF-9C50-4103-9846-1DC046301000}"/>
                  </a:ext>
                </a:extLst>
              </p:cNvPr>
              <p:cNvSpPr/>
              <p:nvPr/>
            </p:nvSpPr>
            <p:spPr>
              <a:xfrm>
                <a:off x="16611600" y="259080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b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728CFDF-9C50-4103-9846-1DC0463010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11600" y="2590800"/>
                <a:ext cx="914400" cy="914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1A5CBB3-67EB-4686-A876-7CBD9E98E2B8}"/>
                  </a:ext>
                </a:extLst>
              </p:cNvPr>
              <p:cNvSpPr/>
              <p:nvPr/>
            </p:nvSpPr>
            <p:spPr>
              <a:xfrm>
                <a:off x="21942040" y="2676144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US" b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1A5CBB3-67EB-4686-A876-7CBD9E98E2B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2040" y="2676144"/>
                <a:ext cx="914400" cy="914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7E42337-BD57-46B5-BB85-277C1E50243E}"/>
                  </a:ext>
                </a:extLst>
              </p:cNvPr>
              <p:cNvSpPr/>
              <p:nvPr/>
            </p:nvSpPr>
            <p:spPr>
              <a:xfrm>
                <a:off x="21869400" y="746760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b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7E42337-BD57-46B5-BB85-277C1E5024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9400" y="7467600"/>
                <a:ext cx="914400" cy="9144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93A3038-3DCE-4CAA-A7F2-984DD0BCCC72}"/>
                  </a:ext>
                </a:extLst>
              </p:cNvPr>
              <p:cNvSpPr/>
              <p:nvPr/>
            </p:nvSpPr>
            <p:spPr>
              <a:xfrm>
                <a:off x="16583890" y="762000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lang="en-US" b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93A3038-3DCE-4CAA-A7F2-984DD0BCCC7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3890" y="7620000"/>
                <a:ext cx="914400" cy="9144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D5078DF-CAC7-46D0-BCDE-C2E4A9D77187}"/>
                  </a:ext>
                </a:extLst>
              </p:cNvPr>
              <p:cNvSpPr txBox="1"/>
              <p:nvPr/>
            </p:nvSpPr>
            <p:spPr>
              <a:xfrm>
                <a:off x="15421962" y="9392356"/>
                <a:ext cx="8066566" cy="2380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21772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Chú ý </a:t>
                </a:r>
              </a:p>
              <a:p>
                <a:pPr marL="0" marR="0" lvl="0" indent="0" algn="l" defTabSz="21772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Hình</a:t>
                </a:r>
                <a:r>
                  <a:rPr kumimoji="0" 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en-US" sz="4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vuông</a:t>
                </a:r>
                <a:r>
                  <a:rPr kumimoji="0" 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en-US" sz="4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có</a:t>
                </a:r>
                <a:r>
                  <a:rPr kumimoji="0" 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en-US" sz="4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cạnh</a:t>
                </a:r>
                <a:r>
                  <a:rPr kumimoji="0" 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en-US" sz="4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bằng</a:t>
                </a:r>
                <a:r>
                  <a:rPr kumimoji="0" 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a </a:t>
                </a:r>
                <a:r>
                  <a:rPr kumimoji="0" lang="en-US" sz="4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nên</a:t>
                </a:r>
                <a:r>
                  <a:rPr kumimoji="0" 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en-US" sz="4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đường</a:t>
                </a:r>
                <a:r>
                  <a:rPr kumimoji="0" 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en-US" sz="4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chéo</a:t>
                </a:r>
                <a:r>
                  <a:rPr kumimoji="0" 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:r>
                  <a:rPr kumimoji="0" lang="en-US" sz="4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là</a:t>
                </a:r>
                <a:r>
                  <a:rPr kumimoji="0" 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sz="4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𝒂</m:t>
                    </m:r>
                    <m:rad>
                      <m:radPr>
                        <m:degHide m:val="on"/>
                        <m:ctrlPr>
                          <a:rPr kumimoji="0" lang="en-US" sz="4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radPr>
                      <m:deg/>
                      <m:e>
                        <m:r>
                          <a:rPr kumimoji="0" lang="en-US" sz="4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𝟐</m:t>
                        </m:r>
                      </m:e>
                    </m:rad>
                  </m:oMath>
                </a14:m>
                <a:endParaRPr kumimoji="0" 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D5078DF-CAC7-46D0-BCDE-C2E4A9D77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1962" y="9392356"/>
                <a:ext cx="8066566" cy="2380203"/>
              </a:xfrm>
              <a:prstGeom prst="rect">
                <a:avLst/>
              </a:prstGeom>
              <a:blipFill>
                <a:blip r:embed="rId9"/>
                <a:stretch>
                  <a:fillRect l="-3477" t="-5641" r="-3250" b="-1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4176682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  <p:bldP spid="2" grpId="0" animBg="1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8709" y="1981200"/>
                <a:ext cx="12621491" cy="112014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Luyện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tập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2. Cho tam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ABC </a:t>
                </a:r>
                <a:r>
                  <a:rPr lang="en-US" b="1" i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𝑩𝑪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𝑪𝑨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𝑨𝑩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</a:p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lí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Cô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sin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tam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ABC ,</a:t>
                </a:r>
              </a:p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suy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ra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𝒄𝒐𝒔𝑨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𝒃𝒄</m:t>
                          </m:r>
                        </m:den>
                      </m:f>
                    </m:oMath>
                  </m:oMathPara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𝑨𝑪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𝒄𝒐𝒔𝑨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func>
                      <m:func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𝒄𝒐𝒔</m:t>
                        </m:r>
                      </m:fName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func>
                  </m:oMath>
                </a14:m>
                <a:endParaRPr lang="en-US" b="1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	  </a:t>
                </a:r>
                <a14:m>
                  <m:oMath xmlns:m="http://schemas.openxmlformats.org/officeDocument/2006/math">
                    <m:r>
                      <a:rPr lang="en-US" sz="5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5200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5200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52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5200" b="1" i="1"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en-US" sz="5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52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52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sz="52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5200" b="1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52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5200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p>
                            <m:r>
                              <a:rPr lang="en-US" sz="52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5200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52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52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sz="52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52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5200" b="1" i="1">
                            <a:latin typeface="Cambria Math" panose="02040503050406030204" pitchFamily="18" charset="0"/>
                          </a:rPr>
                          <m:t>𝒃𝒄</m:t>
                        </m:r>
                      </m:den>
                    </m:f>
                    <m:r>
                      <a:rPr lang="en-US" sz="52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5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52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52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sz="52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5200" b="1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52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5200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p>
                            <m:r>
                              <a:rPr lang="en-US" sz="52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5200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52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52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sz="52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r>
                          <a:rPr lang="en-US" sz="52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52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5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09" y="1981200"/>
                <a:ext cx="12621491" cy="11201400"/>
              </a:xfrm>
              <a:prstGeom prst="rect">
                <a:avLst/>
              </a:prstGeom>
              <a:blipFill>
                <a:blip r:embed="rId3"/>
                <a:stretch>
                  <a:fillRect l="-2123" t="-184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3182600" y="1981200"/>
            <a:ext cx="10335491" cy="11201400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553EBA-EED9-4C8D-A86A-FF458EC46963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4782800" y="2590800"/>
            <a:ext cx="7696200" cy="5562600"/>
          </a:xfrm>
          <a:prstGeom prst="rect">
            <a:avLst/>
          </a:prstGeom>
        </p:spPr>
      </p:pic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1161668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947865"/>
            <a:ext cx="23164800" cy="947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sz="4800" b="1" dirty="0"/>
              <a:t>3. BIỂU THỨC TOẠ ĐỘ VÀ TÍNH CHẤT CỦA TÍCH VÔ HƯỚNG</a:t>
            </a:r>
            <a:endParaRPr lang="en-US" sz="4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000" y="2918637"/>
                <a:ext cx="23622000" cy="103028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4600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HĐ2:  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sz="4600" b="1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sz="4600" b="1" i="1">
                        <a:latin typeface="Cambria Math" panose="02040503050406030204" pitchFamily="18" charset="0"/>
                      </a:rPr>
                      <m:t>=(</m:t>
                    </m:r>
                    <m:func>
                      <m:funcPr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𝒌</m:t>
                        </m:r>
                      </m:fName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func>
                    <m:r>
                      <a:rPr lang="en-US" sz="4600" b="1" i="1">
                        <a:latin typeface="Cambria Math" panose="02040503050406030204" pitchFamily="18" charset="0"/>
                      </a:rPr>
                      <m:t>;</m:t>
                    </m:r>
                    <m:func>
                      <m:funcPr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𝒌</m:t>
                        </m:r>
                      </m:fName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func>
                    <m:r>
                      <a:rPr lang="en-US" sz="46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kiểm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tra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công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thức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sz="4600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sz="4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600" b="1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46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6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sz="46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fName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trường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sz="46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  <m:r>
                      <a:rPr lang="en-US" sz="4600" b="1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46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sz="4600" b="1" i="1">
                        <a:latin typeface="Cambria Math" panose="02040503050406030204" pitchFamily="18" charset="0"/>
                      </a:rPr>
                      <m:t>≠</m:t>
                    </m:r>
                    <m:acc>
                      <m:accPr>
                        <m:chr m:val="⃗"/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600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sz="46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sz="4600" b="1" i="1">
                        <a:latin typeface="Cambria Math" panose="02040503050406030204" pitchFamily="18" charset="0"/>
                      </a:rPr>
                      <m:t>≠</m:t>
                    </m:r>
                    <m:acc>
                      <m:accPr>
                        <m:chr m:val="⃗"/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600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46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sz="4600" b="1" u="sng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sz="4600" b="1" u="sng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Khi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sz="46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  <m:r>
                      <a:rPr lang="en-US" sz="4600" b="1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sz="4600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sz="4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;</m:t>
                    </m:r>
                    <m:func>
                      <m:funcPr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𝒌</m:t>
                        </m:r>
                      </m:fName>
                      <m:e>
                        <m:d>
                          <m:dPr>
                            <m:ctrlPr>
                              <a:rPr lang="en-US" sz="4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46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6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sz="46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46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46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6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sz="46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US" sz="4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công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thức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đã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Khi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sz="4600" b="1" i="1">
                        <a:latin typeface="Cambria Math" panose="02040503050406030204" pitchFamily="18" charset="0"/>
                      </a:rPr>
                      <m:t>≠</m:t>
                    </m:r>
                    <m:acc>
                      <m:accPr>
                        <m:chr m:val="⃗"/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600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công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thức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đã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sẽ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xảy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ra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trường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endParaRPr lang="en-US" sz="46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sz="4600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sz="4600" b="1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;</m:t>
                    </m:r>
                    <m:func>
                      <m:funcPr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𝒌</m:t>
                        </m:r>
                      </m:fName>
                      <m:e>
                        <m:d>
                          <m:dPr>
                            <m:ctrlPr>
                              <a:rPr lang="en-US" sz="4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46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6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sz="46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46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46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6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sz="46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US" sz="46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Khi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sz="4600" b="1" i="1">
                        <a:latin typeface="Cambria Math" panose="02040503050406030204" pitchFamily="18" charset="0"/>
                      </a:rPr>
                      <m:t>≠</m:t>
                    </m:r>
                    <m:acc>
                      <m:accPr>
                        <m:chr m:val="⃗"/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600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công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thức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đã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đúng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sẽ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xảy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ra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trường</a:t>
                </a: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6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endParaRPr lang="en-US" sz="46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sz="4600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sz="4600" b="1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;</m:t>
                    </m:r>
                    <m:func>
                      <m:funcPr>
                        <m:ctrlPr>
                          <a:rPr lang="en-US" sz="46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600" b="1" i="1">
                            <a:latin typeface="Cambria Math" panose="02040503050406030204" pitchFamily="18" charset="0"/>
                          </a:rPr>
                          <m:t>𝒌</m:t>
                        </m:r>
                      </m:fName>
                      <m:e>
                        <m:d>
                          <m:dPr>
                            <m:ctrlPr>
                              <a:rPr lang="en-US" sz="4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46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6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sz="46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46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46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6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sz="46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d>
                      </m:e>
                    </m:func>
                    <m:r>
                      <a:rPr lang="en-US" sz="4600" b="1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46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46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buNone/>
                </a:pPr>
                <a:endParaRPr lang="en-US" sz="46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2918637"/>
                <a:ext cx="23622000" cy="10302876"/>
              </a:xfrm>
              <a:prstGeom prst="rect">
                <a:avLst/>
              </a:prstGeom>
              <a:blipFill>
                <a:blip r:embed="rId3"/>
                <a:stretch>
                  <a:fillRect l="-1083" t="-1950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6664735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1318" y="1973264"/>
                <a:ext cx="15616913" cy="114458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HĐ3: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phẳng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toạ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1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Ox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toạ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𝑶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toạ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toạ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𝑩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𝑨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</m:oMath>
                </a14:m>
                <a:endParaRPr lang="en-US" b="1" i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𝑶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𝑶𝑨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𝑶𝑨</m:t>
                              </m:r>
                            </m:e>
                          </m:acc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acc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18" y="1973264"/>
                <a:ext cx="15616913" cy="11445876"/>
              </a:xfrm>
              <a:prstGeom prst="rect">
                <a:avLst/>
              </a:prstGeom>
              <a:blipFill>
                <a:blip r:embed="rId3"/>
                <a:stretch>
                  <a:fillRect l="-1755" t="-1863" r="-132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6535400" y="1973264"/>
            <a:ext cx="7439891" cy="11209336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6DE7B1-A929-4F41-A1A6-2AA592AB4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0" y="2133599"/>
            <a:ext cx="6938682" cy="76492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0B477F-E5AE-486E-A835-0581936B07FF}"/>
                  </a:ext>
                </a:extLst>
              </p:cNvPr>
              <p:cNvSpPr txBox="1"/>
              <p:nvPr/>
            </p:nvSpPr>
            <p:spPr>
              <a:xfrm>
                <a:off x="2280684" y="11742736"/>
                <a:ext cx="12578316" cy="11494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21772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4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𝑶</m:t>
                      </m:r>
                      <m:sSup>
                        <m:sSupPr>
                          <m:ctrlPr>
                            <a:rPr kumimoji="0" lang="en-US" sz="4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en-US" sz="4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kumimoji="0" lang="en-US" sz="4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kumimoji="0" lang="en-US" sz="4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0" lang="en-US" sz="4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kumimoji="0" lang="en-US" sz="4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kumimoji="0" lang="en-US" sz="48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kumimoji="0" lang="en-US" sz="48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𝑶𝑩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kumimoji="0" lang="en-US" sz="4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kumimoji="0" lang="en-US" sz="4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0" lang="en-US" sz="4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kumimoji="0" lang="en-US" sz="4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0" lang="en-US" sz="4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𝑶𝑩</m:t>
                              </m:r>
                            </m:e>
                          </m:acc>
                        </m:e>
                        <m:sup>
                          <m:r>
                            <a:rPr kumimoji="0" lang="en-US" sz="4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kumimoji="0" lang="en-US" sz="4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0" lang="en-US" sz="4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kumimoji="0" lang="en-US" sz="4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0" lang="en-US" sz="48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acc>
                        </m:e>
                        <m:sup>
                          <m:r>
                            <a:rPr kumimoji="0" lang="en-US" sz="4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kumimoji="0" lang="en-US" sz="4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0" lang="en-US" sz="4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en-US" sz="4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kumimoji="0" lang="en-US" sz="4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kumimoji="0" lang="en-US" sz="4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kumimoji="0" lang="en-US" sz="4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kumimoji="0" lang="en-US" sz="4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0" lang="en-US" sz="4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kumimoji="0" lang="en-US" sz="4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a:rPr kumimoji="0" lang="en-US" sz="48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kumimoji="0" lang="en-US" sz="4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kumimoji="0" 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50B477F-E5AE-486E-A835-0581936B0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0684" y="11742736"/>
                <a:ext cx="12578316" cy="11494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2299683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8600" y="1752600"/>
                <a:ext cx="23850600" cy="117348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4300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HĐ3: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phẳng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toạ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4300" b="1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Ox</m:t>
                    </m:r>
                    <m:r>
                      <a:rPr lang="en-US" sz="4300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3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300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sz="4300" b="1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43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300" b="1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43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43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3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3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sz="4300" b="1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sz="43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3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43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4300" b="1" i="1">
                        <a:latin typeface="Cambria Math" panose="02040503050406030204" pitchFamily="18" charset="0"/>
                      </a:rPr>
                      <m:t>;</m:t>
                    </m:r>
                    <m:sSup>
                      <m:sSupPr>
                        <m:ctrlPr>
                          <a:rPr lang="en-US" sz="43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3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sz="43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43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43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Xác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định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toạ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sao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3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300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  <m:r>
                      <a:rPr lang="en-US" sz="43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3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300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sz="4300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43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300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  <m:r>
                      <a:rPr lang="en-US" sz="43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3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3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sz="43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43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300" b="1" i="1">
                        <a:latin typeface="Cambria Math" panose="02040503050406030204" pitchFamily="18" charset="0"/>
                      </a:rPr>
                      <m:t>𝑨</m:t>
                    </m:r>
                    <m:sSup>
                      <m:sSupPr>
                        <m:ctrlPr>
                          <a:rPr lang="en-US" sz="43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300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sz="43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3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4300" b="1" i="1">
                        <a:latin typeface="Cambria Math" panose="02040503050406030204" pitchFamily="18" charset="0"/>
                      </a:rPr>
                      <m:t>𝑶</m:t>
                    </m:r>
                    <m:sSup>
                      <m:sSupPr>
                        <m:ctrlPr>
                          <a:rPr lang="en-US" sz="43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300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sz="43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3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4300" b="1" i="1">
                        <a:latin typeface="Cambria Math" panose="02040503050406030204" pitchFamily="18" charset="0"/>
                      </a:rPr>
                      <m:t>𝑶</m:t>
                    </m:r>
                    <m:sSup>
                      <m:sSupPr>
                        <m:ctrlPr>
                          <a:rPr lang="en-US" sz="43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300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sz="43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toạ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3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300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  <m:r>
                      <a:rPr lang="en-US" sz="4300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sz="43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300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</m:oMath>
                </a14:m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toạ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300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300" b="1" i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</a:t>
                </a:r>
                <a:r>
                  <a:rPr lang="en-US" sz="43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:endParaRPr lang="en-US" b="1" i="1" dirty="0">
                  <a:latin typeface="Cambria Math" panose="02040503050406030204" pitchFamily="18" charset="0"/>
                </a:endParaRP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Tích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vô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=(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công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⃗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Nhận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xét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•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vuông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nhau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•</m:t>
                    </m:r>
                  </m:oMath>
                </a14:m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Bình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vô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•</m:t>
                    </m:r>
                  </m:oMath>
                </a14:m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Nếu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≠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≠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5200" b="1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cos</m:t>
                    </m:r>
                    <m:d>
                      <m:dPr>
                        <m:ctrlPr>
                          <a:rPr lang="en-US" sz="5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52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5200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  <m:r>
                          <a:rPr lang="en-US" sz="5200" b="1" i="1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sz="52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5200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</m:d>
                    <m:r>
                      <a:rPr lang="en-US" sz="52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5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US" sz="52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5200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  <m:r>
                          <a:rPr lang="en-US" sz="5200" b="1" i="1">
                            <a:latin typeface="Cambria Math" panose="02040503050406030204" pitchFamily="18" charset="0"/>
                          </a:rPr>
                          <m:t>.</m:t>
                        </m:r>
                        <m:acc>
                          <m:accPr>
                            <m:chr m:val="⃗"/>
                            <m:ctrlPr>
                              <a:rPr lang="en-US" sz="52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5200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52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52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5200" b="1" i="1"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</m:e>
                            </m:acc>
                          </m:e>
                        </m:d>
                        <m:r>
                          <a:rPr lang="en-US" sz="5200" b="1" i="1"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52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52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5200" b="1" i="1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</m:d>
                      </m:den>
                    </m:f>
                    <m:r>
                      <a:rPr lang="en-US" sz="52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5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5200" b="1" i="1">
                            <a:latin typeface="Cambria Math" panose="02040503050406030204" pitchFamily="18" charset="0"/>
                          </a:rPr>
                          <m:t>𝒙</m:t>
                        </m:r>
                        <m:sSup>
                          <m:sSupPr>
                            <m:ctrlPr>
                              <a:rPr lang="en-US" sz="52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52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5200" b="1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52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5200" b="1" i="1">
                            <a:latin typeface="Cambria Math" panose="02040503050406030204" pitchFamily="18" charset="0"/>
                          </a:rPr>
                          <m:t>𝒚</m:t>
                        </m:r>
                        <m:sSup>
                          <m:sSupPr>
                            <m:ctrlPr>
                              <a:rPr lang="en-US" sz="52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52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sz="5200" b="1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US" sz="52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52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52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sz="52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52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52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52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sz="52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  <m:r>
                          <a:rPr lang="en-US" sz="5200" b="1" i="1">
                            <a:latin typeface="Cambria Math" panose="02040503050406030204" pitchFamily="18" charset="0"/>
                          </a:rPr>
                          <m:t>.</m:t>
                        </m:r>
                        <m:rad>
                          <m:radPr>
                            <m:degHide m:val="on"/>
                            <m:ctrlPr>
                              <a:rPr lang="en-US" sz="52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52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52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sz="5200" b="1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US" sz="52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52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52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52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p>
                                <m:r>
                                  <a:rPr lang="en-US" sz="5200" b="1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  <m:r>
                                  <a:rPr lang="en-US" sz="52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sz="52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52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1752600"/>
                <a:ext cx="23850600" cy="11734800"/>
              </a:xfrm>
              <a:prstGeom prst="rect">
                <a:avLst/>
              </a:prstGeom>
              <a:blipFill>
                <a:blip r:embed="rId3"/>
                <a:stretch>
                  <a:fillRect l="-1150" t="-1609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E4442B-1F63-40A4-965E-738B3D354CDE}"/>
                  </a:ext>
                </a:extLst>
              </p:cNvPr>
              <p:cNvSpPr txBox="1"/>
              <p:nvPr/>
            </p:nvSpPr>
            <p:spPr>
              <a:xfrm>
                <a:off x="2133600" y="5791200"/>
                <a:ext cx="12801600" cy="8387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21772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3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Ta </a:t>
                </a:r>
                <a:r>
                  <a:rPr kumimoji="0" lang="en-US" sz="43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kumimoji="0" lang="en-US" sz="43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0" lang="en-US" sz="43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43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𝑶𝑨</m:t>
                        </m:r>
                      </m:e>
                    </m:acc>
                    <m:r>
                      <a:rPr kumimoji="0" lang="en-US" sz="43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acc>
                      <m:accPr>
                        <m:chr m:val="⃗"/>
                        <m:ctrlPr>
                          <a:rPr kumimoji="0" lang="en-US" sz="43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43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𝑶𝑩</m:t>
                        </m:r>
                      </m:e>
                    </m:acc>
                    <m:r>
                      <a:rPr kumimoji="0" lang="en-US" sz="43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43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𝒙</m:t>
                    </m:r>
                    <m:r>
                      <a:rPr kumimoji="0" lang="en-US" sz="43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sSup>
                      <m:sSupPr>
                        <m:ctrlPr>
                          <a:rPr kumimoji="0" lang="en-US" sz="43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43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𝒙</m:t>
                        </m:r>
                      </m:e>
                      <m:sup>
                        <m:r>
                          <a:rPr kumimoji="0" lang="en-US" sz="43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′</m:t>
                        </m:r>
                      </m:sup>
                    </m:sSup>
                    <m:r>
                      <a:rPr kumimoji="0" lang="en-US" sz="43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r>
                      <a:rPr kumimoji="0" lang="en-US" sz="43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𝒚</m:t>
                    </m:r>
                    <m:r>
                      <a:rPr kumimoji="0" lang="en-US" sz="43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sSup>
                      <m:sSupPr>
                        <m:ctrlPr>
                          <a:rPr kumimoji="0" lang="en-US" sz="43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sz="43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𝒚</m:t>
                        </m:r>
                      </m:e>
                      <m:sup>
                        <m:r>
                          <a:rPr kumimoji="0" lang="en-US" sz="43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′</m:t>
                        </m:r>
                      </m:sup>
                    </m:sSup>
                    <m:r>
                      <a:rPr kumimoji="0" lang="en-US" sz="43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</m:oMath>
                </a14:m>
                <a:r>
                  <a:rPr kumimoji="0" lang="en-US" sz="43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4E4442B-1F63-40A4-965E-738B3D354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5791200"/>
                <a:ext cx="12801600" cy="838756"/>
              </a:xfrm>
              <a:prstGeom prst="rect">
                <a:avLst/>
              </a:prstGeom>
              <a:blipFill>
                <a:blip r:embed="rId4"/>
                <a:stretch>
                  <a:fillRect l="-1857" t="-5797" b="-318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7401148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4800" y="2057400"/>
                <a:ext cx="23622000" cy="112776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>
                    <a:solidFill>
                      <a:srgbClr val="FF0000"/>
                    </a:solidFill>
                  </a:rPr>
                  <a:t>Ví </a:t>
                </a:r>
                <a:r>
                  <a:rPr lang="en-US" b="1" dirty="0" err="1">
                    <a:solidFill>
                      <a:srgbClr val="FF0000"/>
                    </a:solidFill>
                  </a:rPr>
                  <a:t>dụ</a:t>
                </a:r>
                <a:r>
                  <a:rPr lang="en-US" b="1" dirty="0">
                    <a:solidFill>
                      <a:srgbClr val="FF0000"/>
                    </a:solidFill>
                  </a:rPr>
                  <a:t> 3.  </a:t>
                </a:r>
                <a:r>
                  <a:rPr lang="en-US" b="1" dirty="0" err="1"/>
                  <a:t>Trong</a:t>
                </a:r>
                <a:r>
                  <a:rPr lang="en-US" b="1" dirty="0"/>
                  <a:t> </a:t>
                </a:r>
                <a:r>
                  <a:rPr lang="en-US" b="1" dirty="0" err="1"/>
                  <a:t>mặt</a:t>
                </a:r>
                <a:r>
                  <a:rPr lang="en-US" b="1" dirty="0"/>
                  <a:t> </a:t>
                </a:r>
                <a:r>
                  <a:rPr lang="en-US" b="1" dirty="0" err="1"/>
                  <a:t>phẳng</a:t>
                </a:r>
                <a:r>
                  <a:rPr lang="en-US" b="1" dirty="0"/>
                  <a:t> </a:t>
                </a:r>
                <a:r>
                  <a:rPr lang="en-US" b="1" dirty="0" err="1"/>
                  <a:t>toạ</a:t>
                </a:r>
                <a:r>
                  <a:rPr lang="en-US" b="1" dirty="0"/>
                  <a:t> </a:t>
                </a:r>
                <a:r>
                  <a:rPr lang="en-US" b="1" dirty="0" err="1"/>
                  <a:t>độ</a:t>
                </a:r>
                <a:r>
                  <a:rPr lang="en-US" b="1" dirty="0"/>
                  <a:t> Oxy, </a:t>
                </a:r>
                <a:r>
                  <a:rPr lang="en-US" b="1" dirty="0" err="1"/>
                  <a:t>tính</a:t>
                </a:r>
                <a:r>
                  <a:rPr lang="en-US" b="1" dirty="0"/>
                  <a:t> </a:t>
                </a:r>
                <a:r>
                  <a:rPr lang="en-US" b="1" dirty="0" err="1"/>
                  <a:t>tích</a:t>
                </a:r>
                <a:r>
                  <a:rPr lang="en-US" b="1" dirty="0"/>
                  <a:t> </a:t>
                </a:r>
                <a:r>
                  <a:rPr lang="en-US" b="1" dirty="0" err="1"/>
                  <a:t>vô</a:t>
                </a:r>
                <a:r>
                  <a:rPr lang="en-US" b="1" dirty="0"/>
                  <a:t> </a:t>
                </a:r>
                <a:r>
                  <a:rPr lang="en-US" b="1" dirty="0" err="1"/>
                  <a:t>hướng</a:t>
                </a:r>
                <a:r>
                  <a:rPr lang="en-US" b="1" dirty="0"/>
                  <a:t> </a:t>
                </a:r>
                <a:r>
                  <a:rPr lang="en-US" b="1" dirty="0" err="1"/>
                  <a:t>của</a:t>
                </a:r>
                <a:r>
                  <a:rPr lang="en-US" b="1" dirty="0"/>
                  <a:t> </a:t>
                </a:r>
                <a:r>
                  <a:rPr lang="en-US" b="1" dirty="0" err="1"/>
                  <a:t>các</a:t>
                </a:r>
                <a:r>
                  <a:rPr lang="en-US" b="1" dirty="0"/>
                  <a:t> </a:t>
                </a:r>
                <a:r>
                  <a:rPr lang="en-US" b="1" dirty="0" err="1"/>
                  <a:t>cặp</a:t>
                </a:r>
                <a:r>
                  <a:rPr lang="en-US" b="1" dirty="0"/>
                  <a:t> </a:t>
                </a:r>
                <a:r>
                  <a:rPr lang="en-US" b="1" dirty="0" err="1"/>
                  <a:t>vectơ</a:t>
                </a:r>
                <a:r>
                  <a:rPr lang="en-US" b="1" dirty="0"/>
                  <a:t> </a:t>
                </a:r>
                <a:r>
                  <a:rPr lang="en-US" b="1" dirty="0" err="1"/>
                  <a:t>sau</a:t>
                </a:r>
                <a:r>
                  <a:rPr lang="en-US" b="1" dirty="0"/>
                  <a:t>:</a:t>
                </a:r>
              </a:p>
              <a:p>
                <a:pPr marL="0" indent="0">
                  <a:buNone/>
                </a:pPr>
                <a:r>
                  <a:rPr lang="en-US" b="1" dirty="0"/>
                  <a:t>a)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;−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</m:oMath>
                </a14:m>
                <a:r>
                  <a:rPr lang="en-US" b="1" dirty="0"/>
                  <a:t> </a:t>
                </a:r>
                <a:r>
                  <a:rPr lang="en-US" b="1" dirty="0" err="1"/>
                  <a:t>và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b) Hai </a:t>
                </a:r>
                <a:r>
                  <a:rPr lang="en-US" b="1" dirty="0" err="1"/>
                  <a:t>vec</a:t>
                </a:r>
                <a:r>
                  <a:rPr lang="en-US" b="1" dirty="0"/>
                  <a:t> </a:t>
                </a:r>
                <a:r>
                  <a:rPr lang="en-US" b="1" dirty="0" err="1"/>
                  <a:t>tơ</a:t>
                </a:r>
                <a:r>
                  <a:rPr lang="en-US" b="1" dirty="0"/>
                  <a:t> </a:t>
                </a:r>
                <a:r>
                  <a:rPr lang="en-US" b="1" dirty="0" err="1"/>
                  <a:t>đơn</a:t>
                </a:r>
                <a:r>
                  <a:rPr lang="en-US" b="1" dirty="0"/>
                  <a:t> </a:t>
                </a:r>
                <a:r>
                  <a:rPr lang="en-US" b="1" dirty="0" err="1"/>
                  <a:t>vị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acc>
                  </m:oMath>
                </a14:m>
                <a:r>
                  <a:rPr lang="en-US" b="1" dirty="0"/>
                  <a:t> </a:t>
                </a:r>
                <a:r>
                  <a:rPr lang="en-US" b="1" dirty="0" err="1"/>
                  <a:t>và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</m:acc>
                  </m:oMath>
                </a14:m>
                <a:r>
                  <a:rPr lang="en-US" b="1" dirty="0"/>
                  <a:t> </a:t>
                </a:r>
                <a:r>
                  <a:rPr lang="en-US" b="1" dirty="0" err="1"/>
                  <a:t>tương</a:t>
                </a:r>
                <a:r>
                  <a:rPr lang="en-US" b="1" dirty="0"/>
                  <a:t> </a:t>
                </a:r>
                <a:r>
                  <a:rPr lang="en-US" b="1" dirty="0" err="1"/>
                  <a:t>ứng</a:t>
                </a:r>
                <a:r>
                  <a:rPr lang="en-US" b="1" dirty="0"/>
                  <a:t> </a:t>
                </a:r>
                <a:r>
                  <a:rPr lang="en-US" b="1" dirty="0" err="1"/>
                  <a:t>của</a:t>
                </a:r>
                <a:r>
                  <a:rPr lang="en-US" b="1" dirty="0"/>
                  <a:t> </a:t>
                </a:r>
                <a:r>
                  <a:rPr lang="en-US" b="1" dirty="0" err="1"/>
                  <a:t>các</a:t>
                </a:r>
                <a:r>
                  <a:rPr lang="en-US" b="1" dirty="0"/>
                  <a:t> </a:t>
                </a:r>
                <a:r>
                  <a:rPr lang="en-US" b="1" dirty="0" err="1"/>
                  <a:t>trục</a:t>
                </a:r>
                <a:r>
                  <a:rPr lang="en-US" b="1" dirty="0"/>
                  <a:t> </a:t>
                </a:r>
                <a:r>
                  <a:rPr lang="en-US" b="1" i="1" dirty="0"/>
                  <a:t>Ox</a:t>
                </a:r>
                <a:r>
                  <a:rPr lang="en-US" b="1" dirty="0"/>
                  <a:t>, </a:t>
                </a:r>
                <a:r>
                  <a:rPr lang="en-US" b="1" i="1" dirty="0"/>
                  <a:t>Oy</a:t>
                </a:r>
                <a:r>
                  <a:rPr lang="en-US" b="1" dirty="0"/>
                  <a:t>.  </a:t>
                </a:r>
              </a:p>
              <a:p>
                <a:r>
                  <a:rPr lang="en-US" b="1" dirty="0" err="1">
                    <a:solidFill>
                      <a:srgbClr val="FF0000"/>
                    </a:solidFill>
                  </a:rPr>
                  <a:t>Giải</a:t>
                </a:r>
                <a:endParaRPr lang="en-US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/>
                  <a:t>a) Ta </a:t>
                </a:r>
                <a:r>
                  <a:rPr lang="en-US" b="1" dirty="0" err="1"/>
                  <a:t>có</a:t>
                </a:r>
                <a:r>
                  <a:rPr lang="en-US" b="1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+(−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𝟗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/>
              </a:p>
              <a:p>
                <a:pPr marL="0" indent="0">
                  <a:buNone/>
                </a:pPr>
                <a:r>
                  <a:rPr lang="en-US" b="1" dirty="0"/>
                  <a:t>b) </a:t>
                </a:r>
                <a:r>
                  <a:rPr lang="en-US" b="1" dirty="0" err="1"/>
                  <a:t>Vì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 err="1"/>
                  <a:t>và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 err="1"/>
                  <a:t>nên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𝒋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/>
              </a:p>
              <a:p>
                <a:r>
                  <a:rPr lang="en-US" b="1" dirty="0" err="1">
                    <a:solidFill>
                      <a:srgbClr val="FF0000"/>
                    </a:solidFill>
                  </a:rPr>
                  <a:t>Luyện</a:t>
                </a:r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</a:rPr>
                  <a:t>tập</a:t>
                </a:r>
                <a:r>
                  <a:rPr lang="en-US" b="1" dirty="0">
                    <a:solidFill>
                      <a:srgbClr val="FF0000"/>
                    </a:solidFill>
                  </a:rPr>
                  <a:t> 3. </a:t>
                </a:r>
                <a:r>
                  <a:rPr lang="en-US" b="1" dirty="0" err="1"/>
                  <a:t>Tính</a:t>
                </a:r>
                <a:r>
                  <a:rPr lang="en-US" b="1" dirty="0"/>
                  <a:t> </a:t>
                </a:r>
                <a:r>
                  <a:rPr lang="en-US" b="1" dirty="0" err="1"/>
                  <a:t>tích</a:t>
                </a:r>
                <a:r>
                  <a:rPr lang="en-US" b="1" dirty="0"/>
                  <a:t> </a:t>
                </a:r>
                <a:r>
                  <a:rPr lang="en-US" b="1" dirty="0" err="1"/>
                  <a:t>vô</a:t>
                </a:r>
                <a:r>
                  <a:rPr lang="en-US" b="1" dirty="0"/>
                  <a:t> </a:t>
                </a:r>
                <a:r>
                  <a:rPr lang="en-US" b="1" dirty="0" err="1"/>
                  <a:t>hướng</a:t>
                </a:r>
                <a:r>
                  <a:rPr lang="en-US" b="1" dirty="0"/>
                  <a:t> </a:t>
                </a:r>
                <a:r>
                  <a:rPr lang="en-US" b="1" dirty="0" err="1"/>
                  <a:t>và</a:t>
                </a:r>
                <a:r>
                  <a:rPr lang="en-US" b="1" dirty="0"/>
                  <a:t> </a:t>
                </a:r>
                <a:r>
                  <a:rPr lang="en-US" b="1" dirty="0" err="1"/>
                  <a:t>góc</a:t>
                </a:r>
                <a:r>
                  <a:rPr lang="en-US" b="1" dirty="0"/>
                  <a:t> </a:t>
                </a:r>
                <a:r>
                  <a:rPr lang="en-US" b="1" dirty="0" err="1"/>
                  <a:t>giữa</a:t>
                </a:r>
                <a:r>
                  <a:rPr lang="en-US" b="1" dirty="0"/>
                  <a:t> </a:t>
                </a:r>
                <a:r>
                  <a:rPr lang="en-US" b="1" dirty="0" err="1"/>
                  <a:t>hai</a:t>
                </a:r>
                <a:r>
                  <a:rPr lang="en-US" b="1" dirty="0"/>
                  <a:t> </a:t>
                </a:r>
                <a:r>
                  <a:rPr lang="en-US" b="1" dirty="0" err="1"/>
                  <a:t>vec</a:t>
                </a:r>
                <a:r>
                  <a:rPr lang="en-US" b="1" dirty="0"/>
                  <a:t> </a:t>
                </a:r>
                <a:r>
                  <a:rPr lang="en-US" b="1" dirty="0" err="1"/>
                  <a:t>tơ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;−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),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en-US" b="1" dirty="0"/>
              </a:p>
              <a:p>
                <a:r>
                  <a:rPr lang="en-US" b="1" dirty="0" err="1">
                    <a:solidFill>
                      <a:srgbClr val="FF0000"/>
                    </a:solidFill>
                  </a:rPr>
                  <a:t>Giải</a:t>
                </a:r>
                <a:r>
                  <a:rPr lang="en-US" b="1" dirty="0">
                    <a:solidFill>
                      <a:srgbClr val="FF0000"/>
                    </a:solidFill>
                  </a:rPr>
                  <a:t>:</a:t>
                </a:r>
                <a:endParaRPr lang="en-US" b="1" dirty="0"/>
              </a:p>
              <a:p>
                <a:pPr marL="0" indent="0">
                  <a:buNone/>
                </a:pPr>
                <a:endParaRPr lang="en-US" b="1" i="1" dirty="0"/>
              </a:p>
              <a:p>
                <a:pPr marL="0" indent="0"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057400"/>
                <a:ext cx="23622000" cy="11277600"/>
              </a:xfrm>
              <a:prstGeom prst="rect">
                <a:avLst/>
              </a:prstGeom>
              <a:blipFill>
                <a:blip r:embed="rId3"/>
                <a:stretch>
                  <a:fillRect l="-1135" t="-178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C745D50-13E3-4312-9540-F8FEA137280C}"/>
              </a:ext>
            </a:extLst>
          </p:cNvPr>
          <p:cNvSpPr txBox="1"/>
          <p:nvPr/>
        </p:nvSpPr>
        <p:spPr>
          <a:xfrm>
            <a:off x="2286000" y="8534400"/>
            <a:ext cx="360266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 </a:t>
            </a:r>
            <a:r>
              <a:rPr kumimoji="0" lang="en-US" sz="43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có</a:t>
            </a:r>
            <a:r>
              <a:rPr kumimoji="0" lang="en-US" sz="4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49C8D4-445A-4A76-8053-AD61F8F37622}"/>
                  </a:ext>
                </a:extLst>
              </p:cNvPr>
              <p:cNvSpPr txBox="1"/>
              <p:nvPr/>
            </p:nvSpPr>
            <p:spPr>
              <a:xfrm>
                <a:off x="685800" y="9297313"/>
                <a:ext cx="6400800" cy="2090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2177278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3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*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0" lang="en-US" sz="43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43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𝒖</m:t>
                        </m:r>
                      </m:e>
                    </m:acc>
                    <m:r>
                      <a:rPr kumimoji="0" lang="en-US" sz="43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acc>
                      <m:accPr>
                        <m:chr m:val="⃗"/>
                        <m:ctrlPr>
                          <a:rPr kumimoji="0" lang="en-US" sz="43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43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𝒗</m:t>
                        </m:r>
                      </m:e>
                    </m:acc>
                    <m:r>
                      <a:rPr kumimoji="0" lang="en-US" sz="43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43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𝟎</m:t>
                    </m:r>
                    <m:r>
                      <a:rPr kumimoji="0" lang="en-US" sz="43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ad>
                      <m:radPr>
                        <m:degHide m:val="on"/>
                        <m:ctrlPr>
                          <a:rPr kumimoji="0" lang="en-US" sz="43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radPr>
                      <m:deg/>
                      <m:e>
                        <m:r>
                          <a:rPr kumimoji="0" lang="en-US" sz="43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𝟑</m:t>
                        </m:r>
                      </m:e>
                    </m:rad>
                    <m:r>
                      <a:rPr kumimoji="0" lang="en-US" sz="43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d>
                      <m:dPr>
                        <m:ctrlPr>
                          <a:rPr kumimoji="0" lang="en-US" sz="43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kumimoji="0" lang="en-US" sz="43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−</m:t>
                        </m:r>
                        <m:r>
                          <a:rPr kumimoji="0" lang="en-US" sz="43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𝟓</m:t>
                        </m:r>
                      </m:e>
                    </m:d>
                    <m:r>
                      <a:rPr kumimoji="0" lang="en-US" sz="43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  <m:r>
                      <a:rPr kumimoji="0" lang="en-US" sz="43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𝟏</m:t>
                    </m:r>
                  </m:oMath>
                </a14:m>
                <a:endParaRPr kumimoji="0" lang="en-US" sz="43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2177278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3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       </a:t>
                </a:r>
                <a14:m>
                  <m:oMath xmlns:m="http://schemas.openxmlformats.org/officeDocument/2006/math">
                    <m:r>
                      <a:rPr kumimoji="0" lang="en-US" sz="43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r>
                      <a:rPr kumimoji="0" lang="en-US" sz="43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𝟎</m:t>
                    </m:r>
                    <m:r>
                      <a:rPr kumimoji="0" lang="en-US" sz="43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−</m:t>
                    </m:r>
                    <m:r>
                      <a:rPr kumimoji="0" lang="en-US" sz="43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𝟓</m:t>
                    </m:r>
                    <m:r>
                      <a:rPr kumimoji="0" lang="en-US" sz="43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=−</m:t>
                    </m:r>
                    <m:r>
                      <a:rPr kumimoji="0" lang="en-US" sz="43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𝟓</m:t>
                    </m:r>
                    <m:r>
                      <a:rPr kumimoji="0" lang="en-US" sz="43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.</m:t>
                    </m:r>
                  </m:oMath>
                </a14:m>
                <a:endParaRPr kumimoji="0" lang="en-US" sz="43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49C8D4-445A-4A76-8053-AD61F8F37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9297313"/>
                <a:ext cx="6400800" cy="2090124"/>
              </a:xfrm>
              <a:prstGeom prst="rect">
                <a:avLst/>
              </a:prstGeom>
              <a:blipFill>
                <a:blip r:embed="rId4"/>
                <a:stretch>
                  <a:fillRect l="-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A4BDDF-DCBF-4485-BCE5-E72F7D6862B8}"/>
                  </a:ext>
                </a:extLst>
              </p:cNvPr>
              <p:cNvSpPr txBox="1"/>
              <p:nvPr/>
            </p:nvSpPr>
            <p:spPr>
              <a:xfrm>
                <a:off x="12192000" y="8153400"/>
                <a:ext cx="8458200" cy="5096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2177278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43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43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43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43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𝟓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0" lang="en-US" sz="43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0" lang="en-US" sz="43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43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𝟎</m:t>
                                  </m:r>
                                </m:e>
                                <m:sup>
                                  <m:r>
                                    <a:rPr kumimoji="0" lang="en-US" sz="43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kumimoji="0" lang="en-US" sz="43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+(−</m:t>
                              </m:r>
                              <m:r>
                                <a:rPr kumimoji="0" lang="en-US" sz="43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𝟓</m:t>
                              </m:r>
                              <m:sSup>
                                <m:sSupPr>
                                  <m:ctrlPr>
                                    <a:rPr kumimoji="0" lang="en-US" sz="43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43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kumimoji="0" lang="en-US" sz="43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  <m:r>
                            <a:rPr kumimoji="0" lang="en-US" sz="43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.</m:t>
                          </m:r>
                          <m:rad>
                            <m:radPr>
                              <m:degHide m:val="on"/>
                              <m:ctrlPr>
                                <a:rPr kumimoji="0" lang="en-US" sz="43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0" lang="en-US" sz="43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(</m:t>
                              </m:r>
                              <m:rad>
                                <m:radPr>
                                  <m:degHide m:val="on"/>
                                  <m:ctrlPr>
                                    <a:rPr kumimoji="0" lang="en-US" sz="43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0" lang="en-US" sz="43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𝟑</m:t>
                                  </m:r>
                                </m:e>
                              </m:rad>
                              <m:sSup>
                                <m:sSupPr>
                                  <m:ctrlPr>
                                    <a:rPr kumimoji="0" lang="en-US" sz="43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43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kumimoji="0" lang="en-US" sz="43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kumimoji="0" lang="en-US" sz="43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0" lang="en-US" sz="43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sz="43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𝟏</m:t>
                                  </m:r>
                                </m:e>
                                <m:sup>
                                  <m:r>
                                    <a:rPr kumimoji="0" lang="en-US" sz="43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kumimoji="0" lang="en-US" sz="43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  <a:p>
                <a:pPr marL="0" marR="0" lvl="0" indent="0" algn="l" defTabSz="2177278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43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sz="43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43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kumimoji="0" lang="en-US" sz="43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𝟓</m:t>
                          </m:r>
                        </m:num>
                        <m:den>
                          <m:r>
                            <a:rPr kumimoji="0" lang="en-US" sz="43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𝟏𝟎</m:t>
                          </m:r>
                        </m:den>
                      </m:f>
                      <m:r>
                        <a:rPr kumimoji="0" lang="en-US" sz="43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</m:t>
                      </m:r>
                      <m:f>
                        <m:fPr>
                          <m:ctrlPr>
                            <a:rPr kumimoji="0" lang="en-US" sz="43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US" sz="43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US" sz="43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kumimoji="0" lang="en-US" sz="43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A4BDDF-DCBF-4485-BCE5-E72F7D686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8153400"/>
                <a:ext cx="8458200" cy="50965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875907-9DA4-4384-851C-1DC2F87A7453}"/>
                  </a:ext>
                </a:extLst>
              </p:cNvPr>
              <p:cNvSpPr txBox="1"/>
              <p:nvPr/>
            </p:nvSpPr>
            <p:spPr>
              <a:xfrm>
                <a:off x="664536" y="11778719"/>
                <a:ext cx="6041065" cy="12895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sz="4800" b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</a:rPr>
                  <a:t>*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0" lang="en-US" sz="4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</a:rPr>
                      <m:t>cos</m:t>
                    </m:r>
                    <m:d>
                      <m:dPr>
                        <m:ctrlPr>
                          <a:rPr kumimoji="0" lang="en-US" sz="4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kumimoji="0" lang="en-US" sz="4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0" lang="en-US" sz="4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  <m:r>
                          <a:rPr kumimoji="0" lang="en-US" sz="4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kumimoji="0" lang="en-US" sz="4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0" lang="en-US" sz="4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</m:d>
                    <m:r>
                      <a:rPr kumimoji="0" lang="en-US" sz="4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0" lang="en-US" sz="4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kumimoji="0" lang="en-US" sz="4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0" lang="en-US" sz="4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  <m:r>
                          <a:rPr kumimoji="0" lang="en-US" sz="4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acc>
                          <m:accPr>
                            <m:chr m:val="⃗"/>
                            <m:ctrlPr>
                              <a:rPr kumimoji="0" lang="en-US" sz="4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0" lang="en-US" sz="4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kumimoji="0" lang="en-US" sz="4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kumimoji="0" lang="en-US" sz="4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0" lang="en-US" sz="4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</m:e>
                            </m:acc>
                          </m:e>
                        </m:d>
                        <m:r>
                          <a:rPr kumimoji="0" lang="en-US" sz="4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begChr m:val="|"/>
                            <m:endChr m:val="|"/>
                            <m:ctrlPr>
                              <a:rPr kumimoji="0" lang="en-US" sz="4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kumimoji="0" lang="en-US" sz="4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kumimoji="0" lang="en-US" sz="4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</m:d>
                      </m:den>
                    </m:f>
                  </m:oMath>
                </a14:m>
                <a:endParaRPr lang="en-US" sz="4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4875907-9DA4-4384-851C-1DC2F87A7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536" y="11778719"/>
                <a:ext cx="6041065" cy="1289584"/>
              </a:xfrm>
              <a:prstGeom prst="rect">
                <a:avLst/>
              </a:prstGeom>
              <a:blipFill>
                <a:blip r:embed="rId6"/>
                <a:stretch>
                  <a:fillRect l="-4541" b="-7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2213CCD-D8A7-4A82-9C1E-A006C26D6BD5}"/>
                  </a:ext>
                </a:extLst>
              </p:cNvPr>
              <p:cNvSpPr txBox="1"/>
              <p:nvPr/>
            </p:nvSpPr>
            <p:spPr>
              <a:xfrm>
                <a:off x="15953268" y="11808845"/>
                <a:ext cx="5279065" cy="10849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2177278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43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⇒</m:t>
                      </m:r>
                      <m:d>
                        <m:dPr>
                          <m:ctrlPr>
                            <a:rPr kumimoji="0" lang="en-US" sz="43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kumimoji="0" lang="en-US" sz="43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sz="43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𝒖</m:t>
                              </m:r>
                            </m:e>
                          </m:acc>
                          <m:r>
                            <a:rPr kumimoji="0" lang="en-US" sz="43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kumimoji="0" lang="en-US" sz="43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accPr>
                            <m:e>
                              <m:r>
                                <a:rPr kumimoji="0" lang="en-US" sz="43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𝒗</m:t>
                              </m:r>
                            </m:e>
                          </m:acc>
                        </m:e>
                      </m:d>
                      <m:r>
                        <a:rPr kumimoji="0" lang="en-US" sz="43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43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𝟏𝟐</m:t>
                      </m:r>
                      <m:sSup>
                        <m:sSupPr>
                          <m:ctrlPr>
                            <a:rPr kumimoji="0" lang="en-US" sz="43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43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𝟎</m:t>
                          </m:r>
                        </m:e>
                        <m:sup>
                          <m:r>
                            <a:rPr kumimoji="0" lang="en-US" sz="43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∘</m:t>
                          </m:r>
                        </m:sup>
                      </m:sSup>
                      <m:r>
                        <a:rPr kumimoji="0" lang="en-US" sz="43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.</m:t>
                      </m:r>
                    </m:oMath>
                  </m:oMathPara>
                </a14:m>
                <a:endParaRPr kumimoji="0" lang="en-US" sz="4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2213CCD-D8A7-4A82-9C1E-A006C26D6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3268" y="11808845"/>
                <a:ext cx="5279065" cy="10849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7B6A352-B5D7-4A28-8B22-66498FE1DF35}"/>
              </a:ext>
            </a:extLst>
          </p:cNvPr>
          <p:cNvCxnSpPr/>
          <p:nvPr/>
        </p:nvCxnSpPr>
        <p:spPr>
          <a:xfrm>
            <a:off x="10515600" y="8534400"/>
            <a:ext cx="0" cy="480060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2100174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4" grpId="0"/>
      <p:bldP spid="10" grpId="0"/>
      <p:bldP spid="1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4800" y="1905000"/>
                <a:ext cx="23698200" cy="1143000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HĐ4:  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),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.(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),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toạ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So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sánh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.(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So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sánh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b="1" dirty="0" err="1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>
                    <a:solidFill>
                      <a:srgbClr val="FF0000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914400" indent="-914400">
                  <a:buAutoNum type="alphaLcParenR"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Suy ra: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.(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  <m:r>
                      <m:rPr>
                        <m:nor/>
                      </m:rPr>
                      <a:rPr lang="en-US" b="1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 = 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1" dirty="0"/>
                  <a:t>			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b>
                        </m:sSub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Suy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ra: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.(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)=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m:rPr>
                        <m:nor/>
                      </m:rPr>
                      <a:rPr lang="en-US" b="1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 = 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m:rPr>
                        <m:nor/>
                      </m:rPr>
                      <a:rPr lang="en-US" b="1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 = 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0" indent="0">
                  <a:buNone/>
                </a:pP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Suy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ra: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905000"/>
                <a:ext cx="23698200" cy="11430000"/>
              </a:xfrm>
              <a:prstGeom prst="rect">
                <a:avLst/>
              </a:prstGeom>
              <a:blipFill>
                <a:blip r:embed="rId3"/>
                <a:stretch>
                  <a:fillRect l="-1157" t="-186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1014533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itle 1">
            <a:extLst>
              <a:ext uri="{FF2B5EF4-FFF2-40B4-BE49-F238E27FC236}">
                <a16:creationId xmlns:a16="http://schemas.microsoft.com/office/drawing/2014/main" id="{D87ADF89-46F9-4713-9744-A644701231B8}"/>
              </a:ext>
            </a:extLst>
          </p:cNvPr>
          <p:cNvSpPr txBox="1">
            <a:spLocks/>
          </p:cNvSpPr>
          <p:nvPr/>
        </p:nvSpPr>
        <p:spPr>
          <a:xfrm>
            <a:off x="838200" y="1879601"/>
            <a:ext cx="23164800" cy="1244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Tomaho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00FF"/>
                </a:solidFill>
              </a:rPr>
              <a:t>3. </a:t>
            </a:r>
            <a:r>
              <a:rPr lang="en-US" b="1" dirty="0" err="1">
                <a:solidFill>
                  <a:srgbClr val="0000FF"/>
                </a:solidFill>
              </a:rPr>
              <a:t>Tính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chất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của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tích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vô</a:t>
            </a:r>
            <a:r>
              <a:rPr lang="en-US" b="1" dirty="0">
                <a:solidFill>
                  <a:srgbClr val="0000FF"/>
                </a:solidFill>
              </a:rPr>
              <a:t> </a:t>
            </a:r>
            <a:r>
              <a:rPr lang="en-US" b="1" dirty="0" err="1">
                <a:solidFill>
                  <a:srgbClr val="0000FF"/>
                </a:solidFill>
              </a:rPr>
              <a:t>hướng</a:t>
            </a:r>
            <a:endParaRPr lang="en-US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8709" y="3276600"/>
                <a:ext cx="11935691" cy="102266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 err="1"/>
                  <a:t>Với</a:t>
                </a:r>
                <a:r>
                  <a:rPr lang="en-US" b="1" dirty="0"/>
                  <a:t> </a:t>
                </a:r>
                <a:r>
                  <a:rPr lang="en-US" b="1" dirty="0" err="1"/>
                  <a:t>ba</a:t>
                </a:r>
                <a:r>
                  <a:rPr lang="en-US" b="1" dirty="0"/>
                  <a:t> </a:t>
                </a:r>
                <a:r>
                  <a:rPr lang="en-US" b="1" dirty="0" err="1"/>
                  <a:t>vectơ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</m:oMath>
                </a14:m>
                <a:r>
                  <a:rPr lang="en-US" b="1" dirty="0"/>
                  <a:t> </a:t>
                </a:r>
                <a:r>
                  <a:rPr lang="en-US" b="1" dirty="0" err="1"/>
                  <a:t>bất</a:t>
                </a:r>
                <a:r>
                  <a:rPr lang="en-US" b="1" dirty="0"/>
                  <a:t> </a:t>
                </a:r>
                <a:r>
                  <a:rPr lang="en-US" b="1" dirty="0" err="1"/>
                  <a:t>kì</a:t>
                </a:r>
                <a:r>
                  <a:rPr lang="en-US" b="1" dirty="0"/>
                  <a:t> </a:t>
                </a:r>
                <a:r>
                  <a:rPr lang="en-US" b="1" dirty="0" err="1"/>
                  <a:t>và</a:t>
                </a:r>
                <a:r>
                  <a:rPr lang="en-US" b="1" dirty="0"/>
                  <a:t> </a:t>
                </a:r>
                <a:r>
                  <a:rPr lang="en-US" b="1" dirty="0" err="1"/>
                  <a:t>mọi</a:t>
                </a:r>
                <a:r>
                  <a:rPr lang="en-US" b="1" dirty="0"/>
                  <a:t> </a:t>
                </a:r>
                <a:r>
                  <a:rPr lang="en-US" b="1" dirty="0" err="1"/>
                  <a:t>số</a:t>
                </a:r>
                <a:r>
                  <a:rPr lang="en-US" b="1" dirty="0"/>
                  <a:t> </a:t>
                </a:r>
                <a:r>
                  <a:rPr lang="en-US" b="1" dirty="0" err="1"/>
                  <a:t>thực</a:t>
                </a:r>
                <a:r>
                  <a:rPr lang="en-US" b="1" dirty="0"/>
                  <a:t> k, ta </a:t>
                </a:r>
                <a:r>
                  <a:rPr lang="en-US" b="1" dirty="0" err="1"/>
                  <a:t>có</a:t>
                </a:r>
                <a:r>
                  <a:rPr lang="en-US" b="1" dirty="0"/>
                  <a:t>:</a:t>
                </a:r>
              </a:p>
              <a:p>
                <a:pPr lvl="0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b="1" dirty="0"/>
                  <a:t> </a:t>
                </a:r>
                <a:r>
                  <a:rPr lang="en-US" b="1" dirty="0" smtClean="0"/>
                  <a:t>   (</a:t>
                </a:r>
                <a:r>
                  <a:rPr lang="en-US" b="1" dirty="0" err="1"/>
                  <a:t>tính</a:t>
                </a:r>
                <a:r>
                  <a:rPr lang="en-US" b="1" dirty="0"/>
                  <a:t> </a:t>
                </a:r>
                <a:r>
                  <a:rPr lang="en-US" b="1" dirty="0" err="1"/>
                  <a:t>chất</a:t>
                </a:r>
                <a:r>
                  <a:rPr lang="en-US" b="1" dirty="0"/>
                  <a:t> </a:t>
                </a:r>
                <a:r>
                  <a:rPr lang="en-US" b="1" dirty="0" err="1"/>
                  <a:t>giao</a:t>
                </a:r>
                <a:r>
                  <a:rPr lang="en-US" b="1" dirty="0"/>
                  <a:t> </a:t>
                </a:r>
                <a:r>
                  <a:rPr lang="en-US" b="1" dirty="0" err="1"/>
                  <a:t>hoán</a:t>
                </a:r>
                <a:r>
                  <a:rPr lang="en-US" b="1" dirty="0"/>
                  <a:t>);</a:t>
                </a:r>
              </a:p>
              <a:p>
                <a:pPr lvl="0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</m:oMath>
                </a14:m>
                <a:r>
                  <a:rPr lang="en-US" b="1" dirty="0"/>
                  <a:t>     (</a:t>
                </a:r>
                <a:r>
                  <a:rPr lang="en-US" b="1" dirty="0" err="1"/>
                  <a:t>tính</a:t>
                </a:r>
                <a:r>
                  <a:rPr lang="en-US" b="1" dirty="0"/>
                  <a:t> </a:t>
                </a:r>
                <a:r>
                  <a:rPr lang="en-US" b="1" dirty="0" err="1"/>
                  <a:t>chất</a:t>
                </a:r>
                <a:r>
                  <a:rPr lang="en-US" b="1" dirty="0"/>
                  <a:t> </a:t>
                </a:r>
                <a:r>
                  <a:rPr lang="en-US" b="1" dirty="0" err="1"/>
                  <a:t>phân</a:t>
                </a:r>
                <a:r>
                  <a:rPr lang="en-US" b="1" dirty="0"/>
                  <a:t> </a:t>
                </a:r>
                <a:r>
                  <a:rPr lang="en-US" b="1" dirty="0" err="1"/>
                  <a:t>phối</a:t>
                </a:r>
                <a:r>
                  <a:rPr lang="en-US" b="1" dirty="0"/>
                  <a:t> </a:t>
                </a:r>
                <a:r>
                  <a:rPr lang="en-US" b="1" dirty="0" err="1"/>
                  <a:t>đối</a:t>
                </a:r>
                <a:r>
                  <a:rPr lang="en-US" b="1" dirty="0"/>
                  <a:t> </a:t>
                </a:r>
                <a:r>
                  <a:rPr lang="en-US" b="1" dirty="0" err="1"/>
                  <a:t>với</a:t>
                </a:r>
                <a:r>
                  <a:rPr lang="en-US" b="1" dirty="0"/>
                  <a:t> </a:t>
                </a:r>
                <a:r>
                  <a:rPr lang="en-US" b="1" dirty="0" err="1"/>
                  <a:t>phép</a:t>
                </a:r>
                <a:r>
                  <a:rPr lang="en-US" b="1" dirty="0"/>
                  <a:t> </a:t>
                </a:r>
                <a:r>
                  <a:rPr lang="en-US" b="1" dirty="0" err="1"/>
                  <a:t>cộng</a:t>
                </a:r>
                <a:r>
                  <a:rPr lang="en-US" b="1" dirty="0"/>
                  <a:t>);</a:t>
                </a:r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𝒌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.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𝒌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09" y="3276600"/>
                <a:ext cx="11935691" cy="10226676"/>
              </a:xfrm>
              <a:prstGeom prst="rect">
                <a:avLst/>
              </a:prstGeom>
              <a:blipFill>
                <a:blip r:embed="rId3"/>
                <a:stretch>
                  <a:fillRect l="-2041" t="-2085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44400" y="3276600"/>
                <a:ext cx="11630891" cy="10142540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b="1" dirty="0" err="1">
                    <a:solidFill>
                      <a:srgbClr val="FF0000"/>
                    </a:solidFill>
                  </a:rPr>
                  <a:t>Chú</a:t>
                </a:r>
                <a:r>
                  <a:rPr lang="en-US" b="1" dirty="0">
                    <a:solidFill>
                      <a:srgbClr val="FF0000"/>
                    </a:solidFill>
                  </a:rPr>
                  <a:t> ý: </a:t>
                </a:r>
                <a:r>
                  <a:rPr lang="en-US" b="1" dirty="0" err="1"/>
                  <a:t>Từ</a:t>
                </a:r>
                <a:r>
                  <a:rPr lang="en-US" b="1" dirty="0"/>
                  <a:t> </a:t>
                </a:r>
                <a:r>
                  <a:rPr lang="en-US" b="1" dirty="0" err="1"/>
                  <a:t>các</a:t>
                </a:r>
                <a:r>
                  <a:rPr lang="en-US" b="1" dirty="0"/>
                  <a:t> </a:t>
                </a:r>
                <a:r>
                  <a:rPr lang="en-US" b="1" dirty="0" err="1"/>
                  <a:t>tính</a:t>
                </a:r>
                <a:r>
                  <a:rPr lang="en-US" b="1" dirty="0"/>
                  <a:t> </a:t>
                </a:r>
                <a:r>
                  <a:rPr lang="en-US" b="1" dirty="0" err="1"/>
                  <a:t>chất</a:t>
                </a:r>
                <a:r>
                  <a:rPr lang="en-US" b="1" dirty="0"/>
                  <a:t> </a:t>
                </a:r>
                <a:r>
                  <a:rPr lang="en-US" b="1" dirty="0" err="1"/>
                  <a:t>trên</a:t>
                </a:r>
                <a:r>
                  <a:rPr lang="en-US" b="1" dirty="0"/>
                  <a:t>, ta </a:t>
                </a:r>
                <a:r>
                  <a:rPr lang="en-US" b="1" dirty="0" err="1"/>
                  <a:t>có</a:t>
                </a:r>
                <a:r>
                  <a:rPr lang="en-US" b="1" dirty="0"/>
                  <a:t> </a:t>
                </a:r>
                <a:r>
                  <a:rPr lang="en-US" b="1" dirty="0" err="1"/>
                  <a:t>thể</a:t>
                </a:r>
                <a:r>
                  <a:rPr lang="en-US" b="1" dirty="0"/>
                  <a:t> </a:t>
                </a:r>
                <a:r>
                  <a:rPr lang="en-US" b="1" dirty="0" err="1"/>
                  <a:t>chứng</a:t>
                </a:r>
                <a:r>
                  <a:rPr lang="en-US" b="1" dirty="0"/>
                  <a:t> minh </a:t>
                </a:r>
                <a:r>
                  <a:rPr lang="en-US" b="1" dirty="0" err="1"/>
                  <a:t>được</a:t>
                </a:r>
                <a:r>
                  <a:rPr lang="en-US" b="1" dirty="0"/>
                  <a:t>:</a:t>
                </a:r>
                <a:endParaRPr lang="en-US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</m:acc>
                  </m:oMath>
                </a14:m>
                <a:r>
                  <a:rPr lang="en-US" b="1" dirty="0"/>
                  <a:t>  (</a:t>
                </a:r>
                <a:r>
                  <a:rPr lang="en-US" b="1" dirty="0" err="1"/>
                  <a:t>tính</a:t>
                </a:r>
                <a:r>
                  <a:rPr lang="en-US" b="1" dirty="0"/>
                  <a:t> </a:t>
                </a:r>
                <a:r>
                  <a:rPr lang="en-US" b="1" dirty="0" err="1"/>
                  <a:t>chất</a:t>
                </a:r>
                <a:r>
                  <a:rPr lang="en-US" b="1" dirty="0"/>
                  <a:t> </a:t>
                </a:r>
                <a:r>
                  <a:rPr lang="en-US" b="1" dirty="0" err="1"/>
                  <a:t>phân</a:t>
                </a:r>
                <a:r>
                  <a:rPr lang="en-US" b="1" dirty="0"/>
                  <a:t> </a:t>
                </a:r>
                <a:r>
                  <a:rPr lang="en-US" b="1" dirty="0" err="1"/>
                  <a:t>phối</a:t>
                </a:r>
                <a:r>
                  <a:rPr lang="en-US" b="1" dirty="0"/>
                  <a:t> </a:t>
                </a:r>
                <a:r>
                  <a:rPr lang="en-US" b="1" dirty="0" err="1"/>
                  <a:t>đối</a:t>
                </a:r>
                <a:r>
                  <a:rPr lang="en-US" b="1" dirty="0"/>
                  <a:t> </a:t>
                </a:r>
                <a:r>
                  <a:rPr lang="en-US" b="1" dirty="0" err="1"/>
                  <a:t>với</a:t>
                </a:r>
                <a:r>
                  <a:rPr lang="en-US" b="1" dirty="0"/>
                  <a:t> </a:t>
                </a:r>
                <a:r>
                  <a:rPr lang="en-US" b="1" dirty="0" err="1"/>
                  <a:t>phép</a:t>
                </a:r>
                <a:r>
                  <a:rPr lang="en-US" b="1" dirty="0"/>
                  <a:t> </a:t>
                </a:r>
                <a:r>
                  <a:rPr lang="en-US" b="1" dirty="0" err="1"/>
                  <a:t>trừ</a:t>
                </a:r>
                <a:r>
                  <a:rPr lang="en-US" b="1" dirty="0"/>
                  <a:t>);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</m:e>
                            </m:acc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b="1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</m:e>
                            </m:acc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⃗"/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𝒗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en-US" b="1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  <m:r>
                          <a:rPr lang="en-US" b="1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4400" y="3276600"/>
                <a:ext cx="11630891" cy="10142540"/>
              </a:xfrm>
              <a:prstGeom prst="rect">
                <a:avLst/>
              </a:prstGeom>
              <a:blipFill>
                <a:blip r:embed="rId4"/>
                <a:stretch>
                  <a:fillRect l="-2094" t="-198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2437587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9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1000" y="3276600"/>
                <a:ext cx="11811001" cy="102266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4400" b="1" dirty="0">
                    <a:latin typeface="Tahoma" panose="020B0604030504040204" pitchFamily="34" charset="0"/>
                  </a:rPr>
                  <a:t>Cho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điểm</a:t>
                </a:r>
                <a:r>
                  <a:rPr lang="en-US" sz="4400" b="1" dirty="0">
                    <a:latin typeface="Tahoma" panose="020B0604030504040204" pitchFamily="34" charset="0"/>
                  </a:rPr>
                  <a:t> M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thay</a:t>
                </a:r>
                <a:r>
                  <a:rPr lang="en-US" sz="4400" b="1" dirty="0">
                    <a:latin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đổi</a:t>
                </a:r>
                <a:r>
                  <a:rPr lang="en-US" sz="4400" b="1" dirty="0">
                    <a:latin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trên</a:t>
                </a:r>
                <a:r>
                  <a:rPr lang="en-US" sz="4400" b="1" dirty="0">
                    <a:latin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đường</a:t>
                </a:r>
                <a:r>
                  <a:rPr lang="en-US" sz="4400" b="1" dirty="0">
                    <a:latin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tròn</a:t>
                </a:r>
                <a:r>
                  <a:rPr lang="en-US" sz="4400" b="1" dirty="0">
                    <a:latin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tâm</a:t>
                </a:r>
                <a:r>
                  <a:rPr lang="en-US" sz="4400" b="1" dirty="0">
                    <a:latin typeface="Tahoma" panose="020B0604030504040204" pitchFamily="34" charset="0"/>
                  </a:rPr>
                  <a:t> O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ngoại</a:t>
                </a:r>
                <a:r>
                  <a:rPr lang="en-US" sz="4400" b="1" dirty="0">
                    <a:latin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tiếp</a:t>
                </a:r>
                <a:r>
                  <a:rPr lang="en-US" sz="4400" b="1" dirty="0">
                    <a:latin typeface="Tahoma" panose="020B0604030504040204" pitchFamily="34" charset="0"/>
                  </a:rPr>
                  <a:t> tam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giác</a:t>
                </a:r>
                <a:r>
                  <a:rPr lang="en-US" sz="4400" b="1" dirty="0">
                    <a:latin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đều</a:t>
                </a:r>
                <a:r>
                  <a:rPr lang="en-US" sz="4400" b="1" dirty="0">
                    <a:latin typeface="Tahoma" panose="020B0604030504040204" pitchFamily="34" charset="0"/>
                  </a:rPr>
                  <a:t> ABC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cho</a:t>
                </a:r>
                <a:r>
                  <a:rPr lang="en-US" sz="4400" b="1" dirty="0">
                    <a:latin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trước</a:t>
                </a:r>
                <a:r>
                  <a:rPr lang="en-US" sz="4400" b="1" dirty="0">
                    <a:latin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Chứng</a:t>
                </a:r>
                <a:r>
                  <a:rPr lang="en-US" sz="4400" b="1" dirty="0">
                    <a:latin typeface="Tahoma" panose="020B0604030504040204" pitchFamily="34" charset="0"/>
                  </a:rPr>
                  <a:t> minh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rằng</a:t>
                </a:r>
                <a:r>
                  <a:rPr lang="en-US" sz="4400" b="1" dirty="0">
                    <a:latin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𝑴</m:t>
                    </m:r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𝑴</m:t>
                    </m:r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𝑴</m:t>
                    </m:r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4400" b="1" dirty="0" err="1">
                    <a:latin typeface="Tahoma" panose="020B0604030504040204" pitchFamily="34" charset="0"/>
                  </a:rPr>
                  <a:t>không</a:t>
                </a:r>
                <a:r>
                  <a:rPr lang="en-US" sz="4400" b="1" dirty="0">
                    <a:latin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đổi</a:t>
                </a:r>
                <a:r>
                  <a:rPr lang="en-US" sz="4400" dirty="0">
                    <a:latin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3276600"/>
                <a:ext cx="11811001" cy="10226676"/>
              </a:xfrm>
              <a:prstGeom prst="rect">
                <a:avLst/>
              </a:prstGeom>
              <a:blipFill>
                <a:blip r:embed="rId3"/>
                <a:stretch>
                  <a:fillRect l="-2063" t="-1846" r="-232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2344400" y="3276600"/>
            <a:ext cx="11630891" cy="10142540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ahoma" panose="020B060403050404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38C857-19BA-4D3F-8A2C-FAB8063383BF}"/>
              </a:ext>
            </a:extLst>
          </p:cNvPr>
          <p:cNvGrpSpPr/>
          <p:nvPr/>
        </p:nvGrpSpPr>
        <p:grpSpPr>
          <a:xfrm>
            <a:off x="838200" y="1974708"/>
            <a:ext cx="22174201" cy="1003586"/>
            <a:chOff x="22440" y="-84541"/>
            <a:chExt cx="4207755" cy="43274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A1DAFE8-232B-4B1C-86B5-2E04DA1DBB52}"/>
                </a:ext>
              </a:extLst>
            </p:cNvPr>
            <p:cNvGrpSpPr/>
            <p:nvPr/>
          </p:nvGrpSpPr>
          <p:grpSpPr>
            <a:xfrm>
              <a:off x="22440" y="-83115"/>
              <a:ext cx="850471" cy="431321"/>
              <a:chOff x="31572" y="-115954"/>
              <a:chExt cx="1196627" cy="533781"/>
            </a:xfrm>
          </p:grpSpPr>
          <p:sp>
            <p:nvSpPr>
              <p:cNvPr id="17" name="Arrow: Pentagon 16">
                <a:extLst>
                  <a:ext uri="{FF2B5EF4-FFF2-40B4-BE49-F238E27FC236}">
                    <a16:creationId xmlns:a16="http://schemas.microsoft.com/office/drawing/2014/main" id="{D3555F39-075F-4F66-97CD-74F676A8EB96}"/>
                  </a:ext>
                </a:extLst>
              </p:cNvPr>
              <p:cNvSpPr/>
              <p:nvPr/>
            </p:nvSpPr>
            <p:spPr>
              <a:xfrm>
                <a:off x="204585" y="-114253"/>
                <a:ext cx="1023614" cy="532080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Arrow: Chevron 17">
                <a:extLst>
                  <a:ext uri="{FF2B5EF4-FFF2-40B4-BE49-F238E27FC236}">
                    <a16:creationId xmlns:a16="http://schemas.microsoft.com/office/drawing/2014/main" id="{77FCAFCA-03EA-462D-AB95-7A728A62588E}"/>
                  </a:ext>
                </a:extLst>
              </p:cNvPr>
              <p:cNvSpPr/>
              <p:nvPr/>
            </p:nvSpPr>
            <p:spPr>
              <a:xfrm>
                <a:off x="31572" y="-114253"/>
                <a:ext cx="142414" cy="528615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Arrow: Chevron 18">
                <a:extLst>
                  <a:ext uri="{FF2B5EF4-FFF2-40B4-BE49-F238E27FC236}">
                    <a16:creationId xmlns:a16="http://schemas.microsoft.com/office/drawing/2014/main" id="{239EA3BC-9EBA-4C16-AC46-2CD85D80D640}"/>
                  </a:ext>
                </a:extLst>
              </p:cNvPr>
              <p:cNvSpPr/>
              <p:nvPr/>
            </p:nvSpPr>
            <p:spPr>
              <a:xfrm>
                <a:off x="116273" y="-115954"/>
                <a:ext cx="173013" cy="530316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" name="TextBox 56">
              <a:extLst>
                <a:ext uri="{FF2B5EF4-FFF2-40B4-BE49-F238E27FC236}">
                  <a16:creationId xmlns:a16="http://schemas.microsoft.com/office/drawing/2014/main" id="{F5411963-BD80-428C-80CC-FB8B2464281C}"/>
                </a:ext>
              </a:extLst>
            </p:cNvPr>
            <p:cNvSpPr txBox="1"/>
            <p:nvPr/>
          </p:nvSpPr>
          <p:spPr>
            <a:xfrm>
              <a:off x="265802" y="-84541"/>
              <a:ext cx="3964393" cy="429947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Ví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dụ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4.    ( </a:t>
              </a: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Ứng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dụng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của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vectơ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trong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bài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toán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hình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học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)</a:t>
              </a:r>
              <a:endParaRPr lang="en-US" sz="5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17C804C-9D63-40B3-B7E0-2E90A7EBBA7A}"/>
              </a:ext>
            </a:extLst>
          </p:cNvPr>
          <p:cNvSpPr txBox="1"/>
          <p:nvPr/>
        </p:nvSpPr>
        <p:spPr>
          <a:xfrm>
            <a:off x="533400" y="6785932"/>
            <a:ext cx="8839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44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1: (</a:t>
            </a:r>
            <a:r>
              <a:rPr lang="en-US" sz="4400" b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44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tọa</a:t>
            </a:r>
            <a:r>
              <a:rPr lang="en-US" sz="44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4400" b="1" dirty="0">
                <a:solidFill>
                  <a:srgbClr val="FF0000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en-US" sz="4400" b="1" dirty="0">
              <a:solidFill>
                <a:srgbClr val="FF0000"/>
              </a:solidFill>
              <a:effectLst/>
              <a:latin typeface="Tahoma" panose="020B060403050404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7BE19D4-1C8B-4491-B123-782706CEDDEE}"/>
                  </a:ext>
                </a:extLst>
              </p:cNvPr>
              <p:cNvSpPr txBox="1"/>
              <p:nvPr/>
            </p:nvSpPr>
            <p:spPr>
              <a:xfrm>
                <a:off x="533400" y="7625879"/>
                <a:ext cx="11087102" cy="29592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Xét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gốc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trùng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O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ngoại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tiếp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tam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ABC.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14:m>
                  <m:oMath xmlns:m="http://schemas.openxmlformats.org/officeDocument/2006/math">
                    <m:r>
                      <a:rPr lang="en-US" sz="4400" b="1" i="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func>
                      <m:func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sub>
                        </m:sSub>
                      </m:fName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</m:e>
                    </m:func>
                    <m:func>
                      <m:func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sub>
                        </m:sSub>
                      </m:fName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func>
                      <m:func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𝑩</m:t>
                        </m:r>
                      </m:fName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</m:e>
                    </m:func>
                    <m:func>
                      <m:func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𝑩</m:t>
                            </m:r>
                          </m:sub>
                        </m:sSub>
                      </m:fName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</m:e>
                    </m:func>
                    <m:func>
                      <m:func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𝑩</m:t>
                            </m:r>
                          </m:sub>
                        </m:sSub>
                      </m:fName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func>
                      <m:func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</m:fName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</m:e>
                    </m:func>
                    <m:func>
                      <m:func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sub>
                        </m:sSub>
                      </m:fName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</m:e>
                    </m:func>
                    <m:func>
                      <m:func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sub>
                        </m:sSub>
                      </m:fName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func>
                      <m:func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𝑴</m:t>
                        </m:r>
                      </m:fName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</m:e>
                    </m:func>
                    <m:func>
                      <m:func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fName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endParaRPr lang="en-US" b="1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7BE19D4-1C8B-4491-B123-782706CED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7625879"/>
                <a:ext cx="11087102" cy="2959272"/>
              </a:xfrm>
              <a:prstGeom prst="rect">
                <a:avLst/>
              </a:prstGeom>
              <a:blipFill>
                <a:blip r:embed="rId4"/>
                <a:stretch>
                  <a:fillRect l="-2255" t="-5155" b="-8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A9CCB6F-35F6-4A22-957B-32831AF0A79C}"/>
                  </a:ext>
                </a:extLst>
              </p:cNvPr>
              <p:cNvSpPr txBox="1"/>
              <p:nvPr/>
            </p:nvSpPr>
            <p:spPr>
              <a:xfrm>
                <a:off x="12621296" y="3270098"/>
                <a:ext cx="11534106" cy="9893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Do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sub>
                        </m:sSub>
                      </m:fName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e>
                    </m:func>
                    <m:func>
                      <m:func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𝑩</m:t>
                            </m:r>
                          </m:sub>
                        </m:sSub>
                      </m:fName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e>
                    </m:func>
                    <m:func>
                      <m:func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sub>
                        </m:sSub>
                      </m:fName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</m:e>
                    </m:func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sub>
                        </m:sSub>
                      </m:fName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e>
                    </m:func>
                    <m:func>
                      <m:func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𝑩</m:t>
                            </m:r>
                          </m:sub>
                        </m:sSub>
                      </m:fName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e>
                    </m:func>
                    <m:func>
                      <m:func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sub>
                        </m:sSub>
                      </m:fName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</m:e>
                    </m:func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𝑶</m:t>
                    </m:r>
                    <m:sSup>
                      <m:s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𝑴</m:t>
                        </m:r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𝑶</m:t>
                    </m:r>
                    <m:sSup>
                      <m:s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endParaRPr lang="en-US" sz="4400" b="1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sub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b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sub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b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𝑴</m:t>
                    </m:r>
                    <m:sSup>
                      <m:s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sub>
                    </m:sSub>
                    <m:sSup>
                      <m:s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+(</m:t>
                    </m:r>
                    <m:func>
                      <m:func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fName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</m:e>
                    </m:func>
                    <m:sSub>
                      <m:sSub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sub>
                    </m:sSub>
                    <m:sSup>
                      <m:s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4400" b="1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4400" b="1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</m:t>
                    </m:r>
                    <m:sSup>
                      <m:s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)+(</m:t>
                    </m:r>
                    <m:sSubSup>
                      <m:sSub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sub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b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sub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b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)−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𝒙</m:t>
                    </m:r>
                    <m:sSub>
                      <m:sSub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sub>
                    </m:sSub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𝒚</m:t>
                    </m:r>
                    <m:sSub>
                      <m:sSub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sub>
                    </m:sSub>
                  </m:oMath>
                </a14:m>
                <a:endParaRPr lang="en-US" sz="4400" b="1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4400" b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= 2</m:t>
                      </m:r>
                      <m:sSup>
                        <m:sSup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m:rPr>
                              <m:nor/>
                            </m:rPr>
                            <a:rPr lang="en-US" sz="4400" b="1">
                              <a:effectLst/>
                              <a:latin typeface="Tahoma" panose="020B0604030504040204" pitchFamily="34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m:t>R</m:t>
                          </m:r>
                        </m:e>
                        <m:sup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𝒙</m:t>
                      </m:r>
                      <m:sSub>
                        <m:sSub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sub>
                      </m:sSub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𝒚</m:t>
                      </m:r>
                      <m:sSub>
                        <m:sSub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</m:sub>
                      </m:sSub>
                    </m:oMath>
                  </m:oMathPara>
                </a14:m>
                <a:endParaRPr lang="en-US" sz="44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tự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𝑴</m:t>
                    </m:r>
                    <m:sSup>
                      <m:s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𝑩</m:t>
                        </m:r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𝟐</m:t>
                    </m:r>
                    <m:sSup>
                      <m:s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𝒙</m:t>
                    </m:r>
                    <m:sSub>
                      <m:sSub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𝑩</m:t>
                        </m:r>
                      </m:sub>
                    </m:sSub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𝒚</m:t>
                    </m:r>
                    <m:sSub>
                      <m:sSub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𝑩</m:t>
                        </m:r>
                      </m:sub>
                    </m:sSub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𝑴</m:t>
                    </m:r>
                    <m:sSup>
                      <m:s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𝟐</m:t>
                    </m:r>
                    <m:sSup>
                      <m:sSupPr>
                        <m:ctrlPr>
                          <a:rPr lang="en-US" sz="4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𝒙</m:t>
                    </m:r>
                    <m:sSub>
                      <m:sSub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</m:sub>
                    </m:sSub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𝒚</m:t>
                    </m:r>
                    <m:sSub>
                      <m:sSub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</m:sub>
                    </m:sSub>
                  </m:oMath>
                </a14:m>
                <a:endParaRPr lang="en-US" sz="44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Do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𝑴</m:t>
                    </m:r>
                    <m:sSup>
                      <m:s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𝑴</m:t>
                    </m:r>
                    <m:sSup>
                      <m:s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𝑩</m:t>
                        </m:r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𝑴</m:t>
                    </m:r>
                    <m:sSup>
                      <m:s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endParaRPr lang="en-US" sz="4400" b="1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4400" b="1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𝟔</m:t>
                    </m:r>
                    <m:sSup>
                      <m:s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𝒙</m:t>
                    </m:r>
                    <m:d>
                      <m:d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sub>
                        </m:s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𝑩</m:t>
                            </m:r>
                          </m:sub>
                        </m:s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sub>
                        </m:sSub>
                      </m:e>
                    </m:d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𝒚</m:t>
                    </m:r>
                    <m:d>
                      <m:d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𝑨</m:t>
                            </m:r>
                          </m:sub>
                        </m:s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𝑩</m:t>
                            </m:r>
                          </m:sub>
                        </m:sSub>
                        <m:r>
                          <a:rPr lang="en-US" sz="4400" b="1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𝑪</m:t>
                            </m:r>
                          </m:sub>
                        </m:sSub>
                      </m:e>
                    </m:d>
                  </m:oMath>
                </a14:m>
                <a:endParaRPr lang="en-US" sz="4400" b="1" i="1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400" b="1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𝟔</m:t>
                    </m:r>
                    <m:sSup>
                      <m:sSupPr>
                        <m:ctrlPr>
                          <a:rPr lang="en-US" sz="44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𝑹</m:t>
                        </m:r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đổi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A9CCB6F-35F6-4A22-957B-32831AF0A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21296" y="3270098"/>
                <a:ext cx="11534106" cy="9893991"/>
              </a:xfrm>
              <a:prstGeom prst="rect">
                <a:avLst/>
              </a:prstGeom>
              <a:blipFill>
                <a:blip r:embed="rId5"/>
                <a:stretch>
                  <a:fillRect l="-2113" t="-1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C7C4464-9A0B-434C-A72C-C62B0E63705C}"/>
                  </a:ext>
                </a:extLst>
              </p:cNvPr>
              <p:cNvSpPr txBox="1"/>
              <p:nvPr/>
            </p:nvSpPr>
            <p:spPr>
              <a:xfrm>
                <a:off x="533400" y="10830412"/>
                <a:ext cx="11291553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 tam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ABC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đều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ngoại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tiếp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𝑶</m:t>
                        </m:r>
                      </m:fName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</m:e>
                    </m:func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đồng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thời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trọng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tam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C7C4464-9A0B-434C-A72C-C62B0E637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0830412"/>
                <a:ext cx="11291553" cy="2123658"/>
              </a:xfrm>
              <a:prstGeom prst="rect">
                <a:avLst/>
              </a:prstGeom>
              <a:blipFill>
                <a:blip r:embed="rId6"/>
                <a:stretch>
                  <a:fillRect l="-2214" t="-6034" b="-129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E0E9A9C2-005D-4889-83BE-A9735A467C8A}"/>
              </a:ext>
            </a:extLst>
          </p:cNvPr>
          <p:cNvSpPr txBox="1"/>
          <p:nvPr/>
        </p:nvSpPr>
        <p:spPr>
          <a:xfrm>
            <a:off x="5320047" y="5874530"/>
            <a:ext cx="2514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Lời</a:t>
            </a:r>
            <a:r>
              <a:rPr lang="en-US" sz="4400" b="1" i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i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endParaRPr lang="en-US" sz="4400" i="1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4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76594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  <p:bldP spid="22" grpId="0"/>
      <p:bldP spid="25" grpId="0"/>
      <p:bldP spid="27" grpId="0"/>
      <p:bldP spid="29" grpId="0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5048" y="3265251"/>
                <a:ext cx="11935691" cy="102266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4400" b="1" dirty="0">
                    <a:latin typeface="Tahoma" panose="020B0604030504040204" pitchFamily="34" charset="0"/>
                  </a:rPr>
                  <a:t>Cho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điểm</a:t>
                </a:r>
                <a:r>
                  <a:rPr lang="en-US" sz="4400" b="1" dirty="0">
                    <a:latin typeface="Tahoma" panose="020B0604030504040204" pitchFamily="34" charset="0"/>
                  </a:rPr>
                  <a:t> M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thay</a:t>
                </a:r>
                <a:r>
                  <a:rPr lang="en-US" sz="4400" b="1" dirty="0">
                    <a:latin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đổi</a:t>
                </a:r>
                <a:r>
                  <a:rPr lang="en-US" sz="4400" b="1" dirty="0">
                    <a:latin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trên</a:t>
                </a:r>
                <a:r>
                  <a:rPr lang="en-US" sz="4400" b="1" dirty="0">
                    <a:latin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đường</a:t>
                </a:r>
                <a:r>
                  <a:rPr lang="en-US" sz="4400" b="1" dirty="0">
                    <a:latin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tròn</a:t>
                </a:r>
                <a:r>
                  <a:rPr lang="en-US" sz="4400" b="1" dirty="0">
                    <a:latin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tâm</a:t>
                </a:r>
                <a:r>
                  <a:rPr lang="en-US" sz="4400" b="1" dirty="0">
                    <a:latin typeface="Tahoma" panose="020B0604030504040204" pitchFamily="34" charset="0"/>
                  </a:rPr>
                  <a:t> O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ngoại</a:t>
                </a:r>
                <a:r>
                  <a:rPr lang="en-US" sz="4400" b="1" dirty="0">
                    <a:latin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tiếp</a:t>
                </a:r>
                <a:r>
                  <a:rPr lang="en-US" sz="4400" b="1" dirty="0">
                    <a:latin typeface="Tahoma" panose="020B0604030504040204" pitchFamily="34" charset="0"/>
                  </a:rPr>
                  <a:t> tam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giác</a:t>
                </a:r>
                <a:r>
                  <a:rPr lang="en-US" sz="4400" b="1" dirty="0">
                    <a:latin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đều</a:t>
                </a:r>
                <a:r>
                  <a:rPr lang="en-US" sz="4400" b="1" dirty="0">
                    <a:latin typeface="Tahoma" panose="020B0604030504040204" pitchFamily="34" charset="0"/>
                  </a:rPr>
                  <a:t> ABC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cho</a:t>
                </a:r>
                <a:r>
                  <a:rPr lang="en-US" sz="4400" b="1" dirty="0">
                    <a:latin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trước</a:t>
                </a:r>
                <a:r>
                  <a:rPr lang="en-US" sz="4400" b="1" dirty="0">
                    <a:latin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Chứng</a:t>
                </a:r>
                <a:r>
                  <a:rPr lang="en-US" sz="4400" b="1" dirty="0">
                    <a:latin typeface="Tahoma" panose="020B0604030504040204" pitchFamily="34" charset="0"/>
                  </a:rPr>
                  <a:t> minh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rằng</a:t>
                </a:r>
                <a:r>
                  <a:rPr lang="en-US" sz="4400" b="1" dirty="0">
                    <a:latin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𝑴</m:t>
                    </m:r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𝑴</m:t>
                    </m:r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𝑴</m:t>
                    </m:r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4400" b="1" dirty="0" err="1">
                    <a:latin typeface="Tahoma" panose="020B0604030504040204" pitchFamily="34" charset="0"/>
                  </a:rPr>
                  <a:t>không</a:t>
                </a:r>
                <a:r>
                  <a:rPr lang="en-US" sz="4400" b="1" dirty="0">
                    <a:latin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</a:rPr>
                  <a:t>đổi</a:t>
                </a:r>
                <a:r>
                  <a:rPr lang="en-US" sz="4400" b="1" dirty="0">
                    <a:latin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048" y="3265251"/>
                <a:ext cx="11935691" cy="10226676"/>
              </a:xfrm>
              <a:prstGeom prst="rect">
                <a:avLst/>
              </a:prstGeom>
              <a:blipFill>
                <a:blip r:embed="rId3"/>
                <a:stretch>
                  <a:fillRect l="-1990" t="-1846" r="-127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2284982" y="3265251"/>
            <a:ext cx="11630891" cy="10142540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ahoma" panose="020B060403050404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38C857-19BA-4D3F-8A2C-FAB8063383BF}"/>
              </a:ext>
            </a:extLst>
          </p:cNvPr>
          <p:cNvGrpSpPr/>
          <p:nvPr/>
        </p:nvGrpSpPr>
        <p:grpSpPr>
          <a:xfrm>
            <a:off x="838200" y="1974708"/>
            <a:ext cx="22174201" cy="1003586"/>
            <a:chOff x="22440" y="-84541"/>
            <a:chExt cx="4207755" cy="43274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A1DAFE8-232B-4B1C-86B5-2E04DA1DBB52}"/>
                </a:ext>
              </a:extLst>
            </p:cNvPr>
            <p:cNvGrpSpPr/>
            <p:nvPr/>
          </p:nvGrpSpPr>
          <p:grpSpPr>
            <a:xfrm>
              <a:off x="22440" y="-83115"/>
              <a:ext cx="850471" cy="431321"/>
              <a:chOff x="31572" y="-115954"/>
              <a:chExt cx="1196627" cy="533781"/>
            </a:xfrm>
          </p:grpSpPr>
          <p:sp>
            <p:nvSpPr>
              <p:cNvPr id="17" name="Arrow: Pentagon 16">
                <a:extLst>
                  <a:ext uri="{FF2B5EF4-FFF2-40B4-BE49-F238E27FC236}">
                    <a16:creationId xmlns:a16="http://schemas.microsoft.com/office/drawing/2014/main" id="{D3555F39-075F-4F66-97CD-74F676A8EB96}"/>
                  </a:ext>
                </a:extLst>
              </p:cNvPr>
              <p:cNvSpPr/>
              <p:nvPr/>
            </p:nvSpPr>
            <p:spPr>
              <a:xfrm>
                <a:off x="204585" y="-114253"/>
                <a:ext cx="1023614" cy="532080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Arrow: Chevron 17">
                <a:extLst>
                  <a:ext uri="{FF2B5EF4-FFF2-40B4-BE49-F238E27FC236}">
                    <a16:creationId xmlns:a16="http://schemas.microsoft.com/office/drawing/2014/main" id="{77FCAFCA-03EA-462D-AB95-7A728A62588E}"/>
                  </a:ext>
                </a:extLst>
              </p:cNvPr>
              <p:cNvSpPr/>
              <p:nvPr/>
            </p:nvSpPr>
            <p:spPr>
              <a:xfrm>
                <a:off x="31572" y="-114253"/>
                <a:ext cx="142414" cy="528615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Arrow: Chevron 18">
                <a:extLst>
                  <a:ext uri="{FF2B5EF4-FFF2-40B4-BE49-F238E27FC236}">
                    <a16:creationId xmlns:a16="http://schemas.microsoft.com/office/drawing/2014/main" id="{239EA3BC-9EBA-4C16-AC46-2CD85D80D640}"/>
                  </a:ext>
                </a:extLst>
              </p:cNvPr>
              <p:cNvSpPr/>
              <p:nvPr/>
            </p:nvSpPr>
            <p:spPr>
              <a:xfrm>
                <a:off x="116273" y="-115954"/>
                <a:ext cx="173013" cy="530316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" name="TextBox 56">
              <a:extLst>
                <a:ext uri="{FF2B5EF4-FFF2-40B4-BE49-F238E27FC236}">
                  <a16:creationId xmlns:a16="http://schemas.microsoft.com/office/drawing/2014/main" id="{F5411963-BD80-428C-80CC-FB8B2464281C}"/>
                </a:ext>
              </a:extLst>
            </p:cNvPr>
            <p:cNvSpPr txBox="1"/>
            <p:nvPr/>
          </p:nvSpPr>
          <p:spPr>
            <a:xfrm>
              <a:off x="265802" y="-84541"/>
              <a:ext cx="3964393" cy="429947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Ví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dụ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4.    ( </a:t>
              </a: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Ứng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dụng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của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vectơ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trong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bài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toán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hình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học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)</a:t>
              </a:r>
              <a:endParaRPr lang="en-US" sz="5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C7C4464-9A0B-434C-A72C-C62B0E63705C}"/>
                  </a:ext>
                </a:extLst>
              </p:cNvPr>
              <p:cNvSpPr txBox="1"/>
              <p:nvPr/>
            </p:nvSpPr>
            <p:spPr>
              <a:xfrm>
                <a:off x="351949" y="7543257"/>
                <a:ext cx="11828367" cy="2210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tam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ABC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đều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O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tròn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ngoại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tiếp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đồng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thời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trọng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tam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𝑶𝑨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𝑶𝑩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𝑶𝑪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acc>
                  </m:oMath>
                </a14:m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C7C4464-9A0B-434C-A72C-C62B0E637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949" y="7543257"/>
                <a:ext cx="11828367" cy="2210285"/>
              </a:xfrm>
              <a:prstGeom prst="rect">
                <a:avLst/>
              </a:prstGeom>
              <a:blipFill>
                <a:blip r:embed="rId4"/>
                <a:stretch>
                  <a:fillRect l="-2113" t="-5510" b="-11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B17C804C-9D63-40B3-B7E0-2E90A7EBBA7A}"/>
              </a:ext>
            </a:extLst>
          </p:cNvPr>
          <p:cNvSpPr txBox="1"/>
          <p:nvPr/>
        </p:nvSpPr>
        <p:spPr>
          <a:xfrm>
            <a:off x="609600" y="6503237"/>
            <a:ext cx="114894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Cách</a:t>
            </a:r>
            <a:r>
              <a:rPr lang="en-US" sz="44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2: (</a:t>
            </a:r>
            <a:r>
              <a:rPr lang="en-US" sz="4400" b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Dùng</a:t>
            </a:r>
            <a:r>
              <a:rPr lang="en-US" sz="44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tích</a:t>
            </a:r>
            <a:r>
              <a:rPr lang="en-US" sz="44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vô</a:t>
            </a:r>
            <a:r>
              <a:rPr lang="en-US" sz="44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hướng</a:t>
            </a:r>
            <a:r>
              <a:rPr lang="en-US" sz="44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 (H.4.44)</a:t>
            </a:r>
            <a:endParaRPr lang="en-US" b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D4E216E-7303-489C-AE67-E0E641810D52}"/>
                  </a:ext>
                </a:extLst>
              </p:cNvPr>
              <p:cNvSpPr txBox="1"/>
              <p:nvPr/>
            </p:nvSpPr>
            <p:spPr>
              <a:xfrm>
                <a:off x="351949" y="10022706"/>
                <a:ext cx="11828366" cy="2628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sử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(O)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bán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kính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R. Ta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𝑴</m:t>
                      </m:r>
                      <m:sSup>
                        <m:sSup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𝑴</m:t>
                      </m:r>
                      <m:sSup>
                        <m:sSup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𝑴</m:t>
                      </m:r>
                      <m:sSup>
                        <m:sSup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𝑪</m:t>
                          </m:r>
                        </m:e>
                        <m:sup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𝑴𝑨</m:t>
                              </m:r>
                            </m:e>
                          </m:acc>
                        </m:e>
                        <m:sup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𝑴𝑩</m:t>
                              </m:r>
                            </m:e>
                          </m:acc>
                        </m:e>
                        <m:sup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𝑴𝑪</m:t>
                              </m:r>
                            </m:e>
                          </m:acc>
                        </m:e>
                        <m:sup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sz="44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4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𝑴𝑶</m:t>
                                  </m:r>
                                </m:e>
                              </m:acc>
                              <m: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sz="44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4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𝑶𝑨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sz="44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4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𝑴𝑶</m:t>
                                  </m:r>
                                </m:e>
                              </m:acc>
                              <m: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sz="44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4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𝑶𝑩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sz="44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4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𝑴𝑶</m:t>
                                  </m:r>
                                </m:e>
                              </m:acc>
                              <m: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sz="44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400" b="1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𝑶𝑪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D4E216E-7303-489C-AE67-E0E641810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949" y="10022706"/>
                <a:ext cx="11828366" cy="2628092"/>
              </a:xfrm>
              <a:prstGeom prst="rect">
                <a:avLst/>
              </a:prstGeom>
              <a:blipFill>
                <a:blip r:embed="rId5"/>
                <a:stretch>
                  <a:fillRect l="-2113" t="-5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C8884CD-48DA-4E75-A85C-9A3CB3DBFC47}"/>
                  </a:ext>
                </a:extLst>
              </p:cNvPr>
              <p:cNvSpPr txBox="1"/>
              <p:nvPr/>
            </p:nvSpPr>
            <p:spPr>
              <a:xfrm>
                <a:off x="12591973" y="8425250"/>
                <a:ext cx="11635913" cy="5823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4400" b="1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𝟑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𝑴𝑶</m:t>
                          </m:r>
                        </m:e>
                      </m:acc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𝑴𝑶</m:t>
                          </m:r>
                        </m:e>
                      </m:acc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𝑶𝑨</m:t>
                          </m:r>
                        </m:e>
                      </m:acc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𝑴𝑶</m:t>
                          </m:r>
                        </m:e>
                      </m:acc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𝑶𝑩</m:t>
                          </m:r>
                        </m:e>
                      </m:acc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𝑴𝑶</m:t>
                          </m:r>
                        </m:e>
                      </m:acc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𝑶𝑪</m:t>
                          </m:r>
                        </m:e>
                      </m:acc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  <m: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𝑨</m:t>
                              </m:r>
                            </m:e>
                          </m:acc>
                        </m:e>
                        <m:sup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  <m: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  <m:sup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  <m: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𝑪</m:t>
                              </m:r>
                            </m:e>
                          </m:acc>
                        </m:e>
                        <m:sup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𝟑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𝑴𝑶</m:t>
                          </m:r>
                        </m:e>
                      </m:acc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𝑴𝑶</m:t>
                          </m:r>
                        </m:e>
                      </m:acc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d>
                        <m:d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𝑶𝑨</m:t>
                              </m:r>
                            </m:e>
                          </m:acc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𝑶𝑩</m:t>
                              </m:r>
                            </m:e>
                          </m:acc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𝑶𝑪</m:t>
                              </m:r>
                            </m:e>
                          </m:acc>
                        </m:e>
                      </m:d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44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US" sz="4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sz="4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𝑴𝑶</m:t>
                          </m:r>
                        </m:e>
                      </m:acc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e>
                      </m:acc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𝟔</m:t>
                      </m:r>
                      <m:sSup>
                        <m:sSup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p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44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𝑴</m:t>
                    </m:r>
                    <m:sSup>
                      <m:s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𝑴</m:t>
                    </m:r>
                    <m:sSup>
                      <m:s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𝑩</m:t>
                        </m:r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𝑴</m:t>
                    </m:r>
                    <m:sSup>
                      <m:s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𝑪</m:t>
                        </m:r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đổi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M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thay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đổi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(O).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C8884CD-48DA-4E75-A85C-9A3CB3DBF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1973" y="8425250"/>
                <a:ext cx="11635913" cy="5823004"/>
              </a:xfrm>
              <a:prstGeom prst="rect">
                <a:avLst/>
              </a:prstGeom>
              <a:blipFill>
                <a:blip r:embed="rId7"/>
                <a:stretch>
                  <a:fillRect l="-21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E1CF8F08-8DEE-46A4-B432-E5E4ADC14EAA}"/>
              </a:ext>
            </a:extLst>
          </p:cNvPr>
          <p:cNvSpPr txBox="1"/>
          <p:nvPr/>
        </p:nvSpPr>
        <p:spPr>
          <a:xfrm>
            <a:off x="4876800" y="5676200"/>
            <a:ext cx="2514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Lời</a:t>
            </a:r>
            <a:r>
              <a:rPr lang="en-US" sz="4400" b="1" i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endParaRPr lang="en-US" sz="4400" i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8554A3D-B573-47B7-A1B0-DB683C25D01F}"/>
              </a:ext>
            </a:extLst>
          </p:cNvPr>
          <p:cNvSpPr/>
          <p:nvPr/>
        </p:nvSpPr>
        <p:spPr>
          <a:xfrm>
            <a:off x="17562196" y="3953256"/>
            <a:ext cx="4124238" cy="4123944"/>
          </a:xfrm>
          <a:prstGeom prst="ellipse">
            <a:avLst/>
          </a:prstGeom>
          <a:noFill/>
          <a:ln w="76200">
            <a:solidFill>
              <a:schemeClr val="tx1"/>
            </a:solidFill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9F50AA9-53D2-4EDE-A1A0-F88E499E6480}"/>
              </a:ext>
            </a:extLst>
          </p:cNvPr>
          <p:cNvSpPr/>
          <p:nvPr/>
        </p:nvSpPr>
        <p:spPr>
          <a:xfrm>
            <a:off x="19560454" y="5926303"/>
            <a:ext cx="182880" cy="18288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BE9EAFB-B892-4EE2-A848-1EC7ABEB9B7F}"/>
              </a:ext>
            </a:extLst>
          </p:cNvPr>
          <p:cNvSpPr/>
          <p:nvPr/>
        </p:nvSpPr>
        <p:spPr>
          <a:xfrm>
            <a:off x="19286134" y="6010656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O</a:t>
            </a:r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451A3D84-16FB-412A-9C34-D2AD390C8637}"/>
              </a:ext>
            </a:extLst>
          </p:cNvPr>
          <p:cNvSpPr/>
          <p:nvPr/>
        </p:nvSpPr>
        <p:spPr>
          <a:xfrm>
            <a:off x="17838334" y="3972306"/>
            <a:ext cx="3573629" cy="2952750"/>
          </a:xfrm>
          <a:prstGeom prst="triangle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285D843-FD4E-4549-9ADD-1A26C0595126}"/>
              </a:ext>
            </a:extLst>
          </p:cNvPr>
          <p:cNvCxnSpPr>
            <a:cxnSpLocks/>
            <a:stCxn id="23" idx="0"/>
            <a:endCxn id="40" idx="0"/>
          </p:cNvCxnSpPr>
          <p:nvPr/>
        </p:nvCxnSpPr>
        <p:spPr>
          <a:xfrm flipH="1" flipV="1">
            <a:off x="19625149" y="3972306"/>
            <a:ext cx="26745" cy="1953997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08CB17A-40F2-4E58-B76D-AFF5AA9E2F0F}"/>
              </a:ext>
            </a:extLst>
          </p:cNvPr>
          <p:cNvCxnSpPr>
            <a:cxnSpLocks/>
          </p:cNvCxnSpPr>
          <p:nvPr/>
        </p:nvCxnSpPr>
        <p:spPr>
          <a:xfrm>
            <a:off x="19700952" y="6037759"/>
            <a:ext cx="1812909" cy="926363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8811E19-23C0-4AD8-91A8-3EA170A406E3}"/>
              </a:ext>
            </a:extLst>
          </p:cNvPr>
          <p:cNvCxnSpPr>
            <a:cxnSpLocks/>
          </p:cNvCxnSpPr>
          <p:nvPr/>
        </p:nvCxnSpPr>
        <p:spPr>
          <a:xfrm flipH="1">
            <a:off x="17786307" y="6033791"/>
            <a:ext cx="1865587" cy="907313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AB57EF9A-EB74-4ACE-9848-C906E24860D5}"/>
              </a:ext>
            </a:extLst>
          </p:cNvPr>
          <p:cNvSpPr/>
          <p:nvPr/>
        </p:nvSpPr>
        <p:spPr>
          <a:xfrm>
            <a:off x="19103254" y="3090673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C61ADDC-4233-4BDC-A131-1AF416A289D7}"/>
              </a:ext>
            </a:extLst>
          </p:cNvPr>
          <p:cNvSpPr/>
          <p:nvPr/>
        </p:nvSpPr>
        <p:spPr>
          <a:xfrm>
            <a:off x="16794257" y="6628857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3C299B4-26BB-4EEF-8D58-E6E1E3BEF7DF}"/>
              </a:ext>
            </a:extLst>
          </p:cNvPr>
          <p:cNvSpPr/>
          <p:nvPr/>
        </p:nvSpPr>
        <p:spPr>
          <a:xfrm>
            <a:off x="21318554" y="6553200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F6FCB05-DE93-42E2-A1BC-359CA4B94CCD}"/>
              </a:ext>
            </a:extLst>
          </p:cNvPr>
          <p:cNvCxnSpPr>
            <a:cxnSpLocks/>
            <a:endCxn id="40" idx="2"/>
          </p:cNvCxnSpPr>
          <p:nvPr/>
        </p:nvCxnSpPr>
        <p:spPr>
          <a:xfrm flipH="1">
            <a:off x="17838334" y="4436966"/>
            <a:ext cx="445393" cy="248809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5FF99D30-C72A-46A2-901F-33393967EB61}"/>
              </a:ext>
            </a:extLst>
          </p:cNvPr>
          <p:cNvCxnSpPr>
            <a:cxnSpLocks/>
          </p:cNvCxnSpPr>
          <p:nvPr/>
        </p:nvCxnSpPr>
        <p:spPr>
          <a:xfrm flipV="1">
            <a:off x="18289986" y="3969304"/>
            <a:ext cx="1295359" cy="451614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5D177E16-AB88-499E-A156-10E3465D29F0}"/>
              </a:ext>
            </a:extLst>
          </p:cNvPr>
          <p:cNvCxnSpPr>
            <a:cxnSpLocks/>
            <a:endCxn id="40" idx="4"/>
          </p:cNvCxnSpPr>
          <p:nvPr/>
        </p:nvCxnSpPr>
        <p:spPr>
          <a:xfrm>
            <a:off x="18289986" y="4401265"/>
            <a:ext cx="3121977" cy="252379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283CBE37-F4ED-440B-BC4E-9CE69CE5AA2D}"/>
              </a:ext>
            </a:extLst>
          </p:cNvPr>
          <p:cNvSpPr/>
          <p:nvPr/>
        </p:nvSpPr>
        <p:spPr>
          <a:xfrm>
            <a:off x="18184090" y="5638800"/>
            <a:ext cx="86591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D1976E6A-7A0C-4CEF-B6F4-0C04239EF7D9}"/>
              </a:ext>
            </a:extLst>
          </p:cNvPr>
          <p:cNvSpPr/>
          <p:nvPr/>
        </p:nvSpPr>
        <p:spPr>
          <a:xfrm>
            <a:off x="12865889" y="5089452"/>
            <a:ext cx="3773836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sz="4800" b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4.44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AE77E13-E51A-4F2F-B288-8095B149E433}"/>
              </a:ext>
            </a:extLst>
          </p:cNvPr>
          <p:cNvSpPr/>
          <p:nvPr/>
        </p:nvSpPr>
        <p:spPr>
          <a:xfrm>
            <a:off x="17421164" y="3522566"/>
            <a:ext cx="86591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839895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7" grpId="0" animBg="1"/>
      <p:bldP spid="29" grpId="0"/>
      <p:bldP spid="22" grpId="0"/>
      <p:bldP spid="4" grpId="0"/>
      <p:bldP spid="6" grpId="0"/>
      <p:bldP spid="24" grpId="0"/>
      <p:bldP spid="3" grpId="0" animBg="1"/>
      <p:bldP spid="40" grpId="0" animBg="1"/>
      <p:bldP spid="59" grpId="0"/>
      <p:bldP spid="60" grpId="0"/>
      <p:bldP spid="61" grpId="0"/>
      <p:bldP spid="87" grpId="0"/>
      <p:bldP spid="88" grpId="0"/>
      <p:bldP spid="8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04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8709" y="2898272"/>
                <a:ext cx="11820525" cy="10665327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tam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ABC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A(-1; 2), B(8; -1), C(8; 8).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trực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tam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lvl="0" indent="0">
                  <a:buNone/>
                </a:pP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Chứng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minh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rằng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𝑨𝑯</m:t>
                        </m:r>
                      </m:e>
                    </m:acc>
                    <m:r>
                      <a:rPr lang="en-US" sz="4400" b="1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𝑩𝑯</m:t>
                        </m:r>
                      </m:e>
                    </m:acc>
                    <m:r>
                      <a:rPr lang="en-US" sz="4400" b="1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𝑩𝑯</m:t>
                        </m:r>
                      </m:e>
                    </m:acc>
                    <m:r>
                      <a:rPr lang="en-US" sz="4400" b="1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𝑪𝑨</m:t>
                        </m:r>
                      </m:e>
                    </m:acc>
                    <m:r>
                      <a:rPr lang="en-US" sz="4400" b="1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acc>
                  </m:oMath>
                </a14:m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lvl="0" indent="0">
                  <a:buNone/>
                </a:pP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H.</a:t>
                </a:r>
              </a:p>
              <a:p>
                <a:pPr marL="0" lvl="0" indent="0">
                  <a:buNone/>
                </a:pP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tam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ABC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09" y="2898272"/>
                <a:ext cx="11820525" cy="10665327"/>
              </a:xfrm>
              <a:prstGeom prst="rect">
                <a:avLst/>
              </a:prstGeom>
              <a:blipFill>
                <a:blip r:embed="rId3"/>
                <a:stretch>
                  <a:fillRect l="-2009" t="-171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1E38C857-19BA-4D3F-8A2C-FAB8063383BF}"/>
              </a:ext>
            </a:extLst>
          </p:cNvPr>
          <p:cNvGrpSpPr/>
          <p:nvPr/>
        </p:nvGrpSpPr>
        <p:grpSpPr>
          <a:xfrm>
            <a:off x="533400" y="1828800"/>
            <a:ext cx="16319850" cy="1003586"/>
            <a:chOff x="22440" y="-84541"/>
            <a:chExt cx="3096839" cy="43274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A1DAFE8-232B-4B1C-86B5-2E04DA1DBB52}"/>
                </a:ext>
              </a:extLst>
            </p:cNvPr>
            <p:cNvGrpSpPr/>
            <p:nvPr/>
          </p:nvGrpSpPr>
          <p:grpSpPr>
            <a:xfrm>
              <a:off x="22440" y="-83115"/>
              <a:ext cx="1127852" cy="431321"/>
              <a:chOff x="31572" y="-115954"/>
              <a:chExt cx="1586907" cy="533781"/>
            </a:xfrm>
          </p:grpSpPr>
          <p:sp>
            <p:nvSpPr>
              <p:cNvPr id="17" name="Arrow: Pentagon 16">
                <a:extLst>
                  <a:ext uri="{FF2B5EF4-FFF2-40B4-BE49-F238E27FC236}">
                    <a16:creationId xmlns:a16="http://schemas.microsoft.com/office/drawing/2014/main" id="{D3555F39-075F-4F66-97CD-74F676A8EB96}"/>
                  </a:ext>
                </a:extLst>
              </p:cNvPr>
              <p:cNvSpPr/>
              <p:nvPr/>
            </p:nvSpPr>
            <p:spPr>
              <a:xfrm>
                <a:off x="204585" y="-114253"/>
                <a:ext cx="1413894" cy="532080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Arrow: Chevron 17">
                <a:extLst>
                  <a:ext uri="{FF2B5EF4-FFF2-40B4-BE49-F238E27FC236}">
                    <a16:creationId xmlns:a16="http://schemas.microsoft.com/office/drawing/2014/main" id="{77FCAFCA-03EA-462D-AB95-7A728A62588E}"/>
                  </a:ext>
                </a:extLst>
              </p:cNvPr>
              <p:cNvSpPr/>
              <p:nvPr/>
            </p:nvSpPr>
            <p:spPr>
              <a:xfrm>
                <a:off x="31572" y="-114253"/>
                <a:ext cx="142414" cy="528615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Arrow: Chevron 18">
                <a:extLst>
                  <a:ext uri="{FF2B5EF4-FFF2-40B4-BE49-F238E27FC236}">
                    <a16:creationId xmlns:a16="http://schemas.microsoft.com/office/drawing/2014/main" id="{239EA3BC-9EBA-4C16-AC46-2CD85D80D640}"/>
                  </a:ext>
                </a:extLst>
              </p:cNvPr>
              <p:cNvSpPr/>
              <p:nvPr/>
            </p:nvSpPr>
            <p:spPr>
              <a:xfrm>
                <a:off x="116273" y="-115954"/>
                <a:ext cx="173013" cy="530316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" name="TextBox 56">
              <a:extLst>
                <a:ext uri="{FF2B5EF4-FFF2-40B4-BE49-F238E27FC236}">
                  <a16:creationId xmlns:a16="http://schemas.microsoft.com/office/drawing/2014/main" id="{F5411963-BD80-428C-80CC-FB8B2464281C}"/>
                </a:ext>
              </a:extLst>
            </p:cNvPr>
            <p:cNvSpPr txBox="1"/>
            <p:nvPr/>
          </p:nvSpPr>
          <p:spPr>
            <a:xfrm>
              <a:off x="227351" y="-84541"/>
              <a:ext cx="2891928" cy="429947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Luyện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tập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4. </a:t>
              </a:r>
              <a:endParaRPr lang="en-US" sz="5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D4E216E-7303-489C-AE67-E0E641810D52}"/>
              </a:ext>
            </a:extLst>
          </p:cNvPr>
          <p:cNvSpPr txBox="1"/>
          <p:nvPr/>
        </p:nvSpPr>
        <p:spPr>
          <a:xfrm>
            <a:off x="5791200" y="7310187"/>
            <a:ext cx="2514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Lời</a:t>
            </a:r>
            <a:r>
              <a:rPr lang="en-US" sz="4400" b="1" i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i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endParaRPr lang="en-US" sz="4400" i="1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4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2448309" y="2898272"/>
            <a:ext cx="11630891" cy="10665327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26C9A1-6FBE-447D-B798-30F5F26E0EAE}"/>
                  </a:ext>
                </a:extLst>
              </p:cNvPr>
              <p:cNvSpPr txBox="1"/>
              <p:nvPr/>
            </p:nvSpPr>
            <p:spPr>
              <a:xfrm>
                <a:off x="838200" y="8261027"/>
                <a:ext cx="11740376" cy="50766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𝑯</m:t>
                    </m:r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trực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tam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𝑨𝑩𝑪</m:t>
                    </m:r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𝑨𝑯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⊥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𝑩𝑪</m:t>
                    </m:r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𝑩𝑯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⊥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𝑪𝑨</m:t>
                    </m:r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 marL="457200">
                  <a:lnSpc>
                    <a:spcPct val="150000"/>
                  </a:lnSpc>
                </a:pP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do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𝑨𝑯</m:t>
                        </m:r>
                      </m:e>
                    </m:acc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⊥</m:t>
                    </m:r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𝑩𝑪</m:t>
                        </m:r>
                      </m:e>
                    </m:acc>
                    <m:r>
                      <m:rPr>
                        <m:nor/>
                      </m:rPr>
                      <a:rPr lang="en-US" sz="4400" b="1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US" sz="4400" b="1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v</m:t>
                    </m:r>
                    <m:r>
                      <m:rPr>
                        <m:nor/>
                      </m:rPr>
                      <a:rPr lang="en-US" sz="4400" b="1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à </m:t>
                    </m:r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𝑩𝑯</m:t>
                        </m:r>
                      </m:e>
                    </m:acc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⊥</m:t>
                    </m:r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𝑪𝑨</m:t>
                        </m:r>
                      </m:e>
                    </m:acc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suy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</a:t>
                </a:r>
                <a:endParaRPr lang="en-US" sz="44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45720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𝑨𝑯</m:t>
                          </m:r>
                        </m:e>
                      </m:acc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𝑩𝑪</m:t>
                          </m:r>
                        </m:e>
                      </m:acc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𝟎</m:t>
                      </m:r>
                      <m:r>
                        <m:rPr>
                          <m:nor/>
                        </m:rPr>
                        <a:rPr lang="en-US" sz="4400" b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4400" b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en-US" sz="4400" b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à 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𝑩𝑯</m:t>
                          </m:r>
                        </m:e>
                      </m:acc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𝑪𝑨</m:t>
                          </m:r>
                        </m:e>
                      </m:acc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=</m:t>
                      </m:r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𝟎</m:t>
                      </m:r>
                    </m:oMath>
                  </m:oMathPara>
                </a14:m>
                <a:endParaRPr lang="en-US" sz="44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sz="4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D26C9A1-6FBE-447D-B798-30F5F26E0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261027"/>
                <a:ext cx="11740376" cy="5076646"/>
              </a:xfrm>
              <a:prstGeom prst="rect">
                <a:avLst/>
              </a:prstGeom>
              <a:blipFill>
                <a:blip r:embed="rId4"/>
                <a:stretch>
                  <a:fillRect l="-2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1A1C60-D6BF-43FD-BA57-9EE58A9486AB}"/>
                  </a:ext>
                </a:extLst>
              </p:cNvPr>
              <p:cNvSpPr txBox="1"/>
              <p:nvPr/>
            </p:nvSpPr>
            <p:spPr>
              <a:xfrm>
                <a:off x="12578576" y="6479673"/>
                <a:ext cx="11740376" cy="7083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400" b="1" dirty="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b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sử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𝑯</m:t>
                    </m:r>
                    <m:d>
                      <m:d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𝒙</m:t>
                        </m:r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; </m:t>
                        </m:r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𝑨𝑯</m:t>
                          </m:r>
                        </m:e>
                      </m:acc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𝒙</m:t>
                          </m:r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; </m:t>
                          </m:r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𝒚</m:t>
                          </m:r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, 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𝑩𝑪</m:t>
                          </m:r>
                        </m:e>
                      </m:acc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𝟎</m:t>
                          </m:r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; </m:t>
                          </m:r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𝟗</m:t>
                          </m:r>
                        </m:e>
                      </m:d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, </m:t>
                      </m:r>
                      <m:r>
                        <a:rPr lang="en-US" sz="44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4400" b="1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𝑩𝑯</m:t>
                          </m:r>
                        </m:e>
                      </m:acc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𝒙</m:t>
                          </m:r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𝟖</m:t>
                          </m:r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; </m:t>
                          </m:r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𝒚</m:t>
                          </m:r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, 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𝑪𝑨</m:t>
                          </m:r>
                        </m:e>
                      </m:acc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𝟗</m:t>
                          </m:r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; −</m:t>
                          </m:r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𝟔</m:t>
                          </m:r>
                        </m:e>
                      </m:d>
                    </m:oMath>
                  </m:oMathPara>
                </a14:m>
                <a:endParaRPr lang="en-US" sz="44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𝑯</m:t>
                    </m:r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trực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tam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𝑨𝑩𝑪</m:t>
                    </m:r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&amp;</m:t>
                            </m:r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𝑨𝑯</m:t>
                                </m:r>
                              </m:e>
                            </m:acc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𝑩𝑪</m:t>
                                </m:r>
                              </m:e>
                            </m:acc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&amp; </m:t>
                            </m:r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𝑩𝑯</m:t>
                                </m:r>
                              </m:e>
                            </m:acc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⋅</m:t>
                            </m:r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𝑪𝑨</m:t>
                                </m:r>
                              </m:e>
                            </m:acc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e>
                        </m:eqArr>
                      </m:e>
                    </m:d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⇔</m:t>
                    </m:r>
                    <m:d>
                      <m:dPr>
                        <m:begChr m:val="{"/>
                        <m:endChr m:val="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&amp;</m:t>
                            </m:r>
                            <m:d>
                              <m:dPr>
                                <m:ctrlP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e>
                            </m:d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  <m: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e>
                            </m:d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.</m:t>
                            </m:r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𝟗</m:t>
                            </m:r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e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&amp;−</m:t>
                            </m:r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𝟗</m:t>
                            </m:r>
                            <m:d>
                              <m:dPr>
                                <m:ctrlP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𝒙</m:t>
                                </m:r>
                                <m: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𝟖</m:t>
                                </m:r>
                              </m:e>
                            </m:d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𝟔</m:t>
                            </m:r>
                            <m:d>
                              <m:dPr>
                                <m:ctrlP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𝒚</m:t>
                                </m:r>
                                <m: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e>
                            </m:d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𝟎</m:t>
                            </m:r>
                          </m:e>
                        </m:eqArr>
                      </m:e>
                    </m:d>
                  </m:oMath>
                </a14:m>
                <a:endParaRPr lang="en-US" sz="4400" b="1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400" b="1" dirty="0">
                    <a:effectLst/>
                    <a:ea typeface="Calibri" panose="020F0502020204030204" pitchFamily="34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⇔</m:t>
                    </m:r>
                    <m:d>
                      <m:dPr>
                        <m:begChr m:val="{"/>
                        <m:endChr m:val="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&amp;</m:t>
                            </m:r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𝟔</m:t>
                            </m:r>
                          </m:e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&amp;</m:t>
                            </m:r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e>
                        </m:eqArr>
                      </m:e>
                    </m:d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⇒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𝑯</m:t>
                    </m:r>
                    <m:d>
                      <m:d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𝟔</m:t>
                        </m:r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; </m:t>
                        </m:r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e>
                    </m:d>
                  </m:oMath>
                </a14:m>
                <a:endParaRPr lang="en-US" sz="44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1A1C60-D6BF-43FD-BA57-9EE58A948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8576" y="6479673"/>
                <a:ext cx="11740376" cy="7083927"/>
              </a:xfrm>
              <a:prstGeom prst="rect">
                <a:avLst/>
              </a:prstGeom>
              <a:blipFill>
                <a:blip r:embed="rId5"/>
                <a:stretch>
                  <a:fillRect l="-2077" t="-2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6759E1-5B0D-48D6-9561-4ED1C7EB92AE}"/>
              </a:ext>
            </a:extLst>
          </p:cNvPr>
          <p:cNvCxnSpPr>
            <a:cxnSpLocks/>
          </p:cNvCxnSpPr>
          <p:nvPr/>
        </p:nvCxnSpPr>
        <p:spPr>
          <a:xfrm flipH="1">
            <a:off x="16064445" y="3279273"/>
            <a:ext cx="1461555" cy="24384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4DBAAFB-113A-4EB7-90D4-1132390B1CA8}"/>
              </a:ext>
            </a:extLst>
          </p:cNvPr>
          <p:cNvCxnSpPr>
            <a:cxnSpLocks/>
          </p:cNvCxnSpPr>
          <p:nvPr/>
        </p:nvCxnSpPr>
        <p:spPr>
          <a:xfrm>
            <a:off x="17526000" y="3301007"/>
            <a:ext cx="3505200" cy="24384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C4BA3A5-BFD0-4AC9-9682-EF8A4DF28B05}"/>
              </a:ext>
            </a:extLst>
          </p:cNvPr>
          <p:cNvCxnSpPr>
            <a:cxnSpLocks/>
          </p:cNvCxnSpPr>
          <p:nvPr/>
        </p:nvCxnSpPr>
        <p:spPr>
          <a:xfrm>
            <a:off x="16078200" y="5698623"/>
            <a:ext cx="4914900" cy="382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FE8D35A2-6212-43E3-A739-452C8252779C}"/>
              </a:ext>
            </a:extLst>
          </p:cNvPr>
          <p:cNvSpPr/>
          <p:nvPr/>
        </p:nvSpPr>
        <p:spPr>
          <a:xfrm>
            <a:off x="16611600" y="2693296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A3FDCD-F4A3-44C7-A6F8-E5338E3CC52D}"/>
              </a:ext>
            </a:extLst>
          </p:cNvPr>
          <p:cNvSpPr/>
          <p:nvPr/>
        </p:nvSpPr>
        <p:spPr>
          <a:xfrm>
            <a:off x="15240000" y="5336673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BC41A4-96AB-4246-8CAE-CC74A3634249}"/>
              </a:ext>
            </a:extLst>
          </p:cNvPr>
          <p:cNvSpPr/>
          <p:nvPr/>
        </p:nvSpPr>
        <p:spPr>
          <a:xfrm>
            <a:off x="20789126" y="5412874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A45A7AF-1B60-4620-9C99-BA4AE2B45FEC}"/>
              </a:ext>
            </a:extLst>
          </p:cNvPr>
          <p:cNvCxnSpPr>
            <a:cxnSpLocks/>
          </p:cNvCxnSpPr>
          <p:nvPr/>
        </p:nvCxnSpPr>
        <p:spPr>
          <a:xfrm>
            <a:off x="17526000" y="3333740"/>
            <a:ext cx="0" cy="238393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E76E542F-96C3-4366-B35E-7695EE905D82}"/>
              </a:ext>
            </a:extLst>
          </p:cNvPr>
          <p:cNvSpPr/>
          <p:nvPr/>
        </p:nvSpPr>
        <p:spPr>
          <a:xfrm>
            <a:off x="17087850" y="5565273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17006A0-17AA-491E-A9F1-1454E690BBD8}"/>
              </a:ext>
            </a:extLst>
          </p:cNvPr>
          <p:cNvSpPr/>
          <p:nvPr/>
        </p:nvSpPr>
        <p:spPr>
          <a:xfrm>
            <a:off x="17526000" y="5412873"/>
            <a:ext cx="228599" cy="266599"/>
          </a:xfrm>
          <a:prstGeom prst="rect">
            <a:avLst/>
          </a:prstGeom>
          <a:noFill/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052B152-353C-4C95-9585-448387A5EAC4}"/>
              </a:ext>
            </a:extLst>
          </p:cNvPr>
          <p:cNvCxnSpPr>
            <a:cxnSpLocks/>
          </p:cNvCxnSpPr>
          <p:nvPr/>
        </p:nvCxnSpPr>
        <p:spPr>
          <a:xfrm flipV="1">
            <a:off x="16078200" y="3417196"/>
            <a:ext cx="1704975" cy="226227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75B8B526-686A-42F4-9C79-AF4DB6D6A391}"/>
              </a:ext>
            </a:extLst>
          </p:cNvPr>
          <p:cNvSpPr/>
          <p:nvPr/>
        </p:nvSpPr>
        <p:spPr>
          <a:xfrm rot="18278314">
            <a:off x="17623907" y="3491292"/>
            <a:ext cx="301545" cy="298561"/>
          </a:xfrm>
          <a:prstGeom prst="rect">
            <a:avLst/>
          </a:prstGeom>
          <a:noFill/>
          <a:ln w="762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6A22D7C-F338-484C-A05B-53873ACCEB86}"/>
              </a:ext>
            </a:extLst>
          </p:cNvPr>
          <p:cNvSpPr/>
          <p:nvPr/>
        </p:nvSpPr>
        <p:spPr>
          <a:xfrm>
            <a:off x="17526000" y="2647450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DE3C8D2-18FA-4F2D-85A6-B42B85D21D09}"/>
              </a:ext>
            </a:extLst>
          </p:cNvPr>
          <p:cNvSpPr/>
          <p:nvPr/>
        </p:nvSpPr>
        <p:spPr>
          <a:xfrm>
            <a:off x="12831240" y="4042615"/>
            <a:ext cx="3327811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 4.45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9528365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0" grpId="0"/>
      <p:bldP spid="31" grpId="0"/>
      <p:bldP spid="32" grpId="0"/>
      <p:bldP spid="36" grpId="0"/>
      <p:bldP spid="35" grpId="0" animBg="1"/>
      <p:bldP spid="40" grpId="0" animBg="1"/>
      <p:bldP spid="42" grpId="0"/>
      <p:bldP spid="4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8709" y="3276600"/>
                <a:ext cx="11935691" cy="102266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tam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ABC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A(-1; 2), B(8; -1), C(8; 8).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trực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tam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lvl="0" indent="0">
                  <a:buNone/>
                </a:pP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Chứng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minh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rằng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𝑨𝑯</m:t>
                        </m:r>
                      </m:e>
                    </m:acc>
                    <m:r>
                      <a:rPr lang="en-US" sz="4400" b="1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𝑩𝑯</m:t>
                        </m:r>
                      </m:e>
                    </m:acc>
                    <m:r>
                      <a:rPr lang="en-US" sz="4400" b="1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𝑩𝑯</m:t>
                        </m:r>
                      </m:e>
                    </m:acc>
                    <m:r>
                      <a:rPr lang="en-US" sz="4400" b="1" i="1" smtClean="0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𝑪𝑨</m:t>
                        </m:r>
                      </m:e>
                    </m:acc>
                    <m:r>
                      <a:rPr lang="en-US" sz="4400" b="1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4400" b="1" i="1" smtClean="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acc>
                  </m:oMath>
                </a14:m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lvl="0" indent="0">
                  <a:buNone/>
                </a:pP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H.</a:t>
                </a:r>
              </a:p>
              <a:p>
                <a:pPr marL="0" lvl="0" indent="0">
                  <a:buNone/>
                </a:pP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tam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ABC</a:t>
                </a: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09" y="3276600"/>
                <a:ext cx="11935691" cy="10226676"/>
              </a:xfrm>
              <a:prstGeom prst="rect">
                <a:avLst/>
              </a:prstGeom>
              <a:blipFill>
                <a:blip r:embed="rId3"/>
                <a:stretch>
                  <a:fillRect l="-1990" t="-184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1E38C857-19BA-4D3F-8A2C-FAB8063383BF}"/>
              </a:ext>
            </a:extLst>
          </p:cNvPr>
          <p:cNvGrpSpPr/>
          <p:nvPr/>
        </p:nvGrpSpPr>
        <p:grpSpPr>
          <a:xfrm>
            <a:off x="838200" y="1974708"/>
            <a:ext cx="16319850" cy="1003586"/>
            <a:chOff x="22440" y="-84541"/>
            <a:chExt cx="3096839" cy="43274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A1DAFE8-232B-4B1C-86B5-2E04DA1DBB52}"/>
                </a:ext>
              </a:extLst>
            </p:cNvPr>
            <p:cNvGrpSpPr/>
            <p:nvPr/>
          </p:nvGrpSpPr>
          <p:grpSpPr>
            <a:xfrm>
              <a:off x="22440" y="-83115"/>
              <a:ext cx="1127852" cy="431321"/>
              <a:chOff x="31572" y="-115954"/>
              <a:chExt cx="1586907" cy="533781"/>
            </a:xfrm>
          </p:grpSpPr>
          <p:sp>
            <p:nvSpPr>
              <p:cNvPr id="17" name="Arrow: Pentagon 16">
                <a:extLst>
                  <a:ext uri="{FF2B5EF4-FFF2-40B4-BE49-F238E27FC236}">
                    <a16:creationId xmlns:a16="http://schemas.microsoft.com/office/drawing/2014/main" id="{D3555F39-075F-4F66-97CD-74F676A8EB96}"/>
                  </a:ext>
                </a:extLst>
              </p:cNvPr>
              <p:cNvSpPr/>
              <p:nvPr/>
            </p:nvSpPr>
            <p:spPr>
              <a:xfrm>
                <a:off x="204585" y="-114253"/>
                <a:ext cx="1413894" cy="532080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Arrow: Chevron 17">
                <a:extLst>
                  <a:ext uri="{FF2B5EF4-FFF2-40B4-BE49-F238E27FC236}">
                    <a16:creationId xmlns:a16="http://schemas.microsoft.com/office/drawing/2014/main" id="{77FCAFCA-03EA-462D-AB95-7A728A62588E}"/>
                  </a:ext>
                </a:extLst>
              </p:cNvPr>
              <p:cNvSpPr/>
              <p:nvPr/>
            </p:nvSpPr>
            <p:spPr>
              <a:xfrm>
                <a:off x="31572" y="-114253"/>
                <a:ext cx="142414" cy="528615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Arrow: Chevron 18">
                <a:extLst>
                  <a:ext uri="{FF2B5EF4-FFF2-40B4-BE49-F238E27FC236}">
                    <a16:creationId xmlns:a16="http://schemas.microsoft.com/office/drawing/2014/main" id="{239EA3BC-9EBA-4C16-AC46-2CD85D80D640}"/>
                  </a:ext>
                </a:extLst>
              </p:cNvPr>
              <p:cNvSpPr/>
              <p:nvPr/>
            </p:nvSpPr>
            <p:spPr>
              <a:xfrm>
                <a:off x="116273" y="-115954"/>
                <a:ext cx="173013" cy="530316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" name="TextBox 56">
              <a:extLst>
                <a:ext uri="{FF2B5EF4-FFF2-40B4-BE49-F238E27FC236}">
                  <a16:creationId xmlns:a16="http://schemas.microsoft.com/office/drawing/2014/main" id="{F5411963-BD80-428C-80CC-FB8B2464281C}"/>
                </a:ext>
              </a:extLst>
            </p:cNvPr>
            <p:cNvSpPr txBox="1"/>
            <p:nvPr/>
          </p:nvSpPr>
          <p:spPr>
            <a:xfrm>
              <a:off x="227351" y="-84541"/>
              <a:ext cx="2891928" cy="429947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Luyện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tập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4. </a:t>
              </a:r>
              <a:endParaRPr lang="en-US" sz="5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D4E216E-7303-489C-AE67-E0E641810D52}"/>
              </a:ext>
            </a:extLst>
          </p:cNvPr>
          <p:cNvSpPr txBox="1"/>
          <p:nvPr/>
        </p:nvSpPr>
        <p:spPr>
          <a:xfrm>
            <a:off x="5791200" y="7688514"/>
            <a:ext cx="2514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Lời</a:t>
            </a:r>
            <a:r>
              <a:rPr lang="en-US" sz="4400" b="1" i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i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endParaRPr lang="en-US" sz="4400" i="1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4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2572999" y="3276600"/>
            <a:ext cx="11402292" cy="10226676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ahoma" panose="020B0604030504040204" pitchFamily="34" charset="0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6759E1-5B0D-48D6-9561-4ED1C7EB92AE}"/>
              </a:ext>
            </a:extLst>
          </p:cNvPr>
          <p:cNvCxnSpPr>
            <a:cxnSpLocks/>
          </p:cNvCxnSpPr>
          <p:nvPr/>
        </p:nvCxnSpPr>
        <p:spPr>
          <a:xfrm flipH="1">
            <a:off x="16064445" y="3657600"/>
            <a:ext cx="1461555" cy="24384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4DBAAFB-113A-4EB7-90D4-1132390B1CA8}"/>
              </a:ext>
            </a:extLst>
          </p:cNvPr>
          <p:cNvCxnSpPr>
            <a:cxnSpLocks/>
          </p:cNvCxnSpPr>
          <p:nvPr/>
        </p:nvCxnSpPr>
        <p:spPr>
          <a:xfrm>
            <a:off x="17526000" y="3679334"/>
            <a:ext cx="3505200" cy="24384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C4BA3A5-BFD0-4AC9-9682-EF8A4DF28B05}"/>
              </a:ext>
            </a:extLst>
          </p:cNvPr>
          <p:cNvCxnSpPr>
            <a:cxnSpLocks/>
          </p:cNvCxnSpPr>
          <p:nvPr/>
        </p:nvCxnSpPr>
        <p:spPr>
          <a:xfrm>
            <a:off x="16078200" y="6076950"/>
            <a:ext cx="4914900" cy="382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FE8D35A2-6212-43E3-A739-452C8252779C}"/>
              </a:ext>
            </a:extLst>
          </p:cNvPr>
          <p:cNvSpPr/>
          <p:nvPr/>
        </p:nvSpPr>
        <p:spPr>
          <a:xfrm>
            <a:off x="16611600" y="3071623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3A3FDCD-F4A3-44C7-A6F8-E5338E3CC52D}"/>
              </a:ext>
            </a:extLst>
          </p:cNvPr>
          <p:cNvSpPr/>
          <p:nvPr/>
        </p:nvSpPr>
        <p:spPr>
          <a:xfrm>
            <a:off x="15240000" y="5715000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BC41A4-96AB-4246-8CAE-CC74A3634249}"/>
              </a:ext>
            </a:extLst>
          </p:cNvPr>
          <p:cNvSpPr/>
          <p:nvPr/>
        </p:nvSpPr>
        <p:spPr>
          <a:xfrm>
            <a:off x="20789126" y="5791201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A45A7AF-1B60-4620-9C99-BA4AE2B45FEC}"/>
              </a:ext>
            </a:extLst>
          </p:cNvPr>
          <p:cNvCxnSpPr>
            <a:cxnSpLocks/>
          </p:cNvCxnSpPr>
          <p:nvPr/>
        </p:nvCxnSpPr>
        <p:spPr>
          <a:xfrm>
            <a:off x="17526000" y="3712067"/>
            <a:ext cx="0" cy="238393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E76E542F-96C3-4366-B35E-7695EE905D82}"/>
              </a:ext>
            </a:extLst>
          </p:cNvPr>
          <p:cNvSpPr/>
          <p:nvPr/>
        </p:nvSpPr>
        <p:spPr>
          <a:xfrm>
            <a:off x="17087850" y="5943600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17006A0-17AA-491E-A9F1-1454E690BBD8}"/>
              </a:ext>
            </a:extLst>
          </p:cNvPr>
          <p:cNvSpPr/>
          <p:nvPr/>
        </p:nvSpPr>
        <p:spPr>
          <a:xfrm>
            <a:off x="17526000" y="5791200"/>
            <a:ext cx="228599" cy="266599"/>
          </a:xfrm>
          <a:prstGeom prst="rect">
            <a:avLst/>
          </a:prstGeom>
          <a:noFill/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052B152-353C-4C95-9585-448387A5EAC4}"/>
              </a:ext>
            </a:extLst>
          </p:cNvPr>
          <p:cNvCxnSpPr>
            <a:cxnSpLocks/>
          </p:cNvCxnSpPr>
          <p:nvPr/>
        </p:nvCxnSpPr>
        <p:spPr>
          <a:xfrm flipV="1">
            <a:off x="16078200" y="3795523"/>
            <a:ext cx="1704975" cy="226227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75B8B526-686A-42F4-9C79-AF4DB6D6A391}"/>
              </a:ext>
            </a:extLst>
          </p:cNvPr>
          <p:cNvSpPr/>
          <p:nvPr/>
        </p:nvSpPr>
        <p:spPr>
          <a:xfrm rot="18278314">
            <a:off x="17623907" y="3869619"/>
            <a:ext cx="301545" cy="298561"/>
          </a:xfrm>
          <a:prstGeom prst="rect">
            <a:avLst/>
          </a:prstGeom>
          <a:noFill/>
          <a:ln w="762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6A22D7C-F338-484C-A05B-53873ACCEB86}"/>
              </a:ext>
            </a:extLst>
          </p:cNvPr>
          <p:cNvSpPr/>
          <p:nvPr/>
        </p:nvSpPr>
        <p:spPr>
          <a:xfrm>
            <a:off x="17526000" y="3025777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K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DE3C8D2-18FA-4F2D-85A6-B42B85D21D09}"/>
              </a:ext>
            </a:extLst>
          </p:cNvPr>
          <p:cNvSpPr/>
          <p:nvPr/>
        </p:nvSpPr>
        <p:spPr>
          <a:xfrm>
            <a:off x="12573000" y="4420942"/>
            <a:ext cx="3586051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800" b="1" dirty="0" err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Hình</a:t>
            </a:r>
            <a:r>
              <a:rPr lang="en-US" sz="4800" b="1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4.45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00317AA-6FF9-46AB-B915-47C7B31E6DC8}"/>
                  </a:ext>
                </a:extLst>
              </p:cNvPr>
              <p:cNvSpPr txBox="1"/>
              <p:nvPr/>
            </p:nvSpPr>
            <p:spPr>
              <a:xfrm>
                <a:off x="408709" y="8932004"/>
                <a:ext cx="11935690" cy="3616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14:m>
                  <m:oMath xmlns:m="http://schemas.openxmlformats.org/officeDocument/2006/math"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𝑨𝑩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𝟖</m:t>
                                </m:r>
                                <m: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e>
                            </m:d>
                          </m:e>
                          <m:sup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  <m: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r>
                                  <a:rPr lang="en-US" sz="44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e>
                            </m:d>
                          </m:e>
                          <m:sup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endParaRPr lang="en-US" sz="4400" b="1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4400" b="1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𝟗𝟎</m:t>
                        </m:r>
                      </m:e>
                    </m:rad>
                  </m:oMath>
                </a14:m>
                <a:endParaRPr lang="en-US" sz="4400" b="1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sz="4400" b="1" dirty="0">
                    <a:ea typeface="Calibri" panose="020F0502020204030204" pitchFamily="34" charset="0"/>
                    <a:cs typeface="Times New Roman" panose="02020603050405020304" pitchFamily="18" charset="0"/>
                  </a:rPr>
                  <a:t>            </a:t>
                </a:r>
                <a14:m>
                  <m:oMath xmlns:m="http://schemas.openxmlformats.org/officeDocument/2006/math"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𝟑</m:t>
                    </m:r>
                    <m:rad>
                      <m:radPr>
                        <m:degHide m:val="on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𝟏𝟎</m:t>
                        </m:r>
                      </m:e>
                    </m:rad>
                  </m:oMath>
                </a14:m>
                <a:endParaRPr lang="en-US" sz="44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00317AA-6FF9-46AB-B915-47C7B31E6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09" y="8932004"/>
                <a:ext cx="11935690" cy="3616375"/>
              </a:xfrm>
              <a:prstGeom prst="rect">
                <a:avLst/>
              </a:prstGeom>
              <a:blipFill>
                <a:blip r:embed="rId4"/>
                <a:stretch>
                  <a:fillRect l="-2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8EA0A30-1B6A-4DE9-BD3F-09A44CA2E6A5}"/>
                  </a:ext>
                </a:extLst>
              </p:cNvPr>
              <p:cNvSpPr txBox="1"/>
              <p:nvPr/>
            </p:nvSpPr>
            <p:spPr>
              <a:xfrm>
                <a:off x="13393178" y="7922971"/>
                <a:ext cx="8763001" cy="3657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2177278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4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𝑨𝑪</m:t>
                      </m:r>
                      <m:r>
                        <a:rPr kumimoji="0" lang="en-US" sz="4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0" lang="en-US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0" lang="en-US" sz="4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en-US" sz="4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4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𝟖</m:t>
                                  </m:r>
                                  <m:r>
                                    <a:rPr kumimoji="0" lang="en-US" sz="4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kumimoji="0" lang="en-US" sz="4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0" lang="en-US" sz="4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kumimoji="0" lang="en-US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4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en-US" sz="4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4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𝟖</m:t>
                                  </m:r>
                                  <m:r>
                                    <a:rPr kumimoji="0" lang="en-US" sz="4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kumimoji="0" lang="en-US" sz="4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0" lang="en-US" sz="4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kumimoji="0" lang="en-US" sz="4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2177278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4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     </m:t>
                      </m:r>
                      <m:r>
                        <a:rPr kumimoji="0" lang="en-US" sz="4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0" lang="en-US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0" lang="en-US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𝟏𝟏𝟕</m:t>
                          </m:r>
                        </m:e>
                      </m:rad>
                      <m:r>
                        <a:rPr kumimoji="0" lang="en-US" sz="4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0" lang="en-US" sz="4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𝟑</m:t>
                      </m:r>
                      <m:rad>
                        <m:radPr>
                          <m:degHide m:val="on"/>
                          <m:ctrlPr>
                            <a:rPr kumimoji="0" lang="en-US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0" lang="en-US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𝟏𝟑</m:t>
                          </m:r>
                        </m:e>
                      </m:rad>
                    </m:oMath>
                  </m:oMathPara>
                </a14:m>
                <a:endParaRPr kumimoji="0" 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marR="0" lvl="0" indent="0" algn="l" defTabSz="2177278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0" lang="en-US" sz="4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𝑩𝑪</m:t>
                      </m:r>
                      <m:r>
                        <a:rPr kumimoji="0" lang="en-US" sz="4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0" lang="en-US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0" lang="en-US" sz="4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en-US" sz="4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4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𝟖</m:t>
                                  </m:r>
                                  <m:r>
                                    <a:rPr kumimoji="0" lang="en-US" sz="4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kumimoji="0" lang="en-US" sz="4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𝟖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0" lang="en-US" sz="4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kumimoji="0" lang="en-US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kumimoji="0" lang="en-US" sz="4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en-US" sz="4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sz="4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𝟖</m:t>
                                  </m:r>
                                  <m:r>
                                    <a:rPr kumimoji="0" lang="en-US" sz="4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kumimoji="0" lang="en-US" sz="4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e>
                            <m:sup>
                              <m:r>
                                <a:rPr kumimoji="0" lang="en-US" sz="4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kumimoji="0" lang="en-US" sz="44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2177278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4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Calibri" panose="020F0502020204030204" pitchFamily="34" charset="0"/>
                    <a:cs typeface="Times New Roman" panose="02020603050405020304" pitchFamily="18" charset="0"/>
                  </a:rPr>
                  <a:t>       </a:t>
                </a:r>
                <a14:m>
                  <m:oMath xmlns:m="http://schemas.openxmlformats.org/officeDocument/2006/math">
                    <m:r>
                      <a:rPr kumimoji="0" lang="en-US" sz="44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en-US" sz="44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𝟗</m:t>
                    </m:r>
                  </m:oMath>
                </a14:m>
                <a:endParaRPr kumimoji="0" 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8EA0A30-1B6A-4DE9-BD3F-09A44CA2E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3178" y="7922971"/>
                <a:ext cx="8763001" cy="36575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7222413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8709" y="3276600"/>
                <a:ext cx="12169867" cy="102266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lực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𝑭</m:t>
                        </m:r>
                      </m:e>
                    </m:acc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đổi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tác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động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vào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vật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đặt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lực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chuyển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động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từ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đến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B.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Lực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𝑭</m:t>
                        </m:r>
                      </m:e>
                    </m:acc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phân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tích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thành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lực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thành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m:rPr>
                        <m:nor/>
                      </m:rPr>
                      <a:rPr lang="en-US" sz="4400" b="1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 </m:t>
                    </m:r>
                    <m:r>
                      <a:rPr lang="en-US" sz="4400" b="1" i="0" smtClean="0">
                        <a:effectLst/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 </m:t>
                    </m:r>
                    <m:r>
                      <a:rPr lang="en-US" sz="4400" b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𝑭</m:t>
                        </m:r>
                      </m:e>
                    </m:acc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acc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sz="4400" b="1" dirty="0">
                  <a:latin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09" y="3276600"/>
                <a:ext cx="12169867" cy="10226676"/>
              </a:xfrm>
              <a:prstGeom prst="rect">
                <a:avLst/>
              </a:prstGeom>
              <a:blipFill>
                <a:blip r:embed="rId3"/>
                <a:stretch>
                  <a:fillRect l="-1952" t="-1191" r="-551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1E38C857-19BA-4D3F-8A2C-FAB8063383BF}"/>
              </a:ext>
            </a:extLst>
          </p:cNvPr>
          <p:cNvGrpSpPr/>
          <p:nvPr/>
        </p:nvGrpSpPr>
        <p:grpSpPr>
          <a:xfrm>
            <a:off x="838200" y="1974708"/>
            <a:ext cx="10350890" cy="1003586"/>
            <a:chOff x="22440" y="-84541"/>
            <a:chExt cx="1964175" cy="43274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A1DAFE8-232B-4B1C-86B5-2E04DA1DBB52}"/>
                </a:ext>
              </a:extLst>
            </p:cNvPr>
            <p:cNvGrpSpPr/>
            <p:nvPr/>
          </p:nvGrpSpPr>
          <p:grpSpPr>
            <a:xfrm>
              <a:off x="22440" y="-83115"/>
              <a:ext cx="910957" cy="431321"/>
              <a:chOff x="31572" y="-115954"/>
              <a:chExt cx="1281732" cy="533781"/>
            </a:xfrm>
          </p:grpSpPr>
          <p:sp>
            <p:nvSpPr>
              <p:cNvPr id="17" name="Arrow: Pentagon 16">
                <a:extLst>
                  <a:ext uri="{FF2B5EF4-FFF2-40B4-BE49-F238E27FC236}">
                    <a16:creationId xmlns:a16="http://schemas.microsoft.com/office/drawing/2014/main" id="{D3555F39-075F-4F66-97CD-74F676A8EB96}"/>
                  </a:ext>
                </a:extLst>
              </p:cNvPr>
              <p:cNvSpPr/>
              <p:nvPr/>
            </p:nvSpPr>
            <p:spPr>
              <a:xfrm>
                <a:off x="204585" y="-114253"/>
                <a:ext cx="1108719" cy="532080"/>
              </a:xfrm>
              <a:prstGeom prst="homePlate">
                <a:avLst/>
              </a:prstGeom>
              <a:solidFill>
                <a:srgbClr val="FCFFEF"/>
              </a:solidFill>
              <a:ln w="12700" cap="flat" cmpd="sng" algn="ctr">
                <a:solidFill>
                  <a:srgbClr val="ED7D31">
                    <a:lumMod val="20000"/>
                    <a:lumOff val="80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>
                  <a:lnSpc>
                    <a:spcPct val="106000"/>
                  </a:lnSpc>
                  <a:spcAft>
                    <a:spcPts val="800"/>
                  </a:spcAft>
                </a:pPr>
                <a:r>
                  <a:rPr lang="en-US" sz="1000" b="1" kern="1200">
                    <a:solidFill>
                      <a:srgbClr val="0000CC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endParaRPr lang="en-US" sz="120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Arrow: Chevron 17">
                <a:extLst>
                  <a:ext uri="{FF2B5EF4-FFF2-40B4-BE49-F238E27FC236}">
                    <a16:creationId xmlns:a16="http://schemas.microsoft.com/office/drawing/2014/main" id="{77FCAFCA-03EA-462D-AB95-7A728A62588E}"/>
                  </a:ext>
                </a:extLst>
              </p:cNvPr>
              <p:cNvSpPr/>
              <p:nvPr/>
            </p:nvSpPr>
            <p:spPr>
              <a:xfrm>
                <a:off x="31572" y="-114253"/>
                <a:ext cx="142414" cy="528615"/>
              </a:xfrm>
              <a:prstGeom prst="chevron">
                <a:avLst/>
              </a:prstGeom>
              <a:solidFill>
                <a:srgbClr val="447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Arrow: Chevron 18">
                <a:extLst>
                  <a:ext uri="{FF2B5EF4-FFF2-40B4-BE49-F238E27FC236}">
                    <a16:creationId xmlns:a16="http://schemas.microsoft.com/office/drawing/2014/main" id="{239EA3BC-9EBA-4C16-AC46-2CD85D80D640}"/>
                  </a:ext>
                </a:extLst>
              </p:cNvPr>
              <p:cNvSpPr/>
              <p:nvPr/>
            </p:nvSpPr>
            <p:spPr>
              <a:xfrm>
                <a:off x="116273" y="-115954"/>
                <a:ext cx="173013" cy="530316"/>
              </a:xfrm>
              <a:prstGeom prst="chevron">
                <a:avLst/>
              </a:prstGeom>
              <a:solidFill>
                <a:srgbClr val="FFC0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" name="TextBox 56">
              <a:extLst>
                <a:ext uri="{FF2B5EF4-FFF2-40B4-BE49-F238E27FC236}">
                  <a16:creationId xmlns:a16="http://schemas.microsoft.com/office/drawing/2014/main" id="{F5411963-BD80-428C-80CC-FB8B2464281C}"/>
                </a:ext>
              </a:extLst>
            </p:cNvPr>
            <p:cNvSpPr txBox="1"/>
            <p:nvPr/>
          </p:nvSpPr>
          <p:spPr>
            <a:xfrm>
              <a:off x="205603" y="-84541"/>
              <a:ext cx="1781012" cy="429947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Vận</a:t>
              </a:r>
              <a:r>
                <a:rPr lang="en-US" sz="5400" b="1" kern="1200" dirty="0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5400" b="1" kern="1200" dirty="0" err="1">
                  <a:solidFill>
                    <a:srgbClr val="0000CC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dụng</a:t>
              </a:r>
              <a:endParaRPr lang="en-US" sz="5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2965152" y="3276600"/>
            <a:ext cx="11010139" cy="10226676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1A1C60-D6BF-43FD-BA57-9EE58A9486AB}"/>
                  </a:ext>
                </a:extLst>
              </p:cNvPr>
              <p:cNvSpPr txBox="1"/>
              <p:nvPr/>
            </p:nvSpPr>
            <p:spPr>
              <a:xfrm>
                <a:off x="13335000" y="6759147"/>
                <a:ext cx="11740376" cy="71490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lvl="0" indent="-342900" algn="just">
                  <a:lnSpc>
                    <a:spcPct val="150000"/>
                  </a:lnSpc>
                  <a:buFont typeface="+mj-lt"/>
                  <a:buAutoNum type="alphaLcParenR"/>
                </a:pP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</a:p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sz="44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4400" b="1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400" b="1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𝑭</m:t>
                                      </m:r>
                                    </m:e>
                                    <m:sub>
                                      <m:r>
                                        <a:rPr lang="en-US" sz="4400" b="1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sz="44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4400" b="1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400" b="1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𝑭</m:t>
                                      </m:r>
                                    </m:e>
                                    <m:sub>
                                      <m:r>
                                        <a:rPr lang="en-US" sz="4400" b="1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44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4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44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acc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𝑭</m:t>
                              </m:r>
                            </m:e>
                            <m:sub>
                              <m: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acc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sz="44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44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𝑭</m:t>
                                  </m:r>
                                </m:e>
                                <m:sub>
                                  <m:r>
                                    <a:rPr lang="en-US" sz="44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func>
                        <m:func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𝒄𝒐𝒔</m:t>
                          </m:r>
                        </m:fName>
                        <m:e>
                          <m:d>
                            <m:dPr>
                              <m:ctrlP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sz="44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4400" b="1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400" b="1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𝑭</m:t>
                                      </m:r>
                                    </m:e>
                                    <m:sub>
                                      <m:r>
                                        <a:rPr lang="en-US" sz="4400" b="1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44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sz="44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en-US" sz="4400" b="1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4400" b="1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𝑭</m:t>
                                      </m:r>
                                    </m:e>
                                    <m:sub>
                                      <m:r>
                                        <a:rPr lang="en-US" sz="4400" b="1" i="1">
                                          <a:effectLst/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𝟐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func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bSup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sSub>
                        <m:sSub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func>
                        <m:func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𝒄𝒐𝒔</m:t>
                          </m:r>
                        </m:fName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𝟗</m:t>
                          </m:r>
                        </m:e>
                      </m:func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US" sz="44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°+</m:t>
                      </m:r>
                      <m:sSubSup>
                        <m:sSubSupPr>
                          <m:ctrlP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𝑭</m:t>
                          </m:r>
                        </m:e>
                        <m:sub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44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r>
                  <a:rPr lang="en-US" sz="4400" b="1" i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/>
                </a:r>
                <a:br>
                  <a:rPr lang="en-US" sz="4400" b="1" i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4400" b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b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𝑭</m:t>
                        </m:r>
                      </m:e>
                      <m:sub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b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𝑭</m:t>
                        </m:r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𝑭</m:t>
                            </m:r>
                          </m:e>
                        </m:acc>
                      </m:e>
                      <m:sup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mbria Math" panose="02040503050406030204" pitchFamily="18" charset="0"/>
                              </a:rPr>
                              <m:t>⇒</m:t>
                            </m:r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𝑭</m:t>
                        </m:r>
                      </m:e>
                    </m:acc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𝜶</m:t>
                    </m:r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tạo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bởi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𝑭</m:t>
                        </m:r>
                      </m:e>
                    </m:acc>
                  </m:oMath>
                </a14:m>
                <a:endParaRPr lang="en-US" sz="4400" b="1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</a:endParaRPr>
              </a:p>
              <a:p>
                <a:pPr marL="22860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400" b="1" dirty="0">
                    <a:effectLst/>
                    <a:ea typeface="Calibri" panose="020F0502020204030204" pitchFamily="34" charset="0"/>
                    <a:cs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Cambria Math" panose="02040503050406030204" pitchFamily="18" charset="0"/>
                      </a:rPr>
                      <m:t>⇒</m:t>
                    </m:r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𝑭</m:t>
                        </m:r>
                      </m:e>
                    </m:acc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.</m:t>
                    </m:r>
                    <m:func>
                      <m:funcPr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funcPr>
                      <m:fNam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𝒄𝒐𝒔</m:t>
                        </m:r>
                      </m:fName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𝜶</m:t>
                        </m:r>
                      </m:e>
                    </m:func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sz="4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61A1C60-D6BF-43FD-BA57-9EE58A9486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5000" y="6759147"/>
                <a:ext cx="11740376" cy="7149008"/>
              </a:xfrm>
              <a:prstGeom prst="rect">
                <a:avLst/>
              </a:prstGeom>
              <a:blipFill>
                <a:blip r:embed="rId4"/>
                <a:stretch>
                  <a:fillRect l="-2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6EC997D8-2B1B-4A87-9DAA-FE43868DB2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22674" y="3494978"/>
            <a:ext cx="5655425" cy="3429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BF7BC30-0365-4108-B78C-CD2EC0007BCB}"/>
                  </a:ext>
                </a:extLst>
              </p:cNvPr>
              <p:cNvSpPr txBox="1"/>
              <p:nvPr/>
            </p:nvSpPr>
            <p:spPr>
              <a:xfrm>
                <a:off x="499776" y="6690567"/>
                <a:ext cx="11647432" cy="3799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>
                  <a:lnSpc>
                    <a:spcPct val="106000"/>
                  </a:lnSpc>
                </a:pP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Dựa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vào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chất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tích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vô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thích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sao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công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sinh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bởi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lực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𝑭</m:t>
                        </m:r>
                      </m:e>
                    </m:acc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đã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đề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cập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ở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bằng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tổng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công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sinh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bởi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lực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  <m:r>
                      <a:rPr lang="en-US" sz="44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</a:rPr>
                      <m:t>.</m:t>
                    </m:r>
                  </m:oMath>
                </a14:m>
                <a:endParaRPr lang="en-US" sz="44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BF7BC30-0365-4108-B78C-CD2EC0007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776" y="6690567"/>
                <a:ext cx="11647432" cy="3799373"/>
              </a:xfrm>
              <a:prstGeom prst="rect">
                <a:avLst/>
              </a:prstGeom>
              <a:blipFill>
                <a:blip r:embed="rId6"/>
                <a:stretch>
                  <a:fillRect l="-2145" t="-4013" r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FB3EE486-06DD-4007-AE10-CD54D979FC8B}"/>
              </a:ext>
            </a:extLst>
          </p:cNvPr>
          <p:cNvSpPr txBox="1"/>
          <p:nvPr/>
        </p:nvSpPr>
        <p:spPr>
          <a:xfrm>
            <a:off x="13946500" y="5850369"/>
            <a:ext cx="2514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Lời</a:t>
            </a:r>
            <a:r>
              <a:rPr lang="en-US" sz="4400" b="1" i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i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endParaRPr lang="en-US" sz="4400" i="1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4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E119A91-B16D-438A-8B83-5AD2471CCB46}"/>
                  </a:ext>
                </a:extLst>
              </p:cNvPr>
              <p:cNvSpPr txBox="1"/>
              <p:nvPr/>
            </p:nvSpPr>
            <p:spPr>
              <a:xfrm>
                <a:off x="408709" y="9753600"/>
                <a:ext cx="11783291" cy="3799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just">
                  <a:lnSpc>
                    <a:spcPct val="106000"/>
                  </a:lnSpc>
                </a:pP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sử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lực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thành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phần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𝟐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tương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ứng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vuông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chuyển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động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vật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mối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quan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hệ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công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sinh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bởi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lực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  <m:t>𝑭</m:t>
                        </m:r>
                      </m:e>
                    </m:acc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lực</a:t>
                </a:r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sz="44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</a:rPr>
                              <m:t>𝟏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44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E119A91-B16D-438A-8B83-5AD2471CCB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09" y="9753600"/>
                <a:ext cx="11783291" cy="3799373"/>
              </a:xfrm>
              <a:prstGeom prst="rect">
                <a:avLst/>
              </a:prstGeom>
              <a:blipFill>
                <a:blip r:embed="rId7"/>
                <a:stretch>
                  <a:fillRect l="-2069" t="-2087" r="-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3329343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8710" y="3048000"/>
                <a:ext cx="11706880" cy="102266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4.21.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phẳng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Oxy,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hãy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mỗi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trường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hợp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=(−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),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);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),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);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=(−</m:t>
                    </m:r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),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;−</m:t>
                    </m:r>
                    <m:rad>
                      <m:radPr>
                        <m:degHide m:val="on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  <m:r>
                      <a:rPr lang="en-US" b="1" i="1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10" y="3048000"/>
                <a:ext cx="11706880" cy="10226676"/>
              </a:xfrm>
              <a:prstGeom prst="rect">
                <a:avLst/>
              </a:prstGeom>
              <a:blipFill>
                <a:blip r:embed="rId3"/>
                <a:stretch>
                  <a:fillRect l="-2289" t="-202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44400" y="3048000"/>
                <a:ext cx="11630891" cy="10226676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b="1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a)</a:t>
                </a:r>
                <a14:m>
                  <m:oMath xmlns:m="http://schemas.openxmlformats.org/officeDocument/2006/math">
                    <m:r>
                      <a:rPr lang="en-US" b="1" i="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1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𝒄𝒐𝒔</m:t>
                    </m:r>
                    <m:d>
                      <m:dPr>
                        <m:ctrlP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</m:acc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, 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𝒃</m:t>
                            </m:r>
                          </m:e>
                        </m:acc>
                      </m:e>
                    </m:d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𝟑</m:t>
                        </m:r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𝟔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1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𝟑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e>
                              <m:sup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.</m:t>
                        </m:r>
                        <m:rad>
                          <m:radPr>
                            <m:degHide m:val="on"/>
                            <m:ctrlP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e>
                              <m:sup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𝟔</m:t>
                                </m:r>
                              </m:e>
                              <m:sup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endParaRPr lang="en-US" b="1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</m:acc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, </m:t>
                          </m:r>
                          <m:acc>
                            <m:accPr>
                              <m:chr m:val="⃗"/>
                              <m:ctrlP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𝒃</m:t>
                              </m:r>
                            </m:e>
                          </m:acc>
                        </m:e>
                      </m:d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𝟗</m:t>
                      </m:r>
                      <m:sSup>
                        <m:sSupPr>
                          <m:ctrlP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e>
                        <m:sup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𝒐</m:t>
                          </m:r>
                        </m:sup>
                      </m:sSup>
                    </m:oMath>
                  </m:oMathPara>
                </a14:m>
                <a:endParaRPr lang="en-US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𝒄𝒐𝒔</m:t>
                    </m:r>
                    <m:d>
                      <m:dPr>
                        <m:ctrlP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</m:acc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, 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𝒃</m:t>
                            </m:r>
                          </m:e>
                        </m:acc>
                      </m:e>
                    </m:d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𝟑</m:t>
                        </m:r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𝟒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𝟑</m:t>
                                </m:r>
                              </m:e>
                              <m:sup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e>
                              <m:sup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.</m:t>
                        </m:r>
                        <m:rad>
                          <m:radPr>
                            <m:degHide m:val="on"/>
                            <m:ctrlP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e>
                              <m:sup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𝟒</m:t>
                                </m:r>
                              </m:e>
                              <m:sup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𝟏𝟎</m:t>
                        </m:r>
                      </m:num>
                      <m:den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𝟏𝟎</m:t>
                        </m:r>
                        <m:rad>
                          <m:radPr>
                            <m:degHide m:val="on"/>
                            <m:ctrlP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e>
                        </m:rad>
                      </m:den>
                    </m:f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e>
                        </m:rad>
                      </m:den>
                    </m:f>
                  </m:oMath>
                </a14:m>
                <a:endParaRPr lang="en-US" b="1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</m:acc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, </m:t>
                          </m:r>
                          <m:acc>
                            <m:accPr>
                              <m:chr m:val="⃗"/>
                              <m:ctrlP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𝒃</m:t>
                              </m:r>
                            </m:e>
                          </m:acc>
                        </m:e>
                      </m:d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𝟒</m:t>
                      </m:r>
                      <m:sSup>
                        <m:sSupPr>
                          <m:ctrlP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𝒐</m:t>
                          </m:r>
                        </m:sup>
                      </m:sSup>
                    </m:oMath>
                  </m:oMathPara>
                </a14:m>
                <a:endParaRPr lang="en-US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c)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𝒄𝒐𝒔</m:t>
                    </m:r>
                    <m:d>
                      <m:dPr>
                        <m:ctrlP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</m:acc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, </m:t>
                        </m:r>
                        <m:acc>
                          <m:accPr>
                            <m:chr m:val="⃗"/>
                            <m:ctrlP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𝒃</m:t>
                            </m:r>
                          </m:e>
                        </m:acc>
                      </m:e>
                    </m:d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e>
                        </m:rad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.</m:t>
                        </m:r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.</m:t>
                        </m:r>
                        <m:rad>
                          <m:radPr>
                            <m:degHide m:val="on"/>
                            <m:ctrlP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1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b="1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1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𝟐</m:t>
                                        </m:r>
                                      </m:e>
                                    </m:rad>
                                  </m:e>
                                </m:d>
                              </m:e>
                              <m:sup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𝟏</m:t>
                                </m:r>
                              </m:e>
                              <m:sup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.</m:t>
                        </m:r>
                        <m:rad>
                          <m:radPr>
                            <m:degHide m:val="on"/>
                            <m:ctrlP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e>
                              <m:sup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1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b="1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n-US" b="1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𝟐</m:t>
                                        </m:r>
                                      </m:e>
                                    </m:rad>
                                  </m:e>
                                </m:d>
                              </m:e>
                              <m:sup>
                                <m:r>
                                  <a:rPr lang="en-US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endParaRPr lang="en-US" b="1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  <m:rad>
                            <m:radPr>
                              <m:degHide m:val="on"/>
                              <m:ctrlP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</m:rad>
                        </m:num>
                        <m:den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  <m:rad>
                            <m:radPr>
                              <m:degHide m:val="on"/>
                              <m:ctrlP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e>
                          </m:rad>
                        </m:den>
                      </m:f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=−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𝒂</m:t>
                              </m:r>
                            </m:e>
                          </m:acc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, </m:t>
                          </m:r>
                          <m:acc>
                            <m:accPr>
                              <m:chr m:val="⃗"/>
                              <m:ctrlP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𝒃</m:t>
                              </m:r>
                            </m:e>
                          </m:acc>
                        </m:e>
                      </m:d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𝟏𝟖</m:t>
                      </m:r>
                      <m:sSup>
                        <m:sSupPr>
                          <m:ctrlP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e>
                        <m:sup>
                          <m:r>
                            <a:rPr lang="en-US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𝒐</m:t>
                          </m:r>
                        </m:sup>
                      </m:sSup>
                    </m:oMath>
                  </m:oMathPara>
                </a14:m>
                <a:endParaRPr lang="en-US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4400" y="3048000"/>
                <a:ext cx="11630891" cy="10226676"/>
              </a:xfrm>
              <a:prstGeom prst="rect">
                <a:avLst/>
              </a:prstGeom>
              <a:blipFill>
                <a:blip r:embed="rId4"/>
                <a:stretch>
                  <a:fillRect l="-2304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5AA129BE-5122-4FBA-8265-15841BB5D36F}"/>
              </a:ext>
            </a:extLst>
          </p:cNvPr>
          <p:cNvGrpSpPr/>
          <p:nvPr/>
        </p:nvGrpSpPr>
        <p:grpSpPr>
          <a:xfrm>
            <a:off x="408709" y="1939082"/>
            <a:ext cx="10335491" cy="1185118"/>
            <a:chOff x="0" y="64286"/>
            <a:chExt cx="11836941" cy="451406"/>
          </a:xfrm>
        </p:grpSpPr>
        <p:sp>
          <p:nvSpPr>
            <p:cNvPr id="23" name="TextBox 321">
              <a:extLst>
                <a:ext uri="{FF2B5EF4-FFF2-40B4-BE49-F238E27FC236}">
                  <a16:creationId xmlns:a16="http://schemas.microsoft.com/office/drawing/2014/main" id="{84561076-F37A-4328-B5ED-04D526299FBA}"/>
                </a:ext>
              </a:extLst>
            </p:cNvPr>
            <p:cNvSpPr txBox="1"/>
            <p:nvPr/>
          </p:nvSpPr>
          <p:spPr>
            <a:xfrm>
              <a:off x="630003" y="64286"/>
              <a:ext cx="11206938" cy="4514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5400" b="1" kern="1200" dirty="0">
                  <a:solidFill>
                    <a:srgbClr val="FF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BÀI TẬP</a:t>
              </a:r>
              <a:endParaRPr lang="en-US" sz="5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BD722B4-D1AA-418A-B3F5-46195608D5E6}"/>
                </a:ext>
              </a:extLst>
            </p:cNvPr>
            <p:cNvGrpSpPr/>
            <p:nvPr/>
          </p:nvGrpSpPr>
          <p:grpSpPr>
            <a:xfrm>
              <a:off x="0" y="92326"/>
              <a:ext cx="627012" cy="197663"/>
              <a:chOff x="0" y="92326"/>
              <a:chExt cx="575416" cy="197663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A0F00313-32CA-4486-97D8-294D232CF560}"/>
                  </a:ext>
                </a:extLst>
              </p:cNvPr>
              <p:cNvGrpSpPr/>
              <p:nvPr/>
            </p:nvGrpSpPr>
            <p:grpSpPr>
              <a:xfrm>
                <a:off x="0" y="92326"/>
                <a:ext cx="575416" cy="197663"/>
                <a:chOff x="0" y="92326"/>
                <a:chExt cx="644449" cy="302837"/>
              </a:xfrm>
            </p:grpSpPr>
            <p:sp>
              <p:nvSpPr>
                <p:cNvPr id="28" name="Arrow: Pentagon 27">
                  <a:extLst>
                    <a:ext uri="{FF2B5EF4-FFF2-40B4-BE49-F238E27FC236}">
                      <a16:creationId xmlns:a16="http://schemas.microsoft.com/office/drawing/2014/main" id="{6BF32CCB-4B18-41B6-9E2B-D7AEFC4B1F56}"/>
                    </a:ext>
                  </a:extLst>
                </p:cNvPr>
                <p:cNvSpPr/>
                <p:nvPr/>
              </p:nvSpPr>
              <p:spPr>
                <a:xfrm>
                  <a:off x="0" y="103807"/>
                  <a:ext cx="420648" cy="291356"/>
                </a:xfrm>
                <a:prstGeom prst="homePlate">
                  <a:avLst/>
                </a:prstGeom>
                <a:solidFill>
                  <a:srgbClr val="5B9BD5">
                    <a:lumMod val="40000"/>
                    <a:lumOff val="6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Arrow: Chevron 28">
                  <a:extLst>
                    <a:ext uri="{FF2B5EF4-FFF2-40B4-BE49-F238E27FC236}">
                      <a16:creationId xmlns:a16="http://schemas.microsoft.com/office/drawing/2014/main" id="{995F4057-B922-4668-ADCC-D06528D6FE8D}"/>
                    </a:ext>
                  </a:extLst>
                </p:cNvPr>
                <p:cNvSpPr/>
                <p:nvPr/>
              </p:nvSpPr>
              <p:spPr>
                <a:xfrm>
                  <a:off x="380243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rgbClr val="FFC000">
                    <a:lumMod val="40000"/>
                    <a:lumOff val="60000"/>
                  </a:srgbClr>
                </a:solidFill>
                <a:ln w="12700" cap="flat" cmpd="sng" algn="ctr">
                  <a:solidFill>
                    <a:srgbClr val="FFC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Arrow: Chevron 29">
                  <a:extLst>
                    <a:ext uri="{FF2B5EF4-FFF2-40B4-BE49-F238E27FC236}">
                      <a16:creationId xmlns:a16="http://schemas.microsoft.com/office/drawing/2014/main" id="{375D7090-717D-46C4-BE1B-76857B206083}"/>
                    </a:ext>
                  </a:extLst>
                </p:cNvPr>
                <p:cNvSpPr/>
                <p:nvPr/>
              </p:nvSpPr>
              <p:spPr>
                <a:xfrm>
                  <a:off x="474990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rgbClr val="0000CC"/>
                </a:solidFill>
                <a:ln w="12700" cap="flat" cmpd="sng" algn="ctr">
                  <a:solidFill>
                    <a:srgbClr val="FFFF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6" name="Flowchart: Terminator 25">
                <a:extLst>
                  <a:ext uri="{FF2B5EF4-FFF2-40B4-BE49-F238E27FC236}">
                    <a16:creationId xmlns:a16="http://schemas.microsoft.com/office/drawing/2014/main" id="{17076260-E40D-4538-B5FB-CCB9023D5645}"/>
                  </a:ext>
                </a:extLst>
              </p:cNvPr>
              <p:cNvSpPr/>
              <p:nvPr/>
            </p:nvSpPr>
            <p:spPr>
              <a:xfrm>
                <a:off x="80311" y="137613"/>
                <a:ext cx="253736" cy="115827"/>
              </a:xfrm>
              <a:prstGeom prst="flowChartTerminator">
                <a:avLst/>
              </a:prstGeom>
              <a:solidFill>
                <a:srgbClr val="FFFF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3D7E5B9-C576-4A31-994D-1E712DEA87F8}"/>
                  </a:ext>
                </a:extLst>
              </p:cNvPr>
              <p:cNvSpPr/>
              <p:nvPr/>
            </p:nvSpPr>
            <p:spPr>
              <a:xfrm>
                <a:off x="211659" y="142761"/>
                <a:ext cx="92369" cy="95432"/>
              </a:xfrm>
              <a:prstGeom prst="ellipse">
                <a:avLst/>
              </a:prstGeom>
              <a:solidFill>
                <a:srgbClr val="3333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5BFD377B-0561-4330-AEEF-B5E753ACD7B2}"/>
              </a:ext>
            </a:extLst>
          </p:cNvPr>
          <p:cNvSpPr txBox="1"/>
          <p:nvPr/>
        </p:nvSpPr>
        <p:spPr>
          <a:xfrm>
            <a:off x="4594200" y="8764250"/>
            <a:ext cx="2514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Lời</a:t>
            </a:r>
            <a:r>
              <a:rPr lang="en-US" sz="4400" b="1" i="1" dirty="0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i="1" dirty="0" err="1">
                <a:solidFill>
                  <a:srgbClr val="FF00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endParaRPr lang="en-US" sz="4400" i="1" dirty="0">
              <a:solidFill>
                <a:srgbClr val="FF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597F54-9DF0-4AA8-8932-3C13D2D4BDB4}"/>
              </a:ext>
            </a:extLst>
          </p:cNvPr>
          <p:cNvSpPr txBox="1"/>
          <p:nvPr/>
        </p:nvSpPr>
        <p:spPr>
          <a:xfrm>
            <a:off x="2743200" y="10210800"/>
            <a:ext cx="5715000" cy="1337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51BE15-3E5E-475F-BB92-21304679591A}"/>
                  </a:ext>
                </a:extLst>
              </p:cNvPr>
              <p:cNvSpPr txBox="1"/>
              <p:nvPr/>
            </p:nvSpPr>
            <p:spPr>
              <a:xfrm>
                <a:off x="485121" y="10058400"/>
                <a:ext cx="11706879" cy="2217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Vận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dụng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công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thức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véc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tơ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𝒄𝒐𝒔</m:t>
                    </m:r>
                    <m:d>
                      <m:d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</m:acc>
                        <m:r>
                          <a:rPr lang="en-US" sz="4800" b="1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, </m:t>
                        </m:r>
                        <m:acc>
                          <m:accPr>
                            <m:chr m:val="⃗"/>
                            <m:ctrlP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𝒃</m:t>
                            </m:r>
                          </m:e>
                        </m:acc>
                      </m:e>
                    </m:d>
                    <m:r>
                      <a:rPr lang="en-US" sz="4800" b="1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</m:acc>
                        <m:r>
                          <a:rPr lang="en-US" sz="4800" b="1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. </m:t>
                        </m:r>
                        <m:acc>
                          <m:accPr>
                            <m:chr m:val="⃗"/>
                            <m:ctrlP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𝒃</m:t>
                            </m:r>
                          </m:e>
                        </m:acc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8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800" b="1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𝒂</m:t>
                                </m:r>
                              </m:e>
                            </m:acc>
                          </m:e>
                        </m:d>
                        <m:r>
                          <a:rPr lang="en-US" sz="4800" b="1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.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4800" b="1" i="1" smtClean="0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 </m:t>
                            </m:r>
                            <m:acc>
                              <m:accPr>
                                <m:chr m:val="⃗"/>
                                <m:ctrlPr>
                                  <a:rPr lang="en-US" sz="4800" b="1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800" b="1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𝒃</m:t>
                                </m:r>
                              </m:e>
                            </m:acc>
                          </m:e>
                        </m:d>
                      </m:den>
                    </m:f>
                  </m:oMath>
                </a14:m>
                <a:endParaRPr lang="en-US" sz="48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51BE15-3E5E-475F-BB92-213046795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21" y="10058400"/>
                <a:ext cx="11706879" cy="2217082"/>
              </a:xfrm>
              <a:prstGeom prst="rect">
                <a:avLst/>
              </a:prstGeom>
              <a:blipFill>
                <a:blip r:embed="rId5"/>
                <a:stretch>
                  <a:fillRect l="-2396" t="-6319" r="-1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2859540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8709" y="3041117"/>
                <a:ext cx="11783291" cy="10462159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4.22.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điều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kiện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</a:p>
              <a:p>
                <a:pPr marL="0" indent="0">
                  <a:buNone/>
                </a:pPr>
                <a:r>
                  <a:rPr lang="en-US" b="1" dirty="0"/>
                  <a:t> 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begChr m:val="|"/>
                        <m:endChr m:val="|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                               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b)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begChr m:val="|"/>
                        <m:endChr m:val="|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begChr m:val="|"/>
                        <m:endChr m:val="|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acc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09" y="3041117"/>
                <a:ext cx="11783291" cy="10462159"/>
              </a:xfrm>
              <a:prstGeom prst="rect">
                <a:avLst/>
              </a:prstGeom>
              <a:blipFill>
                <a:blip r:embed="rId3"/>
                <a:stretch>
                  <a:fillRect l="-2274" t="-2037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344400" y="3041117"/>
                <a:ext cx="11630891" cy="10462159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6000"/>
                  </a:lnSpc>
                  <a:spcAft>
                    <a:spcPts val="800"/>
                  </a:spcAft>
                  <a:buNone/>
                </a:pP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4.23.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phẳng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Oxy,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),</m:t>
                    </m:r>
                    <m:func>
                      <m:funcPr>
                        <m:ctrlP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𝑩</m:t>
                        </m:r>
                      </m:fName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</m:e>
                    </m:func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𝟒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𝟑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).</m:t>
                    </m:r>
                  </m:oMath>
                </a14:m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𝑴</m:t>
                        </m:r>
                      </m:fName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</m:e>
                    </m:func>
                    <m:func>
                      <m:funcPr>
                        <m:ctrlP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𝒕</m:t>
                        </m:r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;</m:t>
                        </m:r>
                      </m:fName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</m:func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hoành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06000"/>
                  </a:lnSpc>
                  <a:spcAft>
                    <a:spcPts val="800"/>
                  </a:spcAft>
                  <a:buNone/>
                </a:pP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a)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𝑨𝑴</m:t>
                        </m:r>
                      </m:e>
                    </m:acc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𝑩𝑴</m:t>
                        </m:r>
                      </m:e>
                    </m:acc>
                  </m:oMath>
                </a14:m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t.</a:t>
                </a:r>
              </a:p>
              <a:p>
                <a:pPr marL="0" indent="0">
                  <a:lnSpc>
                    <a:spcPct val="106000"/>
                  </a:lnSpc>
                  <a:spcAft>
                    <a:spcPts val="800"/>
                  </a:spcAft>
                  <a:buNone/>
                </a:pP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b)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𝑨𝑴𝑩</m:t>
                        </m:r>
                      </m:e>
                    </m:acc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𝟗</m:t>
                    </m:r>
                    <m:sSup>
                      <m:sSupPr>
                        <m:ctrlP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sup>
                    </m:sSup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07000"/>
                  </a:lnSpc>
                  <a:spcAft>
                    <a:spcPts val="800"/>
                  </a:spcAft>
                  <a:buNone/>
                </a:pPr>
                <a:endParaRPr lang="en-US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4400" y="3041117"/>
                <a:ext cx="11630891" cy="10462159"/>
              </a:xfrm>
              <a:prstGeom prst="rect">
                <a:avLst/>
              </a:prstGeom>
              <a:blipFill>
                <a:blip r:embed="rId4"/>
                <a:stretch>
                  <a:fillRect l="-2304" t="-1513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5AA129BE-5122-4FBA-8265-15841BB5D36F}"/>
              </a:ext>
            </a:extLst>
          </p:cNvPr>
          <p:cNvGrpSpPr/>
          <p:nvPr/>
        </p:nvGrpSpPr>
        <p:grpSpPr>
          <a:xfrm>
            <a:off x="408709" y="1913962"/>
            <a:ext cx="10252389" cy="803068"/>
            <a:chOff x="0" y="56998"/>
            <a:chExt cx="11741767" cy="232991"/>
          </a:xfrm>
        </p:grpSpPr>
        <p:sp>
          <p:nvSpPr>
            <p:cNvPr id="23" name="TextBox 321">
              <a:extLst>
                <a:ext uri="{FF2B5EF4-FFF2-40B4-BE49-F238E27FC236}">
                  <a16:creationId xmlns:a16="http://schemas.microsoft.com/office/drawing/2014/main" id="{84561076-F37A-4328-B5ED-04D526299FBA}"/>
                </a:ext>
              </a:extLst>
            </p:cNvPr>
            <p:cNvSpPr txBox="1"/>
            <p:nvPr/>
          </p:nvSpPr>
          <p:spPr>
            <a:xfrm>
              <a:off x="534829" y="56998"/>
              <a:ext cx="11206938" cy="2329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5400" b="1" kern="1200" dirty="0">
                  <a:solidFill>
                    <a:srgbClr val="FF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BÀI TẬP</a:t>
              </a:r>
              <a:endParaRPr lang="en-US" sz="54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BD722B4-D1AA-418A-B3F5-46195608D5E6}"/>
                </a:ext>
              </a:extLst>
            </p:cNvPr>
            <p:cNvGrpSpPr/>
            <p:nvPr/>
          </p:nvGrpSpPr>
          <p:grpSpPr>
            <a:xfrm>
              <a:off x="0" y="92326"/>
              <a:ext cx="627012" cy="197663"/>
              <a:chOff x="0" y="92326"/>
              <a:chExt cx="575416" cy="197663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A0F00313-32CA-4486-97D8-294D232CF560}"/>
                  </a:ext>
                </a:extLst>
              </p:cNvPr>
              <p:cNvGrpSpPr/>
              <p:nvPr/>
            </p:nvGrpSpPr>
            <p:grpSpPr>
              <a:xfrm>
                <a:off x="0" y="92326"/>
                <a:ext cx="575416" cy="197663"/>
                <a:chOff x="0" y="92326"/>
                <a:chExt cx="644449" cy="302837"/>
              </a:xfrm>
            </p:grpSpPr>
            <p:sp>
              <p:nvSpPr>
                <p:cNvPr id="28" name="Arrow: Pentagon 27">
                  <a:extLst>
                    <a:ext uri="{FF2B5EF4-FFF2-40B4-BE49-F238E27FC236}">
                      <a16:creationId xmlns:a16="http://schemas.microsoft.com/office/drawing/2014/main" id="{6BF32CCB-4B18-41B6-9E2B-D7AEFC4B1F56}"/>
                    </a:ext>
                  </a:extLst>
                </p:cNvPr>
                <p:cNvSpPr/>
                <p:nvPr/>
              </p:nvSpPr>
              <p:spPr>
                <a:xfrm>
                  <a:off x="0" y="103807"/>
                  <a:ext cx="420648" cy="291356"/>
                </a:xfrm>
                <a:prstGeom prst="homePlate">
                  <a:avLst/>
                </a:prstGeom>
                <a:solidFill>
                  <a:srgbClr val="5B9BD5">
                    <a:lumMod val="40000"/>
                    <a:lumOff val="6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endParaRPr lang="en-US" b="1"/>
                </a:p>
              </p:txBody>
            </p:sp>
            <p:sp>
              <p:nvSpPr>
                <p:cNvPr id="29" name="Arrow: Chevron 28">
                  <a:extLst>
                    <a:ext uri="{FF2B5EF4-FFF2-40B4-BE49-F238E27FC236}">
                      <a16:creationId xmlns:a16="http://schemas.microsoft.com/office/drawing/2014/main" id="{995F4057-B922-4668-ADCC-D06528D6FE8D}"/>
                    </a:ext>
                  </a:extLst>
                </p:cNvPr>
                <p:cNvSpPr/>
                <p:nvPr/>
              </p:nvSpPr>
              <p:spPr>
                <a:xfrm>
                  <a:off x="380243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rgbClr val="FFC000">
                    <a:lumMod val="40000"/>
                    <a:lumOff val="60000"/>
                  </a:srgbClr>
                </a:solidFill>
                <a:ln w="12700" cap="flat" cmpd="sng" algn="ctr">
                  <a:solidFill>
                    <a:srgbClr val="FFC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endParaRPr lang="en-US" b="1"/>
                </a:p>
              </p:txBody>
            </p:sp>
            <p:sp>
              <p:nvSpPr>
                <p:cNvPr id="30" name="Arrow: Chevron 29">
                  <a:extLst>
                    <a:ext uri="{FF2B5EF4-FFF2-40B4-BE49-F238E27FC236}">
                      <a16:creationId xmlns:a16="http://schemas.microsoft.com/office/drawing/2014/main" id="{375D7090-717D-46C4-BE1B-76857B206083}"/>
                    </a:ext>
                  </a:extLst>
                </p:cNvPr>
                <p:cNvSpPr/>
                <p:nvPr/>
              </p:nvSpPr>
              <p:spPr>
                <a:xfrm>
                  <a:off x="474990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rgbClr val="0000CC"/>
                </a:solidFill>
                <a:ln w="12700" cap="flat" cmpd="sng" algn="ctr">
                  <a:solidFill>
                    <a:srgbClr val="FFFF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endParaRPr lang="en-US" b="1"/>
                </a:p>
              </p:txBody>
            </p:sp>
          </p:grpSp>
          <p:sp>
            <p:nvSpPr>
              <p:cNvPr id="26" name="Flowchart: Terminator 25">
                <a:extLst>
                  <a:ext uri="{FF2B5EF4-FFF2-40B4-BE49-F238E27FC236}">
                    <a16:creationId xmlns:a16="http://schemas.microsoft.com/office/drawing/2014/main" id="{17076260-E40D-4538-B5FB-CCB9023D5645}"/>
                  </a:ext>
                </a:extLst>
              </p:cNvPr>
              <p:cNvSpPr/>
              <p:nvPr/>
            </p:nvSpPr>
            <p:spPr>
              <a:xfrm>
                <a:off x="80311" y="137613"/>
                <a:ext cx="253736" cy="115827"/>
              </a:xfrm>
              <a:prstGeom prst="flowChartTerminator">
                <a:avLst/>
              </a:prstGeom>
              <a:solidFill>
                <a:srgbClr val="FFFF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b="1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3D7E5B9-C576-4A31-994D-1E712DEA87F8}"/>
                  </a:ext>
                </a:extLst>
              </p:cNvPr>
              <p:cNvSpPr/>
              <p:nvPr/>
            </p:nvSpPr>
            <p:spPr>
              <a:xfrm>
                <a:off x="211659" y="142761"/>
                <a:ext cx="92369" cy="95432"/>
              </a:xfrm>
              <a:prstGeom prst="ellipse">
                <a:avLst/>
              </a:prstGeom>
              <a:solidFill>
                <a:srgbClr val="3333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 b="1"/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5BFD377B-0561-4330-AEEF-B5E753ACD7B2}"/>
              </a:ext>
            </a:extLst>
          </p:cNvPr>
          <p:cNvSpPr txBox="1"/>
          <p:nvPr/>
        </p:nvSpPr>
        <p:spPr>
          <a:xfrm>
            <a:off x="5005799" y="6324600"/>
            <a:ext cx="2514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Lời</a:t>
            </a:r>
            <a:r>
              <a:rPr lang="en-US" sz="4400" b="1" i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i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endParaRPr lang="en-US" sz="4400" i="1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4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51BE15-3E5E-475F-BB92-21304679591A}"/>
                  </a:ext>
                </a:extLst>
              </p:cNvPr>
              <p:cNvSpPr txBox="1"/>
              <p:nvPr/>
            </p:nvSpPr>
            <p:spPr>
              <a:xfrm>
                <a:off x="314137" y="7370260"/>
                <a:ext cx="11706879" cy="33046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0215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Ta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</m:acc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acc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=|</m:t>
                    </m:r>
                    <m:acc>
                      <m:accPr>
                        <m:chr m:val="⃗"/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</m:acc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|⋅|</m:t>
                    </m:r>
                    <m:acc>
                      <m:accPr>
                        <m:chr m:val="⃗"/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acc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𝒄𝒐𝒔</m:t>
                    </m:r>
                    <m:d>
                      <m:d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𝒖</m:t>
                            </m:r>
                          </m:e>
                        </m:acc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do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</m:acc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acc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=|</m:t>
                    </m:r>
                    <m:acc>
                      <m:accPr>
                        <m:chr m:val="⃗"/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</m:acc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|⋅|</m:t>
                    </m:r>
                    <m:acc>
                      <m:accPr>
                        <m:chr m:val="⃗"/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acc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𝒄𝒐𝒔</m:t>
                    </m:r>
                    <m:d>
                      <m:d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𝒖</m:t>
                            </m:r>
                          </m:e>
                        </m:acc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</m:acc>
                      </m:e>
                    </m:d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hay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𝒖</m:t>
                        </m:r>
                        <m:r>
                          <a:rPr lang="en-US" sz="4800" b="1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sz="1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sz="48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451BE15-3E5E-475F-BB92-213046795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137" y="7370260"/>
                <a:ext cx="11706879" cy="3304623"/>
              </a:xfrm>
              <a:prstGeom prst="rect">
                <a:avLst/>
              </a:prstGeom>
              <a:blipFill>
                <a:blip r:embed="rId5"/>
                <a:stretch>
                  <a:fillRect t="-4797" r="-3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3866CA-F3C7-45B9-97C4-B8A9C94850D6}"/>
                  </a:ext>
                </a:extLst>
              </p:cNvPr>
              <p:cNvSpPr txBox="1"/>
              <p:nvPr/>
            </p:nvSpPr>
            <p:spPr>
              <a:xfrm>
                <a:off x="485121" y="10021410"/>
                <a:ext cx="11465462" cy="29700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Ta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</m:acc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acc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=|</m:t>
                    </m:r>
                    <m:acc>
                      <m:accPr>
                        <m:chr m:val="⃗"/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</m:acc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|⋅|</m:t>
                    </m:r>
                    <m:acc>
                      <m:accPr>
                        <m:chr m:val="⃗"/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acc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𝒄𝒐𝒔</m:t>
                    </m:r>
                    <m:d>
                      <m:d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𝒖</m:t>
                            </m:r>
                          </m:e>
                        </m:acc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do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</m:acc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acc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=−|</m:t>
                    </m:r>
                    <m:acc>
                      <m:accPr>
                        <m:chr m:val="⃗"/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</m:acc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|⋅|</m:t>
                    </m:r>
                    <m:acc>
                      <m:accPr>
                        <m:chr m:val="⃗"/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acc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𝒄𝒐𝒔</m:t>
                    </m:r>
                    <m:d>
                      <m:d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𝒖</m:t>
                            </m:r>
                          </m:e>
                        </m:acc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𝒗</m:t>
                            </m:r>
                          </m:e>
                        </m:acc>
                      </m:e>
                    </m:d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=−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hay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𝒖</m:t>
                        </m:r>
                      </m:e>
                    </m:acc>
                  </m:oMath>
                </a14:m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</m:acc>
                  </m:oMath>
                </a14:m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ngược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hướng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3866CA-F3C7-45B9-97C4-B8A9C9485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121" y="10021410"/>
                <a:ext cx="11465462" cy="2970044"/>
              </a:xfrm>
              <a:prstGeom prst="rect">
                <a:avLst/>
              </a:prstGeom>
              <a:blipFill>
                <a:blip r:embed="rId6"/>
                <a:stretch>
                  <a:fillRect l="-2447" t="-4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90069597-23CC-411A-9D74-AE90204EB379}"/>
              </a:ext>
            </a:extLst>
          </p:cNvPr>
          <p:cNvSpPr txBox="1"/>
          <p:nvPr/>
        </p:nvSpPr>
        <p:spPr>
          <a:xfrm>
            <a:off x="16230600" y="8493443"/>
            <a:ext cx="2514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Lời</a:t>
            </a:r>
            <a:r>
              <a:rPr lang="en-US" sz="4400" b="1" i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i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endParaRPr lang="en-US" sz="4400" i="1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4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665DE6-7CC8-4598-8F2D-ADC12793F771}"/>
                  </a:ext>
                </a:extLst>
              </p:cNvPr>
              <p:cNvSpPr txBox="1"/>
              <p:nvPr/>
            </p:nvSpPr>
            <p:spPr>
              <a:xfrm>
                <a:off x="12448700" y="9491879"/>
                <a:ext cx="10428496" cy="39872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914400" indent="-914400">
                  <a:buAutoNum type="alphaLcParenR"/>
                </a:pP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sz="48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𝑨𝑴</m:t>
                        </m:r>
                      </m:e>
                    </m:acc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𝒕</m:t>
                        </m:r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; −</m:t>
                        </m:r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e>
                    </m:d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, </m:t>
                    </m:r>
                  </m:oMath>
                </a14:m>
                <a:endParaRPr lang="en-US" sz="4800" b="1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𝑩𝑴</m:t>
                          </m:r>
                        </m:e>
                      </m:acc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𝒕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𝟒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; −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e>
                      </m:d>
                    </m:oMath>
                  </m:oMathPara>
                </a14:m>
                <a:endParaRPr lang="en-US" sz="4800" b="1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⃗"/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𝑨𝑴</m:t>
                          </m:r>
                        </m:e>
                      </m:acc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. </m:t>
                      </m:r>
                      <m:acc>
                        <m:accPr>
                          <m:chr m:val="⃗"/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𝑩𝑴</m:t>
                          </m:r>
                        </m:e>
                      </m:acc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𝒕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𝒕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e>
                      </m:d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𝟑</m:t>
                      </m:r>
                    </m:oMath>
                  </m:oMathPara>
                </a14:m>
                <a:endParaRPr lang="en-US" sz="4800" b="1" i="1" dirty="0">
                  <a:effectLst/>
                  <a:latin typeface="Cambria Math" panose="0204050305040603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sz="4800" b="1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𝒕</m:t>
                        </m:r>
                      </m:e>
                      <m:sup>
                        <m:r>
                          <a:rPr lang="en-US" sz="48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𝟑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𝒕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48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𝟒</m:t>
                    </m:r>
                  </m:oMath>
                </a14:m>
                <a:endParaRPr lang="en-US" sz="48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665DE6-7CC8-4598-8F2D-ADC12793F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8700" y="9491879"/>
                <a:ext cx="10428496" cy="3987245"/>
              </a:xfrm>
              <a:prstGeom prst="rect">
                <a:avLst/>
              </a:prstGeom>
              <a:blipFill>
                <a:blip r:embed="rId7"/>
                <a:stretch>
                  <a:fillRect l="-2688" t="-1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6451035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8710" y="2847295"/>
                <a:ext cx="11747040" cy="10655981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6000"/>
                  </a:lnSpc>
                  <a:spcAft>
                    <a:spcPts val="800"/>
                  </a:spcAft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4.23.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phẳng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Oxy,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),</m:t>
                    </m:r>
                    <m:func>
                      <m:funcPr>
                        <m:ctrlP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𝑩</m:t>
                        </m:r>
                      </m:fName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</m:e>
                    </m:func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𝟒</m:t>
                    </m:r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𝟑</m:t>
                    </m:r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).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𝑴</m:t>
                        </m:r>
                      </m:fName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</m:e>
                    </m:func>
                    <m:func>
                      <m:funcPr>
                        <m:ctrlP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𝒕</m:t>
                        </m:r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;</m:t>
                        </m:r>
                      </m:fName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</m:func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một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0" indent="0">
                  <a:lnSpc>
                    <a:spcPct val="106000"/>
                  </a:lnSpc>
                  <a:spcAft>
                    <a:spcPts val="800"/>
                  </a:spcAft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a)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𝑨𝑴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𝑩𝑴</m:t>
                        </m:r>
                      </m:e>
                    </m:acc>
                  </m:oMath>
                </a14:m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t.</a:t>
                </a:r>
              </a:p>
              <a:p>
                <a:pPr marL="0" indent="0">
                  <a:lnSpc>
                    <a:spcPct val="106000"/>
                  </a:lnSpc>
                  <a:spcAft>
                    <a:spcPts val="800"/>
                  </a:spcAft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b)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𝑨𝑴𝑩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𝟗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10" y="2847295"/>
                <a:ext cx="11747040" cy="10655981"/>
              </a:xfrm>
              <a:prstGeom prst="rect">
                <a:avLst/>
              </a:prstGeom>
              <a:blipFill>
                <a:blip r:embed="rId3"/>
                <a:stretch>
                  <a:fillRect l="-2281" t="-1486" r="-1452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448309" y="2847295"/>
                <a:ext cx="11630891" cy="10655981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6000"/>
                  </a:lnSpc>
                  <a:spcAft>
                    <a:spcPts val="800"/>
                  </a:spcAft>
                  <a:buNone/>
                </a:pP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4.24.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phẳng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Oxy,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ba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hàng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𝑨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(−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𝟒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),</m:t>
                    </m:r>
                    <m:func>
                      <m:funcPr>
                        <m:ctrlP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𝑩</m:t>
                        </m:r>
                      </m:fName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</m:e>
                    </m:func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𝟒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),</m:t>
                    </m:r>
                    <m:func>
                      <m:funcPr>
                        <m:ctrlP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𝑪</m:t>
                        </m:r>
                      </m:fName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(</m:t>
                        </m:r>
                      </m:e>
                    </m:func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;−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𝟐</m:t>
                    </m:r>
                    <m:r>
                      <a:rPr lang="en-US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).</m:t>
                    </m:r>
                  </m:oMath>
                </a14:m>
                <a:endParaRPr lang="en-US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0" indent="0">
                  <a:lnSpc>
                    <a:spcPct val="106000"/>
                  </a:lnSpc>
                  <a:spcAft>
                    <a:spcPts val="800"/>
                  </a:spcAft>
                  <a:buNone/>
                </a:pP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a)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Giải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tam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ABC.</a:t>
                </a:r>
              </a:p>
              <a:p>
                <a:pPr marL="0" indent="0">
                  <a:lnSpc>
                    <a:spcPct val="106000"/>
                  </a:lnSpc>
                  <a:spcAft>
                    <a:spcPts val="800"/>
                  </a:spcAft>
                  <a:buNone/>
                </a:pP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trực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tâm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H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tam </a:t>
                </a:r>
                <a:r>
                  <a:rPr lang="en-US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ABC</a:t>
                </a:r>
                <a:r>
                  <a:rPr lang="en-US" b="1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US" b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8309" y="2847295"/>
                <a:ext cx="11630891" cy="10655981"/>
              </a:xfrm>
              <a:prstGeom prst="rect">
                <a:avLst/>
              </a:prstGeom>
              <a:blipFill>
                <a:blip r:embed="rId4"/>
                <a:stretch>
                  <a:fillRect l="-2304" t="-1486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5AA129BE-5122-4FBA-8265-15841BB5D36F}"/>
              </a:ext>
            </a:extLst>
          </p:cNvPr>
          <p:cNvGrpSpPr/>
          <p:nvPr/>
        </p:nvGrpSpPr>
        <p:grpSpPr>
          <a:xfrm>
            <a:off x="408709" y="1939082"/>
            <a:ext cx="10335491" cy="1555896"/>
            <a:chOff x="0" y="64286"/>
            <a:chExt cx="11836941" cy="451406"/>
          </a:xfrm>
        </p:grpSpPr>
        <p:sp>
          <p:nvSpPr>
            <p:cNvPr id="23" name="TextBox 321">
              <a:extLst>
                <a:ext uri="{FF2B5EF4-FFF2-40B4-BE49-F238E27FC236}">
                  <a16:creationId xmlns:a16="http://schemas.microsoft.com/office/drawing/2014/main" id="{84561076-F37A-4328-B5ED-04D526299FBA}"/>
                </a:ext>
              </a:extLst>
            </p:cNvPr>
            <p:cNvSpPr txBox="1"/>
            <p:nvPr/>
          </p:nvSpPr>
          <p:spPr>
            <a:xfrm>
              <a:off x="630003" y="64286"/>
              <a:ext cx="11206938" cy="4514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5400" b="1" kern="1200" dirty="0">
                  <a:solidFill>
                    <a:srgbClr val="FF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BÀI TẬP</a:t>
              </a:r>
              <a:endParaRPr lang="en-US" sz="5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BD722B4-D1AA-418A-B3F5-46195608D5E6}"/>
                </a:ext>
              </a:extLst>
            </p:cNvPr>
            <p:cNvGrpSpPr/>
            <p:nvPr/>
          </p:nvGrpSpPr>
          <p:grpSpPr>
            <a:xfrm>
              <a:off x="0" y="92326"/>
              <a:ext cx="627012" cy="197663"/>
              <a:chOff x="0" y="92326"/>
              <a:chExt cx="575416" cy="197663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A0F00313-32CA-4486-97D8-294D232CF560}"/>
                  </a:ext>
                </a:extLst>
              </p:cNvPr>
              <p:cNvGrpSpPr/>
              <p:nvPr/>
            </p:nvGrpSpPr>
            <p:grpSpPr>
              <a:xfrm>
                <a:off x="0" y="92326"/>
                <a:ext cx="575416" cy="197663"/>
                <a:chOff x="0" y="92326"/>
                <a:chExt cx="644449" cy="302837"/>
              </a:xfrm>
            </p:grpSpPr>
            <p:sp>
              <p:nvSpPr>
                <p:cNvPr id="28" name="Arrow: Pentagon 27">
                  <a:extLst>
                    <a:ext uri="{FF2B5EF4-FFF2-40B4-BE49-F238E27FC236}">
                      <a16:creationId xmlns:a16="http://schemas.microsoft.com/office/drawing/2014/main" id="{6BF32CCB-4B18-41B6-9E2B-D7AEFC4B1F56}"/>
                    </a:ext>
                  </a:extLst>
                </p:cNvPr>
                <p:cNvSpPr/>
                <p:nvPr/>
              </p:nvSpPr>
              <p:spPr>
                <a:xfrm>
                  <a:off x="0" y="103807"/>
                  <a:ext cx="420648" cy="291356"/>
                </a:xfrm>
                <a:prstGeom prst="homePlate">
                  <a:avLst/>
                </a:prstGeom>
                <a:solidFill>
                  <a:srgbClr val="5B9BD5">
                    <a:lumMod val="40000"/>
                    <a:lumOff val="6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Arrow: Chevron 28">
                  <a:extLst>
                    <a:ext uri="{FF2B5EF4-FFF2-40B4-BE49-F238E27FC236}">
                      <a16:creationId xmlns:a16="http://schemas.microsoft.com/office/drawing/2014/main" id="{995F4057-B922-4668-ADCC-D06528D6FE8D}"/>
                    </a:ext>
                  </a:extLst>
                </p:cNvPr>
                <p:cNvSpPr/>
                <p:nvPr/>
              </p:nvSpPr>
              <p:spPr>
                <a:xfrm>
                  <a:off x="380243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rgbClr val="FFC000">
                    <a:lumMod val="40000"/>
                    <a:lumOff val="60000"/>
                  </a:srgbClr>
                </a:solidFill>
                <a:ln w="12700" cap="flat" cmpd="sng" algn="ctr">
                  <a:solidFill>
                    <a:srgbClr val="FFC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Arrow: Chevron 29">
                  <a:extLst>
                    <a:ext uri="{FF2B5EF4-FFF2-40B4-BE49-F238E27FC236}">
                      <a16:creationId xmlns:a16="http://schemas.microsoft.com/office/drawing/2014/main" id="{375D7090-717D-46C4-BE1B-76857B206083}"/>
                    </a:ext>
                  </a:extLst>
                </p:cNvPr>
                <p:cNvSpPr/>
                <p:nvPr/>
              </p:nvSpPr>
              <p:spPr>
                <a:xfrm>
                  <a:off x="474990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rgbClr val="0000CC"/>
                </a:solidFill>
                <a:ln w="12700" cap="flat" cmpd="sng" algn="ctr">
                  <a:solidFill>
                    <a:srgbClr val="FFFF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6" name="Flowchart: Terminator 25">
                <a:extLst>
                  <a:ext uri="{FF2B5EF4-FFF2-40B4-BE49-F238E27FC236}">
                    <a16:creationId xmlns:a16="http://schemas.microsoft.com/office/drawing/2014/main" id="{17076260-E40D-4538-B5FB-CCB9023D5645}"/>
                  </a:ext>
                </a:extLst>
              </p:cNvPr>
              <p:cNvSpPr/>
              <p:nvPr/>
            </p:nvSpPr>
            <p:spPr>
              <a:xfrm>
                <a:off x="80311" y="137613"/>
                <a:ext cx="253736" cy="115827"/>
              </a:xfrm>
              <a:prstGeom prst="flowChartTerminator">
                <a:avLst/>
              </a:prstGeom>
              <a:solidFill>
                <a:srgbClr val="FFFF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3D7E5B9-C576-4A31-994D-1E712DEA87F8}"/>
                  </a:ext>
                </a:extLst>
              </p:cNvPr>
              <p:cNvSpPr/>
              <p:nvPr/>
            </p:nvSpPr>
            <p:spPr>
              <a:xfrm>
                <a:off x="211659" y="142761"/>
                <a:ext cx="92369" cy="95432"/>
              </a:xfrm>
              <a:prstGeom prst="ellipse">
                <a:avLst/>
              </a:prstGeom>
              <a:solidFill>
                <a:srgbClr val="3333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3866CA-F3C7-45B9-97C4-B8A9C94850D6}"/>
                  </a:ext>
                </a:extLst>
              </p:cNvPr>
              <p:cNvSpPr txBox="1"/>
              <p:nvPr/>
            </p:nvSpPr>
            <p:spPr>
              <a:xfrm>
                <a:off x="1067589" y="8762248"/>
                <a:ext cx="11465462" cy="4819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b)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𝑨𝑴𝑩</m:t>
                        </m:r>
                      </m:e>
                    </m:acc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𝟗</m:t>
                    </m:r>
                    <m:sSup>
                      <m:sSup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°</m:t>
                        </m:r>
                      </m:sup>
                    </m:sSup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𝑨𝑴</m:t>
                        </m:r>
                      </m:e>
                    </m:acc>
                    <m:r>
                      <a:rPr lang="en-US" sz="4800" b="1" i="1">
                        <a:latin typeface="Cambria Math" panose="02040503050406030204" pitchFamily="18" charset="0"/>
                      </a:rPr>
                      <m:t>⊥</m:t>
                    </m:r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𝑩𝑴</m:t>
                        </m:r>
                      </m:e>
                    </m:acc>
                    <m:r>
                      <a:rPr lang="en-US" sz="4800" b="1" i="1">
                        <a:latin typeface="Cambria Math" panose="02040503050406030204" pitchFamily="18" charset="0"/>
                      </a:rPr>
                      <m:t>⇔</m:t>
                    </m:r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𝑨𝑴</m:t>
                        </m:r>
                      </m:e>
                    </m:acc>
                    <m:r>
                      <a:rPr lang="en-US" sz="4800" b="1" i="1">
                        <a:latin typeface="Cambria Math" panose="02040503050406030204" pitchFamily="18" charset="0"/>
                      </a:rPr>
                      <m:t>. </m:t>
                    </m:r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𝑩𝑴</m:t>
                        </m:r>
                      </m:e>
                    </m:acc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⇔</m:t>
                    </m:r>
                    <m:sSup>
                      <m:sSup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p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8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["/>
                        <m:endChr m:val="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Vậy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=−</m:t>
                            </m:r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𝟒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</a:p>
              <a:p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thì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𝑨𝑴𝑩</m:t>
                        </m:r>
                      </m:e>
                    </m:acc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𝟗</m:t>
                    </m:r>
                    <m:sSup>
                      <m:sSup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p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°</m:t>
                        </m:r>
                      </m:sup>
                    </m:sSup>
                  </m:oMath>
                </a14:m>
                <a:endParaRPr lang="en-US" sz="48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3866CA-F3C7-45B9-97C4-B8A9C9485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589" y="8762248"/>
                <a:ext cx="11465462" cy="4819461"/>
              </a:xfrm>
              <a:prstGeom prst="rect">
                <a:avLst/>
              </a:prstGeom>
              <a:blipFill>
                <a:blip r:embed="rId5"/>
                <a:stretch>
                  <a:fillRect l="-2392" t="-11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89D45BE-EF27-4E60-AEB4-AB17CF67CBC5}"/>
              </a:ext>
            </a:extLst>
          </p:cNvPr>
          <p:cNvSpPr txBox="1"/>
          <p:nvPr/>
        </p:nvSpPr>
        <p:spPr>
          <a:xfrm>
            <a:off x="4594200" y="7798154"/>
            <a:ext cx="2514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Lời</a:t>
            </a:r>
            <a:r>
              <a:rPr lang="en-US" sz="4400" b="1" i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i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endParaRPr lang="en-US" sz="4400" i="1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4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D182A2-6E3B-4599-B957-8B89D405DDE5}"/>
              </a:ext>
            </a:extLst>
          </p:cNvPr>
          <p:cNvSpPr txBox="1"/>
          <p:nvPr/>
        </p:nvSpPr>
        <p:spPr>
          <a:xfrm>
            <a:off x="16511351" y="8310357"/>
            <a:ext cx="2514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Lời</a:t>
            </a:r>
            <a:r>
              <a:rPr lang="en-US" sz="4400" b="1" i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i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endParaRPr lang="en-US" sz="4400" i="1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4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C95274-470E-48A1-9499-52F3C3F891D5}"/>
                  </a:ext>
                </a:extLst>
              </p:cNvPr>
              <p:cNvSpPr txBox="1"/>
              <p:nvPr/>
            </p:nvSpPr>
            <p:spPr>
              <a:xfrm>
                <a:off x="13003280" y="9033632"/>
                <a:ext cx="10124480" cy="4825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4800" b="1" dirty="0" smtClean="0"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US" sz="4800" b="1" dirty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)</m:t>
                      </m:r>
                      <m:r>
                        <a:rPr lang="en-US" sz="4800" b="1" i="1" dirty="0" smtClean="0"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</m:oMath>
                  </m:oMathPara>
                </a14:m>
                <a:endParaRPr lang="en-US" sz="4800" b="1" i="1" dirty="0">
                  <a:latin typeface="Cambria Math" panose="02040503050406030204" pitchFamily="18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𝑨𝑩</m:t>
                      </m:r>
                      <m:r>
                        <a:rPr lang="en-US" sz="4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  <m: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𝟒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𝟒</m:t>
                                  </m:r>
                                  <m: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𝟒𝟓</m:t>
                          </m:r>
                        </m:e>
                      </m:rad>
                    </m:oMath>
                  </m:oMathPara>
                </a14:m>
                <a:endParaRPr lang="en-US" sz="48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1" i="1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𝑨𝑪</m:t>
                      </m:r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  <m: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𝟒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  <m: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𝟒𝟓</m:t>
                          </m:r>
                        </m:e>
                      </m:rad>
                    </m:oMath>
                  </m:oMathPara>
                </a14:m>
                <a:endParaRPr lang="en-US" sz="48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07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𝑩𝑪</m:t>
                      </m:r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  <m: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𝟐</m:t>
                                  </m:r>
                                  <m: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sz="4800" b="1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𝟒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𝟔</m:t>
                      </m:r>
                    </m:oMath>
                  </m:oMathPara>
                </a14:m>
                <a:endParaRPr lang="en-US" sz="48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C95274-470E-48A1-9499-52F3C3F89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03280" y="9033632"/>
                <a:ext cx="10124480" cy="482574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6423556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ontent Placeholder 2">
            <a:extLst>
              <a:ext uri="{FF2B5EF4-FFF2-40B4-BE49-F238E27FC236}">
                <a16:creationId xmlns:a16="http://schemas.microsoft.com/office/drawing/2014/main" id="{14822BB7-DB89-4357-87F0-6E511FC44A6A}"/>
              </a:ext>
            </a:extLst>
          </p:cNvPr>
          <p:cNvSpPr txBox="1">
            <a:spLocks/>
          </p:cNvSpPr>
          <p:nvPr/>
        </p:nvSpPr>
        <p:spPr>
          <a:xfrm>
            <a:off x="304800" y="2847295"/>
            <a:ext cx="11935691" cy="10655981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6000"/>
              </a:lnSpc>
              <a:spcAft>
                <a:spcPts val="800"/>
              </a:spcAft>
              <a:buNone/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B49A2E-2A9D-46FD-AE9C-29462A33F0E6}"/>
              </a:ext>
            </a:extLst>
          </p:cNvPr>
          <p:cNvSpPr txBox="1">
            <a:spLocks/>
          </p:cNvSpPr>
          <p:nvPr/>
        </p:nvSpPr>
        <p:spPr>
          <a:xfrm>
            <a:off x="12448309" y="2847295"/>
            <a:ext cx="11630891" cy="10655981"/>
          </a:xfrm>
          <a:prstGeom prst="rect">
            <a:avLst/>
          </a:prstGeom>
          <a:solidFill>
            <a:srgbClr val="D6F7FE"/>
          </a:solidFill>
          <a:ln>
            <a:solidFill>
              <a:srgbClr val="00B0F0"/>
            </a:solidFill>
          </a:ln>
        </p:spPr>
        <p:txBody>
          <a:bodyPr/>
          <a:lstStyle>
            <a:lvl1pPr marL="457200" indent="-4572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1pPr>
            <a:lvl2pPr marL="1371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2pPr>
            <a:lvl3pPr marL="2286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3pPr>
            <a:lvl4pPr marL="3200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4pPr>
            <a:lvl5pPr marL="41148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4800" kern="1200">
                <a:solidFill>
                  <a:schemeClr val="tx1"/>
                </a:solidFill>
                <a:latin typeface="Tomaho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6000"/>
              </a:lnSpc>
              <a:spcAft>
                <a:spcPts val="800"/>
              </a:spcAft>
              <a:buNone/>
            </a:pPr>
            <a:endParaRPr lang="en-US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AA129BE-5122-4FBA-8265-15841BB5D36F}"/>
              </a:ext>
            </a:extLst>
          </p:cNvPr>
          <p:cNvGrpSpPr/>
          <p:nvPr/>
        </p:nvGrpSpPr>
        <p:grpSpPr>
          <a:xfrm>
            <a:off x="408709" y="1939082"/>
            <a:ext cx="10335491" cy="1555896"/>
            <a:chOff x="0" y="64286"/>
            <a:chExt cx="11836941" cy="451406"/>
          </a:xfrm>
        </p:grpSpPr>
        <p:sp>
          <p:nvSpPr>
            <p:cNvPr id="23" name="TextBox 321">
              <a:extLst>
                <a:ext uri="{FF2B5EF4-FFF2-40B4-BE49-F238E27FC236}">
                  <a16:creationId xmlns:a16="http://schemas.microsoft.com/office/drawing/2014/main" id="{84561076-F37A-4328-B5ED-04D526299FBA}"/>
                </a:ext>
              </a:extLst>
            </p:cNvPr>
            <p:cNvSpPr txBox="1"/>
            <p:nvPr/>
          </p:nvSpPr>
          <p:spPr>
            <a:xfrm>
              <a:off x="630003" y="64286"/>
              <a:ext cx="11206938" cy="4514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5400" b="1" kern="1200" dirty="0">
                  <a:solidFill>
                    <a:srgbClr val="FF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BÀI TẬP</a:t>
              </a:r>
              <a:endParaRPr lang="en-US" sz="5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BD722B4-D1AA-418A-B3F5-46195608D5E6}"/>
                </a:ext>
              </a:extLst>
            </p:cNvPr>
            <p:cNvGrpSpPr/>
            <p:nvPr/>
          </p:nvGrpSpPr>
          <p:grpSpPr>
            <a:xfrm>
              <a:off x="0" y="92326"/>
              <a:ext cx="627012" cy="197663"/>
              <a:chOff x="0" y="92326"/>
              <a:chExt cx="575416" cy="197663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A0F00313-32CA-4486-97D8-294D232CF560}"/>
                  </a:ext>
                </a:extLst>
              </p:cNvPr>
              <p:cNvGrpSpPr/>
              <p:nvPr/>
            </p:nvGrpSpPr>
            <p:grpSpPr>
              <a:xfrm>
                <a:off x="0" y="92326"/>
                <a:ext cx="575416" cy="197663"/>
                <a:chOff x="0" y="92326"/>
                <a:chExt cx="644449" cy="302837"/>
              </a:xfrm>
            </p:grpSpPr>
            <p:sp>
              <p:nvSpPr>
                <p:cNvPr id="28" name="Arrow: Pentagon 27">
                  <a:extLst>
                    <a:ext uri="{FF2B5EF4-FFF2-40B4-BE49-F238E27FC236}">
                      <a16:creationId xmlns:a16="http://schemas.microsoft.com/office/drawing/2014/main" id="{6BF32CCB-4B18-41B6-9E2B-D7AEFC4B1F56}"/>
                    </a:ext>
                  </a:extLst>
                </p:cNvPr>
                <p:cNvSpPr/>
                <p:nvPr/>
              </p:nvSpPr>
              <p:spPr>
                <a:xfrm>
                  <a:off x="0" y="103807"/>
                  <a:ext cx="420648" cy="291356"/>
                </a:xfrm>
                <a:prstGeom prst="homePlate">
                  <a:avLst/>
                </a:prstGeom>
                <a:solidFill>
                  <a:srgbClr val="5B9BD5">
                    <a:lumMod val="40000"/>
                    <a:lumOff val="6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Arrow: Chevron 28">
                  <a:extLst>
                    <a:ext uri="{FF2B5EF4-FFF2-40B4-BE49-F238E27FC236}">
                      <a16:creationId xmlns:a16="http://schemas.microsoft.com/office/drawing/2014/main" id="{995F4057-B922-4668-ADCC-D06528D6FE8D}"/>
                    </a:ext>
                  </a:extLst>
                </p:cNvPr>
                <p:cNvSpPr/>
                <p:nvPr/>
              </p:nvSpPr>
              <p:spPr>
                <a:xfrm>
                  <a:off x="380243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rgbClr val="FFC000">
                    <a:lumMod val="40000"/>
                    <a:lumOff val="60000"/>
                  </a:srgbClr>
                </a:solidFill>
                <a:ln w="12700" cap="flat" cmpd="sng" algn="ctr">
                  <a:solidFill>
                    <a:srgbClr val="FFC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Arrow: Chevron 29">
                  <a:extLst>
                    <a:ext uri="{FF2B5EF4-FFF2-40B4-BE49-F238E27FC236}">
                      <a16:creationId xmlns:a16="http://schemas.microsoft.com/office/drawing/2014/main" id="{375D7090-717D-46C4-BE1B-76857B206083}"/>
                    </a:ext>
                  </a:extLst>
                </p:cNvPr>
                <p:cNvSpPr/>
                <p:nvPr/>
              </p:nvSpPr>
              <p:spPr>
                <a:xfrm>
                  <a:off x="474990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rgbClr val="0000CC"/>
                </a:solidFill>
                <a:ln w="12700" cap="flat" cmpd="sng" algn="ctr">
                  <a:solidFill>
                    <a:srgbClr val="FFFF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6" name="Flowchart: Terminator 25">
                <a:extLst>
                  <a:ext uri="{FF2B5EF4-FFF2-40B4-BE49-F238E27FC236}">
                    <a16:creationId xmlns:a16="http://schemas.microsoft.com/office/drawing/2014/main" id="{17076260-E40D-4538-B5FB-CCB9023D5645}"/>
                  </a:ext>
                </a:extLst>
              </p:cNvPr>
              <p:cNvSpPr/>
              <p:nvPr/>
            </p:nvSpPr>
            <p:spPr>
              <a:xfrm>
                <a:off x="80311" y="137613"/>
                <a:ext cx="253736" cy="115827"/>
              </a:xfrm>
              <a:prstGeom prst="flowChartTerminator">
                <a:avLst/>
              </a:prstGeom>
              <a:solidFill>
                <a:srgbClr val="FFFF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3D7E5B9-C576-4A31-994D-1E712DEA87F8}"/>
                  </a:ext>
                </a:extLst>
              </p:cNvPr>
              <p:cNvSpPr/>
              <p:nvPr/>
            </p:nvSpPr>
            <p:spPr>
              <a:xfrm>
                <a:off x="211659" y="142761"/>
                <a:ext cx="92369" cy="95432"/>
              </a:xfrm>
              <a:prstGeom prst="ellipse">
                <a:avLst/>
              </a:prstGeom>
              <a:solidFill>
                <a:srgbClr val="3333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89D45BE-EF27-4E60-AEB4-AB17CF67CBC5}"/>
              </a:ext>
            </a:extLst>
          </p:cNvPr>
          <p:cNvSpPr txBox="1"/>
          <p:nvPr/>
        </p:nvSpPr>
        <p:spPr>
          <a:xfrm>
            <a:off x="4930602" y="3232100"/>
            <a:ext cx="2514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Lời</a:t>
            </a:r>
            <a:r>
              <a:rPr lang="en-US" sz="4400" b="1" i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i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endParaRPr lang="en-US" sz="4400" i="1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4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C95274-470E-48A1-9499-52F3C3F891D5}"/>
                  </a:ext>
                </a:extLst>
              </p:cNvPr>
              <p:cNvSpPr txBox="1"/>
              <p:nvPr/>
            </p:nvSpPr>
            <p:spPr>
              <a:xfrm>
                <a:off x="12738639" y="3810000"/>
                <a:ext cx="11236651" cy="86834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-US" b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) </m:t>
                      </m:r>
                      <m:r>
                        <m:rPr>
                          <m:nor/>
                        </m:rPr>
                        <a:rPr lang="en-US" b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Gi</m:t>
                      </m:r>
                      <m:r>
                        <m:rPr>
                          <m:nor/>
                        </m:rPr>
                        <a:rPr lang="en-US" b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ả </m:t>
                      </m:r>
                      <m:r>
                        <m:rPr>
                          <m:nor/>
                        </m:rPr>
                        <a:rPr lang="en-US" b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b="1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ử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; 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d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ta</m:t>
                      </m:r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ó </m:t>
                      </m:r>
                    </m:oMath>
                  </m:oMathPara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𝑨𝑯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; 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, </m:t>
                      </m:r>
                      <m:acc>
                        <m:accPr>
                          <m:chr m:val="⃗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𝑩𝑪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; −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 </m:t>
                      </m:r>
                      <m:acc>
                        <m:accPr>
                          <m:chr m:val="⃗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𝑩𝑯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; 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, </m:t>
                      </m:r>
                      <m:acc>
                        <m:accPr>
                          <m:chr m:val="⃗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𝑪𝑨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𝟔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; 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</m:oMath>
                  </m:oMathPara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ì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𝑯</m:t>
                      </m:r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à </m:t>
                      </m:r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tr</m:t>
                      </m:r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ự</m:t>
                      </m:r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â</m:t>
                      </m:r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m</m:t>
                      </m:r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tam</m:t>
                      </m:r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  </m:t>
                      </m:r>
                      <m:r>
                        <m:rPr>
                          <m:nor/>
                        </m:rPr>
                        <a:rPr lang="en-US" b="1" i="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gi</m:t>
                      </m:r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á</m:t>
                      </m:r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c</m:t>
                      </m:r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𝑨𝑩𝑪</m:t>
                      </m:r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 </m:t>
                      </m:r>
                    </m:oMath>
                  </m:oMathPara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n</m:t>
                      </m:r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ê</m:t>
                      </m:r>
                      <m:r>
                        <m:rPr>
                          <m:nor/>
                        </m:rPr>
                        <a:rPr lang="en-US" b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n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𝑨𝑯</m:t>
                                  </m:r>
                                </m:e>
                              </m:acc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𝑩𝑪</m:t>
                                  </m:r>
                                </m:e>
                              </m:acc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&amp; 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𝑩𝑯</m:t>
                                  </m:r>
                                </m:e>
                              </m:acc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𝑪𝑨</m:t>
                                  </m:r>
                                </m:e>
                              </m:acc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eqAr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⇔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e>
                              </m:d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𝟔</m:t>
                                  </m:r>
                                </m:e>
                              </m:d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&amp;−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𝟖</m:t>
                                  </m:r>
                                </m:e>
                              </m:d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d>
                                <m:d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e>
                              </m:d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eqAr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⇔</m:t>
                      </m:r>
                      <m:d>
                        <m:dPr>
                          <m:begChr m:val="{"/>
                          <m:endChr m:val="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𝟏𝟑</m:t>
                                  </m:r>
                                </m:num>
                                <m:den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eqAr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𝑯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𝟏𝟑</m:t>
                              </m:r>
                            </m:num>
                            <m:den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; 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C95274-470E-48A1-9499-52F3C3F89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8639" y="3810000"/>
                <a:ext cx="11236651" cy="86834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44BE8DD-AF37-41AE-97C5-38794BB892E8}"/>
                  </a:ext>
                </a:extLst>
              </p:cNvPr>
              <p:cNvSpPr txBox="1"/>
              <p:nvPr/>
            </p:nvSpPr>
            <p:spPr>
              <a:xfrm>
                <a:off x="605829" y="4843328"/>
                <a:ext cx="11935691" cy="6625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4800" b="1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𝒄𝒐𝒔</m:t>
                          </m:r>
                        </m:fName>
                        <m:e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</m:func>
                      <m:r>
                        <a:rPr lang="en-US" sz="4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𝑨</m:t>
                          </m:r>
                          <m:sSup>
                            <m:sSupPr>
                              <m:ctrlP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𝑩</m:t>
                              </m:r>
                            </m:e>
                            <m:sup>
                              <m: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𝑨</m:t>
                          </m:r>
                          <m:sSup>
                            <m:sSupPr>
                              <m:ctrlP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𝑪</m:t>
                              </m:r>
                            </m:e>
                            <m:sup>
                              <m: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𝑩</m:t>
                          </m:r>
                          <m:sSup>
                            <m:sSupPr>
                              <m:ctrlP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𝑪</m:t>
                              </m:r>
                            </m:e>
                            <m:sup>
                              <m: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𝑨𝑩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𝑨𝑪</m:t>
                          </m:r>
                        </m:den>
                      </m:f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𝟒𝟓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𝟒𝟓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𝟑𝟔</m:t>
                          </m:r>
                        </m:num>
                        <m:den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𝟒𝟓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𝟒𝟓</m:t>
                          </m:r>
                        </m:den>
                      </m:f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den>
                      </m:f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̂"/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𝑨</m:t>
                          </m:r>
                        </m:e>
                      </m:acc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≈</m:t>
                      </m:r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𝟓</m:t>
                      </m:r>
                      <m:sSup>
                        <m:sSupPr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p>
                      </m:sSup>
                    </m:oMath>
                  </m:oMathPara>
                </a14:m>
                <a:endParaRPr lang="en-US" sz="48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4800" b="1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𝒄𝒐𝒔</m:t>
                          </m:r>
                        </m:fName>
                        <m:e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𝑩</m:t>
                          </m:r>
                        </m:e>
                      </m:func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𝑨</m:t>
                          </m:r>
                          <m:sSup>
                            <m:sSupPr>
                              <m:ctrlP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𝑩</m:t>
                              </m:r>
                            </m:e>
                            <m:sup>
                              <m: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𝑩</m:t>
                          </m:r>
                          <m:sSup>
                            <m:sSupPr>
                              <m:ctrlP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𝑪</m:t>
                              </m:r>
                            </m:e>
                            <m:sup>
                              <m: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𝑨</m:t>
                          </m:r>
                          <m:sSup>
                            <m:sSupPr>
                              <m:ctrlP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𝑪</m:t>
                              </m:r>
                            </m:e>
                            <m:sup>
                              <m:r>
                                <a:rPr lang="en-US" sz="4800" b="1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𝑨𝑩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𝑩𝑪</m:t>
                          </m:r>
                        </m:den>
                      </m:f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𝟒𝟓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𝟑𝟔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</a:rPr>
                            <m:t>−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𝟒𝟓</m:t>
                          </m:r>
                        </m:num>
                        <m:den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𝟒𝟓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𝟑𝟔</m:t>
                          </m:r>
                        </m:den>
                      </m:f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𝟗</m:t>
                          </m:r>
                        </m:den>
                      </m:f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Cambria Math" panose="02040503050406030204" pitchFamily="18" charset="0"/>
                        </a:rPr>
                        <m:t>⇒</m:t>
                      </m:r>
                      <m:acc>
                        <m:accPr>
                          <m:chr m:val="̂"/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𝑩</m:t>
                          </m:r>
                        </m:e>
                      </m:acc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≈</m:t>
                      </m:r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𝟖</m:t>
                      </m:r>
                      <m:sSup>
                        <m:sSupPr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𝟗</m:t>
                          </m:r>
                        </m:e>
                        <m:sup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p>
                      </m:sSup>
                    </m:oMath>
                  </m:oMathPara>
                </a14:m>
                <a:endParaRPr lang="en-US" sz="48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4800" b="1" i="1" smtClean="0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𝑪</m:t>
                          </m:r>
                        </m:e>
                      </m:acc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𝟏𝟖</m:t>
                      </m:r>
                      <m:sSup>
                        <m:sSupPr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e>
                        <m:sup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p>
                      </m:sSup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−</m:t>
                      </m:r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𝟓</m:t>
                      </m:r>
                      <m:sSup>
                        <m:sSupPr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p>
                      </m:sSup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𝟖</m:t>
                      </m:r>
                      <m:sSup>
                        <m:sSupPr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𝟗</m:t>
                          </m:r>
                        </m:e>
                        <m:sup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p>
                      </m:sSup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</a:rPr>
                        <m:t>≈</m:t>
                      </m:r>
                      <m:r>
                        <a:rPr lang="en-US" sz="4800" b="1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𝟑</m:t>
                      </m:r>
                      <m:sSup>
                        <m:sSupPr>
                          <m:ctrlPr>
                            <a:rPr lang="en-US" sz="4800" b="1" i="1">
                              <a:effectLst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𝟖</m:t>
                          </m:r>
                        </m:e>
                        <m:sup>
                          <m:r>
                            <a:rPr lang="en-US" sz="4800" b="1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p>
                      </m:sSup>
                    </m:oMath>
                  </m:oMathPara>
                </a14:m>
                <a:endParaRPr lang="en-US" sz="48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44BE8DD-AF37-41AE-97C5-38794BB89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829" y="4843328"/>
                <a:ext cx="11935691" cy="66259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7620172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4800" y="2847295"/>
                <a:ext cx="11935691" cy="10655981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4.25.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Chứng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minh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rằng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mọi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tam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ABC, ta </a:t>
                </a:r>
                <a:r>
                  <a:rPr lang="en-US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𝑨𝑩𝑪</m:t>
                        </m:r>
                      </m:sub>
                    </m:sSub>
                    <m:r>
                      <a:rPr lang="en-US" sz="4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e>
                            </m:acc>
                          </m:e>
                          <m:sup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.</m:t>
                        </m:r>
                        <m:sSup>
                          <m:sSup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𝑨𝑪</m:t>
                                </m:r>
                              </m:e>
                            </m:acc>
                          </m:e>
                          <m:sup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4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4400" b="1" i="1">
                                        <a:latin typeface="Cambria Math" panose="02040503050406030204" pitchFamily="18" charset="0"/>
                                      </a:rPr>
                                      <m:t>𝑨𝑩</m:t>
                                    </m:r>
                                  </m:e>
                                </m:acc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sz="4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4400" b="1" i="1">
                                        <a:latin typeface="Cambria Math" panose="02040503050406030204" pitchFamily="18" charset="0"/>
                                      </a:rPr>
                                      <m:t>𝑨𝑪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  <m:r>
                      <a:rPr lang="en-US" sz="4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44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99" name="Content Placeholder 2">
                <a:extLst>
                  <a:ext uri="{FF2B5EF4-FFF2-40B4-BE49-F238E27FC236}">
                    <a16:creationId xmlns:a16="http://schemas.microsoft.com/office/drawing/2014/main" id="{14822BB7-DB89-4357-87F0-6E511FC44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847295"/>
                <a:ext cx="11935691" cy="10655981"/>
              </a:xfrm>
              <a:prstGeom prst="rect">
                <a:avLst/>
              </a:prstGeom>
              <a:blipFill>
                <a:blip r:embed="rId3"/>
                <a:stretch>
                  <a:fillRect l="-2245" t="-1943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2448309" y="2847295"/>
                <a:ext cx="11630891" cy="10655981"/>
              </a:xfrm>
              <a:prstGeom prst="rect">
                <a:avLst/>
              </a:prstGeom>
              <a:solidFill>
                <a:srgbClr val="D6F7FE"/>
              </a:solidFill>
              <a:ln>
                <a:solidFill>
                  <a:srgbClr val="00B0F0"/>
                </a:solidFill>
              </a:ln>
            </p:spPr>
            <p:txBody>
              <a:bodyPr/>
              <a:lstStyle>
                <a:lvl1pPr marL="457200" indent="-457200" algn="l" defTabSz="1828800" rtl="0" eaLnBrk="1" latinLnBrk="0" hangingPunct="1">
                  <a:lnSpc>
                    <a:spcPct val="90000"/>
                  </a:lnSpc>
                  <a:spcBef>
                    <a:spcPts val="2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1pPr>
                <a:lvl2pPr marL="1371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2pPr>
                <a:lvl3pPr marL="2286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3pPr>
                <a:lvl4pPr marL="3200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4pPr>
                <a:lvl5pPr marL="41148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4800" kern="1200">
                    <a:solidFill>
                      <a:schemeClr val="tx1"/>
                    </a:solidFill>
                    <a:latin typeface="Tomaho"/>
                    <a:ea typeface="+mn-ea"/>
                    <a:cs typeface="+mn-cs"/>
                  </a:defRPr>
                </a:lvl5pPr>
                <a:lvl6pPr marL="50292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9436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8580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772400" indent="-457200" algn="l" defTabSz="18288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/>
                  <a:t>4.26. Cho tam </a:t>
                </a:r>
                <a:r>
                  <a:rPr lang="en-US" b="1" dirty="0" err="1"/>
                  <a:t>giác</a:t>
                </a:r>
                <a:r>
                  <a:rPr lang="en-US" b="1" dirty="0"/>
                  <a:t> ABC </a:t>
                </a:r>
                <a:r>
                  <a:rPr lang="en-US" b="1" dirty="0" err="1"/>
                  <a:t>có</a:t>
                </a:r>
                <a:r>
                  <a:rPr lang="en-US" b="1" dirty="0"/>
                  <a:t> </a:t>
                </a:r>
                <a:r>
                  <a:rPr lang="en-US" b="1" dirty="0" err="1"/>
                  <a:t>trọng</a:t>
                </a:r>
                <a:r>
                  <a:rPr lang="en-US" b="1" dirty="0"/>
                  <a:t> </a:t>
                </a:r>
                <a:r>
                  <a:rPr lang="en-US" b="1" dirty="0" err="1"/>
                  <a:t>tâm</a:t>
                </a:r>
                <a:r>
                  <a:rPr lang="en-US" b="1" dirty="0"/>
                  <a:t> G. </a:t>
                </a:r>
                <a:r>
                  <a:rPr lang="en-US" b="1" dirty="0" err="1"/>
                  <a:t>Chứng</a:t>
                </a:r>
                <a:r>
                  <a:rPr lang="en-US" b="1" dirty="0"/>
                  <a:t> minh </a:t>
                </a:r>
                <a:r>
                  <a:rPr lang="en-US" b="1" dirty="0" err="1"/>
                  <a:t>rằng</a:t>
                </a:r>
                <a:r>
                  <a:rPr lang="en-US" b="1" dirty="0"/>
                  <a:t> </a:t>
                </a:r>
                <a:r>
                  <a:rPr lang="en-US" b="1" dirty="0" err="1"/>
                  <a:t>với</a:t>
                </a:r>
                <a:r>
                  <a:rPr lang="en-US" b="1" dirty="0"/>
                  <a:t> </a:t>
                </a:r>
                <a:r>
                  <a:rPr lang="en-US" b="1" dirty="0" err="1"/>
                  <a:t>mọi</a:t>
                </a:r>
                <a:r>
                  <a:rPr lang="en-US" b="1" dirty="0"/>
                  <a:t> </a:t>
                </a:r>
                <a:r>
                  <a:rPr lang="en-US" b="1" dirty="0" err="1"/>
                  <a:t>điểm</a:t>
                </a:r>
                <a:r>
                  <a:rPr lang="en-US" b="1" dirty="0"/>
                  <a:t> M, ta </a:t>
                </a:r>
                <a:r>
                  <a:rPr lang="en-US" b="1" dirty="0" err="1"/>
                  <a:t>có</a:t>
                </a:r>
                <a:r>
                  <a:rPr lang="en-US" b="1" dirty="0"/>
                  <a:t>:                        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𝑴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𝑮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𝑮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𝑮</m:t>
                    </m:r>
                    <m:sSup>
                      <m:sSup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1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08B49A2E-2A9D-46FD-AE9C-29462A33F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8309" y="2847295"/>
                <a:ext cx="11630891" cy="10655981"/>
              </a:xfrm>
              <a:prstGeom prst="rect">
                <a:avLst/>
              </a:prstGeom>
              <a:blipFill>
                <a:blip r:embed="rId4"/>
                <a:stretch>
                  <a:fillRect l="-2304" t="-1886" r="-22618"/>
                </a:stretch>
              </a:blipFill>
              <a:ln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5AA129BE-5122-4FBA-8265-15841BB5D36F}"/>
              </a:ext>
            </a:extLst>
          </p:cNvPr>
          <p:cNvGrpSpPr/>
          <p:nvPr/>
        </p:nvGrpSpPr>
        <p:grpSpPr>
          <a:xfrm>
            <a:off x="408709" y="1939082"/>
            <a:ext cx="10335491" cy="1555896"/>
            <a:chOff x="0" y="64286"/>
            <a:chExt cx="11836941" cy="451406"/>
          </a:xfrm>
        </p:grpSpPr>
        <p:sp>
          <p:nvSpPr>
            <p:cNvPr id="23" name="TextBox 321">
              <a:extLst>
                <a:ext uri="{FF2B5EF4-FFF2-40B4-BE49-F238E27FC236}">
                  <a16:creationId xmlns:a16="http://schemas.microsoft.com/office/drawing/2014/main" id="{84561076-F37A-4328-B5ED-04D526299FBA}"/>
                </a:ext>
              </a:extLst>
            </p:cNvPr>
            <p:cNvSpPr txBox="1"/>
            <p:nvPr/>
          </p:nvSpPr>
          <p:spPr>
            <a:xfrm>
              <a:off x="630003" y="64286"/>
              <a:ext cx="11206938" cy="4514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US" sz="5400" b="1" kern="1200" dirty="0">
                  <a:solidFill>
                    <a:srgbClr val="FF0000"/>
                  </a:solidFill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BÀI TẬP</a:t>
              </a:r>
              <a:endParaRPr lang="en-US" sz="54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BD722B4-D1AA-418A-B3F5-46195608D5E6}"/>
                </a:ext>
              </a:extLst>
            </p:cNvPr>
            <p:cNvGrpSpPr/>
            <p:nvPr/>
          </p:nvGrpSpPr>
          <p:grpSpPr>
            <a:xfrm>
              <a:off x="0" y="92326"/>
              <a:ext cx="627012" cy="197663"/>
              <a:chOff x="0" y="92326"/>
              <a:chExt cx="575416" cy="197663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A0F00313-32CA-4486-97D8-294D232CF560}"/>
                  </a:ext>
                </a:extLst>
              </p:cNvPr>
              <p:cNvGrpSpPr/>
              <p:nvPr/>
            </p:nvGrpSpPr>
            <p:grpSpPr>
              <a:xfrm>
                <a:off x="0" y="92326"/>
                <a:ext cx="575416" cy="197663"/>
                <a:chOff x="0" y="92326"/>
                <a:chExt cx="644449" cy="302837"/>
              </a:xfrm>
            </p:grpSpPr>
            <p:sp>
              <p:nvSpPr>
                <p:cNvPr id="28" name="Arrow: Pentagon 27">
                  <a:extLst>
                    <a:ext uri="{FF2B5EF4-FFF2-40B4-BE49-F238E27FC236}">
                      <a16:creationId xmlns:a16="http://schemas.microsoft.com/office/drawing/2014/main" id="{6BF32CCB-4B18-41B6-9E2B-D7AEFC4B1F56}"/>
                    </a:ext>
                  </a:extLst>
                </p:cNvPr>
                <p:cNvSpPr/>
                <p:nvPr/>
              </p:nvSpPr>
              <p:spPr>
                <a:xfrm>
                  <a:off x="0" y="103807"/>
                  <a:ext cx="420648" cy="291356"/>
                </a:xfrm>
                <a:prstGeom prst="homePlate">
                  <a:avLst/>
                </a:prstGeom>
                <a:solidFill>
                  <a:srgbClr val="5B9BD5">
                    <a:lumMod val="40000"/>
                    <a:lumOff val="6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9" name="Arrow: Chevron 28">
                  <a:extLst>
                    <a:ext uri="{FF2B5EF4-FFF2-40B4-BE49-F238E27FC236}">
                      <a16:creationId xmlns:a16="http://schemas.microsoft.com/office/drawing/2014/main" id="{995F4057-B922-4668-ADCC-D06528D6FE8D}"/>
                    </a:ext>
                  </a:extLst>
                </p:cNvPr>
                <p:cNvSpPr/>
                <p:nvPr/>
              </p:nvSpPr>
              <p:spPr>
                <a:xfrm>
                  <a:off x="380243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rgbClr val="FFC000">
                    <a:lumMod val="40000"/>
                    <a:lumOff val="60000"/>
                  </a:srgbClr>
                </a:solidFill>
                <a:ln w="12700" cap="flat" cmpd="sng" algn="ctr">
                  <a:solidFill>
                    <a:srgbClr val="FFC0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0" name="Arrow: Chevron 29">
                  <a:extLst>
                    <a:ext uri="{FF2B5EF4-FFF2-40B4-BE49-F238E27FC236}">
                      <a16:creationId xmlns:a16="http://schemas.microsoft.com/office/drawing/2014/main" id="{375D7090-717D-46C4-BE1B-76857B206083}"/>
                    </a:ext>
                  </a:extLst>
                </p:cNvPr>
                <p:cNvSpPr/>
                <p:nvPr/>
              </p:nvSpPr>
              <p:spPr>
                <a:xfrm>
                  <a:off x="474990" y="92326"/>
                  <a:ext cx="169459" cy="291671"/>
                </a:xfrm>
                <a:prstGeom prst="chevron">
                  <a:avLst>
                    <a:gd name="adj" fmla="val 83506"/>
                  </a:avLst>
                </a:prstGeom>
                <a:solidFill>
                  <a:srgbClr val="0000CC"/>
                </a:solidFill>
                <a:ln w="12700" cap="flat" cmpd="sng" algn="ctr">
                  <a:solidFill>
                    <a:srgbClr val="FFFF00"/>
                  </a:soli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26" name="Flowchart: Terminator 25">
                <a:extLst>
                  <a:ext uri="{FF2B5EF4-FFF2-40B4-BE49-F238E27FC236}">
                    <a16:creationId xmlns:a16="http://schemas.microsoft.com/office/drawing/2014/main" id="{17076260-E40D-4538-B5FB-CCB9023D5645}"/>
                  </a:ext>
                </a:extLst>
              </p:cNvPr>
              <p:cNvSpPr/>
              <p:nvPr/>
            </p:nvSpPr>
            <p:spPr>
              <a:xfrm>
                <a:off x="80311" y="137613"/>
                <a:ext cx="253736" cy="115827"/>
              </a:xfrm>
              <a:prstGeom prst="flowChartTerminator">
                <a:avLst/>
              </a:prstGeom>
              <a:solidFill>
                <a:srgbClr val="FFFF00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3D7E5B9-C576-4A31-994D-1E712DEA87F8}"/>
                  </a:ext>
                </a:extLst>
              </p:cNvPr>
              <p:cNvSpPr/>
              <p:nvPr/>
            </p:nvSpPr>
            <p:spPr>
              <a:xfrm>
                <a:off x="211659" y="142761"/>
                <a:ext cx="92369" cy="95432"/>
              </a:xfrm>
              <a:prstGeom prst="ellipse">
                <a:avLst/>
              </a:prstGeom>
              <a:solidFill>
                <a:srgbClr val="3333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3866CA-F3C7-45B9-97C4-B8A9C94850D6}"/>
                  </a:ext>
                </a:extLst>
              </p:cNvPr>
              <p:cNvSpPr txBox="1"/>
              <p:nvPr/>
            </p:nvSpPr>
            <p:spPr>
              <a:xfrm>
                <a:off x="875698" y="6047385"/>
                <a:ext cx="11465462" cy="75015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4800" b="1" i="1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𝑨𝑪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.</m:t>
                    </m:r>
                    <m:func>
                      <m:func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𝒔𝒊𝒏</m:t>
                        </m:r>
                      </m:fName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func>
                  </m:oMath>
                </a14:m>
                <a:endParaRPr lang="en-US" sz="4800" b="1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1" i="1">
                          <a:latin typeface="Cambria Math" panose="02040503050406030204" pitchFamily="18" charset="0"/>
                        </a:rPr>
                        <m:t>⇒</m:t>
                      </m:r>
                      <m:sSup>
                        <m:sSupPr>
                          <m:ctrlPr>
                            <a:rPr lang="en-US" sz="4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p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8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r>
                        <a:rPr lang="en-US" sz="4800" b="1" i="1">
                          <a:latin typeface="Cambria Math" panose="02040503050406030204" pitchFamily="18" charset="0"/>
                        </a:rPr>
                        <m:t>𝑨</m:t>
                      </m:r>
                      <m:sSup>
                        <m:sSupPr>
                          <m:ctrlPr>
                            <a:rPr lang="en-US" sz="4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8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4800" b="1" i="1">
                          <a:latin typeface="Cambria Math" panose="02040503050406030204" pitchFamily="18" charset="0"/>
                        </a:rPr>
                        <m:t>𝑨</m:t>
                      </m:r>
                      <m:sSup>
                        <m:sSupPr>
                          <m:ctrlPr>
                            <a:rPr lang="en-US" sz="4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p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d>
                        <m:dPr>
                          <m:ctrlPr>
                            <a:rPr lang="en-US" sz="4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𝒄𝒐</m:t>
                          </m:r>
                          <m:sSup>
                            <m:sSupPr>
                              <m:ctrlPr>
                                <a:rPr lang="en-US" sz="4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800" b="1" i="1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e>
                            <m:sup>
                              <m:r>
                                <a:rPr lang="en-US" sz="48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</m:d>
                    </m:oMath>
                  </m:oMathPara>
                </a14:m>
                <a:endParaRPr lang="en-US" sz="48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p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sSup>
                      <m:sSup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𝑨𝑩</m:t>
                            </m:r>
                          </m:e>
                        </m:acc>
                      </m:e>
                      <m:sup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800" b="1" i="1">
                        <a:latin typeface="Cambria Math" panose="02040503050406030204" pitchFamily="18" charset="0"/>
                      </a:rPr>
                      <m:t>.</m:t>
                    </m:r>
                    <m:sSup>
                      <m:sSup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𝑨𝑪</m:t>
                            </m:r>
                          </m:e>
                        </m:acc>
                      </m:e>
                      <m:sup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sz="4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4800" b="1" i="1">
                                            <a:latin typeface="Cambria Math" panose="02040503050406030204" pitchFamily="18" charset="0"/>
                                          </a:rPr>
                                          <m:t>𝑨𝑩</m:t>
                                        </m:r>
                                      </m:e>
                                    </m:acc>
                                    <m: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US" sz="4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4800" b="1" i="1">
                                            <a:latin typeface="Cambria Math" panose="02040503050406030204" pitchFamily="18" charset="0"/>
                                          </a:rPr>
                                          <m:t>𝑨𝑪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num>
                          <m:den>
                            <m:sSup>
                              <m:sSupPr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  <m:t>𝑨𝑩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sSup>
                              <m:sSupPr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  <m:t>𝑨𝑪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sz="48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4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4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48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800" b="1" i="1">
                                      <a:latin typeface="Cambria Math" panose="02040503050406030204" pitchFamily="18" charset="0"/>
                                    </a:rPr>
                                    <m:t>𝑨𝑩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48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.</m:t>
                          </m:r>
                          <m:sSup>
                            <m:sSupPr>
                              <m:ctrlPr>
                                <a:rPr lang="en-US" sz="4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sz="48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800" b="1" i="1">
                                      <a:latin typeface="Cambria Math" panose="02040503050406030204" pitchFamily="18" charset="0"/>
                                    </a:rPr>
                                    <m:t>𝑨𝑪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48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4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4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sz="4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4800" b="1" i="1">
                                          <a:latin typeface="Cambria Math" panose="02040503050406030204" pitchFamily="18" charset="0"/>
                                        </a:rPr>
                                        <m:t>𝑨𝑩</m:t>
                                      </m:r>
                                    </m:e>
                                  </m:acc>
                                  <m:r>
                                    <a:rPr lang="en-US" sz="4800" b="1" i="1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acc>
                                    <m:accPr>
                                      <m:chr m:val="⃗"/>
                                      <m:ctrlPr>
                                        <a:rPr lang="en-US" sz="4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4800" b="1" i="1">
                                          <a:latin typeface="Cambria Math" panose="02040503050406030204" pitchFamily="18" charset="0"/>
                                        </a:rPr>
                                        <m:t>𝑨𝑪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48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48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𝑨𝑩𝑪</m:t>
                        </m:r>
                      </m:sub>
                    </m:sSub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pos m:val="top"/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e>
                            </m:bar>
                          </m:e>
                          <m:sup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pos m:val="top"/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𝑨𝑪</m:t>
                                </m:r>
                              </m:e>
                            </m:bar>
                          </m:e>
                          <m:sup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bar>
                                  <m:barPr>
                                    <m:pos m:val="top"/>
                                    <m:ctrlP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  <m:t>𝑨𝑩</m:t>
                                    </m:r>
                                  </m:e>
                                </m:bar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bar>
                                  <m:barPr>
                                    <m:pos m:val="top"/>
                                    <m:ctrlP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  <m:t>𝑨𝑪</m:t>
                                    </m:r>
                                  </m:e>
                                </m:bar>
                              </m:e>
                            </m:d>
                          </m:e>
                          <m:sup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endParaRPr lang="en-US" sz="48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3866CA-F3C7-45B9-97C4-B8A9C9485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698" y="6047385"/>
                <a:ext cx="11465462" cy="7501541"/>
              </a:xfrm>
              <a:prstGeom prst="rect">
                <a:avLst/>
              </a:prstGeom>
              <a:blipFill>
                <a:blip r:embed="rId5"/>
                <a:stretch>
                  <a:fillRect l="-2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89D45BE-EF27-4E60-AEB4-AB17CF67CBC5}"/>
              </a:ext>
            </a:extLst>
          </p:cNvPr>
          <p:cNvSpPr txBox="1"/>
          <p:nvPr/>
        </p:nvSpPr>
        <p:spPr>
          <a:xfrm>
            <a:off x="4800235" y="5387387"/>
            <a:ext cx="2514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Lời</a:t>
            </a:r>
            <a:r>
              <a:rPr lang="en-US" sz="4400" b="1" i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i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endParaRPr lang="en-US" sz="4400" i="1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4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D182A2-6E3B-4599-B957-8B89D405DDE5}"/>
              </a:ext>
            </a:extLst>
          </p:cNvPr>
          <p:cNvSpPr txBox="1"/>
          <p:nvPr/>
        </p:nvSpPr>
        <p:spPr>
          <a:xfrm>
            <a:off x="16342262" y="5430035"/>
            <a:ext cx="2514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Lời</a:t>
            </a:r>
            <a:r>
              <a:rPr lang="en-US" sz="4400" b="1" i="1" dirty="0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4400" b="1" i="1" dirty="0" err="1">
                <a:solidFill>
                  <a:srgbClr val="0000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giải</a:t>
            </a:r>
            <a:endParaRPr lang="en-US" sz="4400" i="1" dirty="0">
              <a:solidFill>
                <a:srgbClr val="0000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sz="4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C95274-470E-48A1-9499-52F3C3F891D5}"/>
                  </a:ext>
                </a:extLst>
              </p:cNvPr>
              <p:cNvSpPr txBox="1"/>
              <p:nvPr/>
            </p:nvSpPr>
            <p:spPr>
              <a:xfrm>
                <a:off x="12344400" y="6858000"/>
                <a:ext cx="12725400" cy="48819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𝐌</m:t>
                      </m:r>
                      <m:sSup>
                        <m:sSup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𝐌</m:t>
                      </m:r>
                      <m:sSup>
                        <m:sSup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𝑩</m:t>
                          </m:r>
                        </m:e>
                        <m:sup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𝐌</m:t>
                      </m:r>
                      <m:sSup>
                        <m:sSup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p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𝑴𝑨</m:t>
                              </m:r>
                            </m:e>
                          </m:acc>
                        </m:e>
                        <m:sup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𝑴𝑩</m:t>
                              </m:r>
                            </m:e>
                          </m:acc>
                        </m:e>
                        <m:sup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𝑴𝑪</m:t>
                              </m:r>
                            </m:e>
                          </m:acc>
                        </m:e>
                        <m:sup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4400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  <m:t>𝑴𝑮</m:t>
                                  </m:r>
                                </m:e>
                              </m:acc>
                              <m:r>
                                <a:rPr lang="en-US" sz="4400" b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  <m:t>𝑮𝑨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  <m:t>𝑴𝑮</m:t>
                                  </m:r>
                                </m:e>
                              </m:acc>
                              <m:r>
                                <a:rPr lang="en-US" sz="4400" b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  <m:t>𝑮𝑩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  <m:t>𝑴𝑮</m:t>
                                  </m:r>
                                </m:e>
                              </m:acc>
                              <m:r>
                                <a:rPr lang="en-US" sz="44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  <m:t>𝑮𝑪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>
                          <a:latin typeface="Cambria Math" panose="02040503050406030204" pitchFamily="18" charset="0"/>
                        </a:rPr>
                        <m:t>     </m:t>
                      </m:r>
                      <m:r>
                        <a:rPr lang="en-US" sz="4400" b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𝟑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𝐌</m:t>
                          </m:r>
                          <m:sSup>
                            <m:sSupPr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p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sz="4400" b="1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acc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𝑴𝑮</m:t>
                          </m:r>
                        </m:e>
                      </m:acc>
                      <m:d>
                        <m:d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𝑮𝑨</m:t>
                              </m:r>
                            </m:e>
                          </m:acc>
                          <m:r>
                            <a:rPr lang="en-US" sz="4400" b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𝑮𝑩</m:t>
                              </m:r>
                            </m:e>
                          </m:acc>
                          <m:r>
                            <a:rPr lang="en-US" sz="4400" b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𝑮𝑪</m:t>
                              </m:r>
                            </m:e>
                          </m:acc>
                        </m:e>
                      </m:d>
                      <m:r>
                        <a:rPr lang="en-US" sz="4400" b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𝑮𝑨</m:t>
                              </m:r>
                            </m:e>
                          </m:acc>
                        </m:e>
                        <m:sup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𝑮𝑩</m:t>
                              </m:r>
                            </m:e>
                          </m:acc>
                        </m:e>
                        <m:sup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𝑮𝑪</m:t>
                              </m:r>
                            </m:e>
                          </m:acc>
                        </m:e>
                        <m:sup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</a:t>
                </a:r>
                <a14:m>
                  <m:oMath xmlns:m="http://schemas.openxmlformats.org/officeDocument/2006/math">
                    <m:r>
                      <a:rPr lang="en-US" sz="4400" b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𝟑𝐌</m:t>
                    </m:r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𝑮</m:t>
                        </m:r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𝐆</m:t>
                    </m:r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𝐆</m:t>
                    </m:r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𝐆</m:t>
                    </m:r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44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3C95274-470E-48A1-9499-52F3C3F89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4400" y="6858000"/>
                <a:ext cx="12725400" cy="48819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ounded Rectangle 100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15140172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2" grpId="0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313519-0C89-483D-A08E-CF6067282148}"/>
              </a:ext>
            </a:extLst>
          </p:cNvPr>
          <p:cNvGrpSpPr/>
          <p:nvPr/>
        </p:nvGrpSpPr>
        <p:grpSpPr>
          <a:xfrm>
            <a:off x="141341" y="6629400"/>
            <a:ext cx="23862374" cy="6705600"/>
            <a:chOff x="48567" y="4381499"/>
            <a:chExt cx="23018772" cy="6705599"/>
          </a:xfrm>
          <a:solidFill>
            <a:srgbClr val="DAE3F3"/>
          </a:solidFill>
        </p:grpSpPr>
        <p:sp>
          <p:nvSpPr>
            <p:cNvPr id="3" name="Rounded Rectangle 52">
              <a:extLst>
                <a:ext uri="{FF2B5EF4-FFF2-40B4-BE49-F238E27FC236}">
                  <a16:creationId xmlns:a16="http://schemas.microsoft.com/office/drawing/2014/main" id="{5B1AB244-3D78-416D-AEF1-35CC4562B7A3}"/>
                </a:ext>
              </a:extLst>
            </p:cNvPr>
            <p:cNvSpPr/>
            <p:nvPr/>
          </p:nvSpPr>
          <p:spPr>
            <a:xfrm>
              <a:off x="385312" y="4941556"/>
              <a:ext cx="22682027" cy="6145542"/>
            </a:xfrm>
            <a:prstGeom prst="roundRect">
              <a:avLst>
                <a:gd name="adj" fmla="val 2239"/>
              </a:avLst>
            </a:prstGeom>
            <a:grpFill/>
            <a:ln w="28575">
              <a:solidFill>
                <a:schemeClr val="accent3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8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endParaRPr lang="en-US" sz="4800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6FC852D-338F-4593-BDAE-4432C24EAC82}"/>
                </a:ext>
              </a:extLst>
            </p:cNvPr>
            <p:cNvGrpSpPr/>
            <p:nvPr/>
          </p:nvGrpSpPr>
          <p:grpSpPr>
            <a:xfrm>
              <a:off x="48567" y="4381499"/>
              <a:ext cx="3991940" cy="1079474"/>
              <a:chOff x="410517" y="4648199"/>
              <a:chExt cx="3991940" cy="1079474"/>
            </a:xfrm>
            <a:grpFill/>
          </p:grpSpPr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20085AD8-BD87-4A35-B6D4-9AE383128185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2421084" y="3633167"/>
                <a:ext cx="966341" cy="2996405"/>
              </a:xfrm>
              <a:prstGeom prst="round1Rect">
                <a:avLst/>
              </a:prstGeom>
              <a:grpFill/>
              <a:ln w="57150"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8C0313-9358-457E-845F-D4B035AC31D3}"/>
                  </a:ext>
                </a:extLst>
              </p:cNvPr>
              <p:cNvSpPr txBox="1"/>
              <p:nvPr/>
            </p:nvSpPr>
            <p:spPr>
              <a:xfrm>
                <a:off x="1406054" y="4732063"/>
                <a:ext cx="2872839" cy="800219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6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 giải</a:t>
                </a:r>
                <a:endParaRPr lang="en-US" sz="4600" b="1" dirty="0">
                  <a:solidFill>
                    <a:prstClr val="black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B75B5B9-D442-4C6E-96A9-9A573FE06D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50" t="14860" r="18922" b="25555"/>
              <a:stretch/>
            </p:blipFill>
            <p:spPr>
              <a:xfrm>
                <a:off x="410517" y="4648200"/>
                <a:ext cx="1058947" cy="1079473"/>
              </a:xfrm>
              <a:prstGeom prst="round2DiagRect">
                <a:avLst>
                  <a:gd name="adj1" fmla="val 27632"/>
                  <a:gd name="adj2" fmla="val 0"/>
                </a:avLst>
              </a:prstGeom>
              <a:grpFill/>
              <a:ln w="38100" cap="sq">
                <a:solidFill>
                  <a:schemeClr val="accent6">
                    <a:lumMod val="50000"/>
                  </a:schemeClr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A8B4DB7-EFF8-4AF8-B0FA-839D4C447E82}"/>
              </a:ext>
            </a:extLst>
          </p:cNvPr>
          <p:cNvGrpSpPr/>
          <p:nvPr/>
        </p:nvGrpSpPr>
        <p:grpSpPr>
          <a:xfrm>
            <a:off x="620483" y="5105400"/>
            <a:ext cx="23556178" cy="1234536"/>
            <a:chOff x="241306" y="2243792"/>
            <a:chExt cx="11778089" cy="617268"/>
          </a:xfrm>
          <a:solidFill>
            <a:srgbClr val="327E3B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/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a14:m>
                  <a:r>
                    <a:rPr lang="en-US" sz="5400" b="1" dirty="0">
                      <a:solidFill>
                        <a:prstClr val="white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blipFill>
                  <a:blip r:embed="rId3"/>
                  <a:stretch>
                    <a:fillRect b="-14692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78679C-83F1-4149-AB69-2BCAF6D951FA}"/>
                </a:ext>
              </a:extLst>
            </p:cNvPr>
            <p:cNvSpPr/>
            <p:nvPr/>
          </p:nvSpPr>
          <p:spPr>
            <a:xfrm>
              <a:off x="3247742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/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𝟑</m:t>
                      </m:r>
                    </m:oMath>
                  </a14:m>
                  <a:r>
                    <a:rPr lang="en-US" sz="4400" b="1" dirty="0">
                      <a:solidFill>
                        <a:prstClr val="white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blipFill>
                  <a:blip r:embed="rId4"/>
                  <a:stretch>
                    <a:fillRect b="-1896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88947F5-5540-4A85-BACE-6641A507F5A0}"/>
                </a:ext>
              </a:extLst>
            </p:cNvPr>
            <p:cNvSpPr/>
            <p:nvPr/>
          </p:nvSpPr>
          <p:spPr>
            <a:xfrm>
              <a:off x="241306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A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/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𝟓</m:t>
                      </m:r>
                    </m:oMath>
                  </a14:m>
                  <a:r>
                    <a:rPr lang="en-US" sz="5400" b="1" dirty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blipFill>
                  <a:blip r:embed="rId5"/>
                  <a:stretch>
                    <a:fillRect b="-14692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7BF74FF-3652-4371-9E0B-A97FA806BC48}"/>
                </a:ext>
              </a:extLst>
            </p:cNvPr>
            <p:cNvSpPr/>
            <p:nvPr/>
          </p:nvSpPr>
          <p:spPr>
            <a:xfrm>
              <a:off x="6254178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/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rad>
                    </m:oMath>
                  </a14:m>
                  <a:r>
                    <a:rPr lang="en-US" sz="5400" b="1" dirty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blipFill>
                  <a:blip r:embed="rId6"/>
                  <a:stretch>
                    <a:fillRect b="-14692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B907C0F-6FC4-4852-8CFD-AD2FACA13C7F}"/>
                </a:ext>
              </a:extLst>
            </p:cNvPr>
            <p:cNvSpPr/>
            <p:nvPr/>
          </p:nvSpPr>
          <p:spPr>
            <a:xfrm>
              <a:off x="9260615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06450E-ACA8-42F7-B878-4360BA0CBA71}"/>
              </a:ext>
            </a:extLst>
          </p:cNvPr>
          <p:cNvGrpSpPr/>
          <p:nvPr/>
        </p:nvGrpSpPr>
        <p:grpSpPr>
          <a:xfrm>
            <a:off x="141340" y="2590803"/>
            <a:ext cx="23943880" cy="2401467"/>
            <a:chOff x="923003" y="3917552"/>
            <a:chExt cx="23943880" cy="2401466"/>
          </a:xfrm>
        </p:grpSpPr>
        <p:sp>
          <p:nvSpPr>
            <p:cNvPr id="19" name="Rounded Rectangle 41">
              <a:extLst>
                <a:ext uri="{FF2B5EF4-FFF2-40B4-BE49-F238E27FC236}">
                  <a16:creationId xmlns:a16="http://schemas.microsoft.com/office/drawing/2014/main" id="{CC866FB0-B137-49F3-A47E-0B1A18FC432E}"/>
                </a:ext>
              </a:extLst>
            </p:cNvPr>
            <p:cNvSpPr/>
            <p:nvPr/>
          </p:nvSpPr>
          <p:spPr>
            <a:xfrm>
              <a:off x="1272211" y="4426857"/>
              <a:ext cx="23594672" cy="1892161"/>
            </a:xfrm>
            <a:prstGeom prst="roundRect">
              <a:avLst>
                <a:gd name="adj" fmla="val 10158"/>
              </a:avLst>
            </a:prstGeom>
            <a:solidFill>
              <a:srgbClr val="FEEBB0"/>
            </a:solidFill>
            <a:ln w="12700">
              <a:solidFill>
                <a:srgbClr val="91720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                 </a:t>
              </a:r>
              <a:endParaRPr lang="en-US" sz="4800" b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1E96746-B33C-4D41-836E-CA7E0074841E}"/>
                </a:ext>
              </a:extLst>
            </p:cNvPr>
            <p:cNvGrpSpPr/>
            <p:nvPr/>
          </p:nvGrpSpPr>
          <p:grpSpPr>
            <a:xfrm>
              <a:off x="923003" y="3917552"/>
              <a:ext cx="3942102" cy="1040476"/>
              <a:chOff x="923003" y="3917552"/>
              <a:chExt cx="3942102" cy="104047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719E236-B0D7-442E-8A08-3228625765BF}"/>
                  </a:ext>
                </a:extLst>
              </p:cNvPr>
              <p:cNvGrpSpPr/>
              <p:nvPr/>
            </p:nvGrpSpPr>
            <p:grpSpPr>
              <a:xfrm>
                <a:off x="1362045" y="4022855"/>
                <a:ext cx="3503060" cy="865576"/>
                <a:chOff x="2028795" y="4384805"/>
                <a:chExt cx="3503060" cy="865576"/>
              </a:xfrm>
            </p:grpSpPr>
            <p:sp>
              <p:nvSpPr>
                <p:cNvPr id="23" name="Freeform 20">
                  <a:extLst>
                    <a:ext uri="{FF2B5EF4-FFF2-40B4-BE49-F238E27FC236}">
                      <a16:creationId xmlns:a16="http://schemas.microsoft.com/office/drawing/2014/main" id="{B393AAC4-D254-453D-8479-B404D455FF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3364273" y="3082799"/>
                  <a:ext cx="832104" cy="3503060"/>
                </a:xfrm>
                <a:prstGeom prst="round2SameRect">
                  <a:avLst>
                    <a:gd name="adj1" fmla="val 19445"/>
                    <a:gd name="adj2" fmla="val 0"/>
                  </a:avLst>
                </a:prstGeom>
                <a:solidFill>
                  <a:srgbClr val="FFF9BC"/>
                </a:solidFill>
                <a:ln w="57150">
                  <a:solidFill>
                    <a:srgbClr val="91720D"/>
                  </a:solidFill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641E29D-906E-4634-ADED-96B1E8DA8216}"/>
                    </a:ext>
                  </a:extLst>
                </p:cNvPr>
                <p:cNvSpPr txBox="1"/>
                <p:nvPr/>
              </p:nvSpPr>
              <p:spPr>
                <a:xfrm>
                  <a:off x="2542253" y="4384805"/>
                  <a:ext cx="2895398" cy="800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vi-VN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CÂU</a:t>
                  </a:r>
                  <a:r>
                    <a:rPr lang="en-US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1</a:t>
                  </a:r>
                  <a:r>
                    <a:rPr lang="vi-VN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</a:t>
                  </a:r>
                  <a:endParaRPr lang="en-US" sz="46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50C43C-37F7-4A87-880E-749F8F1583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99" t="21515" r="9759" b="14519"/>
              <a:stretch/>
            </p:blipFill>
            <p:spPr>
              <a:xfrm>
                <a:off x="923003" y="3917552"/>
                <a:ext cx="1076356" cy="1040476"/>
              </a:xfrm>
              <a:prstGeom prst="round2DiagRect">
                <a:avLst>
                  <a:gd name="adj1" fmla="val 30509"/>
                  <a:gd name="adj2" fmla="val 0"/>
                </a:avLst>
              </a:prstGeom>
              <a:ln w="38100" cap="sq">
                <a:solidFill>
                  <a:srgbClr val="91720D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818C57C-1988-4D43-859D-82DC91340849}"/>
              </a:ext>
            </a:extLst>
          </p:cNvPr>
          <p:cNvGrpSpPr/>
          <p:nvPr/>
        </p:nvGrpSpPr>
        <p:grpSpPr>
          <a:xfrm>
            <a:off x="-72643" y="1572056"/>
            <a:ext cx="19656043" cy="830997"/>
            <a:chOff x="-288923" y="1892299"/>
            <a:chExt cx="19659598" cy="830996"/>
          </a:xfrm>
        </p:grpSpPr>
        <p:sp>
          <p:nvSpPr>
            <p:cNvPr id="26" name="Rounded Rectangle 2">
              <a:extLst>
                <a:ext uri="{FF2B5EF4-FFF2-40B4-BE49-F238E27FC236}">
                  <a16:creationId xmlns:a16="http://schemas.microsoft.com/office/drawing/2014/main" id="{0A9E6F3C-C9C6-4653-8688-729C6539C260}"/>
                </a:ext>
              </a:extLst>
            </p:cNvPr>
            <p:cNvSpPr/>
            <p:nvPr/>
          </p:nvSpPr>
          <p:spPr>
            <a:xfrm>
              <a:off x="-288923" y="2052547"/>
              <a:ext cx="2130429" cy="657125"/>
            </a:xfrm>
            <a:prstGeom prst="roundRect">
              <a:avLst/>
            </a:prstGeom>
            <a:solidFill>
              <a:srgbClr val="145F8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241A601-B9CB-4799-9262-795745D3C127}"/>
                </a:ext>
              </a:extLst>
            </p:cNvPr>
            <p:cNvSpPr txBox="1"/>
            <p:nvPr/>
          </p:nvSpPr>
          <p:spPr>
            <a:xfrm>
              <a:off x="1082674" y="1922269"/>
              <a:ext cx="184764" cy="7540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b="1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F08DB64-BC2D-418D-8BD5-391B8CF3BEA4}"/>
                </a:ext>
              </a:extLst>
            </p:cNvPr>
            <p:cNvSpPr txBox="1"/>
            <p:nvPr/>
          </p:nvSpPr>
          <p:spPr>
            <a:xfrm>
              <a:off x="2087562" y="1892299"/>
              <a:ext cx="17283113" cy="830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b="1" dirty="0">
                  <a:solidFill>
                    <a:srgbClr val="145F82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 BÀI TẬP TRẮC NGHIỆM CỦNG CỐ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FB11C65-8BD6-48B2-A424-E6F4B06755C4}"/>
                  </a:ext>
                </a:extLst>
              </p:cNvPr>
              <p:cNvSpPr txBox="1"/>
              <p:nvPr/>
            </p:nvSpPr>
            <p:spPr>
              <a:xfrm>
                <a:off x="3523736" y="7720544"/>
                <a:ext cx="20369837" cy="47357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800" b="1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Áp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dụng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công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thức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dài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công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thức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</m:e>
                    </m:d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  <m:sup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</m:e>
                    </m:rad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endParaRPr lang="en-US" sz="4800" b="1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|"/>
                        <m:endChr m:val="|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</m:e>
                    </m:d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  <m:sup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rad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endParaRPr lang="en-US" sz="48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FB11C65-8BD6-48B2-A424-E6F4B0675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736" y="7720544"/>
                <a:ext cx="20369837" cy="4735784"/>
              </a:xfrm>
              <a:prstGeom prst="rect">
                <a:avLst/>
              </a:prstGeom>
              <a:blipFill>
                <a:blip r:embed="rId8"/>
                <a:stretch>
                  <a:fillRect l="-1346" t="-30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/>
              <p:nvPr/>
            </p:nvSpPr>
            <p:spPr>
              <a:xfrm>
                <a:off x="1400364" y="3482042"/>
                <a:ext cx="22204828" cy="980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629920" indent="-629920" algn="just">
                  <a:lnSpc>
                    <a:spcPct val="150000"/>
                  </a:lnSpc>
                  <a:tabLst>
                    <a:tab pos="629920" algn="l"/>
                  </a:tabLst>
                </a:pPr>
                <a:r>
                  <a:rPr lang="vi-VN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 mặt phẳng tọa độ, độ dài của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vi-VN" sz="4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vi-VN" sz="44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sz="44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vi-VN" sz="4400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vi-VN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là</a:t>
                </a:r>
                <a:endParaRPr lang="en-US" sz="44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0364" y="3482042"/>
                <a:ext cx="22204828" cy="980205"/>
              </a:xfrm>
              <a:prstGeom prst="rect">
                <a:avLst/>
              </a:prstGeom>
              <a:blipFill>
                <a:blip r:embed="rId9"/>
                <a:stretch>
                  <a:fillRect l="-1126" b="-279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73C3CF5C-1143-48B0-96F6-576266D875C3}"/>
              </a:ext>
            </a:extLst>
          </p:cNvPr>
          <p:cNvSpPr txBox="1"/>
          <p:nvPr/>
        </p:nvSpPr>
        <p:spPr>
          <a:xfrm>
            <a:off x="669002" y="1685889"/>
            <a:ext cx="982961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III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419C482-116A-4893-8FDE-8CB9B6D14733}"/>
              </a:ext>
            </a:extLst>
          </p:cNvPr>
          <p:cNvSpPr/>
          <p:nvPr/>
        </p:nvSpPr>
        <p:spPr>
          <a:xfrm>
            <a:off x="18648562" y="5187884"/>
            <a:ext cx="1080000" cy="108000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400" b="1" dirty="0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</a:t>
            </a:r>
            <a:endParaRPr lang="en-US" sz="6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842631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313519-0C89-483D-A08E-CF6067282148}"/>
              </a:ext>
            </a:extLst>
          </p:cNvPr>
          <p:cNvGrpSpPr/>
          <p:nvPr/>
        </p:nvGrpSpPr>
        <p:grpSpPr>
          <a:xfrm>
            <a:off x="141341" y="6705600"/>
            <a:ext cx="23862374" cy="6629400"/>
            <a:chOff x="48567" y="4381499"/>
            <a:chExt cx="23018772" cy="6629399"/>
          </a:xfrm>
          <a:solidFill>
            <a:srgbClr val="DAE3F3"/>
          </a:solidFill>
        </p:grpSpPr>
        <p:sp>
          <p:nvSpPr>
            <p:cNvPr id="3" name="Rounded Rectangle 52">
              <a:extLst>
                <a:ext uri="{FF2B5EF4-FFF2-40B4-BE49-F238E27FC236}">
                  <a16:creationId xmlns:a16="http://schemas.microsoft.com/office/drawing/2014/main" id="{5B1AB244-3D78-416D-AEF1-35CC4562B7A3}"/>
                </a:ext>
              </a:extLst>
            </p:cNvPr>
            <p:cNvSpPr/>
            <p:nvPr/>
          </p:nvSpPr>
          <p:spPr>
            <a:xfrm>
              <a:off x="385312" y="4941556"/>
              <a:ext cx="22682027" cy="6069342"/>
            </a:xfrm>
            <a:prstGeom prst="roundRect">
              <a:avLst>
                <a:gd name="adj" fmla="val 2239"/>
              </a:avLst>
            </a:prstGeom>
            <a:grpFill/>
            <a:ln w="28575">
              <a:solidFill>
                <a:schemeClr val="accent3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8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endParaRPr lang="en-US" sz="4800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6FC852D-338F-4593-BDAE-4432C24EAC82}"/>
                </a:ext>
              </a:extLst>
            </p:cNvPr>
            <p:cNvGrpSpPr/>
            <p:nvPr/>
          </p:nvGrpSpPr>
          <p:grpSpPr>
            <a:xfrm>
              <a:off x="48567" y="4381499"/>
              <a:ext cx="3991940" cy="1079474"/>
              <a:chOff x="410517" y="4648199"/>
              <a:chExt cx="3991940" cy="1079474"/>
            </a:xfrm>
            <a:grpFill/>
          </p:grpSpPr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20085AD8-BD87-4A35-B6D4-9AE383128185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2421084" y="3633167"/>
                <a:ext cx="966341" cy="2996405"/>
              </a:xfrm>
              <a:prstGeom prst="round1Rect">
                <a:avLst/>
              </a:prstGeom>
              <a:grpFill/>
              <a:ln w="57150"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8C0313-9358-457E-845F-D4B035AC31D3}"/>
                  </a:ext>
                </a:extLst>
              </p:cNvPr>
              <p:cNvSpPr txBox="1"/>
              <p:nvPr/>
            </p:nvSpPr>
            <p:spPr>
              <a:xfrm>
                <a:off x="1406054" y="4732063"/>
                <a:ext cx="2872839" cy="800219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6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 giải</a:t>
                </a:r>
                <a:endParaRPr lang="en-US" sz="4600" b="1" dirty="0">
                  <a:solidFill>
                    <a:prstClr val="black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B75B5B9-D442-4C6E-96A9-9A573FE06D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50" t="14860" r="18922" b="25555"/>
              <a:stretch/>
            </p:blipFill>
            <p:spPr>
              <a:xfrm>
                <a:off x="410517" y="4648200"/>
                <a:ext cx="1058947" cy="1079473"/>
              </a:xfrm>
              <a:prstGeom prst="round2DiagRect">
                <a:avLst>
                  <a:gd name="adj1" fmla="val 27632"/>
                  <a:gd name="adj2" fmla="val 0"/>
                </a:avLst>
              </a:prstGeom>
              <a:grpFill/>
              <a:ln w="38100" cap="sq">
                <a:solidFill>
                  <a:schemeClr val="accent6">
                    <a:lumMod val="50000"/>
                  </a:schemeClr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A8B4DB7-EFF8-4AF8-B0FA-839D4C447E82}"/>
              </a:ext>
            </a:extLst>
          </p:cNvPr>
          <p:cNvGrpSpPr/>
          <p:nvPr/>
        </p:nvGrpSpPr>
        <p:grpSpPr>
          <a:xfrm>
            <a:off x="620483" y="5105400"/>
            <a:ext cx="23556178" cy="1234536"/>
            <a:chOff x="241306" y="2243792"/>
            <a:chExt cx="11778089" cy="617268"/>
          </a:xfrm>
          <a:solidFill>
            <a:srgbClr val="327E3B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/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𝟖𝟗</m:t>
                          </m:r>
                        </m:e>
                      </m:rad>
                    </m:oMath>
                  </a14:m>
                  <a:r>
                    <a:rPr lang="en-US" sz="5400" b="1" dirty="0">
                      <a:solidFill>
                        <a:prstClr val="white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blipFill>
                  <a:blip r:embed="rId3"/>
                  <a:stretch>
                    <a:fillRect b="-14692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78679C-83F1-4149-AB69-2BCAF6D951FA}"/>
                </a:ext>
              </a:extLst>
            </p:cNvPr>
            <p:cNvSpPr/>
            <p:nvPr/>
          </p:nvSpPr>
          <p:spPr>
            <a:xfrm>
              <a:off x="3247742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/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𝟖𝟗</m:t>
                      </m:r>
                    </m:oMath>
                  </a14:m>
                  <a:r>
                    <a:rPr lang="en-US" sz="4400" b="1" dirty="0">
                      <a:solidFill>
                        <a:prstClr val="white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blipFill>
                  <a:blip r:embed="rId4"/>
                  <a:stretch>
                    <a:fillRect b="-1896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88947F5-5540-4A85-BACE-6641A507F5A0}"/>
                </a:ext>
              </a:extLst>
            </p:cNvPr>
            <p:cNvSpPr/>
            <p:nvPr/>
          </p:nvSpPr>
          <p:spPr>
            <a:xfrm>
              <a:off x="241306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A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/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rad>
                    </m:oMath>
                  </a14:m>
                  <a:r>
                    <a:rPr lang="en-US" sz="5400" b="1" dirty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blipFill>
                  <a:blip r:embed="rId5"/>
                  <a:stretch>
                    <a:fillRect b="-14692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7BF74FF-3652-4371-9E0B-A97FA806BC48}"/>
                </a:ext>
              </a:extLst>
            </p:cNvPr>
            <p:cNvSpPr/>
            <p:nvPr/>
          </p:nvSpPr>
          <p:spPr>
            <a:xfrm>
              <a:off x="6254178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/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𝟓</m:t>
                      </m:r>
                    </m:oMath>
                  </a14:m>
                  <a:r>
                    <a:rPr lang="en-US" sz="5400" b="1" dirty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blipFill>
                  <a:blip r:embed="rId6"/>
                  <a:stretch>
                    <a:fillRect b="-14692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B907C0F-6FC4-4852-8CFD-AD2FACA13C7F}"/>
                </a:ext>
              </a:extLst>
            </p:cNvPr>
            <p:cNvSpPr/>
            <p:nvPr/>
          </p:nvSpPr>
          <p:spPr>
            <a:xfrm>
              <a:off x="9260615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06450E-ACA8-42F7-B878-4360BA0CBA71}"/>
              </a:ext>
            </a:extLst>
          </p:cNvPr>
          <p:cNvGrpSpPr/>
          <p:nvPr/>
        </p:nvGrpSpPr>
        <p:grpSpPr>
          <a:xfrm>
            <a:off x="141340" y="2590803"/>
            <a:ext cx="23943880" cy="2401467"/>
            <a:chOff x="923003" y="3917552"/>
            <a:chExt cx="23943880" cy="2401466"/>
          </a:xfrm>
        </p:grpSpPr>
        <p:sp>
          <p:nvSpPr>
            <p:cNvPr id="19" name="Rounded Rectangle 41">
              <a:extLst>
                <a:ext uri="{FF2B5EF4-FFF2-40B4-BE49-F238E27FC236}">
                  <a16:creationId xmlns:a16="http://schemas.microsoft.com/office/drawing/2014/main" id="{CC866FB0-B137-49F3-A47E-0B1A18FC432E}"/>
                </a:ext>
              </a:extLst>
            </p:cNvPr>
            <p:cNvSpPr/>
            <p:nvPr/>
          </p:nvSpPr>
          <p:spPr>
            <a:xfrm>
              <a:off x="1272211" y="4426857"/>
              <a:ext cx="23594672" cy="1892161"/>
            </a:xfrm>
            <a:prstGeom prst="roundRect">
              <a:avLst>
                <a:gd name="adj" fmla="val 10158"/>
              </a:avLst>
            </a:prstGeom>
            <a:solidFill>
              <a:srgbClr val="FEEBB0"/>
            </a:solidFill>
            <a:ln w="12700">
              <a:solidFill>
                <a:srgbClr val="91720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                 </a:t>
              </a:r>
              <a:endParaRPr lang="en-US" sz="4800" b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1E96746-B33C-4D41-836E-CA7E0074841E}"/>
                </a:ext>
              </a:extLst>
            </p:cNvPr>
            <p:cNvGrpSpPr/>
            <p:nvPr/>
          </p:nvGrpSpPr>
          <p:grpSpPr>
            <a:xfrm>
              <a:off x="923003" y="3917552"/>
              <a:ext cx="3942102" cy="1040476"/>
              <a:chOff x="923003" y="3917552"/>
              <a:chExt cx="3942102" cy="104047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719E236-B0D7-442E-8A08-3228625765BF}"/>
                  </a:ext>
                </a:extLst>
              </p:cNvPr>
              <p:cNvGrpSpPr/>
              <p:nvPr/>
            </p:nvGrpSpPr>
            <p:grpSpPr>
              <a:xfrm>
                <a:off x="1362045" y="4022855"/>
                <a:ext cx="3503060" cy="865576"/>
                <a:chOff x="2028795" y="4384805"/>
                <a:chExt cx="3503060" cy="865576"/>
              </a:xfrm>
            </p:grpSpPr>
            <p:sp>
              <p:nvSpPr>
                <p:cNvPr id="23" name="Freeform 20">
                  <a:extLst>
                    <a:ext uri="{FF2B5EF4-FFF2-40B4-BE49-F238E27FC236}">
                      <a16:creationId xmlns:a16="http://schemas.microsoft.com/office/drawing/2014/main" id="{B393AAC4-D254-453D-8479-B404D455FF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3364273" y="3082799"/>
                  <a:ext cx="832104" cy="3503060"/>
                </a:xfrm>
                <a:prstGeom prst="round2SameRect">
                  <a:avLst>
                    <a:gd name="adj1" fmla="val 19445"/>
                    <a:gd name="adj2" fmla="val 0"/>
                  </a:avLst>
                </a:prstGeom>
                <a:solidFill>
                  <a:srgbClr val="FFF9BC"/>
                </a:solidFill>
                <a:ln w="57150">
                  <a:solidFill>
                    <a:srgbClr val="91720D"/>
                  </a:solidFill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641E29D-906E-4634-ADED-96B1E8DA8216}"/>
                    </a:ext>
                  </a:extLst>
                </p:cNvPr>
                <p:cNvSpPr txBox="1"/>
                <p:nvPr/>
              </p:nvSpPr>
              <p:spPr>
                <a:xfrm>
                  <a:off x="2542253" y="4384805"/>
                  <a:ext cx="2895398" cy="800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vi-VN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CÂU</a:t>
                  </a:r>
                  <a:r>
                    <a:rPr lang="en-US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2</a:t>
                  </a:r>
                  <a:r>
                    <a:rPr lang="vi-VN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</a:t>
                  </a:r>
                  <a:endParaRPr lang="en-US" sz="46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50C43C-37F7-4A87-880E-749F8F1583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99" t="21515" r="9759" b="14519"/>
              <a:stretch/>
            </p:blipFill>
            <p:spPr>
              <a:xfrm>
                <a:off x="923003" y="3917552"/>
                <a:ext cx="1076356" cy="1040476"/>
              </a:xfrm>
              <a:prstGeom prst="round2DiagRect">
                <a:avLst>
                  <a:gd name="adj1" fmla="val 30509"/>
                  <a:gd name="adj2" fmla="val 0"/>
                </a:avLst>
              </a:prstGeom>
              <a:ln w="38100" cap="sq">
                <a:solidFill>
                  <a:srgbClr val="91720D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818C57C-1988-4D43-859D-82DC91340849}"/>
              </a:ext>
            </a:extLst>
          </p:cNvPr>
          <p:cNvGrpSpPr/>
          <p:nvPr/>
        </p:nvGrpSpPr>
        <p:grpSpPr>
          <a:xfrm>
            <a:off x="-72643" y="1572056"/>
            <a:ext cx="19656043" cy="830997"/>
            <a:chOff x="-288923" y="1892299"/>
            <a:chExt cx="19659598" cy="830996"/>
          </a:xfrm>
        </p:grpSpPr>
        <p:sp>
          <p:nvSpPr>
            <p:cNvPr id="26" name="Rounded Rectangle 2">
              <a:extLst>
                <a:ext uri="{FF2B5EF4-FFF2-40B4-BE49-F238E27FC236}">
                  <a16:creationId xmlns:a16="http://schemas.microsoft.com/office/drawing/2014/main" id="{0A9E6F3C-C9C6-4653-8688-729C6539C260}"/>
                </a:ext>
              </a:extLst>
            </p:cNvPr>
            <p:cNvSpPr/>
            <p:nvPr/>
          </p:nvSpPr>
          <p:spPr>
            <a:xfrm>
              <a:off x="-288923" y="2052547"/>
              <a:ext cx="2130429" cy="657125"/>
            </a:xfrm>
            <a:prstGeom prst="roundRect">
              <a:avLst/>
            </a:prstGeom>
            <a:solidFill>
              <a:srgbClr val="145F8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241A601-B9CB-4799-9262-795745D3C127}"/>
                </a:ext>
              </a:extLst>
            </p:cNvPr>
            <p:cNvSpPr txBox="1"/>
            <p:nvPr/>
          </p:nvSpPr>
          <p:spPr>
            <a:xfrm>
              <a:off x="1082674" y="1922269"/>
              <a:ext cx="184764" cy="7540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b="1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F08DB64-BC2D-418D-8BD5-391B8CF3BEA4}"/>
                </a:ext>
              </a:extLst>
            </p:cNvPr>
            <p:cNvSpPr txBox="1"/>
            <p:nvPr/>
          </p:nvSpPr>
          <p:spPr>
            <a:xfrm>
              <a:off x="2087562" y="1892299"/>
              <a:ext cx="17283113" cy="830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b="1" dirty="0">
                  <a:solidFill>
                    <a:srgbClr val="145F82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 BÀI TẬP TRẮC NGHIỆM CỦNG CỐ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FB11C65-8BD6-48B2-A424-E6F4B06755C4}"/>
                  </a:ext>
                </a:extLst>
              </p:cNvPr>
              <p:cNvSpPr txBox="1"/>
              <p:nvPr/>
            </p:nvSpPr>
            <p:spPr>
              <a:xfrm>
                <a:off x="2154547" y="7589683"/>
                <a:ext cx="20979438" cy="59490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4800" b="1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/>
                  <a:t>Áp</a:t>
                </a:r>
                <a:r>
                  <a:rPr lang="en-US" sz="4800" b="1" dirty="0"/>
                  <a:t> </a:t>
                </a:r>
                <a:r>
                  <a:rPr lang="en-US" sz="4800" b="1" dirty="0" err="1"/>
                  <a:t>dụng</a:t>
                </a:r>
                <a:r>
                  <a:rPr lang="en-US" sz="4800" b="1" dirty="0"/>
                  <a:t> </a:t>
                </a:r>
                <a:r>
                  <a:rPr lang="en-US" sz="4800" b="1" dirty="0" err="1"/>
                  <a:t>công</a:t>
                </a:r>
                <a:r>
                  <a:rPr lang="en-US" sz="4800" b="1" dirty="0"/>
                  <a:t> </a:t>
                </a:r>
                <a:r>
                  <a:rPr lang="en-US" sz="4800" b="1" dirty="0" err="1"/>
                  <a:t>thức</a:t>
                </a:r>
                <a:r>
                  <a:rPr lang="en-US" sz="4800" b="1" dirty="0"/>
                  <a:t>: </a:t>
                </a:r>
                <a:r>
                  <a:rPr lang="en-US" sz="4800" b="1" dirty="0" err="1"/>
                  <a:t>Khoảng</a:t>
                </a:r>
                <a:r>
                  <a:rPr lang="en-US" sz="4800" b="1" dirty="0"/>
                  <a:t> </a:t>
                </a:r>
                <a:r>
                  <a:rPr lang="en-US" sz="4800" b="1" dirty="0" err="1"/>
                  <a:t>cách</a:t>
                </a:r>
                <a:r>
                  <a:rPr lang="en-US" sz="4800" b="1" dirty="0"/>
                  <a:t> </a:t>
                </a:r>
                <a:r>
                  <a:rPr lang="en-US" sz="4800" b="1" dirty="0" err="1"/>
                  <a:t>giữa</a:t>
                </a:r>
                <a:r>
                  <a:rPr lang="en-US" sz="4800" b="1" dirty="0"/>
                  <a:t> </a:t>
                </a:r>
                <a:r>
                  <a:rPr lang="en-US" sz="4800" b="1" dirty="0" err="1"/>
                  <a:t>hai</a:t>
                </a:r>
                <a:r>
                  <a:rPr lang="en-US" sz="4800" b="1" dirty="0"/>
                  <a:t> </a:t>
                </a:r>
                <a:r>
                  <a:rPr lang="en-US" sz="4800" b="1" dirty="0" err="1"/>
                  <a:t>điểm</a:t>
                </a:r>
                <a:r>
                  <a:rPr lang="en-US" sz="4800" b="1" dirty="0"/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4800" b="1" dirty="0"/>
                  <a:t> </a:t>
                </a:r>
                <a:r>
                  <a:rPr lang="en-US" sz="4800" b="1" dirty="0" err="1"/>
                  <a:t>và</a:t>
                </a:r>
                <a:r>
                  <a:rPr lang="en-US" sz="4800" b="1" dirty="0"/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</a:rPr>
                      <m:t>𝑩</m:t>
                    </m:r>
                    <m:d>
                      <m:d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4800" b="1" dirty="0"/>
                  <a:t> </a:t>
                </a:r>
                <a:r>
                  <a:rPr lang="en-US" sz="4800" b="1" dirty="0" err="1"/>
                  <a:t>được</a:t>
                </a:r>
                <a:r>
                  <a:rPr lang="en-US" sz="4800" b="1" dirty="0"/>
                  <a:t> </a:t>
                </a:r>
                <a:r>
                  <a:rPr lang="en-US" sz="4800" b="1" dirty="0" err="1"/>
                  <a:t>tính</a:t>
                </a:r>
                <a:r>
                  <a:rPr lang="en-US" sz="4800" b="1" dirty="0"/>
                  <a:t> </a:t>
                </a:r>
                <a:r>
                  <a:rPr lang="en-US" sz="4800" b="1" dirty="0" err="1"/>
                  <a:t>theo</a:t>
                </a:r>
                <a:r>
                  <a:rPr lang="en-US" sz="4800" b="1" dirty="0"/>
                  <a:t> </a:t>
                </a:r>
                <a:r>
                  <a:rPr lang="en-US" sz="4800" b="1" dirty="0" err="1"/>
                  <a:t>công</a:t>
                </a:r>
                <a:r>
                  <a:rPr lang="en-US" sz="4800" b="1" dirty="0"/>
                  <a:t> </a:t>
                </a:r>
                <a:r>
                  <a:rPr lang="fr-FR" sz="4800" b="1" dirty="0" err="1"/>
                  <a:t>thức</a:t>
                </a:r>
                <a:r>
                  <a:rPr lang="fr-FR" sz="4800" b="1" dirty="0"/>
                  <a:t> </a:t>
                </a:r>
                <a14:m>
                  <m:oMath xmlns:m="http://schemas.openxmlformats.org/officeDocument/2006/math">
                    <m:r>
                      <a:rPr lang="fr-FR" sz="4800" b="1" i="1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fr-FR" sz="4800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48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fr-FR" sz="4800" b="1" i="1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sub>
                                </m:sSub>
                                <m:r>
                                  <a:rPr lang="fr-FR" sz="48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48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fr-FR" sz="4800" b="1" i="1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fr-FR" sz="4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48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fr-FR" sz="4800" b="1" i="1">
                                        <a:latin typeface="Cambria Math" panose="02040503050406030204" pitchFamily="18" charset="0"/>
                                      </a:rPr>
                                      <m:t>𝑩</m:t>
                                    </m:r>
                                  </m:sub>
                                </m:sSub>
                                <m:r>
                                  <a:rPr lang="fr-FR" sz="48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48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fr-FR" sz="4800" b="1" i="1">
                                        <a:latin typeface="Cambria Math" panose="02040503050406030204" pitchFamily="18" charset="0"/>
                                      </a:rPr>
                                      <m:t>𝑨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fr-FR" sz="4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fr-FR" sz="4800" b="1" dirty="0"/>
                  <a:t>.</a:t>
                </a:r>
                <a:endParaRPr lang="en-US" sz="4800" b="1" dirty="0"/>
              </a:p>
              <a:p>
                <a:pPr>
                  <a:lnSpc>
                    <a:spcPct val="150000"/>
                  </a:lnSpc>
                </a:pPr>
                <a:r>
                  <a:rPr lang="fr-FR" sz="4800" b="1" dirty="0"/>
                  <a:t>Ta </a:t>
                </a:r>
                <a:r>
                  <a:rPr lang="fr-FR" sz="4800" b="1" dirty="0" err="1"/>
                  <a:t>có</a:t>
                </a:r>
                <a:r>
                  <a:rPr lang="fr-FR" sz="4800" b="1" dirty="0"/>
                  <a:t>:</a:t>
                </a:r>
                <a14:m>
                  <m:oMath xmlns:m="http://schemas.openxmlformats.org/officeDocument/2006/math">
                    <m:r>
                      <a:rPr lang="en-US" sz="48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4800" b="1" i="1">
                        <a:latin typeface="Cambria Math" panose="02040503050406030204" pitchFamily="18" charset="0"/>
                      </a:rPr>
                      <m:t>𝑴</m:t>
                    </m:r>
                    <m:d>
                      <m:d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fr-FR" sz="4800" b="1" dirty="0" err="1"/>
                  <a:t>và</a:t>
                </a:r>
                <a:r>
                  <a:rPr lang="fr-FR" sz="4800" b="1" dirty="0"/>
                  <a:t> </a:t>
                </a:r>
                <a14:m>
                  <m:oMath xmlns:m="http://schemas.openxmlformats.org/officeDocument/2006/math">
                    <m:r>
                      <a:rPr lang="fr-FR" sz="4800" b="1" i="1"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d>
                  </m:oMath>
                </a14:m>
                <a:endParaRPr lang="en-US" sz="48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fr-FR" sz="4800" b="1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fr-FR" sz="4800" b="1" i="1">
                        <a:latin typeface="Cambria Math" panose="02040503050406030204" pitchFamily="18" charset="0"/>
                      </a:rPr>
                      <m:t>𝑴𝑵</m:t>
                    </m:r>
                    <m:r>
                      <a:rPr lang="fr-FR" sz="4800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4800" b="1" i="1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fr-FR" sz="48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sz="48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e>
                            </m:d>
                          </m:e>
                          <m:sup>
                            <m:r>
                              <a:rPr lang="fr-FR" sz="4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4800" b="1" i="1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fr-FR" sz="48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fr-FR" sz="4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d>
                          </m:e>
                          <m:sup>
                            <m:r>
                              <a:rPr lang="fr-FR" sz="4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  <m:r>
                      <a:rPr lang="fr-FR" sz="4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4800" b="1" i="1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fr-FR" sz="4800" b="1" dirty="0"/>
                  <a:t>. </a:t>
                </a:r>
                <a:endParaRPr lang="en-US" sz="4800" b="1" dirty="0"/>
              </a:p>
              <a:p>
                <a:pPr>
                  <a:lnSpc>
                    <a:spcPct val="150000"/>
                  </a:lnSpc>
                </a:pPr>
                <a:endParaRPr lang="en-US" sz="48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FB11C65-8BD6-48B2-A424-E6F4B0675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547" y="7589683"/>
                <a:ext cx="20979438" cy="5949001"/>
              </a:xfrm>
              <a:prstGeom prst="rect">
                <a:avLst/>
              </a:prstGeom>
              <a:blipFill>
                <a:blip r:embed="rId8"/>
                <a:stretch>
                  <a:fillRect l="-1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/>
              <p:nvPr/>
            </p:nvSpPr>
            <p:spPr>
              <a:xfrm>
                <a:off x="1391071" y="3617568"/>
                <a:ext cx="2220482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Trong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phẳng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tọa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vi-VN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khoảng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cách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giữa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</a:rPr>
                      <m:t>𝑴</m:t>
                    </m:r>
                    <m:d>
                      <m:d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en-US" sz="48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d>
                  </m:oMath>
                </a14:m>
                <a:r>
                  <a:rPr lang="en-US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là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071" y="3617568"/>
                <a:ext cx="22204828" cy="830997"/>
              </a:xfrm>
              <a:prstGeom prst="rect">
                <a:avLst/>
              </a:prstGeom>
              <a:blipFill>
                <a:blip r:embed="rId9"/>
                <a:stretch>
                  <a:fillRect l="-1235" t="-17518" r="-137" b="-36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73C3CF5C-1143-48B0-96F6-576266D875C3}"/>
              </a:ext>
            </a:extLst>
          </p:cNvPr>
          <p:cNvSpPr txBox="1"/>
          <p:nvPr/>
        </p:nvSpPr>
        <p:spPr>
          <a:xfrm>
            <a:off x="669002" y="1685889"/>
            <a:ext cx="982961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III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419C482-116A-4893-8FDE-8CB9B6D14733}"/>
              </a:ext>
            </a:extLst>
          </p:cNvPr>
          <p:cNvSpPr/>
          <p:nvPr/>
        </p:nvSpPr>
        <p:spPr>
          <a:xfrm>
            <a:off x="18648562" y="5187884"/>
            <a:ext cx="1080000" cy="108000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400" b="1" dirty="0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</a:t>
            </a:r>
            <a:endParaRPr lang="en-US" sz="6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248645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313519-0C89-483D-A08E-CF6067282148}"/>
              </a:ext>
            </a:extLst>
          </p:cNvPr>
          <p:cNvGrpSpPr/>
          <p:nvPr/>
        </p:nvGrpSpPr>
        <p:grpSpPr>
          <a:xfrm>
            <a:off x="141341" y="6571576"/>
            <a:ext cx="23862374" cy="6763424"/>
            <a:chOff x="48567" y="4381499"/>
            <a:chExt cx="23018772" cy="6029179"/>
          </a:xfrm>
          <a:solidFill>
            <a:srgbClr val="DAE3F3"/>
          </a:solidFill>
        </p:grpSpPr>
        <p:sp>
          <p:nvSpPr>
            <p:cNvPr id="3" name="Rounded Rectangle 52">
              <a:extLst>
                <a:ext uri="{FF2B5EF4-FFF2-40B4-BE49-F238E27FC236}">
                  <a16:creationId xmlns:a16="http://schemas.microsoft.com/office/drawing/2014/main" id="{5B1AB244-3D78-416D-AEF1-35CC4562B7A3}"/>
                </a:ext>
              </a:extLst>
            </p:cNvPr>
            <p:cNvSpPr/>
            <p:nvPr/>
          </p:nvSpPr>
          <p:spPr>
            <a:xfrm>
              <a:off x="385312" y="4941556"/>
              <a:ext cx="22682027" cy="5469122"/>
            </a:xfrm>
            <a:prstGeom prst="roundRect">
              <a:avLst>
                <a:gd name="adj" fmla="val 2239"/>
              </a:avLst>
            </a:prstGeom>
            <a:grpFill/>
            <a:ln w="28575">
              <a:solidFill>
                <a:schemeClr val="accent3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8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endParaRPr lang="en-US" sz="4800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6FC852D-338F-4593-BDAE-4432C24EAC82}"/>
                </a:ext>
              </a:extLst>
            </p:cNvPr>
            <p:cNvGrpSpPr/>
            <p:nvPr/>
          </p:nvGrpSpPr>
          <p:grpSpPr>
            <a:xfrm>
              <a:off x="48567" y="4381499"/>
              <a:ext cx="3991940" cy="1079474"/>
              <a:chOff x="410517" y="4648199"/>
              <a:chExt cx="3991940" cy="1079474"/>
            </a:xfrm>
            <a:grpFill/>
          </p:grpSpPr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20085AD8-BD87-4A35-B6D4-9AE383128185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2421084" y="3633167"/>
                <a:ext cx="966341" cy="2996405"/>
              </a:xfrm>
              <a:prstGeom prst="round1Rect">
                <a:avLst/>
              </a:prstGeom>
              <a:grpFill/>
              <a:ln w="57150"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8C0313-9358-457E-845F-D4B035AC31D3}"/>
                  </a:ext>
                </a:extLst>
              </p:cNvPr>
              <p:cNvSpPr txBox="1"/>
              <p:nvPr/>
            </p:nvSpPr>
            <p:spPr>
              <a:xfrm>
                <a:off x="1406054" y="4732063"/>
                <a:ext cx="2872839" cy="800219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6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 giải</a:t>
                </a:r>
                <a:endParaRPr lang="en-US" sz="4600" b="1" dirty="0">
                  <a:solidFill>
                    <a:prstClr val="black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B75B5B9-D442-4C6E-96A9-9A573FE06D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50" t="14860" r="18922" b="25555"/>
              <a:stretch/>
            </p:blipFill>
            <p:spPr>
              <a:xfrm>
                <a:off x="410517" y="4648200"/>
                <a:ext cx="1058947" cy="1079473"/>
              </a:xfrm>
              <a:prstGeom prst="round2DiagRect">
                <a:avLst>
                  <a:gd name="adj1" fmla="val 27632"/>
                  <a:gd name="adj2" fmla="val 0"/>
                </a:avLst>
              </a:prstGeom>
              <a:grpFill/>
              <a:ln w="38100" cap="sq">
                <a:solidFill>
                  <a:schemeClr val="accent6">
                    <a:lumMod val="50000"/>
                  </a:schemeClr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A8B4DB7-EFF8-4AF8-B0FA-839D4C447E82}"/>
              </a:ext>
            </a:extLst>
          </p:cNvPr>
          <p:cNvGrpSpPr/>
          <p:nvPr/>
        </p:nvGrpSpPr>
        <p:grpSpPr>
          <a:xfrm>
            <a:off x="620483" y="5105400"/>
            <a:ext cx="23556178" cy="1234536"/>
            <a:chOff x="241306" y="2243792"/>
            <a:chExt cx="11778089" cy="617268"/>
          </a:xfrm>
          <a:solidFill>
            <a:srgbClr val="327E3B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/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𝟒𝟓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lang="en-US" sz="5400" b="1" dirty="0">
                      <a:solidFill>
                        <a:prstClr val="white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blipFill>
                  <a:blip r:embed="rId3"/>
                  <a:stretch>
                    <a:fillRect b="-14692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78679C-83F1-4149-AB69-2BCAF6D951FA}"/>
                </a:ext>
              </a:extLst>
            </p:cNvPr>
            <p:cNvSpPr/>
            <p:nvPr/>
          </p:nvSpPr>
          <p:spPr>
            <a:xfrm>
              <a:off x="3247742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/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𝟏𝟑𝟓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lang="en-US" sz="4400" b="1" dirty="0">
                      <a:solidFill>
                        <a:prstClr val="white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blipFill>
                  <a:blip r:embed="rId4"/>
                  <a:stretch>
                    <a:fillRect b="-1896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88947F5-5540-4A85-BACE-6641A507F5A0}"/>
                </a:ext>
              </a:extLst>
            </p:cNvPr>
            <p:cNvSpPr/>
            <p:nvPr/>
          </p:nvSpPr>
          <p:spPr>
            <a:xfrm>
              <a:off x="241306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A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/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𝟗𝟎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lang="en-US" sz="5400" b="1" dirty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blipFill>
                  <a:blip r:embed="rId5"/>
                  <a:stretch>
                    <a:fillRect b="-14692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7BF74FF-3652-4371-9E0B-A97FA806BC48}"/>
                </a:ext>
              </a:extLst>
            </p:cNvPr>
            <p:cNvSpPr/>
            <p:nvPr/>
          </p:nvSpPr>
          <p:spPr>
            <a:xfrm>
              <a:off x="6254178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/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𝟔𝟎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lang="en-US" sz="5400" b="1" dirty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blipFill>
                  <a:blip r:embed="rId6"/>
                  <a:stretch>
                    <a:fillRect b="-14692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B907C0F-6FC4-4852-8CFD-AD2FACA13C7F}"/>
                </a:ext>
              </a:extLst>
            </p:cNvPr>
            <p:cNvSpPr/>
            <p:nvPr/>
          </p:nvSpPr>
          <p:spPr>
            <a:xfrm>
              <a:off x="9260615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06450E-ACA8-42F7-B878-4360BA0CBA71}"/>
              </a:ext>
            </a:extLst>
          </p:cNvPr>
          <p:cNvGrpSpPr/>
          <p:nvPr/>
        </p:nvGrpSpPr>
        <p:grpSpPr>
          <a:xfrm>
            <a:off x="141340" y="2590803"/>
            <a:ext cx="23943880" cy="2401467"/>
            <a:chOff x="923003" y="3917552"/>
            <a:chExt cx="23943880" cy="2401466"/>
          </a:xfrm>
        </p:grpSpPr>
        <p:sp>
          <p:nvSpPr>
            <p:cNvPr id="19" name="Rounded Rectangle 41">
              <a:extLst>
                <a:ext uri="{FF2B5EF4-FFF2-40B4-BE49-F238E27FC236}">
                  <a16:creationId xmlns:a16="http://schemas.microsoft.com/office/drawing/2014/main" id="{CC866FB0-B137-49F3-A47E-0B1A18FC432E}"/>
                </a:ext>
              </a:extLst>
            </p:cNvPr>
            <p:cNvSpPr/>
            <p:nvPr/>
          </p:nvSpPr>
          <p:spPr>
            <a:xfrm>
              <a:off x="1272211" y="4426857"/>
              <a:ext cx="23594672" cy="1892161"/>
            </a:xfrm>
            <a:prstGeom prst="roundRect">
              <a:avLst>
                <a:gd name="adj" fmla="val 10158"/>
              </a:avLst>
            </a:prstGeom>
            <a:solidFill>
              <a:srgbClr val="FEEBB0"/>
            </a:solidFill>
            <a:ln w="12700">
              <a:solidFill>
                <a:srgbClr val="91720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                 </a:t>
              </a:r>
              <a:endParaRPr lang="en-US" sz="4800" b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1E96746-B33C-4D41-836E-CA7E0074841E}"/>
                </a:ext>
              </a:extLst>
            </p:cNvPr>
            <p:cNvGrpSpPr/>
            <p:nvPr/>
          </p:nvGrpSpPr>
          <p:grpSpPr>
            <a:xfrm>
              <a:off x="923003" y="3917552"/>
              <a:ext cx="3942102" cy="1040476"/>
              <a:chOff x="923003" y="3917552"/>
              <a:chExt cx="3942102" cy="104047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719E236-B0D7-442E-8A08-3228625765BF}"/>
                  </a:ext>
                </a:extLst>
              </p:cNvPr>
              <p:cNvGrpSpPr/>
              <p:nvPr/>
            </p:nvGrpSpPr>
            <p:grpSpPr>
              <a:xfrm>
                <a:off x="1362045" y="4022855"/>
                <a:ext cx="3503060" cy="865576"/>
                <a:chOff x="2028795" y="4384805"/>
                <a:chExt cx="3503060" cy="865576"/>
              </a:xfrm>
            </p:grpSpPr>
            <p:sp>
              <p:nvSpPr>
                <p:cNvPr id="23" name="Freeform 20">
                  <a:extLst>
                    <a:ext uri="{FF2B5EF4-FFF2-40B4-BE49-F238E27FC236}">
                      <a16:creationId xmlns:a16="http://schemas.microsoft.com/office/drawing/2014/main" id="{B393AAC4-D254-453D-8479-B404D455FF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3364273" y="3082799"/>
                  <a:ext cx="832104" cy="3503060"/>
                </a:xfrm>
                <a:prstGeom prst="round2SameRect">
                  <a:avLst>
                    <a:gd name="adj1" fmla="val 19445"/>
                    <a:gd name="adj2" fmla="val 0"/>
                  </a:avLst>
                </a:prstGeom>
                <a:solidFill>
                  <a:srgbClr val="FFF9BC"/>
                </a:solidFill>
                <a:ln w="57150">
                  <a:solidFill>
                    <a:srgbClr val="91720D"/>
                  </a:solidFill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641E29D-906E-4634-ADED-96B1E8DA8216}"/>
                    </a:ext>
                  </a:extLst>
                </p:cNvPr>
                <p:cNvSpPr txBox="1"/>
                <p:nvPr/>
              </p:nvSpPr>
              <p:spPr>
                <a:xfrm>
                  <a:off x="2542253" y="4384805"/>
                  <a:ext cx="2895398" cy="800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vi-VN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CÂU</a:t>
                  </a:r>
                  <a:r>
                    <a:rPr lang="en-US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3</a:t>
                  </a:r>
                  <a:r>
                    <a:rPr lang="vi-VN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</a:t>
                  </a:r>
                  <a:endParaRPr lang="en-US" sz="46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50C43C-37F7-4A87-880E-749F8F1583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99" t="21515" r="9759" b="14519"/>
              <a:stretch/>
            </p:blipFill>
            <p:spPr>
              <a:xfrm>
                <a:off x="923003" y="3917552"/>
                <a:ext cx="1076356" cy="1040476"/>
              </a:xfrm>
              <a:prstGeom prst="round2DiagRect">
                <a:avLst>
                  <a:gd name="adj1" fmla="val 30509"/>
                  <a:gd name="adj2" fmla="val 0"/>
                </a:avLst>
              </a:prstGeom>
              <a:ln w="38100" cap="sq">
                <a:solidFill>
                  <a:srgbClr val="91720D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818C57C-1988-4D43-859D-82DC91340849}"/>
              </a:ext>
            </a:extLst>
          </p:cNvPr>
          <p:cNvGrpSpPr/>
          <p:nvPr/>
        </p:nvGrpSpPr>
        <p:grpSpPr>
          <a:xfrm>
            <a:off x="-72643" y="1572056"/>
            <a:ext cx="19656043" cy="830997"/>
            <a:chOff x="-288923" y="1892299"/>
            <a:chExt cx="19659598" cy="830996"/>
          </a:xfrm>
        </p:grpSpPr>
        <p:sp>
          <p:nvSpPr>
            <p:cNvPr id="26" name="Rounded Rectangle 2">
              <a:extLst>
                <a:ext uri="{FF2B5EF4-FFF2-40B4-BE49-F238E27FC236}">
                  <a16:creationId xmlns:a16="http://schemas.microsoft.com/office/drawing/2014/main" id="{0A9E6F3C-C9C6-4653-8688-729C6539C260}"/>
                </a:ext>
              </a:extLst>
            </p:cNvPr>
            <p:cNvSpPr/>
            <p:nvPr/>
          </p:nvSpPr>
          <p:spPr>
            <a:xfrm>
              <a:off x="-288923" y="2052547"/>
              <a:ext cx="2130429" cy="657125"/>
            </a:xfrm>
            <a:prstGeom prst="roundRect">
              <a:avLst/>
            </a:prstGeom>
            <a:solidFill>
              <a:srgbClr val="145F8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241A601-B9CB-4799-9262-795745D3C127}"/>
                </a:ext>
              </a:extLst>
            </p:cNvPr>
            <p:cNvSpPr txBox="1"/>
            <p:nvPr/>
          </p:nvSpPr>
          <p:spPr>
            <a:xfrm>
              <a:off x="1082674" y="1922269"/>
              <a:ext cx="184764" cy="7540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b="1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F08DB64-BC2D-418D-8BD5-391B8CF3BEA4}"/>
                </a:ext>
              </a:extLst>
            </p:cNvPr>
            <p:cNvSpPr txBox="1"/>
            <p:nvPr/>
          </p:nvSpPr>
          <p:spPr>
            <a:xfrm>
              <a:off x="2087562" y="1892299"/>
              <a:ext cx="17283113" cy="830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b="1" dirty="0">
                  <a:solidFill>
                    <a:srgbClr val="145F82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 BÀI TẬP TRẮC NGHIỆM CỦNG CỐ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FB11C65-8BD6-48B2-A424-E6F4B06755C4}"/>
                  </a:ext>
                </a:extLst>
              </p:cNvPr>
              <p:cNvSpPr txBox="1"/>
              <p:nvPr/>
            </p:nvSpPr>
            <p:spPr>
              <a:xfrm>
                <a:off x="1195940" y="7601199"/>
                <a:ext cx="22889279" cy="50550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800" b="1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800" b="1" dirty="0" err="1"/>
                  <a:t>Áp</a:t>
                </a:r>
                <a:r>
                  <a:rPr lang="en-US" sz="4800" b="1" dirty="0"/>
                  <a:t> </a:t>
                </a:r>
                <a:r>
                  <a:rPr lang="en-US" sz="4800" b="1" dirty="0" err="1"/>
                  <a:t>dụng</a:t>
                </a:r>
                <a:r>
                  <a:rPr lang="en-US" sz="4800" b="1" dirty="0"/>
                  <a:t> </a:t>
                </a:r>
                <a:r>
                  <a:rPr lang="en-US" sz="4800" b="1" dirty="0" err="1"/>
                  <a:t>công</a:t>
                </a:r>
                <a:r>
                  <a:rPr lang="en-US" sz="4800" b="1" dirty="0"/>
                  <a:t> </a:t>
                </a:r>
                <a:r>
                  <a:rPr lang="en-US" sz="4800" b="1" dirty="0" err="1"/>
                  <a:t>thức</a:t>
                </a:r>
                <a:r>
                  <a:rPr lang="en-US" sz="4800" b="1" dirty="0"/>
                  <a:t>: </a:t>
                </a:r>
                <a:r>
                  <a:rPr lang="vi-VN" sz="4800" b="1" dirty="0"/>
                  <a:t>N</a:t>
                </a:r>
                <a:r>
                  <a:rPr lang="en-US" sz="4800" b="1" dirty="0" err="1"/>
                  <a:t>ếu</a:t>
                </a:r>
                <a:r>
                  <a:rPr lang="en-US" sz="48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4800" b="1" dirty="0"/>
                  <a:t> </a:t>
                </a:r>
                <a:r>
                  <a:rPr lang="en-US" sz="4800" b="1" dirty="0" err="1"/>
                  <a:t>và</a:t>
                </a:r>
                <a:r>
                  <a:rPr lang="en-US" sz="48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4800" b="1" dirty="0"/>
                  <a:t> </a:t>
                </a:r>
                <a:r>
                  <a:rPr lang="en-US" sz="4800" b="1" dirty="0" err="1"/>
                  <a:t>đều</a:t>
                </a:r>
                <a:r>
                  <a:rPr lang="en-US" sz="4800" b="1" dirty="0"/>
                  <a:t> </a:t>
                </a:r>
                <a:r>
                  <a:rPr lang="en-US" sz="4800" b="1" dirty="0" err="1"/>
                  <a:t>khác</a:t>
                </a:r>
                <a:r>
                  <a:rPr lang="en-US" sz="48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acc>
                  </m:oMath>
                </a14:m>
                <a:r>
                  <a:rPr lang="en-US" sz="4800" b="1" dirty="0"/>
                  <a:t> </a:t>
                </a:r>
                <a:r>
                  <a:rPr lang="en-US" sz="4800" b="1" dirty="0" err="1"/>
                  <a:t>thì</a:t>
                </a:r>
                <a:r>
                  <a:rPr lang="en-US" sz="4800" b="1" dirty="0"/>
                  <a:t> ta </a:t>
                </a:r>
                <a:r>
                  <a:rPr lang="en-US" sz="4800" b="1" dirty="0" err="1"/>
                  <a:t>có</a:t>
                </a:r>
                <a:r>
                  <a:rPr lang="en-US" sz="4800" b="1" dirty="0"/>
                  <a:t> </a:t>
                </a:r>
              </a:p>
              <a:p>
                <a:r>
                  <a:rPr lang="en-US" sz="4800" b="1" dirty="0"/>
                  <a:t>	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𝒄𝒐𝒔</m:t>
                        </m:r>
                      </m:fName>
                      <m:e>
                        <m:d>
                          <m:d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acc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acc>
                              <m:accPr>
                                <m:chr m:val="⃗"/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acc>
                          </m:e>
                        </m:d>
                      </m:e>
                    </m:func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.</m:t>
                        </m:r>
                        <m:acc>
                          <m:accPr>
                            <m:chr m:val="⃗"/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acc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acc>
                          </m:e>
                        </m:d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acc>
                          </m:e>
                        </m:d>
                      </m:den>
                    </m:f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</m:e>
                        </m:rad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.</m:t>
                        </m:r>
                        <m:rad>
                          <m:radPr>
                            <m:degHide m:val="on"/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b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b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</m:e>
                        </m:rad>
                      </m:den>
                    </m:f>
                  </m:oMath>
                </a14:m>
                <a:r>
                  <a:rPr lang="en-US" sz="4800" b="1" dirty="0"/>
                  <a:t>. </a:t>
                </a:r>
              </a:p>
              <a:p>
                <a:r>
                  <a:rPr lang="en-US" sz="4800" b="1" dirty="0"/>
                  <a:t>Ta </a:t>
                </a:r>
                <a:r>
                  <a:rPr lang="en-US" sz="4800" b="1" dirty="0" err="1"/>
                  <a:t>có</a:t>
                </a:r>
                <a:r>
                  <a:rPr lang="en-US" sz="4800" b="1" dirty="0"/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𝒄𝒐𝒔</m:t>
                        </m:r>
                      </m:fName>
                      <m:e>
                        <m:d>
                          <m:d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acc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acc>
                              <m:accPr>
                                <m:chr m:val="⃗"/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acc>
                          </m:e>
                        </m:d>
                      </m:e>
                    </m:func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.</m:t>
                        </m:r>
                        <m:acc>
                          <m:accPr>
                            <m:chr m:val="⃗"/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acc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acc>
                          </m:e>
                        </m:d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acc>
                          </m:e>
                        </m:d>
                      </m:den>
                    </m:f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d>
                          <m:d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.</m:t>
                        </m:r>
                        <m:rad>
                          <m:radPr>
                            <m:degHide m:val="on"/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e>
                              <m:sup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𝟔</m:t>
                        </m:r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</m:rad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.</m:t>
                        </m:r>
                        <m:rad>
                          <m:radPr>
                            <m:degHide m:val="on"/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</m:rad>
                      </m:den>
                    </m:f>
                    <m:r>
                      <a:rPr lang="en-US" sz="4800" b="1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rad>
                      </m:num>
                      <m:den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4800" b="1" dirty="0"/>
                  <a:t>.</a:t>
                </a:r>
              </a:p>
              <a:p>
                <a:r>
                  <a:rPr lang="en-US" sz="4800" b="1" dirty="0" err="1"/>
                  <a:t>Vậy</a:t>
                </a:r>
                <a:r>
                  <a:rPr lang="en-US" sz="4800" b="1" dirty="0"/>
                  <a:t>: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;</m:t>
                        </m:r>
                        <m:acc>
                          <m:accPr>
                            <m:chr m:val="⃗"/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acc>
                      </m:e>
                    </m:d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𝟏𝟑𝟓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4800" b="1" dirty="0"/>
                  <a:t>.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FB11C65-8BD6-48B2-A424-E6F4B0675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940" y="7601199"/>
                <a:ext cx="22889279" cy="5055038"/>
              </a:xfrm>
              <a:prstGeom prst="rect">
                <a:avLst/>
              </a:prstGeom>
              <a:blipFill>
                <a:blip r:embed="rId8"/>
                <a:stretch>
                  <a:fillRect l="-1198" t="-1086" b="-4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/>
              <p:nvPr/>
            </p:nvSpPr>
            <p:spPr>
              <a:xfrm>
                <a:off x="1391071" y="3617568"/>
                <a:ext cx="22204828" cy="9401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4800" b="1" dirty="0" err="1"/>
                  <a:t>Trong</a:t>
                </a:r>
                <a:r>
                  <a:rPr lang="fr-FR" sz="4800" b="1" dirty="0"/>
                  <a:t> </a:t>
                </a:r>
                <a:r>
                  <a:rPr lang="fr-FR" sz="4800" b="1" dirty="0" err="1"/>
                  <a:t>mặt</a:t>
                </a:r>
                <a:r>
                  <a:rPr lang="fr-FR" sz="4800" b="1" dirty="0"/>
                  <a:t> </a:t>
                </a:r>
                <a:r>
                  <a:rPr lang="fr-FR" sz="4800" b="1" dirty="0" err="1"/>
                  <a:t>phẳng</a:t>
                </a:r>
                <a:r>
                  <a:rPr lang="fr-FR" sz="4800" b="1" dirty="0"/>
                  <a:t> </a:t>
                </a:r>
                <a:r>
                  <a:rPr lang="fr-FR" sz="4800" b="1" dirty="0" err="1"/>
                  <a:t>tọa</a:t>
                </a:r>
                <a:r>
                  <a:rPr lang="fr-FR" sz="4800" b="1" dirty="0"/>
                  <a:t> </a:t>
                </a:r>
                <a:r>
                  <a:rPr lang="fr-FR" sz="4800" b="1" dirty="0" err="1"/>
                  <a:t>độ</a:t>
                </a:r>
                <a:r>
                  <a:rPr lang="fr-FR" sz="4800" b="1" dirty="0"/>
                  <a:t>, </a:t>
                </a:r>
                <a:r>
                  <a:rPr lang="fr-FR" sz="4800" b="1" dirty="0" err="1"/>
                  <a:t>góc</a:t>
                </a:r>
                <a:r>
                  <a:rPr lang="fr-FR" sz="4800" b="1" dirty="0"/>
                  <a:t> </a:t>
                </a:r>
                <a:r>
                  <a:rPr lang="fr-FR" sz="4800" b="1" dirty="0" err="1"/>
                  <a:t>giữa</a:t>
                </a:r>
                <a:r>
                  <a:rPr lang="fr-FR" sz="4800" b="1" dirty="0"/>
                  <a:t> </a:t>
                </a:r>
                <a:r>
                  <a:rPr lang="vi-VN" sz="4800" b="1" dirty="0"/>
                  <a:t>hai</a:t>
                </a:r>
                <a:r>
                  <a:rPr lang="fr-FR" sz="4800" b="1" dirty="0"/>
                  <a:t> </a:t>
                </a:r>
                <a:r>
                  <a:rPr lang="fr-FR" sz="4800" b="1" dirty="0" err="1"/>
                  <a:t>vectơ</a:t>
                </a:r>
                <a:r>
                  <a:rPr lang="fr-FR" sz="48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fr-FR" sz="48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;−</m:t>
                        </m:r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fr-FR" sz="4800" b="1" dirty="0"/>
                  <a:t> </a:t>
                </a:r>
                <a:r>
                  <a:rPr lang="fr-FR" sz="4800" b="1" dirty="0" err="1"/>
                  <a:t>và</a:t>
                </a:r>
                <a:r>
                  <a:rPr lang="fr-FR" sz="48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  <m:r>
                      <a:rPr lang="fr-FR" sz="48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;−</m:t>
                        </m:r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fr-FR" sz="4800" b="1" dirty="0"/>
                  <a:t> là</a:t>
                </a:r>
                <a:endParaRPr lang="en-US" sz="4800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071" y="3617568"/>
                <a:ext cx="22204828" cy="940194"/>
              </a:xfrm>
              <a:prstGeom prst="rect">
                <a:avLst/>
              </a:prstGeom>
              <a:blipFill>
                <a:blip r:embed="rId9"/>
                <a:stretch>
                  <a:fillRect l="-1235" t="-5806" b="-335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73C3CF5C-1143-48B0-96F6-576266D875C3}"/>
              </a:ext>
            </a:extLst>
          </p:cNvPr>
          <p:cNvSpPr txBox="1"/>
          <p:nvPr/>
        </p:nvSpPr>
        <p:spPr>
          <a:xfrm>
            <a:off x="669002" y="1685889"/>
            <a:ext cx="982961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III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419C482-116A-4893-8FDE-8CB9B6D14733}"/>
              </a:ext>
            </a:extLst>
          </p:cNvPr>
          <p:cNvSpPr/>
          <p:nvPr/>
        </p:nvSpPr>
        <p:spPr>
          <a:xfrm>
            <a:off x="580382" y="5212019"/>
            <a:ext cx="1080000" cy="108000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400" b="1" dirty="0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endParaRPr lang="en-US" sz="6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30466736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80CE3C4-DAA7-4A0F-8E87-ED076F69185F}"/>
              </a:ext>
            </a:extLst>
          </p:cNvPr>
          <p:cNvGrpSpPr/>
          <p:nvPr/>
        </p:nvGrpSpPr>
        <p:grpSpPr>
          <a:xfrm>
            <a:off x="12725926" y="4222443"/>
            <a:ext cx="11277130" cy="1687960"/>
            <a:chOff x="12439525" y="4524747"/>
            <a:chExt cx="11277130" cy="1687960"/>
          </a:xfrm>
          <a:solidFill>
            <a:srgbClr val="398842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ED60405-6FE9-4B40-9417-CAE23C9ED837}"/>
                </a:ext>
              </a:extLst>
            </p:cNvPr>
            <p:cNvGrpSpPr/>
            <p:nvPr/>
          </p:nvGrpSpPr>
          <p:grpSpPr>
            <a:xfrm>
              <a:off x="12439525" y="4524747"/>
              <a:ext cx="11277130" cy="1687960"/>
              <a:chOff x="6248168" y="2017080"/>
              <a:chExt cx="5638565" cy="843980"/>
            </a:xfrm>
            <a:grpFill/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CA2B41E-3E96-4461-8538-9C0E545FB27A}"/>
                  </a:ext>
                </a:extLst>
              </p:cNvPr>
              <p:cNvSpPr/>
              <p:nvPr/>
            </p:nvSpPr>
            <p:spPr>
              <a:xfrm>
                <a:off x="6544723" y="2025161"/>
                <a:ext cx="2468235" cy="835899"/>
              </a:xfrm>
              <a:prstGeom prst="rect">
                <a:avLst/>
              </a:prstGeom>
              <a:grpFill/>
              <a:ln w="190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400" b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F4C6AFC-ECFF-4896-A74E-0ABF4C0215BE}"/>
                  </a:ext>
                </a:extLst>
              </p:cNvPr>
              <p:cNvSpPr/>
              <p:nvPr/>
            </p:nvSpPr>
            <p:spPr>
              <a:xfrm>
                <a:off x="6248168" y="2189805"/>
                <a:ext cx="544265" cy="540000"/>
              </a:xfrm>
              <a:prstGeom prst="ellipse">
                <a:avLst/>
              </a:prstGeom>
              <a:grpFill/>
              <a:ln w="571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</a:t>
                </a:r>
                <a:endParaRPr lang="en-US" sz="6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5B34D41-D978-4E56-B444-EE5A24E5A300}"/>
                  </a:ext>
                </a:extLst>
              </p:cNvPr>
              <p:cNvSpPr/>
              <p:nvPr/>
            </p:nvSpPr>
            <p:spPr>
              <a:xfrm>
                <a:off x="9418498" y="2017080"/>
                <a:ext cx="2468235" cy="835899"/>
              </a:xfrm>
              <a:prstGeom prst="rect">
                <a:avLst/>
              </a:prstGeom>
              <a:grpFill/>
              <a:ln w="190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400" b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274D4B7-DB46-45A2-9BE8-FD4F6E5AA9BA}"/>
                  </a:ext>
                </a:extLst>
              </p:cNvPr>
              <p:cNvSpPr/>
              <p:nvPr/>
            </p:nvSpPr>
            <p:spPr>
              <a:xfrm>
                <a:off x="9098992" y="2152849"/>
                <a:ext cx="540000" cy="540000"/>
              </a:xfrm>
              <a:prstGeom prst="ellipse">
                <a:avLst/>
              </a:prstGeom>
              <a:grpFill/>
              <a:ln w="571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D</a:t>
                </a:r>
                <a:endParaRPr lang="en-US" sz="64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2084E6AB-536A-4376-B134-DADD4F5BCF11}"/>
                    </a:ext>
                  </a:extLst>
                </p:cNvPr>
                <p:cNvSpPr/>
                <p:nvPr/>
              </p:nvSpPr>
              <p:spPr>
                <a:xfrm>
                  <a:off x="14868068" y="5128167"/>
                  <a:ext cx="1705808" cy="78476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4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4400" b="1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p>
                            <m:r>
                              <a:rPr lang="it-IT" sz="4400" b="1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2084E6AB-536A-4376-B134-DADD4F5BCF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68068" y="5128167"/>
                  <a:ext cx="1705808" cy="78476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AE03CC7A-63AE-496D-BA77-14300DB71895}"/>
                    </a:ext>
                  </a:extLst>
                </p:cNvPr>
                <p:cNvSpPr/>
                <p:nvPr/>
              </p:nvSpPr>
              <p:spPr>
                <a:xfrm>
                  <a:off x="19393241" y="4619581"/>
                  <a:ext cx="3411594" cy="15144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4400" b="1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4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sz="4400" b="1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𝐚</m:t>
                                </m:r>
                              </m:e>
                              <m:sup>
                                <m:r>
                                  <a:rPr lang="it-IT" sz="4400" b="1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ad>
                              <m:radPr>
                                <m:degHide m:val="on"/>
                                <m:ctrlPr>
                                  <a:rPr lang="en-US" sz="4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it-IT" sz="4400" b="1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e>
                            </m:rad>
                          </m:num>
                          <m:den>
                            <m:r>
                              <a:rPr lang="it-IT" sz="4400" b="1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AE03CC7A-63AE-496D-BA77-14300DB718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93241" y="4619581"/>
                  <a:ext cx="3411594" cy="15144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ounded Rectangle 52">
            <a:extLst>
              <a:ext uri="{FF2B5EF4-FFF2-40B4-BE49-F238E27FC236}">
                <a16:creationId xmlns:a16="http://schemas.microsoft.com/office/drawing/2014/main" id="{FA8A8524-55A3-4DC1-AC61-514744DED919}"/>
              </a:ext>
            </a:extLst>
          </p:cNvPr>
          <p:cNvSpPr/>
          <p:nvPr/>
        </p:nvSpPr>
        <p:spPr>
          <a:xfrm>
            <a:off x="352737" y="6669161"/>
            <a:ext cx="23848520" cy="6513439"/>
          </a:xfrm>
          <a:prstGeom prst="roundRect">
            <a:avLst>
              <a:gd name="adj" fmla="val 2239"/>
            </a:avLst>
          </a:prstGeom>
          <a:solidFill>
            <a:srgbClr val="C9E2B8"/>
          </a:solidFill>
          <a:ln w="28575">
            <a:solidFill>
              <a:schemeClr val="accent3">
                <a:lumMod val="50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b="1" dirty="0">
              <a:solidFill>
                <a:schemeClr val="tx1"/>
              </a:solidFill>
            </a:endParaRPr>
          </a:p>
        </p:txBody>
      </p:sp>
      <p:grpSp>
        <p:nvGrpSpPr>
          <p:cNvPr id="11" name="Group 5">
            <a:extLst>
              <a:ext uri="{FF2B5EF4-FFF2-40B4-BE49-F238E27FC236}">
                <a16:creationId xmlns:a16="http://schemas.microsoft.com/office/drawing/2014/main" id="{5357AC78-711D-478D-ACB6-63856B9AEF4B}"/>
              </a:ext>
            </a:extLst>
          </p:cNvPr>
          <p:cNvGrpSpPr/>
          <p:nvPr/>
        </p:nvGrpSpPr>
        <p:grpSpPr>
          <a:xfrm>
            <a:off x="149511" y="6321861"/>
            <a:ext cx="3600000" cy="936000"/>
            <a:chOff x="444985" y="4706268"/>
            <a:chExt cx="3957472" cy="1037412"/>
          </a:xfrm>
          <a:solidFill>
            <a:srgbClr val="C9E2B8"/>
          </a:solidFill>
        </p:grpSpPr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71EB90B6-0FE8-4179-A425-76D3F5FD278D}"/>
                </a:ext>
              </a:extLst>
            </p:cNvPr>
            <p:cNvSpPr>
              <a:spLocks/>
            </p:cNvSpPr>
            <p:nvPr/>
          </p:nvSpPr>
          <p:spPr bwMode="auto">
            <a:xfrm rot="16200000" flipV="1">
              <a:off x="2450119" y="3741843"/>
              <a:ext cx="908272" cy="2996405"/>
            </a:xfrm>
            <a:prstGeom prst="round1Rect">
              <a:avLst/>
            </a:prstGeom>
            <a:grpFill/>
            <a:ln w="57150">
              <a:solidFill>
                <a:schemeClr val="accent6">
                  <a:lumMod val="75000"/>
                </a:schemeClr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TextBox 7">
              <a:extLst>
                <a:ext uri="{FF2B5EF4-FFF2-40B4-BE49-F238E27FC236}">
                  <a16:creationId xmlns:a16="http://schemas.microsoft.com/office/drawing/2014/main" id="{0C3FF307-8179-4A2B-82EF-0CAF4A8A7ECA}"/>
                </a:ext>
              </a:extLst>
            </p:cNvPr>
            <p:cNvSpPr txBox="1"/>
            <p:nvPr/>
          </p:nvSpPr>
          <p:spPr>
            <a:xfrm>
              <a:off x="1425342" y="4753497"/>
              <a:ext cx="2872840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4600" b="1" dirty="0">
                  <a:solidFill>
                    <a:schemeClr val="accent6">
                      <a:lumMod val="75000"/>
                    </a:schemeClr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Bài giải</a:t>
              </a:r>
              <a:endParaRPr lang="en-US" sz="4600" b="1" dirty="0">
                <a:solidFill>
                  <a:schemeClr val="accent6">
                    <a:lumMod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pic>
          <p:nvPicPr>
            <p:cNvPr id="14" name="Picture 8">
              <a:extLst>
                <a:ext uri="{FF2B5EF4-FFF2-40B4-BE49-F238E27FC236}">
                  <a16:creationId xmlns:a16="http://schemas.microsoft.com/office/drawing/2014/main" id="{7907171D-A66E-488E-B774-2D76551B21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950" t="14860" r="18922" b="25555"/>
            <a:stretch/>
          </p:blipFill>
          <p:spPr>
            <a:xfrm>
              <a:off x="444985" y="4706268"/>
              <a:ext cx="1058947" cy="1037412"/>
            </a:xfrm>
            <a:prstGeom prst="round2DiagRect">
              <a:avLst>
                <a:gd name="adj1" fmla="val 27632"/>
                <a:gd name="adj2" fmla="val 0"/>
              </a:avLst>
            </a:prstGeom>
            <a:grpFill/>
            <a:ln w="38100" cap="sq">
              <a:solidFill>
                <a:schemeClr val="accent6">
                  <a:lumMod val="50000"/>
                </a:schemeClr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</p:grpSp>
      <p:sp>
        <p:nvSpPr>
          <p:cNvPr id="16" name="Rounded Rectangle 41">
            <a:extLst>
              <a:ext uri="{FF2B5EF4-FFF2-40B4-BE49-F238E27FC236}">
                <a16:creationId xmlns:a16="http://schemas.microsoft.com/office/drawing/2014/main" id="{8CEB7639-8C37-429B-8642-89A2596E45BF}"/>
              </a:ext>
            </a:extLst>
          </p:cNvPr>
          <p:cNvSpPr/>
          <p:nvPr/>
        </p:nvSpPr>
        <p:spPr>
          <a:xfrm>
            <a:off x="310459" y="2371992"/>
            <a:ext cx="12388739" cy="3484043"/>
          </a:xfrm>
          <a:prstGeom prst="roundRect">
            <a:avLst>
              <a:gd name="adj" fmla="val 10158"/>
            </a:avLst>
          </a:prstGeom>
          <a:solidFill>
            <a:srgbClr val="FEEBB0"/>
          </a:solidFill>
          <a:ln w="12700">
            <a:solidFill>
              <a:srgbClr val="91720D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C6580-039C-483A-B732-1519BE679FD3}"/>
              </a:ext>
            </a:extLst>
          </p:cNvPr>
          <p:cNvGrpSpPr/>
          <p:nvPr/>
        </p:nvGrpSpPr>
        <p:grpSpPr>
          <a:xfrm>
            <a:off x="0" y="1917382"/>
            <a:ext cx="3656379" cy="847011"/>
            <a:chOff x="923003" y="3917552"/>
            <a:chExt cx="4003839" cy="106436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DE8E5AA-2865-469B-B774-A4C2380AE3FD}"/>
                </a:ext>
              </a:extLst>
            </p:cNvPr>
            <p:cNvGrpSpPr/>
            <p:nvPr/>
          </p:nvGrpSpPr>
          <p:grpSpPr>
            <a:xfrm>
              <a:off x="1362045" y="3976350"/>
              <a:ext cx="3564797" cy="1005567"/>
              <a:chOff x="2028795" y="4338300"/>
              <a:chExt cx="3564797" cy="10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3EA2DB46-FE90-4B71-AD74-95E7FBA35FB5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3364273" y="3082799"/>
                <a:ext cx="832104" cy="3503060"/>
              </a:xfrm>
              <a:prstGeom prst="round2SameRect">
                <a:avLst>
                  <a:gd name="adj1" fmla="val 19445"/>
                  <a:gd name="adj2" fmla="val 0"/>
                </a:avLst>
              </a:prstGeom>
              <a:solidFill>
                <a:srgbClr val="FFF9BC"/>
              </a:solidFill>
              <a:ln w="57150">
                <a:solidFill>
                  <a:srgbClr val="91720D"/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396E61-7359-474F-BCD6-96B28911FADE}"/>
                  </a:ext>
                </a:extLst>
              </p:cNvPr>
              <p:cNvSpPr txBox="1"/>
              <p:nvPr/>
            </p:nvSpPr>
            <p:spPr>
              <a:xfrm>
                <a:off x="2532513" y="4338300"/>
                <a:ext cx="3061079" cy="1005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6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Câu</a:t>
                </a:r>
                <a:r>
                  <a:rPr lang="en-US" sz="46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4</a:t>
                </a:r>
              </a:p>
            </p:txBody>
          </p:sp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77179F5-EF5F-4DF5-BB5A-FC6532B957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99" t="21515" r="9759" b="14519"/>
            <a:stretch/>
          </p:blipFill>
          <p:spPr>
            <a:xfrm>
              <a:off x="923003" y="3917552"/>
              <a:ext cx="1076356" cy="1040476"/>
            </a:xfrm>
            <a:prstGeom prst="round2DiagRect">
              <a:avLst>
                <a:gd name="adj1" fmla="val 30509"/>
                <a:gd name="adj2" fmla="val 0"/>
              </a:avLst>
            </a:prstGeom>
            <a:ln w="38100" cap="sq">
              <a:solidFill>
                <a:srgbClr val="91720D"/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2D542EB-DA8F-4047-A893-7C264039979F}"/>
                  </a:ext>
                </a:extLst>
              </p:cNvPr>
              <p:cNvSpPr txBox="1"/>
              <p:nvPr/>
            </p:nvSpPr>
            <p:spPr>
              <a:xfrm>
                <a:off x="352737" y="2880430"/>
                <a:ext cx="11900847" cy="1664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</a:t>
                </a:r>
                <a:r>
                  <a:rPr lang="it-IT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hình vuông </a:t>
                </a:r>
                <a14:m>
                  <m:oMath xmlns:m="http://schemas.openxmlformats.org/officeDocument/2006/math">
                    <m:r>
                      <a:rPr lang="it-IT" sz="4800" b="1" i="1">
                        <a:latin typeface="Cambria Math" panose="02040503050406030204" pitchFamily="18" charset="0"/>
                      </a:rPr>
                      <m:t>𝑨𝑩𝑪𝑫</m:t>
                    </m:r>
                  </m:oMath>
                </a14:m>
                <a:r>
                  <a:rPr lang="it-IT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có độ dài cạnh bằng </a:t>
                </a:r>
                <a14:m>
                  <m:oMath xmlns:m="http://schemas.openxmlformats.org/officeDocument/2006/math">
                    <m:r>
                      <a:rPr lang="it-IT" sz="48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it-IT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Tính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sz="48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it-IT" sz="4800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sz="48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</m:oMath>
                </a14:m>
                <a:r>
                  <a:rPr lang="it-IT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theo </a:t>
                </a:r>
                <a14:m>
                  <m:oMath xmlns:m="http://schemas.openxmlformats.org/officeDocument/2006/math">
                    <m:r>
                      <a:rPr lang="it-IT" sz="48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it-IT" sz="48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endParaRPr lang="en-US" sz="4800" b="1" dirty="0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2D542EB-DA8F-4047-A893-7C2640399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737" y="2880430"/>
                <a:ext cx="11900847" cy="1664110"/>
              </a:xfrm>
              <a:prstGeom prst="rect">
                <a:avLst/>
              </a:prstGeom>
              <a:blipFill>
                <a:blip r:embed="rId6"/>
                <a:stretch>
                  <a:fillRect l="-2357" t="-8824" r="-2664" b="-18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5CF5B428-2AE5-4B2C-A905-444E83BBB4EE}"/>
              </a:ext>
            </a:extLst>
          </p:cNvPr>
          <p:cNvSpPr/>
          <p:nvPr/>
        </p:nvSpPr>
        <p:spPr>
          <a:xfrm>
            <a:off x="6211043" y="7641809"/>
            <a:ext cx="1219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48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D84C84F-0DBD-4B7A-ADC7-E1129B975263}"/>
                  </a:ext>
                </a:extLst>
              </p:cNvPr>
              <p:cNvSpPr/>
              <p:nvPr/>
            </p:nvSpPr>
            <p:spPr>
              <a:xfrm>
                <a:off x="5980957" y="6931671"/>
                <a:ext cx="12784786" cy="53011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fr-FR" sz="4800" b="1" dirty="0"/>
                  <a:t>Ta </a:t>
                </a:r>
                <a:r>
                  <a:rPr lang="fr-FR" sz="4800" b="1" dirty="0" err="1"/>
                  <a:t>có</a:t>
                </a:r>
                <a:r>
                  <a:rPr lang="fr-FR" sz="48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fr-FR" sz="4800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r>
                      <a:rPr lang="fr-FR" sz="4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4800" b="1" i="1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fr-FR" sz="4800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fr-FR" sz="4800" b="1" i="1">
                        <a:latin typeface="Cambria Math" panose="02040503050406030204" pitchFamily="18" charset="0"/>
                      </a:rPr>
                      <m:t>𝑨𝑪</m:t>
                    </m:r>
                    <m:r>
                      <a:rPr lang="fr-FR" sz="4800" b="1" i="1">
                        <a:latin typeface="Cambria Math" panose="02040503050406030204" pitchFamily="18" charset="0"/>
                      </a:rPr>
                      <m:t>.</m:t>
                    </m:r>
                    <m:func>
                      <m:func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𝒄𝒐𝒔</m:t>
                        </m:r>
                      </m:fName>
                      <m:e>
                        <m:d>
                          <m:d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sz="4800" b="1" i="1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e>
                            </m:acc>
                            <m:r>
                              <a:rPr lang="fr-FR" sz="4800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sz="4800" b="1" i="1">
                                    <a:latin typeface="Cambria Math" panose="02040503050406030204" pitchFamily="18" charset="0"/>
                                  </a:rPr>
                                  <m:t>𝑨𝑪</m:t>
                                </m:r>
                              </m:e>
                            </m:acc>
                          </m:e>
                        </m:d>
                      </m:e>
                    </m:func>
                  </m:oMath>
                </a14:m>
                <a:endParaRPr lang="en-US" sz="48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fr-FR" sz="4800" b="1" dirty="0"/>
                  <a:t>	         </a:t>
                </a:r>
                <a14:m>
                  <m:oMath xmlns:m="http://schemas.openxmlformats.org/officeDocument/2006/math">
                    <m:r>
                      <a:rPr lang="fr-FR" sz="4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48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fr-FR" sz="4800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fr-FR" sz="4800" b="1" i="1">
                        <a:latin typeface="Cambria Math" panose="02040503050406030204" pitchFamily="18" charset="0"/>
                      </a:rPr>
                      <m:t>𝒂</m:t>
                    </m:r>
                    <m:rad>
                      <m:radPr>
                        <m:degHide m:val="on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  <m:r>
                      <a:rPr lang="fr-FR" sz="4800" b="1" i="1"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 sz="48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rad>
                      </m:num>
                      <m:den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sz="48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fr-FR" sz="4800" b="1" dirty="0"/>
                  <a:t>	         </a:t>
                </a:r>
                <a14:m>
                  <m:oMath xmlns:m="http://schemas.openxmlformats.org/officeDocument/2006/math">
                    <m:r>
                      <a:rPr lang="fr-FR" sz="48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fr-FR" sz="4800" b="1" dirty="0"/>
                  <a:t>.</a:t>
                </a:r>
                <a:endParaRPr lang="en-US" sz="4800" b="1" dirty="0"/>
              </a:p>
              <a:p>
                <a:pPr>
                  <a:lnSpc>
                    <a:spcPct val="150000"/>
                  </a:lnSpc>
                </a:pPr>
                <a:endParaRPr lang="en-US" sz="48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D84C84F-0DBD-4B7A-ADC7-E1129B9752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0957" y="6931671"/>
                <a:ext cx="12784786" cy="5301131"/>
              </a:xfrm>
              <a:prstGeom prst="rect">
                <a:avLst/>
              </a:prstGeom>
              <a:blipFill>
                <a:blip r:embed="rId7"/>
                <a:stretch>
                  <a:fillRect l="-2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B50AE326-6CE8-425B-8406-EB1FD3BD3328}"/>
              </a:ext>
            </a:extLst>
          </p:cNvPr>
          <p:cNvSpPr/>
          <p:nvPr/>
        </p:nvSpPr>
        <p:spPr>
          <a:xfrm>
            <a:off x="19045509" y="2462762"/>
            <a:ext cx="4936470" cy="1500400"/>
          </a:xfrm>
          <a:prstGeom prst="rect">
            <a:avLst/>
          </a:prstGeom>
          <a:solidFill>
            <a:srgbClr val="398842"/>
          </a:solidFill>
          <a:ln w="190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400" b="1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7E3F1BF-BB23-4A94-B346-4B0B46509E3F}"/>
              </a:ext>
            </a:extLst>
          </p:cNvPr>
          <p:cNvSpPr/>
          <p:nvPr/>
        </p:nvSpPr>
        <p:spPr>
          <a:xfrm>
            <a:off x="18412509" y="2638314"/>
            <a:ext cx="1080000" cy="1080000"/>
          </a:xfrm>
          <a:prstGeom prst="ellipse">
            <a:avLst/>
          </a:prstGeom>
          <a:solidFill>
            <a:srgbClr val="327E3B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6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endParaRPr lang="en-US" sz="6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781D58-9BD1-4957-8ABB-AAA4E3A17A32}"/>
              </a:ext>
            </a:extLst>
          </p:cNvPr>
          <p:cNvSpPr/>
          <p:nvPr/>
        </p:nvSpPr>
        <p:spPr>
          <a:xfrm>
            <a:off x="13351530" y="2462762"/>
            <a:ext cx="4936470" cy="1500400"/>
          </a:xfrm>
          <a:prstGeom prst="rect">
            <a:avLst/>
          </a:prstGeom>
          <a:solidFill>
            <a:srgbClr val="398842"/>
          </a:solidFill>
          <a:ln w="190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4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D6F22D8-0DB0-4E1E-BD0C-F5C8809A0BF1}"/>
              </a:ext>
            </a:extLst>
          </p:cNvPr>
          <p:cNvSpPr/>
          <p:nvPr/>
        </p:nvSpPr>
        <p:spPr>
          <a:xfrm>
            <a:off x="12635111" y="2619948"/>
            <a:ext cx="1080000" cy="1080000"/>
          </a:xfrm>
          <a:prstGeom prst="ellipse">
            <a:avLst/>
          </a:prstGeom>
          <a:solidFill>
            <a:srgbClr val="327E3B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6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endParaRPr lang="en-US" sz="6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C2C1509-6F71-4779-9A02-91AF3304F6A2}"/>
                  </a:ext>
                </a:extLst>
              </p:cNvPr>
              <p:cNvSpPr/>
              <p:nvPr/>
            </p:nvSpPr>
            <p:spPr>
              <a:xfrm>
                <a:off x="20313233" y="2847136"/>
                <a:ext cx="1611916" cy="849079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4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it-IT" sz="4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ad>
                        <m:radPr>
                          <m:degHide m:val="on"/>
                          <m:ctrlPr>
                            <a:rPr lang="en-US" sz="4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it-IT" sz="4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C2C1509-6F71-4779-9A02-91AF3304F6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3233" y="2847136"/>
                <a:ext cx="1611916" cy="84907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45BE5CF-7A77-440A-B1C9-9B17FE2DE78E}"/>
                  </a:ext>
                </a:extLst>
              </p:cNvPr>
              <p:cNvSpPr/>
              <p:nvPr/>
            </p:nvSpPr>
            <p:spPr>
              <a:xfrm>
                <a:off x="15334361" y="2423896"/>
                <a:ext cx="865677" cy="146392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4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4400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𝐚</m:t>
                              </m:r>
                            </m:e>
                            <m:sup>
                              <m:r>
                                <a:rPr lang="it-IT" sz="4400" b="1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num>
                        <m:den>
                          <m:r>
                            <a:rPr lang="it-IT" sz="44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45BE5CF-7A77-440A-B1C9-9B17FE2DE7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4361" y="2423896"/>
                <a:ext cx="865677" cy="146392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Oval 39">
            <a:extLst>
              <a:ext uri="{FF2B5EF4-FFF2-40B4-BE49-F238E27FC236}">
                <a16:creationId xmlns:a16="http://schemas.microsoft.com/office/drawing/2014/main" id="{25887997-7610-4738-9606-75AF70B5A772}"/>
              </a:ext>
            </a:extLst>
          </p:cNvPr>
          <p:cNvSpPr/>
          <p:nvPr/>
        </p:nvSpPr>
        <p:spPr>
          <a:xfrm>
            <a:off x="12716430" y="4558165"/>
            <a:ext cx="1080000" cy="108000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C</a:t>
            </a:r>
            <a:endParaRPr lang="en-US" sz="6400" dirty="0"/>
          </a:p>
        </p:txBody>
      </p:sp>
      <p:sp>
        <p:nvSpPr>
          <p:cNvPr id="42" name="Rounded Rectangle 41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7005864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4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02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80CE3C4-DAA7-4A0F-8E87-ED076F69185F}"/>
              </a:ext>
            </a:extLst>
          </p:cNvPr>
          <p:cNvGrpSpPr/>
          <p:nvPr/>
        </p:nvGrpSpPr>
        <p:grpSpPr>
          <a:xfrm>
            <a:off x="12725926" y="4183840"/>
            <a:ext cx="11277074" cy="1788812"/>
            <a:chOff x="12439525" y="4486144"/>
            <a:chExt cx="11277074" cy="1788812"/>
          </a:xfrm>
          <a:solidFill>
            <a:srgbClr val="398842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ED60405-6FE9-4B40-9417-CAE23C9ED837}"/>
                </a:ext>
              </a:extLst>
            </p:cNvPr>
            <p:cNvGrpSpPr/>
            <p:nvPr/>
          </p:nvGrpSpPr>
          <p:grpSpPr>
            <a:xfrm>
              <a:off x="12439525" y="4540909"/>
              <a:ext cx="11277074" cy="1671800"/>
              <a:chOff x="6248168" y="2025161"/>
              <a:chExt cx="5638537" cy="835900"/>
            </a:xfrm>
            <a:grpFill/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CA2B41E-3E96-4461-8538-9C0E545FB27A}"/>
                  </a:ext>
                </a:extLst>
              </p:cNvPr>
              <p:cNvSpPr/>
              <p:nvPr/>
            </p:nvSpPr>
            <p:spPr>
              <a:xfrm>
                <a:off x="6544723" y="2025161"/>
                <a:ext cx="2468235" cy="835899"/>
              </a:xfrm>
              <a:prstGeom prst="rect">
                <a:avLst/>
              </a:prstGeom>
              <a:grpFill/>
              <a:ln w="190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400" b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F4C6AFC-ECFF-4896-A74E-0ABF4C0215BE}"/>
                  </a:ext>
                </a:extLst>
              </p:cNvPr>
              <p:cNvSpPr/>
              <p:nvPr/>
            </p:nvSpPr>
            <p:spPr>
              <a:xfrm>
                <a:off x="6248168" y="2189805"/>
                <a:ext cx="544265" cy="540000"/>
              </a:xfrm>
              <a:prstGeom prst="ellipse">
                <a:avLst/>
              </a:prstGeom>
              <a:grpFill/>
              <a:ln w="571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</a:t>
                </a:r>
                <a:endParaRPr lang="en-US" sz="6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5B34D41-D978-4E56-B444-EE5A24E5A300}"/>
                  </a:ext>
                </a:extLst>
              </p:cNvPr>
              <p:cNvSpPr/>
              <p:nvPr/>
            </p:nvSpPr>
            <p:spPr>
              <a:xfrm>
                <a:off x="9418470" y="2025162"/>
                <a:ext cx="2468235" cy="835899"/>
              </a:xfrm>
              <a:prstGeom prst="rect">
                <a:avLst/>
              </a:prstGeom>
              <a:grpFill/>
              <a:ln w="190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400" b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274D4B7-DB46-45A2-9BE8-FD4F6E5AA9BA}"/>
                  </a:ext>
                </a:extLst>
              </p:cNvPr>
              <p:cNvSpPr/>
              <p:nvPr/>
            </p:nvSpPr>
            <p:spPr>
              <a:xfrm>
                <a:off x="9098992" y="2152849"/>
                <a:ext cx="540000" cy="540000"/>
              </a:xfrm>
              <a:prstGeom prst="ellipse">
                <a:avLst/>
              </a:prstGeom>
              <a:grpFill/>
              <a:ln w="571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D</a:t>
                </a:r>
                <a:endParaRPr lang="en-US" sz="64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2084E6AB-536A-4376-B134-DADD4F5BCF11}"/>
                    </a:ext>
                  </a:extLst>
                </p:cNvPr>
                <p:cNvSpPr/>
                <p:nvPr/>
              </p:nvSpPr>
              <p:spPr>
                <a:xfrm>
                  <a:off x="13933591" y="4486144"/>
                  <a:ext cx="3631577" cy="16137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4400" b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  <m:d>
                          <m:dPr>
                            <m:ctrlPr>
                              <a:rPr lang="en-US" sz="4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4400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4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sz="4400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𝟐𝟓</m:t>
                                </m:r>
                              </m:num>
                              <m:den>
                                <m:r>
                                  <a:rPr lang="pt-BR" sz="4400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  <m:r>
                              <a:rPr lang="pt-BR" sz="4400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;−</m:t>
                            </m:r>
                            <m:f>
                              <m:fPr>
                                <m:ctrlPr>
                                  <a:rPr lang="en-US" sz="4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sz="4400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𝟓𝟖</m:t>
                                </m:r>
                              </m:num>
                              <m:den>
                                <m:r>
                                  <a:rPr lang="pt-BR" sz="4400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2084E6AB-536A-4376-B134-DADD4F5BCF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33591" y="4486144"/>
                  <a:ext cx="3631577" cy="1613711"/>
                </a:xfrm>
                <a:prstGeom prst="rect">
                  <a:avLst/>
                </a:prstGeom>
                <a:blipFill>
                  <a:blip r:embed="rId2"/>
                  <a:stretch>
                    <a:fillRect r="-72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AE03CC7A-63AE-496D-BA77-14300DB71895}"/>
                    </a:ext>
                  </a:extLst>
                </p:cNvPr>
                <p:cNvSpPr/>
                <p:nvPr/>
              </p:nvSpPr>
              <p:spPr>
                <a:xfrm>
                  <a:off x="19440222" y="4661245"/>
                  <a:ext cx="3411594" cy="16137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𝐇</m:t>
                        </m:r>
                        <m:d>
                          <m:dPr>
                            <m:ctrlPr>
                              <a:rPr lang="en-US" sz="4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𝟐𝟓</m:t>
                                </m:r>
                              </m:num>
                              <m:den>
                                <m:r>
                                  <a:rPr lang="en-US" sz="4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𝟑</m:t>
                                </m:r>
                              </m:den>
                            </m:f>
                            <m:r>
                              <a:rPr lang="en-US" sz="4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;</m:t>
                            </m:r>
                            <m:f>
                              <m:fPr>
                                <m:ctrlPr>
                                  <a:rPr lang="en-US" sz="4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𝟓𝟖</m:t>
                                </m:r>
                              </m:num>
                              <m:den>
                                <m:r>
                                  <a:rPr lang="en-US" sz="4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𝟑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AE03CC7A-63AE-496D-BA77-14300DB718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440222" y="4661245"/>
                  <a:ext cx="3411594" cy="161371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ounded Rectangle 52">
            <a:extLst>
              <a:ext uri="{FF2B5EF4-FFF2-40B4-BE49-F238E27FC236}">
                <a16:creationId xmlns:a16="http://schemas.microsoft.com/office/drawing/2014/main" id="{FA8A8524-55A3-4DC1-AC61-514744DED919}"/>
              </a:ext>
            </a:extLst>
          </p:cNvPr>
          <p:cNvSpPr/>
          <p:nvPr/>
        </p:nvSpPr>
        <p:spPr>
          <a:xfrm>
            <a:off x="228600" y="6471025"/>
            <a:ext cx="23848520" cy="6891700"/>
          </a:xfrm>
          <a:prstGeom prst="roundRect">
            <a:avLst>
              <a:gd name="adj" fmla="val 2239"/>
            </a:avLst>
          </a:prstGeom>
          <a:solidFill>
            <a:srgbClr val="C9E2B8"/>
          </a:solidFill>
          <a:ln w="28575">
            <a:solidFill>
              <a:schemeClr val="accent3">
                <a:lumMod val="50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b="1" dirty="0">
              <a:solidFill>
                <a:schemeClr val="tx1"/>
              </a:solidFill>
            </a:endParaRPr>
          </a:p>
        </p:txBody>
      </p:sp>
      <p:grpSp>
        <p:nvGrpSpPr>
          <p:cNvPr id="11" name="Group 5">
            <a:extLst>
              <a:ext uri="{FF2B5EF4-FFF2-40B4-BE49-F238E27FC236}">
                <a16:creationId xmlns:a16="http://schemas.microsoft.com/office/drawing/2014/main" id="{5357AC78-711D-478D-ACB6-63856B9AEF4B}"/>
              </a:ext>
            </a:extLst>
          </p:cNvPr>
          <p:cNvGrpSpPr/>
          <p:nvPr/>
        </p:nvGrpSpPr>
        <p:grpSpPr>
          <a:xfrm>
            <a:off x="149511" y="6096000"/>
            <a:ext cx="3600000" cy="936000"/>
            <a:chOff x="444985" y="4706268"/>
            <a:chExt cx="3957472" cy="1037412"/>
          </a:xfrm>
          <a:solidFill>
            <a:srgbClr val="C9E2B8"/>
          </a:solidFill>
        </p:grpSpPr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71EB90B6-0FE8-4179-A425-76D3F5FD278D}"/>
                </a:ext>
              </a:extLst>
            </p:cNvPr>
            <p:cNvSpPr>
              <a:spLocks/>
            </p:cNvSpPr>
            <p:nvPr/>
          </p:nvSpPr>
          <p:spPr bwMode="auto">
            <a:xfrm rot="16200000" flipV="1">
              <a:off x="2450119" y="3741843"/>
              <a:ext cx="908272" cy="2996405"/>
            </a:xfrm>
            <a:prstGeom prst="round1Rect">
              <a:avLst/>
            </a:prstGeom>
            <a:grpFill/>
            <a:ln w="57150">
              <a:solidFill>
                <a:schemeClr val="accent6">
                  <a:lumMod val="75000"/>
                </a:schemeClr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TextBox 7">
              <a:extLst>
                <a:ext uri="{FF2B5EF4-FFF2-40B4-BE49-F238E27FC236}">
                  <a16:creationId xmlns:a16="http://schemas.microsoft.com/office/drawing/2014/main" id="{0C3FF307-8179-4A2B-82EF-0CAF4A8A7ECA}"/>
                </a:ext>
              </a:extLst>
            </p:cNvPr>
            <p:cNvSpPr txBox="1"/>
            <p:nvPr/>
          </p:nvSpPr>
          <p:spPr>
            <a:xfrm>
              <a:off x="1425342" y="4753497"/>
              <a:ext cx="2872840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4600" b="1" dirty="0">
                  <a:solidFill>
                    <a:schemeClr val="accent6">
                      <a:lumMod val="75000"/>
                    </a:schemeClr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Bài giải</a:t>
              </a:r>
              <a:endParaRPr lang="en-US" sz="4600" b="1" dirty="0">
                <a:solidFill>
                  <a:schemeClr val="accent6">
                    <a:lumMod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pic>
          <p:nvPicPr>
            <p:cNvPr id="14" name="Picture 8">
              <a:extLst>
                <a:ext uri="{FF2B5EF4-FFF2-40B4-BE49-F238E27FC236}">
                  <a16:creationId xmlns:a16="http://schemas.microsoft.com/office/drawing/2014/main" id="{7907171D-A66E-488E-B774-2D76551B21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950" t="14860" r="18922" b="25555"/>
            <a:stretch/>
          </p:blipFill>
          <p:spPr>
            <a:xfrm>
              <a:off x="444985" y="4706268"/>
              <a:ext cx="1058947" cy="1037412"/>
            </a:xfrm>
            <a:prstGeom prst="round2DiagRect">
              <a:avLst>
                <a:gd name="adj1" fmla="val 27632"/>
                <a:gd name="adj2" fmla="val 0"/>
              </a:avLst>
            </a:prstGeom>
            <a:grpFill/>
            <a:ln w="38100" cap="sq">
              <a:solidFill>
                <a:schemeClr val="accent6">
                  <a:lumMod val="50000"/>
                </a:schemeClr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</p:grpSp>
      <p:sp>
        <p:nvSpPr>
          <p:cNvPr id="16" name="Rounded Rectangle 41">
            <a:extLst>
              <a:ext uri="{FF2B5EF4-FFF2-40B4-BE49-F238E27FC236}">
                <a16:creationId xmlns:a16="http://schemas.microsoft.com/office/drawing/2014/main" id="{8CEB7639-8C37-429B-8642-89A2596E45BF}"/>
              </a:ext>
            </a:extLst>
          </p:cNvPr>
          <p:cNvSpPr/>
          <p:nvPr/>
        </p:nvSpPr>
        <p:spPr>
          <a:xfrm>
            <a:off x="310459" y="2371992"/>
            <a:ext cx="12388739" cy="3484043"/>
          </a:xfrm>
          <a:prstGeom prst="roundRect">
            <a:avLst>
              <a:gd name="adj" fmla="val 10158"/>
            </a:avLst>
          </a:prstGeom>
          <a:solidFill>
            <a:srgbClr val="FEEBB0"/>
          </a:solidFill>
          <a:ln w="12700">
            <a:solidFill>
              <a:srgbClr val="91720D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C6580-039C-483A-B732-1519BE679FD3}"/>
              </a:ext>
            </a:extLst>
          </p:cNvPr>
          <p:cNvGrpSpPr/>
          <p:nvPr/>
        </p:nvGrpSpPr>
        <p:grpSpPr>
          <a:xfrm>
            <a:off x="0" y="1917382"/>
            <a:ext cx="3656379" cy="847011"/>
            <a:chOff x="923003" y="3917552"/>
            <a:chExt cx="4003839" cy="106436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DE8E5AA-2865-469B-B774-A4C2380AE3FD}"/>
                </a:ext>
              </a:extLst>
            </p:cNvPr>
            <p:cNvGrpSpPr/>
            <p:nvPr/>
          </p:nvGrpSpPr>
          <p:grpSpPr>
            <a:xfrm>
              <a:off x="1362045" y="3976350"/>
              <a:ext cx="3564797" cy="1005567"/>
              <a:chOff x="2028795" y="4338300"/>
              <a:chExt cx="3564797" cy="10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3EA2DB46-FE90-4B71-AD74-95E7FBA35FB5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3364273" y="3082799"/>
                <a:ext cx="832104" cy="3503060"/>
              </a:xfrm>
              <a:prstGeom prst="round2SameRect">
                <a:avLst>
                  <a:gd name="adj1" fmla="val 19445"/>
                  <a:gd name="adj2" fmla="val 0"/>
                </a:avLst>
              </a:prstGeom>
              <a:solidFill>
                <a:srgbClr val="FFF9BC"/>
              </a:solidFill>
              <a:ln w="57150">
                <a:solidFill>
                  <a:srgbClr val="91720D"/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396E61-7359-474F-BCD6-96B28911FADE}"/>
                  </a:ext>
                </a:extLst>
              </p:cNvPr>
              <p:cNvSpPr txBox="1"/>
              <p:nvPr/>
            </p:nvSpPr>
            <p:spPr>
              <a:xfrm>
                <a:off x="2532513" y="4338300"/>
                <a:ext cx="3061079" cy="1005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6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Câu</a:t>
                </a:r>
                <a:r>
                  <a:rPr lang="en-US" sz="46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5</a:t>
                </a:r>
              </a:p>
            </p:txBody>
          </p:sp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77179F5-EF5F-4DF5-BB5A-FC6532B957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99" t="21515" r="9759" b="14519"/>
            <a:stretch/>
          </p:blipFill>
          <p:spPr>
            <a:xfrm>
              <a:off x="923003" y="3917552"/>
              <a:ext cx="1076356" cy="1040476"/>
            </a:xfrm>
            <a:prstGeom prst="round2DiagRect">
              <a:avLst>
                <a:gd name="adj1" fmla="val 30509"/>
                <a:gd name="adj2" fmla="val 0"/>
              </a:avLst>
            </a:prstGeom>
            <a:ln w="38100" cap="sq">
              <a:solidFill>
                <a:srgbClr val="91720D"/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2D542EB-DA8F-4047-A893-7C264039979F}"/>
                  </a:ext>
                </a:extLst>
              </p:cNvPr>
              <p:cNvSpPr txBox="1"/>
              <p:nvPr/>
            </p:nvSpPr>
            <p:spPr>
              <a:xfrm>
                <a:off x="352737" y="2880430"/>
                <a:ext cx="11900847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  </a:t>
                </a:r>
                <a:r>
                  <a:rPr lang="fr-FR" sz="4800" b="1" dirty="0" err="1"/>
                  <a:t>Trong</a:t>
                </a:r>
                <a:r>
                  <a:rPr lang="fr-FR" sz="4800" b="1" dirty="0"/>
                  <a:t> </a:t>
                </a:r>
                <a:r>
                  <a:rPr lang="fr-FR" sz="4800" b="1" dirty="0" err="1"/>
                  <a:t>mặt</a:t>
                </a:r>
                <a:r>
                  <a:rPr lang="fr-FR" sz="4800" b="1" dirty="0"/>
                  <a:t> </a:t>
                </a:r>
                <a:r>
                  <a:rPr lang="fr-FR" sz="4800" b="1" dirty="0" err="1"/>
                  <a:t>phẳng</a:t>
                </a:r>
                <a:r>
                  <a:rPr lang="fr-FR" sz="4800" b="1" dirty="0"/>
                  <a:t> </a:t>
                </a:r>
                <a:r>
                  <a:rPr lang="fr-FR" sz="4800" b="1" dirty="0" err="1"/>
                  <a:t>tọa</a:t>
                </a:r>
                <a:r>
                  <a:rPr lang="fr-FR" sz="4800" b="1" dirty="0"/>
                  <a:t> </a:t>
                </a:r>
                <a:r>
                  <a:rPr lang="fr-FR" sz="4800" b="1" dirty="0" err="1"/>
                  <a:t>độ</a:t>
                </a:r>
                <a:r>
                  <a:rPr lang="fr-FR" sz="4800" b="1" dirty="0"/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</a:rPr>
                      <m:t>𝑶𝒙𝒚</m:t>
                    </m:r>
                  </m:oMath>
                </a14:m>
                <a:r>
                  <a:rPr lang="fr-FR" sz="4800" b="1" dirty="0"/>
                  <a:t>, </a:t>
                </a:r>
                <a:r>
                  <a:rPr lang="pt-BR" sz="4800" b="1" dirty="0"/>
                  <a:t>cho tam giác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pt-BR" sz="4800" b="1" dirty="0"/>
                  <a:t> có </a:t>
                </a:r>
                <a14:m>
                  <m:oMath xmlns:m="http://schemas.openxmlformats.org/officeDocument/2006/math">
                    <m:r>
                      <a:rPr lang="pt-BR" sz="4800" b="1" i="1"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4800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pt-BR" sz="4800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pt-BR" sz="48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pt-BR" sz="4800" b="1" dirty="0"/>
                  <a:t>, </a:t>
                </a:r>
                <a14:m>
                  <m:oMath xmlns:m="http://schemas.openxmlformats.org/officeDocument/2006/math">
                    <m:r>
                      <a:rPr lang="pt-BR" sz="4800" b="1" i="1">
                        <a:latin typeface="Cambria Math" panose="02040503050406030204" pitchFamily="18" charset="0"/>
                      </a:rPr>
                      <m:t>𝑩</m:t>
                    </m:r>
                    <m:d>
                      <m:d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48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sz="4800" b="1" i="1">
                            <a:latin typeface="Cambria Math" panose="02040503050406030204" pitchFamily="18" charset="0"/>
                          </a:rPr>
                          <m:t>𝟏𝟏</m:t>
                        </m:r>
                        <m:r>
                          <a:rPr lang="pt-BR" sz="4800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pt-BR" sz="48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pt-BR" sz="4800" b="1" dirty="0"/>
                  <a:t>, </a:t>
                </a:r>
                <a14:m>
                  <m:oMath xmlns:m="http://schemas.openxmlformats.org/officeDocument/2006/math">
                    <m:r>
                      <a:rPr lang="pt-BR" sz="4800" b="1" i="1">
                        <a:latin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4800" b="1" i="1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pt-BR" sz="4800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pt-BR" sz="4800" b="1" i="1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</m:oMath>
                </a14:m>
                <a:r>
                  <a:rPr lang="pt-BR" sz="4800" b="1" dirty="0"/>
                  <a:t>. Xác định tọa độ  trực tâm </a:t>
                </a:r>
                <a14:m>
                  <m:oMath xmlns:m="http://schemas.openxmlformats.org/officeDocument/2006/math">
                    <m:r>
                      <a:rPr lang="pt-BR" sz="4800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pt-BR" sz="4800" b="1" dirty="0"/>
                  <a:t> của tam giác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pt-BR" sz="4800" b="1" dirty="0"/>
                  <a:t>.</a:t>
                </a:r>
                <a:endParaRPr lang="en-US" sz="48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2D542EB-DA8F-4047-A893-7C2640399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737" y="2880430"/>
                <a:ext cx="11900847" cy="2308324"/>
              </a:xfrm>
              <a:prstGeom prst="rect">
                <a:avLst/>
              </a:prstGeom>
              <a:blipFill>
                <a:blip r:embed="rId6"/>
                <a:stretch>
                  <a:fillRect l="-2357" t="-5556" r="-2049" b="-134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5CF5B428-2AE5-4B2C-A905-444E83BBB4EE}"/>
              </a:ext>
            </a:extLst>
          </p:cNvPr>
          <p:cNvSpPr/>
          <p:nvPr/>
        </p:nvSpPr>
        <p:spPr>
          <a:xfrm>
            <a:off x="6211043" y="7415948"/>
            <a:ext cx="1219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48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D84C84F-0DBD-4B7A-ADC7-E1129B975263}"/>
                  </a:ext>
                </a:extLst>
              </p:cNvPr>
              <p:cNvSpPr/>
              <p:nvPr/>
            </p:nvSpPr>
            <p:spPr>
              <a:xfrm>
                <a:off x="752214" y="7114520"/>
                <a:ext cx="16666647" cy="41170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fr-FR" sz="4400" b="1" dirty="0"/>
                  <a:t>Gọi </a:t>
                </a:r>
                <a14:m>
                  <m:oMath xmlns:m="http://schemas.openxmlformats.org/officeDocument/2006/math">
                    <m:r>
                      <a:rPr lang="fr-FR" sz="4400" b="1" i="1">
                        <a:latin typeface="Cambria Math" panose="02040503050406030204" pitchFamily="18" charset="0"/>
                      </a:rPr>
                      <m:t>𝑯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4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fr-FR" sz="4400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fr-FR" sz="4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fr-FR" sz="4400" b="1" dirty="0"/>
                  <a:t>. Ta </a:t>
                </a:r>
                <a:r>
                  <a:rPr lang="fr-FR" sz="4400" b="1" dirty="0" err="1"/>
                  <a:t>có</a:t>
                </a:r>
                <a:r>
                  <a:rPr lang="fr-FR" sz="44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4400" b="1" i="1">
                            <a:latin typeface="Cambria Math" panose="02040503050406030204" pitchFamily="18" charset="0"/>
                          </a:rPr>
                          <m:t>𝑨𝑯</m:t>
                        </m:r>
                      </m:e>
                    </m:acc>
                    <m:r>
                      <a:rPr lang="fr-FR" sz="44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4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fr-FR" sz="4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sz="4400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fr-FR" sz="4400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fr-FR" sz="4400" b="1" i="1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fr-FR" sz="4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fr-FR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fr-FR" sz="4400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4400" b="1" i="1">
                            <a:latin typeface="Cambria Math" panose="02040503050406030204" pitchFamily="18" charset="0"/>
                          </a:rPr>
                          <m:t>𝑩𝑪</m:t>
                        </m:r>
                      </m:e>
                    </m:acc>
                    <m:r>
                      <a:rPr lang="fr-FR" sz="44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4400" b="1" i="1">
                            <a:latin typeface="Cambria Math" panose="02040503050406030204" pitchFamily="18" charset="0"/>
                          </a:rPr>
                          <m:t>𝟏𝟔</m:t>
                        </m:r>
                        <m:r>
                          <a:rPr lang="fr-FR" sz="4400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fr-FR" sz="4400" b="1" i="1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  <m:r>
                      <a:rPr lang="fr-FR" sz="4400" b="1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4400" b="1" i="1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4400" b="1" i="1">
                            <a:latin typeface="Cambria Math" panose="02040503050406030204" pitchFamily="18" charset="0"/>
                          </a:rPr>
                          <m:t>𝑩𝑯</m:t>
                        </m:r>
                      </m:e>
                    </m:acc>
                    <m:r>
                      <a:rPr lang="fr-FR" sz="44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4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fr-FR" sz="44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sz="4400" b="1" i="1">
                            <a:latin typeface="Cambria Math" panose="02040503050406030204" pitchFamily="18" charset="0"/>
                          </a:rPr>
                          <m:t>𝟏𝟏</m:t>
                        </m:r>
                        <m:r>
                          <a:rPr lang="fr-FR" sz="4400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fr-FR" sz="4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fr-FR" sz="4400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44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r>
                      <a:rPr lang="fr-FR" sz="44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44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fr-FR" sz="4400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fr-FR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</m:oMath>
                </a14:m>
                <a:r>
                  <a:rPr lang="vi-VN" sz="4400" b="1" dirty="0"/>
                  <a:t>.</a:t>
                </a:r>
                <a:endParaRPr lang="en-US" sz="4400" b="1" dirty="0"/>
              </a:p>
              <a:p>
                <a:r>
                  <a:rPr lang="fr-FR" sz="4400" b="1" dirty="0" err="1"/>
                  <a:t>Vì</a:t>
                </a:r>
                <a:r>
                  <a:rPr lang="fr-FR" sz="4400" b="1" dirty="0"/>
                  <a:t> </a:t>
                </a:r>
                <a14:m>
                  <m:oMath xmlns:m="http://schemas.openxmlformats.org/officeDocument/2006/math">
                    <m:r>
                      <a:rPr lang="fr-FR" sz="4400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fr-FR" sz="4400" b="1" dirty="0"/>
                  <a:t> là </a:t>
                </a:r>
                <a:r>
                  <a:rPr lang="fr-FR" sz="4400" b="1" dirty="0" err="1"/>
                  <a:t>trực</a:t>
                </a:r>
                <a:r>
                  <a:rPr lang="fr-FR" sz="4400" b="1" dirty="0"/>
                  <a:t> </a:t>
                </a:r>
                <a:r>
                  <a:rPr lang="fr-FR" sz="4400" b="1" dirty="0" err="1"/>
                  <a:t>tâm</a:t>
                </a:r>
                <a:r>
                  <a:rPr lang="fr-FR" sz="4400" b="1" dirty="0"/>
                  <a:t> </a:t>
                </a:r>
                <a:r>
                  <a:rPr lang="fr-FR" sz="4400" b="1" dirty="0" err="1"/>
                  <a:t>nên</a:t>
                </a:r>
                <a:r>
                  <a:rPr lang="fr-FR" sz="4400" b="1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⃗"/>
                                  <m:ctrlP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4400" b="1" i="1">
                                      <a:latin typeface="Cambria Math" panose="02040503050406030204" pitchFamily="18" charset="0"/>
                                    </a:rPr>
                                    <m:t>𝑨𝑯</m:t>
                                  </m:r>
                                </m:e>
                              </m:acc>
                              <m:r>
                                <a:rPr lang="fr-FR" sz="4400" b="1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4400" b="1" i="1">
                                      <a:latin typeface="Cambria Math" panose="02040503050406030204" pitchFamily="18" charset="0"/>
                                    </a:rPr>
                                    <m:t>𝑩𝑪</m:t>
                                  </m:r>
                                </m:e>
                              </m:acc>
                              <m:r>
                                <a:rPr lang="fr-FR" sz="44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fr-FR" sz="44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acc>
                                <m:accPr>
                                  <m:chr m:val="⃗"/>
                                  <m:ctrlP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4400" b="1" i="1">
                                      <a:latin typeface="Cambria Math" panose="02040503050406030204" pitchFamily="18" charset="0"/>
                                    </a:rPr>
                                    <m:t>𝑩𝑯</m:t>
                                  </m:r>
                                </m:e>
                              </m:acc>
                              <m:r>
                                <a:rPr lang="fr-FR" sz="4400" b="1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4400" b="1" i="1">
                                      <a:latin typeface="Cambria Math" panose="02040503050406030204" pitchFamily="18" charset="0"/>
                                    </a:rPr>
                                    <m:t>𝑨𝑪</m:t>
                                  </m:r>
                                </m:e>
                              </m:acc>
                              <m:r>
                                <a:rPr lang="fr-FR" sz="44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fr-FR" sz="44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</m:m>
                      </m:e>
                    </m:d>
                    <m:r>
                      <a:rPr lang="fr-FR" sz="4400" b="1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{"/>
                        <m:endChr m:val="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fr-FR" sz="4400" b="1" i="1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fr-FR" sz="4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fr-FR" sz="44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sz="44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fr-FR" sz="44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fr-FR" sz="4400" b="1" i="1">
                                  <a:latin typeface="Cambria Math" panose="02040503050406030204" pitchFamily="18" charset="0"/>
                                </a:rPr>
                                <m:t>𝟏𝟒</m:t>
                              </m:r>
                            </m:e>
                          </m:mr>
                          <m:mr>
                            <m:e>
                              <m:r>
                                <a:rPr lang="fr-FR" sz="4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fr-FR" sz="44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sz="4400" b="1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fr-FR" sz="4400" b="1" i="1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fr-FR" sz="4400" b="1" i="1">
                                  <a:latin typeface="Cambria Math" panose="02040503050406030204" pitchFamily="18" charset="0"/>
                                </a:rPr>
                                <m:t>𝟏𝟏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fr-FR" sz="4400" b="1" dirty="0"/>
              </a:p>
              <a:p>
                <a:endParaRPr lang="en-US" sz="48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D84C84F-0DBD-4B7A-ADC7-E1129B9752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14" y="7114520"/>
                <a:ext cx="16666647" cy="4117089"/>
              </a:xfrm>
              <a:prstGeom prst="rect">
                <a:avLst/>
              </a:prstGeom>
              <a:blipFill>
                <a:blip r:embed="rId7"/>
                <a:stretch>
                  <a:fillRect l="-1463" t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B50AE326-6CE8-425B-8406-EB1FD3BD3328}"/>
              </a:ext>
            </a:extLst>
          </p:cNvPr>
          <p:cNvSpPr/>
          <p:nvPr/>
        </p:nvSpPr>
        <p:spPr>
          <a:xfrm>
            <a:off x="19045509" y="2462762"/>
            <a:ext cx="4936470" cy="1500400"/>
          </a:xfrm>
          <a:prstGeom prst="rect">
            <a:avLst/>
          </a:prstGeom>
          <a:solidFill>
            <a:srgbClr val="398842"/>
          </a:solidFill>
          <a:ln w="190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400" b="1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7E3F1BF-BB23-4A94-B346-4B0B46509E3F}"/>
              </a:ext>
            </a:extLst>
          </p:cNvPr>
          <p:cNvSpPr/>
          <p:nvPr/>
        </p:nvSpPr>
        <p:spPr>
          <a:xfrm>
            <a:off x="18412509" y="2638314"/>
            <a:ext cx="1080000" cy="1080000"/>
          </a:xfrm>
          <a:prstGeom prst="ellipse">
            <a:avLst/>
          </a:prstGeom>
          <a:solidFill>
            <a:srgbClr val="327E3B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6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endParaRPr lang="en-US" sz="6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781D58-9BD1-4957-8ABB-AAA4E3A17A32}"/>
              </a:ext>
            </a:extLst>
          </p:cNvPr>
          <p:cNvSpPr/>
          <p:nvPr/>
        </p:nvSpPr>
        <p:spPr>
          <a:xfrm>
            <a:off x="13351530" y="2462762"/>
            <a:ext cx="4936470" cy="1500400"/>
          </a:xfrm>
          <a:prstGeom prst="rect">
            <a:avLst/>
          </a:prstGeom>
          <a:solidFill>
            <a:srgbClr val="398842"/>
          </a:solidFill>
          <a:ln w="190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400" b="1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D6F22D8-0DB0-4E1E-BD0C-F5C8809A0BF1}"/>
              </a:ext>
            </a:extLst>
          </p:cNvPr>
          <p:cNvSpPr/>
          <p:nvPr/>
        </p:nvSpPr>
        <p:spPr>
          <a:xfrm>
            <a:off x="12635111" y="2619948"/>
            <a:ext cx="1080000" cy="1080000"/>
          </a:xfrm>
          <a:prstGeom prst="ellipse">
            <a:avLst/>
          </a:prstGeom>
          <a:solidFill>
            <a:srgbClr val="327E3B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6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endParaRPr lang="en-US" sz="6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C2C1509-6F71-4779-9A02-91AF3304F6A2}"/>
                  </a:ext>
                </a:extLst>
              </p:cNvPr>
              <p:cNvSpPr/>
              <p:nvPr/>
            </p:nvSpPr>
            <p:spPr>
              <a:xfrm>
                <a:off x="19616020" y="2420881"/>
                <a:ext cx="3712298" cy="161371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44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𝐇</m:t>
                      </m:r>
                      <m:d>
                        <m:dPr>
                          <m:ctrlPr>
                            <a:rPr lang="en-US" sz="4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44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4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44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𝟐𝟓</m:t>
                              </m:r>
                            </m:num>
                            <m:den>
                              <m:r>
                                <a:rPr lang="pt-BR" sz="44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pt-BR" sz="44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f>
                            <m:fPr>
                              <m:ctrlPr>
                                <a:rPr lang="en-US" sz="4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44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𝟓𝟖</m:t>
                              </m:r>
                            </m:num>
                            <m:den>
                              <m:r>
                                <a:rPr lang="pt-BR" sz="44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C2C1509-6F71-4779-9A02-91AF3304F6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6020" y="2420881"/>
                <a:ext cx="3712298" cy="16137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45BE5CF-7A77-440A-B1C9-9B17FE2DE78E}"/>
                  </a:ext>
                </a:extLst>
              </p:cNvPr>
              <p:cNvSpPr/>
              <p:nvPr/>
            </p:nvSpPr>
            <p:spPr>
              <a:xfrm>
                <a:off x="14179037" y="2481368"/>
                <a:ext cx="3712298" cy="16137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44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𝐇</m:t>
                      </m:r>
                      <m:d>
                        <m:dPr>
                          <m:ctrlPr>
                            <a:rPr lang="en-US" sz="4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4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44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𝟐𝟓</m:t>
                              </m:r>
                            </m:num>
                            <m:den>
                              <m:r>
                                <a:rPr lang="pt-BR" sz="44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pt-BR" sz="44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;−</m:t>
                          </m:r>
                          <m:f>
                            <m:fPr>
                              <m:ctrlPr>
                                <a:rPr lang="en-US" sz="4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44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𝟓𝟖</m:t>
                              </m:r>
                            </m:num>
                            <m:den>
                              <m:r>
                                <a:rPr lang="pt-BR" sz="44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45BE5CF-7A77-440A-B1C9-9B17FE2DE7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9037" y="2481368"/>
                <a:ext cx="3712298" cy="16137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Oval 36">
            <a:extLst>
              <a:ext uri="{FF2B5EF4-FFF2-40B4-BE49-F238E27FC236}">
                <a16:creationId xmlns:a16="http://schemas.microsoft.com/office/drawing/2014/main" id="{AE22C2E3-A9EA-4BAF-8011-DAB37FA27E48}"/>
              </a:ext>
            </a:extLst>
          </p:cNvPr>
          <p:cNvSpPr/>
          <p:nvPr/>
        </p:nvSpPr>
        <p:spPr>
          <a:xfrm flipH="1">
            <a:off x="12495408" y="2583122"/>
            <a:ext cx="1463226" cy="1247825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endParaRPr lang="en-US" sz="6400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01013EA-6846-4FD6-9AC4-3A10DDEC4E5A}"/>
              </a:ext>
            </a:extLst>
          </p:cNvPr>
          <p:cNvCxnSpPr>
            <a:cxnSpLocks/>
          </p:cNvCxnSpPr>
          <p:nvPr/>
        </p:nvCxnSpPr>
        <p:spPr>
          <a:xfrm flipH="1">
            <a:off x="17837814" y="6632139"/>
            <a:ext cx="1461555" cy="359237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8B13037-EB93-4BDD-837A-3DC70F452DC4}"/>
              </a:ext>
            </a:extLst>
          </p:cNvPr>
          <p:cNvCxnSpPr>
            <a:cxnSpLocks/>
          </p:cNvCxnSpPr>
          <p:nvPr/>
        </p:nvCxnSpPr>
        <p:spPr>
          <a:xfrm>
            <a:off x="19299369" y="6632139"/>
            <a:ext cx="3505200" cy="361411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0AEA12B-61F6-411D-883D-1AB2AD6EF189}"/>
              </a:ext>
            </a:extLst>
          </p:cNvPr>
          <p:cNvCxnSpPr>
            <a:cxnSpLocks/>
          </p:cNvCxnSpPr>
          <p:nvPr/>
        </p:nvCxnSpPr>
        <p:spPr>
          <a:xfrm>
            <a:off x="17851569" y="10205468"/>
            <a:ext cx="4914900" cy="382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299E31A-8B2E-4062-A1D4-098F2C7CFC1D}"/>
              </a:ext>
            </a:extLst>
          </p:cNvPr>
          <p:cNvSpPr/>
          <p:nvPr/>
        </p:nvSpPr>
        <p:spPr>
          <a:xfrm>
            <a:off x="18289094" y="6247455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32E870A-7C6D-49A6-8A35-96B5AC40FA9F}"/>
              </a:ext>
            </a:extLst>
          </p:cNvPr>
          <p:cNvSpPr/>
          <p:nvPr/>
        </p:nvSpPr>
        <p:spPr>
          <a:xfrm>
            <a:off x="17013369" y="9843518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B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B1555C0-7288-49AB-96D1-C062524E59B7}"/>
              </a:ext>
            </a:extLst>
          </p:cNvPr>
          <p:cNvSpPr/>
          <p:nvPr/>
        </p:nvSpPr>
        <p:spPr>
          <a:xfrm>
            <a:off x="22562495" y="9919719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688B107-54B2-4079-A30B-8B43F9935C01}"/>
              </a:ext>
            </a:extLst>
          </p:cNvPr>
          <p:cNvCxnSpPr>
            <a:cxnSpLocks/>
          </p:cNvCxnSpPr>
          <p:nvPr/>
        </p:nvCxnSpPr>
        <p:spPr>
          <a:xfrm>
            <a:off x="19299369" y="6632139"/>
            <a:ext cx="0" cy="359237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B17416C9-C97D-4D4F-A225-C4CE1CB4D4D1}"/>
              </a:ext>
            </a:extLst>
          </p:cNvPr>
          <p:cNvSpPr/>
          <p:nvPr/>
        </p:nvSpPr>
        <p:spPr>
          <a:xfrm>
            <a:off x="19185187" y="8314029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H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528FB54-7CA8-4DAC-AC8C-69CC58F7817C}"/>
              </a:ext>
            </a:extLst>
          </p:cNvPr>
          <p:cNvSpPr/>
          <p:nvPr/>
        </p:nvSpPr>
        <p:spPr>
          <a:xfrm>
            <a:off x="19299369" y="9919718"/>
            <a:ext cx="228599" cy="266599"/>
          </a:xfrm>
          <a:prstGeom prst="rect">
            <a:avLst/>
          </a:prstGeom>
          <a:noFill/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0822F49-5E43-4CF0-A352-F3DD772137D1}"/>
              </a:ext>
            </a:extLst>
          </p:cNvPr>
          <p:cNvCxnSpPr>
            <a:cxnSpLocks/>
          </p:cNvCxnSpPr>
          <p:nvPr/>
        </p:nvCxnSpPr>
        <p:spPr>
          <a:xfrm flipV="1">
            <a:off x="17851569" y="7622739"/>
            <a:ext cx="2341431" cy="256357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6CC3D8CE-9CAA-4E13-9228-15390FD2061C}"/>
              </a:ext>
            </a:extLst>
          </p:cNvPr>
          <p:cNvSpPr/>
          <p:nvPr/>
        </p:nvSpPr>
        <p:spPr>
          <a:xfrm rot="2586275">
            <a:off x="20111644" y="7662202"/>
            <a:ext cx="217316" cy="271840"/>
          </a:xfrm>
          <a:prstGeom prst="rect">
            <a:avLst/>
          </a:prstGeom>
          <a:noFill/>
          <a:ln w="762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F0A80D1-7342-4702-88DF-472EA3A91C10}"/>
                  </a:ext>
                </a:extLst>
              </p:cNvPr>
              <p:cNvSpPr txBox="1"/>
              <p:nvPr/>
            </p:nvSpPr>
            <p:spPr>
              <a:xfrm>
                <a:off x="8341742" y="10243668"/>
                <a:ext cx="4625340" cy="3144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4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⇔</m:t>
                      </m:r>
                      <m:d>
                        <m:dPr>
                          <m:begChr m:val="{"/>
                          <m:endChr m:val=""/>
                          <m:ctrlPr>
                            <a:rPr kumimoji="0" lang="en-US" sz="4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en-US" sz="4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a:rPr kumimoji="0" lang="fr-FR" sz="4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𝒙</m:t>
                                </m:r>
                                <m:r>
                                  <a:rPr kumimoji="0" lang="fr-FR" sz="4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kumimoji="0" lang="en-US" sz="44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fr-FR" sz="44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𝟐𝟓</m:t>
                                    </m:r>
                                  </m:num>
                                  <m:den>
                                    <m:r>
                                      <a:rPr kumimoji="0" lang="fr-FR" sz="44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kumimoji="0" lang="fr-FR" sz="4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𝒚</m:t>
                                </m:r>
                                <m:r>
                                  <a:rPr kumimoji="0" lang="fr-FR" sz="4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kumimoji="0" lang="en-US" sz="44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fr-FR" sz="44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𝟓𝟖</m:t>
                                    </m:r>
                                  </m:num>
                                  <m:den>
                                    <m:r>
                                      <a:rPr kumimoji="0" lang="fr-FR" sz="44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𝟑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F0A80D1-7342-4702-88DF-472EA3A91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1742" y="10243668"/>
                <a:ext cx="4625340" cy="314451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6D796A0-A8C8-4C12-859D-A5F0FDC566E5}"/>
                  </a:ext>
                </a:extLst>
              </p:cNvPr>
              <p:cNvSpPr txBox="1"/>
              <p:nvPr/>
            </p:nvSpPr>
            <p:spPr>
              <a:xfrm>
                <a:off x="13270191" y="11061087"/>
                <a:ext cx="7104429" cy="11056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21772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4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. </a:t>
                </a:r>
                <a:r>
                  <a:rPr kumimoji="0" lang="fr-FR" sz="44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Vậy</a:t>
                </a:r>
                <a:r>
                  <a:rPr kumimoji="0" lang="fr-FR" sz="4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fr-FR" sz="44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𝑯</m:t>
                    </m:r>
                    <m:d>
                      <m:dPr>
                        <m:ctrlPr>
                          <a:rPr kumimoji="0" lang="en-US" sz="4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f>
                          <m:fPr>
                            <m:ctrlPr>
                              <a:rPr kumimoji="0" lang="en-US" sz="4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fr-FR" sz="4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𝟐𝟓</m:t>
                            </m:r>
                          </m:num>
                          <m:den>
                            <m:r>
                              <a:rPr kumimoji="0" lang="fr-FR" sz="4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𝟑</m:t>
                            </m:r>
                          </m:den>
                        </m:f>
                        <m:r>
                          <a:rPr kumimoji="0" lang="fr-FR" sz="44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;−</m:t>
                        </m:r>
                        <m:f>
                          <m:fPr>
                            <m:ctrlPr>
                              <a:rPr kumimoji="0" lang="en-US" sz="4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fr-FR" sz="4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𝟓𝟖</m:t>
                            </m:r>
                          </m:num>
                          <m:den>
                            <m:r>
                              <a:rPr kumimoji="0" lang="fr-FR" sz="44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𝟑</m:t>
                            </m:r>
                          </m:den>
                        </m:f>
                      </m:e>
                    </m:d>
                  </m:oMath>
                </a14:m>
                <a:r>
                  <a:rPr kumimoji="0" lang="vi-VN" sz="4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. </a:t>
                </a:r>
                <a:endParaRPr kumimoji="0" lang="en-US" sz="4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6D796A0-A8C8-4C12-859D-A5F0FDC566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0191" y="11061087"/>
                <a:ext cx="7104429" cy="1105687"/>
              </a:xfrm>
              <a:prstGeom prst="rect">
                <a:avLst/>
              </a:prstGeom>
              <a:blipFill>
                <a:blip r:embed="rId11"/>
                <a:stretch>
                  <a:fillRect l="-3519" b="-10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Rounded Rectangle 103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4608883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7" grpId="0" animBg="1"/>
      <p:bldP spid="39" grpId="0"/>
      <p:bldP spid="40" grpId="0"/>
      <p:bldP spid="41" grpId="0"/>
      <p:bldP spid="43" grpId="0"/>
      <p:bldP spid="44" grpId="0" animBg="1"/>
      <p:bldP spid="47" grpId="0" animBg="1"/>
      <p:bldP spid="46" grpId="0"/>
      <p:bldP spid="4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313519-0C89-483D-A08E-CF6067282148}"/>
              </a:ext>
            </a:extLst>
          </p:cNvPr>
          <p:cNvGrpSpPr/>
          <p:nvPr/>
        </p:nvGrpSpPr>
        <p:grpSpPr>
          <a:xfrm>
            <a:off x="141341" y="6571576"/>
            <a:ext cx="23862374" cy="6412385"/>
            <a:chOff x="48567" y="4381499"/>
            <a:chExt cx="23018772" cy="5716249"/>
          </a:xfrm>
          <a:solidFill>
            <a:srgbClr val="DAE3F3"/>
          </a:solidFill>
        </p:grpSpPr>
        <p:sp>
          <p:nvSpPr>
            <p:cNvPr id="3" name="Rounded Rectangle 52">
              <a:extLst>
                <a:ext uri="{FF2B5EF4-FFF2-40B4-BE49-F238E27FC236}">
                  <a16:creationId xmlns:a16="http://schemas.microsoft.com/office/drawing/2014/main" id="{5B1AB244-3D78-416D-AEF1-35CC4562B7A3}"/>
                </a:ext>
              </a:extLst>
            </p:cNvPr>
            <p:cNvSpPr/>
            <p:nvPr/>
          </p:nvSpPr>
          <p:spPr>
            <a:xfrm>
              <a:off x="385312" y="4941556"/>
              <a:ext cx="22682027" cy="5156192"/>
            </a:xfrm>
            <a:prstGeom prst="roundRect">
              <a:avLst>
                <a:gd name="adj" fmla="val 2239"/>
              </a:avLst>
            </a:prstGeom>
            <a:grpFill/>
            <a:ln w="28575">
              <a:solidFill>
                <a:schemeClr val="accent3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8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endParaRPr lang="en-US" sz="4800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6FC852D-338F-4593-BDAE-4432C24EAC82}"/>
                </a:ext>
              </a:extLst>
            </p:cNvPr>
            <p:cNvGrpSpPr/>
            <p:nvPr/>
          </p:nvGrpSpPr>
          <p:grpSpPr>
            <a:xfrm>
              <a:off x="48567" y="4381499"/>
              <a:ext cx="3991940" cy="1079474"/>
              <a:chOff x="410517" y="4648199"/>
              <a:chExt cx="3991940" cy="1079474"/>
            </a:xfrm>
            <a:grpFill/>
          </p:grpSpPr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20085AD8-BD87-4A35-B6D4-9AE383128185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2421084" y="3633167"/>
                <a:ext cx="966341" cy="2996405"/>
              </a:xfrm>
              <a:prstGeom prst="round1Rect">
                <a:avLst/>
              </a:prstGeom>
              <a:grpFill/>
              <a:ln w="57150"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8C0313-9358-457E-845F-D4B035AC31D3}"/>
                  </a:ext>
                </a:extLst>
              </p:cNvPr>
              <p:cNvSpPr txBox="1"/>
              <p:nvPr/>
            </p:nvSpPr>
            <p:spPr>
              <a:xfrm>
                <a:off x="1406054" y="4732063"/>
                <a:ext cx="2872839" cy="800219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6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 giải</a:t>
                </a:r>
                <a:endParaRPr lang="en-US" sz="4600" b="1" dirty="0">
                  <a:solidFill>
                    <a:prstClr val="black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B75B5B9-D442-4C6E-96A9-9A573FE06D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50" t="14860" r="18922" b="25555"/>
              <a:stretch/>
            </p:blipFill>
            <p:spPr>
              <a:xfrm>
                <a:off x="410517" y="4648200"/>
                <a:ext cx="1058947" cy="1079473"/>
              </a:xfrm>
              <a:prstGeom prst="round2DiagRect">
                <a:avLst>
                  <a:gd name="adj1" fmla="val 27632"/>
                  <a:gd name="adj2" fmla="val 0"/>
                </a:avLst>
              </a:prstGeom>
              <a:grpFill/>
              <a:ln w="38100" cap="sq">
                <a:solidFill>
                  <a:schemeClr val="accent6">
                    <a:lumMod val="50000"/>
                  </a:schemeClr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A8B4DB7-EFF8-4AF8-B0FA-839D4C447E82}"/>
              </a:ext>
            </a:extLst>
          </p:cNvPr>
          <p:cNvGrpSpPr/>
          <p:nvPr/>
        </p:nvGrpSpPr>
        <p:grpSpPr>
          <a:xfrm>
            <a:off x="620483" y="5105400"/>
            <a:ext cx="23556178" cy="1234536"/>
            <a:chOff x="241306" y="2243792"/>
            <a:chExt cx="11778089" cy="617268"/>
          </a:xfrm>
          <a:solidFill>
            <a:srgbClr val="327E3B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/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fr-FR" sz="4400" b="1" i="0">
                          <a:latin typeface="Cambria Math" panose="02040503050406030204" pitchFamily="18" charset="0"/>
                        </a:rPr>
                        <m:t>𝟑</m:t>
                      </m:r>
                      <m:rad>
                        <m:radPr>
                          <m:degHide m:val="on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fr-FR" sz="4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</m:oMath>
                  </a14:m>
                  <a:r>
                    <a:rPr lang="en-US" sz="5400" b="1" dirty="0">
                      <a:solidFill>
                        <a:prstClr val="white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blipFill>
                  <a:blip r:embed="rId3"/>
                  <a:stretch>
                    <a:fillRect b="-14692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78679C-83F1-4149-AB69-2BCAF6D951FA}"/>
                </a:ext>
              </a:extLst>
            </p:cNvPr>
            <p:cNvSpPr/>
            <p:nvPr/>
          </p:nvSpPr>
          <p:spPr>
            <a:xfrm>
              <a:off x="3247742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/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fr-FR" sz="4400" b="1" i="0">
                              <a:latin typeface="Cambria Math" panose="02040503050406030204" pitchFamily="18" charset="0"/>
                            </a:rPr>
                            <m:t>𝟔</m:t>
                          </m:r>
                        </m:e>
                      </m:rad>
                    </m:oMath>
                  </a14:m>
                  <a:r>
                    <a:rPr lang="en-US" sz="4400" b="1" dirty="0">
                      <a:solidFill>
                        <a:prstClr val="white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blipFill>
                  <a:blip r:embed="rId4"/>
                  <a:stretch>
                    <a:fillRect b="-4265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88947F5-5540-4A85-BACE-6641A507F5A0}"/>
                </a:ext>
              </a:extLst>
            </p:cNvPr>
            <p:cNvSpPr/>
            <p:nvPr/>
          </p:nvSpPr>
          <p:spPr>
            <a:xfrm>
              <a:off x="241306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A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/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fr-FR" sz="4400" b="1" i="1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fr-FR" sz="44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</a14:m>
                  <a:r>
                    <a:rPr lang="en-US" sz="5400" b="1" dirty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blipFill>
                  <a:blip r:embed="rId5"/>
                  <a:stretch>
                    <a:fillRect b="-14692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7BF74FF-3652-4371-9E0B-A97FA806BC48}"/>
                </a:ext>
              </a:extLst>
            </p:cNvPr>
            <p:cNvSpPr/>
            <p:nvPr/>
          </p:nvSpPr>
          <p:spPr>
            <a:xfrm>
              <a:off x="6254178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/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fr-FR" sz="4400" b="1" i="0">
                              <a:latin typeface="Cambria Math" panose="02040503050406030204" pitchFamily="18" charset="0"/>
                            </a:rPr>
                            <m:t>𝟏𝟓</m:t>
                          </m:r>
                        </m:e>
                      </m:rad>
                    </m:oMath>
                  </a14:m>
                  <a:r>
                    <a:rPr lang="en-US" sz="5400" b="1" dirty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blipFill>
                  <a:blip r:embed="rId6"/>
                  <a:stretch>
                    <a:fillRect b="-14692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B907C0F-6FC4-4852-8CFD-AD2FACA13C7F}"/>
                </a:ext>
              </a:extLst>
            </p:cNvPr>
            <p:cNvSpPr/>
            <p:nvPr/>
          </p:nvSpPr>
          <p:spPr>
            <a:xfrm>
              <a:off x="9260615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06450E-ACA8-42F7-B878-4360BA0CBA71}"/>
              </a:ext>
            </a:extLst>
          </p:cNvPr>
          <p:cNvGrpSpPr/>
          <p:nvPr/>
        </p:nvGrpSpPr>
        <p:grpSpPr>
          <a:xfrm>
            <a:off x="141340" y="2590803"/>
            <a:ext cx="23943880" cy="2401467"/>
            <a:chOff x="923003" y="3917552"/>
            <a:chExt cx="23943880" cy="2401466"/>
          </a:xfrm>
        </p:grpSpPr>
        <p:sp>
          <p:nvSpPr>
            <p:cNvPr id="19" name="Rounded Rectangle 41">
              <a:extLst>
                <a:ext uri="{FF2B5EF4-FFF2-40B4-BE49-F238E27FC236}">
                  <a16:creationId xmlns:a16="http://schemas.microsoft.com/office/drawing/2014/main" id="{CC866FB0-B137-49F3-A47E-0B1A18FC432E}"/>
                </a:ext>
              </a:extLst>
            </p:cNvPr>
            <p:cNvSpPr/>
            <p:nvPr/>
          </p:nvSpPr>
          <p:spPr>
            <a:xfrm>
              <a:off x="1272211" y="4426857"/>
              <a:ext cx="23594672" cy="1892161"/>
            </a:xfrm>
            <a:prstGeom prst="roundRect">
              <a:avLst>
                <a:gd name="adj" fmla="val 10158"/>
              </a:avLst>
            </a:prstGeom>
            <a:solidFill>
              <a:srgbClr val="FEEBB0"/>
            </a:solidFill>
            <a:ln w="12700">
              <a:solidFill>
                <a:srgbClr val="91720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                 </a:t>
              </a:r>
              <a:endParaRPr lang="en-US" sz="4800" b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1E96746-B33C-4D41-836E-CA7E0074841E}"/>
                </a:ext>
              </a:extLst>
            </p:cNvPr>
            <p:cNvGrpSpPr/>
            <p:nvPr/>
          </p:nvGrpSpPr>
          <p:grpSpPr>
            <a:xfrm>
              <a:off x="923003" y="3917552"/>
              <a:ext cx="3942102" cy="1040476"/>
              <a:chOff x="923003" y="3917552"/>
              <a:chExt cx="3942102" cy="104047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719E236-B0D7-442E-8A08-3228625765BF}"/>
                  </a:ext>
                </a:extLst>
              </p:cNvPr>
              <p:cNvGrpSpPr/>
              <p:nvPr/>
            </p:nvGrpSpPr>
            <p:grpSpPr>
              <a:xfrm>
                <a:off x="1362045" y="4022855"/>
                <a:ext cx="3503060" cy="865576"/>
                <a:chOff x="2028795" y="4384805"/>
                <a:chExt cx="3503060" cy="865576"/>
              </a:xfrm>
            </p:grpSpPr>
            <p:sp>
              <p:nvSpPr>
                <p:cNvPr id="23" name="Freeform 20">
                  <a:extLst>
                    <a:ext uri="{FF2B5EF4-FFF2-40B4-BE49-F238E27FC236}">
                      <a16:creationId xmlns:a16="http://schemas.microsoft.com/office/drawing/2014/main" id="{B393AAC4-D254-453D-8479-B404D455FF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3364273" y="3082799"/>
                  <a:ext cx="832104" cy="3503060"/>
                </a:xfrm>
                <a:prstGeom prst="round2SameRect">
                  <a:avLst>
                    <a:gd name="adj1" fmla="val 19445"/>
                    <a:gd name="adj2" fmla="val 0"/>
                  </a:avLst>
                </a:prstGeom>
                <a:solidFill>
                  <a:srgbClr val="FFF9BC"/>
                </a:solidFill>
                <a:ln w="57150">
                  <a:solidFill>
                    <a:srgbClr val="91720D"/>
                  </a:solidFill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641E29D-906E-4634-ADED-96B1E8DA8216}"/>
                    </a:ext>
                  </a:extLst>
                </p:cNvPr>
                <p:cNvSpPr txBox="1"/>
                <p:nvPr/>
              </p:nvSpPr>
              <p:spPr>
                <a:xfrm>
                  <a:off x="2542253" y="4384805"/>
                  <a:ext cx="2895398" cy="800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vi-VN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CÂU</a:t>
                  </a:r>
                  <a:r>
                    <a:rPr lang="en-US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6</a:t>
                  </a:r>
                  <a:r>
                    <a:rPr lang="vi-VN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</a:t>
                  </a:r>
                  <a:endParaRPr lang="en-US" sz="46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50C43C-37F7-4A87-880E-749F8F1583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99" t="21515" r="9759" b="14519"/>
              <a:stretch/>
            </p:blipFill>
            <p:spPr>
              <a:xfrm>
                <a:off x="923003" y="3917552"/>
                <a:ext cx="1076356" cy="1040476"/>
              </a:xfrm>
              <a:prstGeom prst="round2DiagRect">
                <a:avLst>
                  <a:gd name="adj1" fmla="val 30509"/>
                  <a:gd name="adj2" fmla="val 0"/>
                </a:avLst>
              </a:prstGeom>
              <a:ln w="38100" cap="sq">
                <a:solidFill>
                  <a:srgbClr val="91720D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818C57C-1988-4D43-859D-82DC91340849}"/>
              </a:ext>
            </a:extLst>
          </p:cNvPr>
          <p:cNvGrpSpPr/>
          <p:nvPr/>
        </p:nvGrpSpPr>
        <p:grpSpPr>
          <a:xfrm>
            <a:off x="-72643" y="1572056"/>
            <a:ext cx="19656043" cy="830997"/>
            <a:chOff x="-288923" y="1892299"/>
            <a:chExt cx="19659598" cy="830996"/>
          </a:xfrm>
        </p:grpSpPr>
        <p:sp>
          <p:nvSpPr>
            <p:cNvPr id="26" name="Rounded Rectangle 2">
              <a:extLst>
                <a:ext uri="{FF2B5EF4-FFF2-40B4-BE49-F238E27FC236}">
                  <a16:creationId xmlns:a16="http://schemas.microsoft.com/office/drawing/2014/main" id="{0A9E6F3C-C9C6-4653-8688-729C6539C260}"/>
                </a:ext>
              </a:extLst>
            </p:cNvPr>
            <p:cNvSpPr/>
            <p:nvPr/>
          </p:nvSpPr>
          <p:spPr>
            <a:xfrm>
              <a:off x="-288923" y="2052547"/>
              <a:ext cx="2130429" cy="657125"/>
            </a:xfrm>
            <a:prstGeom prst="roundRect">
              <a:avLst/>
            </a:prstGeom>
            <a:solidFill>
              <a:srgbClr val="145F8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241A601-B9CB-4799-9262-795745D3C127}"/>
                </a:ext>
              </a:extLst>
            </p:cNvPr>
            <p:cNvSpPr txBox="1"/>
            <p:nvPr/>
          </p:nvSpPr>
          <p:spPr>
            <a:xfrm>
              <a:off x="1082674" y="1922269"/>
              <a:ext cx="184764" cy="7540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b="1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F08DB64-BC2D-418D-8BD5-391B8CF3BEA4}"/>
                </a:ext>
              </a:extLst>
            </p:cNvPr>
            <p:cNvSpPr txBox="1"/>
            <p:nvPr/>
          </p:nvSpPr>
          <p:spPr>
            <a:xfrm>
              <a:off x="2087562" y="1892299"/>
              <a:ext cx="17283113" cy="830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b="1" dirty="0">
                  <a:solidFill>
                    <a:srgbClr val="145F82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 BÀI TẬP TRẮC NGHIỆM CỦNG CỐ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FB11C65-8BD6-48B2-A424-E6F4B06755C4}"/>
                  </a:ext>
                </a:extLst>
              </p:cNvPr>
              <p:cNvSpPr txBox="1"/>
              <p:nvPr/>
            </p:nvSpPr>
            <p:spPr>
              <a:xfrm>
                <a:off x="2370921" y="8189785"/>
                <a:ext cx="19498479" cy="32586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800" b="1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fr-FR" sz="4800" b="1" dirty="0"/>
                  <a:t>Ta </a:t>
                </a:r>
                <a:r>
                  <a:rPr lang="fr-FR" sz="4800" b="1" dirty="0" err="1"/>
                  <a:t>có</a:t>
                </a:r>
                <a:r>
                  <a:rPr lang="fr-FR" sz="4800" b="1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⃗"/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sz="4800" b="1" i="1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e>
                            </m:acc>
                            <m:r>
                              <a:rPr lang="fr-FR" sz="4800" b="1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acc>
                              <m:accPr>
                                <m:chr m:val="⃗"/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sz="4800" b="1" i="1">
                                    <a:latin typeface="Cambria Math" panose="02040503050406030204" pitchFamily="18" charset="0"/>
                                  </a:rPr>
                                  <m:t>𝑪𝑩</m:t>
                                </m:r>
                              </m:e>
                            </m:acc>
                            <m:r>
                              <a:rPr lang="fr-FR" sz="4800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sz="4800" b="1" i="1">
                                <a:latin typeface="Cambria Math" panose="02040503050406030204" pitchFamily="18" charset="0"/>
                              </a:rPr>
                              <m:t>𝟗</m:t>
                            </m:r>
                          </m:e>
                          <m:e>
                            <m:acc>
                              <m:accPr>
                                <m:chr m:val="⃗"/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sz="4800" b="1" i="1">
                                    <a:latin typeface="Cambria Math" panose="02040503050406030204" pitchFamily="18" charset="0"/>
                                  </a:rPr>
                                  <m:t>𝑨𝑪</m:t>
                                </m:r>
                              </m:e>
                            </m:acc>
                            <m:r>
                              <a:rPr lang="fr-FR" sz="4800" b="1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acc>
                              <m:accPr>
                                <m:chr m:val="⃗"/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sz="4800" b="1" i="1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e>
                            </m:acc>
                            <m:r>
                              <a:rPr lang="fr-FR" sz="4800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sz="48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eqArr>
                      </m:e>
                    </m:d>
                    <m:r>
                      <a:rPr lang="fr-FR" sz="4800" b="1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{"/>
                        <m:endChr m:val="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acc>
                              <m:accPr>
                                <m:chr m:val="⃗"/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sz="4800" b="1" i="1">
                                    <a:latin typeface="Cambria Math" panose="02040503050406030204" pitchFamily="18" charset="0"/>
                                  </a:rPr>
                                  <m:t>𝑨𝑩</m:t>
                                </m:r>
                              </m:e>
                            </m:acc>
                            <m:r>
                              <a:rPr lang="fr-FR" sz="4800" b="1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d>
                              <m:dPr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4800" b="1" i="1">
                                        <a:latin typeface="Cambria Math" panose="02040503050406030204" pitchFamily="18" charset="0"/>
                                      </a:rPr>
                                      <m:t>𝑨𝑩</m:t>
                                    </m:r>
                                  </m:e>
                                </m:acc>
                                <m:r>
                                  <a:rPr lang="fr-FR" sz="48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4800" b="1" i="1">
                                        <a:latin typeface="Cambria Math" panose="02040503050406030204" pitchFamily="18" charset="0"/>
                                      </a:rPr>
                                      <m:t>𝑨𝑪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fr-FR" sz="4800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sz="4800" b="1" i="1">
                                <a:latin typeface="Cambria Math" panose="02040503050406030204" pitchFamily="18" charset="0"/>
                              </a:rPr>
                              <m:t>𝟗</m:t>
                            </m:r>
                          </m:e>
                          <m:e>
                            <m:acc>
                              <m:accPr>
                                <m:chr m:val="⃗"/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sz="4800" b="1" i="1">
                                    <a:latin typeface="Cambria Math" panose="02040503050406030204" pitchFamily="18" charset="0"/>
                                  </a:rPr>
                                  <m:t>𝑨𝑪</m:t>
                                </m:r>
                              </m:e>
                            </m:acc>
                            <m:r>
                              <a:rPr lang="fr-FR" sz="4800" b="1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d>
                              <m:dPr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4800" b="1" i="1">
                                        <a:latin typeface="Cambria Math" panose="02040503050406030204" pitchFamily="18" charset="0"/>
                                      </a:rPr>
                                      <m:t>𝑨𝑪</m:t>
                                    </m:r>
                                  </m:e>
                                </m:acc>
                                <m:r>
                                  <a:rPr lang="fr-FR" sz="48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fr-FR" sz="4800" b="1" i="1">
                                        <a:latin typeface="Cambria Math" panose="02040503050406030204" pitchFamily="18" charset="0"/>
                                      </a:rPr>
                                      <m:t>𝑨𝑩</m:t>
                                    </m:r>
                                  </m:e>
                                </m:acc>
                              </m:e>
                            </m:d>
                            <m:r>
                              <a:rPr lang="fr-FR" sz="4800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sz="48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eqArr>
                      </m:e>
                    </m:d>
                    <m:r>
                      <a:rPr lang="fr-FR" sz="4800" b="1" i="1">
                        <a:latin typeface="Cambria Math" panose="02040503050406030204" pitchFamily="18" charset="0"/>
                      </a:rPr>
                      <m:t>⇔</m:t>
                    </m:r>
                    <m:d>
                      <m:dPr>
                        <m:begChr m:val="{"/>
                        <m:endChr m:val="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sz="4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4800" b="1" i="1">
                                            <a:latin typeface="Cambria Math" panose="02040503050406030204" pitchFamily="18" charset="0"/>
                                          </a:rPr>
                                          <m:t>𝑨𝑩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fr-FR" sz="4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fr-FR" sz="4800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sz="4800" b="1" i="1">
                                <a:latin typeface="Cambria Math" panose="02040503050406030204" pitchFamily="18" charset="0"/>
                              </a:rPr>
                              <m:t>𝟗</m:t>
                            </m:r>
                          </m:e>
                          <m:e>
                            <m:sSup>
                              <m:sSupPr>
                                <m:ctrlPr>
                                  <a:rPr lang="en-US" sz="4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4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sz="48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fr-FR" sz="4800" b="1" i="1">
                                            <a:latin typeface="Cambria Math" panose="02040503050406030204" pitchFamily="18" charset="0"/>
                                          </a:rPr>
                                          <m:t>𝑨𝑪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fr-FR" sz="48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fr-FR" sz="4800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fr-FR" sz="48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eqArr>
                      </m:e>
                    </m:d>
                  </m:oMath>
                </a14:m>
                <a:endParaRPr lang="en-US" sz="4800" b="1" i="1" dirty="0"/>
              </a:p>
              <a:p>
                <a14:m>
                  <m:oMath xmlns:m="http://schemas.openxmlformats.org/officeDocument/2006/math">
                    <m:r>
                      <a:rPr lang="fr-FR" sz="4800" b="1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fr-FR" sz="4800" b="1" i="1">
                        <a:latin typeface="Cambria Math" panose="02040503050406030204" pitchFamily="18" charset="0"/>
                      </a:rPr>
                      <m:t>𝑩𝑪</m:t>
                    </m:r>
                    <m:r>
                      <a:rPr lang="fr-FR" sz="4800" b="1" i="1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𝟗</m:t>
                        </m:r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  <m:r>
                      <a:rPr lang="fr-FR" sz="4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4800" b="1" i="1">
                        <a:latin typeface="Cambria Math" panose="02040503050406030204" pitchFamily="18" charset="0"/>
                      </a:rPr>
                      <m:t>𝟐</m:t>
                    </m:r>
                    <m:rad>
                      <m:radPr>
                        <m:degHide m:val="on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</m:oMath>
                </a14:m>
                <a:r>
                  <a:rPr lang="fr-FR" sz="4800" b="1" dirty="0"/>
                  <a:t>.</a:t>
                </a:r>
                <a:endParaRPr lang="en-US" sz="48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FB11C65-8BD6-48B2-A424-E6F4B0675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921" y="8189785"/>
                <a:ext cx="19498479" cy="3258649"/>
              </a:xfrm>
              <a:prstGeom prst="rect">
                <a:avLst/>
              </a:prstGeom>
              <a:blipFill>
                <a:blip r:embed="rId8"/>
                <a:stretch>
                  <a:fillRect l="-531" b="-9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/>
              <p:nvPr/>
            </p:nvSpPr>
            <p:spPr>
              <a:xfrm>
                <a:off x="1391071" y="3617568"/>
                <a:ext cx="22204828" cy="9254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4800" b="1" dirty="0"/>
                  <a:t>Cho </a:t>
                </a:r>
                <a:r>
                  <a:rPr lang="fr-FR" sz="4800" b="1" dirty="0" err="1"/>
                  <a:t>tam</a:t>
                </a:r>
                <a:r>
                  <a:rPr lang="fr-FR" sz="4800" b="1" dirty="0"/>
                  <a:t> </a:t>
                </a:r>
                <a:r>
                  <a:rPr lang="fr-FR" sz="4800" b="1" dirty="0" err="1"/>
                  <a:t>giác</a:t>
                </a:r>
                <a14:m>
                  <m:oMath xmlns:m="http://schemas.openxmlformats.org/officeDocument/2006/math">
                    <m:r>
                      <a:rPr lang="en-US" sz="48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48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fr-FR" sz="4800" b="1" dirty="0"/>
                  <a:t> </a:t>
                </a:r>
                <a:r>
                  <a:rPr lang="fr-FR" sz="4800" b="1" dirty="0" err="1"/>
                  <a:t>vuông</a:t>
                </a:r>
                <a:r>
                  <a:rPr lang="fr-FR" sz="4800" b="1" dirty="0"/>
                  <a:t> </a:t>
                </a:r>
                <a:r>
                  <a:rPr lang="fr-FR" sz="4800" b="1" dirty="0" err="1"/>
                  <a:t>tại</a:t>
                </a:r>
                <a:r>
                  <a:rPr lang="fr-FR" sz="4800" b="1" dirty="0"/>
                  <a:t> </a:t>
                </a:r>
                <a14:m>
                  <m:oMath xmlns:m="http://schemas.openxmlformats.org/officeDocument/2006/math">
                    <m:r>
                      <a:rPr lang="fr-FR" sz="4800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fr-FR" sz="4800" b="1" dirty="0"/>
                  <a:t> </a:t>
                </a:r>
                <a:r>
                  <a:rPr lang="fr-FR" sz="4800" b="1" dirty="0" err="1"/>
                  <a:t>và</a:t>
                </a:r>
                <a:r>
                  <a:rPr lang="fr-FR" sz="48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fr-FR" sz="4800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𝑪𝑩</m:t>
                        </m:r>
                      </m:e>
                    </m:acc>
                    <m:r>
                      <a:rPr lang="fr-FR" sz="4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4800" b="1" i="1">
                        <a:latin typeface="Cambria Math" panose="02040503050406030204" pitchFamily="18" charset="0"/>
                      </a:rPr>
                      <m:t>𝟗</m:t>
                    </m:r>
                    <m:sSub>
                      <m:sSub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;</m:t>
                        </m:r>
                      </m:e>
                      <m:sub/>
                    </m:sSub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r>
                      <a:rPr lang="fr-FR" sz="4800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4800" b="1" i="1">
                            <a:latin typeface="Cambria Math" panose="02040503050406030204" pitchFamily="18" charset="0"/>
                          </a:rPr>
                          <m:t>𝑩𝑪</m:t>
                        </m:r>
                      </m:e>
                    </m:acc>
                    <m:r>
                      <a:rPr lang="fr-FR" sz="4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4800" b="1" i="1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fr-FR" sz="4800" b="1" dirty="0"/>
                  <a:t>. </a:t>
                </a:r>
                <a:r>
                  <a:rPr lang="fr-FR" sz="4800" b="1" dirty="0" err="1"/>
                  <a:t>Độ</a:t>
                </a:r>
                <a:r>
                  <a:rPr lang="fr-FR" sz="4800" b="1" dirty="0"/>
                  <a:t> </a:t>
                </a:r>
                <a:r>
                  <a:rPr lang="fr-FR" sz="4800" b="1" dirty="0" err="1"/>
                  <a:t>dài</a:t>
                </a:r>
                <a:r>
                  <a:rPr lang="fr-FR" sz="4800" b="1" dirty="0"/>
                  <a:t> </a:t>
                </a:r>
                <a:r>
                  <a:rPr lang="fr-FR" sz="4800" b="1" dirty="0" err="1"/>
                  <a:t>cạnh</a:t>
                </a:r>
                <a:r>
                  <a:rPr lang="fr-FR" sz="4800" b="1" dirty="0"/>
                  <a:t> </a:t>
                </a:r>
                <a14:m>
                  <m:oMath xmlns:m="http://schemas.openxmlformats.org/officeDocument/2006/math">
                    <m:r>
                      <a:rPr lang="fr-FR" sz="4800" b="1" i="1">
                        <a:latin typeface="Cambria Math" panose="02040503050406030204" pitchFamily="18" charset="0"/>
                      </a:rPr>
                      <m:t>𝑩𝑪</m:t>
                    </m:r>
                  </m:oMath>
                </a14:m>
                <a:r>
                  <a:rPr lang="fr-FR" sz="4800" b="1" dirty="0"/>
                  <a:t> </a:t>
                </a:r>
                <a:r>
                  <a:rPr lang="fr-FR" sz="4800" b="1" dirty="0" err="1"/>
                  <a:t>bằng</a:t>
                </a:r>
                <a:r>
                  <a:rPr lang="vi-VN" sz="4800" b="1" dirty="0"/>
                  <a:t>?</a:t>
                </a:r>
                <a:endParaRPr lang="en-US" sz="4800" b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071" y="3617568"/>
                <a:ext cx="22204828" cy="925446"/>
              </a:xfrm>
              <a:prstGeom prst="rect">
                <a:avLst/>
              </a:prstGeom>
              <a:blipFill>
                <a:blip r:embed="rId9"/>
                <a:stretch>
                  <a:fillRect l="-1235" t="-7237" b="-34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73C3CF5C-1143-48B0-96F6-576266D875C3}"/>
              </a:ext>
            </a:extLst>
          </p:cNvPr>
          <p:cNvSpPr txBox="1"/>
          <p:nvPr/>
        </p:nvSpPr>
        <p:spPr>
          <a:xfrm>
            <a:off x="669002" y="1685889"/>
            <a:ext cx="982961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III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419C482-116A-4893-8FDE-8CB9B6D14733}"/>
              </a:ext>
            </a:extLst>
          </p:cNvPr>
          <p:cNvSpPr/>
          <p:nvPr/>
        </p:nvSpPr>
        <p:spPr>
          <a:xfrm>
            <a:off x="12687317" y="5241923"/>
            <a:ext cx="1080000" cy="108000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400" b="1" dirty="0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</a:t>
            </a:r>
            <a:endParaRPr lang="en-US" sz="6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0210374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313519-0C89-483D-A08E-CF6067282148}"/>
              </a:ext>
            </a:extLst>
          </p:cNvPr>
          <p:cNvGrpSpPr/>
          <p:nvPr/>
        </p:nvGrpSpPr>
        <p:grpSpPr>
          <a:xfrm>
            <a:off x="141341" y="6571576"/>
            <a:ext cx="23862374" cy="6412385"/>
            <a:chOff x="48567" y="4381499"/>
            <a:chExt cx="23018772" cy="5716249"/>
          </a:xfrm>
          <a:solidFill>
            <a:srgbClr val="DAE3F3"/>
          </a:solidFill>
        </p:grpSpPr>
        <p:sp>
          <p:nvSpPr>
            <p:cNvPr id="3" name="Rounded Rectangle 52">
              <a:extLst>
                <a:ext uri="{FF2B5EF4-FFF2-40B4-BE49-F238E27FC236}">
                  <a16:creationId xmlns:a16="http://schemas.microsoft.com/office/drawing/2014/main" id="{5B1AB244-3D78-416D-AEF1-35CC4562B7A3}"/>
                </a:ext>
              </a:extLst>
            </p:cNvPr>
            <p:cNvSpPr/>
            <p:nvPr/>
          </p:nvSpPr>
          <p:spPr>
            <a:xfrm>
              <a:off x="385312" y="4941556"/>
              <a:ext cx="22682027" cy="5156192"/>
            </a:xfrm>
            <a:prstGeom prst="roundRect">
              <a:avLst>
                <a:gd name="adj" fmla="val 2239"/>
              </a:avLst>
            </a:prstGeom>
            <a:grpFill/>
            <a:ln w="28575">
              <a:solidFill>
                <a:schemeClr val="accent3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8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endParaRPr lang="en-US" sz="4800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6FC852D-338F-4593-BDAE-4432C24EAC82}"/>
                </a:ext>
              </a:extLst>
            </p:cNvPr>
            <p:cNvGrpSpPr/>
            <p:nvPr/>
          </p:nvGrpSpPr>
          <p:grpSpPr>
            <a:xfrm>
              <a:off x="48567" y="4381499"/>
              <a:ext cx="3991940" cy="1079474"/>
              <a:chOff x="410517" y="4648199"/>
              <a:chExt cx="3991940" cy="1079474"/>
            </a:xfrm>
            <a:grpFill/>
          </p:grpSpPr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20085AD8-BD87-4A35-B6D4-9AE383128185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2421084" y="3633167"/>
                <a:ext cx="966341" cy="2996405"/>
              </a:xfrm>
              <a:prstGeom prst="round1Rect">
                <a:avLst/>
              </a:prstGeom>
              <a:grpFill/>
              <a:ln w="57150"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8C0313-9358-457E-845F-D4B035AC31D3}"/>
                  </a:ext>
                </a:extLst>
              </p:cNvPr>
              <p:cNvSpPr txBox="1"/>
              <p:nvPr/>
            </p:nvSpPr>
            <p:spPr>
              <a:xfrm>
                <a:off x="1406054" y="4732063"/>
                <a:ext cx="2872839" cy="800219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6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 giải</a:t>
                </a:r>
                <a:endParaRPr lang="en-US" sz="4600" b="1" dirty="0">
                  <a:solidFill>
                    <a:prstClr val="black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B75B5B9-D442-4C6E-96A9-9A573FE06D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50" t="14860" r="18922" b="25555"/>
              <a:stretch/>
            </p:blipFill>
            <p:spPr>
              <a:xfrm>
                <a:off x="410517" y="4648200"/>
                <a:ext cx="1058947" cy="1079473"/>
              </a:xfrm>
              <a:prstGeom prst="round2DiagRect">
                <a:avLst>
                  <a:gd name="adj1" fmla="val 27632"/>
                  <a:gd name="adj2" fmla="val 0"/>
                </a:avLst>
              </a:prstGeom>
              <a:grpFill/>
              <a:ln w="38100" cap="sq">
                <a:solidFill>
                  <a:schemeClr val="accent6">
                    <a:lumMod val="50000"/>
                  </a:schemeClr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A8B4DB7-EFF8-4AF8-B0FA-839D4C447E82}"/>
              </a:ext>
            </a:extLst>
          </p:cNvPr>
          <p:cNvGrpSpPr/>
          <p:nvPr/>
        </p:nvGrpSpPr>
        <p:grpSpPr>
          <a:xfrm>
            <a:off x="620483" y="5105400"/>
            <a:ext cx="23556178" cy="1234536"/>
            <a:chOff x="241306" y="2243792"/>
            <a:chExt cx="11778089" cy="617268"/>
          </a:xfrm>
          <a:solidFill>
            <a:srgbClr val="327E3B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/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4400" b="1" i="0">
                          <a:latin typeface="Cambria Math" panose="02040503050406030204" pitchFamily="18" charset="0"/>
                        </a:rPr>
                        <m:t>𝟔𝟎</m:t>
                      </m:r>
                      <m:r>
                        <a:rPr lang="en-US" sz="4400" b="1" i="0">
                          <a:latin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lang="en-US" sz="5400" b="1" dirty="0">
                      <a:solidFill>
                        <a:prstClr val="white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blipFill>
                  <a:blip r:embed="rId3"/>
                  <a:stretch>
                    <a:fillRect b="-14692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78679C-83F1-4149-AB69-2BCAF6D951FA}"/>
                </a:ext>
              </a:extLst>
            </p:cNvPr>
            <p:cNvSpPr/>
            <p:nvPr/>
          </p:nvSpPr>
          <p:spPr>
            <a:xfrm>
              <a:off x="3247742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/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4400" b="1" i="0">
                          <a:latin typeface="Cambria Math" panose="02040503050406030204" pitchFamily="18" charset="0"/>
                        </a:rPr>
                        <m:t>𝟑𝟎</m:t>
                      </m:r>
                      <m:r>
                        <a:rPr lang="en-US" sz="4400" b="1" i="0">
                          <a:latin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lang="en-US" sz="4400" b="1" dirty="0">
                      <a:solidFill>
                        <a:prstClr val="white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blipFill>
                  <a:blip r:embed="rId4"/>
                  <a:stretch>
                    <a:fillRect b="-1896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88947F5-5540-4A85-BACE-6641A507F5A0}"/>
                </a:ext>
              </a:extLst>
            </p:cNvPr>
            <p:cNvSpPr/>
            <p:nvPr/>
          </p:nvSpPr>
          <p:spPr>
            <a:xfrm>
              <a:off x="241306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A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/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4400" b="1" i="0">
                          <a:latin typeface="Cambria Math" panose="02040503050406030204" pitchFamily="18" charset="0"/>
                        </a:rPr>
                        <m:t>𝟏𝟐𝟎</m:t>
                      </m:r>
                      <m:r>
                        <a:rPr lang="en-US" sz="4400" b="1" i="0">
                          <a:latin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lang="en-US" sz="5400" b="1" dirty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blipFill>
                  <a:blip r:embed="rId5"/>
                  <a:stretch>
                    <a:fillRect b="-14692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7BF74FF-3652-4371-9E0B-A97FA806BC48}"/>
                </a:ext>
              </a:extLst>
            </p:cNvPr>
            <p:cNvSpPr/>
            <p:nvPr/>
          </p:nvSpPr>
          <p:spPr>
            <a:xfrm>
              <a:off x="6254178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/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4400" b="1" i="0">
                          <a:latin typeface="Cambria Math" panose="02040503050406030204" pitchFamily="18" charset="0"/>
                        </a:rPr>
                        <m:t>𝟏𝟓𝟎</m:t>
                      </m:r>
                      <m:r>
                        <a:rPr lang="en-US" sz="4400" b="1" i="0">
                          <a:latin typeface="Cambria Math" panose="02040503050406030204" pitchFamily="18" charset="0"/>
                        </a:rPr>
                        <m:t>°</m:t>
                      </m:r>
                    </m:oMath>
                  </a14:m>
                  <a:r>
                    <a:rPr lang="en-US" sz="5400" b="1" dirty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blipFill>
                  <a:blip r:embed="rId6"/>
                  <a:stretch>
                    <a:fillRect b="-14692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B907C0F-6FC4-4852-8CFD-AD2FACA13C7F}"/>
                </a:ext>
              </a:extLst>
            </p:cNvPr>
            <p:cNvSpPr/>
            <p:nvPr/>
          </p:nvSpPr>
          <p:spPr>
            <a:xfrm>
              <a:off x="9260615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06450E-ACA8-42F7-B878-4360BA0CBA71}"/>
              </a:ext>
            </a:extLst>
          </p:cNvPr>
          <p:cNvGrpSpPr/>
          <p:nvPr/>
        </p:nvGrpSpPr>
        <p:grpSpPr>
          <a:xfrm>
            <a:off x="141340" y="2590803"/>
            <a:ext cx="23943880" cy="2401467"/>
            <a:chOff x="923003" y="3917552"/>
            <a:chExt cx="23943880" cy="2401466"/>
          </a:xfrm>
        </p:grpSpPr>
        <p:sp>
          <p:nvSpPr>
            <p:cNvPr id="19" name="Rounded Rectangle 41">
              <a:extLst>
                <a:ext uri="{FF2B5EF4-FFF2-40B4-BE49-F238E27FC236}">
                  <a16:creationId xmlns:a16="http://schemas.microsoft.com/office/drawing/2014/main" id="{CC866FB0-B137-49F3-A47E-0B1A18FC432E}"/>
                </a:ext>
              </a:extLst>
            </p:cNvPr>
            <p:cNvSpPr/>
            <p:nvPr/>
          </p:nvSpPr>
          <p:spPr>
            <a:xfrm>
              <a:off x="1272211" y="4426857"/>
              <a:ext cx="23594672" cy="1892161"/>
            </a:xfrm>
            <a:prstGeom prst="roundRect">
              <a:avLst>
                <a:gd name="adj" fmla="val 10158"/>
              </a:avLst>
            </a:prstGeom>
            <a:solidFill>
              <a:srgbClr val="FEEBB0"/>
            </a:solidFill>
            <a:ln w="12700">
              <a:solidFill>
                <a:srgbClr val="91720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                 </a:t>
              </a:r>
              <a:endParaRPr lang="en-US" sz="4800" b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1E96746-B33C-4D41-836E-CA7E0074841E}"/>
                </a:ext>
              </a:extLst>
            </p:cNvPr>
            <p:cNvGrpSpPr/>
            <p:nvPr/>
          </p:nvGrpSpPr>
          <p:grpSpPr>
            <a:xfrm>
              <a:off x="923003" y="3917552"/>
              <a:ext cx="3942102" cy="1040476"/>
              <a:chOff x="923003" y="3917552"/>
              <a:chExt cx="3942102" cy="104047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719E236-B0D7-442E-8A08-3228625765BF}"/>
                  </a:ext>
                </a:extLst>
              </p:cNvPr>
              <p:cNvGrpSpPr/>
              <p:nvPr/>
            </p:nvGrpSpPr>
            <p:grpSpPr>
              <a:xfrm>
                <a:off x="1362045" y="4022855"/>
                <a:ext cx="3503060" cy="865576"/>
                <a:chOff x="2028795" y="4384805"/>
                <a:chExt cx="3503060" cy="865576"/>
              </a:xfrm>
            </p:grpSpPr>
            <p:sp>
              <p:nvSpPr>
                <p:cNvPr id="23" name="Freeform 20">
                  <a:extLst>
                    <a:ext uri="{FF2B5EF4-FFF2-40B4-BE49-F238E27FC236}">
                      <a16:creationId xmlns:a16="http://schemas.microsoft.com/office/drawing/2014/main" id="{B393AAC4-D254-453D-8479-B404D455FF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3364273" y="3082799"/>
                  <a:ext cx="832104" cy="3503060"/>
                </a:xfrm>
                <a:prstGeom prst="round2SameRect">
                  <a:avLst>
                    <a:gd name="adj1" fmla="val 19445"/>
                    <a:gd name="adj2" fmla="val 0"/>
                  </a:avLst>
                </a:prstGeom>
                <a:solidFill>
                  <a:srgbClr val="FFF9BC"/>
                </a:solidFill>
                <a:ln w="57150">
                  <a:solidFill>
                    <a:srgbClr val="91720D"/>
                  </a:solidFill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641E29D-906E-4634-ADED-96B1E8DA8216}"/>
                    </a:ext>
                  </a:extLst>
                </p:cNvPr>
                <p:cNvSpPr txBox="1"/>
                <p:nvPr/>
              </p:nvSpPr>
              <p:spPr>
                <a:xfrm>
                  <a:off x="2542253" y="4384805"/>
                  <a:ext cx="2895398" cy="800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vi-VN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CÂU</a:t>
                  </a:r>
                  <a:r>
                    <a:rPr lang="en-US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7</a:t>
                  </a:r>
                  <a:r>
                    <a:rPr lang="vi-VN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</a:t>
                  </a:r>
                  <a:endParaRPr lang="en-US" sz="46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50C43C-37F7-4A87-880E-749F8F1583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99" t="21515" r="9759" b="14519"/>
              <a:stretch/>
            </p:blipFill>
            <p:spPr>
              <a:xfrm>
                <a:off x="923003" y="3917552"/>
                <a:ext cx="1076356" cy="1040476"/>
              </a:xfrm>
              <a:prstGeom prst="round2DiagRect">
                <a:avLst>
                  <a:gd name="adj1" fmla="val 30509"/>
                  <a:gd name="adj2" fmla="val 0"/>
                </a:avLst>
              </a:prstGeom>
              <a:ln w="38100" cap="sq">
                <a:solidFill>
                  <a:srgbClr val="91720D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818C57C-1988-4D43-859D-82DC91340849}"/>
              </a:ext>
            </a:extLst>
          </p:cNvPr>
          <p:cNvGrpSpPr/>
          <p:nvPr/>
        </p:nvGrpSpPr>
        <p:grpSpPr>
          <a:xfrm>
            <a:off x="-72643" y="1572056"/>
            <a:ext cx="19656043" cy="830997"/>
            <a:chOff x="-288923" y="1892299"/>
            <a:chExt cx="19659598" cy="830996"/>
          </a:xfrm>
        </p:grpSpPr>
        <p:sp>
          <p:nvSpPr>
            <p:cNvPr id="26" name="Rounded Rectangle 2">
              <a:extLst>
                <a:ext uri="{FF2B5EF4-FFF2-40B4-BE49-F238E27FC236}">
                  <a16:creationId xmlns:a16="http://schemas.microsoft.com/office/drawing/2014/main" id="{0A9E6F3C-C9C6-4653-8688-729C6539C260}"/>
                </a:ext>
              </a:extLst>
            </p:cNvPr>
            <p:cNvSpPr/>
            <p:nvPr/>
          </p:nvSpPr>
          <p:spPr>
            <a:xfrm>
              <a:off x="-288923" y="2052547"/>
              <a:ext cx="2130429" cy="657125"/>
            </a:xfrm>
            <a:prstGeom prst="roundRect">
              <a:avLst/>
            </a:prstGeom>
            <a:solidFill>
              <a:srgbClr val="145F8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241A601-B9CB-4799-9262-795745D3C127}"/>
                </a:ext>
              </a:extLst>
            </p:cNvPr>
            <p:cNvSpPr txBox="1"/>
            <p:nvPr/>
          </p:nvSpPr>
          <p:spPr>
            <a:xfrm>
              <a:off x="1082674" y="1922269"/>
              <a:ext cx="184764" cy="7540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b="1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F08DB64-BC2D-418D-8BD5-391B8CF3BEA4}"/>
                </a:ext>
              </a:extLst>
            </p:cNvPr>
            <p:cNvSpPr txBox="1"/>
            <p:nvPr/>
          </p:nvSpPr>
          <p:spPr>
            <a:xfrm>
              <a:off x="2087562" y="1892299"/>
              <a:ext cx="17283113" cy="830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b="1" dirty="0">
                  <a:solidFill>
                    <a:srgbClr val="145F82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 BÀI TẬP TRẮC NGHIỆM CỦNG CỐ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FB11C65-8BD6-48B2-A424-E6F4B06755C4}"/>
                  </a:ext>
                </a:extLst>
              </p:cNvPr>
              <p:cNvSpPr txBox="1"/>
              <p:nvPr/>
            </p:nvSpPr>
            <p:spPr>
              <a:xfrm>
                <a:off x="490428" y="7749676"/>
                <a:ext cx="23970564" cy="53487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800" b="1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</a:t>
                </a:r>
                <a:r>
                  <a:rPr lang="en-US" sz="4400" b="1" dirty="0"/>
                  <a:t>Ta </a:t>
                </a:r>
                <a:r>
                  <a:rPr lang="en-US" sz="4400" b="1" dirty="0" err="1"/>
                  <a:t>có</a:t>
                </a:r>
                <a:r>
                  <a:rPr lang="en-US" sz="4400" b="1" dirty="0"/>
                  <a:t>: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•</m:t>
                    </m:r>
                    <m:d>
                      <m:dPr>
                        <m:begChr m:val="|"/>
                        <m:endChr m:val="|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acc>
                      </m:e>
                    </m:d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⇔</m:t>
                    </m:r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𝟒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𝟒</m:t>
                    </m:r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acc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⇒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4400" b="1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>
                          <a:latin typeface="Cambria Math" panose="02040503050406030204" pitchFamily="18" charset="0"/>
                        </a:rPr>
                        <m:t>•</m:t>
                      </m:r>
                      <m:d>
                        <m:d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acc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acc>
                        </m:e>
                      </m:d>
                      <m:r>
                        <a:rPr lang="en-US" sz="4400" b="1" i="1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acc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acc>
                        </m:e>
                      </m:d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acc>
                        </m:e>
                        <m:sup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acc>
                        </m:e>
                        <m:sup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.     •</m:t>
                      </m:r>
                      <m:sSup>
                        <m:sSup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acc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acc>
                        </m:e>
                        <m:sup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𝟐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acc>
                        </m:e>
                        <m:sup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⇒|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|=</m:t>
                      </m:r>
                      <m:rad>
                        <m:radPr>
                          <m:degHide m:val="on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  <m:r>
                        <a:rPr lang="en-US" sz="4400" b="1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4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>
                          <a:latin typeface="Cambria Math" panose="02040503050406030204" pitchFamily="18" charset="0"/>
                        </a:rPr>
                        <m:t>•</m:t>
                      </m:r>
                      <m:sSup>
                        <m:sSup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acc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acc>
                                <m:accPr>
                                  <m:chr m:val="⃗"/>
                                  <m:ctrlP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4400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</m:acc>
                        </m:e>
                        <m:sup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𝟒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𝟒</m:t>
                      </m:r>
                      <m:sSup>
                        <m:sSup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4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400" b="1" i="1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</m:e>
                          </m:acc>
                        </m:e>
                        <m:sup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⇒|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𝟐</m:t>
                      </m:r>
                      <m:acc>
                        <m:accPr>
                          <m:chr m:val="⃗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  <m:r>
                        <a:rPr lang="en-US" sz="4400" b="1" i="1">
                          <a:latin typeface="Cambria Math" panose="02040503050406030204" pitchFamily="18" charset="0"/>
                        </a:rPr>
                        <m:t>|=</m:t>
                      </m:r>
                      <m:r>
                        <a:rPr lang="en-US" sz="4400" b="1" i="1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44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  <m:r>
                        <a:rPr lang="en-US" sz="4400" b="1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4400" b="1" dirty="0"/>
              </a:p>
              <a:p>
                <a:r>
                  <a:rPr lang="en-US" sz="4400" b="1" dirty="0" err="1"/>
                  <a:t>Mà</a:t>
                </a:r>
                <a:r>
                  <a:rPr lang="en-US" sz="4400" b="1" dirty="0"/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𝒄𝒐𝒔</m:t>
                        </m:r>
                      </m:fName>
                      <m:e>
                        <m:d>
                          <m:d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acc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acc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acc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acc>
                          </m:e>
                        </m:d>
                      </m:e>
                    </m:fun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acc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acc>
                          </m:e>
                        </m:d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</m:acc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acc>
                              <m:accPr>
                                <m:chr m:val="⃗"/>
                                <m:ctrlP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4400" b="1" i="1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acc>
                          </m:e>
                        </m:d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|.|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  <m:rad>
                          <m:radPr>
                            <m:degHide m:val="on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rad>
                      </m:den>
                    </m:f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4400" b="1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Nên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góc</a:t>
                </a:r>
                <a:r>
                  <a:rPr lang="en-US" sz="4400" b="1" dirty="0"/>
                  <a:t> </a:t>
                </a:r>
                <a:r>
                  <a:rPr lang="en-US" sz="4400" b="1" dirty="0" err="1"/>
                  <a:t>giữa</a:t>
                </a:r>
                <a:r>
                  <a:rPr lang="en-US" sz="4400" b="1" dirty="0"/>
                  <a:t> 2 </a:t>
                </a:r>
                <a:r>
                  <a:rPr lang="en-US" sz="4400" b="1" dirty="0" err="1"/>
                  <a:t>vectơ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và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sz="4400" b="1" dirty="0"/>
                  <a:t> </a:t>
                </a:r>
                <a:r>
                  <a:rPr lang="en-US" sz="4400" b="1" dirty="0" err="1"/>
                  <a:t>bằng</a:t>
                </a:r>
                <a:r>
                  <a:rPr lang="en-US" sz="4400" b="1" dirty="0"/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𝟔𝟎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4400" b="1" dirty="0"/>
                  <a:t>.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FB11C65-8BD6-48B2-A424-E6F4B0675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428" y="7749676"/>
                <a:ext cx="23970564" cy="5348708"/>
              </a:xfrm>
              <a:prstGeom prst="rect">
                <a:avLst/>
              </a:prstGeom>
              <a:blipFill>
                <a:blip r:embed="rId8"/>
                <a:stretch>
                  <a:fillRect l="-1017" b="-4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/>
              <p:nvPr/>
            </p:nvSpPr>
            <p:spPr>
              <a:xfrm>
                <a:off x="1957463" y="3092977"/>
                <a:ext cx="21664538" cy="1788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4800" b="1" dirty="0"/>
                  <a:t>                        Cho 2 </a:t>
                </a:r>
                <a:r>
                  <a:rPr lang="fr-FR" sz="4800" b="1" dirty="0" err="1"/>
                  <a:t>vectơ</a:t>
                </a:r>
                <a:r>
                  <a:rPr lang="fr-FR" sz="48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sz="4800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fr-FR" sz="4800" b="1" dirty="0"/>
                  <a:t> </a:t>
                </a:r>
                <a:r>
                  <a:rPr lang="fr-FR" sz="4800" b="1" dirty="0" err="1"/>
                  <a:t>biết</a:t>
                </a:r>
                <a:r>
                  <a:rPr lang="fr-FR" sz="4800" b="1" dirty="0"/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sz="4800" b="1" i="1">
                        <a:latin typeface="Cambria Math" panose="02040503050406030204" pitchFamily="18" charset="0"/>
                      </a:rPr>
                      <m:t>|=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,|</m:t>
                    </m:r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  <m:r>
                      <a:rPr lang="en-US" sz="4800" b="1" i="1">
                        <a:latin typeface="Cambria Math" panose="02040503050406030204" pitchFamily="18" charset="0"/>
                      </a:rPr>
                      <m:t>|=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fr-FR" sz="4800" b="1" dirty="0"/>
                  <a:t> </a:t>
                </a:r>
                <a:r>
                  <a:rPr lang="fr-FR" sz="4800" b="1" dirty="0" err="1"/>
                  <a:t>và</a:t>
                </a:r>
                <a:r>
                  <a:rPr lang="fr-FR" sz="4800" b="1" dirty="0"/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sz="48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  <m:r>
                      <a:rPr lang="en-US" sz="4800" b="1" i="1">
                        <a:latin typeface="Cambria Math" panose="02040503050406030204" pitchFamily="18" charset="0"/>
                      </a:rPr>
                      <m:t>|=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fr-FR" sz="4800" b="1" dirty="0"/>
                  <a:t>. </a:t>
                </a:r>
                <a:r>
                  <a:rPr lang="en-US" sz="4800" b="1" dirty="0" err="1"/>
                  <a:t>Tính</a:t>
                </a:r>
                <a:r>
                  <a:rPr lang="en-US" sz="4800" b="1" dirty="0"/>
                  <a:t> </a:t>
                </a:r>
                <a:r>
                  <a:rPr lang="en-US" sz="4800" b="1" dirty="0" err="1"/>
                  <a:t>góc</a:t>
                </a:r>
                <a:r>
                  <a:rPr lang="en-US" sz="4800" b="1" dirty="0"/>
                  <a:t> </a:t>
                </a:r>
                <a:r>
                  <a:rPr lang="en-US" sz="4800" b="1" dirty="0" err="1"/>
                  <a:t>giữa</a:t>
                </a:r>
                <a:r>
                  <a:rPr lang="en-US" sz="4800" b="1" dirty="0"/>
                  <a:t> 2 </a:t>
                </a:r>
                <a:r>
                  <a:rPr lang="en-US" sz="4800" b="1" dirty="0" err="1"/>
                  <a:t>vectơ</a:t>
                </a:r>
                <a:r>
                  <a:rPr lang="en-US" sz="48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sz="48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sz="4800" b="1" dirty="0"/>
                  <a:t> </a:t>
                </a:r>
                <a:r>
                  <a:rPr lang="en-US" sz="4800" b="1" dirty="0" err="1"/>
                  <a:t>và</a:t>
                </a:r>
                <a:r>
                  <a:rPr lang="en-US" sz="48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acc>
                    <m:r>
                      <a:rPr lang="en-US" sz="48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𝟐</m:t>
                    </m:r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</m:oMath>
                </a14:m>
                <a:r>
                  <a:rPr lang="en-US" sz="4800" b="1" dirty="0"/>
                  <a:t>.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463" y="3092977"/>
                <a:ext cx="21664538" cy="1788054"/>
              </a:xfrm>
              <a:prstGeom prst="rect">
                <a:avLst/>
              </a:prstGeom>
              <a:blipFill>
                <a:blip r:embed="rId9"/>
                <a:stretch>
                  <a:fillRect l="-1266" t="-1361" r="-366" b="-173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73C3CF5C-1143-48B0-96F6-576266D875C3}"/>
              </a:ext>
            </a:extLst>
          </p:cNvPr>
          <p:cNvSpPr txBox="1"/>
          <p:nvPr/>
        </p:nvSpPr>
        <p:spPr>
          <a:xfrm>
            <a:off x="669002" y="1685889"/>
            <a:ext cx="982961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III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419C482-116A-4893-8FDE-8CB9B6D14733}"/>
              </a:ext>
            </a:extLst>
          </p:cNvPr>
          <p:cNvSpPr/>
          <p:nvPr/>
        </p:nvSpPr>
        <p:spPr>
          <a:xfrm>
            <a:off x="6631556" y="5200933"/>
            <a:ext cx="1080000" cy="108000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400" b="1" dirty="0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endParaRPr lang="en-US" sz="6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8632491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80CE3C4-DAA7-4A0F-8E87-ED076F69185F}"/>
              </a:ext>
            </a:extLst>
          </p:cNvPr>
          <p:cNvGrpSpPr/>
          <p:nvPr/>
        </p:nvGrpSpPr>
        <p:grpSpPr>
          <a:xfrm>
            <a:off x="12725926" y="4238605"/>
            <a:ext cx="11277074" cy="1671800"/>
            <a:chOff x="12439525" y="4540909"/>
            <a:chExt cx="11277074" cy="1671800"/>
          </a:xfrm>
          <a:solidFill>
            <a:srgbClr val="398842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ED60405-6FE9-4B40-9417-CAE23C9ED837}"/>
                </a:ext>
              </a:extLst>
            </p:cNvPr>
            <p:cNvGrpSpPr/>
            <p:nvPr/>
          </p:nvGrpSpPr>
          <p:grpSpPr>
            <a:xfrm>
              <a:off x="12439525" y="4540909"/>
              <a:ext cx="11277074" cy="1671800"/>
              <a:chOff x="6248168" y="2025161"/>
              <a:chExt cx="5638537" cy="835900"/>
            </a:xfrm>
            <a:grpFill/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CA2B41E-3E96-4461-8538-9C0E545FB27A}"/>
                  </a:ext>
                </a:extLst>
              </p:cNvPr>
              <p:cNvSpPr/>
              <p:nvPr/>
            </p:nvSpPr>
            <p:spPr>
              <a:xfrm>
                <a:off x="6544723" y="2025161"/>
                <a:ext cx="2468235" cy="835899"/>
              </a:xfrm>
              <a:prstGeom prst="rect">
                <a:avLst/>
              </a:prstGeom>
              <a:grpFill/>
              <a:ln w="190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400" b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F4C6AFC-ECFF-4896-A74E-0ABF4C0215BE}"/>
                  </a:ext>
                </a:extLst>
              </p:cNvPr>
              <p:cNvSpPr/>
              <p:nvPr/>
            </p:nvSpPr>
            <p:spPr>
              <a:xfrm>
                <a:off x="6248168" y="2189805"/>
                <a:ext cx="544265" cy="540000"/>
              </a:xfrm>
              <a:prstGeom prst="ellipse">
                <a:avLst/>
              </a:prstGeom>
              <a:grpFill/>
              <a:ln w="571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</a:t>
                </a:r>
                <a:endParaRPr lang="en-US" sz="6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5B34D41-D978-4E56-B444-EE5A24E5A300}"/>
                  </a:ext>
                </a:extLst>
              </p:cNvPr>
              <p:cNvSpPr/>
              <p:nvPr/>
            </p:nvSpPr>
            <p:spPr>
              <a:xfrm>
                <a:off x="9418470" y="2025162"/>
                <a:ext cx="2468235" cy="835899"/>
              </a:xfrm>
              <a:prstGeom prst="rect">
                <a:avLst/>
              </a:prstGeom>
              <a:grpFill/>
              <a:ln w="190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400" b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274D4B7-DB46-45A2-9BE8-FD4F6E5AA9BA}"/>
                  </a:ext>
                </a:extLst>
              </p:cNvPr>
              <p:cNvSpPr/>
              <p:nvPr/>
            </p:nvSpPr>
            <p:spPr>
              <a:xfrm>
                <a:off x="9098992" y="2152849"/>
                <a:ext cx="540000" cy="540000"/>
              </a:xfrm>
              <a:prstGeom prst="ellipse">
                <a:avLst/>
              </a:prstGeom>
              <a:grpFill/>
              <a:ln w="571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D</a:t>
                </a:r>
                <a:endParaRPr lang="en-US" sz="64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2084E6AB-536A-4376-B134-DADD4F5BCF11}"/>
                    </a:ext>
                  </a:extLst>
                </p:cNvPr>
                <p:cNvSpPr/>
                <p:nvPr/>
              </p:nvSpPr>
              <p:spPr>
                <a:xfrm>
                  <a:off x="13356350" y="5053593"/>
                  <a:ext cx="3631577" cy="78476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4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1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p>
                            <m:r>
                              <a:rPr lang="en-US" sz="4400" b="1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2084E6AB-536A-4376-B134-DADD4F5BCF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56350" y="5053593"/>
                  <a:ext cx="3631577" cy="78476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AE03CC7A-63AE-496D-BA77-14300DB71895}"/>
                    </a:ext>
                  </a:extLst>
                </p:cNvPr>
                <p:cNvSpPr/>
                <p:nvPr/>
              </p:nvSpPr>
              <p:spPr>
                <a:xfrm>
                  <a:off x="19161584" y="4855366"/>
                  <a:ext cx="3411594" cy="78476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400" b="1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sSup>
                          <m:sSupPr>
                            <m:ctrlPr>
                              <a:rPr lang="en-US" sz="4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400" b="1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𝐚</m:t>
                            </m:r>
                          </m:e>
                          <m:sup>
                            <m:r>
                              <a:rPr lang="en-US" sz="4400" b="1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AE03CC7A-63AE-496D-BA77-14300DB718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61584" y="4855366"/>
                  <a:ext cx="3411594" cy="78476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ounded Rectangle 52">
            <a:extLst>
              <a:ext uri="{FF2B5EF4-FFF2-40B4-BE49-F238E27FC236}">
                <a16:creationId xmlns:a16="http://schemas.microsoft.com/office/drawing/2014/main" id="{FA8A8524-55A3-4DC1-AC61-514744DED919}"/>
              </a:ext>
            </a:extLst>
          </p:cNvPr>
          <p:cNvSpPr/>
          <p:nvPr/>
        </p:nvSpPr>
        <p:spPr>
          <a:xfrm>
            <a:off x="352737" y="6669161"/>
            <a:ext cx="23848520" cy="6513439"/>
          </a:xfrm>
          <a:prstGeom prst="roundRect">
            <a:avLst>
              <a:gd name="adj" fmla="val 2239"/>
            </a:avLst>
          </a:prstGeom>
          <a:solidFill>
            <a:srgbClr val="C9E2B8"/>
          </a:solidFill>
          <a:ln w="28575">
            <a:solidFill>
              <a:schemeClr val="accent3">
                <a:lumMod val="50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b="1" dirty="0">
              <a:solidFill>
                <a:schemeClr val="tx1"/>
              </a:solidFill>
            </a:endParaRPr>
          </a:p>
        </p:txBody>
      </p:sp>
      <p:grpSp>
        <p:nvGrpSpPr>
          <p:cNvPr id="11" name="Group 5">
            <a:extLst>
              <a:ext uri="{FF2B5EF4-FFF2-40B4-BE49-F238E27FC236}">
                <a16:creationId xmlns:a16="http://schemas.microsoft.com/office/drawing/2014/main" id="{5357AC78-711D-478D-ACB6-63856B9AEF4B}"/>
              </a:ext>
            </a:extLst>
          </p:cNvPr>
          <p:cNvGrpSpPr/>
          <p:nvPr/>
        </p:nvGrpSpPr>
        <p:grpSpPr>
          <a:xfrm>
            <a:off x="149511" y="6321861"/>
            <a:ext cx="3600000" cy="936000"/>
            <a:chOff x="444985" y="4706268"/>
            <a:chExt cx="3957472" cy="1037412"/>
          </a:xfrm>
          <a:solidFill>
            <a:srgbClr val="C9E2B8"/>
          </a:solidFill>
        </p:grpSpPr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71EB90B6-0FE8-4179-A425-76D3F5FD278D}"/>
                </a:ext>
              </a:extLst>
            </p:cNvPr>
            <p:cNvSpPr>
              <a:spLocks/>
            </p:cNvSpPr>
            <p:nvPr/>
          </p:nvSpPr>
          <p:spPr bwMode="auto">
            <a:xfrm rot="16200000" flipV="1">
              <a:off x="2450119" y="3741843"/>
              <a:ext cx="908272" cy="2996405"/>
            </a:xfrm>
            <a:prstGeom prst="round1Rect">
              <a:avLst/>
            </a:prstGeom>
            <a:grpFill/>
            <a:ln w="57150">
              <a:solidFill>
                <a:schemeClr val="accent6">
                  <a:lumMod val="75000"/>
                </a:schemeClr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TextBox 7">
              <a:extLst>
                <a:ext uri="{FF2B5EF4-FFF2-40B4-BE49-F238E27FC236}">
                  <a16:creationId xmlns:a16="http://schemas.microsoft.com/office/drawing/2014/main" id="{0C3FF307-8179-4A2B-82EF-0CAF4A8A7ECA}"/>
                </a:ext>
              </a:extLst>
            </p:cNvPr>
            <p:cNvSpPr txBox="1"/>
            <p:nvPr/>
          </p:nvSpPr>
          <p:spPr>
            <a:xfrm>
              <a:off x="1425342" y="4753497"/>
              <a:ext cx="2872840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4600" b="1" dirty="0">
                  <a:solidFill>
                    <a:schemeClr val="accent6">
                      <a:lumMod val="75000"/>
                    </a:schemeClr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Bài giải</a:t>
              </a:r>
              <a:endParaRPr lang="en-US" sz="4600" b="1" dirty="0">
                <a:solidFill>
                  <a:schemeClr val="accent6">
                    <a:lumMod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pic>
          <p:nvPicPr>
            <p:cNvPr id="14" name="Picture 8">
              <a:extLst>
                <a:ext uri="{FF2B5EF4-FFF2-40B4-BE49-F238E27FC236}">
                  <a16:creationId xmlns:a16="http://schemas.microsoft.com/office/drawing/2014/main" id="{7907171D-A66E-488E-B774-2D76551B21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950" t="14860" r="18922" b="25555"/>
            <a:stretch/>
          </p:blipFill>
          <p:spPr>
            <a:xfrm>
              <a:off x="444985" y="4706268"/>
              <a:ext cx="1058947" cy="1037412"/>
            </a:xfrm>
            <a:prstGeom prst="round2DiagRect">
              <a:avLst>
                <a:gd name="adj1" fmla="val 27632"/>
                <a:gd name="adj2" fmla="val 0"/>
              </a:avLst>
            </a:prstGeom>
            <a:grpFill/>
            <a:ln w="38100" cap="sq">
              <a:solidFill>
                <a:schemeClr val="accent6">
                  <a:lumMod val="50000"/>
                </a:schemeClr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</p:grpSp>
      <p:sp>
        <p:nvSpPr>
          <p:cNvPr id="16" name="Rounded Rectangle 41">
            <a:extLst>
              <a:ext uri="{FF2B5EF4-FFF2-40B4-BE49-F238E27FC236}">
                <a16:creationId xmlns:a16="http://schemas.microsoft.com/office/drawing/2014/main" id="{8CEB7639-8C37-429B-8642-89A2596E45BF}"/>
              </a:ext>
            </a:extLst>
          </p:cNvPr>
          <p:cNvSpPr/>
          <p:nvPr/>
        </p:nvSpPr>
        <p:spPr>
          <a:xfrm>
            <a:off x="310459" y="2371992"/>
            <a:ext cx="12388739" cy="3484043"/>
          </a:xfrm>
          <a:prstGeom prst="roundRect">
            <a:avLst>
              <a:gd name="adj" fmla="val 10158"/>
            </a:avLst>
          </a:prstGeom>
          <a:solidFill>
            <a:srgbClr val="FEEBB0"/>
          </a:solidFill>
          <a:ln w="12700">
            <a:solidFill>
              <a:srgbClr val="91720D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C6580-039C-483A-B732-1519BE679FD3}"/>
              </a:ext>
            </a:extLst>
          </p:cNvPr>
          <p:cNvGrpSpPr/>
          <p:nvPr/>
        </p:nvGrpSpPr>
        <p:grpSpPr>
          <a:xfrm>
            <a:off x="0" y="1917382"/>
            <a:ext cx="3656379" cy="847011"/>
            <a:chOff x="923003" y="3917552"/>
            <a:chExt cx="4003839" cy="106436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DE8E5AA-2865-469B-B774-A4C2380AE3FD}"/>
                </a:ext>
              </a:extLst>
            </p:cNvPr>
            <p:cNvGrpSpPr/>
            <p:nvPr/>
          </p:nvGrpSpPr>
          <p:grpSpPr>
            <a:xfrm>
              <a:off x="1362045" y="3976350"/>
              <a:ext cx="3564797" cy="1005567"/>
              <a:chOff x="2028795" y="4338300"/>
              <a:chExt cx="3564797" cy="10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3EA2DB46-FE90-4B71-AD74-95E7FBA35FB5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3364273" y="3082799"/>
                <a:ext cx="832104" cy="3503060"/>
              </a:xfrm>
              <a:prstGeom prst="round2SameRect">
                <a:avLst>
                  <a:gd name="adj1" fmla="val 19445"/>
                  <a:gd name="adj2" fmla="val 0"/>
                </a:avLst>
              </a:prstGeom>
              <a:solidFill>
                <a:srgbClr val="FFF9BC"/>
              </a:solidFill>
              <a:ln w="57150">
                <a:solidFill>
                  <a:srgbClr val="91720D"/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396E61-7359-474F-BCD6-96B28911FADE}"/>
                  </a:ext>
                </a:extLst>
              </p:cNvPr>
              <p:cNvSpPr txBox="1"/>
              <p:nvPr/>
            </p:nvSpPr>
            <p:spPr>
              <a:xfrm>
                <a:off x="2532513" y="4338300"/>
                <a:ext cx="3061079" cy="1005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6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Câu</a:t>
                </a:r>
                <a:r>
                  <a:rPr lang="en-US" sz="46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8</a:t>
                </a:r>
              </a:p>
            </p:txBody>
          </p:sp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77179F5-EF5F-4DF5-BB5A-FC6532B957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99" t="21515" r="9759" b="14519"/>
            <a:stretch/>
          </p:blipFill>
          <p:spPr>
            <a:xfrm>
              <a:off x="923003" y="3917552"/>
              <a:ext cx="1076356" cy="1040476"/>
            </a:xfrm>
            <a:prstGeom prst="round2DiagRect">
              <a:avLst>
                <a:gd name="adj1" fmla="val 30509"/>
                <a:gd name="adj2" fmla="val 0"/>
              </a:avLst>
            </a:prstGeom>
            <a:ln w="38100" cap="sq">
              <a:solidFill>
                <a:srgbClr val="91720D"/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2D542EB-DA8F-4047-A893-7C264039979F}"/>
                  </a:ext>
                </a:extLst>
              </p:cNvPr>
              <p:cNvSpPr txBox="1"/>
              <p:nvPr/>
            </p:nvSpPr>
            <p:spPr>
              <a:xfrm>
                <a:off x="352737" y="2880430"/>
                <a:ext cx="11900847" cy="3007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thang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cân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𝑨𝑩𝑪𝑫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biết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đáy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lớn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𝑪𝑫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𝑩𝑪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𝒂</m:t>
                    </m:r>
                    <m:rad>
                      <m:radPr>
                        <m:degHide m:val="on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rad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hình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chiếu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vuông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lên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cạnh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𝑪𝑫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Tính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𝑩𝑯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𝑨𝑪</m:t>
                            </m:r>
                          </m:e>
                        </m:acc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400" b="1" i="1">
                                <a:latin typeface="Cambria Math" panose="02040503050406030204" pitchFamily="18" charset="0"/>
                              </a:rPr>
                              <m:t>𝑨𝑫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2D542EB-DA8F-4047-A893-7C2640399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737" y="2880430"/>
                <a:ext cx="11900847" cy="3007490"/>
              </a:xfrm>
              <a:prstGeom prst="rect">
                <a:avLst/>
              </a:prstGeom>
              <a:blipFill>
                <a:blip r:embed="rId6"/>
                <a:stretch>
                  <a:fillRect l="-2100" t="-4462" b="-66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5CF5B428-2AE5-4B2C-A905-444E83BBB4EE}"/>
              </a:ext>
            </a:extLst>
          </p:cNvPr>
          <p:cNvSpPr/>
          <p:nvPr/>
        </p:nvSpPr>
        <p:spPr>
          <a:xfrm>
            <a:off x="6211043" y="7641809"/>
            <a:ext cx="1219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48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D84C84F-0DBD-4B7A-ADC7-E1129B975263}"/>
                  </a:ext>
                </a:extLst>
              </p:cNvPr>
              <p:cNvSpPr/>
              <p:nvPr/>
            </p:nvSpPr>
            <p:spPr>
              <a:xfrm>
                <a:off x="752214" y="7340381"/>
                <a:ext cx="16666647" cy="60230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4800" b="1" dirty="0" err="1"/>
                  <a:t>Có</a:t>
                </a:r>
                <a:r>
                  <a:rPr lang="en-US" sz="4800" b="1" dirty="0"/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</a:rPr>
                      <m:t>𝑫𝑯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𝑪𝑫</m:t>
                        </m:r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𝑨𝑫</m:t>
                        </m:r>
                      </m:num>
                      <m:den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4800" b="1" dirty="0"/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</a:rPr>
                      <m:t>𝑨𝑩𝑯𝑫</m:t>
                    </m:r>
                  </m:oMath>
                </a14:m>
                <a:r>
                  <a:rPr lang="en-US" sz="4800" b="1" dirty="0"/>
                  <a:t> </a:t>
                </a:r>
                <a:r>
                  <a:rPr lang="en-US" sz="4800" b="1" dirty="0" err="1"/>
                  <a:t>là</a:t>
                </a:r>
                <a:r>
                  <a:rPr lang="en-US" sz="4800" b="1" dirty="0"/>
                  <a:t> </a:t>
                </a:r>
                <a:r>
                  <a:rPr lang="en-US" sz="4800" b="1" dirty="0" err="1"/>
                  <a:t>hình</a:t>
                </a:r>
                <a:r>
                  <a:rPr lang="en-US" sz="4800" b="1" dirty="0"/>
                  <a:t> </a:t>
                </a:r>
                <a:r>
                  <a:rPr lang="en-US" sz="4800" b="1" dirty="0" err="1"/>
                  <a:t>bình</a:t>
                </a:r>
                <a:r>
                  <a:rPr lang="en-US" sz="4800" b="1" dirty="0"/>
                  <a:t> </a:t>
                </a:r>
                <a:r>
                  <a:rPr lang="en-US" sz="4800" b="1" dirty="0" err="1"/>
                  <a:t>hành</a:t>
                </a:r>
                <a:r>
                  <a:rPr lang="en-US" sz="4800" b="1" dirty="0"/>
                  <a:t> </a:t>
                </a:r>
                <a:r>
                  <a:rPr lang="en-US" sz="4800" b="1" dirty="0" err="1"/>
                  <a:t>và</a:t>
                </a:r>
                <a:r>
                  <a:rPr lang="en-US" sz="4800" b="1" dirty="0"/>
                  <a:t> </a:t>
                </a:r>
                <a14:m>
                  <m:oMath xmlns:m="http://schemas.openxmlformats.org/officeDocument/2006/math">
                    <m:r>
                      <a:rPr lang="en-US" sz="4800" b="1" i="1">
                        <a:latin typeface="Cambria Math" panose="02040503050406030204" pitchFamily="18" charset="0"/>
                      </a:rPr>
                      <m:t>𝑨𝑯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800" b="1" i="1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endParaRPr lang="en-US" sz="4800" b="1" dirty="0"/>
              </a:p>
              <a:p>
                <a:r>
                  <a:rPr lang="en-US" sz="4800" b="1" dirty="0" err="1"/>
                  <a:t>Có</a:t>
                </a:r>
                <a:r>
                  <a:rPr lang="en-US" sz="4800" b="1" dirty="0"/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𝑩𝑯</m:t>
                        </m:r>
                      </m:e>
                    </m:acc>
                    <m:r>
                      <a:rPr lang="en-US" sz="4800" b="1" i="1">
                        <a:latin typeface="Cambria Math" panose="02040503050406030204" pitchFamily="18" charset="0"/>
                      </a:rPr>
                      <m:t>.</m:t>
                    </m:r>
                    <m:d>
                      <m:dPr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𝑨𝑪</m:t>
                            </m:r>
                          </m:e>
                        </m:acc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US" sz="48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4800" b="1" i="1">
                                <a:latin typeface="Cambria Math" panose="02040503050406030204" pitchFamily="18" charset="0"/>
                              </a:rPr>
                              <m:t>𝑨𝑫</m:t>
                            </m:r>
                          </m:e>
                        </m:acc>
                      </m:e>
                    </m:d>
                    <m:r>
                      <a:rPr lang="en-US" sz="4800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𝑩𝑯</m:t>
                        </m:r>
                      </m:e>
                    </m:acc>
                    <m:r>
                      <a:rPr lang="en-US" sz="4800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r>
                      <a:rPr lang="en-US" sz="4800" b="1" i="1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𝑩𝑯</m:t>
                        </m:r>
                      </m:e>
                    </m:acc>
                    <m:r>
                      <a:rPr lang="en-US" sz="4800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sz="4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800" b="1" i="1">
                            <a:latin typeface="Cambria Math" panose="02040503050406030204" pitchFamily="18" charset="0"/>
                          </a:rPr>
                          <m:t>𝑨𝑫</m:t>
                        </m:r>
                      </m:e>
                    </m:acc>
                  </m:oMath>
                </a14:m>
                <a:endParaRPr lang="en-US" sz="48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1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4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48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b="1" i="1">
                                  <a:latin typeface="Cambria Math" panose="02040503050406030204" pitchFamily="18" charset="0"/>
                                </a:rPr>
                                <m:t>𝑨𝑯</m:t>
                              </m:r>
                            </m:e>
                          </m:acc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⃗"/>
                              <m:ctrlPr>
                                <a:rPr lang="en-US" sz="48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b="1" i="1">
                                  <a:latin typeface="Cambria Math" panose="02040503050406030204" pitchFamily="18" charset="0"/>
                                </a:rPr>
                                <m:t>𝑨𝑩</m:t>
                              </m:r>
                            </m:e>
                          </m:acc>
                        </m:e>
                      </m:d>
                      <m:r>
                        <a:rPr lang="en-US" sz="4800" b="1" i="1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lang="en-US" sz="48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sz="48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b="1" i="1">
                                  <a:latin typeface="Cambria Math" panose="02040503050406030204" pitchFamily="18" charset="0"/>
                                </a:rPr>
                                <m:t>𝑨𝑯</m:t>
                              </m:r>
                            </m:e>
                          </m:acc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⃗"/>
                              <m:ctrlPr>
                                <a:rPr lang="en-US" sz="48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b="1" i="1">
                                  <a:latin typeface="Cambria Math" panose="02040503050406030204" pitchFamily="18" charset="0"/>
                                </a:rPr>
                                <m:t>𝑯𝑪</m:t>
                              </m:r>
                            </m:e>
                          </m:acc>
                        </m:e>
                      </m:d>
                      <m:r>
                        <a:rPr lang="en-US" sz="4800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4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sz="48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4800" b="1" i="1">
                                  <a:latin typeface="Cambria Math" panose="02040503050406030204" pitchFamily="18" charset="0"/>
                                </a:rPr>
                                <m:t>𝑨𝑫</m:t>
                              </m:r>
                            </m:e>
                          </m:acc>
                        </m:e>
                        <m:sup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48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800" b="1" i="1">
                          <a:latin typeface="Cambria Math" panose="02040503050406030204" pitchFamily="18" charset="0"/>
                        </a:rPr>
                        <m:t>𝑨</m:t>
                      </m:r>
                      <m:sSup>
                        <m:sSupPr>
                          <m:ctrlPr>
                            <a:rPr lang="en-US" sz="4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p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800" b="1" i="1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⃗"/>
                          <m:ctrlPr>
                            <a:rPr lang="en-US" sz="48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𝑨𝑩</m:t>
                          </m:r>
                        </m:e>
                      </m:acc>
                      <m:r>
                        <a:rPr lang="en-US" sz="4800" b="1" i="1">
                          <a:latin typeface="Cambria Math" panose="02040503050406030204" pitchFamily="18" charset="0"/>
                        </a:rPr>
                        <m:t>.</m:t>
                      </m:r>
                      <m:acc>
                        <m:accPr>
                          <m:chr m:val="⃗"/>
                          <m:ctrlPr>
                            <a:rPr lang="en-US" sz="48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𝑯𝑪</m:t>
                          </m:r>
                        </m:e>
                      </m:acc>
                      <m:r>
                        <a:rPr lang="en-US" sz="48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800" b="1" i="1">
                          <a:latin typeface="Cambria Math" panose="02040503050406030204" pitchFamily="18" charset="0"/>
                        </a:rPr>
                        <m:t>𝑨</m:t>
                      </m:r>
                      <m:sSup>
                        <m:sSupPr>
                          <m:ctrlPr>
                            <a:rPr lang="en-US" sz="4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p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48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48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48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4800" b="1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48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4800" b="1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sz="4800" b="1" i="1">
                          <a:latin typeface="Cambria Math" panose="02040503050406030204" pitchFamily="18" charset="0"/>
                        </a:rPr>
                        <m:t>.</m:t>
                      </m:r>
                      <m:func>
                        <m:funcPr>
                          <m:ctrlPr>
                            <a:rPr lang="en-US" sz="48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𝒄𝒐𝒔</m:t>
                          </m:r>
                        </m:fName>
                        <m:e>
                          <m:sSup>
                            <m:sSupPr>
                              <m:ctrlPr>
                                <a:rPr lang="en-US" sz="48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48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sz="4800" b="1" i="1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sup>
                          </m:sSup>
                        </m:e>
                      </m:func>
                      <m:r>
                        <a:rPr lang="en-US" sz="48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800" b="1" i="1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US" sz="4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48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48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n-US" sz="48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4800" b="1" dirty="0"/>
              </a:p>
              <a:p>
                <a:endParaRPr lang="en-US" sz="48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D84C84F-0DBD-4B7A-ADC7-E1129B9752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14" y="7340381"/>
                <a:ext cx="16666647" cy="6023059"/>
              </a:xfrm>
              <a:prstGeom prst="rect">
                <a:avLst/>
              </a:prstGeom>
              <a:blipFill>
                <a:blip r:embed="rId7"/>
                <a:stretch>
                  <a:fillRect l="-16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B50AE326-6CE8-425B-8406-EB1FD3BD3328}"/>
              </a:ext>
            </a:extLst>
          </p:cNvPr>
          <p:cNvSpPr/>
          <p:nvPr/>
        </p:nvSpPr>
        <p:spPr>
          <a:xfrm>
            <a:off x="19045509" y="2462762"/>
            <a:ext cx="4936470" cy="1500400"/>
          </a:xfrm>
          <a:prstGeom prst="rect">
            <a:avLst/>
          </a:prstGeom>
          <a:solidFill>
            <a:srgbClr val="398842"/>
          </a:solidFill>
          <a:ln w="190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400" b="1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7E3F1BF-BB23-4A94-B346-4B0B46509E3F}"/>
              </a:ext>
            </a:extLst>
          </p:cNvPr>
          <p:cNvSpPr/>
          <p:nvPr/>
        </p:nvSpPr>
        <p:spPr>
          <a:xfrm>
            <a:off x="18412509" y="2638314"/>
            <a:ext cx="1080000" cy="1080000"/>
          </a:xfrm>
          <a:prstGeom prst="ellipse">
            <a:avLst/>
          </a:prstGeom>
          <a:solidFill>
            <a:srgbClr val="327E3B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6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endParaRPr lang="en-US" sz="6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781D58-9BD1-4957-8ABB-AAA4E3A17A32}"/>
              </a:ext>
            </a:extLst>
          </p:cNvPr>
          <p:cNvSpPr/>
          <p:nvPr/>
        </p:nvSpPr>
        <p:spPr>
          <a:xfrm>
            <a:off x="13351530" y="2462762"/>
            <a:ext cx="4936470" cy="1500400"/>
          </a:xfrm>
          <a:prstGeom prst="rect">
            <a:avLst/>
          </a:prstGeom>
          <a:solidFill>
            <a:srgbClr val="398842"/>
          </a:solidFill>
          <a:ln w="190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400" b="1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D6F22D8-0DB0-4E1E-BD0C-F5C8809A0BF1}"/>
              </a:ext>
            </a:extLst>
          </p:cNvPr>
          <p:cNvSpPr/>
          <p:nvPr/>
        </p:nvSpPr>
        <p:spPr>
          <a:xfrm>
            <a:off x="12635111" y="2619948"/>
            <a:ext cx="1080000" cy="1080000"/>
          </a:xfrm>
          <a:prstGeom prst="ellipse">
            <a:avLst/>
          </a:prstGeom>
          <a:solidFill>
            <a:srgbClr val="327E3B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6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endParaRPr lang="en-US" sz="6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C2C1509-6F71-4779-9A02-91AF3304F6A2}"/>
                  </a:ext>
                </a:extLst>
              </p:cNvPr>
              <p:cNvSpPr/>
              <p:nvPr/>
            </p:nvSpPr>
            <p:spPr>
              <a:xfrm>
                <a:off x="20519154" y="2845610"/>
                <a:ext cx="1269257" cy="784767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  <m:sSup>
                        <m:sSupPr>
                          <m:ctrlPr>
                            <a:rPr lang="en-US" sz="4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</m:e>
                        <m:sup>
                          <m:r>
                            <a:rPr lang="en-US" sz="44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C2C1509-6F71-4779-9A02-91AF3304F6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9154" y="2845610"/>
                <a:ext cx="1269257" cy="7847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45BE5CF-7A77-440A-B1C9-9B17FE2DE78E}"/>
                  </a:ext>
                </a:extLst>
              </p:cNvPr>
              <p:cNvSpPr/>
              <p:nvPr/>
            </p:nvSpPr>
            <p:spPr>
              <a:xfrm>
                <a:off x="15093407" y="2788776"/>
                <a:ext cx="931024" cy="78476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4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44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𝐚</m:t>
                          </m:r>
                        </m:e>
                        <m:sup>
                          <m:r>
                            <a:rPr lang="en-US" sz="4400" b="1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45BE5CF-7A77-440A-B1C9-9B17FE2DE7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93407" y="2788776"/>
                <a:ext cx="931024" cy="78476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Oval 36">
            <a:extLst>
              <a:ext uri="{FF2B5EF4-FFF2-40B4-BE49-F238E27FC236}">
                <a16:creationId xmlns:a16="http://schemas.microsoft.com/office/drawing/2014/main" id="{AE22C2E3-A9EA-4BAF-8011-DAB37FA27E48}"/>
              </a:ext>
            </a:extLst>
          </p:cNvPr>
          <p:cNvSpPr/>
          <p:nvPr/>
        </p:nvSpPr>
        <p:spPr>
          <a:xfrm>
            <a:off x="12664626" y="2630587"/>
            <a:ext cx="1080000" cy="108000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endParaRPr lang="en-US" sz="6400" dirty="0"/>
          </a:p>
        </p:txBody>
      </p:sp>
      <p:sp>
        <p:nvSpPr>
          <p:cNvPr id="15" name="Trapezoid 14">
            <a:extLst>
              <a:ext uri="{FF2B5EF4-FFF2-40B4-BE49-F238E27FC236}">
                <a16:creationId xmlns:a16="http://schemas.microsoft.com/office/drawing/2014/main" id="{C088F496-F8DE-47D4-8010-561D0C5730C5}"/>
              </a:ext>
            </a:extLst>
          </p:cNvPr>
          <p:cNvSpPr/>
          <p:nvPr/>
        </p:nvSpPr>
        <p:spPr>
          <a:xfrm>
            <a:off x="16867431" y="7816608"/>
            <a:ext cx="6206774" cy="3614772"/>
          </a:xfrm>
          <a:prstGeom prst="trapezoid">
            <a:avLst>
              <a:gd name="adj" fmla="val 57147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B7959FF-39A4-431A-A3CC-3FFB5DD409FE}"/>
              </a:ext>
            </a:extLst>
          </p:cNvPr>
          <p:cNvCxnSpPr>
            <a:cxnSpLocks/>
          </p:cNvCxnSpPr>
          <p:nvPr/>
        </p:nvCxnSpPr>
        <p:spPr>
          <a:xfrm>
            <a:off x="18952509" y="7805596"/>
            <a:ext cx="15065" cy="362578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3EF0981-E558-446D-93C9-65D93191B7B0}"/>
              </a:ext>
            </a:extLst>
          </p:cNvPr>
          <p:cNvCxnSpPr>
            <a:cxnSpLocks/>
          </p:cNvCxnSpPr>
          <p:nvPr/>
        </p:nvCxnSpPr>
        <p:spPr>
          <a:xfrm flipV="1">
            <a:off x="18967574" y="7816608"/>
            <a:ext cx="1987426" cy="3614772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A172E56-A65A-41F0-AB5D-AD4A26BB5014}"/>
                  </a:ext>
                </a:extLst>
              </p:cNvPr>
              <p:cNvSpPr/>
              <p:nvPr/>
            </p:nvSpPr>
            <p:spPr>
              <a:xfrm>
                <a:off x="19447985" y="6846423"/>
                <a:ext cx="700833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𝒂</m:t>
                      </m:r>
                    </m:oMath>
                  </m:oMathPara>
                </a14:m>
                <a:endParaRPr lang="en-US" sz="4400" b="1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AA172E56-A65A-41F0-AB5D-AD4A26BB50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7985" y="6846423"/>
                <a:ext cx="700833" cy="76944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6DCB49B6-BAB8-4E90-9FE6-9F9FB492F9D6}"/>
                  </a:ext>
                </a:extLst>
              </p:cNvPr>
              <p:cNvSpPr/>
              <p:nvPr/>
            </p:nvSpPr>
            <p:spPr>
              <a:xfrm>
                <a:off x="18117866" y="6955842"/>
                <a:ext cx="723275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US" sz="4400" b="1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6DCB49B6-BAB8-4E90-9FE6-9F9FB492F9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17866" y="6955842"/>
                <a:ext cx="723275" cy="76944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810A584-9772-481C-B2BD-9FB4E12740A9}"/>
                  </a:ext>
                </a:extLst>
              </p:cNvPr>
              <p:cNvSpPr/>
              <p:nvPr/>
            </p:nvSpPr>
            <p:spPr>
              <a:xfrm>
                <a:off x="20869261" y="6957516"/>
                <a:ext cx="758541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𝑩</m:t>
                      </m:r>
                    </m:oMath>
                  </m:oMathPara>
                </a14:m>
                <a:endParaRPr lang="en-US" sz="4400" b="1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810A584-9772-481C-B2BD-9FB4E12740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9261" y="6957516"/>
                <a:ext cx="758541" cy="76944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FEF9301A-9803-4078-A3D9-FC95C8542988}"/>
                  </a:ext>
                </a:extLst>
              </p:cNvPr>
              <p:cNvSpPr/>
              <p:nvPr/>
            </p:nvSpPr>
            <p:spPr>
              <a:xfrm>
                <a:off x="22742243" y="11463303"/>
                <a:ext cx="704039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sz="4400" b="1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FEF9301A-9803-4078-A3D9-FC95C85429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42243" y="11463303"/>
                <a:ext cx="704039" cy="76944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1C42739-32BE-401E-8D92-BF2FEBBE5476}"/>
                  </a:ext>
                </a:extLst>
              </p:cNvPr>
              <p:cNvSpPr/>
              <p:nvPr/>
            </p:nvSpPr>
            <p:spPr>
              <a:xfrm>
                <a:off x="16219939" y="11513708"/>
                <a:ext cx="772968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𝑫</m:t>
                      </m:r>
                    </m:oMath>
                  </m:oMathPara>
                </a14:m>
                <a:endParaRPr lang="en-US" sz="4400" b="1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1C42739-32BE-401E-8D92-BF2FEBBE54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19939" y="11513708"/>
                <a:ext cx="772968" cy="76944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A047D501-B5B1-480B-BE9E-D0A703D287F0}"/>
                  </a:ext>
                </a:extLst>
              </p:cNvPr>
              <p:cNvSpPr/>
              <p:nvPr/>
            </p:nvSpPr>
            <p:spPr>
              <a:xfrm>
                <a:off x="18558442" y="11522222"/>
                <a:ext cx="793807" cy="7694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</m:oMath>
                  </m:oMathPara>
                </a14:m>
                <a:endParaRPr lang="en-US" sz="4400" b="1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A047D501-B5B1-480B-BE9E-D0A703D287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58442" y="11522222"/>
                <a:ext cx="793807" cy="76944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FFD6B3B-0E22-46C7-8035-D1D96A5BC55C}"/>
                  </a:ext>
                </a:extLst>
              </p:cNvPr>
              <p:cNvSpPr/>
              <p:nvPr/>
            </p:nvSpPr>
            <p:spPr>
              <a:xfrm>
                <a:off x="16306800" y="8983558"/>
                <a:ext cx="1409617" cy="8490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m:t>𝒂</m:t>
                      </m:r>
                      <m:rad>
                        <m:radPr>
                          <m:degHide m:val="on"/>
                          <m:ctrlPr>
                            <a:rPr lang="en-US" sz="4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</m:ctrlPr>
                        </m:radPr>
                        <m:deg/>
                        <m:e>
                          <m:r>
                            <a:rPr lang="en-US" sz="4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Tahoma" panose="020B0604030504040204" pitchFamily="34" charset="0"/>
                            </a:rPr>
                            <m:t>𝟐</m:t>
                          </m:r>
                        </m:e>
                      </m:rad>
                    </m:oMath>
                  </m:oMathPara>
                </a14:m>
                <a:endParaRPr lang="en-US" sz="4400" b="1" dirty="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6FFD6B3B-0E22-46C7-8035-D1D96A5BC5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6800" y="8983558"/>
                <a:ext cx="1409617" cy="84907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ounded Rectangle 61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2738182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15" grpId="0" animBg="1"/>
      <p:bldP spid="39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313519-0C89-483D-A08E-CF6067282148}"/>
              </a:ext>
            </a:extLst>
          </p:cNvPr>
          <p:cNvGrpSpPr/>
          <p:nvPr/>
        </p:nvGrpSpPr>
        <p:grpSpPr>
          <a:xfrm>
            <a:off x="141341" y="6571576"/>
            <a:ext cx="23862374" cy="6915824"/>
            <a:chOff x="48567" y="4381499"/>
            <a:chExt cx="23018772" cy="5716249"/>
          </a:xfrm>
          <a:solidFill>
            <a:srgbClr val="DAE3F3"/>
          </a:solidFill>
        </p:grpSpPr>
        <p:sp>
          <p:nvSpPr>
            <p:cNvPr id="3" name="Rounded Rectangle 52">
              <a:extLst>
                <a:ext uri="{FF2B5EF4-FFF2-40B4-BE49-F238E27FC236}">
                  <a16:creationId xmlns:a16="http://schemas.microsoft.com/office/drawing/2014/main" id="{5B1AB244-3D78-416D-AEF1-35CC4562B7A3}"/>
                </a:ext>
              </a:extLst>
            </p:cNvPr>
            <p:cNvSpPr/>
            <p:nvPr/>
          </p:nvSpPr>
          <p:spPr>
            <a:xfrm>
              <a:off x="385312" y="4941556"/>
              <a:ext cx="22682027" cy="5156192"/>
            </a:xfrm>
            <a:prstGeom prst="roundRect">
              <a:avLst>
                <a:gd name="adj" fmla="val 2239"/>
              </a:avLst>
            </a:prstGeom>
            <a:grpFill/>
            <a:ln w="28575">
              <a:solidFill>
                <a:schemeClr val="accent3">
                  <a:lumMod val="50000"/>
                </a:schemeClr>
              </a:solidFill>
            </a:ln>
            <a:effectLst>
              <a:innerShdw blurRad="114300">
                <a:prstClr val="black"/>
              </a:inn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800" b="1" dirty="0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</a:t>
              </a:r>
              <a:endParaRPr lang="en-US" sz="4800" b="1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6FC852D-338F-4593-BDAE-4432C24EAC82}"/>
                </a:ext>
              </a:extLst>
            </p:cNvPr>
            <p:cNvGrpSpPr/>
            <p:nvPr/>
          </p:nvGrpSpPr>
          <p:grpSpPr>
            <a:xfrm>
              <a:off x="48567" y="4381499"/>
              <a:ext cx="3991940" cy="1079474"/>
              <a:chOff x="410517" y="4648199"/>
              <a:chExt cx="3991940" cy="1079474"/>
            </a:xfrm>
            <a:grpFill/>
          </p:grpSpPr>
          <p:sp>
            <p:nvSpPr>
              <p:cNvPr id="5" name="Freeform 20">
                <a:extLst>
                  <a:ext uri="{FF2B5EF4-FFF2-40B4-BE49-F238E27FC236}">
                    <a16:creationId xmlns:a16="http://schemas.microsoft.com/office/drawing/2014/main" id="{20085AD8-BD87-4A35-B6D4-9AE383128185}"/>
                  </a:ext>
                </a:extLst>
              </p:cNvPr>
              <p:cNvSpPr>
                <a:spLocks/>
              </p:cNvSpPr>
              <p:nvPr/>
            </p:nvSpPr>
            <p:spPr bwMode="auto">
              <a:xfrm rot="16200000" flipV="1">
                <a:off x="2421084" y="3633167"/>
                <a:ext cx="966341" cy="2996405"/>
              </a:xfrm>
              <a:prstGeom prst="round1Rect">
                <a:avLst/>
              </a:prstGeom>
              <a:grpFill/>
              <a:ln w="57150">
                <a:solidFill>
                  <a:schemeClr val="accent6">
                    <a:lumMod val="75000"/>
                  </a:schemeClr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08C0313-9358-457E-845F-D4B035AC31D3}"/>
                  </a:ext>
                </a:extLst>
              </p:cNvPr>
              <p:cNvSpPr txBox="1"/>
              <p:nvPr/>
            </p:nvSpPr>
            <p:spPr>
              <a:xfrm>
                <a:off x="1406054" y="4732063"/>
                <a:ext cx="2872839" cy="800219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vi-VN" sz="46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Bài giải</a:t>
                </a:r>
                <a:endParaRPr lang="en-US" sz="4600" b="1" dirty="0">
                  <a:solidFill>
                    <a:prstClr val="black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B75B5B9-D442-4C6E-96A9-9A573FE06D9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950" t="14860" r="18922" b="25555"/>
              <a:stretch/>
            </p:blipFill>
            <p:spPr>
              <a:xfrm>
                <a:off x="410517" y="4648200"/>
                <a:ext cx="1058947" cy="1079473"/>
              </a:xfrm>
              <a:prstGeom prst="round2DiagRect">
                <a:avLst>
                  <a:gd name="adj1" fmla="val 27632"/>
                  <a:gd name="adj2" fmla="val 0"/>
                </a:avLst>
              </a:prstGeom>
              <a:grpFill/>
              <a:ln w="38100" cap="sq">
                <a:solidFill>
                  <a:schemeClr val="accent6">
                    <a:lumMod val="50000"/>
                  </a:schemeClr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A8B4DB7-EFF8-4AF8-B0FA-839D4C447E82}"/>
              </a:ext>
            </a:extLst>
          </p:cNvPr>
          <p:cNvGrpSpPr/>
          <p:nvPr/>
        </p:nvGrpSpPr>
        <p:grpSpPr>
          <a:xfrm>
            <a:off x="620483" y="5105400"/>
            <a:ext cx="23556178" cy="1234536"/>
            <a:chOff x="241306" y="2243792"/>
            <a:chExt cx="11778089" cy="617268"/>
          </a:xfrm>
          <a:solidFill>
            <a:srgbClr val="327E3B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/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4400" b="1" i="0">
                          <a:latin typeface="Cambria Math" panose="02040503050406030204" pitchFamily="18" charset="0"/>
                        </a:rPr>
                        <m:t>𝐌</m:t>
                      </m:r>
                      <m:d>
                        <m:d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4400" b="1" i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4400" b="1" i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</m:oMath>
                  </a14:m>
                  <a:r>
                    <a:rPr lang="en-US" sz="5400" b="1" dirty="0">
                      <a:solidFill>
                        <a:prstClr val="white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E77691F-65E4-4D25-99BE-C63849AAC2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8287" y="2243792"/>
                  <a:ext cx="2468235" cy="617268"/>
                </a:xfrm>
                <a:prstGeom prst="rect">
                  <a:avLst/>
                </a:prstGeom>
                <a:blipFill>
                  <a:blip r:embed="rId3"/>
                  <a:stretch>
                    <a:fillRect b="-14692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2178679C-83F1-4149-AB69-2BCAF6D951FA}"/>
                </a:ext>
              </a:extLst>
            </p:cNvPr>
            <p:cNvSpPr/>
            <p:nvPr/>
          </p:nvSpPr>
          <p:spPr>
            <a:xfrm>
              <a:off x="3247742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/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4400" b="1" i="0">
                          <a:latin typeface="Cambria Math" panose="02040503050406030204" pitchFamily="18" charset="0"/>
                        </a:rPr>
                        <m:t>𝐌</m:t>
                      </m:r>
                      <m:d>
                        <m:d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0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4400" b="1" i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4400" b="1" i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</m:oMath>
                  </a14:m>
                  <a:r>
                    <a:rPr lang="en-US" sz="4400" b="1" dirty="0">
                      <a:solidFill>
                        <a:prstClr val="white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1812F0-72B6-4695-918E-1559D10E09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851" y="2243792"/>
                  <a:ext cx="2468235" cy="617268"/>
                </a:xfrm>
                <a:prstGeom prst="rect">
                  <a:avLst/>
                </a:prstGeom>
                <a:blipFill>
                  <a:blip r:embed="rId4"/>
                  <a:stretch>
                    <a:fillRect b="-1896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88947F5-5540-4A85-BACE-6641A507F5A0}"/>
                </a:ext>
              </a:extLst>
            </p:cNvPr>
            <p:cNvSpPr/>
            <p:nvPr/>
          </p:nvSpPr>
          <p:spPr>
            <a:xfrm>
              <a:off x="241306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A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/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4400" b="1" i="0">
                          <a:latin typeface="Cambria Math" panose="02040503050406030204" pitchFamily="18" charset="0"/>
                        </a:rPr>
                        <m:t>𝐌</m:t>
                      </m:r>
                      <m:d>
                        <m:d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4400" b="1" i="0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4400" b="1" i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4400" b="1" i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</m:oMath>
                  </a14:m>
                  <a:r>
                    <a:rPr lang="en-US" sz="5400" b="1" dirty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1DB1070-DB60-40AD-900A-04886F77B5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4723" y="2243792"/>
                  <a:ext cx="2468235" cy="617268"/>
                </a:xfrm>
                <a:prstGeom prst="rect">
                  <a:avLst/>
                </a:prstGeom>
                <a:blipFill>
                  <a:blip r:embed="rId5"/>
                  <a:stretch>
                    <a:fillRect b="-14692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7BF74FF-3652-4371-9E0B-A97FA806BC48}"/>
                </a:ext>
              </a:extLst>
            </p:cNvPr>
            <p:cNvSpPr/>
            <p:nvPr/>
          </p:nvSpPr>
          <p:spPr>
            <a:xfrm>
              <a:off x="6254178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C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/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grpFill/>
                <a:ln w="19050">
                  <a:solidFill>
                    <a:schemeClr val="bg1"/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4400" b="1" i="0">
                          <a:latin typeface="Cambria Math" panose="02040503050406030204" pitchFamily="18" charset="0"/>
                        </a:rPr>
                        <m:t>𝐌</m:t>
                      </m:r>
                      <m:d>
                        <m:dPr>
                          <m:ctrlPr>
                            <a:rPr lang="en-US" sz="4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4400" b="1" i="0">
                              <a:latin typeface="Cambria Math" panose="02040503050406030204" pitchFamily="18" charset="0"/>
                            </a:rPr>
                            <m:t>;−</m:t>
                          </m:r>
                          <m:r>
                            <a:rPr lang="en-US" sz="4400" b="1" i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</m:oMath>
                  </a14:m>
                  <a:r>
                    <a:rPr lang="en-US" sz="5400" b="1" dirty="0">
                      <a:solidFill>
                        <a:prstClr val="white"/>
                      </a:solidFill>
                      <a:latin typeface="Tahoma" panose="020B0604030504040204" pitchFamily="34" charset="0"/>
                      <a:ea typeface="Tahoma" panose="020B0604030504040204" pitchFamily="34" charset="0"/>
                      <a:cs typeface="Tahoma" panose="020B0604030504040204" pitchFamily="34" charset="0"/>
                    </a:rPr>
                    <a:t>.</a:t>
                  </a: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6DFE3254-D4F7-4AE6-9631-67D4D43B93C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1160" y="2243792"/>
                  <a:ext cx="2468235" cy="617268"/>
                </a:xfrm>
                <a:prstGeom prst="rect">
                  <a:avLst/>
                </a:prstGeom>
                <a:blipFill>
                  <a:blip r:embed="rId6"/>
                  <a:stretch>
                    <a:fillRect b="-14692"/>
                  </a:stretch>
                </a:blipFill>
                <a:ln w="19050"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B907C0F-6FC4-4852-8CFD-AD2FACA13C7F}"/>
                </a:ext>
              </a:extLst>
            </p:cNvPr>
            <p:cNvSpPr/>
            <p:nvPr/>
          </p:nvSpPr>
          <p:spPr>
            <a:xfrm>
              <a:off x="9260615" y="2303047"/>
              <a:ext cx="540000" cy="540000"/>
            </a:xfrm>
            <a:prstGeom prst="ellipse">
              <a:avLst/>
            </a:prstGeom>
            <a:grpFill/>
            <a:ln w="571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400" b="1" dirty="0">
                  <a:solidFill>
                    <a:prstClr val="white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D</a:t>
              </a:r>
              <a:endParaRPr lang="en-US" sz="6400" dirty="0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06450E-ACA8-42F7-B878-4360BA0CBA71}"/>
              </a:ext>
            </a:extLst>
          </p:cNvPr>
          <p:cNvGrpSpPr/>
          <p:nvPr/>
        </p:nvGrpSpPr>
        <p:grpSpPr>
          <a:xfrm>
            <a:off x="141340" y="2590803"/>
            <a:ext cx="23943880" cy="2401467"/>
            <a:chOff x="923003" y="3917552"/>
            <a:chExt cx="23943880" cy="2401466"/>
          </a:xfrm>
        </p:grpSpPr>
        <p:sp>
          <p:nvSpPr>
            <p:cNvPr id="19" name="Rounded Rectangle 41">
              <a:extLst>
                <a:ext uri="{FF2B5EF4-FFF2-40B4-BE49-F238E27FC236}">
                  <a16:creationId xmlns:a16="http://schemas.microsoft.com/office/drawing/2014/main" id="{CC866FB0-B137-49F3-A47E-0B1A18FC432E}"/>
                </a:ext>
              </a:extLst>
            </p:cNvPr>
            <p:cNvSpPr/>
            <p:nvPr/>
          </p:nvSpPr>
          <p:spPr>
            <a:xfrm>
              <a:off x="1272211" y="4426857"/>
              <a:ext cx="23594672" cy="1892161"/>
            </a:xfrm>
            <a:prstGeom prst="roundRect">
              <a:avLst>
                <a:gd name="adj" fmla="val 10158"/>
              </a:avLst>
            </a:prstGeom>
            <a:solidFill>
              <a:srgbClr val="FEEBB0"/>
            </a:solidFill>
            <a:ln w="12700">
              <a:solidFill>
                <a:srgbClr val="91720D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400" b="1">
                  <a:solidFill>
                    <a:prstClr val="black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                         </a:t>
              </a:r>
              <a:endParaRPr lang="en-US" sz="4800" b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1E96746-B33C-4D41-836E-CA7E0074841E}"/>
                </a:ext>
              </a:extLst>
            </p:cNvPr>
            <p:cNvGrpSpPr/>
            <p:nvPr/>
          </p:nvGrpSpPr>
          <p:grpSpPr>
            <a:xfrm>
              <a:off x="923003" y="3917552"/>
              <a:ext cx="3942102" cy="1040476"/>
              <a:chOff x="923003" y="3917552"/>
              <a:chExt cx="3942102" cy="1040476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7719E236-B0D7-442E-8A08-3228625765BF}"/>
                  </a:ext>
                </a:extLst>
              </p:cNvPr>
              <p:cNvGrpSpPr/>
              <p:nvPr/>
            </p:nvGrpSpPr>
            <p:grpSpPr>
              <a:xfrm>
                <a:off x="1362045" y="4022855"/>
                <a:ext cx="3503060" cy="865576"/>
                <a:chOff x="2028795" y="4384805"/>
                <a:chExt cx="3503060" cy="865576"/>
              </a:xfrm>
            </p:grpSpPr>
            <p:sp>
              <p:nvSpPr>
                <p:cNvPr id="23" name="Freeform 20">
                  <a:extLst>
                    <a:ext uri="{FF2B5EF4-FFF2-40B4-BE49-F238E27FC236}">
                      <a16:creationId xmlns:a16="http://schemas.microsoft.com/office/drawing/2014/main" id="{B393AAC4-D254-453D-8479-B404D455FF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3364273" y="3082799"/>
                  <a:ext cx="832104" cy="3503060"/>
                </a:xfrm>
                <a:prstGeom prst="round2SameRect">
                  <a:avLst>
                    <a:gd name="adj1" fmla="val 19445"/>
                    <a:gd name="adj2" fmla="val 0"/>
                  </a:avLst>
                </a:prstGeom>
                <a:solidFill>
                  <a:srgbClr val="FFF9BC"/>
                </a:solidFill>
                <a:ln w="57150">
                  <a:solidFill>
                    <a:srgbClr val="91720D"/>
                  </a:solidFill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b="1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641E29D-906E-4634-ADED-96B1E8DA8216}"/>
                    </a:ext>
                  </a:extLst>
                </p:cNvPr>
                <p:cNvSpPr txBox="1"/>
                <p:nvPr/>
              </p:nvSpPr>
              <p:spPr>
                <a:xfrm>
                  <a:off x="2542253" y="4384805"/>
                  <a:ext cx="2895398" cy="80021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vi-VN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CÂU</a:t>
                  </a:r>
                  <a:r>
                    <a:rPr lang="en-US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9</a:t>
                  </a:r>
                  <a:r>
                    <a:rPr lang="vi-VN" sz="4600" b="1" dirty="0">
                      <a:solidFill>
                        <a:prstClr val="black"/>
                      </a:solidFill>
                      <a:latin typeface="Tahoma" pitchFamily="34" charset="0"/>
                      <a:ea typeface="Tahoma" pitchFamily="34" charset="0"/>
                      <a:cs typeface="Tahoma" pitchFamily="34" charset="0"/>
                    </a:rPr>
                    <a:t> </a:t>
                  </a:r>
                  <a:endParaRPr lang="en-US" sz="4600" b="1" dirty="0">
                    <a:solidFill>
                      <a:prstClr val="black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endParaRPr>
                </a:p>
              </p:txBody>
            </p:sp>
          </p:grpSp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650C43C-37F7-4A87-880E-749F8F15838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599" t="21515" r="9759" b="14519"/>
              <a:stretch/>
            </p:blipFill>
            <p:spPr>
              <a:xfrm>
                <a:off x="923003" y="3917552"/>
                <a:ext cx="1076356" cy="1040476"/>
              </a:xfrm>
              <a:prstGeom prst="round2DiagRect">
                <a:avLst>
                  <a:gd name="adj1" fmla="val 30509"/>
                  <a:gd name="adj2" fmla="val 0"/>
                </a:avLst>
              </a:prstGeom>
              <a:ln w="38100" cap="sq">
                <a:solidFill>
                  <a:srgbClr val="91720D"/>
                </a:solidFill>
                <a:miter lim="800000"/>
              </a:ln>
              <a:effectLst>
                <a:outerShdw blurRad="254000" algn="tl" rotWithShape="0">
                  <a:srgbClr val="000000">
                    <a:alpha val="43000"/>
                  </a:srgbClr>
                </a:outerShdw>
              </a:effectLst>
            </p:spPr>
          </p:pic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818C57C-1988-4D43-859D-82DC91340849}"/>
              </a:ext>
            </a:extLst>
          </p:cNvPr>
          <p:cNvGrpSpPr/>
          <p:nvPr/>
        </p:nvGrpSpPr>
        <p:grpSpPr>
          <a:xfrm>
            <a:off x="-72643" y="1572056"/>
            <a:ext cx="19656043" cy="830997"/>
            <a:chOff x="-288923" y="1892299"/>
            <a:chExt cx="19659598" cy="830996"/>
          </a:xfrm>
        </p:grpSpPr>
        <p:sp>
          <p:nvSpPr>
            <p:cNvPr id="26" name="Rounded Rectangle 2">
              <a:extLst>
                <a:ext uri="{FF2B5EF4-FFF2-40B4-BE49-F238E27FC236}">
                  <a16:creationId xmlns:a16="http://schemas.microsoft.com/office/drawing/2014/main" id="{0A9E6F3C-C9C6-4653-8688-729C6539C260}"/>
                </a:ext>
              </a:extLst>
            </p:cNvPr>
            <p:cNvSpPr/>
            <p:nvPr/>
          </p:nvSpPr>
          <p:spPr>
            <a:xfrm>
              <a:off x="-288923" y="2052547"/>
              <a:ext cx="2130429" cy="657125"/>
            </a:xfrm>
            <a:prstGeom prst="roundRect">
              <a:avLst/>
            </a:prstGeom>
            <a:solidFill>
              <a:srgbClr val="145F8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241A601-B9CB-4799-9262-795745D3C127}"/>
                </a:ext>
              </a:extLst>
            </p:cNvPr>
            <p:cNvSpPr txBox="1"/>
            <p:nvPr/>
          </p:nvSpPr>
          <p:spPr>
            <a:xfrm>
              <a:off x="1082674" y="1922269"/>
              <a:ext cx="184764" cy="75405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b="1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F08DB64-BC2D-418D-8BD5-391B8CF3BEA4}"/>
                </a:ext>
              </a:extLst>
            </p:cNvPr>
            <p:cNvSpPr txBox="1"/>
            <p:nvPr/>
          </p:nvSpPr>
          <p:spPr>
            <a:xfrm>
              <a:off x="2087562" y="1892299"/>
              <a:ext cx="17283113" cy="830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b="1" dirty="0">
                  <a:solidFill>
                    <a:srgbClr val="145F82"/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  BÀI TẬP TRẮC NGHIỆM CỦNG CỐ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FB11C65-8BD6-48B2-A424-E6F4B06755C4}"/>
                  </a:ext>
                </a:extLst>
              </p:cNvPr>
              <p:cNvSpPr txBox="1"/>
              <p:nvPr/>
            </p:nvSpPr>
            <p:spPr>
              <a:xfrm>
                <a:off x="490428" y="7749676"/>
                <a:ext cx="23131573" cy="5939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200" b="1" dirty="0">
                    <a:solidFill>
                      <a:prstClr val="black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   </a:t>
                </a:r>
                <a:r>
                  <a:rPr lang="vi-VN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Giả sử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𝑴</m:t>
                    </m:r>
                    <m:d>
                      <m:d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vi-VN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suy ra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𝑴𝑨</m:t>
                        </m:r>
                      </m:e>
                    </m:acc>
                    <m:d>
                      <m:d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sz="3200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𝑴𝑩</m:t>
                        </m:r>
                      </m:e>
                    </m:acc>
                    <m:d>
                      <m:d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sz="3200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𝑩𝑪</m:t>
                        </m:r>
                      </m:e>
                    </m:acc>
                    <m:d>
                      <m:d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;−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</m:oMath>
                </a14:m>
                <a:endParaRPr lang="en-US" sz="32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vi-VN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𝑨𝑴𝑩</m:t>
                        </m:r>
                      </m:e>
                    </m:acc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𝟒</m:t>
                    </m:r>
                    <m:sSup>
                      <m:sSup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vi-VN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suy ra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𝒄𝒐𝒔</m:t>
                            </m:r>
                          </m:fName>
                          <m:e>
                            <m:acc>
                              <m:accPr>
                                <m:chr m:val="̂"/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𝑨𝑴𝑩</m:t>
                                </m:r>
                              </m:e>
                            </m:acc>
                          </m:e>
                        </m:func>
                      </m:e>
                    </m:d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𝒄𝒐𝒔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32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3200" b="1" i="1">
                                        <a:latin typeface="Cambria Math" panose="02040503050406030204" pitchFamily="18" charset="0"/>
                                      </a:rPr>
                                      <m:t>𝑴𝑨</m:t>
                                    </m:r>
                                  </m:e>
                                </m:acc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;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sz="32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3200" b="1" i="1">
                                        <a:latin typeface="Cambria Math" panose="02040503050406030204" pitchFamily="18" charset="0"/>
                                      </a:rPr>
                                      <m:t>𝑩𝑪</m:t>
                                    </m:r>
                                  </m:e>
                                </m:acc>
                              </m:e>
                            </m:d>
                          </m:e>
                        </m:func>
                      </m:e>
                    </m:d>
                    <m:r>
                      <a:rPr lang="en-US" sz="3200" b="1" i="1">
                        <a:latin typeface="Cambria Math" panose="02040503050406030204" pitchFamily="18" charset="0"/>
                      </a:rPr>
                      <m:t>⇔</m:t>
                    </m:r>
                    <m:func>
                      <m:func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𝒄𝒐𝒔</m:t>
                        </m:r>
                      </m:fName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func>
                    <m:sSup>
                      <m:sSup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𝑴𝑨</m:t>
                                </m:r>
                              </m:e>
                            </m:acc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acc>
                              <m:accPr>
                                <m:chr m:val="⃗"/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e>
                            </m:acc>
                          </m:e>
                        </m:d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𝑴𝑨</m:t>
                                </m:r>
                              </m:e>
                            </m:acc>
                          </m:e>
                        </m:d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.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𝑩𝑪</m:t>
                                </m:r>
                              </m:e>
                            </m:acc>
                          </m:e>
                        </m:d>
                      </m:den>
                    </m:f>
                    <m:r>
                      <a:rPr lang="en-US" sz="3200" b="1" i="1">
                        <a:latin typeface="Cambria Math" panose="02040503050406030204" pitchFamily="18" charset="0"/>
                      </a:rPr>
                      <m:t>⇔</m:t>
                    </m:r>
                    <m:f>
                      <m:f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rad>
                      </m:num>
                      <m:den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d>
                              <m:d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d>
                              <m:d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d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32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1" i="1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  <m:r>
                                      <a:rPr lang="en-US" sz="3200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32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32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3200" b="1" i="1"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  <m:r>
                                      <a:rPr lang="en-US" sz="3200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3200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  <m:rad>
                          <m:radPr>
                            <m:degHide m:val="on"/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𝟗</m:t>
                            </m:r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𝟗</m:t>
                            </m:r>
                          </m:e>
                        </m:rad>
                      </m:den>
                    </m:f>
                  </m:oMath>
                </a14:m>
                <a:endParaRPr lang="en-US" sz="32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⇔</m:t>
                    </m:r>
                    <m:rad>
                      <m:radPr>
                        <m:degHide m:val="on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e>
                          <m:sup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d>
                          </m:e>
                          <m:sup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𝟕</m:t>
                        </m:r>
                      </m:e>
                    </m:d>
                  </m:oMath>
                </a14:m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(*)</a:t>
                </a:r>
              </a:p>
              <a:p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Mặt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khác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M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thuộc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BC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nên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hai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vectơ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𝑴𝑩</m:t>
                        </m:r>
                      </m:e>
                    </m:acc>
                    <m:r>
                      <a:rPr lang="en-US" sz="3200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𝑩𝑪</m:t>
                        </m:r>
                      </m:e>
                    </m:acc>
                  </m:oMath>
                </a14:m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cùng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phương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Suy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num>
                      <m:den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𝒚</m:t>
                        </m:r>
                      </m:num>
                      <m:den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US" sz="3200" b="1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thế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vào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(*) ta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được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d>
                          </m:e>
                          <m:sup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</m:d>
                          </m:e>
                          <m:sup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𝟔</m:t>
                        </m:r>
                      </m:e>
                    </m:d>
                    <m:r>
                      <a:rPr lang="en-US" sz="3200" b="1" i="1">
                        <a:latin typeface="Cambria Math" panose="02040503050406030204" pitchFamily="18" charset="0"/>
                      </a:rPr>
                      <m:t>⇔</m:t>
                    </m:r>
                    <m:sSup>
                      <m:sSup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hoặc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en-US" sz="32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+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𝟑</m:t>
                    </m:r>
                  </m:oMath>
                </a14:m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ta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𝑴𝑨</m:t>
                        </m:r>
                      </m:e>
                    </m:acc>
                    <m:d>
                      <m:d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sz="3200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𝑴𝑩</m:t>
                        </m:r>
                      </m:e>
                    </m:acc>
                    <m:d>
                      <m:d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;−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sz="3200" b="1" i="1">
                        <a:latin typeface="Cambria Math" panose="02040503050406030204" pitchFamily="18" charset="0"/>
                      </a:rPr>
                      <m:t>⇒</m:t>
                    </m:r>
                    <m:func>
                      <m:func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𝒄𝒐𝒔</m:t>
                        </m:r>
                      </m:fName>
                      <m:e>
                        <m:acc>
                          <m:accPr>
                            <m:chr m:val="̂"/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𝑨𝑴𝑩</m:t>
                            </m:r>
                          </m:e>
                        </m:acc>
                      </m:e>
                    </m:func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𝒄𝒐𝒔</m:t>
                        </m:r>
                      </m:fName>
                      <m:e>
                        <m:d>
                          <m:d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𝑴𝑨</m:t>
                                </m:r>
                              </m:e>
                            </m:acc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acc>
                              <m:accPr>
                                <m:chr m:val="⃗"/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𝑴𝑩</m:t>
                                </m:r>
                              </m:e>
                            </m:acc>
                          </m:e>
                        </m:d>
                      </m:e>
                    </m:func>
                    <m:r>
                      <a:rPr lang="en-US" sz="3200" b="1" i="1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rad>
                      </m:den>
                    </m:f>
                  </m:oMath>
                </a14:m>
                <a:endParaRPr lang="en-US" sz="32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𝑨𝑴𝑩</m:t>
                        </m:r>
                      </m:e>
                    </m:acc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𝟏𝟑</m:t>
                    </m:r>
                    <m:sSup>
                      <m:sSup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(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thỏa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mãn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)</a:t>
                </a:r>
              </a:p>
              <a:p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+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𝑴𝑨</m:t>
                        </m:r>
                      </m:e>
                    </m:acc>
                    <m:d>
                      <m:d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sz="3200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𝑴𝑩</m:t>
                        </m:r>
                      </m:e>
                    </m:acc>
                    <m:d>
                      <m:d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;−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sz="3200" b="1" i="1">
                        <a:latin typeface="Cambria Math" panose="02040503050406030204" pitchFamily="18" charset="0"/>
                      </a:rPr>
                      <m:t>⇒</m:t>
                    </m:r>
                    <m:func>
                      <m:func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𝒄𝒐𝒔</m:t>
                        </m:r>
                      </m:fName>
                      <m:e>
                        <m:acc>
                          <m:accPr>
                            <m:chr m:val="̂"/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𝑨𝑴𝑩</m:t>
                            </m:r>
                          </m:e>
                        </m:acc>
                      </m:e>
                    </m:func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𝒄𝒐𝒔</m:t>
                        </m:r>
                      </m:fName>
                      <m:e>
                        <m:d>
                          <m:d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𝑴𝑨</m:t>
                                </m:r>
                              </m:e>
                            </m:acc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;</m:t>
                            </m:r>
                            <m:acc>
                              <m:accPr>
                                <m:chr m:val="⃗"/>
                                <m:ctrlP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3200" b="1" i="1">
                                    <a:latin typeface="Cambria Math" panose="02040503050406030204" pitchFamily="18" charset="0"/>
                                  </a:rPr>
                                  <m:t>𝑴𝑩</m:t>
                                </m:r>
                              </m:e>
                            </m:acc>
                          </m:e>
                        </m:d>
                      </m:e>
                    </m:func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Khi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𝑨𝑴𝑩</m:t>
                        </m:r>
                      </m:e>
                    </m:acc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𝟒</m:t>
                    </m:r>
                    <m:sSup>
                      <m:sSup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Vậy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𝑴</m:t>
                    </m:r>
                    <m:d>
                      <m:d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𝟒</m:t>
                        </m:r>
                      </m:e>
                    </m:d>
                  </m:oMath>
                </a14:m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cần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FB11C65-8BD6-48B2-A424-E6F4B06755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428" y="7749676"/>
                <a:ext cx="23131573" cy="5939831"/>
              </a:xfrm>
              <a:prstGeom prst="rect">
                <a:avLst/>
              </a:prstGeom>
              <a:blipFill>
                <a:blip r:embed="rId8"/>
                <a:stretch>
                  <a:fillRect l="-659" t="-410" r="-553" b="-2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/>
              <p:nvPr/>
            </p:nvSpPr>
            <p:spPr>
              <a:xfrm>
                <a:off x="1957463" y="3092977"/>
                <a:ext cx="21664538" cy="15283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4800" b="1" dirty="0"/>
                  <a:t>                        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ba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𝑪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(−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;−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𝑴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đường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thẳng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𝑩𝑪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góc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𝑨𝑴𝑩</m:t>
                        </m:r>
                      </m:e>
                    </m:acc>
                    <m:r>
                      <a:rPr lang="en-US" sz="4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4400" b="1" i="1">
                        <a:latin typeface="Cambria Math" panose="02040503050406030204" pitchFamily="18" charset="0"/>
                      </a:rPr>
                      <m:t>𝟒</m:t>
                    </m:r>
                    <m:sSup>
                      <m:sSup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  <m:sup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EC0D67-2BCF-492D-9A86-1563DDA06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7463" y="3092977"/>
                <a:ext cx="21664538" cy="1528303"/>
              </a:xfrm>
              <a:prstGeom prst="rect">
                <a:avLst/>
              </a:prstGeom>
              <a:blipFill>
                <a:blip r:embed="rId9"/>
                <a:stretch>
                  <a:fillRect l="-1125" t="-6773" r="-197" b="-175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73C3CF5C-1143-48B0-96F6-576266D875C3}"/>
              </a:ext>
            </a:extLst>
          </p:cNvPr>
          <p:cNvSpPr txBox="1"/>
          <p:nvPr/>
        </p:nvSpPr>
        <p:spPr>
          <a:xfrm>
            <a:off x="669002" y="1685889"/>
            <a:ext cx="982961" cy="7540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III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419C482-116A-4893-8FDE-8CB9B6D14733}"/>
              </a:ext>
            </a:extLst>
          </p:cNvPr>
          <p:cNvSpPr/>
          <p:nvPr/>
        </p:nvSpPr>
        <p:spPr>
          <a:xfrm>
            <a:off x="594953" y="5259935"/>
            <a:ext cx="1080000" cy="108000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400" b="1" dirty="0">
                <a:solidFill>
                  <a:prstClr val="white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endParaRPr lang="en-US" sz="6400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59452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B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80CE3C4-DAA7-4A0F-8E87-ED076F69185F}"/>
              </a:ext>
            </a:extLst>
          </p:cNvPr>
          <p:cNvGrpSpPr/>
          <p:nvPr/>
        </p:nvGrpSpPr>
        <p:grpSpPr>
          <a:xfrm>
            <a:off x="12725926" y="4183840"/>
            <a:ext cx="11277074" cy="1788812"/>
            <a:chOff x="12439525" y="4486144"/>
            <a:chExt cx="11277074" cy="1788812"/>
          </a:xfrm>
          <a:solidFill>
            <a:srgbClr val="398842"/>
          </a:solidFill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ED60405-6FE9-4B40-9417-CAE23C9ED837}"/>
                </a:ext>
              </a:extLst>
            </p:cNvPr>
            <p:cNvGrpSpPr/>
            <p:nvPr/>
          </p:nvGrpSpPr>
          <p:grpSpPr>
            <a:xfrm>
              <a:off x="12439525" y="4540909"/>
              <a:ext cx="11277074" cy="1671800"/>
              <a:chOff x="6248168" y="2025161"/>
              <a:chExt cx="5638537" cy="835900"/>
            </a:xfrm>
            <a:grpFill/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CA2B41E-3E96-4461-8538-9C0E545FB27A}"/>
                  </a:ext>
                </a:extLst>
              </p:cNvPr>
              <p:cNvSpPr/>
              <p:nvPr/>
            </p:nvSpPr>
            <p:spPr>
              <a:xfrm>
                <a:off x="6544723" y="2025161"/>
                <a:ext cx="2468235" cy="835899"/>
              </a:xfrm>
              <a:prstGeom prst="rect">
                <a:avLst/>
              </a:prstGeom>
              <a:grpFill/>
              <a:ln w="190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400" b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F4C6AFC-ECFF-4896-A74E-0ABF4C0215BE}"/>
                  </a:ext>
                </a:extLst>
              </p:cNvPr>
              <p:cNvSpPr/>
              <p:nvPr/>
            </p:nvSpPr>
            <p:spPr>
              <a:xfrm>
                <a:off x="6248168" y="2189805"/>
                <a:ext cx="544265" cy="540000"/>
              </a:xfrm>
              <a:prstGeom prst="ellipse">
                <a:avLst/>
              </a:prstGeom>
              <a:grpFill/>
              <a:ln w="571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</a:t>
                </a:r>
                <a:endParaRPr lang="en-US" sz="6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5B34D41-D978-4E56-B444-EE5A24E5A300}"/>
                  </a:ext>
                </a:extLst>
              </p:cNvPr>
              <p:cNvSpPr/>
              <p:nvPr/>
            </p:nvSpPr>
            <p:spPr>
              <a:xfrm>
                <a:off x="9418470" y="2025162"/>
                <a:ext cx="2468235" cy="835899"/>
              </a:xfrm>
              <a:prstGeom prst="rect">
                <a:avLst/>
              </a:prstGeom>
              <a:grpFill/>
              <a:ln w="190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6400" b="1">
                  <a:solidFill>
                    <a:schemeClr val="bg1"/>
                  </a:solidFill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7274D4B7-DB46-45A2-9BE8-FD4F6E5AA9BA}"/>
                  </a:ext>
                </a:extLst>
              </p:cNvPr>
              <p:cNvSpPr/>
              <p:nvPr/>
            </p:nvSpPr>
            <p:spPr>
              <a:xfrm>
                <a:off x="9098992" y="2152849"/>
                <a:ext cx="540000" cy="540000"/>
              </a:xfrm>
              <a:prstGeom prst="ellipse">
                <a:avLst/>
              </a:prstGeom>
              <a:grpFill/>
              <a:ln w="57150">
                <a:solidFill>
                  <a:schemeClr val="bg1"/>
                </a:solidFill>
              </a:ln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6400" b="1" dirty="0">
                    <a:solidFill>
                      <a:schemeClr val="bg1"/>
                    </a:solidFill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D</a:t>
                </a:r>
                <a:endParaRPr lang="en-US" sz="64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2084E6AB-536A-4376-B134-DADD4F5BCF11}"/>
                    </a:ext>
                  </a:extLst>
                </p:cNvPr>
                <p:cNvSpPr/>
                <p:nvPr/>
              </p:nvSpPr>
              <p:spPr>
                <a:xfrm>
                  <a:off x="13933591" y="4486144"/>
                  <a:ext cx="3631577" cy="16137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4400" b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𝐇</m:t>
                        </m:r>
                        <m:d>
                          <m:dPr>
                            <m:ctrlPr>
                              <a:rPr lang="en-US" sz="4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4400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4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sz="4400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𝟐𝟓</m:t>
                                </m:r>
                              </m:num>
                              <m:den>
                                <m:r>
                                  <a:rPr lang="pt-BR" sz="4400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  <m:r>
                              <a:rPr lang="pt-BR" sz="4400" b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;−</m:t>
                            </m:r>
                            <m:f>
                              <m:fPr>
                                <m:ctrlPr>
                                  <a:rPr lang="en-US" sz="4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sz="4400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𝟓𝟖</m:t>
                                </m:r>
                              </m:num>
                              <m:den>
                                <m:r>
                                  <a:rPr lang="pt-BR" sz="4400" b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2084E6AB-536A-4376-B134-DADD4F5BCF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33591" y="4486144"/>
                  <a:ext cx="3631577" cy="1613711"/>
                </a:xfrm>
                <a:prstGeom prst="rect">
                  <a:avLst/>
                </a:prstGeom>
                <a:blipFill>
                  <a:blip r:embed="rId2"/>
                  <a:stretch>
                    <a:fillRect r="-72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AE03CC7A-63AE-496D-BA77-14300DB71895}"/>
                    </a:ext>
                  </a:extLst>
                </p:cNvPr>
                <p:cNvSpPr/>
                <p:nvPr/>
              </p:nvSpPr>
              <p:spPr>
                <a:xfrm>
                  <a:off x="19440222" y="4661245"/>
                  <a:ext cx="3411594" cy="161371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4400" b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𝐇</m:t>
                        </m:r>
                        <m:d>
                          <m:dPr>
                            <m:ctrlPr>
                              <a:rPr lang="en-US" sz="4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𝟐𝟓</m:t>
                                </m:r>
                              </m:num>
                              <m:den>
                                <m:r>
                                  <a:rPr lang="en-US" sz="4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𝟑</m:t>
                                </m:r>
                              </m:den>
                            </m:f>
                            <m:r>
                              <a:rPr lang="en-US" sz="4400" b="1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;</m:t>
                            </m:r>
                            <m:f>
                              <m:fPr>
                                <m:ctrlPr>
                                  <a:rPr lang="en-US" sz="4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𝟓𝟖</m:t>
                                </m:r>
                              </m:num>
                              <m:den>
                                <m:r>
                                  <a:rPr lang="en-US" sz="4400" b="1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𝟑</m:t>
                                </m:r>
                              </m:den>
                            </m:f>
                          </m:e>
                        </m:d>
                      </m:oMath>
                    </m:oMathPara>
                  </a14:m>
                  <a:endParaRPr lang="en-US" sz="4400" b="1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endParaRPr>
                </a:p>
              </p:txBody>
            </p:sp>
          </mc:Choice>
          <mc:Fallback xmlns=""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AE03CC7A-63AE-496D-BA77-14300DB7189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440222" y="4661245"/>
                  <a:ext cx="3411594" cy="161371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" name="Rounded Rectangle 52">
            <a:extLst>
              <a:ext uri="{FF2B5EF4-FFF2-40B4-BE49-F238E27FC236}">
                <a16:creationId xmlns:a16="http://schemas.microsoft.com/office/drawing/2014/main" id="{FA8A8524-55A3-4DC1-AC61-514744DED919}"/>
              </a:ext>
            </a:extLst>
          </p:cNvPr>
          <p:cNvSpPr/>
          <p:nvPr/>
        </p:nvSpPr>
        <p:spPr>
          <a:xfrm>
            <a:off x="154480" y="6361237"/>
            <a:ext cx="23848520" cy="6973763"/>
          </a:xfrm>
          <a:prstGeom prst="roundRect">
            <a:avLst>
              <a:gd name="adj" fmla="val 2239"/>
            </a:avLst>
          </a:prstGeom>
          <a:solidFill>
            <a:srgbClr val="C9E2B8"/>
          </a:solidFill>
          <a:ln w="28575">
            <a:solidFill>
              <a:schemeClr val="accent3">
                <a:lumMod val="50000"/>
              </a:schemeClr>
            </a:solidFill>
          </a:ln>
          <a:effectLst>
            <a:innerShdw blurRad="114300">
              <a:prstClr val="black"/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400" b="1" dirty="0">
              <a:solidFill>
                <a:schemeClr val="tx1"/>
              </a:solidFill>
            </a:endParaRPr>
          </a:p>
        </p:txBody>
      </p:sp>
      <p:grpSp>
        <p:nvGrpSpPr>
          <p:cNvPr id="11" name="Group 5">
            <a:extLst>
              <a:ext uri="{FF2B5EF4-FFF2-40B4-BE49-F238E27FC236}">
                <a16:creationId xmlns:a16="http://schemas.microsoft.com/office/drawing/2014/main" id="{5357AC78-711D-478D-ACB6-63856B9AEF4B}"/>
              </a:ext>
            </a:extLst>
          </p:cNvPr>
          <p:cNvGrpSpPr/>
          <p:nvPr/>
        </p:nvGrpSpPr>
        <p:grpSpPr>
          <a:xfrm>
            <a:off x="149511" y="6321861"/>
            <a:ext cx="3600000" cy="936000"/>
            <a:chOff x="444985" y="4706268"/>
            <a:chExt cx="3957472" cy="1037412"/>
          </a:xfrm>
          <a:solidFill>
            <a:srgbClr val="C9E2B8"/>
          </a:solidFill>
        </p:grpSpPr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71EB90B6-0FE8-4179-A425-76D3F5FD278D}"/>
                </a:ext>
              </a:extLst>
            </p:cNvPr>
            <p:cNvSpPr>
              <a:spLocks/>
            </p:cNvSpPr>
            <p:nvPr/>
          </p:nvSpPr>
          <p:spPr bwMode="auto">
            <a:xfrm rot="16200000" flipV="1">
              <a:off x="2450119" y="3741843"/>
              <a:ext cx="908272" cy="2996405"/>
            </a:xfrm>
            <a:prstGeom prst="round1Rect">
              <a:avLst/>
            </a:prstGeom>
            <a:grpFill/>
            <a:ln w="57150">
              <a:solidFill>
                <a:schemeClr val="accent6">
                  <a:lumMod val="75000"/>
                </a:schemeClr>
              </a:solidFill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TextBox 7">
              <a:extLst>
                <a:ext uri="{FF2B5EF4-FFF2-40B4-BE49-F238E27FC236}">
                  <a16:creationId xmlns:a16="http://schemas.microsoft.com/office/drawing/2014/main" id="{0C3FF307-8179-4A2B-82EF-0CAF4A8A7ECA}"/>
                </a:ext>
              </a:extLst>
            </p:cNvPr>
            <p:cNvSpPr txBox="1"/>
            <p:nvPr/>
          </p:nvSpPr>
          <p:spPr>
            <a:xfrm>
              <a:off x="1425342" y="4753497"/>
              <a:ext cx="2872840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vi-VN" sz="4600" b="1" dirty="0">
                  <a:solidFill>
                    <a:schemeClr val="accent6">
                      <a:lumMod val="75000"/>
                    </a:schemeClr>
                  </a:solidFill>
                  <a:latin typeface="Tahoma" pitchFamily="34" charset="0"/>
                  <a:ea typeface="Tahoma" pitchFamily="34" charset="0"/>
                  <a:cs typeface="Tahoma" pitchFamily="34" charset="0"/>
                </a:rPr>
                <a:t>Bài giải</a:t>
              </a:r>
              <a:endParaRPr lang="en-US" sz="4600" b="1" dirty="0">
                <a:solidFill>
                  <a:schemeClr val="accent6">
                    <a:lumMod val="75000"/>
                  </a:schemeClr>
                </a:solidFill>
                <a:latin typeface="Tahoma" pitchFamily="34" charset="0"/>
                <a:ea typeface="Tahoma" pitchFamily="34" charset="0"/>
                <a:cs typeface="Tahoma" pitchFamily="34" charset="0"/>
              </a:endParaRPr>
            </a:p>
          </p:txBody>
        </p:sp>
        <p:pic>
          <p:nvPicPr>
            <p:cNvPr id="14" name="Picture 8">
              <a:extLst>
                <a:ext uri="{FF2B5EF4-FFF2-40B4-BE49-F238E27FC236}">
                  <a16:creationId xmlns:a16="http://schemas.microsoft.com/office/drawing/2014/main" id="{7907171D-A66E-488E-B774-2D76551B21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950" t="14860" r="18922" b="25555"/>
            <a:stretch/>
          </p:blipFill>
          <p:spPr>
            <a:xfrm>
              <a:off x="444985" y="4706268"/>
              <a:ext cx="1058947" cy="1037412"/>
            </a:xfrm>
            <a:prstGeom prst="round2DiagRect">
              <a:avLst>
                <a:gd name="adj1" fmla="val 27632"/>
                <a:gd name="adj2" fmla="val 0"/>
              </a:avLst>
            </a:prstGeom>
            <a:grpFill/>
            <a:ln w="38100" cap="sq">
              <a:solidFill>
                <a:schemeClr val="accent6">
                  <a:lumMod val="50000"/>
                </a:schemeClr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</p:grpSp>
      <p:sp>
        <p:nvSpPr>
          <p:cNvPr id="16" name="Rounded Rectangle 41">
            <a:extLst>
              <a:ext uri="{FF2B5EF4-FFF2-40B4-BE49-F238E27FC236}">
                <a16:creationId xmlns:a16="http://schemas.microsoft.com/office/drawing/2014/main" id="{8CEB7639-8C37-429B-8642-89A2596E45BF}"/>
              </a:ext>
            </a:extLst>
          </p:cNvPr>
          <p:cNvSpPr/>
          <p:nvPr/>
        </p:nvSpPr>
        <p:spPr>
          <a:xfrm>
            <a:off x="310459" y="2371992"/>
            <a:ext cx="12388739" cy="3856256"/>
          </a:xfrm>
          <a:prstGeom prst="roundRect">
            <a:avLst>
              <a:gd name="adj" fmla="val 10158"/>
            </a:avLst>
          </a:prstGeom>
          <a:solidFill>
            <a:srgbClr val="FEEBB0"/>
          </a:solidFill>
          <a:ln w="12700">
            <a:solidFill>
              <a:srgbClr val="91720D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CEC6580-039C-483A-B732-1519BE679FD3}"/>
              </a:ext>
            </a:extLst>
          </p:cNvPr>
          <p:cNvGrpSpPr/>
          <p:nvPr/>
        </p:nvGrpSpPr>
        <p:grpSpPr>
          <a:xfrm>
            <a:off x="0" y="1917382"/>
            <a:ext cx="3656379" cy="847011"/>
            <a:chOff x="923003" y="3917552"/>
            <a:chExt cx="4003839" cy="106436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DE8E5AA-2865-469B-B774-A4C2380AE3FD}"/>
                </a:ext>
              </a:extLst>
            </p:cNvPr>
            <p:cNvGrpSpPr/>
            <p:nvPr/>
          </p:nvGrpSpPr>
          <p:grpSpPr>
            <a:xfrm>
              <a:off x="1362045" y="3976350"/>
              <a:ext cx="3564797" cy="1005567"/>
              <a:chOff x="2028795" y="4338300"/>
              <a:chExt cx="3564797" cy="1005567"/>
            </a:xfrm>
          </p:grpSpPr>
          <p:sp>
            <p:nvSpPr>
              <p:cNvPr id="20" name="Freeform 20">
                <a:extLst>
                  <a:ext uri="{FF2B5EF4-FFF2-40B4-BE49-F238E27FC236}">
                    <a16:creationId xmlns:a16="http://schemas.microsoft.com/office/drawing/2014/main" id="{3EA2DB46-FE90-4B71-AD74-95E7FBA35FB5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3364273" y="3082799"/>
                <a:ext cx="832104" cy="3503060"/>
              </a:xfrm>
              <a:prstGeom prst="round2SameRect">
                <a:avLst>
                  <a:gd name="adj1" fmla="val 19445"/>
                  <a:gd name="adj2" fmla="val 0"/>
                </a:avLst>
              </a:prstGeom>
              <a:solidFill>
                <a:srgbClr val="FFF9BC"/>
              </a:solidFill>
              <a:ln w="57150">
                <a:solidFill>
                  <a:srgbClr val="91720D"/>
                </a:solidFill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b="1">
                  <a:latin typeface="Tahoma" pitchFamily="34" charset="0"/>
                  <a:ea typeface="Tahoma" pitchFamily="34" charset="0"/>
                  <a:cs typeface="Tahoma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396E61-7359-474F-BCD6-96B28911FADE}"/>
                  </a:ext>
                </a:extLst>
              </p:cNvPr>
              <p:cNvSpPr txBox="1"/>
              <p:nvPr/>
            </p:nvSpPr>
            <p:spPr>
              <a:xfrm>
                <a:off x="2532513" y="4338300"/>
                <a:ext cx="3061079" cy="1005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4600" b="1" dirty="0" err="1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Câu</a:t>
                </a:r>
                <a:r>
                  <a:rPr lang="en-US" sz="46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10</a:t>
                </a:r>
              </a:p>
            </p:txBody>
          </p:sp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77179F5-EF5F-4DF5-BB5A-FC6532B957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599" t="21515" r="9759" b="14519"/>
            <a:stretch/>
          </p:blipFill>
          <p:spPr>
            <a:xfrm>
              <a:off x="923003" y="3917552"/>
              <a:ext cx="1076356" cy="1040476"/>
            </a:xfrm>
            <a:prstGeom prst="round2DiagRect">
              <a:avLst>
                <a:gd name="adj1" fmla="val 30509"/>
                <a:gd name="adj2" fmla="val 0"/>
              </a:avLst>
            </a:prstGeom>
            <a:ln w="38100" cap="sq">
              <a:solidFill>
                <a:srgbClr val="91720D"/>
              </a:solidFill>
              <a:miter lim="800000"/>
            </a:ln>
            <a:effectLst>
              <a:outerShdw blurRad="254000" algn="tl" rotWithShape="0">
                <a:srgbClr val="000000">
                  <a:alpha val="43000"/>
                </a:srgbClr>
              </a:outerShdw>
            </a:effec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2D542EB-DA8F-4047-A893-7C264039979F}"/>
                  </a:ext>
                </a:extLst>
              </p:cNvPr>
              <p:cNvSpPr txBox="1"/>
              <p:nvPr/>
            </p:nvSpPr>
            <p:spPr>
              <a:xfrm>
                <a:off x="606922" y="2179954"/>
                <a:ext cx="12016606" cy="495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800" b="1" dirty="0">
                    <a:latin typeface="Tahoma" pitchFamily="34" charset="0"/>
                    <a:ea typeface="Tahoma" pitchFamily="34" charset="0"/>
                    <a:cs typeface="Tahoma" pitchFamily="34" charset="0"/>
                  </a:rPr>
                  <a:t>                   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</m:t>
                    </m:r>
                    <m:d>
                      <m:dPr>
                        <m:ctrlPr>
                          <a:rPr lang="en-US" sz="44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44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Lấy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nằm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hoành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không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âm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trên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trục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tung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tung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dương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sao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cho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tam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vuông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tại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toạ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độ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để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tam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4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có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diện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tích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lớn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44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sz="44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sz="4800" b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2D542EB-DA8F-4047-A893-7C2640399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922" y="2179954"/>
                <a:ext cx="12016606" cy="4955203"/>
              </a:xfrm>
              <a:prstGeom prst="rect">
                <a:avLst/>
              </a:prstGeom>
              <a:blipFill>
                <a:blip r:embed="rId6"/>
                <a:stretch>
                  <a:fillRect l="-2080" t="-1601" r="-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5CF5B428-2AE5-4B2C-A905-444E83BBB4EE}"/>
              </a:ext>
            </a:extLst>
          </p:cNvPr>
          <p:cNvSpPr/>
          <p:nvPr/>
        </p:nvSpPr>
        <p:spPr>
          <a:xfrm>
            <a:off x="6211043" y="7641809"/>
            <a:ext cx="1219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4800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D84C84F-0DBD-4B7A-ADC7-E1129B975263}"/>
                  </a:ext>
                </a:extLst>
              </p:cNvPr>
              <p:cNvSpPr/>
              <p:nvPr/>
            </p:nvSpPr>
            <p:spPr>
              <a:xfrm>
                <a:off x="752215" y="7340381"/>
                <a:ext cx="16316586" cy="435221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vi-VN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Gọi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𝑩</m:t>
                    </m:r>
                    <m:d>
                      <m:d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en-US" sz="32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𝑪</m:t>
                    </m:r>
                    <m:d>
                      <m:d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</m:oMath>
                </a14:m>
                <a:r>
                  <a:rPr lang="vi-VN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với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vi-VN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vi-VN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vi-VN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Suy ra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d>
                      <m:d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;−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sz="3200" b="1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d>
                      <m:d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en-US" sz="32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vi-VN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Theo giả thiết ta có tam giác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𝑨𝑩𝑪</m:t>
                    </m:r>
                  </m:oMath>
                </a14:m>
                <a:r>
                  <a:rPr lang="vi-VN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vuông tại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vi-VN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nên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𝑨𝑩</m:t>
                        </m:r>
                      </m:e>
                    </m:acc>
                    <m:r>
                      <a:rPr lang="en-US" sz="3200" b="1" i="1">
                        <a:latin typeface="Cambria Math" panose="02040503050406030204" pitchFamily="18" charset="0"/>
                      </a:rPr>
                      <m:t>.</m:t>
                    </m:r>
                    <m:acc>
                      <m:accPr>
                        <m:chr m:val="⃗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𝑨𝑪</m:t>
                        </m:r>
                      </m:e>
                    </m:acc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3200" b="1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>
                          <a:latin typeface="Cambria Math" panose="02040503050406030204" pitchFamily="18" charset="0"/>
                        </a:rPr>
                        <m:t>⇔</m:t>
                      </m:r>
                      <m:d>
                        <m:d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d>
                        <m:d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sz="3200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b="1" i="1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3200" b="1" i="1"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ctrlPr>
                            <a:rPr lang="en-US" sz="3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sz="3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3200" b="1" i="1">
                          <a:latin typeface="Cambria Math" panose="02040503050406030204" pitchFamily="18" charset="0"/>
                        </a:rPr>
                        <m:t>⇔</m:t>
                      </m:r>
                      <m:r>
                        <a:rPr lang="en-US" sz="3200" b="1" i="1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sz="3200" b="1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3200" b="1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3200" b="1" i="1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sz="3200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32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vi-VN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Ta có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𝜟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𝑨𝑩𝑪</m:t>
                        </m:r>
                      </m:sub>
                    </m:sSub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3200" b="1" i="1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𝑨𝑪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  <m:sSup>
                          <m:sSup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rad>
                    <m:rad>
                      <m:radPr>
                        <m:degHide m:val="on"/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  <m:sup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+(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𝟏</m:t>
                        </m:r>
                        <m:sSup>
                          <m:sSupPr>
                            <m:ctrlPr>
                              <a:rPr lang="en-US" sz="32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32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  <m:r>
                      <a:rPr lang="en-US" sz="3200" b="1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𝟐</m:t>
                    </m:r>
                    <m:sSup>
                      <m:sSup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2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sz="32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vi-VN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Vì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vi-VN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nên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  <a:r>
                  <a:rPr lang="vi-VN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Xét hàm số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32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vi-VN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với </a:t>
                </a:r>
                <a14:m>
                  <m:oMath xmlns:m="http://schemas.openxmlformats.org/officeDocument/2006/math">
                    <m:r>
                      <a:rPr lang="en-US" sz="32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3200" b="1" i="1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sz="32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US" sz="32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</m:oMath>
                </a14:m>
                <a:endParaRPr lang="en-US" sz="32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Bảng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biến</a:t>
                </a:r>
                <a:r>
                  <a:rPr lang="en-US" sz="3200" b="1" dirty="0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thiên</a:t>
                </a:r>
                <a:endParaRPr lang="en-US" sz="32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endParaRPr lang="en-US" sz="48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AD84C84F-0DBD-4B7A-ADC7-E1129B9752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15" y="7340381"/>
                <a:ext cx="16316586" cy="4352217"/>
              </a:xfrm>
              <a:prstGeom prst="rect">
                <a:avLst/>
              </a:prstGeom>
              <a:blipFill>
                <a:blip r:embed="rId7"/>
                <a:stretch>
                  <a:fillRect l="-934" t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B50AE326-6CE8-425B-8406-EB1FD3BD3328}"/>
              </a:ext>
            </a:extLst>
          </p:cNvPr>
          <p:cNvSpPr/>
          <p:nvPr/>
        </p:nvSpPr>
        <p:spPr>
          <a:xfrm>
            <a:off x="19045509" y="2462762"/>
            <a:ext cx="4936470" cy="1500400"/>
          </a:xfrm>
          <a:prstGeom prst="rect">
            <a:avLst/>
          </a:prstGeom>
          <a:solidFill>
            <a:srgbClr val="398842"/>
          </a:solidFill>
          <a:ln w="190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400" b="1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7E3F1BF-BB23-4A94-B346-4B0B46509E3F}"/>
              </a:ext>
            </a:extLst>
          </p:cNvPr>
          <p:cNvSpPr/>
          <p:nvPr/>
        </p:nvSpPr>
        <p:spPr>
          <a:xfrm>
            <a:off x="18412509" y="2638314"/>
            <a:ext cx="1080000" cy="1080000"/>
          </a:xfrm>
          <a:prstGeom prst="ellipse">
            <a:avLst/>
          </a:prstGeom>
          <a:solidFill>
            <a:srgbClr val="327E3B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6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endParaRPr lang="en-US" sz="6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781D58-9BD1-4957-8ABB-AAA4E3A17A32}"/>
              </a:ext>
            </a:extLst>
          </p:cNvPr>
          <p:cNvSpPr/>
          <p:nvPr/>
        </p:nvSpPr>
        <p:spPr>
          <a:xfrm>
            <a:off x="13351530" y="2462762"/>
            <a:ext cx="4936470" cy="1500400"/>
          </a:xfrm>
          <a:prstGeom prst="rect">
            <a:avLst/>
          </a:prstGeom>
          <a:solidFill>
            <a:srgbClr val="398842"/>
          </a:solidFill>
          <a:ln w="190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400" b="1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D6F22D8-0DB0-4E1E-BD0C-F5C8809A0BF1}"/>
              </a:ext>
            </a:extLst>
          </p:cNvPr>
          <p:cNvSpPr/>
          <p:nvPr/>
        </p:nvSpPr>
        <p:spPr>
          <a:xfrm>
            <a:off x="12635111" y="2619948"/>
            <a:ext cx="1080000" cy="1080000"/>
          </a:xfrm>
          <a:prstGeom prst="ellipse">
            <a:avLst/>
          </a:prstGeom>
          <a:solidFill>
            <a:srgbClr val="327E3B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6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endParaRPr lang="en-US" sz="6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C2C1509-6F71-4779-9A02-91AF3304F6A2}"/>
                  </a:ext>
                </a:extLst>
              </p:cNvPr>
              <p:cNvSpPr/>
              <p:nvPr/>
            </p:nvSpPr>
            <p:spPr>
              <a:xfrm>
                <a:off x="19616020" y="2420881"/>
                <a:ext cx="3712298" cy="161371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44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𝐇</m:t>
                      </m:r>
                      <m:d>
                        <m:dPr>
                          <m:ctrlPr>
                            <a:rPr lang="en-US" sz="4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44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4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44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𝟐𝟓</m:t>
                              </m:r>
                            </m:num>
                            <m:den>
                              <m:r>
                                <a:rPr lang="pt-BR" sz="44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pt-BR" sz="44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f>
                            <m:fPr>
                              <m:ctrlPr>
                                <a:rPr lang="en-US" sz="4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44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𝟓𝟖</m:t>
                              </m:r>
                            </m:num>
                            <m:den>
                              <m:r>
                                <a:rPr lang="pt-BR" sz="44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C2C1509-6F71-4779-9A02-91AF3304F6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6020" y="2420881"/>
                <a:ext cx="3712298" cy="16137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45BE5CF-7A77-440A-B1C9-9B17FE2DE78E}"/>
                  </a:ext>
                </a:extLst>
              </p:cNvPr>
              <p:cNvSpPr/>
              <p:nvPr/>
            </p:nvSpPr>
            <p:spPr>
              <a:xfrm>
                <a:off x="14179037" y="2481368"/>
                <a:ext cx="3712298" cy="16137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4400" b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𝐇</m:t>
                      </m:r>
                      <m:d>
                        <m:dPr>
                          <m:ctrlPr>
                            <a:rPr lang="en-US" sz="4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4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44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𝟐𝟓</m:t>
                              </m:r>
                            </m:num>
                            <m:den>
                              <m:r>
                                <a:rPr lang="pt-BR" sz="44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  <m:r>
                            <a:rPr lang="pt-BR" sz="440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;−</m:t>
                          </m:r>
                          <m:f>
                            <m:fPr>
                              <m:ctrlPr>
                                <a:rPr lang="en-US" sz="4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44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𝟓𝟖</m:t>
                              </m:r>
                            </m:num>
                            <m:den>
                              <m:r>
                                <a:rPr lang="pt-BR" sz="440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4400" b="1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45BE5CF-7A77-440A-B1C9-9B17FE2DE7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79037" y="2481368"/>
                <a:ext cx="3712298" cy="161371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Oval 36">
            <a:extLst>
              <a:ext uri="{FF2B5EF4-FFF2-40B4-BE49-F238E27FC236}">
                <a16:creationId xmlns:a16="http://schemas.microsoft.com/office/drawing/2014/main" id="{AE22C2E3-A9EA-4BAF-8011-DAB37FA27E48}"/>
              </a:ext>
            </a:extLst>
          </p:cNvPr>
          <p:cNvSpPr/>
          <p:nvPr/>
        </p:nvSpPr>
        <p:spPr>
          <a:xfrm>
            <a:off x="18380656" y="4516373"/>
            <a:ext cx="1080000" cy="1080000"/>
          </a:xfrm>
          <a:prstGeom prst="ellipse">
            <a:avLst/>
          </a:prstGeom>
          <a:solidFill>
            <a:srgbClr val="FF0000"/>
          </a:solidFill>
          <a:ln w="57150">
            <a:solidFill>
              <a:schemeClr val="bg1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400" b="1" dirty="0">
                <a:latin typeface="Tahoma" pitchFamily="34" charset="0"/>
                <a:ea typeface="Tahoma" pitchFamily="34" charset="0"/>
                <a:cs typeface="Tahoma" pitchFamily="34" charset="0"/>
              </a:rPr>
              <a:t>D</a:t>
            </a:r>
            <a:endParaRPr lang="en-US" sz="6400" dirty="0"/>
          </a:p>
        </p:txBody>
      </p:sp>
      <p:pic>
        <p:nvPicPr>
          <p:cNvPr id="38" name="Picture 37" descr="Chart, line chart&#10;&#10;Description automatically generated">
            <a:extLst>
              <a:ext uri="{FF2B5EF4-FFF2-40B4-BE49-F238E27FC236}">
                <a16:creationId xmlns:a16="http://schemas.microsoft.com/office/drawing/2014/main" id="{1ACC62CD-B2BC-429C-9198-750640DEE22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368708" y="6510895"/>
            <a:ext cx="6334385" cy="2958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52DE6AD-B28D-4D15-8490-096F4384527F}"/>
                  </a:ext>
                </a:extLst>
              </p:cNvPr>
              <p:cNvSpPr txBox="1"/>
              <p:nvPr/>
            </p:nvSpPr>
            <p:spPr>
              <a:xfrm>
                <a:off x="6992" y="10944042"/>
                <a:ext cx="23321326" cy="2779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62992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Suy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trị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lớn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của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hàm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số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n-US" sz="3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3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3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3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sz="3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𝟒</m:t>
                    </m:r>
                    <m:r>
                      <a:rPr lang="en-US" sz="3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sz="3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3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𝟓</m:t>
                    </m:r>
                  </m:oMath>
                </a14:m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với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sz="3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sz="3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sz="3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&lt;</m:t>
                    </m:r>
                    <m:f>
                      <m:fPr>
                        <m:ctrlPr>
                          <a:rPr lang="en-US" sz="3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𝟓</m:t>
                        </m:r>
                      </m:num>
                      <m:den>
                        <m:r>
                          <a:rPr lang="en-US" sz="3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n-US" sz="3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3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𝟓</m:t>
                    </m:r>
                  </m:oMath>
                </a14:m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en-US" sz="3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3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Do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đó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diện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tích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tam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giác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𝑨𝑩𝑪</m:t>
                    </m:r>
                  </m:oMath>
                </a14:m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lớn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nhất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và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chỉ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khi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𝒃</m:t>
                    </m:r>
                    <m:r>
                      <a:rPr lang="en-US" sz="3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3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,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suy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ra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𝒄</m:t>
                    </m:r>
                    <m:r>
                      <a:rPr lang="en-US" sz="3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3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𝟓</m:t>
                    </m:r>
                  </m:oMath>
                </a14:m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pPr marL="629920">
                  <a:lnSpc>
                    <a:spcPct val="107000"/>
                  </a:lnSpc>
                  <a:spcAft>
                    <a:spcPts val="800"/>
                  </a:spcAft>
                </a:pP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Vậy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𝑪</m:t>
                    </m:r>
                    <m:d>
                      <m:dPr>
                        <m:ctrlPr>
                          <a:rPr lang="en-US" sz="3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3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  <m:r>
                          <a:rPr lang="en-US" sz="3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;</m:t>
                        </m:r>
                        <m:r>
                          <a:rPr lang="en-US" sz="3200" b="1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𝟓</m:t>
                        </m:r>
                      </m:e>
                    </m:d>
                  </m:oMath>
                </a14:m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là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điểm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cần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</a:t>
                </a:r>
                <a:r>
                  <a:rPr lang="en-US" sz="3200" b="1" dirty="0" err="1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tìm</a:t>
                </a:r>
                <a:r>
                  <a:rPr lang="en-US" sz="3200" b="1" dirty="0">
                    <a:effectLst/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52DE6AD-B28D-4D15-8490-096F43845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2" y="10944042"/>
                <a:ext cx="23321326" cy="27795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ounded Rectangle 54"/>
          <p:cNvSpPr/>
          <p:nvPr/>
        </p:nvSpPr>
        <p:spPr>
          <a:xfrm>
            <a:off x="256032" y="1078992"/>
            <a:ext cx="23874984" cy="12380976"/>
          </a:xfrm>
          <a:prstGeom prst="roundRect">
            <a:avLst>
              <a:gd name="adj" fmla="val 2000"/>
            </a:avLst>
          </a:prstGeom>
          <a:noFill/>
          <a:ln w="15875">
            <a:solidFill>
              <a:srgbClr val="2A3B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0"/>
            <a:ext cx="24384000" cy="950976"/>
          </a:xfrm>
          <a:prstGeom prst="rect">
            <a:avLst/>
          </a:prstGeom>
          <a:solidFill>
            <a:srgbClr val="2A3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0" y="950976"/>
            <a:ext cx="24384000" cy="64008"/>
          </a:xfrm>
          <a:prstGeom prst="rect">
            <a:avLst/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0"/>
            <a:ext cx="1188720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rial"/>
              </a:rPr>
              <a:t>TOÁN 10   ·   CHƯƠNG IV   ·   BÀI 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887200" y="0"/>
            <a:ext cx="11978640" cy="950976"/>
          </a:xfrm>
          <a:prstGeom prst="rect">
            <a:avLst/>
          </a:prstGeom>
          <a:noFill/>
        </p:spPr>
        <p:txBody>
          <a:bodyPr wrap="none" anchor="ctr" tIns="0" bIns="0">
            <a:spAutoFit/>
          </a:bodyPr>
          <a:lstStyle/>
          <a:p>
            <a:pPr algn="r"/>
            <a:r>
              <a:rPr sz="1500" b="1">
                <a:solidFill>
                  <a:srgbClr val="CAD3F0"/>
                </a:solidFill>
                <a:latin typeface="Arial"/>
              </a:rPr>
              <a:t>KẾT NỐI TRI THỨC VỚI CUỘC SỐNG</a:t>
            </a:r>
          </a:p>
        </p:txBody>
      </p:sp>
    </p:spTree>
    <p:extLst>
      <p:ext uri="{BB962C8B-B14F-4D97-AF65-F5344CB8AC3E}">
        <p14:creationId xmlns:p14="http://schemas.microsoft.com/office/powerpoint/2010/main" val="22041508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4" grpId="0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7" grpId="0" animBg="1"/>
      <p:bldP spid="3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8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7&quot;/&gt;&lt;/object&gt;&lt;object type=&quot;3&quot; unique_id=&quot;10004&quot;&gt;&lt;property id=&quot;20148&quot; value=&quot;5&quot;/&gt;&lt;property id=&quot;20300&quot; value=&quot;Slide 2&quot;/&gt;&lt;property id=&quot;20307&quot; value=&quot;258&quot;/&gt;&lt;/object&gt;&lt;object type=&quot;3&quot; unique_id=&quot;10005&quot;&gt;&lt;property id=&quot;20148&quot; value=&quot;5&quot;/&gt;&lt;property id=&quot;20300&quot; value=&quot;Slide 3&quot;/&gt;&lt;property id=&quot;20307&quot; value=&quot;259&quot;/&gt;&lt;/object&gt;&lt;object type=&quot;3&quot; unique_id=&quot;10006&quot;&gt;&lt;property id=&quot;20148&quot; value=&quot;5&quot;/&gt;&lt;property id=&quot;20300&quot; value=&quot;Slide 4&quot;/&gt;&lt;property id=&quot;20307&quot; value=&quot;260&quot;/&gt;&lt;/object&gt;&lt;object type=&quot;3&quot; unique_id=&quot;10007&quot;&gt;&lt;property id=&quot;20148&quot; value=&quot;5&quot;/&gt;&lt;property id=&quot;20300&quot; value=&quot;Slide 5&quot;/&gt;&lt;property id=&quot;20307&quot; value=&quot;262&quot;/&gt;&lt;/object&gt;&lt;object type=&quot;3&quot; unique_id=&quot;10008&quot;&gt;&lt;property id=&quot;20148&quot; value=&quot;5&quot;/&gt;&lt;property id=&quot;20300&quot; value=&quot;Slide 6&quot;/&gt;&lt;property id=&quot;20307&quot; value=&quot;263&quot;/&gt;&lt;/object&gt;&lt;object type=&quot;3&quot; unique_id=&quot;10009&quot;&gt;&lt;property id=&quot;20148&quot; value=&quot;5&quot;/&gt;&lt;property id=&quot;20300&quot; value=&quot;Slide 7&quot;/&gt;&lt;property id=&quot;20307&quot; value=&quot;264&quot;/&gt;&lt;/object&gt;&lt;object type=&quot;3&quot; unique_id=&quot;10010&quot;&gt;&lt;property id=&quot;20148&quot; value=&quot;5&quot;/&gt;&lt;property id=&quot;20300&quot; value=&quot;Slide 8&quot;/&gt;&lt;property id=&quot;20307&quot; value=&quot;265&quot;/&gt;&lt;/object&gt;&lt;object type=&quot;3&quot; unique_id=&quot;10011&quot;&gt;&lt;property id=&quot;20148&quot; value=&quot;5&quot;/&gt;&lt;property id=&quot;20300&quot; value=&quot;Slide 9&quot;/&gt;&lt;property id=&quot;20307&quot; value=&quot;266&quot;/&gt;&lt;/object&gt;&lt;object type=&quot;3&quot; unique_id=&quot;10012&quot;&gt;&lt;property id=&quot;20148&quot; value=&quot;5&quot;/&gt;&lt;property id=&quot;20300&quot; value=&quot;Slide 10&quot;/&gt;&lt;property id=&quot;20307&quot; value=&quot;267&quot;/&gt;&lt;/object&gt;&lt;object type=&quot;3&quot; unique_id=&quot;10013&quot;&gt;&lt;property id=&quot;20148&quot; value=&quot;5&quot;/&gt;&lt;property id=&quot;20300&quot; value=&quot;Slide 11&quot;/&gt;&lt;property id=&quot;20307&quot; value=&quot;269&quot;/&gt;&lt;/object&gt;&lt;object type=&quot;3&quot; unique_id=&quot;10014&quot;&gt;&lt;property id=&quot;20148&quot; value=&quot;5&quot;/&gt;&lt;property id=&quot;20300&quot; value=&quot;Slide 12&quot;/&gt;&lt;property id=&quot;20307&quot; value=&quot;270&quot;/&gt;&lt;/object&gt;&lt;object type=&quot;3&quot; unique_id=&quot;10015&quot;&gt;&lt;property id=&quot;20148&quot; value=&quot;5&quot;/&gt;&lt;property id=&quot;20300&quot; value=&quot;Slide 13&quot;/&gt;&lt;property id=&quot;20307&quot; value=&quot;274&quot;/&gt;&lt;/object&gt;&lt;object type=&quot;3&quot; unique_id=&quot;10016&quot;&gt;&lt;property id=&quot;20148&quot; value=&quot;5&quot;/&gt;&lt;property id=&quot;20300&quot; value=&quot;Slide 14&quot;/&gt;&lt;property id=&quot;20307&quot; value=&quot;275&quot;/&gt;&lt;/object&gt;&lt;object type=&quot;3&quot; unique_id=&quot;10017&quot;&gt;&lt;property id=&quot;20148&quot; value=&quot;5&quot;/&gt;&lt;property id=&quot;20300&quot; value=&quot;Slide 15&quot;/&gt;&lt;property id=&quot;20307&quot; value=&quot;276&quot;/&gt;&lt;/object&gt;&lt;object type=&quot;3&quot; unique_id=&quot;10018&quot;&gt;&lt;property id=&quot;20148&quot; value=&quot;5&quot;/&gt;&lt;property id=&quot;20300&quot; value=&quot;Slide 16&quot;/&gt;&lt;property id=&quot;20307&quot; value=&quot;277&quot;/&gt;&lt;/object&gt;&lt;object type=&quot;3&quot; unique_id=&quot;10019&quot;&gt;&lt;property id=&quot;20148&quot; value=&quot;5&quot;/&gt;&lt;property id=&quot;20300&quot; value=&quot;Slide 17&quot;/&gt;&lt;property id=&quot;20307&quot; value=&quot;271&quot;/&gt;&lt;/object&gt;&lt;object type=&quot;3&quot; unique_id=&quot;10020&quot;&gt;&lt;property id=&quot;20148&quot; value=&quot;5&quot;/&gt;&lt;property id=&quot;20300&quot; value=&quot;Slide 18&quot;/&gt;&lt;property id=&quot;20307&quot; value=&quot;278&quot;/&gt;&lt;/object&gt;&lt;object type=&quot;3&quot; unique_id=&quot;10021&quot;&gt;&lt;property id=&quot;20148&quot; value=&quot;5&quot;/&gt;&lt;property id=&quot;20300&quot; value=&quot;Slide 19&quot;/&gt;&lt;property id=&quot;20307&quot; value=&quot;279&quot;/&gt;&lt;/object&gt;&lt;object type=&quot;3&quot; unique_id=&quot;10022&quot;&gt;&lt;property id=&quot;20148&quot; value=&quot;5&quot;/&gt;&lt;property id=&quot;20300&quot; value=&quot;Slide 20&quot;/&gt;&lt;property id=&quot;20307&quot; value=&quot;272&quot;/&gt;&lt;/object&gt;&lt;object type=&quot;3&quot; unique_id=&quot;10023&quot;&gt;&lt;property id=&quot;20148&quot; value=&quot;5&quot;/&gt;&lt;property id=&quot;20300&quot; value=&quot;Slide 21&quot;/&gt;&lt;property id=&quot;20307&quot; value=&quot;273&quot;/&gt;&lt;/object&gt;&lt;object type=&quot;3&quot; unique_id=&quot;10024&quot;&gt;&lt;property id=&quot;20148&quot; value=&quot;5&quot;/&gt;&lt;property id=&quot;20300&quot; value=&quot;Slide 22&quot;/&gt;&lt;property id=&quot;20307&quot; value=&quot;268&quot;/&gt;&lt;/object&gt;&lt;object type=&quot;3&quot; unique_id=&quot;10025&quot;&gt;&lt;property id=&quot;20148&quot; value=&quot;5&quot;/&gt;&lt;property id=&quot;20300&quot; value=&quot;Slide 23&quot;/&gt;&lt;property id=&quot;20307&quot; value=&quot;280&quot;/&gt;&lt;/object&gt;&lt;object type=&quot;3&quot; unique_id=&quot;10026&quot;&gt;&lt;property id=&quot;20148&quot; value=&quot;5&quot;/&gt;&lt;property id=&quot;20300&quot; value=&quot;Slide 24&quot;/&gt;&lt;property id=&quot;20307&quot; value=&quot;281&quot;/&gt;&lt;/object&gt;&lt;object type=&quot;3&quot; unique_id=&quot;10027&quot;&gt;&lt;property id=&quot;20148&quot; value=&quot;5&quot;/&gt;&lt;property id=&quot;20300&quot; value=&quot;Slide 25&quot;/&gt;&lt;property id=&quot;20307&quot; value=&quot;282&quot;/&gt;&lt;/object&gt;&lt;/object&gt;&lt;object type=&quot;8&quot; unique_id=&quot;10056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3381</TotalTime>
  <Words>1367</Words>
  <Application>Microsoft Office PowerPoint</Application>
  <PresentationFormat>Custom</PresentationFormat>
  <Paragraphs>562</Paragraphs>
  <Slides>36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8" baseType="lpstr">
      <vt:lpstr>Yu Gothic UI Semilight</vt:lpstr>
      <vt:lpstr>Arial</vt:lpstr>
      <vt:lpstr>Bahnschrift SemiBold SemiConden</vt:lpstr>
      <vt:lpstr>Baumans</vt:lpstr>
      <vt:lpstr>Calibri</vt:lpstr>
      <vt:lpstr>Calibri Light</vt:lpstr>
      <vt:lpstr>Cambria Math</vt:lpstr>
      <vt:lpstr>Tahoma</vt:lpstr>
      <vt:lpstr>Times New Roman</vt:lpstr>
      <vt:lpstr>Tomaho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9Slide.vn</dc:subject>
  <dc:creator>BINH</dc:creator>
  <dc:description>9Slide.vn</dc:description>
  <cp:lastModifiedBy>Admin</cp:lastModifiedBy>
  <cp:revision>361</cp:revision>
  <dcterms:created xsi:type="dcterms:W3CDTF">2013-08-31T11:42:51Z</dcterms:created>
  <dcterms:modified xsi:type="dcterms:W3CDTF">2022-08-29T09:09:41Z</dcterms:modified>
  <cp:category>9Slide.vn</cp:category>
</cp:coreProperties>
</file>