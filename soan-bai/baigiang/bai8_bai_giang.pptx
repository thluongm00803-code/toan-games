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40"/>
  </p:notesMasterIdLst>
  <p:sldIdLst>
    <p:sldId id="313" r:id="rId3"/>
    <p:sldId id="301" r:id="rId4"/>
    <p:sldId id="315" r:id="rId5"/>
    <p:sldId id="321" r:id="rId6"/>
    <p:sldId id="322" r:id="rId7"/>
    <p:sldId id="323" r:id="rId8"/>
    <p:sldId id="324" r:id="rId9"/>
    <p:sldId id="325" r:id="rId10"/>
    <p:sldId id="326" r:id="rId11"/>
    <p:sldId id="328" r:id="rId12"/>
    <p:sldId id="327"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354" r:id="rId39"/>
  </p:sldIdLst>
  <p:sldSz cx="24384000" cy="13716000"/>
  <p:notesSz cx="6858000" cy="9144000"/>
  <p:custDataLst>
    <p:tags r:id="rId41"/>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F"/>
    <a:srgbClr val="D6F7FE"/>
    <a:srgbClr val="EEF7E9"/>
    <a:srgbClr val="0000FF"/>
    <a:srgbClr val="135F82"/>
    <a:srgbClr val="FFFFFF"/>
    <a:srgbClr val="008000"/>
    <a:srgbClr val="242452"/>
    <a:srgbClr val="270F6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1" d="100"/>
          <a:sy n="31" d="100"/>
        </p:scale>
        <p:origin x="210" y="348"/>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tags" Target="tags/tag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8/29/2022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1601396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3237420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3173110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1756707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2952598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708792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2036738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325996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27675117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21992663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2207395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1933631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1694030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39035274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20047324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1043934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1139237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35417454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32</a:t>
            </a:fld>
            <a:endParaRPr lang="en-US"/>
          </a:p>
        </p:txBody>
      </p:sp>
    </p:spTree>
    <p:extLst>
      <p:ext uri="{BB962C8B-B14F-4D97-AF65-F5344CB8AC3E}">
        <p14:creationId xmlns:p14="http://schemas.microsoft.com/office/powerpoint/2010/main" val="40318756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33</a:t>
            </a:fld>
            <a:endParaRPr lang="en-US"/>
          </a:p>
        </p:txBody>
      </p:sp>
    </p:spTree>
    <p:extLst>
      <p:ext uri="{BB962C8B-B14F-4D97-AF65-F5344CB8AC3E}">
        <p14:creationId xmlns:p14="http://schemas.microsoft.com/office/powerpoint/2010/main" val="13388709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34</a:t>
            </a:fld>
            <a:endParaRPr lang="en-US"/>
          </a:p>
        </p:txBody>
      </p:sp>
    </p:spTree>
    <p:extLst>
      <p:ext uri="{BB962C8B-B14F-4D97-AF65-F5344CB8AC3E}">
        <p14:creationId xmlns:p14="http://schemas.microsoft.com/office/powerpoint/2010/main" val="22767656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35</a:t>
            </a:fld>
            <a:endParaRPr lang="en-US"/>
          </a:p>
        </p:txBody>
      </p:sp>
    </p:spTree>
    <p:extLst>
      <p:ext uri="{BB962C8B-B14F-4D97-AF65-F5344CB8AC3E}">
        <p14:creationId xmlns:p14="http://schemas.microsoft.com/office/powerpoint/2010/main" val="36749734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36</a:t>
            </a:fld>
            <a:endParaRPr lang="en-US"/>
          </a:p>
        </p:txBody>
      </p:sp>
    </p:spTree>
    <p:extLst>
      <p:ext uri="{BB962C8B-B14F-4D97-AF65-F5344CB8AC3E}">
        <p14:creationId xmlns:p14="http://schemas.microsoft.com/office/powerpoint/2010/main" val="34692441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37</a:t>
            </a:fld>
            <a:endParaRPr lang="en-US"/>
          </a:p>
        </p:txBody>
      </p:sp>
    </p:spTree>
    <p:extLst>
      <p:ext uri="{BB962C8B-B14F-4D97-AF65-F5344CB8AC3E}">
        <p14:creationId xmlns:p14="http://schemas.microsoft.com/office/powerpoint/2010/main" val="1320200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7.png"/><Relationship Id="rId5" Type="http://schemas.openxmlformats.org/officeDocument/2006/relationships/image" Target="../media/image28.png"/><Relationship Id="rId6" Type="http://schemas.openxmlformats.org/officeDocument/2006/relationships/image" Target="../media/image21.png"/><Relationship Id="rId7"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1.xml"/><Relationship Id="rId3" Type="http://schemas.openxmlformats.org/officeDocument/2006/relationships/notesSlide" Target="../notesSlides/notesSlide12.xml"/><Relationship Id="rId4" Type="http://schemas.openxmlformats.org/officeDocument/2006/relationships/image" Target="../media/image31.png"/><Relationship Id="rId5" Type="http://schemas.openxmlformats.org/officeDocument/2006/relationships/image" Target="../media/image34.png"/><Relationship Id="rId6" Type="http://schemas.openxmlformats.org/officeDocument/2006/relationships/oleObject" Target="../embeddings/oleObject1.bin"/><Relationship Id="rId7" Type="http://schemas.openxmlformats.org/officeDocument/2006/relationships/image" Target="../media/image30.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0.png"/><Relationship Id="rId4" Type="http://schemas.openxmlformats.org/officeDocument/2006/relationships/image" Target="../media/image90.png"/><Relationship Id="rId5" Type="http://schemas.openxmlformats.org/officeDocument/2006/relationships/image" Target="../media/image100.png"/><Relationship Id="rId6" Type="http://schemas.openxmlformats.org/officeDocument/2006/relationships/image" Target="../media/image110.png"/><Relationship Id="rId7" Type="http://schemas.openxmlformats.org/officeDocument/2006/relationships/image" Target="../media/image1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30.png"/><Relationship Id="rId4" Type="http://schemas.openxmlformats.org/officeDocument/2006/relationships/image" Target="../media/image140.png"/><Relationship Id="rId5"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30.png"/><Relationship Id="rId4" Type="http://schemas.openxmlformats.org/officeDocument/2006/relationships/image" Target="../media/image160.pn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80.png"/><Relationship Id="rId4" Type="http://schemas.openxmlformats.org/officeDocument/2006/relationships/image" Target="../media/image19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00.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20.png"/><Relationship Id="rId4" Type="http://schemas.openxmlformats.org/officeDocument/2006/relationships/image" Target="../media/image230.png"/><Relationship Id="rId5"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20.png"/><Relationship Id="rId4" Type="http://schemas.openxmlformats.org/officeDocument/2006/relationships/image" Target="../media/image250.png"/><Relationship Id="rId5"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image" Target="../media/image3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20.png"/><Relationship Id="rId4" Type="http://schemas.openxmlformats.org/officeDocument/2006/relationships/image" Target="../media/image330.png"/><Relationship Id="rId5"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50.png"/><Relationship Id="rId4" Type="http://schemas.openxmlformats.org/officeDocument/2006/relationships/image" Target="../media/image360.png"/><Relationship Id="rId5" Type="http://schemas.openxmlformats.org/officeDocument/2006/relationships/image" Target="../media/image43.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70.png"/><Relationship Id="rId4" Type="http://schemas.openxmlformats.org/officeDocument/2006/relationships/image" Target="../media/image390.png"/><Relationship Id="rId5" Type="http://schemas.openxmlformats.org/officeDocument/2006/relationships/image" Target="../media/image44.png"/><Relationship Id="rId6"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41.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430.png"/><Relationship Id="rId4" Type="http://schemas.openxmlformats.org/officeDocument/2006/relationships/image" Target="../media/image4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50.png"/><Relationship Id="rId4" Type="http://schemas.openxmlformats.org/officeDocument/2006/relationships/image" Target="../media/image4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47.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9.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51.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47.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48.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59.png"/><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5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0116799" y="3468887"/>
              <a:ext cx="13413376" cy="9334151"/>
            </a:xfrm>
            <a:prstGeom prst="rect">
              <a:avLst/>
            </a:prstGeom>
            <a:noFill/>
            <a:ln w="9525">
              <a:noFill/>
              <a:miter lim="800000"/>
              <a:headEnd/>
              <a:tailEnd/>
            </a:ln>
            <a:effectLst/>
          </p:spPr>
          <p:txBody>
            <a:bodyPr/>
            <a:lstStyle/>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§7. </a:t>
              </a:r>
              <a:r>
                <a:rPr lang="en-US" sz="5800" b="1" dirty="0" err="1">
                  <a:solidFill>
                    <a:srgbClr val="0000FF"/>
                  </a:solidFill>
                  <a:latin typeface="Tahoma" pitchFamily="34" charset="0"/>
                  <a:ea typeface="Tahoma" pitchFamily="34" charset="0"/>
                  <a:cs typeface="Tahoma" pitchFamily="34" charset="0"/>
                </a:rPr>
                <a:t>Các</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khái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niệm</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mở</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đầu</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FF0000"/>
                  </a:solidFill>
                  <a:latin typeface="Tahoma" pitchFamily="34" charset="0"/>
                  <a:ea typeface="Tahoma" pitchFamily="34" charset="0"/>
                  <a:cs typeface="Tahoma" pitchFamily="34" charset="0"/>
                </a:rPr>
                <a:t>§8. </a:t>
              </a:r>
              <a:r>
                <a:rPr lang="en-US" sz="5800" b="1" dirty="0" err="1">
                  <a:solidFill>
                    <a:srgbClr val="FF0000"/>
                  </a:solidFill>
                  <a:latin typeface="Tahoma" pitchFamily="34" charset="0"/>
                  <a:ea typeface="Tahoma" pitchFamily="34" charset="0"/>
                  <a:cs typeface="Tahoma" pitchFamily="34" charset="0"/>
                </a:rPr>
                <a:t>Tổng</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và</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hiệu</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của</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hai</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vectơ</a:t>
              </a:r>
              <a:endParaRPr lang="en-US" sz="5800" b="1" dirty="0">
                <a:solidFill>
                  <a:srgbClr val="FF0000"/>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§9. </a:t>
              </a:r>
              <a:r>
                <a:rPr lang="en-US" sz="5800" b="1" dirty="0" err="1">
                  <a:solidFill>
                    <a:srgbClr val="0000FF"/>
                  </a:solidFill>
                  <a:latin typeface="Tahoma" pitchFamily="34" charset="0"/>
                  <a:ea typeface="Tahoma" pitchFamily="34" charset="0"/>
                  <a:cs typeface="Tahoma" pitchFamily="34" charset="0"/>
                </a:rPr>
                <a:t>Tích</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một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với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một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số</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§10. </a:t>
              </a:r>
              <a:r>
                <a:rPr lang="en-US" sz="5800" b="1" dirty="0" err="1">
                  <a:solidFill>
                    <a:srgbClr val="0000FF"/>
                  </a:solidFill>
                  <a:latin typeface="Tahoma" pitchFamily="34" charset="0"/>
                  <a:ea typeface="Tahoma" pitchFamily="34" charset="0"/>
                  <a:cs typeface="Tahoma" pitchFamily="34" charset="0"/>
                </a:rPr>
                <a:t>Vectơ</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trong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mặt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phẳng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tọa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độ</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§11. </a:t>
              </a:r>
              <a:r>
                <a:rPr lang="en-US" sz="5800" b="1" dirty="0" err="1">
                  <a:solidFill>
                    <a:srgbClr val="0000FF"/>
                  </a:solidFill>
                  <a:latin typeface="Tahoma" pitchFamily="34" charset="0"/>
                  <a:ea typeface="Tahoma" pitchFamily="34" charset="0"/>
                  <a:cs typeface="Tahoma" pitchFamily="34" charset="0"/>
                </a:rPr>
                <a:t>Tích</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vô</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hướng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hai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err="1">
                  <a:solidFill>
                    <a:srgbClr val="0000FF"/>
                  </a:solidFill>
                  <a:latin typeface="Tahoma" pitchFamily="34" charset="0"/>
                  <a:ea typeface="Tahoma" pitchFamily="34" charset="0"/>
                  <a:cs typeface="Tahoma" pitchFamily="34" charset="0"/>
                </a:rPr>
                <a:t>Bài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tập</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cuối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chương</a:t>
              </a:r>
              <a:r>
                <a:rPr lang="en-US" sz="5800" b="1" dirty="0">
                  <a:solidFill>
                    <a:srgbClr val="0000FF"/>
                  </a:solidFill>
                  <a:latin typeface="Tahoma" pitchFamily="34" charset="0"/>
                  <a:ea typeface="Tahoma" pitchFamily="34" charset="0"/>
                  <a:cs typeface="Tahoma" pitchFamily="34" charset="0"/>
                </a:rPr>
                <a:t> 4</a:t>
              </a:r>
            </a:p>
          </p:txBody>
        </p:sp>
        <p:sp>
          <p:nvSpPr>
            <p:cNvPr id="2" name="TextBox 1"/>
            <p:cNvSpPr txBox="1"/>
            <p:nvPr/>
          </p:nvSpPr>
          <p:spPr>
            <a:xfrm>
              <a:off x="11912450" y="2428363"/>
              <a:ext cx="10325100" cy="830997"/>
            </a:xfrm>
            <a:prstGeom prst="rect">
              <a:avLst/>
            </a:prstGeom>
            <a:noFill/>
          </p:spPr>
          <p:txBody>
            <a:bodyPr wrap="square" rtlCol="0">
              <a:spAutoFit/>
            </a:bodyPr>
            <a:lstStyle/>
            <a:p>
              <a:pPr algn="ctr"/>
              <a:r>
                <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rPr>
                <a:t>CHƯƠNG I</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VECTƠ</a:t>
              </a:r>
              <a:endPar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81493" y="1809817"/>
            <a:ext cx="22817235" cy="9946698"/>
            <a:chOff x="1438692" y="1793813"/>
            <a:chExt cx="22817235" cy="10641062"/>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38692" y="1793813"/>
              <a:ext cx="22817235" cy="10641062"/>
              <a:chOff x="1438692" y="1793813"/>
              <a:chExt cx="22817235" cy="10641062"/>
            </a:xfrm>
          </p:grpSpPr>
          <p:grpSp>
            <p:nvGrpSpPr>
              <p:cNvPr id="69" name="Group 68"/>
              <p:cNvGrpSpPr/>
              <p:nvPr/>
            </p:nvGrpSpPr>
            <p:grpSpPr>
              <a:xfrm>
                <a:off x="1575873" y="1797127"/>
                <a:ext cx="22680054" cy="10637748"/>
                <a:chOff x="-3538955" y="3448230"/>
                <a:chExt cx="22680054" cy="10637748"/>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0637748"/>
                  <a:chOff x="-3538955" y="3448230"/>
                  <a:chExt cx="22680054" cy="10637748"/>
                </a:xfrm>
              </p:grpSpPr>
              <p:sp>
                <p:nvSpPr>
                  <p:cNvPr id="72" name="Rounded Rectangle 71"/>
                  <p:cNvSpPr/>
                  <p:nvPr/>
                </p:nvSpPr>
                <p:spPr>
                  <a:xfrm>
                    <a:off x="-3538955" y="3592713"/>
                    <a:ext cx="22680054" cy="10493265"/>
                  </a:xfrm>
                  <a:prstGeom prst="roundRect">
                    <a:avLst>
                      <a:gd name="adj" fmla="val 2127"/>
                    </a:avLst>
                  </a:prstGeom>
                  <a:solidFill>
                    <a:schemeClr val="bg1"/>
                  </a:solidFill>
                  <a:ln w="76200">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3"/>
                <a:ext cx="10807999"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114763" y="1953929"/>
                <a:ext cx="10808000" cy="830997"/>
              </a:xfrm>
              <a:prstGeom prst="rect">
                <a:avLst/>
              </a:prstGeom>
              <a:noFill/>
            </p:spPr>
            <p:txBody>
              <a:bodyPr wrap="square" rtlCol="0">
                <a:spAutoFit/>
              </a:bodyPr>
              <a:lstStyle/>
              <a:p>
                <a:pPr algn="ctr"/>
                <a:r>
                  <a:rPr lang="vi-VN" sz="4800" b="1" dirty="0">
                    <a:solidFill>
                      <a:srgbClr val="C00000"/>
                    </a:solidFill>
                    <a:latin typeface="Tahoma" panose="020B0604030504040204" pitchFamily="34" charset="0"/>
                    <a:ea typeface="Tahoma" panose="020B0604030504040204" pitchFamily="34" charset="0"/>
                    <a:cs typeface="Tahoma" panose="020B0604030504040204" pitchFamily="34" charset="0"/>
                  </a:rPr>
                  <a:t>CHƯƠNG I</a:t>
                </a:r>
                <a:r>
                  <a:rPr lang="en-US" sz="4800" b="1" dirty="0">
                    <a:solidFill>
                      <a:srgbClr val="C00000"/>
                    </a:solidFill>
                    <a:latin typeface="Tahoma" panose="020B0604030504040204" pitchFamily="34" charset="0"/>
                    <a:ea typeface="Tahoma" panose="020B0604030504040204" pitchFamily="34" charset="0"/>
                    <a:cs typeface="Tahoma" panose="020B0604030504040204" pitchFamily="34" charset="0"/>
                  </a:rPr>
                  <a:t>V</a:t>
                </a:r>
                <a:r>
                  <a:rPr lang="vi-VN" sz="4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C00000"/>
                    </a:solidFill>
                    <a:latin typeface="Tahoma" panose="020B0604030504040204" pitchFamily="34" charset="0"/>
                    <a:ea typeface="Tahoma" panose="020B0604030504040204" pitchFamily="34" charset="0"/>
                    <a:cs typeface="Tahoma" panose="020B0604030504040204" pitchFamily="34" charset="0"/>
                  </a:rPr>
                  <a:t>VECTƠ</a:t>
                </a:r>
                <a:endParaRPr lang="vi-VN" sz="4800" b="1" dirty="0">
                  <a:solidFill>
                    <a:srgbClr val="C00000"/>
                  </a:solidFill>
                  <a:latin typeface="Tahoma" panose="020B0604030504040204" pitchFamily="34" charset="0"/>
                  <a:ea typeface="Tahoma" panose="020B0604030504040204" pitchFamily="34" charset="0"/>
                  <a:cs typeface="Tahoma" panose="020B0604030504040204" pitchFamily="34"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38692" y="6012523"/>
                <a:ext cx="8562719" cy="888033"/>
                <a:chOff x="7450558" y="7834555"/>
                <a:chExt cx="8563712" cy="888135"/>
              </a:xfrm>
            </p:grpSpPr>
            <p:sp>
              <p:nvSpPr>
                <p:cNvPr id="57" name="Rectangle 56"/>
                <p:cNvSpPr/>
                <p:nvPr/>
              </p:nvSpPr>
              <p:spPr>
                <a:xfrm>
                  <a:off x="9073745" y="7850045"/>
                  <a:ext cx="6940525" cy="872645"/>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TỔNG CỦA HAI VECTƠ</a:t>
                  </a:r>
                </a:p>
              </p:txBody>
            </p:sp>
            <p:grpSp>
              <p:nvGrpSpPr>
                <p:cNvPr id="58" name="Group 26"/>
                <p:cNvGrpSpPr/>
                <p:nvPr/>
              </p:nvGrpSpPr>
              <p:grpSpPr>
                <a:xfrm>
                  <a:off x="7450558" y="7834555"/>
                  <a:ext cx="1383018" cy="796752"/>
                  <a:chOff x="7450631" y="8291755"/>
                  <a:chExt cx="1371600" cy="796752"/>
                </a:xfrm>
              </p:grpSpPr>
              <p:sp>
                <p:nvSpPr>
                  <p:cNvPr id="59" name="Isosceles Triangle 44"/>
                  <p:cNvSpPr/>
                  <p:nvPr/>
                </p:nvSpPr>
                <p:spPr>
                  <a:xfrm rot="16200000">
                    <a:off x="7469936" y="828148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50631" y="8356987"/>
                    <a:ext cx="1371600" cy="731520"/>
                    <a:chOff x="7450631" y="8356987"/>
                    <a:chExt cx="1371600" cy="731520"/>
                  </a:xfrm>
                </p:grpSpPr>
                <p:sp>
                  <p:nvSpPr>
                    <p:cNvPr id="61" name="Round Same Side Corner Rectangle 60"/>
                    <p:cNvSpPr/>
                    <p:nvPr/>
                  </p:nvSpPr>
                  <p:spPr>
                    <a:xfrm rot="5400000">
                      <a:off x="7770671" y="8036947"/>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40249" y="8360620"/>
                      <a:ext cx="507514"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63" name="Group 67"/>
              <p:cNvGrpSpPr/>
              <p:nvPr/>
            </p:nvGrpSpPr>
            <p:grpSpPr>
              <a:xfrm>
                <a:off x="1447805" y="7460331"/>
                <a:ext cx="8065148" cy="962610"/>
                <a:chOff x="7459672" y="7170625"/>
                <a:chExt cx="8066074" cy="962719"/>
              </a:xfrm>
            </p:grpSpPr>
            <p:sp>
              <p:nvSpPr>
                <p:cNvPr id="75" name="Rectangle 74"/>
                <p:cNvSpPr/>
                <p:nvPr/>
              </p:nvSpPr>
              <p:spPr>
                <a:xfrm>
                  <a:off x="9111075" y="7260701"/>
                  <a:ext cx="6414671" cy="872643"/>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HIỆU CỦA HAI VECTƠ</a:t>
                  </a:r>
                </a:p>
              </p:txBody>
            </p:sp>
            <p:grpSp>
              <p:nvGrpSpPr>
                <p:cNvPr id="76" name="Group 32"/>
                <p:cNvGrpSpPr/>
                <p:nvPr/>
              </p:nvGrpSpPr>
              <p:grpSpPr>
                <a:xfrm>
                  <a:off x="7459672" y="7170625"/>
                  <a:ext cx="1411234" cy="848755"/>
                  <a:chOff x="7459669" y="6189930"/>
                  <a:chExt cx="1399583" cy="848755"/>
                </a:xfrm>
              </p:grpSpPr>
              <p:sp>
                <p:nvSpPr>
                  <p:cNvPr id="77" name="Isosceles Triangle 44"/>
                  <p:cNvSpPr/>
                  <p:nvPr/>
                </p:nvSpPr>
                <p:spPr>
                  <a:xfrm rot="16200000">
                    <a:off x="7469936" y="617966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87652" y="6307165"/>
                    <a:ext cx="1371600" cy="731520"/>
                    <a:chOff x="7487652" y="6307165"/>
                    <a:chExt cx="1371600" cy="731520"/>
                  </a:xfrm>
                </p:grpSpPr>
                <p:sp>
                  <p:nvSpPr>
                    <p:cNvPr id="79" name="Round Same Side Corner Rectangle 78"/>
                    <p:cNvSpPr/>
                    <p:nvPr/>
                  </p:nvSpPr>
                  <p:spPr>
                    <a:xfrm rot="5400000">
                      <a:off x="7807692" y="5987125"/>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77269" y="6310797"/>
                      <a:ext cx="507513" cy="707967"/>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47" name="Group 67"/>
              <p:cNvGrpSpPr/>
              <p:nvPr/>
            </p:nvGrpSpPr>
            <p:grpSpPr>
              <a:xfrm>
                <a:off x="1447797" y="8899391"/>
                <a:ext cx="4121464" cy="948792"/>
                <a:chOff x="7459670" y="7441560"/>
                <a:chExt cx="5328716" cy="948901"/>
              </a:xfrm>
            </p:grpSpPr>
            <p:sp>
              <p:nvSpPr>
                <p:cNvPr id="48" name="Rectangle 47"/>
                <p:cNvSpPr/>
                <p:nvPr/>
              </p:nvSpPr>
              <p:spPr>
                <a:xfrm>
                  <a:off x="9529919" y="7517816"/>
                  <a:ext cx="3258467" cy="872645"/>
                </a:xfrm>
                <a:prstGeom prst="rect">
                  <a:avLst/>
                </a:prstGeom>
              </p:spPr>
              <p:txBody>
                <a:bodyPr wrap="non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32"/>
                <p:cNvGrpSpPr/>
                <p:nvPr/>
              </p:nvGrpSpPr>
              <p:grpSpPr>
                <a:xfrm>
                  <a:off x="7459670" y="7441560"/>
                  <a:ext cx="1800333" cy="864774"/>
                  <a:chOff x="7459669" y="6460865"/>
                  <a:chExt cx="1785470" cy="864774"/>
                </a:xfrm>
              </p:grpSpPr>
              <p:sp>
                <p:nvSpPr>
                  <p:cNvPr id="50" name="Isosceles Triangle 44"/>
                  <p:cNvSpPr/>
                  <p:nvPr/>
                </p:nvSpPr>
                <p:spPr>
                  <a:xfrm rot="16200000">
                    <a:off x="7469936" y="645059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93" y="6537082"/>
                    <a:ext cx="1775946" cy="788557"/>
                    <a:chOff x="7469193" y="6537082"/>
                    <a:chExt cx="1775946" cy="788557"/>
                  </a:xfrm>
                </p:grpSpPr>
                <p:sp>
                  <p:nvSpPr>
                    <p:cNvPr id="52" name="Round Same Side Corner Rectangle 51"/>
                    <p:cNvSpPr/>
                    <p:nvPr/>
                  </p:nvSpPr>
                  <p:spPr>
                    <a:xfrm rot="5400000">
                      <a:off x="7962887" y="6043388"/>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43" y="6577389"/>
                      <a:ext cx="656096"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HÌNH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74930" y="3900043"/>
              <a:ext cx="1316269" cy="1323399"/>
              <a:chOff x="4935906"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35906"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9" name="Group 8">
            <a:extLst>
              <a:ext uri="{FF2B5EF4-FFF2-40B4-BE49-F238E27FC236}">
                <a16:creationId xmlns:a16="http://schemas.microsoft.com/office/drawing/2014/main" id="{439786C1-301C-402F-B908-633A570E2C52}"/>
              </a:ext>
            </a:extLst>
          </p:cNvPr>
          <p:cNvGrpSpPr/>
          <p:nvPr/>
        </p:nvGrpSpPr>
        <p:grpSpPr>
          <a:xfrm>
            <a:off x="7007312" y="3313402"/>
            <a:ext cx="16791416" cy="1309627"/>
            <a:chOff x="7007312" y="3313402"/>
            <a:chExt cx="16791416" cy="1309627"/>
          </a:xfrm>
        </p:grpSpPr>
        <p:grpSp>
          <p:nvGrpSpPr>
            <p:cNvPr id="112" name="Group 111">
              <a:extLst>
                <a:ext uri="{FF2B5EF4-FFF2-40B4-BE49-F238E27FC236}">
                  <a16:creationId xmlns:a16="http://schemas.microsoft.com/office/drawing/2014/main" id="{1F6311BF-A4CF-4E55-85D0-0A86514BB33B}"/>
                </a:ext>
              </a:extLst>
            </p:cNvPr>
            <p:cNvGrpSpPr/>
            <p:nvPr/>
          </p:nvGrpSpPr>
          <p:grpSpPr>
            <a:xfrm>
              <a:off x="7007312" y="3330718"/>
              <a:ext cx="11110067" cy="1292311"/>
              <a:chOff x="-84747" y="97578"/>
              <a:chExt cx="6395438" cy="883658"/>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84747" y="97578"/>
                <a:ext cx="6395438" cy="824094"/>
              </a:xfrm>
              <a:prstGeom prst="rect">
                <a:avLst/>
              </a:prstGeom>
            </p:spPr>
          </p:pic>
          <p:sp>
            <p:nvSpPr>
              <p:cNvPr id="115" name="TextBox 321">
                <a:extLst>
                  <a:ext uri="{FF2B5EF4-FFF2-40B4-BE49-F238E27FC236}">
                    <a16:creationId xmlns:a16="http://schemas.microsoft.com/office/drawing/2014/main" id="{EFE5FD9A-8DAE-41E9-BE5B-4B8636094028}"/>
                  </a:ext>
                </a:extLst>
              </p:cNvPr>
              <p:cNvSpPr txBox="1"/>
              <p:nvPr/>
            </p:nvSpPr>
            <p:spPr>
              <a:xfrm>
                <a:off x="180215"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8</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pic>
          <p:nvPicPr>
            <p:cNvPr id="7" name="Picture 6">
              <a:extLst>
                <a:ext uri="{FF2B5EF4-FFF2-40B4-BE49-F238E27FC236}">
                  <a16:creationId xmlns:a16="http://schemas.microsoft.com/office/drawing/2014/main" id="{593D231A-4F31-4CD1-BF95-3B25C6FBCE4B}"/>
                </a:ext>
              </a:extLst>
            </p:cNvPr>
            <p:cNvPicPr>
              <a:picLocks noChangeAspect="1"/>
            </p:cNvPicPr>
            <p:nvPr/>
          </p:nvPicPr>
          <p:blipFill>
            <a:blip r:embed="rId5"/>
            <a:stretch>
              <a:fillRect/>
            </a:stretch>
          </p:blipFill>
          <p:spPr>
            <a:xfrm>
              <a:off x="15925800" y="3313402"/>
              <a:ext cx="7872928" cy="1222516"/>
            </a:xfrm>
            <a:prstGeom prst="rect">
              <a:avLst/>
            </a:prstGeom>
          </p:spPr>
        </p:pic>
      </p:grpSp>
      <p:sp>
        <p:nvSpPr>
          <p:cNvPr id="10" name="TextBox 9">
            <a:extLst>
              <a:ext uri="{FF2B5EF4-FFF2-40B4-BE49-F238E27FC236}">
                <a16:creationId xmlns:a16="http://schemas.microsoft.com/office/drawing/2014/main" id="{EB80CDAB-FCA9-4E95-8F6A-72A9575E1286}"/>
              </a:ext>
            </a:extLst>
          </p:cNvPr>
          <p:cNvSpPr txBox="1"/>
          <p:nvPr/>
        </p:nvSpPr>
        <p:spPr>
          <a:xfrm>
            <a:off x="9829800" y="3434715"/>
            <a:ext cx="12359781" cy="984885"/>
          </a:xfrm>
          <a:prstGeom prst="rect">
            <a:avLst/>
          </a:prstGeom>
          <a:noFill/>
        </p:spPr>
        <p:txBody>
          <a:bodyPr wrap="square" rtlCol="0">
            <a:spAutoFit/>
          </a:bodyPr>
          <a:lstStyle/>
          <a:p>
            <a:r>
              <a:rPr lang="en-US" sz="5800" b="1" dirty="0">
                <a:solidFill>
                  <a:schemeClr val="bg1"/>
                </a:solidFill>
                <a:latin typeface="Tahoma" panose="020B0604030504040204" pitchFamily="34" charset="0"/>
                <a:ea typeface="Tahoma" panose="020B0604030504040204" pitchFamily="34" charset="0"/>
                <a:cs typeface="Tahoma" panose="020B0604030504040204" pitchFamily="34" charset="0"/>
              </a:rPr>
              <a:t>TỔNG VÀ HIỆU CỦA HAI VECTƠ</a:t>
            </a:r>
          </a:p>
        </p:txBody>
      </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609599" y="2514600"/>
            <a:ext cx="23365691" cy="93726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dirty="0"/>
              <a:t>Một con tàu chuyển động từ bờ bên này sang bờ bên kia của một dòng sông với vận tốc riêng không đổi. Giả sử vận tốc dòng nước là không đổi và đáng kể, các yếu tố bên ngoài khác không ảnh hưởng đến vận tốc thực tế của tàu. Nếu không quan tâm đến điểm đến thì cần giữ lái cho tàu tạo với bờ sông một góc bao nhiêu để tàu sang bờ bên kia được nhanh nhất</a:t>
            </a:r>
            <a:r>
              <a:rPr lang="en-US" b="1" dirty="0"/>
              <a:t>?</a:t>
            </a:r>
          </a:p>
        </p:txBody>
      </p:sp>
      <p:pic>
        <p:nvPicPr>
          <p:cNvPr id="1026"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6142830"/>
            <a:ext cx="8305800" cy="537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fade">
                                      <p:cBhvr>
                                        <p:cTn id="11" dur="500"/>
                                        <p:tgtEl>
                                          <p:spTgt spid="9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fade">
                                      <p:cBhvr>
                                        <p:cTn id="1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13317" y="3200295"/>
                <a:ext cx="23137091" cy="99060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latin typeface="Tahoma" pitchFamily="34" charset="0"/>
                    <a:ea typeface="Tahoma" pitchFamily="34" charset="0"/>
                    <a:cs typeface="Tahoma" pitchFamily="34" charset="0"/>
                  </a:rPr>
                  <a:t>            HĐ1: </a:t>
                </a:r>
                <a:r>
                  <a:rPr lang="vi-VN" b="1" dirty="0">
                    <a:latin typeface="Tahoma" pitchFamily="34" charset="0"/>
                    <a:ea typeface="Tahoma" pitchFamily="34" charset="0"/>
                    <a:cs typeface="Tahoma" pitchFamily="34" charset="0"/>
                  </a:rPr>
                  <a:t>Với </a:t>
                </a:r>
                <a:r>
                  <a:rPr lang="fr-FR" b="1" dirty="0" err="1">
                    <a:latin typeface="Tahoma" pitchFamily="34" charset="0"/>
                    <a:ea typeface="Tahoma" pitchFamily="34" charset="0"/>
                    <a:cs typeface="Tahoma" pitchFamily="34" charset="0"/>
                  </a:rPr>
                  <a:t>hai</a:t>
                </a:r>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vectơ</a:t>
                </a:r>
                <a:r>
                  <a:rPr lang="fr-FR" b="1" dirty="0">
                    <a:latin typeface="Tahoma" pitchFamily="34" charset="0"/>
                    <a:ea typeface="Tahoma" pitchFamily="34" charset="0"/>
                    <a:cs typeface="Tahoma"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và</a:t>
                </a:r>
                <a:r>
                  <a:rPr lang="fr-FR" b="1" dirty="0">
                    <a:latin typeface="Tahoma" pitchFamily="34" charset="0"/>
                    <a:ea typeface="Tahoma" pitchFamily="34" charset="0"/>
                    <a:cs typeface="Tahoma"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cho</a:t>
                </a:r>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trước</a:t>
                </a:r>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Lấy</a:t>
                </a:r>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một</a:t>
                </a:r>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điểm</a:t>
                </a:r>
                <a:r>
                  <a:rPr lang="fr-FR" b="1" dirty="0">
                    <a:latin typeface="Tahoma" pitchFamily="34" charset="0"/>
                    <a:ea typeface="Tahoma" pitchFamily="34" charset="0"/>
                    <a:cs typeface="Tahoma" pitchFamily="34" charset="0"/>
                  </a:rPr>
                  <a:t> </a:t>
                </a:r>
                <a14:m>
                  <m:oMath xmlns:m="http://schemas.openxmlformats.org/officeDocument/2006/math">
                    <m:r>
                      <a:rPr lang="en-US" b="1" i="1">
                        <a:latin typeface="Cambria Math" panose="02040503050406030204" pitchFamily="18" charset="0"/>
                      </a:rPr>
                      <m:t>𝑨</m:t>
                    </m:r>
                  </m:oMath>
                </a14:m>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tùy</a:t>
                </a:r>
                <a:r>
                  <a:rPr lang="fr-FR" b="1" dirty="0">
                    <a:latin typeface="Tahoma" pitchFamily="34" charset="0"/>
                    <a:ea typeface="Tahoma" pitchFamily="34" charset="0"/>
                    <a:cs typeface="Tahoma" pitchFamily="34" charset="0"/>
                  </a:rPr>
                  <a:t> ý,</a:t>
                </a:r>
              </a:p>
              <a:p>
                <a:pPr marL="0" indent="0">
                  <a:buNone/>
                </a:pPr>
                <a:r>
                  <a:rPr lang="fr-FR" b="1" dirty="0">
                    <a:latin typeface="Tahoma" pitchFamily="34" charset="0"/>
                    <a:ea typeface="Tahoma" pitchFamily="34" charset="0"/>
                    <a:cs typeface="Tahoma" pitchFamily="34" charset="0"/>
                  </a:rPr>
                  <a:t> </a:t>
                </a:r>
                <a:r>
                  <a:rPr lang="fr-FR" b="1" dirty="0" err="1">
                    <a:latin typeface="Tahoma" pitchFamily="34" charset="0"/>
                    <a:ea typeface="Tahoma" pitchFamily="34" charset="0"/>
                    <a:cs typeface="Tahoma" pitchFamily="34" charset="0"/>
                  </a:rPr>
                  <a:t>vẽ</a:t>
                </a:r>
                <a:r>
                  <a:rPr lang="fr-FR" b="1" dirty="0">
                    <a:latin typeface="Tahoma" pitchFamily="34" charset="0"/>
                    <a:ea typeface="Tahoma" pitchFamily="34" charset="0"/>
                    <a:cs typeface="Tahoma"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fr-FR"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fr-FR" b="1" i="1">
                        <a:latin typeface="Cambria Math" panose="02040503050406030204" pitchFamily="18" charset="0"/>
                      </a:rPr>
                      <m:t>, </m:t>
                    </m:r>
                    <m:r>
                      <a:rPr lang="en-US" b="1" i="1" smtClean="0">
                        <a:latin typeface="Cambria Math"/>
                      </a:rPr>
                      <m:t> </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fr-FR"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fr-FR" b="1" dirty="0">
                    <a:latin typeface="Tahoma" pitchFamily="34" charset="0"/>
                    <a:ea typeface="Tahoma" pitchFamily="34" charset="0"/>
                    <a:cs typeface="Tahoma" pitchFamily="34" charset="0"/>
                  </a:rPr>
                  <a:t>.</a:t>
                </a:r>
                <a:r>
                  <a:rPr lang="vi-VN" b="1" dirty="0">
                    <a:latin typeface="Tahoma" pitchFamily="34" charset="0"/>
                    <a:ea typeface="Tahoma" pitchFamily="34" charset="0"/>
                    <a:cs typeface="Tahoma" pitchFamily="34" charset="0"/>
                  </a:rPr>
                  <a:t> Lấy điểm </a:t>
                </a:r>
                <a14:m>
                  <m:oMath xmlns:m="http://schemas.openxmlformats.org/officeDocument/2006/math">
                    <m:sSup>
                      <m:sSupPr>
                        <m:ctrlPr>
                          <a:rPr lang="en-US" b="1" i="1">
                            <a:latin typeface="Cambria Math" panose="02040503050406030204" pitchFamily="18" charset="0"/>
                          </a:rPr>
                        </m:ctrlPr>
                      </m:sSupPr>
                      <m:e>
                        <m:r>
                          <a:rPr lang="vi-VN" b="1" i="1">
                            <a:latin typeface="Cambria Math" panose="02040503050406030204" pitchFamily="18" charset="0"/>
                          </a:rPr>
                          <m:t>𝑨</m:t>
                        </m:r>
                      </m:e>
                      <m:sup>
                        <m:r>
                          <a:rPr lang="vi-VN" b="1" i="1">
                            <a:latin typeface="Cambria Math" panose="02040503050406030204" pitchFamily="18" charset="0"/>
                          </a:rPr>
                          <m:t>′</m:t>
                        </m:r>
                      </m:sup>
                    </m:sSup>
                  </m:oMath>
                </a14:m>
                <a:r>
                  <a:rPr lang="vi-VN" b="1" dirty="0">
                    <a:latin typeface="Tahoma" pitchFamily="34" charset="0"/>
                    <a:ea typeface="Tahoma" pitchFamily="34" charset="0"/>
                    <a:cs typeface="Tahoma" pitchFamily="34" charset="0"/>
                  </a:rPr>
                  <a:t> khác </a:t>
                </a:r>
                <a14:m>
                  <m:oMath xmlns:m="http://schemas.openxmlformats.org/officeDocument/2006/math">
                    <m:r>
                      <a:rPr lang="vi-VN" b="1" i="1">
                        <a:latin typeface="Cambria Math" panose="02040503050406030204" pitchFamily="18" charset="0"/>
                      </a:rPr>
                      <m:t>𝑨</m:t>
                    </m:r>
                  </m:oMath>
                </a14:m>
                <a:r>
                  <a:rPr lang="vi-VN" b="1" dirty="0">
                    <a:latin typeface="Tahoma" pitchFamily="34" charset="0"/>
                    <a:ea typeface="Tahoma" pitchFamily="34" charset="0"/>
                    <a:cs typeface="Tahoma" pitchFamily="34" charset="0"/>
                  </a:rPr>
                  <a:t>  và cũng vẽ các véc tơ </a:t>
                </a:r>
                <a14:m>
                  <m:oMath xmlns:m="http://schemas.openxmlformats.org/officeDocument/2006/math">
                    <m:acc>
                      <m:accPr>
                        <m:chr m:val="⃗"/>
                        <m:ctrlPr>
                          <a:rPr lang="en-US" b="1" i="1">
                            <a:latin typeface="Cambria Math" panose="02040503050406030204" pitchFamily="18" charset="0"/>
                          </a:rPr>
                        </m:ctrlPr>
                      </m:accPr>
                      <m:e>
                        <m:sSup>
                          <m:sSupPr>
                            <m:ctrlPr>
                              <a:rPr lang="en-US" b="1" i="1">
                                <a:latin typeface="Cambria Math" panose="02040503050406030204" pitchFamily="18" charset="0"/>
                              </a:rPr>
                            </m:ctrlPr>
                          </m:sSupPr>
                          <m:e>
                            <m:r>
                              <a:rPr lang="vi-VN" b="1" i="1">
                                <a:latin typeface="Cambria Math" panose="02040503050406030204" pitchFamily="18" charset="0"/>
                              </a:rPr>
                              <m:t>𝑨</m:t>
                            </m:r>
                          </m:e>
                          <m:sup>
                            <m:r>
                              <a:rPr lang="vi-VN" b="1" i="1">
                                <a:latin typeface="Cambria Math" panose="02040503050406030204" pitchFamily="18" charset="0"/>
                              </a:rPr>
                              <m:t>′</m:t>
                            </m:r>
                          </m:sup>
                        </m:sSup>
                        <m:sSup>
                          <m:sSupPr>
                            <m:ctrlPr>
                              <a:rPr lang="en-US" b="1" i="1">
                                <a:latin typeface="Cambria Math" panose="02040503050406030204" pitchFamily="18" charset="0"/>
                              </a:rPr>
                            </m:ctrlPr>
                          </m:sSupPr>
                          <m:e>
                            <m:r>
                              <a:rPr lang="vi-VN" b="1" i="1">
                                <a:latin typeface="Cambria Math" panose="02040503050406030204" pitchFamily="18" charset="0"/>
                              </a:rPr>
                              <m:t>𝑩</m:t>
                            </m:r>
                          </m:e>
                          <m:sup>
                            <m:r>
                              <a:rPr lang="vi-VN" b="1" i="1">
                                <a:latin typeface="Cambria Math" panose="02040503050406030204" pitchFamily="18" charset="0"/>
                              </a:rPr>
                              <m:t>′</m:t>
                            </m:r>
                          </m:sup>
                        </m:sSup>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en-US" b="1" i="1" smtClean="0">
                        <a:latin typeface="Cambria Math"/>
                      </a:rPr>
                      <m:t>,</m:t>
                    </m:r>
                  </m:oMath>
                </a14:m>
                <a:endParaRPr lang="en-US" b="1" i="1" dirty="0">
                  <a:latin typeface="Cambria Math"/>
                </a:endParaRPr>
              </a:p>
              <a:p>
                <a:pPr marL="0" indent="0">
                  <a:buNone/>
                </a:pPr>
                <a14:m>
                  <m:oMath xmlns:m="http://schemas.openxmlformats.org/officeDocument/2006/math">
                    <m:acc>
                      <m:accPr>
                        <m:chr m:val="⃗"/>
                        <m:ctrlPr>
                          <a:rPr lang="en-US" b="1" i="1">
                            <a:latin typeface="Cambria Math" panose="02040503050406030204" pitchFamily="18" charset="0"/>
                          </a:rPr>
                        </m:ctrlPr>
                      </m:accPr>
                      <m:e>
                        <m:sSup>
                          <m:sSupPr>
                            <m:ctrlPr>
                              <a:rPr lang="en-US" b="1" i="1">
                                <a:latin typeface="Cambria Math" panose="02040503050406030204" pitchFamily="18" charset="0"/>
                              </a:rPr>
                            </m:ctrlPr>
                          </m:sSupPr>
                          <m:e>
                            <m:r>
                              <a:rPr lang="vi-VN" b="1" i="1">
                                <a:latin typeface="Cambria Math"/>
                              </a:rPr>
                              <m:t>𝑩</m:t>
                            </m:r>
                          </m:e>
                          <m:sup>
                            <m:r>
                              <a:rPr lang="vi-VN" b="1" i="1">
                                <a:latin typeface="Cambria Math"/>
                              </a:rPr>
                              <m:t>′</m:t>
                            </m:r>
                          </m:sup>
                        </m:sSup>
                        <m:r>
                          <a:rPr lang="en-US" b="1" i="1" smtClean="0">
                            <a:latin typeface="Cambria Math"/>
                          </a:rPr>
                          <m:t>𝑪</m:t>
                        </m:r>
                        <m:r>
                          <a:rPr lang="en-US" b="1" i="1" smtClean="0">
                            <a:latin typeface="Cambria Math"/>
                          </a:rPr>
                          <m:t>′</m:t>
                        </m:r>
                      </m:e>
                    </m:acc>
                    <m:r>
                      <a:rPr lang="vi-VN" b="1" i="1">
                        <a:latin typeface="Cambria Math"/>
                      </a:rPr>
                      <m:t>=</m:t>
                    </m:r>
                    <m:acc>
                      <m:accPr>
                        <m:chr m:val="⃗"/>
                        <m:ctrlPr>
                          <a:rPr lang="en-US" b="1" i="1">
                            <a:latin typeface="Cambria Math" panose="02040503050406030204" pitchFamily="18" charset="0"/>
                          </a:rPr>
                        </m:ctrlPr>
                      </m:accPr>
                      <m:e>
                        <m:r>
                          <a:rPr lang="en-US" b="1" i="1" smtClean="0">
                            <a:latin typeface="Cambria Math"/>
                          </a:rPr>
                          <m:t>𝒃</m:t>
                        </m:r>
                      </m:e>
                    </m:acc>
                  </m:oMath>
                </a14:m>
                <a:r>
                  <a:rPr lang="vi-VN" b="1" dirty="0">
                    <a:latin typeface="Tahoma" pitchFamily="34" charset="0"/>
                    <a:ea typeface="Tahoma" pitchFamily="34" charset="0"/>
                    <a:cs typeface="Tahoma" pitchFamily="34" charset="0"/>
                  </a:rPr>
                  <a:t>. Hỏi hai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oMath>
                </a14:m>
                <a:r>
                  <a:rPr lang="vi-VN" b="1" dirty="0">
                    <a:latin typeface="Tahoma" pitchFamily="34" charset="0"/>
                    <a:ea typeface="Tahoma" pitchFamily="34" charset="0"/>
                    <a:cs typeface="Tahoma" pitchFamily="34" charset="0"/>
                  </a:rPr>
                  <a:t> và </a:t>
                </a:r>
                <a14:m>
                  <m:oMath xmlns:m="http://schemas.openxmlformats.org/officeDocument/2006/math">
                    <m:acc>
                      <m:accPr>
                        <m:chr m:val="⃗"/>
                        <m:ctrlPr>
                          <a:rPr lang="en-US" b="1" i="1">
                            <a:latin typeface="Cambria Math" panose="02040503050406030204" pitchFamily="18" charset="0"/>
                          </a:rPr>
                        </m:ctrlPr>
                      </m:accPr>
                      <m:e>
                        <m:sSup>
                          <m:sSupPr>
                            <m:ctrlPr>
                              <a:rPr lang="en-US" b="1" i="1">
                                <a:latin typeface="Cambria Math" panose="02040503050406030204" pitchFamily="18" charset="0"/>
                              </a:rPr>
                            </m:ctrlPr>
                          </m:sSupPr>
                          <m:e>
                            <m:r>
                              <a:rPr lang="vi-VN" b="1" i="1">
                                <a:latin typeface="Cambria Math" panose="02040503050406030204" pitchFamily="18" charset="0"/>
                              </a:rPr>
                              <m:t>𝑨</m:t>
                            </m:r>
                          </m:e>
                          <m:sup>
                            <m:r>
                              <a:rPr lang="vi-VN" b="1" i="1">
                                <a:latin typeface="Cambria Math" panose="02040503050406030204" pitchFamily="18" charset="0"/>
                              </a:rPr>
                              <m:t>′</m:t>
                            </m:r>
                          </m:sup>
                        </m:sSup>
                        <m:sSup>
                          <m:sSupPr>
                            <m:ctrlPr>
                              <a:rPr lang="en-US" b="1" i="1">
                                <a:latin typeface="Cambria Math" panose="02040503050406030204" pitchFamily="18" charset="0"/>
                              </a:rPr>
                            </m:ctrlPr>
                          </m:sSupPr>
                          <m:e>
                            <m:r>
                              <a:rPr lang="vi-VN" b="1" i="1">
                                <a:latin typeface="Cambria Math" panose="02040503050406030204" pitchFamily="18" charset="0"/>
                              </a:rPr>
                              <m:t>𝑪</m:t>
                            </m:r>
                          </m:e>
                          <m:sup>
                            <m:r>
                              <a:rPr lang="vi-VN" b="1" i="1">
                                <a:latin typeface="Cambria Math" panose="02040503050406030204" pitchFamily="18" charset="0"/>
                              </a:rPr>
                              <m:t>′</m:t>
                            </m:r>
                          </m:sup>
                        </m:sSup>
                      </m:e>
                    </m:acc>
                  </m:oMath>
                </a14:m>
                <a:r>
                  <a:rPr lang="vi-VN" b="1" dirty="0">
                    <a:latin typeface="Tahoma" pitchFamily="34" charset="0"/>
                    <a:ea typeface="Tahoma" pitchFamily="34" charset="0"/>
                    <a:cs typeface="Tahoma" pitchFamily="34" charset="0"/>
                  </a:rPr>
                  <a:t> có mối quan hệ gì?</a:t>
                </a:r>
                <a:endParaRPr lang="en-US" b="1" dirty="0">
                  <a:latin typeface="Tahoma" pitchFamily="34" charset="0"/>
                  <a:ea typeface="Tahoma" pitchFamily="34" charset="0"/>
                  <a:cs typeface="Tahoma" pitchFamily="34" charset="0"/>
                </a:endParaRPr>
              </a:p>
              <a:p>
                <a:endParaRPr lang="en-US" dirty="0">
                  <a:latin typeface="Tahoma" pitchFamily="34" charset="0"/>
                  <a:ea typeface="Tahoma" pitchFamily="34" charset="0"/>
                  <a:cs typeface="Tahoma"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13317" y="3200295"/>
                <a:ext cx="23137091" cy="9906001"/>
              </a:xfrm>
              <a:prstGeom prst="rect">
                <a:avLst/>
              </a:prstGeom>
              <a:blipFill>
                <a:blip r:embed="rId3"/>
                <a:stretch>
                  <a:fillRect l="-395" t="-1168"/>
                </a:stretch>
              </a:blipFill>
              <a:ln>
                <a:solidFill>
                  <a:srgbClr val="00B0F0"/>
                </a:solidFill>
              </a:ln>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317" y="3275044"/>
            <a:ext cx="184833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p:nvPr/>
        </p:nvPicPr>
        <p:blipFill>
          <a:blip r:embed="rId5"/>
          <a:stretch>
            <a:fillRect/>
          </a:stretch>
        </p:blipFill>
        <p:spPr>
          <a:xfrm>
            <a:off x="885631" y="6234508"/>
            <a:ext cx="10925369" cy="6948091"/>
          </a:xfrm>
          <a:prstGeom prst="rect">
            <a:avLst/>
          </a:prstGeom>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8B49A2E-2A9D-46FD-AE9C-29462A33F0E6}"/>
                  </a:ext>
                </a:extLst>
              </p:cNvPr>
              <p:cNvSpPr txBox="1">
                <a:spLocks/>
              </p:cNvSpPr>
              <p:nvPr/>
            </p:nvSpPr>
            <p:spPr>
              <a:xfrm>
                <a:off x="11905864" y="7366105"/>
                <a:ext cx="12116858" cy="3149600"/>
              </a:xfrm>
              <a:prstGeom prst="rect">
                <a:avLst/>
              </a:prstGeom>
              <a:solidFill>
                <a:srgbClr val="D6F7FE"/>
              </a:solidFill>
              <a:ln>
                <a:no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vi-VN" b="1" dirty="0">
                    <a:solidFill>
                      <a:srgbClr val="FF0000"/>
                    </a:solidFill>
                    <a:latin typeface="Tahoma" pitchFamily="34" charset="0"/>
                    <a:ea typeface="Tahoma" pitchFamily="34" charset="0"/>
                    <a:cs typeface="Tahoma" pitchFamily="34" charset="0"/>
                  </a:rPr>
                  <a:t>Lời giải</a:t>
                </a:r>
                <a:endParaRPr lang="en-US" b="1" dirty="0">
                  <a:solidFill>
                    <a:srgbClr val="FF0000"/>
                  </a:solidFill>
                  <a:latin typeface="Tahoma" pitchFamily="34" charset="0"/>
                  <a:ea typeface="Tahoma" pitchFamily="34" charset="0"/>
                  <a:cs typeface="Tahoma" pitchFamily="34" charset="0"/>
                </a:endParaRPr>
              </a:p>
              <a:p>
                <a:pPr marL="0" indent="0" algn="ctr">
                  <a:buNone/>
                </a:pPr>
                <a:r>
                  <a:rPr lang="vi-VN" b="1" dirty="0">
                    <a:latin typeface="Tahoma" pitchFamily="34" charset="0"/>
                    <a:ea typeface="Tahoma" pitchFamily="34" charset="0"/>
                    <a:cs typeface="Tahoma" pitchFamily="34" charset="0"/>
                  </a:rPr>
                  <a:t>Ta thấy hai véc 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r>
                  <a:rPr lang="vi-VN" b="1" dirty="0">
                    <a:latin typeface="Tahoma" pitchFamily="34" charset="0"/>
                    <a:ea typeface="Tahoma" pitchFamily="34" charset="0"/>
                    <a:cs typeface="Tahoma" pitchFamily="34" charset="0"/>
                  </a:rPr>
                  <a:t> và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𝑪</m:t>
                        </m:r>
                        <m:r>
                          <a:rPr lang="en-US" b="1" i="1">
                            <a:latin typeface="Cambria Math" panose="02040503050406030204" pitchFamily="18" charset="0"/>
                          </a:rPr>
                          <m:t>′</m:t>
                        </m:r>
                      </m:e>
                    </m:acc>
                  </m:oMath>
                </a14:m>
                <a:r>
                  <a:rPr lang="en-US" b="1" dirty="0">
                    <a:latin typeface="Tahoma" pitchFamily="34" charset="0"/>
                    <a:ea typeface="Tahoma" pitchFamily="34" charset="0"/>
                    <a:cs typeface="Tahoma" pitchFamily="34" charset="0"/>
                  </a:rPr>
                  <a:t> </a:t>
                </a:r>
                <a:r>
                  <a:rPr lang="vi-VN" b="1" dirty="0">
                    <a:latin typeface="Tahoma" pitchFamily="34" charset="0"/>
                    <a:ea typeface="Tahoma" pitchFamily="34" charset="0"/>
                    <a:cs typeface="Tahoma" pitchFamily="34" charset="0"/>
                  </a:rPr>
                  <a:t> bằng nhau.</a:t>
                </a:r>
                <a:endParaRPr lang="en-US" b="1" dirty="0">
                  <a:latin typeface="Tahoma" pitchFamily="34" charset="0"/>
                  <a:ea typeface="Tahoma" pitchFamily="34" charset="0"/>
                  <a:cs typeface="Tahoma" pitchFamily="34" charset="0"/>
                </a:endParaRPr>
              </a:p>
              <a:p>
                <a:pPr marL="0" indent="0" algn="ctr">
                  <a:buNone/>
                </a:pPr>
                <a:endParaRPr lang="en-US" b="1" dirty="0">
                  <a:latin typeface="Tahoma" pitchFamily="34" charset="0"/>
                  <a:ea typeface="Tahoma" pitchFamily="34" charset="0"/>
                  <a:cs typeface="Tahoma" pitchFamily="34" charset="0"/>
                </a:endParaRPr>
              </a:p>
            </p:txBody>
          </p:sp>
        </mc:Choice>
        <mc:Fallback xmlns="">
          <p:sp>
            <p:nvSpPr>
              <p:cNvPr id="9"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1905864" y="7366105"/>
                <a:ext cx="12116858" cy="3149600"/>
              </a:xfrm>
              <a:prstGeom prst="rect">
                <a:avLst/>
              </a:prstGeom>
              <a:blipFill>
                <a:blip r:embed="rId6"/>
                <a:stretch>
                  <a:fillRect t="-10058"/>
                </a:stretch>
              </a:blipFill>
              <a:ln>
                <a:noFill/>
              </a:ln>
            </p:spPr>
            <p:txBody>
              <a:bodyPr/>
              <a:lstStyle/>
              <a:p>
                <a:r>
                  <a:rPr lang="en-US">
                    <a:noFill/>
                  </a:rPr>
                  <a:t> </a:t>
                </a:r>
              </a:p>
            </p:txBody>
          </p:sp>
        </mc:Fallback>
      </mc:AlternateContent>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8161438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99"/>
                                        </p:tgtEl>
                                        <p:attrNameLst>
                                          <p:attrName>style.visibility</p:attrName>
                                        </p:attrNameLst>
                                      </p:cBhvr>
                                      <p:to>
                                        <p:strVal val="visible"/>
                                      </p:to>
                                    </p:set>
                                    <p:animEffect transition="in" filter="wipe(left)">
                                      <p:cBhvr>
                                        <p:cTn id="14" dur="500"/>
                                        <p:tgtEl>
                                          <p:spTgt spid="9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iterate type="wd">
                                    <p:tmPct val="10000"/>
                                  </p:iterate>
                                  <p:childTnLst>
                                    <p:set>
                                      <p:cBhvr>
                                        <p:cTn id="18" dur="1" fill="hold">
                                          <p:stCondLst>
                                            <p:cond delay="0"/>
                                          </p:stCondLst>
                                        </p:cTn>
                                        <p:tgtEl>
                                          <p:spTgt spid="99">
                                            <p:txEl>
                                              <p:pRg st="0" end="0"/>
                                            </p:txEl>
                                          </p:spTgt>
                                        </p:tgtEl>
                                        <p:attrNameLst>
                                          <p:attrName>style.visibility</p:attrName>
                                        </p:attrNameLst>
                                      </p:cBhvr>
                                      <p:to>
                                        <p:strVal val="visible"/>
                                      </p:to>
                                    </p:set>
                                    <p:animEffect transition="in" filter="wipe(left)">
                                      <p:cBhvr>
                                        <p:cTn id="19" dur="500"/>
                                        <p:tgtEl>
                                          <p:spTgt spid="9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iterate type="wd">
                                    <p:tmPct val="10000"/>
                                  </p:iterate>
                                  <p:childTnLst>
                                    <p:set>
                                      <p:cBhvr>
                                        <p:cTn id="23" dur="1" fill="hold">
                                          <p:stCondLst>
                                            <p:cond delay="0"/>
                                          </p:stCondLst>
                                        </p:cTn>
                                        <p:tgtEl>
                                          <p:spTgt spid="99">
                                            <p:txEl>
                                              <p:pRg st="1" end="1"/>
                                            </p:txEl>
                                          </p:spTgt>
                                        </p:tgtEl>
                                        <p:attrNameLst>
                                          <p:attrName>style.visibility</p:attrName>
                                        </p:attrNameLst>
                                      </p:cBhvr>
                                      <p:to>
                                        <p:strVal val="visible"/>
                                      </p:to>
                                    </p:set>
                                    <p:animEffect transition="in" filter="wipe(left)">
                                      <p:cBhvr>
                                        <p:cTn id="24" dur="500"/>
                                        <p:tgtEl>
                                          <p:spTgt spid="9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iterate type="wd">
                                    <p:tmPct val="10000"/>
                                  </p:iterate>
                                  <p:childTnLst>
                                    <p:set>
                                      <p:cBhvr>
                                        <p:cTn id="28" dur="1" fill="hold">
                                          <p:stCondLst>
                                            <p:cond delay="0"/>
                                          </p:stCondLst>
                                        </p:cTn>
                                        <p:tgtEl>
                                          <p:spTgt spid="99">
                                            <p:txEl>
                                              <p:pRg st="2" end="2"/>
                                            </p:txEl>
                                          </p:spTgt>
                                        </p:tgtEl>
                                        <p:attrNameLst>
                                          <p:attrName>style.visibility</p:attrName>
                                        </p:attrNameLst>
                                      </p:cBhvr>
                                      <p:to>
                                        <p:strVal val="visible"/>
                                      </p:to>
                                    </p:set>
                                    <p:animEffect transition="in" filter="wipe(left)">
                                      <p:cBhvr>
                                        <p:cTn id="29" dur="500"/>
                                        <p:tgtEl>
                                          <p:spTgt spid="9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wipe(left)">
                                      <p:cBhvr>
                                        <p:cTn id="43" dur="500"/>
                                        <p:tgtEl>
                                          <p:spTgt spid="9">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9">
                                            <p:txEl>
                                              <p:pRg st="1" end="1"/>
                                            </p:txEl>
                                          </p:spTgt>
                                        </p:tgtEl>
                                        <p:attrNameLst>
                                          <p:attrName>style.visibility</p:attrName>
                                        </p:attrNameLst>
                                      </p:cBhvr>
                                      <p:to>
                                        <p:strVal val="visible"/>
                                      </p:to>
                                    </p:set>
                                    <p:animEffect transition="in" filter="wipe(left)">
                                      <p:cBhvr>
                                        <p:cTn id="4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61848" y="3276600"/>
                <a:ext cx="11353800" cy="9982200"/>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Aft>
                    <a:spcPts val="2400"/>
                  </a:spcAft>
                </a:pPr>
                <a:r>
                  <a:rPr lang="fr-FR" sz="4500" b="1" dirty="0">
                    <a:latin typeface="Tahoma" pitchFamily="34" charset="0"/>
                    <a:ea typeface="Tahoma" pitchFamily="34" charset="0"/>
                    <a:cs typeface="Tahoma" pitchFamily="34" charset="0"/>
                  </a:rPr>
                  <a:t>Cho </a:t>
                </a:r>
                <a:r>
                  <a:rPr lang="fr-FR" sz="4500" b="1" dirty="0" err="1">
                    <a:latin typeface="Tahoma" pitchFamily="34" charset="0"/>
                    <a:ea typeface="Tahoma" pitchFamily="34" charset="0"/>
                    <a:cs typeface="Tahoma" pitchFamily="34" charset="0"/>
                  </a:rPr>
                  <a:t>hai</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vectơ</a:t>
                </a:r>
                <a:r>
                  <a:rPr lang="fr-FR" sz="4500" b="1" dirty="0">
                    <a:latin typeface="Tahoma" pitchFamily="34" charset="0"/>
                    <a:ea typeface="Tahoma" pitchFamily="34" charset="0"/>
                    <a:cs typeface="Tahoma" pitchFamily="34"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a:rPr>
                          <m:t>𝒂</m:t>
                        </m:r>
                      </m:e>
                    </m:acc>
                  </m:oMath>
                </a14:m>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và</a:t>
                </a:r>
                <a:r>
                  <a:rPr lang="fr-FR" sz="4500" b="1" dirty="0">
                    <a:latin typeface="Tahoma" pitchFamily="34" charset="0"/>
                    <a:ea typeface="Tahoma" pitchFamily="34" charset="0"/>
                    <a:cs typeface="Tahoma" pitchFamily="34"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a:rPr>
                          <m:t>𝒃</m:t>
                        </m:r>
                      </m:e>
                    </m:acc>
                  </m:oMath>
                </a14:m>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Lấy</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một</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điểm</a:t>
                </a:r>
                <a:r>
                  <a:rPr lang="fr-FR" sz="4500" b="1" dirty="0">
                    <a:latin typeface="Tahoma" pitchFamily="34" charset="0"/>
                    <a:ea typeface="Tahoma" pitchFamily="34" charset="0"/>
                    <a:cs typeface="Tahoma" pitchFamily="34" charset="0"/>
                  </a:rPr>
                  <a:t> </a:t>
                </a:r>
                <a14:m>
                  <m:oMath xmlns:m="http://schemas.openxmlformats.org/officeDocument/2006/math">
                    <m:r>
                      <a:rPr lang="en-US" sz="4500" b="1" i="1">
                        <a:latin typeface="Cambria Math"/>
                      </a:rPr>
                      <m:t>𝑨</m:t>
                    </m:r>
                  </m:oMath>
                </a14:m>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tùy</a:t>
                </a:r>
                <a:r>
                  <a:rPr lang="fr-FR" sz="4500" b="1" dirty="0">
                    <a:latin typeface="Tahoma" pitchFamily="34" charset="0"/>
                    <a:ea typeface="Tahoma" pitchFamily="34" charset="0"/>
                    <a:cs typeface="Tahoma" pitchFamily="34" charset="0"/>
                  </a:rPr>
                  <a:t> ý, </a:t>
                </a:r>
                <a:r>
                  <a:rPr lang="fr-FR" sz="4500" b="1" dirty="0" err="1">
                    <a:latin typeface="Tahoma" pitchFamily="34" charset="0"/>
                    <a:ea typeface="Tahoma" pitchFamily="34" charset="0"/>
                    <a:cs typeface="Tahoma" pitchFamily="34" charset="0"/>
                  </a:rPr>
                  <a:t>vẽ</a:t>
                </a:r>
                <a:r>
                  <a:rPr lang="fr-FR" sz="4500" b="1" dirty="0">
                    <a:latin typeface="Tahoma" pitchFamily="34" charset="0"/>
                    <a:ea typeface="Tahoma" pitchFamily="34" charset="0"/>
                    <a:cs typeface="Tahoma" pitchFamily="34"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a:rPr>
                          <m:t>𝑨𝑩</m:t>
                        </m:r>
                      </m:e>
                    </m:acc>
                    <m:r>
                      <a:rPr lang="fr-FR" sz="4500" b="1" i="1">
                        <a:latin typeface="Cambria Math"/>
                      </a:rPr>
                      <m:t>=</m:t>
                    </m:r>
                    <m:acc>
                      <m:accPr>
                        <m:chr m:val="⃗"/>
                        <m:ctrlPr>
                          <a:rPr lang="en-US" sz="4500" b="1" i="1">
                            <a:latin typeface="Cambria Math" panose="02040503050406030204" pitchFamily="18" charset="0"/>
                          </a:rPr>
                        </m:ctrlPr>
                      </m:accPr>
                      <m:e>
                        <m:r>
                          <a:rPr lang="en-US" sz="4500" b="1" i="1">
                            <a:latin typeface="Cambria Math"/>
                          </a:rPr>
                          <m:t>𝒂</m:t>
                        </m:r>
                      </m:e>
                    </m:acc>
                    <m:r>
                      <a:rPr lang="fr-FR" sz="4500" b="1" i="1">
                        <a:latin typeface="Cambria Math"/>
                      </a:rPr>
                      <m:t>, </m:t>
                    </m:r>
                    <m:acc>
                      <m:accPr>
                        <m:chr m:val="⃗"/>
                        <m:ctrlPr>
                          <a:rPr lang="en-US" sz="4500" b="1" i="1">
                            <a:latin typeface="Cambria Math" panose="02040503050406030204" pitchFamily="18" charset="0"/>
                          </a:rPr>
                        </m:ctrlPr>
                      </m:accPr>
                      <m:e>
                        <m:r>
                          <a:rPr lang="en-US" sz="4500" b="1" i="1">
                            <a:latin typeface="Cambria Math"/>
                          </a:rPr>
                          <m:t>𝑩𝑪</m:t>
                        </m:r>
                      </m:e>
                    </m:acc>
                    <m:r>
                      <a:rPr lang="fr-FR" sz="4500" b="1" i="1">
                        <a:latin typeface="Cambria Math"/>
                      </a:rPr>
                      <m:t>=</m:t>
                    </m:r>
                    <m:acc>
                      <m:accPr>
                        <m:chr m:val="⃗"/>
                        <m:ctrlPr>
                          <a:rPr lang="en-US" sz="4500" b="1" i="1">
                            <a:latin typeface="Cambria Math" panose="02040503050406030204" pitchFamily="18" charset="0"/>
                          </a:rPr>
                        </m:ctrlPr>
                      </m:accPr>
                      <m:e>
                        <m:r>
                          <a:rPr lang="en-US" sz="4500" b="1" i="1">
                            <a:latin typeface="Cambria Math"/>
                          </a:rPr>
                          <m:t>𝒃</m:t>
                        </m:r>
                      </m:e>
                    </m:acc>
                  </m:oMath>
                </a14:m>
                <a:r>
                  <a:rPr lang="en-US" sz="4500" b="1" dirty="0">
                    <a:latin typeface="Tahoma" pitchFamily="34" charset="0"/>
                    <a:ea typeface="Tahoma" pitchFamily="34" charset="0"/>
                    <a:cs typeface="Tahoma" pitchFamily="34" charset="0"/>
                  </a:rPr>
                  <a:t> </a:t>
                </a:r>
                <a:r>
                  <a:rPr lang="vi-VN" sz="4500" b="1" dirty="0">
                    <a:latin typeface="Tahoma" pitchFamily="34" charset="0"/>
                    <a:ea typeface="Tahoma" pitchFamily="34" charset="0"/>
                    <a:cs typeface="Tahoma" pitchFamily="34" charset="0"/>
                  </a:rPr>
                  <a:t>(H4.13).</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Vectơ</a:t>
                </a:r>
                <a:r>
                  <a:rPr lang="fr-FR" sz="4500" b="1" dirty="0">
                    <a:latin typeface="Tahoma" pitchFamily="34" charset="0"/>
                    <a:ea typeface="Tahoma" pitchFamily="34" charset="0"/>
                    <a:cs typeface="Tahoma" pitchFamily="34"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a:rPr>
                          <m:t>𝑨𝑪</m:t>
                        </m:r>
                      </m:e>
                    </m:acc>
                  </m:oMath>
                </a14:m>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được</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gọi</a:t>
                </a:r>
                <a:r>
                  <a:rPr lang="fr-FR" sz="4500" b="1" dirty="0">
                    <a:latin typeface="Tahoma" pitchFamily="34" charset="0"/>
                    <a:ea typeface="Tahoma" pitchFamily="34" charset="0"/>
                    <a:cs typeface="Tahoma" pitchFamily="34" charset="0"/>
                  </a:rPr>
                  <a:t> là </a:t>
                </a:r>
                <a:r>
                  <a:rPr lang="fr-FR" sz="4500" b="1" dirty="0" err="1">
                    <a:latin typeface="Tahoma" pitchFamily="34" charset="0"/>
                    <a:ea typeface="Tahoma" pitchFamily="34" charset="0"/>
                    <a:cs typeface="Tahoma" pitchFamily="34" charset="0"/>
                  </a:rPr>
                  <a:t>tổng</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của</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hai</a:t>
                </a:r>
                <a:r>
                  <a:rPr lang="fr-FR"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vectơ</a:t>
                </a:r>
                <a:r>
                  <a:rPr lang="fr-FR" sz="4500" b="1" dirty="0">
                    <a:latin typeface="Tahoma" pitchFamily="34" charset="0"/>
                    <a:ea typeface="Tahoma" pitchFamily="34" charset="0"/>
                    <a:cs typeface="Tahoma" pitchFamily="34"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a:rPr>
                          <m:t>𝒂</m:t>
                        </m:r>
                      </m:e>
                    </m:acc>
                  </m:oMath>
                </a14:m>
                <a:r>
                  <a:rPr lang="en-US" sz="4500" b="1" dirty="0">
                    <a:latin typeface="Tahoma" pitchFamily="34" charset="0"/>
                    <a:ea typeface="Tahoma" pitchFamily="34" charset="0"/>
                    <a:cs typeface="Tahoma" pitchFamily="34" charset="0"/>
                  </a:rPr>
                  <a:t> </a:t>
                </a:r>
                <a:r>
                  <a:rPr lang="fr-FR" sz="4500" b="1" dirty="0" err="1">
                    <a:latin typeface="Tahoma" pitchFamily="34" charset="0"/>
                    <a:ea typeface="Tahoma" pitchFamily="34" charset="0"/>
                    <a:cs typeface="Tahoma" pitchFamily="34" charset="0"/>
                  </a:rPr>
                  <a:t>và</a:t>
                </a:r>
                <a:r>
                  <a:rPr lang="fr-FR" sz="4500" b="1" dirty="0">
                    <a:latin typeface="Tahoma" pitchFamily="34" charset="0"/>
                    <a:ea typeface="Tahoma" pitchFamily="34" charset="0"/>
                    <a:cs typeface="Tahoma" pitchFamily="34"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a:rPr>
                          <m:t>𝒃</m:t>
                        </m:r>
                      </m:e>
                    </m:acc>
                  </m:oMath>
                </a14:m>
                <a:r>
                  <a:rPr lang="vi-VN" sz="4500" b="1" dirty="0">
                    <a:latin typeface="Tahoma" pitchFamily="34" charset="0"/>
                    <a:ea typeface="Tahoma" pitchFamily="34" charset="0"/>
                    <a:cs typeface="Tahoma" pitchFamily="34" charset="0"/>
                  </a:rPr>
                  <a:t> và được kí hiệu là </a:t>
                </a:r>
                <a14:m>
                  <m:oMath xmlns:m="http://schemas.openxmlformats.org/officeDocument/2006/math">
                    <m:acc>
                      <m:accPr>
                        <m:chr m:val="⃗"/>
                        <m:ctrlPr>
                          <a:rPr lang="en-US" sz="4500" b="1" i="1">
                            <a:latin typeface="Cambria Math" panose="02040503050406030204" pitchFamily="18" charset="0"/>
                          </a:rPr>
                        </m:ctrlPr>
                      </m:accPr>
                      <m:e>
                        <m:r>
                          <a:rPr lang="vi-VN" sz="4500" b="1" i="1">
                            <a:latin typeface="Cambria Math"/>
                          </a:rPr>
                          <m:t>𝒂</m:t>
                        </m:r>
                      </m:e>
                    </m:acc>
                    <m:r>
                      <a:rPr lang="vi-VN" sz="4500" b="1" i="1">
                        <a:latin typeface="Cambria Math"/>
                      </a:rPr>
                      <m:t>+</m:t>
                    </m:r>
                    <m:acc>
                      <m:accPr>
                        <m:chr m:val="⃗"/>
                        <m:ctrlPr>
                          <a:rPr lang="en-US" sz="4500" b="1" i="1">
                            <a:latin typeface="Cambria Math" panose="02040503050406030204" pitchFamily="18" charset="0"/>
                          </a:rPr>
                        </m:ctrlPr>
                      </m:accPr>
                      <m:e>
                        <m:r>
                          <a:rPr lang="vi-VN" sz="4500" b="1" i="1">
                            <a:latin typeface="Cambria Math"/>
                          </a:rPr>
                          <m:t>𝒃</m:t>
                        </m:r>
                      </m:e>
                    </m:acc>
                  </m:oMath>
                </a14:m>
                <a:endParaRPr lang="en-US" sz="4500" b="1" dirty="0">
                  <a:latin typeface="Tahoma" pitchFamily="34" charset="0"/>
                  <a:ea typeface="Tahoma" pitchFamily="34" charset="0"/>
                  <a:cs typeface="Tahoma" pitchFamily="34" charset="0"/>
                </a:endParaRPr>
              </a:p>
              <a:p>
                <a:pPr>
                  <a:lnSpc>
                    <a:spcPct val="100000"/>
                  </a:lnSpc>
                  <a:spcAft>
                    <a:spcPts val="2400"/>
                  </a:spcAft>
                </a:pPr>
                <a:r>
                  <a:rPr lang="vi-VN" sz="4500" b="1" dirty="0">
                    <a:latin typeface="Tahoma" pitchFamily="34" charset="0"/>
                    <a:ea typeface="Tahoma" pitchFamily="34" charset="0"/>
                    <a:cs typeface="Tahoma" pitchFamily="34" charset="0"/>
                  </a:rPr>
                  <a:t>Phép lấy tổng của hai véc tơ được gọi là phép cộng véc tơ.</a:t>
                </a:r>
                <a:endParaRPr lang="en-US" sz="4500" b="1" dirty="0">
                  <a:latin typeface="Tahoma" pitchFamily="34" charset="0"/>
                  <a:ea typeface="Tahoma" pitchFamily="34" charset="0"/>
                  <a:cs typeface="Tahoma"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61848" y="3276600"/>
                <a:ext cx="11353800" cy="9982200"/>
              </a:xfrm>
              <a:prstGeom prst="rect">
                <a:avLst/>
              </a:prstGeom>
              <a:blipFill>
                <a:blip r:embed="rId3"/>
                <a:stretch>
                  <a:fillRect l="-1984" r="-3592"/>
                </a:stretch>
              </a:blipFill>
              <a:ln>
                <a:solidFill>
                  <a:srgbClr val="00B0F0"/>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420600" y="3318668"/>
            <a:ext cx="11630891" cy="9940132"/>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p:txBody>
      </p:sp>
      <p:pic>
        <p:nvPicPr>
          <p:cNvPr id="6" name="Picture 5"/>
          <p:cNvPicPr/>
          <p:nvPr/>
        </p:nvPicPr>
        <p:blipFill>
          <a:blip r:embed="rId4"/>
          <a:stretch>
            <a:fillRect/>
          </a:stretch>
        </p:blipFill>
        <p:spPr>
          <a:xfrm>
            <a:off x="12649200" y="4724400"/>
            <a:ext cx="11353800" cy="67818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8161438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22" presetClass="entr" presetSubtype="8" fill="hold" grpId="0" nodeType="afterEffect">
                                  <p:stCondLst>
                                    <p:cond delay="0"/>
                                  </p:stCondLst>
                                  <p:iterate type="wd">
                                    <p:tmPct val="10000"/>
                                  </p:iterate>
                                  <p:childTnLst>
                                    <p:set>
                                      <p:cBhvr>
                                        <p:cTn id="10" dur="1" fill="hold">
                                          <p:stCondLst>
                                            <p:cond delay="0"/>
                                          </p:stCondLst>
                                        </p:cTn>
                                        <p:tgtEl>
                                          <p:spTgt spid="99"/>
                                        </p:tgtEl>
                                        <p:attrNameLst>
                                          <p:attrName>style.visibility</p:attrName>
                                        </p:attrNameLst>
                                      </p:cBhvr>
                                      <p:to>
                                        <p:strVal val="visible"/>
                                      </p:to>
                                    </p:set>
                                    <p:animEffect transition="in" filter="wipe(left)">
                                      <p:cBhvr>
                                        <p:cTn id="11" dur="500"/>
                                        <p:tgtEl>
                                          <p:spTgt spid="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iterate type="wd">
                                    <p:tmPct val="10000"/>
                                  </p:iterate>
                                  <p:childTnLst>
                                    <p:set>
                                      <p:cBhvr>
                                        <p:cTn id="15" dur="1" fill="hold">
                                          <p:stCondLst>
                                            <p:cond delay="0"/>
                                          </p:stCondLst>
                                        </p:cTn>
                                        <p:tgtEl>
                                          <p:spTgt spid="99">
                                            <p:txEl>
                                              <p:pRg st="0" end="0"/>
                                            </p:txEl>
                                          </p:spTgt>
                                        </p:tgtEl>
                                        <p:attrNameLst>
                                          <p:attrName>style.visibility</p:attrName>
                                        </p:attrNameLst>
                                      </p:cBhvr>
                                      <p:to>
                                        <p:strVal val="visible"/>
                                      </p:to>
                                    </p:set>
                                    <p:animEffect transition="in" filter="wipe(left)">
                                      <p:cBhvr>
                                        <p:cTn id="16" dur="500"/>
                                        <p:tgtEl>
                                          <p:spTgt spid="9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iterate type="wd">
                                    <p:tmPct val="10000"/>
                                  </p:iterate>
                                  <p:childTnLst>
                                    <p:set>
                                      <p:cBhvr>
                                        <p:cTn id="20" dur="1" fill="hold">
                                          <p:stCondLst>
                                            <p:cond delay="0"/>
                                          </p:stCondLst>
                                        </p:cTn>
                                        <p:tgtEl>
                                          <p:spTgt spid="99">
                                            <p:txEl>
                                              <p:pRg st="1" end="1"/>
                                            </p:txEl>
                                          </p:spTgt>
                                        </p:tgtEl>
                                        <p:attrNameLst>
                                          <p:attrName>style.visibility</p:attrName>
                                        </p:attrNameLst>
                                      </p:cBhvr>
                                      <p:to>
                                        <p:strVal val="visible"/>
                                      </p:to>
                                    </p:set>
                                    <p:animEffect transition="in" filter="wipe(left)">
                                      <p:cBhvr>
                                        <p:cTn id="21" dur="500"/>
                                        <p:tgtEl>
                                          <p:spTgt spid="9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nodePh="1">
                                  <p:stCondLst>
                                    <p:cond delay="0"/>
                                  </p:stCondLst>
                                  <p:endCondLst>
                                    <p:cond evt="begin" delay="0">
                                      <p:tn val="29"/>
                                    </p:cond>
                                  </p:end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left)">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199" y="3276599"/>
                <a:ext cx="23137091" cy="80010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2400"/>
                  </a:spcBef>
                  <a:buNone/>
                </a:pPr>
                <a:r>
                  <a:rPr lang="en-US" b="1" dirty="0"/>
                  <a:t>              </a:t>
                </a:r>
                <a:r>
                  <a:rPr lang="en-US" b="1" dirty="0">
                    <a:latin typeface="Tahoma" panose="020B0604030504040204" pitchFamily="34" charset="0"/>
                    <a:ea typeface="Tahoma" panose="020B0604030504040204" pitchFamily="34" charset="0"/>
                    <a:cs typeface="Tahoma" panose="020B0604030504040204" pitchFamily="34" charset="0"/>
                  </a:rPr>
                  <a:t>HĐ2: </a:t>
                </a:r>
                <a:r>
                  <a:rPr lang="vi-VN" b="1" dirty="0">
                    <a:latin typeface="Tahoma" panose="020B0604030504040204" pitchFamily="34" charset="0"/>
                    <a:ea typeface="Tahoma" panose="020B0604030504040204" pitchFamily="34" charset="0"/>
                    <a:cs typeface="Tahoma" panose="020B0604030504040204" pitchFamily="34" charset="0"/>
                  </a:rPr>
                  <a:t>Cho hình bình hành </a:t>
                </a:r>
                <a14:m>
                  <m:oMath xmlns:m="http://schemas.openxmlformats.org/officeDocument/2006/math">
                    <m:r>
                      <a:rPr lang="vi-VN" b="1" i="1">
                        <a:latin typeface="Cambria Math" panose="02040503050406030204" pitchFamily="18" charset="0"/>
                      </a:rPr>
                      <m:t>𝑨𝑩𝑪𝑫</m:t>
                    </m:r>
                  </m:oMath>
                </a14:m>
                <a:r>
                  <a:rPr lang="vi-VN" b="1" dirty="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spcBef>
                    <a:spcPts val="360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Tìm mối quan hệ giữa hai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𝑨𝑫</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và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oMath>
                </a14:m>
                <a:r>
                  <a:rPr lang="en-US" b="1" dirty="0">
                    <a:latin typeface="Tahoma" panose="020B0604030504040204" pitchFamily="34" charset="0"/>
                    <a:ea typeface="Tahoma" panose="020B0604030504040204" pitchFamily="34" charset="0"/>
                    <a:cs typeface="Tahoma" panose="020B0604030504040204" pitchFamily="34" charset="0"/>
                  </a:rPr>
                  <a:t>.</a:t>
                </a:r>
              </a:p>
              <a:p>
                <a:pPr>
                  <a:spcBef>
                    <a:spcPts val="3600"/>
                  </a:spcBef>
                </a:pPr>
                <a:endParaRPr lang="en-US"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199" y="3276599"/>
                <a:ext cx="23137091" cy="8001001"/>
              </a:xfrm>
              <a:prstGeom prst="rect">
                <a:avLst/>
              </a:prstGeom>
              <a:blipFill>
                <a:blip r:embed="rId3"/>
                <a:stretch>
                  <a:fillRect t="-1901"/>
                </a:stretch>
              </a:blipFill>
              <a:ln>
                <a:solidFill>
                  <a:srgbClr val="00B0F0"/>
                </a:solidFill>
              </a:ln>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9" y="3276599"/>
            <a:ext cx="184833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8B49A2E-2A9D-46FD-AE9C-29462A33F0E6}"/>
                  </a:ext>
                </a:extLst>
              </p:cNvPr>
              <p:cNvSpPr txBox="1">
                <a:spLocks/>
              </p:cNvSpPr>
              <p:nvPr/>
            </p:nvSpPr>
            <p:spPr>
              <a:xfrm>
                <a:off x="11201400" y="5994400"/>
                <a:ext cx="12230100" cy="4292600"/>
              </a:xfrm>
              <a:prstGeom prst="rect">
                <a:avLst/>
              </a:prstGeom>
              <a:solidFill>
                <a:srgbClr val="D6F7FE"/>
              </a:solidFill>
              <a:ln>
                <a:no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vi-VN" b="1" dirty="0">
                    <a:latin typeface="Tahoma" panose="020B0604030504040204" pitchFamily="34" charset="0"/>
                    <a:ea typeface="Tahoma" panose="020B0604030504040204" pitchFamily="34" charset="0"/>
                    <a:cs typeface="Tahoma" panose="020B0604030504040204" pitchFamily="34" charset="0"/>
                  </a:rPr>
                  <a:t>Lời giải</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Do  là hình bình hành nên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𝑩𝑪</m:t>
                        </m:r>
                      </m:e>
                    </m:acc>
                  </m:oMath>
                </a14:m>
                <a:r>
                  <a:rPr lang="vi-VN" b="1" dirty="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Suy ra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r>
                      <a:rPr lang="vi-VN" b="1">
                        <a:latin typeface="Cambria Math" panose="02040503050406030204" pitchFamily="18" charset="0"/>
                      </a:rPr>
                      <m:t> </m:t>
                    </m:r>
                    <m:acc>
                      <m:accPr>
                        <m:chr m:val="⃗"/>
                        <m:ctrlPr>
                          <a:rPr lang="en-US" b="1" i="1">
                            <a:latin typeface="Cambria Math" panose="02040503050406030204" pitchFamily="18" charset="0"/>
                          </a:rPr>
                        </m:ctrlPr>
                      </m:accPr>
                      <m:e>
                        <m:r>
                          <a:rPr lang="vi-VN" b="1" i="1">
                            <a:latin typeface="Cambria Math" panose="02040503050406030204" pitchFamily="18" charset="0"/>
                          </a:rPr>
                          <m:t>𝑨𝑫</m:t>
                        </m:r>
                      </m:e>
                    </m:acc>
                    <m:r>
                      <a:rPr lang="vi-VN" b="1">
                        <a:latin typeface="Cambria Math" panose="02040503050406030204" pitchFamily="18" charset="0"/>
                      </a:rPr>
                      <m:t>= </m:t>
                    </m:r>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a:latin typeface="Cambria Math" panose="02040503050406030204" pitchFamily="18" charset="0"/>
                      </a:rPr>
                      <m:t>+ </m:t>
                    </m:r>
                    <m:acc>
                      <m:accPr>
                        <m:chr m:val="⃗"/>
                        <m:ctrlPr>
                          <a:rPr lang="en-US" b="1" i="1">
                            <a:latin typeface="Cambria Math" panose="02040503050406030204" pitchFamily="18" charset="0"/>
                          </a:rPr>
                        </m:ctrlPr>
                      </m:accPr>
                      <m:e>
                        <m:r>
                          <a:rPr lang="vi-VN" b="1" i="1">
                            <a:latin typeface="Cambria Math" panose="02040503050406030204" pitchFamily="18" charset="0"/>
                          </a:rPr>
                          <m:t>𝑩𝑪</m:t>
                        </m:r>
                      </m:e>
                    </m:acc>
                    <m:r>
                      <a:rPr lang="vi-VN" b="1">
                        <a:latin typeface="Cambria Math" panose="02040503050406030204" pitchFamily="18" charset="0"/>
                      </a:rPr>
                      <m:t>= </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r>
                      <a:rPr lang="vi-VN" b="1">
                        <a:latin typeface="Cambria Math" panose="02040503050406030204" pitchFamily="18" charset="0"/>
                      </a:rPr>
                      <m:t> </m:t>
                    </m:r>
                  </m:oMath>
                </a14:m>
                <a:r>
                  <a:rPr lang="vi-VN" b="1" dirty="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r>
                      <a:rPr lang="vi-VN" b="1">
                        <a:latin typeface="Cambria Math" panose="02040503050406030204" pitchFamily="18" charset="0"/>
                      </a:rPr>
                      <m:t> </m:t>
                    </m:r>
                    <m:acc>
                      <m:accPr>
                        <m:chr m:val="⃗"/>
                        <m:ctrlPr>
                          <a:rPr lang="en-US" b="1" i="1">
                            <a:latin typeface="Cambria Math" panose="02040503050406030204" pitchFamily="18" charset="0"/>
                          </a:rPr>
                        </m:ctrlPr>
                      </m:accPr>
                      <m:e>
                        <m:r>
                          <a:rPr lang="vi-VN" b="1" i="1">
                            <a:latin typeface="Cambria Math" panose="02040503050406030204" pitchFamily="18" charset="0"/>
                          </a:rPr>
                          <m:t>𝑨𝑫</m:t>
                        </m:r>
                      </m:e>
                    </m:acc>
                    <m:r>
                      <a:rPr lang="vi-VN" b="1">
                        <a:latin typeface="Cambria Math" panose="02040503050406030204" pitchFamily="18" charset="0"/>
                      </a:rPr>
                      <m:t>=  </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r>
                      <a:rPr lang="en-US" b="1" i="0" smtClean="0">
                        <a:latin typeface="Cambria Math"/>
                      </a:rPr>
                      <m:t>.</m:t>
                    </m:r>
                  </m:oMath>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1201400" y="5994400"/>
                <a:ext cx="12230100" cy="4292600"/>
              </a:xfrm>
              <a:prstGeom prst="rect">
                <a:avLst/>
              </a:prstGeom>
              <a:blipFill>
                <a:blip r:embed="rId5"/>
                <a:stretch>
                  <a:fillRect b="-851"/>
                </a:stretch>
              </a:blipFill>
              <a:ln>
                <a:noFill/>
              </a:ln>
            </p:spPr>
            <p:txBody>
              <a:bodyPr/>
              <a:lstStyle/>
              <a:p>
                <a:r>
                  <a:rPr lang="en-US">
                    <a:noFill/>
                  </a:rPr>
                  <a:t> </a:t>
                </a:r>
              </a:p>
            </p:txBody>
          </p:sp>
        </mc:Fallback>
      </mc:AlternateContent>
      <p:pic>
        <p:nvPicPr>
          <p:cNvPr id="7" name="Picture 6"/>
          <p:cNvPicPr/>
          <p:nvPr/>
        </p:nvPicPr>
        <p:blipFill>
          <a:blip r:embed="rId6"/>
          <a:stretch>
            <a:fillRect/>
          </a:stretch>
        </p:blipFill>
        <p:spPr>
          <a:xfrm>
            <a:off x="2895600" y="5460807"/>
            <a:ext cx="6248399" cy="4216785"/>
          </a:xfrm>
          <a:prstGeom prst="rect">
            <a:avLst/>
          </a:prstGeom>
        </p:spPr>
      </p:pic>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789933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99"/>
                                        </p:tgtEl>
                                        <p:attrNameLst>
                                          <p:attrName>style.visibility</p:attrName>
                                        </p:attrNameLst>
                                      </p:cBhvr>
                                      <p:to>
                                        <p:strVal val="visible"/>
                                      </p:to>
                                    </p:set>
                                    <p:animEffect transition="in" filter="wipe(left)">
                                      <p:cBhvr>
                                        <p:cTn id="14" dur="500"/>
                                        <p:tgtEl>
                                          <p:spTgt spid="99"/>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99">
                                            <p:txEl>
                                              <p:pRg st="0" end="0"/>
                                            </p:txEl>
                                          </p:spTgt>
                                        </p:tgtEl>
                                        <p:attrNameLst>
                                          <p:attrName>style.visibility</p:attrName>
                                        </p:attrNameLst>
                                      </p:cBhvr>
                                      <p:to>
                                        <p:strVal val="visible"/>
                                      </p:to>
                                    </p:set>
                                    <p:animEffect transition="in" filter="wipe(left)">
                                      <p:cBhvr>
                                        <p:cTn id="18" dur="500"/>
                                        <p:tgtEl>
                                          <p:spTgt spid="99">
                                            <p:txEl>
                                              <p:pRg st="0" end="0"/>
                                            </p:txEl>
                                          </p:spTgt>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left)">
                                      <p:cBhvr>
                                        <p:cTn id="22" dur="500"/>
                                        <p:tgtEl>
                                          <p:spTgt spid="99">
                                            <p:txEl>
                                              <p:pRg st="1" end="1"/>
                                            </p:txEl>
                                          </p:spTgt>
                                        </p:tgtEl>
                                      </p:cBhvr>
                                    </p:animEffect>
                                  </p:childTnLst>
                                </p:cTn>
                              </p:par>
                            </p:childTnLst>
                          </p:cTn>
                        </p:par>
                        <p:par>
                          <p:cTn id="23" fill="hold">
                            <p:stCondLst>
                              <p:cond delay="2500"/>
                            </p:stCondLst>
                            <p:childTnLst>
                              <p:par>
                                <p:cTn id="24" presetID="1"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wipe(left)">
                                      <p:cBhvr>
                                        <p:cTn id="35" dur="500"/>
                                        <p:tgtEl>
                                          <p:spTgt spid="9">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wipe(left)">
                                      <p:cBhvr>
                                        <p:cTn id="40" dur="500"/>
                                        <p:tgtEl>
                                          <p:spTgt spid="9">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
                                            <p:txEl>
                                              <p:pRg st="2" end="2"/>
                                            </p:txEl>
                                          </p:spTgt>
                                        </p:tgtEl>
                                        <p:attrNameLst>
                                          <p:attrName>style.visibility</p:attrName>
                                        </p:attrNameLst>
                                      </p:cBhvr>
                                      <p:to>
                                        <p:strVal val="visible"/>
                                      </p:to>
                                    </p:set>
                                    <p:animEffect transition="in" filter="wipe(left)">
                                      <p:cBhvr>
                                        <p:cTn id="45" dur="500"/>
                                        <p:tgtEl>
                                          <p:spTgt spid="9">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9">
                                            <p:txEl>
                                              <p:pRg st="3" end="3"/>
                                            </p:txEl>
                                          </p:spTgt>
                                        </p:tgtEl>
                                        <p:attrNameLst>
                                          <p:attrName>style.visibility</p:attrName>
                                        </p:attrNameLst>
                                      </p:cBhvr>
                                      <p:to>
                                        <p:strVal val="visible"/>
                                      </p:to>
                                    </p:set>
                                    <p:animEffect transition="in" filter="wipe(left)">
                                      <p:cBhvr>
                                        <p:cTn id="50"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429000"/>
                <a:ext cx="11353800" cy="9448800"/>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3000"/>
                  </a:spcBef>
                  <a:spcAft>
                    <a:spcPts val="1200"/>
                  </a:spcAft>
                </a:pP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Quy tắc ba điểm:</a:t>
                </a:r>
                <a:r>
                  <a:rPr lang="vi-VN"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Với ba điểm bất kì </a:t>
                </a:r>
                <a14:m>
                  <m:oMath xmlns:m="http://schemas.openxmlformats.org/officeDocument/2006/math">
                    <m:r>
                      <a:rPr lang="vi-VN" b="1" i="1">
                        <a:latin typeface="Cambria Math" panose="02040503050406030204" pitchFamily="18" charset="0"/>
                      </a:rPr>
                      <m:t>𝑨</m:t>
                    </m:r>
                    <m:r>
                      <a:rPr lang="vi-VN" b="1" i="1">
                        <a:latin typeface="Cambria Math" panose="02040503050406030204" pitchFamily="18" charset="0"/>
                      </a:rPr>
                      <m:t>,</m:t>
                    </m:r>
                    <m:r>
                      <a:rPr lang="vi-VN" b="1" i="1">
                        <a:latin typeface="Cambria Math" panose="02040503050406030204" pitchFamily="18" charset="0"/>
                      </a:rPr>
                      <m:t>𝑩</m:t>
                    </m:r>
                    <m:r>
                      <a:rPr lang="vi-VN" b="1" i="1">
                        <a:latin typeface="Cambria Math" panose="02040503050406030204" pitchFamily="18" charset="0"/>
                      </a:rPr>
                      <m:t>,</m:t>
                    </m:r>
                    <m:r>
                      <a:rPr lang="vi-VN" b="1" i="1">
                        <a:latin typeface="Cambria Math" panose="02040503050406030204" pitchFamily="18" charset="0"/>
                      </a:rPr>
                      <m:t>𝑪</m:t>
                    </m:r>
                  </m:oMath>
                </a14:m>
                <a:r>
                  <a:rPr lang="vi-VN" b="1" dirty="0">
                    <a:latin typeface="Tahoma" panose="020B0604030504040204" pitchFamily="34" charset="0"/>
                    <a:ea typeface="Tahoma" panose="020B0604030504040204" pitchFamily="34" charset="0"/>
                    <a:cs typeface="Tahoma" panose="020B0604030504040204" pitchFamily="34" charset="0"/>
                  </a:rPr>
                  <a:t>, ta có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oMath>
                </a14:m>
                <a:r>
                  <a:rPr lang="vi-VN" b="1" dirty="0">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a:p>
                <a:pPr>
                  <a:spcAft>
                    <a:spcPts val="1200"/>
                  </a:spcAft>
                </a:pP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Quy tắc hình bình hành: </a:t>
                </a:r>
                <a:r>
                  <a:rPr lang="vi-VN" b="1" dirty="0">
                    <a:latin typeface="Tahoma" panose="020B0604030504040204" pitchFamily="34" charset="0"/>
                    <a:ea typeface="Tahoma" panose="020B0604030504040204" pitchFamily="34" charset="0"/>
                    <a:cs typeface="Tahoma" panose="020B0604030504040204" pitchFamily="34" charset="0"/>
                  </a:rPr>
                  <a:t>Nếu </a:t>
                </a:r>
                <a14:m>
                  <m:oMath xmlns:m="http://schemas.openxmlformats.org/officeDocument/2006/math">
                    <m:r>
                      <a:rPr lang="vi-VN" b="1" i="1">
                        <a:latin typeface="Cambria Math" panose="02040503050406030204" pitchFamily="18" charset="0"/>
                      </a:rPr>
                      <m:t>𝑨𝑩𝑪𝑫</m:t>
                    </m:r>
                  </m:oMath>
                </a14:m>
                <a:r>
                  <a:rPr lang="vi-VN" b="1" dirty="0">
                    <a:latin typeface="Tahoma" panose="020B0604030504040204" pitchFamily="34" charset="0"/>
                    <a:ea typeface="Tahoma" panose="020B0604030504040204" pitchFamily="34" charset="0"/>
                    <a:cs typeface="Tahoma" panose="020B0604030504040204" pitchFamily="34" charset="0"/>
                  </a:rPr>
                  <a:t> là một hình bình hành thì</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spcAft>
                    <a:spcPts val="12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oMath>
                </a14:m>
                <a:r>
                  <a:rPr lang="vi-VN" b="1" dirty="0">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429000"/>
                <a:ext cx="11353800" cy="9448800"/>
              </a:xfrm>
              <a:prstGeom prst="rect">
                <a:avLst/>
              </a:prstGeom>
              <a:blipFill>
                <a:blip r:embed="rId3"/>
                <a:stretch>
                  <a:fillRect l="-2200"/>
                </a:stretch>
              </a:blipFill>
              <a:ln>
                <a:solidFill>
                  <a:srgbClr val="00B0F0"/>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28901"/>
            <a:ext cx="11630891" cy="93488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p:txBody>
      </p:sp>
      <p:pic>
        <p:nvPicPr>
          <p:cNvPr id="5" name="Picture 4"/>
          <p:cNvPicPr/>
          <p:nvPr/>
        </p:nvPicPr>
        <p:blipFill>
          <a:blip r:embed="rId4"/>
          <a:stretch>
            <a:fillRect/>
          </a:stretch>
        </p:blipFill>
        <p:spPr>
          <a:xfrm>
            <a:off x="12877800" y="4114800"/>
            <a:ext cx="10515601" cy="83820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4017880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left)">
                                      <p:cBhvr>
                                        <p:cTn id="11" dur="500"/>
                                        <p:tgtEl>
                                          <p:spTgt spid="99"/>
                                        </p:tgtEl>
                                      </p:cBhvr>
                                    </p:animEffect>
                                  </p:childTnLst>
                                </p:cTn>
                              </p:par>
                            </p:childTnLst>
                          </p:cTn>
                        </p:par>
                        <p:par>
                          <p:cTn id="12" fill="hold">
                            <p:stCondLst>
                              <p:cond delay="1500"/>
                            </p:stCondLst>
                            <p:childTnLst>
                              <p:par>
                                <p:cTn id="13" presetID="1"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9">
                                            <p:txEl>
                                              <p:pRg st="0" end="0"/>
                                            </p:txEl>
                                          </p:spTgt>
                                        </p:tgtEl>
                                        <p:attrNameLst>
                                          <p:attrName>style.visibility</p:attrName>
                                        </p:attrNameLst>
                                      </p:cBhvr>
                                      <p:to>
                                        <p:strVal val="visible"/>
                                      </p:to>
                                    </p:set>
                                    <p:animEffect transition="in" filter="wipe(left)">
                                      <p:cBhvr>
                                        <p:cTn id="19" dur="500"/>
                                        <p:tgtEl>
                                          <p:spTgt spid="9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9">
                                            <p:txEl>
                                              <p:pRg st="1" end="1"/>
                                            </p:txEl>
                                          </p:spTgt>
                                        </p:tgtEl>
                                        <p:attrNameLst>
                                          <p:attrName>style.visibility</p:attrName>
                                        </p:attrNameLst>
                                      </p:cBhvr>
                                      <p:to>
                                        <p:strVal val="visible"/>
                                      </p:to>
                                    </p:set>
                                    <p:animEffect transition="in" filter="wipe(left)">
                                      <p:cBhvr>
                                        <p:cTn id="24" dur="500"/>
                                        <p:tgtEl>
                                          <p:spTgt spid="9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9">
                                            <p:txEl>
                                              <p:pRg st="2" end="2"/>
                                            </p:txEl>
                                          </p:spTgt>
                                        </p:tgtEl>
                                        <p:attrNameLst>
                                          <p:attrName>style.visibility</p:attrName>
                                        </p:attrNameLst>
                                      </p:cBhvr>
                                      <p:to>
                                        <p:strVal val="visible"/>
                                      </p:to>
                                    </p:set>
                                    <p:animEffect transition="in" filter="wipe(left)">
                                      <p:cBhvr>
                                        <p:cTn id="29" dur="500"/>
                                        <p:tgtEl>
                                          <p:spTgt spid="9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nodePh="1">
                                  <p:stCondLst>
                                    <p:cond delay="0"/>
                                  </p:stCondLst>
                                  <p:endCondLst>
                                    <p:cond evt="begin" delay="0">
                                      <p:tn val="37"/>
                                    </p:cond>
                                  </p:end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left)">
                                      <p:cBhvr>
                                        <p:cTn id="3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942109" y="3276599"/>
                <a:ext cx="23137091" cy="93726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a:t>          </a:t>
                </a:r>
                <a:r>
                  <a:rPr lang="en-US" b="1" dirty="0">
                    <a:latin typeface="Tahoma" panose="020B0604030504040204" pitchFamily="34" charset="0"/>
                    <a:ea typeface="Tahoma" panose="020B0604030504040204" pitchFamily="34" charset="0"/>
                    <a:cs typeface="Tahoma" panose="020B0604030504040204" pitchFamily="34" charset="0"/>
                  </a:rPr>
                  <a:t>HĐ3: </a:t>
                </a:r>
                <a:r>
                  <a:rPr lang="vi-VN" b="1" dirty="0">
                    <a:latin typeface="Tahoma" panose="020B0604030504040204" pitchFamily="34" charset="0"/>
                    <a:ea typeface="Tahoma" panose="020B0604030504040204" pitchFamily="34" charset="0"/>
                    <a:cs typeface="Tahoma" panose="020B0604030504040204" pitchFamily="34" charset="0"/>
                  </a:rPr>
                  <a:t>a) Trong hình 4.14a, hãy chỉ ra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oMath>
                </a14:m>
                <a:r>
                  <a:rPr lang="vi-VN" b="1" dirty="0">
                    <a:latin typeface="Tahoma" panose="020B0604030504040204" pitchFamily="34" charset="0"/>
                    <a:ea typeface="Tahoma" panose="020B0604030504040204" pitchFamily="34" charset="0"/>
                    <a:cs typeface="Tahoma" panose="020B0604030504040204" pitchFamily="34" charset="0"/>
                  </a:rPr>
                  <a:t> và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smtClean="0">
                    <a:latin typeface="Tahoma" panose="020B0604030504040204" pitchFamily="34" charset="0"/>
                    <a:ea typeface="Tahoma" panose="020B0604030504040204" pitchFamily="34" charset="0"/>
                    <a:cs typeface="Tahoma" panose="020B0604030504040204" pitchFamily="34" charset="0"/>
                  </a:rPr>
                  <a:t>b</a:t>
                </a:r>
                <a:r>
                  <a:rPr lang="vi-VN" b="1" dirty="0">
                    <a:latin typeface="Tahoma" panose="020B0604030504040204" pitchFamily="34" charset="0"/>
                    <a:ea typeface="Tahoma" panose="020B0604030504040204" pitchFamily="34" charset="0"/>
                    <a:cs typeface="Tahoma" panose="020B0604030504040204" pitchFamily="34" charset="0"/>
                  </a:rPr>
                  <a:t>) Trong hình 4.14b, hãy chỉ ra véc tơ </a:t>
                </a:r>
                <a14:m>
                  <m:oMath xmlns:m="http://schemas.openxmlformats.org/officeDocument/2006/math">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e>
                    </m:d>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oMath>
                </a14:m>
                <a:r>
                  <a:rPr lang="vi-VN" b="1" dirty="0">
                    <a:latin typeface="Tahoma" panose="020B0604030504040204" pitchFamily="34" charset="0"/>
                    <a:ea typeface="Tahoma" panose="020B0604030504040204" pitchFamily="34" charset="0"/>
                    <a:cs typeface="Tahoma" panose="020B0604030504040204" pitchFamily="34" charset="0"/>
                  </a:rPr>
                  <a:t> và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e>
                    </m:d>
                  </m:oMath>
                </a14:m>
                <a:r>
                  <a:rPr lang="en-US" b="1" dirty="0" smtClean="0">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a:p>
                <a:pPr>
                  <a:spcBef>
                    <a:spcPts val="3600"/>
                  </a:spcBef>
                </a:pPr>
                <a:endParaRPr lang="en-US"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942109" y="3276599"/>
                <a:ext cx="23137091" cy="9372601"/>
              </a:xfrm>
              <a:prstGeom prst="rect">
                <a:avLst/>
              </a:prstGeom>
              <a:blipFill>
                <a:blip r:embed="rId3"/>
                <a:stretch>
                  <a:fillRect l="-1080" t="-1234"/>
                </a:stretch>
              </a:blipFill>
              <a:ln>
                <a:solidFill>
                  <a:srgbClr val="00B0F0"/>
                </a:solidFill>
              </a:ln>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377760"/>
            <a:ext cx="184833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8B49A2E-2A9D-46FD-AE9C-29462A33F0E6}"/>
                  </a:ext>
                </a:extLst>
              </p:cNvPr>
              <p:cNvSpPr txBox="1">
                <a:spLocks/>
              </p:cNvSpPr>
              <p:nvPr/>
            </p:nvSpPr>
            <p:spPr>
              <a:xfrm>
                <a:off x="10429876" y="5484613"/>
                <a:ext cx="13532276" cy="6935987"/>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vi-VN" b="1" dirty="0">
                    <a:latin typeface="Tahoma" panose="020B0604030504040204" pitchFamily="34" charset="0"/>
                    <a:ea typeface="Tahoma" panose="020B0604030504040204" pitchFamily="34" charset="0"/>
                    <a:cs typeface="Tahoma" panose="020B0604030504040204" pitchFamily="34" charset="0"/>
                  </a:rPr>
                  <a:t>Lời giải</a:t>
                </a:r>
                <a:endParaRPr lang="en-US" b="1" dirty="0">
                  <a:latin typeface="Tahoma" panose="020B0604030504040204" pitchFamily="34" charset="0"/>
                  <a:ea typeface="Tahoma" panose="020B0604030504040204" pitchFamily="34" charset="0"/>
                  <a:cs typeface="Tahoma" panose="020B0604030504040204" pitchFamily="34" charset="0"/>
                </a:endParaRPr>
              </a:p>
              <a:p>
                <a:r>
                  <a:rPr lang="vi-VN" sz="4500" b="1" dirty="0">
                    <a:latin typeface="Tahoma" panose="020B0604030504040204" pitchFamily="34" charset="0"/>
                    <a:ea typeface="Tahoma" panose="020B0604030504040204" pitchFamily="34" charset="0"/>
                    <a:cs typeface="Tahoma" panose="020B0604030504040204" pitchFamily="34" charset="0"/>
                  </a:rPr>
                  <a:t>Dựa vào hình 4.14a ta có</a:t>
                </a:r>
                <a:r>
                  <a:rPr lang="en-US" sz="4500"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vi-VN" sz="45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500" b="1" i="1">
                            <a:latin typeface="Cambria Math" panose="02040503050406030204" pitchFamily="18" charset="0"/>
                          </a:rPr>
                        </m:ctrlPr>
                      </m:accPr>
                      <m:e>
                        <m:r>
                          <a:rPr lang="vi-VN" sz="4500" b="1" i="1">
                            <a:latin typeface="Cambria Math" panose="02040503050406030204" pitchFamily="18" charset="0"/>
                          </a:rPr>
                          <m:t>𝒂</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𝒃</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𝑨𝑩</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𝑩𝑪</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𝑨𝑪</m:t>
                        </m:r>
                      </m:e>
                    </m:acc>
                  </m:oMath>
                </a14:m>
                <a:r>
                  <a:rPr lang="vi-VN" sz="4500" b="1" dirty="0">
                    <a:latin typeface="Tahoma" panose="020B0604030504040204" pitchFamily="34" charset="0"/>
                    <a:ea typeface="Tahoma" panose="020B0604030504040204" pitchFamily="34" charset="0"/>
                    <a:cs typeface="Tahoma" panose="020B0604030504040204" pitchFamily="34" charset="0"/>
                  </a:rPr>
                  <a:t> </a:t>
                </a:r>
                <a:r>
                  <a:rPr lang="en-US" sz="45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500" b="1" i="1">
                            <a:latin typeface="Cambria Math" panose="02040503050406030204" pitchFamily="18" charset="0"/>
                          </a:rPr>
                        </m:ctrlPr>
                      </m:accPr>
                      <m:e>
                        <m:r>
                          <a:rPr lang="vi-VN" sz="4500" b="1" i="1">
                            <a:latin typeface="Cambria Math" panose="02040503050406030204" pitchFamily="18" charset="0"/>
                          </a:rPr>
                          <m:t>𝒃</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𝒂</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𝑨𝑫</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𝑫𝑪</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𝑨𝑪</m:t>
                        </m:r>
                      </m:e>
                    </m:acc>
                  </m:oMath>
                </a14:m>
                <a:r>
                  <a:rPr lang="vi-VN" sz="4500" b="1" dirty="0">
                    <a:latin typeface="Tahoma" panose="020B0604030504040204" pitchFamily="34" charset="0"/>
                    <a:ea typeface="Tahoma" panose="020B0604030504040204" pitchFamily="34" charset="0"/>
                    <a:cs typeface="Tahoma" panose="020B0604030504040204" pitchFamily="34" charset="0"/>
                  </a:rPr>
                  <a:t>.</a:t>
                </a:r>
                <a:endParaRPr lang="en-US" sz="4500" b="1" dirty="0">
                  <a:latin typeface="Tahoma" panose="020B0604030504040204" pitchFamily="34" charset="0"/>
                  <a:ea typeface="Tahoma" panose="020B0604030504040204" pitchFamily="34" charset="0"/>
                  <a:cs typeface="Tahoma" panose="020B0604030504040204" pitchFamily="34" charset="0"/>
                </a:endParaRPr>
              </a:p>
              <a:p>
                <a:r>
                  <a:rPr lang="vi-VN" sz="4500" b="1" dirty="0">
                    <a:latin typeface="Tahoma" panose="020B0604030504040204" pitchFamily="34" charset="0"/>
                    <a:ea typeface="Tahoma" panose="020B0604030504040204" pitchFamily="34" charset="0"/>
                    <a:cs typeface="Tahoma" panose="020B0604030504040204" pitchFamily="34" charset="0"/>
                  </a:rPr>
                  <a:t>Dựa vào hình 4.14b ta có:</a:t>
                </a:r>
                <a14:m>
                  <m:oMath xmlns:m="http://schemas.openxmlformats.org/officeDocument/2006/math">
                    <m:r>
                      <a:rPr lang="vi-VN" sz="4500" b="1" i="1">
                        <a:latin typeface="Cambria Math" panose="02040503050406030204" pitchFamily="18" charset="0"/>
                      </a:rPr>
                      <m:t> </m:t>
                    </m:r>
                  </m:oMath>
                </a14:m>
                <a:endParaRPr lang="en-US" sz="4500" b="1" dirty="0">
                  <a:latin typeface="Tahoma" panose="020B0604030504040204" pitchFamily="34" charset="0"/>
                  <a:ea typeface="Tahoma" panose="020B0604030504040204" pitchFamily="34" charset="0"/>
                  <a:cs typeface="Tahoma" panose="020B0604030504040204" pitchFamily="34" charset="0"/>
                </a:endParaRPr>
              </a:p>
              <a:p>
                <a:pPr marL="0" indent="0">
                  <a:buNone/>
                </a:pPr>
                <a14:m>
                  <m:oMath xmlns:m="http://schemas.openxmlformats.org/officeDocument/2006/math">
                    <m:d>
                      <m:dPr>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vi-VN" sz="4500" b="1" i="1">
                                <a:latin typeface="Cambria Math" panose="02040503050406030204" pitchFamily="18" charset="0"/>
                              </a:rPr>
                              <m:t>𝒂</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𝒃</m:t>
                            </m:r>
                          </m:e>
                        </m:acc>
                      </m:e>
                    </m:d>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𝒄</m:t>
                        </m:r>
                      </m:e>
                    </m:acc>
                    <m:r>
                      <a:rPr lang="vi-VN" sz="4500" b="1" i="1">
                        <a:latin typeface="Cambria Math" panose="02040503050406030204" pitchFamily="18" charset="0"/>
                      </a:rPr>
                      <m:t>= </m:t>
                    </m:r>
                    <m:d>
                      <m:dPr>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𝑨𝑩</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𝑩𝑪</m:t>
                            </m:r>
                          </m:e>
                        </m:acc>
                      </m:e>
                    </m:d>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𝑪𝑫</m:t>
                        </m:r>
                      </m:e>
                    </m:acc>
                    <m:r>
                      <a:rPr lang="vi-VN" sz="4500" b="1" i="1">
                        <a:latin typeface="Cambria Math" panose="02040503050406030204" pitchFamily="18" charset="0"/>
                      </a:rPr>
                      <m:t>= </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𝑨𝑪</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𝑪𝑫</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𝑨𝑫</m:t>
                        </m:r>
                      </m:e>
                    </m:acc>
                  </m:oMath>
                </a14:m>
                <a:r>
                  <a:rPr lang="vi-VN" sz="4500" b="1" dirty="0">
                    <a:latin typeface="Tahoma" panose="020B0604030504040204" pitchFamily="34" charset="0"/>
                    <a:ea typeface="Tahoma" panose="020B0604030504040204" pitchFamily="34" charset="0"/>
                    <a:cs typeface="Tahoma" panose="020B0604030504040204" pitchFamily="34" charset="0"/>
                  </a:rPr>
                  <a:t> </a:t>
                </a:r>
                <a:endParaRPr lang="en-US" sz="45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45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500" b="1" i="1">
                            <a:latin typeface="Cambria Math" panose="02040503050406030204" pitchFamily="18" charset="0"/>
                          </a:rPr>
                        </m:ctrlPr>
                      </m:accPr>
                      <m:e>
                        <m:r>
                          <a:rPr lang="vi-VN" sz="4500" b="1" i="1">
                            <a:latin typeface="Cambria Math" panose="02040503050406030204" pitchFamily="18" charset="0"/>
                          </a:rPr>
                          <m:t>𝒂</m:t>
                        </m:r>
                      </m:e>
                    </m:acc>
                    <m:r>
                      <a:rPr lang="vi-VN" sz="4500" b="1" i="1">
                        <a:latin typeface="Cambria Math" panose="02040503050406030204" pitchFamily="18" charset="0"/>
                      </a:rPr>
                      <m:t>+</m:t>
                    </m:r>
                    <m:d>
                      <m:dPr>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vi-VN" sz="4500" b="1" i="1">
                                <a:latin typeface="Cambria Math" panose="02040503050406030204" pitchFamily="18" charset="0"/>
                              </a:rPr>
                              <m:t>𝒃</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𝒄</m:t>
                            </m:r>
                          </m:e>
                        </m:acc>
                      </m:e>
                    </m:d>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𝑨𝑩</m:t>
                        </m:r>
                      </m:e>
                    </m:acc>
                    <m:r>
                      <a:rPr lang="vi-VN" sz="4500" b="1" i="1">
                        <a:latin typeface="Cambria Math" panose="02040503050406030204" pitchFamily="18" charset="0"/>
                      </a:rPr>
                      <m:t>+</m:t>
                    </m:r>
                    <m:d>
                      <m:dPr>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vi-VN" sz="4500" b="1" i="1">
                                <a:latin typeface="Cambria Math" panose="02040503050406030204" pitchFamily="18" charset="0"/>
                              </a:rPr>
                              <m:t>𝑩𝑪</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𝑪𝑫</m:t>
                            </m:r>
                          </m:e>
                        </m:acc>
                      </m:e>
                    </m:d>
                    <m:r>
                      <a:rPr lang="vi-VN" sz="4500" b="1" i="1">
                        <a:latin typeface="Cambria Math" panose="02040503050406030204" pitchFamily="18" charset="0"/>
                      </a:rPr>
                      <m:t>= </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𝑨𝑩</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𝑩𝑫</m:t>
                        </m:r>
                      </m:e>
                    </m:acc>
                    <m:r>
                      <a:rPr lang="vi-VN" sz="4500" b="1" i="1">
                        <a:latin typeface="Cambria Math" panose="02040503050406030204" pitchFamily="18" charset="0"/>
                      </a:rPr>
                      <m:t>=</m:t>
                    </m:r>
                    <m:acc>
                      <m:accPr>
                        <m:chr m:val="⃗"/>
                        <m:ctrlPr>
                          <a:rPr lang="en-US" sz="4500" b="1" i="1">
                            <a:latin typeface="Cambria Math" panose="02040503050406030204" pitchFamily="18" charset="0"/>
                          </a:rPr>
                        </m:ctrlPr>
                      </m:accPr>
                      <m:e>
                        <m:r>
                          <a:rPr lang="vi-VN" sz="4500" b="1" i="1">
                            <a:latin typeface="Cambria Math" panose="02040503050406030204" pitchFamily="18" charset="0"/>
                          </a:rPr>
                          <m:t>𝑨𝑫</m:t>
                        </m:r>
                      </m:e>
                    </m:acc>
                  </m:oMath>
                </a14:m>
                <a:endParaRPr lang="en-US" sz="45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0429876" y="5484613"/>
                <a:ext cx="13532276" cy="6935987"/>
              </a:xfrm>
              <a:prstGeom prst="rect">
                <a:avLst/>
              </a:prstGeom>
              <a:blipFill>
                <a:blip r:embed="rId5"/>
                <a:stretch>
                  <a:fillRect l="-1665"/>
                </a:stretch>
              </a:blipFill>
              <a:ln>
                <a:solidFill>
                  <a:srgbClr val="00B0F0"/>
                </a:solidFill>
              </a:ln>
            </p:spPr>
            <p:txBody>
              <a:bodyPr/>
              <a:lstStyle/>
              <a:p>
                <a:r>
                  <a:rPr lang="en-US">
                    <a:noFill/>
                  </a:rPr>
                  <a:t> </a:t>
                </a:r>
              </a:p>
            </p:txBody>
          </p:sp>
        </mc:Fallback>
      </mc:AlternateContent>
      <p:pic>
        <p:nvPicPr>
          <p:cNvPr id="8" name="Picture 7"/>
          <p:cNvPicPr/>
          <p:nvPr/>
        </p:nvPicPr>
        <p:blipFill>
          <a:blip r:embed="rId6"/>
          <a:stretch>
            <a:fillRect/>
          </a:stretch>
        </p:blipFill>
        <p:spPr>
          <a:xfrm>
            <a:off x="1143000" y="5455710"/>
            <a:ext cx="9286875" cy="6964890"/>
          </a:xfrm>
          <a:prstGeom prst="rect">
            <a:avLst/>
          </a:prstGeom>
        </p:spPr>
      </p:pic>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3635966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8" fill="hold" grpId="0" nodeType="afterEffect">
                                  <p:stCondLst>
                                    <p:cond delay="0"/>
                                  </p:stCondLst>
                                  <p:iterate type="wd">
                                    <p:tmPct val="10000"/>
                                  </p:iterate>
                                  <p:childTnLst>
                                    <p:set>
                                      <p:cBhvr>
                                        <p:cTn id="13" dur="1" fill="hold">
                                          <p:stCondLst>
                                            <p:cond delay="0"/>
                                          </p:stCondLst>
                                        </p:cTn>
                                        <p:tgtEl>
                                          <p:spTgt spid="99"/>
                                        </p:tgtEl>
                                        <p:attrNameLst>
                                          <p:attrName>style.visibility</p:attrName>
                                        </p:attrNameLst>
                                      </p:cBhvr>
                                      <p:to>
                                        <p:strVal val="visible"/>
                                      </p:to>
                                    </p:set>
                                    <p:animEffect transition="in" filter="wipe(left)">
                                      <p:cBhvr>
                                        <p:cTn id="14" dur="500"/>
                                        <p:tgtEl>
                                          <p:spTgt spid="99"/>
                                        </p:tgtEl>
                                      </p:cBhvr>
                                    </p:animEffect>
                                  </p:childTnLst>
                                </p:cTn>
                              </p:par>
                            </p:childTnLst>
                          </p:cTn>
                        </p:par>
                        <p:par>
                          <p:cTn id="15" fill="hold">
                            <p:stCondLst>
                              <p:cond delay="3900"/>
                            </p:stCondLst>
                            <p:childTnLst>
                              <p:par>
                                <p:cTn id="16" presetID="22" presetClass="entr" presetSubtype="8" fill="hold" nodeType="afterEffect">
                                  <p:stCondLst>
                                    <p:cond delay="0"/>
                                  </p:stCondLst>
                                  <p:iterate type="wd">
                                    <p:tmPct val="10000"/>
                                  </p:iterate>
                                  <p:childTnLst>
                                    <p:set>
                                      <p:cBhvr>
                                        <p:cTn id="17" dur="1" fill="hold">
                                          <p:stCondLst>
                                            <p:cond delay="0"/>
                                          </p:stCondLst>
                                        </p:cTn>
                                        <p:tgtEl>
                                          <p:spTgt spid="99">
                                            <p:txEl>
                                              <p:pRg st="0" end="0"/>
                                            </p:txEl>
                                          </p:spTgt>
                                        </p:tgtEl>
                                        <p:attrNameLst>
                                          <p:attrName>style.visibility</p:attrName>
                                        </p:attrNameLst>
                                      </p:cBhvr>
                                      <p:to>
                                        <p:strVal val="visible"/>
                                      </p:to>
                                    </p:set>
                                    <p:animEffect transition="in" filter="wipe(left)">
                                      <p:cBhvr>
                                        <p:cTn id="18" dur="500"/>
                                        <p:tgtEl>
                                          <p:spTgt spid="99">
                                            <p:txEl>
                                              <p:pRg st="0" end="0"/>
                                            </p:txEl>
                                          </p:spTgt>
                                        </p:tgtEl>
                                      </p:cBhvr>
                                    </p:animEffect>
                                  </p:childTnLst>
                                </p:cTn>
                              </p:par>
                            </p:childTnLst>
                          </p:cTn>
                        </p:par>
                        <p:par>
                          <p:cTn id="19" fill="hold">
                            <p:stCondLst>
                              <p:cond delay="5500"/>
                            </p:stCondLst>
                            <p:childTnLst>
                              <p:par>
                                <p:cTn id="20" presetID="22" presetClass="entr" presetSubtype="8" fill="hold" nodeType="afterEffect">
                                  <p:stCondLst>
                                    <p:cond delay="0"/>
                                  </p:stCondLst>
                                  <p:iterate type="wd">
                                    <p:tmPct val="10000"/>
                                  </p:iterate>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left)">
                                      <p:cBhvr>
                                        <p:cTn id="22" dur="500"/>
                                        <p:tgtEl>
                                          <p:spTgt spid="99">
                                            <p:txEl>
                                              <p:pRg st="1" end="1"/>
                                            </p:txEl>
                                          </p:spTgt>
                                        </p:tgtEl>
                                      </p:cBhvr>
                                    </p:animEffect>
                                  </p:childTnLst>
                                </p:cTn>
                              </p:par>
                            </p:childTnLst>
                          </p:cTn>
                        </p:par>
                        <p:par>
                          <p:cTn id="23" fill="hold">
                            <p:stCondLst>
                              <p:cond delay="7250"/>
                            </p:stCondLst>
                            <p:childTnLst>
                              <p:par>
                                <p:cTn id="24" presetID="1"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par>
                          <p:cTn id="26" fill="hold">
                            <p:stCondLst>
                              <p:cond delay="7250"/>
                            </p:stCondLst>
                            <p:childTnLst>
                              <p:par>
                                <p:cTn id="27" presetID="22" presetClass="entr" presetSubtype="8" fill="hold" grpId="0" nodeType="afterEffect">
                                  <p:stCondLst>
                                    <p:cond delay="0"/>
                                  </p:stCondLst>
                                  <p:iterate type="wd">
                                    <p:tmPct val="10000"/>
                                  </p:iterate>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iterate type="wd">
                                    <p:tmPct val="10000"/>
                                  </p:iterate>
                                  <p:childTnLst>
                                    <p:set>
                                      <p:cBhvr>
                                        <p:cTn id="33" dur="1" fill="hold">
                                          <p:stCondLst>
                                            <p:cond delay="0"/>
                                          </p:stCondLst>
                                        </p:cTn>
                                        <p:tgtEl>
                                          <p:spTgt spid="9">
                                            <p:txEl>
                                              <p:pRg st="0" end="0"/>
                                            </p:txEl>
                                          </p:spTgt>
                                        </p:tgtEl>
                                        <p:attrNameLst>
                                          <p:attrName>style.visibility</p:attrName>
                                        </p:attrNameLst>
                                      </p:cBhvr>
                                      <p:to>
                                        <p:strVal val="visible"/>
                                      </p:to>
                                    </p:set>
                                    <p:animEffect transition="in" filter="wipe(left)">
                                      <p:cBhvr>
                                        <p:cTn id="34" dur="500"/>
                                        <p:tgtEl>
                                          <p:spTgt spid="9">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iterate type="wd">
                                    <p:tmPct val="10000"/>
                                  </p:iterate>
                                  <p:childTnLst>
                                    <p:set>
                                      <p:cBhvr>
                                        <p:cTn id="38" dur="1" fill="hold">
                                          <p:stCondLst>
                                            <p:cond delay="0"/>
                                          </p:stCondLst>
                                        </p:cTn>
                                        <p:tgtEl>
                                          <p:spTgt spid="9">
                                            <p:txEl>
                                              <p:pRg st="1" end="1"/>
                                            </p:txEl>
                                          </p:spTgt>
                                        </p:tgtEl>
                                        <p:attrNameLst>
                                          <p:attrName>style.visibility</p:attrName>
                                        </p:attrNameLst>
                                      </p:cBhvr>
                                      <p:to>
                                        <p:strVal val="visible"/>
                                      </p:to>
                                    </p:set>
                                    <p:animEffect transition="in" filter="wipe(left)">
                                      <p:cBhvr>
                                        <p:cTn id="39" dur="500"/>
                                        <p:tgtEl>
                                          <p:spTgt spid="9">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iterate type="wd">
                                    <p:tmPct val="10000"/>
                                  </p:iterate>
                                  <p:childTnLst>
                                    <p:set>
                                      <p:cBhvr>
                                        <p:cTn id="43" dur="1" fill="hold">
                                          <p:stCondLst>
                                            <p:cond delay="0"/>
                                          </p:stCondLst>
                                        </p:cTn>
                                        <p:tgtEl>
                                          <p:spTgt spid="9">
                                            <p:txEl>
                                              <p:pRg st="2" end="2"/>
                                            </p:txEl>
                                          </p:spTgt>
                                        </p:tgtEl>
                                        <p:attrNameLst>
                                          <p:attrName>style.visibility</p:attrName>
                                        </p:attrNameLst>
                                      </p:cBhvr>
                                      <p:to>
                                        <p:strVal val="visible"/>
                                      </p:to>
                                    </p:set>
                                    <p:animEffect transition="in" filter="wipe(left)">
                                      <p:cBhvr>
                                        <p:cTn id="44" dur="500"/>
                                        <p:tgtEl>
                                          <p:spTgt spid="9">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iterate type="wd">
                                    <p:tmPct val="10000"/>
                                  </p:iterate>
                                  <p:childTnLst>
                                    <p:set>
                                      <p:cBhvr>
                                        <p:cTn id="48" dur="1" fill="hold">
                                          <p:stCondLst>
                                            <p:cond delay="0"/>
                                          </p:stCondLst>
                                        </p:cTn>
                                        <p:tgtEl>
                                          <p:spTgt spid="9">
                                            <p:txEl>
                                              <p:pRg st="3" end="3"/>
                                            </p:txEl>
                                          </p:spTgt>
                                        </p:tgtEl>
                                        <p:attrNameLst>
                                          <p:attrName>style.visibility</p:attrName>
                                        </p:attrNameLst>
                                      </p:cBhvr>
                                      <p:to>
                                        <p:strVal val="visible"/>
                                      </p:to>
                                    </p:set>
                                    <p:animEffect transition="in" filter="wipe(left)">
                                      <p:cBhvr>
                                        <p:cTn id="49" dur="500"/>
                                        <p:tgtEl>
                                          <p:spTgt spid="9">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iterate type="wd">
                                    <p:tmPct val="10000"/>
                                  </p:iterate>
                                  <p:childTnLst>
                                    <p:set>
                                      <p:cBhvr>
                                        <p:cTn id="53" dur="1" fill="hold">
                                          <p:stCondLst>
                                            <p:cond delay="0"/>
                                          </p:stCondLst>
                                        </p:cTn>
                                        <p:tgtEl>
                                          <p:spTgt spid="9">
                                            <p:txEl>
                                              <p:pRg st="4" end="4"/>
                                            </p:txEl>
                                          </p:spTgt>
                                        </p:tgtEl>
                                        <p:attrNameLst>
                                          <p:attrName>style.visibility</p:attrName>
                                        </p:attrNameLst>
                                      </p:cBhvr>
                                      <p:to>
                                        <p:strVal val="visible"/>
                                      </p:to>
                                    </p:set>
                                    <p:animEffect transition="in" filter="wipe(left)">
                                      <p:cBhvr>
                                        <p:cTn id="54" dur="500"/>
                                        <p:tgtEl>
                                          <p:spTgt spid="9">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iterate type="wd">
                                    <p:tmPct val="10000"/>
                                  </p:iterate>
                                  <p:childTnLst>
                                    <p:set>
                                      <p:cBhvr>
                                        <p:cTn id="58" dur="1" fill="hold">
                                          <p:stCondLst>
                                            <p:cond delay="0"/>
                                          </p:stCondLst>
                                        </p:cTn>
                                        <p:tgtEl>
                                          <p:spTgt spid="9">
                                            <p:txEl>
                                              <p:pRg st="5" end="5"/>
                                            </p:txEl>
                                          </p:spTgt>
                                        </p:tgtEl>
                                        <p:attrNameLst>
                                          <p:attrName>style.visibility</p:attrName>
                                        </p:attrNameLst>
                                      </p:cBhvr>
                                      <p:to>
                                        <p:strVal val="visible"/>
                                      </p:to>
                                    </p:set>
                                    <p:animEffect transition="in" filter="wipe(left)">
                                      <p:cBhvr>
                                        <p:cTn id="59"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912967" y="1940474"/>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61848" y="3276600"/>
                <a:ext cx="13844752" cy="5638800"/>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latin typeface="Tahoma" panose="020B0604030504040204" pitchFamily="34" charset="0"/>
                    <a:ea typeface="Tahoma" panose="020B0604030504040204" pitchFamily="34" charset="0"/>
                    <a:cs typeface="Tahoma" panose="020B0604030504040204" pitchFamily="34" charset="0"/>
                  </a:rPr>
                  <a:t>Với ba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oMath>
                </a14:m>
                <a:r>
                  <a:rPr lang="vi-VN" b="1" dirty="0">
                    <a:latin typeface="Tahoma" panose="020B0604030504040204" pitchFamily="34" charset="0"/>
                    <a:ea typeface="Tahoma" panose="020B0604030504040204" pitchFamily="34" charset="0"/>
                    <a:cs typeface="Tahoma" panose="020B0604030504040204" pitchFamily="34" charset="0"/>
                  </a:rPr>
                  <a:t> tùy ý:</a:t>
                </a:r>
                <a:endParaRPr lang="en-US" b="1" dirty="0">
                  <a:latin typeface="Tahoma" panose="020B0604030504040204" pitchFamily="34" charset="0"/>
                  <a:ea typeface="Tahoma" panose="020B0604030504040204" pitchFamily="34" charset="0"/>
                  <a:cs typeface="Tahoma" panose="020B0604030504040204" pitchFamily="34" charset="0"/>
                </a:endParaRPr>
              </a:p>
              <a:p>
                <a:pPr lvl="0"/>
                <a:r>
                  <a:rPr lang="vi-VN" b="1" dirty="0">
                    <a:latin typeface="Tahoma" panose="020B0604030504040204" pitchFamily="34" charset="0"/>
                    <a:ea typeface="Tahoma" panose="020B0604030504040204" pitchFamily="34" charset="0"/>
                    <a:cs typeface="Tahoma" panose="020B0604030504040204" pitchFamily="34" charset="0"/>
                  </a:rPr>
                  <a:t>Tính chất giao hoán: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endParaRPr lang="en-US" b="1" dirty="0">
                  <a:latin typeface="Tahoma" panose="020B0604030504040204" pitchFamily="34" charset="0"/>
                  <a:ea typeface="Tahoma" panose="020B0604030504040204" pitchFamily="34" charset="0"/>
                  <a:cs typeface="Tahoma" panose="020B0604030504040204" pitchFamily="34" charset="0"/>
                </a:endParaRPr>
              </a:p>
              <a:p>
                <a:pPr lvl="0"/>
                <a:r>
                  <a:rPr lang="vi-VN" b="1" dirty="0">
                    <a:latin typeface="Tahoma" panose="020B0604030504040204" pitchFamily="34" charset="0"/>
                    <a:ea typeface="Tahoma" panose="020B0604030504040204" pitchFamily="34" charset="0"/>
                    <a:cs typeface="Tahoma" panose="020B0604030504040204" pitchFamily="34" charset="0"/>
                  </a:rPr>
                  <a:t>Tính chất kết hợp: </a:t>
                </a:r>
                <a14:m>
                  <m:oMath xmlns:m="http://schemas.openxmlformats.org/officeDocument/2006/math">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e>
                    </m:d>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e>
                    </m:d>
                  </m:oMath>
                </a14:m>
                <a:endParaRPr lang="en-US" b="1" dirty="0">
                  <a:latin typeface="Tahoma" panose="020B0604030504040204" pitchFamily="34" charset="0"/>
                  <a:ea typeface="Tahoma" panose="020B0604030504040204" pitchFamily="34" charset="0"/>
                  <a:cs typeface="Tahoma" panose="020B0604030504040204" pitchFamily="34" charset="0"/>
                </a:endParaRPr>
              </a:p>
              <a:p>
                <a:pPr lvl="0"/>
                <a:r>
                  <a:rPr lang="vi-VN" b="1" dirty="0">
                    <a:latin typeface="Tahoma" panose="020B0604030504040204" pitchFamily="34" charset="0"/>
                    <a:ea typeface="Tahoma" panose="020B0604030504040204" pitchFamily="34" charset="0"/>
                    <a:cs typeface="Tahoma" panose="020B0604030504040204" pitchFamily="34" charset="0"/>
                  </a:rPr>
                  <a:t>Tính chất của véc tơ – không: </a:t>
                </a:r>
                <a:endParaRPr lang="en-US" b="1" dirty="0">
                  <a:latin typeface="Tahoma" panose="020B0604030504040204" pitchFamily="34" charset="0"/>
                  <a:ea typeface="Tahoma" panose="020B0604030504040204" pitchFamily="34" charset="0"/>
                  <a:cs typeface="Tahoma" panose="020B0604030504040204" pitchFamily="34" charset="0"/>
                </a:endParaRPr>
              </a:p>
              <a:p>
                <a:pPr marL="0" lvl="0" indent="0">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𝟎</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𝟎</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61848" y="3276600"/>
                <a:ext cx="13844752" cy="5638800"/>
              </a:xfrm>
              <a:prstGeom prst="rect">
                <a:avLst/>
              </a:prstGeom>
              <a:blipFill>
                <a:blip r:embed="rId3"/>
                <a:stretch>
                  <a:fillRect l="-1759"/>
                </a:stretch>
              </a:blipFill>
              <a:ln>
                <a:solidFill>
                  <a:srgbClr val="00B0F0"/>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4706600" y="3276600"/>
            <a:ext cx="9344891" cy="5638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latin typeface="Tahoma" panose="020B0604030504040204" pitchFamily="34" charset="0"/>
              <a:ea typeface="Tahoma" panose="020B0604030504040204" pitchFamily="34" charset="0"/>
              <a:cs typeface="Tahoma" panose="020B0604030504040204" pitchFamily="34" charset="0"/>
            </a:endParaRPr>
          </a:p>
        </p:txBody>
      </p:sp>
      <p:pic>
        <p:nvPicPr>
          <p:cNvPr id="8" name="Picture 7"/>
          <p:cNvPicPr/>
          <p:nvPr/>
        </p:nvPicPr>
        <p:blipFill>
          <a:blip r:embed="rId4"/>
          <a:stretch>
            <a:fillRect/>
          </a:stretch>
        </p:blipFill>
        <p:spPr>
          <a:xfrm>
            <a:off x="14730249" y="3292366"/>
            <a:ext cx="9321242" cy="5638800"/>
          </a:xfrm>
          <a:prstGeom prst="rect">
            <a:avLst/>
          </a:prstGeom>
        </p:spPr>
      </p:pic>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14822BB7-DB89-4357-87F0-6E511FC44A6A}"/>
                  </a:ext>
                </a:extLst>
              </p:cNvPr>
              <p:cNvSpPr txBox="1">
                <a:spLocks/>
              </p:cNvSpPr>
              <p:nvPr/>
            </p:nvSpPr>
            <p:spPr>
              <a:xfrm>
                <a:off x="838200" y="8915400"/>
                <a:ext cx="23213291" cy="3886200"/>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solidFill>
                      <a:srgbClr val="FF0000"/>
                    </a:solidFill>
                    <a:latin typeface="Tahoma" pitchFamily="34" charset="0"/>
                    <a:ea typeface="Tahoma" pitchFamily="34" charset="0"/>
                    <a:cs typeface="Tahoma" pitchFamily="34" charset="0"/>
                  </a:rPr>
                  <a:t>Chú ý.</a:t>
                </a:r>
                <a:r>
                  <a:rPr lang="vi-VN" b="1" dirty="0">
                    <a:latin typeface="Tahoma" pitchFamily="34" charset="0"/>
                    <a:ea typeface="Tahoma" pitchFamily="34" charset="0"/>
                    <a:cs typeface="Tahoma" pitchFamily="34" charset="0"/>
                  </a:rPr>
                  <a:t> Do các véc tơ </a:t>
                </a:r>
                <a14:m>
                  <m:oMath xmlns:m="http://schemas.openxmlformats.org/officeDocument/2006/math">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e>
                    </m:d>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oMath>
                </a14:m>
                <a:r>
                  <a:rPr lang="vi-VN" b="1" dirty="0">
                    <a:latin typeface="Tahoma" pitchFamily="34" charset="0"/>
                    <a:ea typeface="Tahoma" pitchFamily="34" charset="0"/>
                    <a:cs typeface="Tahoma" pitchFamily="34" charset="0"/>
                  </a:rPr>
                  <a:t> và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e>
                    </m:d>
                  </m:oMath>
                </a14:m>
                <a:r>
                  <a:rPr lang="vi-VN" b="1" dirty="0">
                    <a:latin typeface="Tahoma" pitchFamily="34" charset="0"/>
                    <a:ea typeface="Tahoma" pitchFamily="34" charset="0"/>
                    <a:cs typeface="Tahoma" pitchFamily="34" charset="0"/>
                  </a:rPr>
                  <a:t> bằng nhau, nên ta còn viết chúng dưới dạng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oMath>
                </a14:m>
                <a:r>
                  <a:rPr lang="vi-VN" b="1" dirty="0">
                    <a:latin typeface="Tahoma" pitchFamily="34" charset="0"/>
                    <a:ea typeface="Tahoma" pitchFamily="34" charset="0"/>
                    <a:cs typeface="Tahoma" pitchFamily="34" charset="0"/>
                  </a:rPr>
                  <a:t> và gọi là tổng của ba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𝒃</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𝒄</m:t>
                        </m:r>
                      </m:e>
                    </m:acc>
                  </m:oMath>
                </a14:m>
                <a:r>
                  <a:rPr lang="vi-VN" b="1" dirty="0">
                    <a:latin typeface="Tahoma" pitchFamily="34" charset="0"/>
                    <a:ea typeface="Tahoma" pitchFamily="34" charset="0"/>
                    <a:cs typeface="Tahoma" pitchFamily="34" charset="0"/>
                  </a:rPr>
                  <a:t>. Tương tự, ta cũng có thể viết tổng của một số véc tơ mà không cần dùng dấu ngoặc</a:t>
                </a:r>
                <a:endParaRPr lang="en-US" b="1" dirty="0">
                  <a:latin typeface="Tahoma" pitchFamily="34" charset="0"/>
                  <a:ea typeface="Tahoma" pitchFamily="34" charset="0"/>
                  <a:cs typeface="Tahoma" pitchFamily="34" charset="0"/>
                </a:endParaRPr>
              </a:p>
            </p:txBody>
          </p:sp>
        </mc:Choice>
        <mc:Fallback xmlns="">
          <p:sp>
            <p:nvSpPr>
              <p:cNvPr id="16"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8915400"/>
                <a:ext cx="23213291" cy="3886200"/>
              </a:xfrm>
              <a:prstGeom prst="rect">
                <a:avLst/>
              </a:prstGeom>
              <a:blipFill>
                <a:blip r:embed="rId5"/>
                <a:stretch>
                  <a:fillRect l="-1076" r="-656"/>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730791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9"/>
                                        </p:tgtEl>
                                        <p:attrNameLst>
                                          <p:attrName>style.visibility</p:attrName>
                                        </p:attrNameLst>
                                      </p:cBhvr>
                                      <p:to>
                                        <p:strVal val="visible"/>
                                      </p:to>
                                    </p:set>
                                    <p:animEffect transition="in" filter="wipe(up)">
                                      <p:cBhvr>
                                        <p:cTn id="16" dur="500"/>
                                        <p:tgtEl>
                                          <p:spTgt spid="9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9">
                                            <p:txEl>
                                              <p:pRg st="0" end="0"/>
                                            </p:txEl>
                                          </p:spTgt>
                                        </p:tgtEl>
                                        <p:attrNameLst>
                                          <p:attrName>style.visibility</p:attrName>
                                        </p:attrNameLst>
                                      </p:cBhvr>
                                      <p:to>
                                        <p:strVal val="visible"/>
                                      </p:to>
                                    </p:set>
                                    <p:animEffect transition="in" filter="wipe(up)">
                                      <p:cBhvr>
                                        <p:cTn id="21" dur="500"/>
                                        <p:tgtEl>
                                          <p:spTgt spid="9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99">
                                            <p:txEl>
                                              <p:pRg st="1" end="1"/>
                                            </p:txEl>
                                          </p:spTgt>
                                        </p:tgtEl>
                                        <p:attrNameLst>
                                          <p:attrName>style.visibility</p:attrName>
                                        </p:attrNameLst>
                                      </p:cBhvr>
                                      <p:to>
                                        <p:strVal val="visible"/>
                                      </p:to>
                                    </p:set>
                                    <p:animEffect transition="in" filter="wipe(up)">
                                      <p:cBhvr>
                                        <p:cTn id="26" dur="500"/>
                                        <p:tgtEl>
                                          <p:spTgt spid="9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99">
                                            <p:txEl>
                                              <p:pRg st="2" end="2"/>
                                            </p:txEl>
                                          </p:spTgt>
                                        </p:tgtEl>
                                        <p:attrNameLst>
                                          <p:attrName>style.visibility</p:attrName>
                                        </p:attrNameLst>
                                      </p:cBhvr>
                                      <p:to>
                                        <p:strVal val="visible"/>
                                      </p:to>
                                    </p:set>
                                    <p:animEffect transition="in" filter="wipe(up)">
                                      <p:cBhvr>
                                        <p:cTn id="31" dur="500"/>
                                        <p:tgtEl>
                                          <p:spTgt spid="9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9">
                                            <p:txEl>
                                              <p:pRg st="3" end="3"/>
                                            </p:txEl>
                                          </p:spTgt>
                                        </p:tgtEl>
                                        <p:attrNameLst>
                                          <p:attrName>style.visibility</p:attrName>
                                        </p:attrNameLst>
                                      </p:cBhvr>
                                      <p:to>
                                        <p:strVal val="visible"/>
                                      </p:to>
                                    </p:set>
                                    <p:animEffect transition="in" filter="wipe(up)">
                                      <p:cBhvr>
                                        <p:cTn id="36" dur="500"/>
                                        <p:tgtEl>
                                          <p:spTgt spid="99">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99">
                                            <p:txEl>
                                              <p:pRg st="4" end="4"/>
                                            </p:txEl>
                                          </p:spTgt>
                                        </p:tgtEl>
                                        <p:attrNameLst>
                                          <p:attrName>style.visibility</p:attrName>
                                        </p:attrNameLst>
                                      </p:cBhvr>
                                      <p:to>
                                        <p:strVal val="visible"/>
                                      </p:to>
                                    </p:set>
                                    <p:animEffect transition="in" filter="wipe(up)">
                                      <p:cBhvr>
                                        <p:cTn id="41" dur="500"/>
                                        <p:tgtEl>
                                          <p:spTgt spid="99">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up)">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nodePh="1">
                                  <p:stCondLst>
                                    <p:cond delay="0"/>
                                  </p:stCondLst>
                                  <p:endCondLst>
                                    <p:cond evt="begin" delay="0">
                                      <p:tn val="49"/>
                                    </p:cond>
                                  </p:endCondLst>
                                  <p:childTnLst>
                                    <p:set>
                                      <p:cBhvr>
                                        <p:cTn id="50" dur="1" fill="hold">
                                          <p:stCondLst>
                                            <p:cond delay="0"/>
                                          </p:stCondLst>
                                        </p:cTn>
                                        <p:tgtEl>
                                          <p:spTgt spid="7">
                                            <p:txEl>
                                              <p:pRg st="0" end="0"/>
                                            </p:txEl>
                                          </p:spTgt>
                                        </p:tgtEl>
                                        <p:attrNameLst>
                                          <p:attrName>style.visibility</p:attrName>
                                        </p:attrNameLst>
                                      </p:cBhvr>
                                      <p:to>
                                        <p:strVal val="visible"/>
                                      </p:to>
                                    </p:set>
                                    <p:animEffect transition="in" filter="wipe(up)">
                                      <p:cBhvr>
                                        <p:cTn id="51" dur="500"/>
                                        <p:tgtEl>
                                          <p:spTgt spid="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up)">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16">
                                            <p:txEl>
                                              <p:pRg st="0" end="0"/>
                                            </p:txEl>
                                          </p:spTgt>
                                        </p:tgtEl>
                                        <p:attrNameLst>
                                          <p:attrName>style.visibility</p:attrName>
                                        </p:attrNameLst>
                                      </p:cBhvr>
                                      <p:to>
                                        <p:strVal val="visible"/>
                                      </p:to>
                                    </p:set>
                                    <p:animEffect transition="in" filter="wipe(up)">
                                      <p:cBhvr>
                                        <p:cTn id="61"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942109" y="3276599"/>
                <a:ext cx="23137091" cy="80010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dụ</a:t>
                </a:r>
                <a:r>
                  <a:rPr lang="en-US" b="1" dirty="0">
                    <a:latin typeface="Tahoma" panose="020B0604030504040204" pitchFamily="34" charset="0"/>
                    <a:ea typeface="Tahoma" panose="020B0604030504040204" pitchFamily="34" charset="0"/>
                    <a:cs typeface="Tahoma" panose="020B0604030504040204" pitchFamily="34" charset="0"/>
                  </a:rPr>
                  <a:t> 1.</a:t>
                </a:r>
                <a:r>
                  <a:rPr lang="vi-VN" b="1" dirty="0">
                    <a:latin typeface="Tahoma" panose="020B0604030504040204" pitchFamily="34" charset="0"/>
                    <a:ea typeface="Tahoma" panose="020B0604030504040204" pitchFamily="34" charset="0"/>
                    <a:cs typeface="Tahoma" panose="020B0604030504040204" pitchFamily="34" charset="0"/>
                  </a:rPr>
                  <a:t>   Cho hình vuông </a:t>
                </a:r>
                <a14:m>
                  <m:oMath xmlns:m="http://schemas.openxmlformats.org/officeDocument/2006/math">
                    <m:r>
                      <a:rPr lang="vi-VN" b="1" i="1">
                        <a:latin typeface="Cambria Math" panose="02040503050406030204" pitchFamily="18" charset="0"/>
                      </a:rPr>
                      <m:t>𝑨𝑩𝑪𝑫</m:t>
                    </m:r>
                  </m:oMath>
                </a14:m>
                <a:r>
                  <a:rPr lang="vi-VN" b="1" dirty="0">
                    <a:latin typeface="Tahoma" panose="020B0604030504040204" pitchFamily="34" charset="0"/>
                    <a:ea typeface="Tahoma" panose="020B0604030504040204" pitchFamily="34" charset="0"/>
                    <a:cs typeface="Tahoma" panose="020B0604030504040204" pitchFamily="34" charset="0"/>
                  </a:rPr>
                  <a:t> với độ dài cạnh bằng </a:t>
                </a:r>
                <a14:m>
                  <m:oMath xmlns:m="http://schemas.openxmlformats.org/officeDocument/2006/math">
                    <m:r>
                      <a:rPr lang="vi-VN" b="1" i="1">
                        <a:latin typeface="Cambria Math" panose="02040503050406030204" pitchFamily="18" charset="0"/>
                      </a:rPr>
                      <m:t>𝟏</m:t>
                    </m:r>
                  </m:oMath>
                </a14:m>
                <a:r>
                  <a:rPr lang="vi-VN" b="1" dirty="0">
                    <a:latin typeface="Tahoma" panose="020B0604030504040204" pitchFamily="34" charset="0"/>
                    <a:ea typeface="Tahoma" panose="020B0604030504040204" pitchFamily="34" charset="0"/>
                    <a:cs typeface="Tahoma" panose="020B0604030504040204" pitchFamily="34" charset="0"/>
                  </a:rPr>
                  <a:t>. Tính độ dài của các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oMath>
                </a14:m>
                <a:r>
                  <a:rPr lang="vi-VN"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𝑩𝑫</m:t>
                        </m:r>
                      </m:e>
                    </m:acc>
                  </m:oMath>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942109" y="3276599"/>
                <a:ext cx="23137091" cy="8001001"/>
              </a:xfrm>
              <a:prstGeom prst="rect">
                <a:avLst/>
              </a:prstGeom>
              <a:blipFill>
                <a:blip r:embed="rId3"/>
                <a:stretch>
                  <a:fillRect l="-1080" t="-2586" r="-184"/>
                </a:stretch>
              </a:blipFill>
              <a:ln>
                <a:solidFill>
                  <a:srgbClr val="00B0F0"/>
                </a:solidFill>
              </a:ln>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377760"/>
            <a:ext cx="184833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8B49A2E-2A9D-46FD-AE9C-29462A33F0E6}"/>
                  </a:ext>
                </a:extLst>
              </p:cNvPr>
              <p:cNvSpPr txBox="1">
                <a:spLocks/>
              </p:cNvSpPr>
              <p:nvPr/>
            </p:nvSpPr>
            <p:spPr>
              <a:xfrm>
                <a:off x="7010400" y="5114964"/>
                <a:ext cx="16992600" cy="5852581"/>
              </a:xfrm>
              <a:prstGeom prst="rect">
                <a:avLst/>
              </a:prstGeom>
              <a:solidFill>
                <a:srgbClr val="D6F7FE"/>
              </a:solidFill>
              <a:ln>
                <a:noFill/>
              </a:ln>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vi-VN" b="1" dirty="0">
                    <a:solidFill>
                      <a:srgbClr val="FF0000"/>
                    </a:solidFill>
                    <a:latin typeface="Tahoma" pitchFamily="34" charset="0"/>
                    <a:ea typeface="Tahoma" pitchFamily="34" charset="0"/>
                    <a:cs typeface="Tahoma" pitchFamily="34" charset="0"/>
                  </a:rPr>
                  <a:t>Lời giải</a:t>
                </a:r>
                <a:endParaRPr lang="en-US" b="1" dirty="0">
                  <a:solidFill>
                    <a:srgbClr val="FF0000"/>
                  </a:solidFill>
                  <a:latin typeface="Tahoma" pitchFamily="34" charset="0"/>
                  <a:ea typeface="Tahoma" pitchFamily="34" charset="0"/>
                  <a:cs typeface="Tahoma" pitchFamily="34" charset="0"/>
                </a:endParaRPr>
              </a:p>
              <a:p>
                <a:pPr marL="0" indent="0">
                  <a:lnSpc>
                    <a:spcPct val="100000"/>
                  </a:lnSpc>
                  <a:buNone/>
                </a:pPr>
                <a:r>
                  <a:rPr lang="en-US" b="1" dirty="0">
                    <a:latin typeface="Tahoma" pitchFamily="34" charset="0"/>
                    <a:ea typeface="Tahoma" pitchFamily="34" charset="0"/>
                    <a:cs typeface="Tahoma" pitchFamily="34" charset="0"/>
                  </a:rPr>
                  <a:t>  </a:t>
                </a:r>
                <a:r>
                  <a:rPr lang="vi-VN" b="1" dirty="0">
                    <a:latin typeface="Tahoma" pitchFamily="34" charset="0"/>
                    <a:ea typeface="Tahoma" pitchFamily="34" charset="0"/>
                    <a:cs typeface="Tahoma" pitchFamily="34" charset="0"/>
                  </a:rPr>
                  <a:t>Do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oMath>
                </a14:m>
                <a:r>
                  <a:rPr lang="vi-VN" b="1" dirty="0">
                    <a:latin typeface="Tahoma" pitchFamily="34" charset="0"/>
                    <a:ea typeface="Tahoma" pitchFamily="34" charset="0"/>
                    <a:cs typeface="Tahoma" pitchFamily="34" charset="0"/>
                  </a:rPr>
                  <a:t> nên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𝑫𝑩</m:t>
                        </m:r>
                      </m:e>
                    </m:acc>
                  </m:oMath>
                </a14:m>
                <a:r>
                  <a:rPr lang="vi-VN" b="1" dirty="0">
                    <a:latin typeface="Tahoma" pitchFamily="34" charset="0"/>
                    <a:ea typeface="Tahoma" pitchFamily="34" charset="0"/>
                    <a:cs typeface="Tahoma" pitchFamily="34" charset="0"/>
                  </a:rPr>
                  <a:t>. </a:t>
                </a:r>
                <a:endParaRPr lang="en-US" b="1" dirty="0">
                  <a:latin typeface="Tahoma" pitchFamily="34" charset="0"/>
                  <a:ea typeface="Tahoma" pitchFamily="34" charset="0"/>
                  <a:cs typeface="Tahoma" pitchFamily="34" charset="0"/>
                </a:endParaRPr>
              </a:p>
              <a:p>
                <a:pPr marL="0" indent="0">
                  <a:lnSpc>
                    <a:spcPct val="100000"/>
                  </a:lnSpc>
                  <a:buNone/>
                </a:pPr>
                <a:r>
                  <a:rPr lang="en-US" b="1" dirty="0">
                    <a:latin typeface="Tahoma" pitchFamily="34" charset="0"/>
                    <a:ea typeface="Tahoma" pitchFamily="34" charset="0"/>
                    <a:cs typeface="Tahoma" pitchFamily="34" charset="0"/>
                  </a:rPr>
                  <a:t>  </a:t>
                </a:r>
                <a:r>
                  <a:rPr lang="vi-VN" b="1" dirty="0">
                    <a:latin typeface="Tahoma" pitchFamily="34" charset="0"/>
                    <a:ea typeface="Tahoma" pitchFamily="34" charset="0"/>
                    <a:cs typeface="Tahoma" pitchFamily="34" charset="0"/>
                  </a:rPr>
                  <a:t>Vậy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e>
                    </m:d>
                    <m:r>
                      <a:rPr lang="vi-VN"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𝑫𝑩</m:t>
                            </m:r>
                          </m:e>
                        </m:acc>
                      </m:e>
                    </m:d>
                    <m:r>
                      <a:rPr lang="vi-VN" b="1" i="1">
                        <a:latin typeface="Cambria Math" panose="02040503050406030204" pitchFamily="18" charset="0"/>
                      </a:rPr>
                      <m:t>=</m:t>
                    </m:r>
                    <m:r>
                      <a:rPr lang="vi-VN" b="1" i="1">
                        <a:latin typeface="Cambria Math" panose="02040503050406030204" pitchFamily="18" charset="0"/>
                      </a:rPr>
                      <m:t>𝑫𝑩</m:t>
                    </m:r>
                    <m:r>
                      <a:rPr lang="vi-VN" b="1" i="1">
                        <a:latin typeface="Cambria Math" panose="02040503050406030204" pitchFamily="18" charset="0"/>
                      </a:rPr>
                      <m:t>=</m:t>
                    </m:r>
                    <m:rad>
                      <m:radPr>
                        <m:degHide m:val="on"/>
                        <m:ctrlPr>
                          <a:rPr lang="en-US" b="1" i="1">
                            <a:latin typeface="Cambria Math" panose="02040503050406030204" pitchFamily="18" charset="0"/>
                          </a:rPr>
                        </m:ctrlPr>
                      </m:radPr>
                      <m:deg/>
                      <m:e>
                        <m:r>
                          <a:rPr lang="vi-VN" b="1" i="1">
                            <a:latin typeface="Cambria Math" panose="02040503050406030204" pitchFamily="18" charset="0"/>
                          </a:rPr>
                          <m:t>𝟐</m:t>
                        </m:r>
                      </m:e>
                    </m:rad>
                    <m:r>
                      <a:rPr lang="en-US" b="1" i="0" smtClean="0">
                        <a:latin typeface="Cambria Math"/>
                      </a:rPr>
                      <m:t> </m:t>
                    </m:r>
                  </m:oMath>
                </a14:m>
                <a:endParaRPr lang="en-US" b="1" dirty="0">
                  <a:latin typeface="Tahoma" pitchFamily="34" charset="0"/>
                  <a:ea typeface="Tahoma" pitchFamily="34" charset="0"/>
                  <a:cs typeface="Tahoma" pitchFamily="34" charset="0"/>
                </a:endParaRPr>
              </a:p>
              <a:p>
                <a:pPr marL="0" indent="0">
                  <a:lnSpc>
                    <a:spcPct val="100000"/>
                  </a:lnSpc>
                  <a:buNone/>
                </a:pPr>
                <a:r>
                  <a:rPr lang="en-US" b="1" dirty="0">
                    <a:latin typeface="Tahoma" pitchFamily="34" charset="0"/>
                    <a:ea typeface="Tahoma" pitchFamily="34" charset="0"/>
                    <a:cs typeface="Tahoma" pitchFamily="34" charset="0"/>
                  </a:rPr>
                  <a:t>  T</a:t>
                </a:r>
                <a:r>
                  <a:rPr lang="vi-VN" b="1" dirty="0">
                    <a:latin typeface="Tahoma" pitchFamily="34" charset="0"/>
                    <a:ea typeface="Tahoma" pitchFamily="34" charset="0"/>
                    <a:cs typeface="Tahoma" pitchFamily="34" charset="0"/>
                  </a:rPr>
                  <a:t>a có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𝑩𝑫</m:t>
                        </m:r>
                      </m:e>
                    </m:acc>
                    <m:r>
                      <a:rPr lang="vi-VN"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𝑩𝑫</m:t>
                            </m:r>
                          </m:e>
                        </m:acc>
                      </m:e>
                    </m:d>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oMath>
                </a14:m>
                <a:endParaRPr lang="en-US" b="1" dirty="0">
                  <a:latin typeface="Tahoma" pitchFamily="34" charset="0"/>
                  <a:ea typeface="Tahoma" pitchFamily="34" charset="0"/>
                  <a:cs typeface="Tahoma" pitchFamily="34" charset="0"/>
                </a:endParaRPr>
              </a:p>
              <a:p>
                <a:pPr marL="0" indent="0">
                  <a:lnSpc>
                    <a:spcPct val="100000"/>
                  </a:lnSpc>
                  <a:buNone/>
                </a:pPr>
                <a:r>
                  <a:rPr lang="en-US" b="1" dirty="0">
                    <a:latin typeface="Tahoma" pitchFamily="34" charset="0"/>
                    <a:ea typeface="Tahoma" pitchFamily="34" charset="0"/>
                    <a:cs typeface="Tahoma" pitchFamily="34" charset="0"/>
                  </a:rPr>
                  <a:t>  Do </a:t>
                </a:r>
                <a:r>
                  <a:rPr lang="en-US" b="1" dirty="0" err="1">
                    <a:latin typeface="Tahoma" pitchFamily="34" charset="0"/>
                    <a:ea typeface="Tahoma" pitchFamily="34" charset="0"/>
                    <a:cs typeface="Tahoma" pitchFamily="34" charset="0"/>
                  </a:rPr>
                  <a:t>đó</a:t>
                </a:r>
                <a:r>
                  <a:rPr lang="en-US" b="1" dirty="0">
                    <a:latin typeface="Tahoma" pitchFamily="34" charset="0"/>
                    <a:ea typeface="Tahoma" pitchFamily="34" charset="0"/>
                    <a:cs typeface="Tahoma" pitchFamily="34" charset="0"/>
                  </a:rPr>
                  <a:t>: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𝑫𝑪</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𝑩𝑫</m:t>
                            </m:r>
                          </m:e>
                        </m:acc>
                      </m:e>
                    </m:d>
                    <m:r>
                      <a:rPr lang="vi-VN"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e>
                    </m:d>
                    <m:r>
                      <a:rPr lang="vi-VN" b="1" i="1">
                        <a:latin typeface="Cambria Math" panose="02040503050406030204" pitchFamily="18" charset="0"/>
                      </a:rPr>
                      <m:t>=</m:t>
                    </m:r>
                    <m:r>
                      <a:rPr lang="vi-VN" b="1" i="1">
                        <a:latin typeface="Cambria Math" panose="02040503050406030204" pitchFamily="18" charset="0"/>
                      </a:rPr>
                      <m:t>𝑨𝑪</m:t>
                    </m:r>
                    <m:r>
                      <a:rPr lang="vi-VN" b="1" i="1">
                        <a:latin typeface="Cambria Math" panose="02040503050406030204" pitchFamily="18" charset="0"/>
                      </a:rPr>
                      <m:t>=</m:t>
                    </m:r>
                    <m:rad>
                      <m:radPr>
                        <m:degHide m:val="on"/>
                        <m:ctrlPr>
                          <a:rPr lang="en-US" b="1" i="1">
                            <a:latin typeface="Cambria Math" panose="02040503050406030204" pitchFamily="18" charset="0"/>
                          </a:rPr>
                        </m:ctrlPr>
                      </m:radPr>
                      <m:deg/>
                      <m:e>
                        <m:r>
                          <a:rPr lang="vi-VN" b="1" i="1">
                            <a:latin typeface="Cambria Math" panose="02040503050406030204" pitchFamily="18" charset="0"/>
                          </a:rPr>
                          <m:t>𝟐</m:t>
                        </m:r>
                      </m:e>
                    </m:rad>
                  </m:oMath>
                </a14:m>
                <a:endParaRPr lang="en-US" b="1" dirty="0">
                  <a:latin typeface="Tahoma" pitchFamily="34" charset="0"/>
                  <a:ea typeface="Tahoma" pitchFamily="34" charset="0"/>
                  <a:cs typeface="Tahoma" pitchFamily="34" charset="0"/>
                </a:endParaRPr>
              </a:p>
            </p:txBody>
          </p:sp>
        </mc:Choice>
        <mc:Fallback xmlns="">
          <p:sp>
            <p:nvSpPr>
              <p:cNvPr id="9"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7010400" y="5114964"/>
                <a:ext cx="16992600" cy="5852581"/>
              </a:xfrm>
              <a:prstGeom prst="rect">
                <a:avLst/>
              </a:prstGeom>
              <a:blipFill>
                <a:blip r:embed="rId5"/>
                <a:stretch>
                  <a:fillRect t="-2396"/>
                </a:stretch>
              </a:blipFill>
              <a:ln>
                <a:noFill/>
              </a:ln>
            </p:spPr>
            <p:txBody>
              <a:bodyPr/>
              <a:lstStyle/>
              <a:p>
                <a:r>
                  <a:rPr lang="en-US">
                    <a:noFill/>
                  </a:rPr>
                  <a:t> </a:t>
                </a:r>
              </a:p>
            </p:txBody>
          </p:sp>
        </mc:Fallback>
      </mc:AlternateContent>
      <p:pic>
        <p:nvPicPr>
          <p:cNvPr id="8" name="Picture 7"/>
          <p:cNvPicPr/>
          <p:nvPr/>
        </p:nvPicPr>
        <p:blipFill>
          <a:blip r:embed="rId6"/>
          <a:stretch>
            <a:fillRect/>
          </a:stretch>
        </p:blipFill>
        <p:spPr>
          <a:xfrm>
            <a:off x="1600200" y="5120219"/>
            <a:ext cx="4953000" cy="4817351"/>
          </a:xfrm>
          <a:prstGeom prst="rect">
            <a:avLst/>
          </a:prstGeom>
        </p:spPr>
      </p:pic>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0208172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bg/>
                                          </p:spTgt>
                                        </p:tgtEl>
                                        <p:attrNameLst>
                                          <p:attrName>style.visibility</p:attrName>
                                        </p:attrNameLst>
                                      </p:cBhvr>
                                      <p:to>
                                        <p:strVal val="visible"/>
                                      </p:to>
                                    </p:set>
                                    <p:animEffect transition="in" filter="wipe(left)">
                                      <p:cBhvr>
                                        <p:cTn id="24" dur="500"/>
                                        <p:tgtEl>
                                          <p:spTgt spid="9">
                                            <p:bg/>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wd">
                                    <p:tmPct val="10000"/>
                                  </p:iterate>
                                  <p:childTnLst>
                                    <p:set>
                                      <p:cBhvr>
                                        <p:cTn id="28" dur="1" fill="hold">
                                          <p:stCondLst>
                                            <p:cond delay="0"/>
                                          </p:stCondLst>
                                        </p:cTn>
                                        <p:tgtEl>
                                          <p:spTgt spid="9">
                                            <p:txEl>
                                              <p:pRg st="0" end="0"/>
                                            </p:txEl>
                                          </p:spTgt>
                                        </p:tgtEl>
                                        <p:attrNameLst>
                                          <p:attrName>style.visibility</p:attrName>
                                        </p:attrNameLst>
                                      </p:cBhvr>
                                      <p:to>
                                        <p:strVal val="visible"/>
                                      </p:to>
                                    </p:set>
                                    <p:animEffect transition="in" filter="wipe(left)">
                                      <p:cBhvr>
                                        <p:cTn id="29" dur="500"/>
                                        <p:tgtEl>
                                          <p:spTgt spid="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wd">
                                    <p:tmPct val="10000"/>
                                  </p:iterate>
                                  <p:childTnLst>
                                    <p:set>
                                      <p:cBhvr>
                                        <p:cTn id="33" dur="1" fill="hold">
                                          <p:stCondLst>
                                            <p:cond delay="0"/>
                                          </p:stCondLst>
                                        </p:cTn>
                                        <p:tgtEl>
                                          <p:spTgt spid="9">
                                            <p:txEl>
                                              <p:pRg st="1" end="1"/>
                                            </p:txEl>
                                          </p:spTgt>
                                        </p:tgtEl>
                                        <p:attrNameLst>
                                          <p:attrName>style.visibility</p:attrName>
                                        </p:attrNameLst>
                                      </p:cBhvr>
                                      <p:to>
                                        <p:strVal val="visible"/>
                                      </p:to>
                                    </p:set>
                                    <p:animEffect transition="in" filter="wipe(left)">
                                      <p:cBhvr>
                                        <p:cTn id="34" dur="500"/>
                                        <p:tgtEl>
                                          <p:spTgt spid="9">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wd">
                                    <p:tmPct val="10000"/>
                                  </p:iterate>
                                  <p:childTnLst>
                                    <p:set>
                                      <p:cBhvr>
                                        <p:cTn id="38" dur="1" fill="hold">
                                          <p:stCondLst>
                                            <p:cond delay="0"/>
                                          </p:stCondLst>
                                        </p:cTn>
                                        <p:tgtEl>
                                          <p:spTgt spid="9">
                                            <p:txEl>
                                              <p:pRg st="2" end="2"/>
                                            </p:txEl>
                                          </p:spTgt>
                                        </p:tgtEl>
                                        <p:attrNameLst>
                                          <p:attrName>style.visibility</p:attrName>
                                        </p:attrNameLst>
                                      </p:cBhvr>
                                      <p:to>
                                        <p:strVal val="visible"/>
                                      </p:to>
                                    </p:set>
                                    <p:animEffect transition="in" filter="wipe(left)">
                                      <p:cBhvr>
                                        <p:cTn id="39" dur="500"/>
                                        <p:tgtEl>
                                          <p:spTgt spid="9">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iterate type="wd">
                                    <p:tmPct val="10000"/>
                                  </p:iterate>
                                  <p:childTnLst>
                                    <p:set>
                                      <p:cBhvr>
                                        <p:cTn id="43" dur="1" fill="hold">
                                          <p:stCondLst>
                                            <p:cond delay="0"/>
                                          </p:stCondLst>
                                        </p:cTn>
                                        <p:tgtEl>
                                          <p:spTgt spid="9">
                                            <p:txEl>
                                              <p:pRg st="3" end="3"/>
                                            </p:txEl>
                                          </p:spTgt>
                                        </p:tgtEl>
                                        <p:attrNameLst>
                                          <p:attrName>style.visibility</p:attrName>
                                        </p:attrNameLst>
                                      </p:cBhvr>
                                      <p:to>
                                        <p:strVal val="visible"/>
                                      </p:to>
                                    </p:set>
                                    <p:animEffect transition="in" filter="wipe(left)">
                                      <p:cBhvr>
                                        <p:cTn id="44" dur="500"/>
                                        <p:tgtEl>
                                          <p:spTgt spid="9">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iterate type="wd">
                                    <p:tmPct val="10000"/>
                                  </p:iterate>
                                  <p:childTnLst>
                                    <p:set>
                                      <p:cBhvr>
                                        <p:cTn id="48" dur="1" fill="hold">
                                          <p:stCondLst>
                                            <p:cond delay="0"/>
                                          </p:stCondLst>
                                        </p:cTn>
                                        <p:tgtEl>
                                          <p:spTgt spid="9">
                                            <p:txEl>
                                              <p:pRg st="4" end="4"/>
                                            </p:txEl>
                                          </p:spTgt>
                                        </p:tgtEl>
                                        <p:attrNameLst>
                                          <p:attrName>style.visibility</p:attrName>
                                        </p:attrNameLst>
                                      </p:cBhvr>
                                      <p:to>
                                        <p:strVal val="visible"/>
                                      </p:to>
                                    </p:set>
                                    <p:animEffect transition="in" filter="wipe(left)">
                                      <p:cBhvr>
                                        <p:cTn id="49"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 grpId="0" uiExpand="1"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1. TỔNG CỦA HAI VÉC TƠ</a:t>
            </a:r>
            <a:endParaRPr lang="en-US" dirty="0">
              <a:solidFill>
                <a:srgbClr val="FF0000"/>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942109" y="3276599"/>
                <a:ext cx="23137091" cy="93726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2400"/>
                  </a:spcBef>
                  <a:spcAft>
                    <a:spcPts val="2400"/>
                  </a:spcAft>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Luyện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tập</a:t>
                </a:r>
                <a:r>
                  <a:rPr lang="en-US" b="1" dirty="0">
                    <a:latin typeface="Tahoma" panose="020B0604030504040204" pitchFamily="34" charset="0"/>
                    <a:ea typeface="Tahoma" panose="020B0604030504040204" pitchFamily="34" charset="0"/>
                    <a:cs typeface="Tahoma" panose="020B0604030504040204" pitchFamily="34" charset="0"/>
                  </a:rPr>
                  <a:t> 1. </a:t>
                </a:r>
                <a:r>
                  <a:rPr lang="vi-VN" b="1" dirty="0">
                    <a:latin typeface="Tahoma" panose="020B0604030504040204" pitchFamily="34" charset="0"/>
                    <a:ea typeface="Tahoma" panose="020B0604030504040204" pitchFamily="34" charset="0"/>
                    <a:cs typeface="Tahoma" panose="020B0604030504040204" pitchFamily="34" charset="0"/>
                  </a:rPr>
                  <a:t>Cho hình thoi </a:t>
                </a:r>
                <a14:m>
                  <m:oMath xmlns:m="http://schemas.openxmlformats.org/officeDocument/2006/math">
                    <m:r>
                      <a:rPr lang="vi-VN" b="1" i="1">
                        <a:latin typeface="Cambria Math" panose="02040503050406030204" pitchFamily="18" charset="0"/>
                      </a:rPr>
                      <m:t>𝑨𝑩𝑪𝑫</m:t>
                    </m:r>
                  </m:oMath>
                </a14:m>
                <a:r>
                  <a:rPr lang="vi-VN" b="1" dirty="0">
                    <a:latin typeface="Tahoma" panose="020B0604030504040204" pitchFamily="34" charset="0"/>
                    <a:ea typeface="Tahoma" panose="020B0604030504040204" pitchFamily="34" charset="0"/>
                    <a:cs typeface="Tahoma" panose="020B0604030504040204" pitchFamily="34" charset="0"/>
                  </a:rPr>
                  <a:t> với cạnh có độ dài bằng </a:t>
                </a:r>
                <a14:m>
                  <m:oMath xmlns:m="http://schemas.openxmlformats.org/officeDocument/2006/math">
                    <m:r>
                      <a:rPr lang="vi-VN" b="1" i="1">
                        <a:latin typeface="Cambria Math" panose="02040503050406030204" pitchFamily="18" charset="0"/>
                      </a:rPr>
                      <m:t>𝟏</m:t>
                    </m:r>
                  </m:oMath>
                </a14:m>
                <a:r>
                  <a:rPr lang="vi-VN" b="1" dirty="0">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𝑩𝑨𝑫</m:t>
                        </m:r>
                      </m:e>
                    </m:acc>
                    <m:r>
                      <a:rPr lang="vi-VN" b="1" i="1">
                        <a:latin typeface="Cambria Math" panose="02040503050406030204" pitchFamily="18" charset="0"/>
                      </a:rPr>
                      <m:t>=</m:t>
                    </m:r>
                    <m:r>
                      <a:rPr lang="vi-VN" b="1" i="1">
                        <a:latin typeface="Cambria Math" panose="02040503050406030204" pitchFamily="18" charset="0"/>
                      </a:rPr>
                      <m:t>𝟏𝟐𝟎</m:t>
                    </m:r>
                    <m:r>
                      <a:rPr lang="vi-VN" b="1" i="1">
                        <a:latin typeface="Cambria Math" panose="02040503050406030204" pitchFamily="18" charset="0"/>
                      </a:rPr>
                      <m:t>°</m:t>
                    </m:r>
                  </m:oMath>
                </a14:m>
                <a:r>
                  <a:rPr lang="vi-VN" b="1" dirty="0">
                    <a:latin typeface="Tahoma" panose="020B0604030504040204" pitchFamily="34" charset="0"/>
                    <a:ea typeface="Tahoma" panose="020B0604030504040204" pitchFamily="34" charset="0"/>
                    <a:cs typeface="Tahoma" panose="020B0604030504040204" pitchFamily="34" charset="0"/>
                  </a:rPr>
                  <a:t>. Tính độ dài của các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oMath>
                </a14:m>
                <a:r>
                  <a:rPr lang="vi-VN"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𝑫𝑩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𝑩𝑨</m:t>
                        </m:r>
                      </m:e>
                    </m:acc>
                  </m:oMath>
                </a14:m>
                <a:r>
                  <a:rPr lang="vi-VN" b="1" dirty="0">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a:p>
                <a:pPr>
                  <a:spcBef>
                    <a:spcPts val="3600"/>
                  </a:spcBef>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942109" y="3276599"/>
                <a:ext cx="23137091" cy="9372601"/>
              </a:xfrm>
              <a:prstGeom prst="rect">
                <a:avLst/>
              </a:prstGeom>
              <a:blipFill>
                <a:blip r:embed="rId3"/>
                <a:stretch>
                  <a:fillRect l="-1080" t="-1429"/>
                </a:stretch>
              </a:blipFill>
              <a:ln>
                <a:solidFill>
                  <a:srgbClr val="00B0F0"/>
                </a:solidFill>
              </a:ln>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377760"/>
            <a:ext cx="184833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8B49A2E-2A9D-46FD-AE9C-29462A33F0E6}"/>
                  </a:ext>
                </a:extLst>
              </p:cNvPr>
              <p:cNvSpPr txBox="1">
                <a:spLocks/>
              </p:cNvSpPr>
              <p:nvPr/>
            </p:nvSpPr>
            <p:spPr>
              <a:xfrm>
                <a:off x="7924800" y="5484613"/>
                <a:ext cx="16037352" cy="6935987"/>
              </a:xfrm>
              <a:prstGeom prst="rect">
                <a:avLst/>
              </a:prstGeom>
              <a:solidFill>
                <a:srgbClr val="D6F7FE"/>
              </a:solidFill>
              <a:ln>
                <a:no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Lời giải</a:t>
                </a:r>
                <a:endParaRPr lang="en-US"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Áp dụng quy tắc hình bình hành ta có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𝑪𝑨</m:t>
                        </m:r>
                      </m:e>
                    </m:acc>
                  </m:oMath>
                </a14:m>
                <a:r>
                  <a:rPr lang="vi-VN" b="1" dirty="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Do hình thoi </a:t>
                </a:r>
                <a14:m>
                  <m:oMath xmlns:m="http://schemas.openxmlformats.org/officeDocument/2006/math">
                    <m:r>
                      <a:rPr lang="vi-VN" b="1" i="1">
                        <a:latin typeface="Cambria Math" panose="02040503050406030204" pitchFamily="18" charset="0"/>
                      </a:rPr>
                      <m:t>𝑨𝑩𝑪𝑫</m:t>
                    </m:r>
                  </m:oMath>
                </a14:m>
                <a:r>
                  <a:rPr lang="vi-VN" b="1" dirty="0">
                    <a:latin typeface="Tahoma" panose="020B0604030504040204" pitchFamily="34" charset="0"/>
                    <a:ea typeface="Tahoma" panose="020B0604030504040204" pitchFamily="34" charset="0"/>
                    <a:cs typeface="Tahoma" panose="020B0604030504040204" pitchFamily="34" charset="0"/>
                  </a:rPr>
                  <a:t> có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𝑩𝑨𝑫</m:t>
                        </m:r>
                      </m:e>
                    </m:acc>
                    <m:r>
                      <a:rPr lang="vi-VN" b="1" i="1">
                        <a:latin typeface="Cambria Math" panose="02040503050406030204" pitchFamily="18" charset="0"/>
                      </a:rPr>
                      <m:t>=</m:t>
                    </m:r>
                    <m:sSup>
                      <m:sSupPr>
                        <m:ctrlPr>
                          <a:rPr lang="en-US" b="1" i="1">
                            <a:latin typeface="Cambria Math" panose="02040503050406030204" pitchFamily="18" charset="0"/>
                          </a:rPr>
                        </m:ctrlPr>
                      </m:sSupPr>
                      <m:e>
                        <m:r>
                          <a:rPr lang="vi-VN" b="1" i="1">
                            <a:latin typeface="Cambria Math" panose="02040503050406030204" pitchFamily="18" charset="0"/>
                          </a:rPr>
                          <m:t>𝟏𝟐𝟎</m:t>
                        </m:r>
                      </m:e>
                      <m:sup>
                        <m:r>
                          <a:rPr lang="vi-VN" b="1" i="1">
                            <a:latin typeface="Cambria Math" panose="02040503050406030204" pitchFamily="18" charset="0"/>
                          </a:rPr>
                          <m:t>𝟎</m:t>
                        </m:r>
                      </m:sup>
                    </m:sSup>
                    <m:r>
                      <a:rPr lang="vi-VN" b="1" i="1">
                        <a:latin typeface="Cambria Math" panose="02040503050406030204" pitchFamily="18" charset="0"/>
                      </a:rPr>
                      <m:t> </m:t>
                    </m:r>
                  </m:oMath>
                </a14:m>
                <a:r>
                  <a:rPr lang="vi-VN" b="1" dirty="0">
                    <a:latin typeface="Tahoma" panose="020B0604030504040204" pitchFamily="34" charset="0"/>
                    <a:ea typeface="Tahoma" panose="020B0604030504040204" pitchFamily="34" charset="0"/>
                    <a:cs typeface="Tahoma" panose="020B0604030504040204" pitchFamily="34" charset="0"/>
                  </a:rPr>
                  <a:t>nên </a:t>
                </a:r>
                <a14:m>
                  <m:oMath xmlns:m="http://schemas.openxmlformats.org/officeDocument/2006/math">
                    <m:r>
                      <a:rPr lang="vi-VN" b="1" i="1" smtClean="0">
                        <a:latin typeface="Cambria Math"/>
                        <a:ea typeface="Cambria Math"/>
                      </a:rPr>
                      <m:t>∆</m:t>
                    </m:r>
                    <m:r>
                      <a:rPr lang="vi-VN" b="1" i="1">
                        <a:latin typeface="Cambria Math" panose="02040503050406030204" pitchFamily="18" charset="0"/>
                      </a:rPr>
                      <m:t>𝑨𝑩𝑪</m:t>
                    </m:r>
                  </m:oMath>
                </a14:m>
                <a:r>
                  <a:rPr lang="vi-VN" b="1" dirty="0">
                    <a:latin typeface="Tahoma" panose="020B0604030504040204" pitchFamily="34" charset="0"/>
                    <a:ea typeface="Tahoma" panose="020B0604030504040204" pitchFamily="34" charset="0"/>
                    <a:cs typeface="Tahoma" panose="020B0604030504040204" pitchFamily="34" charset="0"/>
                  </a:rPr>
                  <a:t> đều.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𝑪𝑩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e>
                    </m:d>
                    <m:r>
                      <a:rPr lang="vi-VN"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𝑪𝑨</m:t>
                            </m:r>
                          </m:e>
                        </m:acc>
                      </m:e>
                    </m:d>
                    <m:r>
                      <a:rPr lang="vi-VN" b="1" i="1">
                        <a:latin typeface="Cambria Math" panose="02040503050406030204" pitchFamily="18" charset="0"/>
                      </a:rPr>
                      <m:t>=</m:t>
                    </m:r>
                    <m:r>
                      <a:rPr lang="vi-VN" b="1" i="1">
                        <a:latin typeface="Cambria Math" panose="02040503050406030204" pitchFamily="18" charset="0"/>
                      </a:rPr>
                      <m:t>𝟏</m:t>
                    </m:r>
                  </m:oMath>
                </a14:m>
                <a:r>
                  <a:rPr lang="vi-VN" b="1" dirty="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Ta có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𝑫𝑩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𝑩𝑨</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r>
                      <a:rPr lang="vi-VN"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𝑫𝑩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𝑩𝑨</m:t>
                            </m:r>
                          </m:e>
                        </m:acc>
                      </m:e>
                    </m:d>
                  </m:oMath>
                </a14:m>
                <a:endParaRPr lang="en-US" b="1" i="1" dirty="0">
                  <a:latin typeface="Cambria Math" panose="02040503050406030204" pitchFamily="18" charset="0"/>
                </a:endParaRPr>
              </a:p>
              <a:p>
                <a:pPr marL="0" indent="0">
                  <a:buNone/>
                </a:pPr>
                <a14:m>
                  <m:oMath xmlns:m="http://schemas.openxmlformats.org/officeDocument/2006/math">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𝑫𝑨</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𝑪𝑨</m:t>
                        </m:r>
                      </m:e>
                    </m:acc>
                  </m:oMath>
                </a14:m>
                <a:r>
                  <a:rPr lang="vi-VN" b="1" dirty="0">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Do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𝑫𝑩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𝑪𝑫</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𝑩𝑨</m:t>
                            </m:r>
                          </m:e>
                        </m:acc>
                      </m:e>
                    </m:d>
                    <m:r>
                      <a:rPr lang="vi-VN" b="1" i="1">
                        <a:latin typeface="Cambria Math" panose="02040503050406030204" pitchFamily="18" charset="0"/>
                      </a:rPr>
                      <m:t>=</m:t>
                    </m:r>
                    <m:r>
                      <a:rPr lang="vi-VN" b="1" i="1">
                        <a:latin typeface="Cambria Math" panose="02040503050406030204" pitchFamily="18" charset="0"/>
                      </a:rPr>
                      <m:t>𝑪𝑨</m:t>
                    </m:r>
                    <m:r>
                      <a:rPr lang="vi-VN" b="1" i="1">
                        <a:latin typeface="Cambria Math" panose="02040503050406030204" pitchFamily="18" charset="0"/>
                      </a:rPr>
                      <m:t>=</m:t>
                    </m:r>
                    <m:r>
                      <a:rPr lang="vi-VN" b="1" i="1">
                        <a:latin typeface="Cambria Math" panose="02040503050406030204" pitchFamily="18" charset="0"/>
                      </a:rPr>
                      <m:t>𝟏</m:t>
                    </m:r>
                  </m:oMath>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7924800" y="5484613"/>
                <a:ext cx="16037352" cy="6935987"/>
              </a:xfrm>
              <a:prstGeom prst="rect">
                <a:avLst/>
              </a:prstGeom>
              <a:blipFill>
                <a:blip r:embed="rId5"/>
                <a:stretch>
                  <a:fillRect t="-7645" b="-8172"/>
                </a:stretch>
              </a:blipFill>
              <a:ln>
                <a:noFill/>
              </a:ln>
            </p:spPr>
            <p:txBody>
              <a:bodyPr/>
              <a:lstStyle/>
              <a:p>
                <a:r>
                  <a:rPr lang="en-US">
                    <a:noFill/>
                  </a:rPr>
                  <a:t> </a:t>
                </a:r>
              </a:p>
            </p:txBody>
          </p:sp>
        </mc:Fallback>
      </mc:AlternateContent>
      <p:pic>
        <p:nvPicPr>
          <p:cNvPr id="7" name="Picture 6"/>
          <p:cNvPicPr/>
          <p:nvPr/>
        </p:nvPicPr>
        <p:blipFill>
          <a:blip r:embed="rId6"/>
          <a:stretch>
            <a:fillRect/>
          </a:stretch>
        </p:blipFill>
        <p:spPr>
          <a:xfrm>
            <a:off x="1407645" y="5387391"/>
            <a:ext cx="6517155" cy="4137609"/>
          </a:xfrm>
          <a:prstGeom prst="rect">
            <a:avLst/>
          </a:prstGeom>
        </p:spPr>
      </p:pic>
      <p:pic>
        <p:nvPicPr>
          <p:cNvPr id="10" name="Picture 9"/>
          <p:cNvPicPr/>
          <p:nvPr/>
        </p:nvPicPr>
        <p:blipFill>
          <a:blip r:embed="rId7"/>
          <a:stretch>
            <a:fillRect/>
          </a:stretch>
        </p:blipFill>
        <p:spPr>
          <a:xfrm>
            <a:off x="1515376" y="5497751"/>
            <a:ext cx="6409424" cy="4675781"/>
          </a:xfrm>
          <a:prstGeom prst="rect">
            <a:avLst/>
          </a:prstGeom>
        </p:spPr>
      </p:pic>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9617368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99"/>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1" fill="hold" grpId="0" nodeType="afterEffect">
                                  <p:stCondLst>
                                    <p:cond delay="0"/>
                                  </p:stCondLst>
                                  <p:iterate type="wd">
                                    <p:tmPct val="10000"/>
                                  </p:iterate>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par>
                          <p:cTn id="18" fill="hold">
                            <p:stCondLst>
                              <p:cond delay="5150"/>
                            </p:stCondLst>
                            <p:childTnLst>
                              <p:par>
                                <p:cTn id="19" presetID="1"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par>
                          <p:cTn id="21" fill="hold">
                            <p:stCondLst>
                              <p:cond delay="5150"/>
                            </p:stCondLst>
                            <p:childTnLst>
                              <p:par>
                                <p:cTn id="22" presetID="22" presetClass="entr" presetSubtype="1" fill="hold" nodeType="afterEffect">
                                  <p:stCondLst>
                                    <p:cond delay="0"/>
                                  </p:stCondLst>
                                  <p:iterate type="wd">
                                    <p:tmPct val="10000"/>
                                  </p:iterate>
                                  <p:childTnLst>
                                    <p:set>
                                      <p:cBhvr>
                                        <p:cTn id="23" dur="1" fill="hold">
                                          <p:stCondLst>
                                            <p:cond delay="0"/>
                                          </p:stCondLst>
                                        </p:cTn>
                                        <p:tgtEl>
                                          <p:spTgt spid="9">
                                            <p:txEl>
                                              <p:pRg st="0" end="0"/>
                                            </p:txEl>
                                          </p:spTgt>
                                        </p:tgtEl>
                                        <p:attrNameLst>
                                          <p:attrName>style.visibility</p:attrName>
                                        </p:attrNameLst>
                                      </p:cBhvr>
                                      <p:to>
                                        <p:strVal val="visible"/>
                                      </p:to>
                                    </p:set>
                                    <p:animEffect transition="in" filter="wipe(up)">
                                      <p:cBhvr>
                                        <p:cTn id="24" dur="500"/>
                                        <p:tgtEl>
                                          <p:spTgt spid="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iterate type="wd">
                                    <p:tmPct val="10000"/>
                                  </p:iterate>
                                  <p:childTnLst>
                                    <p:set>
                                      <p:cBhvr>
                                        <p:cTn id="28" dur="1" fill="hold">
                                          <p:stCondLst>
                                            <p:cond delay="0"/>
                                          </p:stCondLst>
                                        </p:cTn>
                                        <p:tgtEl>
                                          <p:spTgt spid="9">
                                            <p:txEl>
                                              <p:pRg st="1" end="1"/>
                                            </p:txEl>
                                          </p:spTgt>
                                        </p:tgtEl>
                                        <p:attrNameLst>
                                          <p:attrName>style.visibility</p:attrName>
                                        </p:attrNameLst>
                                      </p:cBhvr>
                                      <p:to>
                                        <p:strVal val="visible"/>
                                      </p:to>
                                    </p:set>
                                    <p:animEffect transition="in" filter="wipe(up)">
                                      <p:cBhvr>
                                        <p:cTn id="29" dur="500"/>
                                        <p:tgtEl>
                                          <p:spTgt spid="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iterate type="wd">
                                    <p:tmPct val="10000"/>
                                  </p:iterate>
                                  <p:childTnLst>
                                    <p:set>
                                      <p:cBhvr>
                                        <p:cTn id="33" dur="1" fill="hold">
                                          <p:stCondLst>
                                            <p:cond delay="0"/>
                                          </p:stCondLst>
                                        </p:cTn>
                                        <p:tgtEl>
                                          <p:spTgt spid="9">
                                            <p:txEl>
                                              <p:pRg st="2" end="2"/>
                                            </p:txEl>
                                          </p:spTgt>
                                        </p:tgtEl>
                                        <p:attrNameLst>
                                          <p:attrName>style.visibility</p:attrName>
                                        </p:attrNameLst>
                                      </p:cBhvr>
                                      <p:to>
                                        <p:strVal val="visible"/>
                                      </p:to>
                                    </p:set>
                                    <p:animEffect transition="in" filter="wipe(up)">
                                      <p:cBhvr>
                                        <p:cTn id="34" dur="500"/>
                                        <p:tgtEl>
                                          <p:spTgt spid="9">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iterate type="wd">
                                    <p:tmPct val="10000"/>
                                  </p:iterate>
                                  <p:childTnLst>
                                    <p:set>
                                      <p:cBhvr>
                                        <p:cTn id="38" dur="1" fill="hold">
                                          <p:stCondLst>
                                            <p:cond delay="0"/>
                                          </p:stCondLst>
                                        </p:cTn>
                                        <p:tgtEl>
                                          <p:spTgt spid="9">
                                            <p:txEl>
                                              <p:pRg st="3" end="3"/>
                                            </p:txEl>
                                          </p:spTgt>
                                        </p:tgtEl>
                                        <p:attrNameLst>
                                          <p:attrName>style.visibility</p:attrName>
                                        </p:attrNameLst>
                                      </p:cBhvr>
                                      <p:to>
                                        <p:strVal val="visible"/>
                                      </p:to>
                                    </p:set>
                                    <p:animEffect transition="in" filter="wipe(up)">
                                      <p:cBhvr>
                                        <p:cTn id="39" dur="500"/>
                                        <p:tgtEl>
                                          <p:spTgt spid="9">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iterate type="wd">
                                    <p:tmPct val="10000"/>
                                  </p:iterate>
                                  <p:childTnLst>
                                    <p:set>
                                      <p:cBhvr>
                                        <p:cTn id="43" dur="1" fill="hold">
                                          <p:stCondLst>
                                            <p:cond delay="0"/>
                                          </p:stCondLst>
                                        </p:cTn>
                                        <p:tgtEl>
                                          <p:spTgt spid="9">
                                            <p:txEl>
                                              <p:pRg st="4" end="4"/>
                                            </p:txEl>
                                          </p:spTgt>
                                        </p:tgtEl>
                                        <p:attrNameLst>
                                          <p:attrName>style.visibility</p:attrName>
                                        </p:attrNameLst>
                                      </p:cBhvr>
                                      <p:to>
                                        <p:strVal val="visible"/>
                                      </p:to>
                                    </p:set>
                                    <p:animEffect transition="in" filter="wipe(up)">
                                      <p:cBhvr>
                                        <p:cTn id="44" dur="500"/>
                                        <p:tgtEl>
                                          <p:spTgt spid="9">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iterate type="wd">
                                    <p:tmPct val="10000"/>
                                  </p:iterate>
                                  <p:childTnLst>
                                    <p:set>
                                      <p:cBhvr>
                                        <p:cTn id="48" dur="1" fill="hold">
                                          <p:stCondLst>
                                            <p:cond delay="0"/>
                                          </p:stCondLst>
                                        </p:cTn>
                                        <p:tgtEl>
                                          <p:spTgt spid="9">
                                            <p:txEl>
                                              <p:pRg st="5" end="5"/>
                                            </p:txEl>
                                          </p:spTgt>
                                        </p:tgtEl>
                                        <p:attrNameLst>
                                          <p:attrName>style.visibility</p:attrName>
                                        </p:attrNameLst>
                                      </p:cBhvr>
                                      <p:to>
                                        <p:strVal val="visible"/>
                                      </p:to>
                                    </p:set>
                                    <p:animEffect transition="in" filter="wipe(up)">
                                      <p:cBhvr>
                                        <p:cTn id="49" dur="500"/>
                                        <p:tgtEl>
                                          <p:spTgt spid="9">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iterate type="wd">
                                    <p:tmPct val="10000"/>
                                  </p:iterate>
                                  <p:childTnLst>
                                    <p:set>
                                      <p:cBhvr>
                                        <p:cTn id="53" dur="1" fill="hold">
                                          <p:stCondLst>
                                            <p:cond delay="0"/>
                                          </p:stCondLst>
                                        </p:cTn>
                                        <p:tgtEl>
                                          <p:spTgt spid="9">
                                            <p:txEl>
                                              <p:pRg st="6" end="6"/>
                                            </p:txEl>
                                          </p:spTgt>
                                        </p:tgtEl>
                                        <p:attrNameLst>
                                          <p:attrName>style.visibility</p:attrName>
                                        </p:attrNameLst>
                                      </p:cBhvr>
                                      <p:to>
                                        <p:strVal val="visible"/>
                                      </p:to>
                                    </p:set>
                                    <p:animEffect transition="in" filter="wipe(up)">
                                      <p:cBhvr>
                                        <p:cTn id="54" dur="500"/>
                                        <p:tgtEl>
                                          <p:spTgt spid="9">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nodeType="clickEffect">
                                  <p:stCondLst>
                                    <p:cond delay="0"/>
                                  </p:stCondLst>
                                  <p:childTnLst>
                                    <p:animEffect transition="out" filter="fade">
                                      <p:cBhvr>
                                        <p:cTn id="58" dur="500"/>
                                        <p:tgtEl>
                                          <p:spTgt spid="7"/>
                                        </p:tgtEl>
                                      </p:cBhvr>
                                    </p:animEffect>
                                    <p:set>
                                      <p:cBhvr>
                                        <p:cTn id="59" dur="1" fill="hold">
                                          <p:stCondLst>
                                            <p:cond delay="499"/>
                                          </p:stCondLst>
                                        </p:cTn>
                                        <p:tgtEl>
                                          <p:spTgt spid="7"/>
                                        </p:tgtEl>
                                        <p:attrNameLst>
                                          <p:attrName>style.visibility</p:attrName>
                                        </p:attrNameLst>
                                      </p:cBhvr>
                                      <p:to>
                                        <p:strVal val="hidden"/>
                                      </p:to>
                                    </p:set>
                                  </p:childTnLst>
                                </p:cTn>
                              </p:par>
                              <p:par>
                                <p:cTn id="60" presetID="1" presetClass="entr" presetSubtype="0" fill="hold" nodeType="with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2. HIỆU CỦA HAI VÉC TƠ</a:t>
            </a:r>
            <a:endParaRPr lang="en-US" b="1" dirty="0">
              <a:solidFill>
                <a:srgbClr val="FF0000"/>
              </a:solidFill>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199" y="2971801"/>
            <a:ext cx="23137091" cy="105155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2400"/>
              </a:spcBef>
              <a:spcAft>
                <a:spcPts val="2400"/>
              </a:spcAft>
              <a:buNone/>
            </a:pPr>
            <a:r>
              <a:rPr lang="en-US" b="1" dirty="0">
                <a:latin typeface="Tahoma" pitchFamily="34" charset="0"/>
                <a:ea typeface="Tahoma" pitchFamily="34" charset="0"/>
                <a:cs typeface="Tahoma" pitchFamily="34" charset="0"/>
              </a:rPr>
              <a:t>            </a:t>
            </a:r>
          </a:p>
          <a:p>
            <a:pPr>
              <a:lnSpc>
                <a:spcPct val="100000"/>
              </a:lnSpc>
              <a:spcBef>
                <a:spcPts val="2400"/>
              </a:spcBef>
              <a:spcAft>
                <a:spcPts val="2400"/>
              </a:spcAft>
            </a:pPr>
            <a:endParaRPr lang="en-US" b="1" dirty="0">
              <a:latin typeface="Tahoma" pitchFamily="34" charset="0"/>
              <a:ea typeface="Tahoma" pitchFamily="34" charset="0"/>
              <a:cs typeface="Tahoma" pitchFamily="34" charset="0"/>
            </a:endParaRPr>
          </a:p>
          <a:p>
            <a:pPr>
              <a:lnSpc>
                <a:spcPct val="100000"/>
              </a:lnSpc>
              <a:spcBef>
                <a:spcPts val="2400"/>
              </a:spcBef>
              <a:spcAft>
                <a:spcPts val="2400"/>
              </a:spcAft>
            </a:pPr>
            <a:endParaRPr lang="en-US" b="1" dirty="0">
              <a:latin typeface="Tahoma" pitchFamily="34" charset="0"/>
              <a:ea typeface="Tahoma" pitchFamily="34" charset="0"/>
              <a:cs typeface="Tahoma" pitchFamily="34" charset="0"/>
            </a:endParaRPr>
          </a:p>
          <a:p>
            <a:pPr>
              <a:lnSpc>
                <a:spcPct val="100000"/>
              </a:lnSpc>
              <a:spcBef>
                <a:spcPts val="2400"/>
              </a:spcBef>
              <a:spcAft>
                <a:spcPts val="2400"/>
              </a:spcAft>
            </a:pPr>
            <a:r>
              <a:rPr lang="en-US" b="1" dirty="0">
                <a:latin typeface="Tahoma" pitchFamily="34" charset="0"/>
                <a:ea typeface="Tahoma" pitchFamily="34" charset="0"/>
                <a:cs typeface="Tahoma" pitchFamily="34" charset="0"/>
              </a:rPr>
              <a:t>            HĐ4: </a:t>
            </a:r>
            <a:r>
              <a:rPr lang="vi-VN" b="1" dirty="0">
                <a:latin typeface="Tahoma" pitchFamily="34" charset="0"/>
                <a:ea typeface="Tahoma" pitchFamily="34" charset="0"/>
                <a:cs typeface="Tahoma" pitchFamily="34" charset="0"/>
              </a:rPr>
              <a:t>Thế nào là hai lực cân bằng? Nếu dùng hai véc tơ để biểu diễn hai lực cân bằng thì hai véc tơ này có mối liên hệ gì với nhau?</a:t>
            </a:r>
            <a:endParaRPr lang="en-US" b="1" dirty="0">
              <a:latin typeface="Tahoma" pitchFamily="34" charset="0"/>
              <a:ea typeface="Tahoma" pitchFamily="34" charset="0"/>
              <a:cs typeface="Tahoma" pitchFamily="34" charset="0"/>
            </a:endParaRPr>
          </a:p>
          <a:p>
            <a:endParaRPr lang="en-US" dirty="0">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246" y="7005145"/>
            <a:ext cx="184833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p:nvPr/>
        </p:nvPicPr>
        <p:blipFill>
          <a:blip r:embed="rId4"/>
          <a:stretch>
            <a:fillRect/>
          </a:stretch>
        </p:blipFill>
        <p:spPr>
          <a:xfrm>
            <a:off x="6354458" y="3003332"/>
            <a:ext cx="12132284" cy="3886200"/>
          </a:xfrm>
          <a:prstGeom prst="rect">
            <a:avLst/>
          </a:prstGeom>
        </p:spPr>
      </p:pic>
      <p:sp>
        <p:nvSpPr>
          <p:cNvPr id="8" name="Content Placeholder 2">
            <a:extLst>
              <a:ext uri="{FF2B5EF4-FFF2-40B4-BE49-F238E27FC236}">
                <a16:creationId xmlns:a16="http://schemas.microsoft.com/office/drawing/2014/main" id="{08B49A2E-2A9D-46FD-AE9C-29462A33F0E6}"/>
              </a:ext>
            </a:extLst>
          </p:cNvPr>
          <p:cNvSpPr txBox="1">
            <a:spLocks/>
          </p:cNvSpPr>
          <p:nvPr/>
        </p:nvSpPr>
        <p:spPr>
          <a:xfrm>
            <a:off x="1143000" y="8915400"/>
            <a:ext cx="22819152" cy="4267200"/>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vi-VN" b="1" dirty="0">
                <a:solidFill>
                  <a:srgbClr val="FF0000"/>
                </a:solidFill>
              </a:rPr>
              <a:t>Lời giải</a:t>
            </a:r>
            <a:endParaRPr lang="en-US" dirty="0">
              <a:solidFill>
                <a:srgbClr val="FF0000"/>
              </a:solidFill>
            </a:endParaRPr>
          </a:p>
          <a:p>
            <a:r>
              <a:rPr lang="vi-VN" b="1" dirty="0"/>
              <a:t>Hai lực cân bằng là hai lực cùng đặt lên một vật, có cường độ bằng nhau, phương nằm trên cùng một đường thẳng, ngược chiều nhau.</a:t>
            </a:r>
            <a:endParaRPr lang="en-US" b="1" dirty="0"/>
          </a:p>
          <a:p>
            <a:r>
              <a:rPr lang="vi-VN" b="1" dirty="0"/>
              <a:t>Nếu dùng hai véc tơ để biểu diễn hai lực cân bằng thì hai véc tơ đó có cùng điểm đầu, ngược hướng và có cùng độ lớn.</a:t>
            </a:r>
            <a:endParaRPr lang="en-US" b="1" dirty="0"/>
          </a:p>
        </p:txBody>
      </p:sp>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8479910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0"/>
                            </p:stCondLst>
                            <p:childTnLst>
                              <p:par>
                                <p:cTn id="13" presetID="22" presetClass="entr" presetSubtype="8"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left)">
                                      <p:cBhvr>
                                        <p:cTn id="15" dur="500"/>
                                        <p:tgtEl>
                                          <p:spTgt spid="99">
                                            <p:txEl>
                                              <p:pRg st="0" end="0"/>
                                            </p:txEl>
                                          </p:spTgt>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99"/>
                                        </p:tgtEl>
                                        <p:attrNameLst>
                                          <p:attrName>style.visibility</p:attrName>
                                        </p:attrNameLst>
                                      </p:cBhvr>
                                      <p:to>
                                        <p:strVal val="visible"/>
                                      </p:to>
                                    </p:set>
                                    <p:animEffect transition="in" filter="wipe(left)">
                                      <p:cBhvr>
                                        <p:cTn id="22" dur="500"/>
                                        <p:tgtEl>
                                          <p:spTgt spid="99"/>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99">
                                            <p:txEl>
                                              <p:pRg st="3" end="3"/>
                                            </p:txEl>
                                          </p:spTgt>
                                        </p:tgtEl>
                                        <p:attrNameLst>
                                          <p:attrName>style.visibility</p:attrName>
                                        </p:attrNameLst>
                                      </p:cBhvr>
                                      <p:to>
                                        <p:strVal val="visible"/>
                                      </p:to>
                                    </p:set>
                                    <p:animEffect transition="in" filter="wipe(left)">
                                      <p:cBhvr>
                                        <p:cTn id="26" dur="500"/>
                                        <p:tgtEl>
                                          <p:spTgt spid="99">
                                            <p:txEl>
                                              <p:pRg st="3" end="3"/>
                                            </p:txEl>
                                          </p:spTgt>
                                        </p:tgtEl>
                                      </p:cBhvr>
                                    </p:animEffect>
                                  </p:childTnLst>
                                </p:cTn>
                              </p:par>
                            </p:childTnLst>
                          </p:cTn>
                        </p:par>
                        <p:par>
                          <p:cTn id="27" fill="hold">
                            <p:stCondLst>
                              <p:cond delay="1500"/>
                            </p:stCondLst>
                            <p:childTnLst>
                              <p:par>
                                <p:cTn id="28" presetID="22" presetClass="entr" presetSubtype="8" fill="hold" grpId="0" nodeType="afterEffect">
                                  <p:stCondLst>
                                    <p:cond delay="0"/>
                                  </p:stCondLst>
                                  <p:iterate type="wd">
                                    <p:tmPct val="10000"/>
                                  </p:iterate>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5100"/>
                            </p:stCondLst>
                            <p:childTnLst>
                              <p:par>
                                <p:cTn id="32" presetID="22" presetClass="entr" presetSubtype="8" fill="hold" nodeType="afterEffect">
                                  <p:stCondLst>
                                    <p:cond delay="0"/>
                                  </p:stCondLst>
                                  <p:iterate type="wd">
                                    <p:tmPct val="10000"/>
                                  </p:iterate>
                                  <p:childTnLst>
                                    <p:set>
                                      <p:cBhvr>
                                        <p:cTn id="33" dur="1" fill="hold">
                                          <p:stCondLst>
                                            <p:cond delay="0"/>
                                          </p:stCondLst>
                                        </p:cTn>
                                        <p:tgtEl>
                                          <p:spTgt spid="8">
                                            <p:txEl>
                                              <p:pRg st="0" end="0"/>
                                            </p:txEl>
                                          </p:spTgt>
                                        </p:tgtEl>
                                        <p:attrNameLst>
                                          <p:attrName>style.visibility</p:attrName>
                                        </p:attrNameLst>
                                      </p:cBhvr>
                                      <p:to>
                                        <p:strVal val="visible"/>
                                      </p:to>
                                    </p:set>
                                    <p:animEffect transition="in" filter="wipe(left)">
                                      <p:cBhvr>
                                        <p:cTn id="34" dur="500"/>
                                        <p:tgtEl>
                                          <p:spTgt spid="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iterate type="wd">
                                    <p:tmPct val="10000"/>
                                  </p:iterate>
                                  <p:childTnLst>
                                    <p:set>
                                      <p:cBhvr>
                                        <p:cTn id="38" dur="1" fill="hold">
                                          <p:stCondLst>
                                            <p:cond delay="0"/>
                                          </p:stCondLst>
                                        </p:cTn>
                                        <p:tgtEl>
                                          <p:spTgt spid="8">
                                            <p:txEl>
                                              <p:pRg st="1" end="1"/>
                                            </p:txEl>
                                          </p:spTgt>
                                        </p:tgtEl>
                                        <p:attrNameLst>
                                          <p:attrName>style.visibility</p:attrName>
                                        </p:attrNameLst>
                                      </p:cBhvr>
                                      <p:to>
                                        <p:strVal val="visible"/>
                                      </p:to>
                                    </p:set>
                                    <p:animEffect transition="in" filter="wipe(left)">
                                      <p:cBhvr>
                                        <p:cTn id="39" dur="500"/>
                                        <p:tgtEl>
                                          <p:spTgt spid="8">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iterate type="wd">
                                    <p:tmPct val="10000"/>
                                  </p:iterate>
                                  <p:childTnLst>
                                    <p:set>
                                      <p:cBhvr>
                                        <p:cTn id="43" dur="1" fill="hold">
                                          <p:stCondLst>
                                            <p:cond delay="0"/>
                                          </p:stCondLst>
                                        </p:cTn>
                                        <p:tgtEl>
                                          <p:spTgt spid="8">
                                            <p:txEl>
                                              <p:pRg st="2" end="2"/>
                                            </p:txEl>
                                          </p:spTgt>
                                        </p:tgtEl>
                                        <p:attrNameLst>
                                          <p:attrName>style.visibility</p:attrName>
                                        </p:attrNameLst>
                                      </p:cBhvr>
                                      <p:to>
                                        <p:strVal val="visible"/>
                                      </p:to>
                                    </p:set>
                                    <p:animEffect transition="in" filter="wipe(left)">
                                      <p:cBhvr>
                                        <p:cTn id="44"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2. HIỆU CỦA HAI VÉC TƠ</a:t>
            </a:r>
            <a:endParaRPr lang="en-US" b="1" dirty="0">
              <a:solidFill>
                <a:srgbClr val="FF0000"/>
              </a:solidFill>
            </a:endParaRPr>
          </a:p>
        </p:txBody>
      </p:sp>
      <mc:AlternateContent xmlns:mc="http://schemas.openxmlformats.org/markup-compatibility/2006">
        <mc:Choice xmlns:a14="http://schemas.microsoft.com/office/drawing/2010/main"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89709" y="3200401"/>
                <a:ext cx="23137091" cy="7086599"/>
              </a:xfrm>
              <a:prstGeom prst="rect">
                <a:avLst/>
              </a:prstGeom>
              <a:solidFill>
                <a:srgbClr val="D6F7FE"/>
              </a:solidFill>
              <a:ln>
                <a:solidFill>
                  <a:srgbClr val="00B0F0"/>
                </a:solidFill>
              </a:ln>
            </p:spPr>
            <p:txBody>
              <a:bodyPr anchor="ct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lvl="0"/>
                <a:r>
                  <a:rPr lang="vi-VN" b="1" dirty="0">
                    <a:latin typeface="Tahoma" panose="020B0604030504040204" pitchFamily="34" charset="0"/>
                    <a:ea typeface="Tahoma" panose="020B0604030504040204" pitchFamily="34" charset="0"/>
                    <a:cs typeface="Tahoma" panose="020B0604030504040204" pitchFamily="34" charset="0"/>
                  </a:rPr>
                  <a:t>Véc tơ có cùng độ dài và ngược hướng với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r>
                  <a:rPr lang="vi-VN" b="1" dirty="0">
                    <a:latin typeface="Tahoma" panose="020B0604030504040204" pitchFamily="34" charset="0"/>
                    <a:ea typeface="Tahoma" panose="020B0604030504040204" pitchFamily="34" charset="0"/>
                    <a:cs typeface="Tahoma" panose="020B0604030504040204" pitchFamily="34" charset="0"/>
                  </a:rPr>
                  <a:t> được gọi là véc tơ đối của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r>
                  <a:rPr lang="vi-VN" b="1"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r>
                  <a:rPr lang="vi-VN" b="1" dirty="0">
                    <a:latin typeface="Tahoma" panose="020B0604030504040204" pitchFamily="34" charset="0"/>
                    <a:ea typeface="Tahoma" panose="020B0604030504040204" pitchFamily="34" charset="0"/>
                    <a:cs typeface="Tahoma" panose="020B0604030504040204" pitchFamily="34" charset="0"/>
                  </a:rPr>
                  <a:t>Véc tơ đối của 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r>
                  <a:rPr lang="vi-VN" b="1" dirty="0">
                    <a:latin typeface="Tahoma" panose="020B0604030504040204" pitchFamily="34" charset="0"/>
                    <a:ea typeface="Tahoma" panose="020B0604030504040204" pitchFamily="34" charset="0"/>
                    <a:cs typeface="Tahoma" panose="020B0604030504040204" pitchFamily="34" charset="0"/>
                  </a:rPr>
                  <a:t> được kí hiệu là </a:t>
                </a:r>
                <a14:m>
                  <m:oMath xmlns:m="http://schemas.openxmlformats.org/officeDocument/2006/math">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𝒂</m:t>
                        </m:r>
                      </m:e>
                    </m:acc>
                  </m:oMath>
                </a14:m>
                <a:r>
                  <a:rPr lang="vi-VN" b="1"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lvl="0"/>
                <a:r>
                  <a:rPr lang="vi-VN" b="1" dirty="0">
                    <a:latin typeface="Tahoma" panose="020B0604030504040204" pitchFamily="34" charset="0"/>
                    <a:ea typeface="Tahoma" panose="020B0604030504040204" pitchFamily="34" charset="0"/>
                    <a:cs typeface="Tahoma" panose="020B0604030504040204" pitchFamily="34" charset="0"/>
                  </a:rPr>
                  <a:t>Véc tơ </a:t>
                </a:r>
                <a14:m>
                  <m:oMath xmlns:m="http://schemas.openxmlformats.org/officeDocument/2006/math">
                    <m:acc>
                      <m:accPr>
                        <m:chr m:val="⃗"/>
                        <m:ctrlPr>
                          <a:rPr lang="en-US" b="1" i="1">
                            <a:latin typeface="Cambria Math" panose="02040503050406030204" pitchFamily="18" charset="0"/>
                          </a:rPr>
                        </m:ctrlPr>
                      </m:accPr>
                      <m:e>
                        <m:r>
                          <a:rPr lang="vi-VN" b="1" i="1">
                            <a:latin typeface="Cambria Math" panose="02040503050406030204" pitchFamily="18" charset="0"/>
                          </a:rPr>
                          <m:t>𝟎</m:t>
                        </m:r>
                      </m:e>
                    </m:acc>
                  </m:oMath>
                </a14:m>
                <a:r>
                  <a:rPr lang="vi-VN" b="1" dirty="0">
                    <a:latin typeface="Tahoma" panose="020B0604030504040204" pitchFamily="34" charset="0"/>
                    <a:ea typeface="Tahoma" panose="020B0604030504040204" pitchFamily="34" charset="0"/>
                    <a:cs typeface="Tahoma" panose="020B0604030504040204" pitchFamily="34" charset="0"/>
                  </a:rPr>
                  <a:t> được coi là véc tơ đối của chính nó.</a:t>
                </a:r>
                <a:endParaRPr lang="en-US" b="1" dirty="0">
                  <a:latin typeface="Tahoma" pitchFamily="34" charset="0"/>
                  <a:ea typeface="Tahoma" pitchFamily="34" charset="0"/>
                  <a:cs typeface="Tahoma" pitchFamily="34" charset="0"/>
                </a:endParaRPr>
              </a:p>
            </p:txBody>
          </p:sp>
        </mc:Choice>
        <mc:Fallback>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789709" y="3200401"/>
                <a:ext cx="23137091" cy="7086599"/>
              </a:xfrm>
              <a:prstGeom prst="rect">
                <a:avLst/>
              </a:prstGeom>
              <a:blipFill>
                <a:blip r:embed="rId4"/>
                <a:stretch>
                  <a:fillRect l="-1080" r="-26"/>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2"/>
              <p:cNvSpPr>
                <a:spLocks noChangeArrowheads="1"/>
              </p:cNvSpPr>
              <p:nvPr/>
            </p:nvSpPr>
            <p:spPr bwMode="auto">
              <a:xfrm>
                <a:off x="1371600" y="8791975"/>
                <a:ext cx="19888778" cy="9254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fontAlgn="base">
                  <a:spcBef>
                    <a:spcPct val="0"/>
                  </a:spcBef>
                  <a:spcAft>
                    <a:spcPct val="0"/>
                  </a:spcAft>
                </a:pPr>
                <a:r>
                  <a:rPr kumimoji="0" lang="vi-VN" sz="4800" b="1" i="0" u="none" strike="noStrike" cap="none" normalizeH="0" baseline="0" dirty="0">
                    <a:ln>
                      <a:noFill/>
                    </a:ln>
                    <a:solidFill>
                      <a:srgbClr val="FF0000"/>
                    </a:solidFill>
                    <a:effectLst/>
                    <a:latin typeface="Tahoma" pitchFamily="34" charset="0"/>
                    <a:ea typeface="Tahoma" pitchFamily="34" charset="0"/>
                    <a:cs typeface="Tahoma" pitchFamily="34" charset="0"/>
                  </a:rPr>
                  <a:t>Chú ý. </a:t>
                </a:r>
                <a:r>
                  <a:rPr kumimoji="0" lang="vi-VN" sz="4800" b="1" i="0" u="none" strike="noStrike" cap="none" normalizeH="0" baseline="0" dirty="0">
                    <a:ln>
                      <a:noFill/>
                    </a:ln>
                    <a:solidFill>
                      <a:srgbClr val="000000"/>
                    </a:solidFill>
                    <a:effectLst/>
                    <a:latin typeface="Tahoma" pitchFamily="34" charset="0"/>
                    <a:ea typeface="Tahoma" pitchFamily="34" charset="0"/>
                    <a:cs typeface="Tahoma" pitchFamily="34" charset="0"/>
                  </a:rPr>
                  <a:t>Hai véc tơ đối nhau khi và chỉ khi tổng của chúng bằng</a:t>
                </a:r>
                <a:r>
                  <a:rPr kumimoji="0" lang="en-US" sz="4800" b="1" i="0" u="none" strike="noStrike" cap="none" normalizeH="0" baseline="0" dirty="0">
                    <a:ln>
                      <a:noFill/>
                    </a:ln>
                    <a:solidFill>
                      <a:srgbClr val="000000"/>
                    </a:solidFill>
                    <a:effectLst/>
                    <a:latin typeface="Tahoma" pitchFamily="34" charset="0"/>
                    <a:ea typeface="Tahoma" pitchFamily="34" charset="0"/>
                    <a:cs typeface="Tahoma" pitchFamily="34" charset="0"/>
                  </a:rPr>
                  <a:t> </a:t>
                </a:r>
                <a14:m>
                  <m:oMath xmlns:m="http://schemas.openxmlformats.org/officeDocument/2006/math">
                    <m:acc>
                      <m:accPr>
                        <m:chr m:val="⃗"/>
                        <m:ctrlPr>
                          <a:rPr lang="en-US" sz="4800" b="1" i="1">
                            <a:latin typeface="Cambria Math" panose="02040503050406030204" pitchFamily="18" charset="0"/>
                          </a:rPr>
                        </m:ctrlPr>
                      </m:accPr>
                      <m:e>
                        <m:r>
                          <a:rPr lang="vi-VN" sz="4800" b="1" i="1">
                            <a:latin typeface="Cambria Math" panose="02040503050406030204" pitchFamily="18" charset="0"/>
                          </a:rPr>
                          <m:t>𝟎</m:t>
                        </m:r>
                      </m:e>
                    </m:acc>
                  </m:oMath>
                </a14:m>
                <a:r>
                  <a:rPr kumimoji="0" lang="vi-VN" sz="4800" b="1" i="0" u="none" strike="noStrike" cap="none" normalizeH="0" baseline="0" dirty="0">
                    <a:ln>
                      <a:noFill/>
                    </a:ln>
                    <a:solidFill>
                      <a:srgbClr val="000000"/>
                    </a:solidFill>
                    <a:effectLst/>
                    <a:latin typeface="Tahoma" pitchFamily="34" charset="0"/>
                    <a:ea typeface="Tahoma" pitchFamily="34" charset="0"/>
                    <a:cs typeface="Tahoma" pitchFamily="34" charset="0"/>
                  </a:rPr>
                  <a:t> </a:t>
                </a:r>
                <a:endParaRPr kumimoji="0" lang="vi-VN" sz="4800" b="1" i="0" u="none" strike="noStrike" cap="none" normalizeH="0" baseline="0" dirty="0">
                  <a:ln>
                    <a:noFill/>
                  </a:ln>
                  <a:solidFill>
                    <a:schemeClr val="tx1"/>
                  </a:solidFill>
                  <a:effectLst/>
                  <a:latin typeface="Tahoma" pitchFamily="34" charset="0"/>
                  <a:ea typeface="Tahoma" pitchFamily="34" charset="0"/>
                  <a:cs typeface="Tahoma" pitchFamily="34" charset="0"/>
                </a:endParaRPr>
              </a:p>
            </p:txBody>
          </p:sp>
        </mc:Choice>
        <mc:Fallback xmlns="">
          <p:sp>
            <p:nvSpPr>
              <p:cNvPr id="2" name="Rectangle 2"/>
              <p:cNvSpPr>
                <a:spLocks noRot="1" noChangeAspect="1" noMove="1" noResize="1" noEditPoints="1" noAdjustHandles="1" noChangeArrowheads="1" noChangeShapeType="1" noTextEdit="1"/>
              </p:cNvSpPr>
              <p:nvPr/>
            </p:nvSpPr>
            <p:spPr bwMode="auto">
              <a:xfrm>
                <a:off x="1371600" y="8791975"/>
                <a:ext cx="19888778" cy="925446"/>
              </a:xfrm>
              <a:prstGeom prst="rect">
                <a:avLst/>
              </a:prstGeom>
              <a:blipFill>
                <a:blip r:embed="rId5"/>
                <a:stretch>
                  <a:fillRect l="-1379" t="-5263" b="-3355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aphicFrame>
        <p:nvGraphicFramePr>
          <p:cNvPr id="3" name="Object 2"/>
          <p:cNvGraphicFramePr>
            <a:graphicFrameLocks noChangeAspect="1"/>
          </p:cNvGraphicFramePr>
          <p:nvPr/>
        </p:nvGraphicFramePr>
        <p:xfrm>
          <a:off x="0" y="457200"/>
          <a:ext cx="123825" cy="219075"/>
        </p:xfrm>
        <a:graphic>
          <a:graphicData uri="http://schemas.openxmlformats.org/presentationml/2006/ole">
            <mc:AlternateContent xmlns:mc="http://schemas.openxmlformats.org/markup-compatibility/2006">
              <mc:Choice xmlns:v="urn:schemas-microsoft-com:vml" Requires="v">
                <p:oleObj spid="_x0000_s5138" name="Equation" r:id="rId6" imgW="126780" imgH="215526" progId="Equation.DSMT4">
                  <p:embed/>
                </p:oleObj>
              </mc:Choice>
              <mc:Fallback>
                <p:oleObj name="Equation" r:id="rId6" imgW="126780" imgH="215526"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57200"/>
                        <a:ext cx="123825"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296818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par>
                          <p:cTn id="8" fill="hold">
                            <p:stCondLst>
                              <p:cond delay="1000"/>
                            </p:stCondLst>
                            <p:childTnLst>
                              <p:par>
                                <p:cTn id="9" presetID="22" presetClass="entr" presetSubtype="8" fill="hold" grpId="0" nodeType="afterEffect">
                                  <p:stCondLst>
                                    <p:cond delay="0"/>
                                  </p:stCondLst>
                                  <p:iterate type="wd">
                                    <p:tmPct val="10000"/>
                                  </p:iterate>
                                  <p:childTnLst>
                                    <p:set>
                                      <p:cBhvr>
                                        <p:cTn id="10" dur="1" fill="hold">
                                          <p:stCondLst>
                                            <p:cond delay="0"/>
                                          </p:stCondLst>
                                        </p:cTn>
                                        <p:tgtEl>
                                          <p:spTgt spid="99"/>
                                        </p:tgtEl>
                                        <p:attrNameLst>
                                          <p:attrName>style.visibility</p:attrName>
                                        </p:attrNameLst>
                                      </p:cBhvr>
                                      <p:to>
                                        <p:strVal val="visible"/>
                                      </p:to>
                                    </p:set>
                                    <p:animEffect transition="in" filter="wipe(left)">
                                      <p:cBhvr>
                                        <p:cTn id="11" dur="500"/>
                                        <p:tgtEl>
                                          <p:spTgt spid="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iterate type="wd">
                                    <p:tmPct val="10000"/>
                                  </p:iterate>
                                  <p:childTnLst>
                                    <p:set>
                                      <p:cBhvr>
                                        <p:cTn id="15" dur="1" fill="hold">
                                          <p:stCondLst>
                                            <p:cond delay="0"/>
                                          </p:stCondLst>
                                        </p:cTn>
                                        <p:tgtEl>
                                          <p:spTgt spid="99">
                                            <p:txEl>
                                              <p:pRg st="0" end="0"/>
                                            </p:txEl>
                                          </p:spTgt>
                                        </p:tgtEl>
                                        <p:attrNameLst>
                                          <p:attrName>style.visibility</p:attrName>
                                        </p:attrNameLst>
                                      </p:cBhvr>
                                      <p:to>
                                        <p:strVal val="visible"/>
                                      </p:to>
                                    </p:set>
                                    <p:animEffect transition="in" filter="wipe(left)">
                                      <p:cBhvr>
                                        <p:cTn id="16" dur="500"/>
                                        <p:tgtEl>
                                          <p:spTgt spid="9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iterate type="wd">
                                    <p:tmPct val="10000"/>
                                  </p:iterate>
                                  <p:childTnLst>
                                    <p:set>
                                      <p:cBhvr>
                                        <p:cTn id="20" dur="1" fill="hold">
                                          <p:stCondLst>
                                            <p:cond delay="0"/>
                                          </p:stCondLst>
                                        </p:cTn>
                                        <p:tgtEl>
                                          <p:spTgt spid="99">
                                            <p:txEl>
                                              <p:pRg st="1" end="1"/>
                                            </p:txEl>
                                          </p:spTgt>
                                        </p:tgtEl>
                                        <p:attrNameLst>
                                          <p:attrName>style.visibility</p:attrName>
                                        </p:attrNameLst>
                                      </p:cBhvr>
                                      <p:to>
                                        <p:strVal val="visible"/>
                                      </p:to>
                                    </p:set>
                                    <p:animEffect transition="in" filter="wipe(left)">
                                      <p:cBhvr>
                                        <p:cTn id="21" dur="500"/>
                                        <p:tgtEl>
                                          <p:spTgt spid="9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iterate type="wd">
                                    <p:tmPct val="10000"/>
                                  </p:iterate>
                                  <p:childTnLst>
                                    <p:set>
                                      <p:cBhvr>
                                        <p:cTn id="25" dur="1" fill="hold">
                                          <p:stCondLst>
                                            <p:cond delay="0"/>
                                          </p:stCondLst>
                                        </p:cTn>
                                        <p:tgtEl>
                                          <p:spTgt spid="99">
                                            <p:txEl>
                                              <p:pRg st="2" end="2"/>
                                            </p:txEl>
                                          </p:spTgt>
                                        </p:tgtEl>
                                        <p:attrNameLst>
                                          <p:attrName>style.visibility</p:attrName>
                                        </p:attrNameLst>
                                      </p:cBhvr>
                                      <p:to>
                                        <p:strVal val="visible"/>
                                      </p:to>
                                    </p:set>
                                    <p:animEffect transition="in" filter="wipe(left)">
                                      <p:cBhvr>
                                        <p:cTn id="26" dur="500"/>
                                        <p:tgtEl>
                                          <p:spTgt spid="9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609600" y="1676400"/>
                <a:ext cx="23164800" cy="1854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b="1" dirty="0" err="1"/>
                  <a:t>Vectơ</a:t>
                </a:r>
                <a:r>
                  <a:rPr lang="en-US" b="1" dirty="0"/>
                  <a:t> </a:t>
                </a:r>
                <a14:m>
                  <m:oMath xmlns:m="http://schemas.openxmlformats.org/officeDocument/2006/math">
                    <m:acc>
                      <m:accPr>
                        <m:chr m:val="⃗"/>
                        <m:ctrlPr>
                          <a:rPr lang="en-US" b="1" i="1" smtClean="0">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𝒂</m:t>
                        </m:r>
                      </m:e>
                    </m:acc>
                    <m:r>
                      <a:rPr lang="en-US" b="1" i="1">
                        <a:solidFill>
                          <a:srgbClr val="FF0000"/>
                        </a:solidFill>
                        <a:latin typeface="Cambria Math" panose="02040503050406030204" pitchFamily="18" charset="0"/>
                      </a:rPr>
                      <m:t>+</m:t>
                    </m:r>
                    <m:d>
                      <m:dPr>
                        <m:ctrlPr>
                          <a:rPr lang="en-US"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m:t>
                        </m:r>
                        <m:acc>
                          <m:accPr>
                            <m:chr m:val="⃗"/>
                            <m:ctrlPr>
                              <a:rPr lang="en-US" b="1" i="1">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𝒃</m:t>
                            </m:r>
                          </m:e>
                        </m:acc>
                      </m:e>
                    </m:d>
                  </m:oMath>
                </a14:m>
                <a:r>
                  <a:rPr lang="en-US" b="1" dirty="0"/>
                  <a:t> </a:t>
                </a:r>
                <a:r>
                  <a:rPr lang="en-US" b="1" dirty="0" err="1"/>
                  <a:t>được</a:t>
                </a:r>
                <a:r>
                  <a:rPr lang="en-US" b="1" dirty="0"/>
                  <a:t> </a:t>
                </a:r>
                <a:r>
                  <a:rPr lang="en-US" b="1" dirty="0" err="1"/>
                  <a:t>gọi</a:t>
                </a:r>
                <a:r>
                  <a:rPr lang="en-US" b="1" dirty="0"/>
                  <a:t> </a:t>
                </a:r>
                <a:r>
                  <a:rPr lang="en-US" b="1" dirty="0" err="1"/>
                  <a:t>là</a:t>
                </a:r>
                <a:r>
                  <a:rPr lang="en-US" b="1" dirty="0"/>
                  <a:t> </a:t>
                </a:r>
                <a:r>
                  <a:rPr lang="en-US" b="1" dirty="0" err="1"/>
                  <a:t>hiệu</a:t>
                </a:r>
                <a:r>
                  <a:rPr lang="en-US" b="1" dirty="0"/>
                  <a:t> </a:t>
                </a:r>
                <a:r>
                  <a:rPr lang="en-US" b="1" dirty="0" err="1"/>
                  <a:t>của</a:t>
                </a:r>
                <a:r>
                  <a:rPr lang="en-US" b="1" dirty="0"/>
                  <a:t> </a:t>
                </a:r>
                <a:r>
                  <a:rPr lang="en-US" b="1" dirty="0" err="1"/>
                  <a:t>hai</a:t>
                </a:r>
                <a:r>
                  <a:rPr lang="en-US" b="1" dirty="0"/>
                  <a:t> </a:t>
                </a:r>
                <a:r>
                  <a:rPr lang="en-US" b="1" dirty="0" err="1"/>
                  <a:t>vec</a:t>
                </a:r>
                <a:r>
                  <a:rPr lang="en-US" b="1" dirty="0"/>
                  <a:t> </a:t>
                </a:r>
                <a:r>
                  <a:rPr lang="en-US" b="1" dirty="0" err="1"/>
                  <a:t>tơ</a:t>
                </a: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en-US" b="1" dirty="0"/>
                  <a:t> </a:t>
                </a:r>
                <a:r>
                  <a:rPr lang="en-US" b="1" dirty="0" err="1"/>
                  <a:t>và</a:t>
                </a: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en-US" b="1" dirty="0"/>
                  <a:t> </a:t>
                </a:r>
                <a:r>
                  <a:rPr lang="en-US" b="1" dirty="0" err="1"/>
                  <a:t>và</a:t>
                </a:r>
                <a:r>
                  <a:rPr lang="en-US" b="1" dirty="0"/>
                  <a:t> </a:t>
                </a:r>
                <a:r>
                  <a:rPr lang="en-US" b="1" dirty="0" err="1"/>
                  <a:t>được</a:t>
                </a:r>
                <a:r>
                  <a:rPr lang="en-US" b="1" dirty="0"/>
                  <a:t> </a:t>
                </a:r>
                <a:r>
                  <a:rPr lang="en-US" b="1" dirty="0">
                    <a:solidFill>
                      <a:srgbClr val="FF0000"/>
                    </a:solidFill>
                  </a:rPr>
                  <a:t>kí </a:t>
                </a:r>
                <a:r>
                  <a:rPr lang="en-US" b="1" dirty="0" err="1">
                    <a:solidFill>
                      <a:srgbClr val="FF0000"/>
                    </a:solidFill>
                  </a:rPr>
                  <a:t>hiệu</a:t>
                </a:r>
                <a:r>
                  <a:rPr lang="en-US" b="1" dirty="0">
                    <a:solidFill>
                      <a:srgbClr val="FF0000"/>
                    </a:solidFill>
                  </a:rPr>
                  <a:t> </a:t>
                </a:r>
                <a:r>
                  <a:rPr lang="en-US" b="1" dirty="0" err="1">
                    <a:solidFill>
                      <a:srgbClr val="FF0000"/>
                    </a:solidFill>
                  </a:rPr>
                  <a:t>là</a:t>
                </a:r>
                <a:r>
                  <a:rPr lang="en-US" b="1" dirty="0">
                    <a:solidFill>
                      <a:srgbClr val="FF0000"/>
                    </a:solidFill>
                  </a:rPr>
                  <a:t> </a:t>
                </a:r>
                <a14:m>
                  <m:oMath xmlns:m="http://schemas.openxmlformats.org/officeDocument/2006/math">
                    <m:acc>
                      <m:accPr>
                        <m:chr m:val="⃗"/>
                        <m:ctrlPr>
                          <a:rPr lang="en-US" b="1" i="1">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𝒂</m:t>
                        </m:r>
                      </m:e>
                    </m:acc>
                    <m:r>
                      <a:rPr lang="en-US" b="1" i="1">
                        <a:solidFill>
                          <a:srgbClr val="FF0000"/>
                        </a:solidFill>
                        <a:latin typeface="Cambria Math" panose="02040503050406030204" pitchFamily="18" charset="0"/>
                      </a:rPr>
                      <m:t>−</m:t>
                    </m:r>
                    <m:acc>
                      <m:accPr>
                        <m:chr m:val="⃗"/>
                        <m:ctrlPr>
                          <a:rPr lang="en-US" b="1" i="1">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𝒃</m:t>
                        </m:r>
                      </m:e>
                    </m:acc>
                  </m:oMath>
                </a14:m>
                <a:r>
                  <a:rPr lang="en-US" b="1" dirty="0"/>
                  <a:t>. </a:t>
                </a:r>
                <a:r>
                  <a:rPr lang="en-US" b="1" dirty="0" err="1"/>
                  <a:t>Phép</a:t>
                </a:r>
                <a:r>
                  <a:rPr lang="en-US" b="1" dirty="0"/>
                  <a:t> </a:t>
                </a:r>
                <a:r>
                  <a:rPr lang="en-US" b="1" dirty="0" err="1"/>
                  <a:t>lấy</a:t>
                </a:r>
                <a:r>
                  <a:rPr lang="en-US" b="1" dirty="0"/>
                  <a:t> </a:t>
                </a:r>
                <a:r>
                  <a:rPr lang="en-US" b="1" dirty="0" err="1"/>
                  <a:t>hiệu</a:t>
                </a:r>
                <a:r>
                  <a:rPr lang="en-US" b="1" dirty="0"/>
                  <a:t> </a:t>
                </a:r>
                <a:r>
                  <a:rPr lang="en-US" b="1" dirty="0" err="1"/>
                  <a:t>hai</a:t>
                </a:r>
                <a:r>
                  <a:rPr lang="en-US" b="1" dirty="0"/>
                  <a:t> </a:t>
                </a:r>
                <a:r>
                  <a:rPr lang="en-US" b="1" dirty="0" err="1"/>
                  <a:t>vec</a:t>
                </a:r>
                <a:r>
                  <a:rPr lang="en-US" b="1" dirty="0"/>
                  <a:t> </a:t>
                </a:r>
                <a:r>
                  <a:rPr lang="en-US" b="1" dirty="0" err="1"/>
                  <a:t>tơ</a:t>
                </a:r>
                <a:r>
                  <a:rPr lang="en-US" b="1" dirty="0"/>
                  <a:t> </a:t>
                </a:r>
                <a:r>
                  <a:rPr lang="en-US" b="1" dirty="0" err="1"/>
                  <a:t>được</a:t>
                </a:r>
                <a:r>
                  <a:rPr lang="en-US" b="1" dirty="0"/>
                  <a:t> </a:t>
                </a:r>
                <a:r>
                  <a:rPr lang="en-US" b="1" dirty="0" err="1"/>
                  <a:t>gọi</a:t>
                </a:r>
                <a:r>
                  <a:rPr lang="en-US" b="1" dirty="0"/>
                  <a:t> </a:t>
                </a:r>
                <a:r>
                  <a:rPr lang="en-US" b="1" dirty="0" err="1"/>
                  <a:t>là</a:t>
                </a:r>
                <a:r>
                  <a:rPr lang="en-US" b="1" dirty="0"/>
                  <a:t> </a:t>
                </a:r>
                <a:r>
                  <a:rPr lang="en-US" b="1" dirty="0" err="1"/>
                  <a:t>phép</a:t>
                </a:r>
                <a:r>
                  <a:rPr lang="en-US" b="1" dirty="0"/>
                  <a:t> </a:t>
                </a:r>
                <a:r>
                  <a:rPr lang="en-US" b="1" dirty="0" err="1"/>
                  <a:t>trừ</a:t>
                </a:r>
                <a:r>
                  <a:rPr lang="en-US" b="1" dirty="0"/>
                  <a:t> </a:t>
                </a:r>
                <a:r>
                  <a:rPr lang="en-US" b="1" dirty="0" err="1"/>
                  <a:t>vec</a:t>
                </a:r>
                <a:r>
                  <a:rPr lang="en-US" b="1" dirty="0"/>
                  <a:t> </a:t>
                </a:r>
                <a:r>
                  <a:rPr lang="en-US" b="1" dirty="0" err="1"/>
                  <a:t>tơ</a:t>
                </a:r>
                <a:r>
                  <a:rPr lang="en-US" b="1" dirty="0"/>
                  <a:t>.</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609600" y="1676400"/>
                <a:ext cx="23164800" cy="1854200"/>
              </a:xfrm>
              <a:prstGeom prst="rect">
                <a:avLst/>
              </a:prstGeom>
              <a:blipFill>
                <a:blip r:embed="rId3"/>
                <a:stretch>
                  <a:fillRect l="-1368" t="-654" r="-815" b="-23529"/>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08709" y="7467600"/>
                <a:ext cx="11783291" cy="603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buNone/>
                </a:pPr>
                <a:r>
                  <a:rPr lang="en-US" b="1" dirty="0" err="1">
                    <a:solidFill>
                      <a:srgbClr val="FF0000"/>
                    </a:solidFill>
                  </a:rPr>
                  <a:t>Ví</a:t>
                </a:r>
                <a:r>
                  <a:rPr lang="en-US" b="1" dirty="0">
                    <a:solidFill>
                      <a:srgbClr val="FF0000"/>
                    </a:solidFill>
                  </a:rPr>
                  <a:t> </a:t>
                </a:r>
                <a:r>
                  <a:rPr lang="en-US" b="1" dirty="0" err="1">
                    <a:solidFill>
                      <a:srgbClr val="FF0000"/>
                    </a:solidFill>
                  </a:rPr>
                  <a:t>dụ</a:t>
                </a:r>
                <a:r>
                  <a:rPr lang="en-US" b="1" dirty="0">
                    <a:solidFill>
                      <a:srgbClr val="FF0000"/>
                    </a:solidFill>
                  </a:rPr>
                  <a:t> 2: </a:t>
                </a:r>
                <a:r>
                  <a:rPr lang="en-US" b="1" dirty="0"/>
                  <a:t>Cho </a:t>
                </a:r>
                <a:r>
                  <a:rPr lang="en-US" b="1" dirty="0" err="1"/>
                  <a:t>Hình</a:t>
                </a:r>
                <a:r>
                  <a:rPr lang="en-US" b="1" dirty="0"/>
                  <a:t> </a:t>
                </a:r>
                <a:r>
                  <a:rPr lang="en-US" b="1" dirty="0" err="1"/>
                  <a:t>bình</a:t>
                </a:r>
                <a:r>
                  <a:rPr lang="en-US" b="1" dirty="0"/>
                  <a:t> </a:t>
                </a:r>
                <a:r>
                  <a:rPr lang="en-US" b="1" dirty="0" err="1"/>
                  <a:t>hành</a:t>
                </a:r>
                <a:r>
                  <a:rPr lang="en-US" b="1" dirty="0"/>
                  <a:t> ABCD </a:t>
                </a:r>
                <a:r>
                  <a:rPr lang="en-US" b="1" dirty="0" err="1"/>
                  <a:t>và</a:t>
                </a:r>
                <a:r>
                  <a:rPr lang="en-US" b="1" dirty="0"/>
                  <a:t> </a:t>
                </a:r>
                <a:r>
                  <a:rPr lang="en-US" b="1" dirty="0" err="1"/>
                  <a:t>một</a:t>
                </a:r>
                <a:r>
                  <a:rPr lang="en-US" b="1" dirty="0"/>
                  <a:t> </a:t>
                </a:r>
                <a:r>
                  <a:rPr lang="en-US" b="1" dirty="0" err="1"/>
                  <a:t>điểm</a:t>
                </a:r>
                <a:r>
                  <a:rPr lang="en-US" b="1" dirty="0"/>
                  <a:t> O </a:t>
                </a:r>
                <a:r>
                  <a:rPr lang="en-US" b="1" dirty="0" err="1"/>
                  <a:t>bất</a:t>
                </a:r>
                <a:r>
                  <a:rPr lang="en-US" b="1" dirty="0"/>
                  <a:t> </a:t>
                </a:r>
                <a:r>
                  <a:rPr lang="en-US" b="1" dirty="0" err="1"/>
                  <a:t>kì</a:t>
                </a:r>
                <a:r>
                  <a:rPr lang="en-US" b="1" dirty="0"/>
                  <a:t>. </a:t>
                </a:r>
                <a:r>
                  <a:rPr lang="en-US" b="1" dirty="0" err="1"/>
                  <a:t>Chứng</a:t>
                </a:r>
                <a:r>
                  <a:rPr lang="en-US" b="1" dirty="0"/>
                  <a:t> </a:t>
                </a:r>
                <a:r>
                  <a:rPr lang="en-US" b="1" dirty="0" err="1"/>
                  <a:t>minh</a:t>
                </a:r>
                <a:r>
                  <a:rPr lang="en-US" b="1" dirty="0"/>
                  <a:t> </a:t>
                </a:r>
                <a:r>
                  <a:rPr lang="en-US" b="1" dirty="0" err="1"/>
                  <a:t>rằng</a:t>
                </a:r>
                <a:endParaRPr lang="en-US" b="1" dirty="0"/>
              </a:p>
              <a:p>
                <a:pPr marL="0" indent="0">
                  <a:lnSpc>
                    <a:spcPct val="150000"/>
                  </a:lnSpc>
                  <a:buNone/>
                </a:pP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𝑶𝑫</m:t>
                        </m:r>
                      </m:e>
                    </m:acc>
                    <m:r>
                      <a:rPr lang="en-US" b="1" i="1">
                        <a:latin typeface="Cambria Math" panose="02040503050406030204" pitchFamily="18" charset="0"/>
                      </a:rPr>
                      <m:t>.</m:t>
                    </m:r>
                  </m:oMath>
                </a14:m>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408709" y="7467600"/>
                <a:ext cx="11783291" cy="6035676"/>
              </a:xfrm>
              <a:prstGeom prst="rect">
                <a:avLst/>
              </a:prstGeom>
              <a:blipFill>
                <a:blip r:embed="rId4"/>
                <a:stretch>
                  <a:fillRect l="-227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7467600"/>
                <a:ext cx="11630891" cy="605443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solidFill>
                      <a:srgbClr val="FF0000"/>
                    </a:solidFill>
                  </a:rPr>
                  <a:t>Lời</a:t>
                </a:r>
                <a:r>
                  <a:rPr lang="en-US" b="1" dirty="0">
                    <a:solidFill>
                      <a:srgbClr val="FF0000"/>
                    </a:solidFill>
                  </a:rPr>
                  <a:t> </a:t>
                </a:r>
                <a:r>
                  <a:rPr lang="en-US" b="1" dirty="0" err="1">
                    <a:solidFill>
                      <a:srgbClr val="FF0000"/>
                    </a:solidFill>
                  </a:rPr>
                  <a:t>giải</a:t>
                </a:r>
                <a:endParaRPr lang="en-US" dirty="0">
                  <a:solidFill>
                    <a:srgbClr val="FF0000"/>
                  </a:solidFill>
                </a:endParaRPr>
              </a:p>
              <a:p>
                <a:r>
                  <a:rPr lang="en-US" b="1" dirty="0" err="1"/>
                  <a:t>Áp</a:t>
                </a:r>
                <a:r>
                  <a:rPr lang="en-US" b="1" dirty="0"/>
                  <a:t> </a:t>
                </a:r>
                <a:r>
                  <a:rPr lang="en-US" b="1" dirty="0" err="1"/>
                  <a:t>dụng</a:t>
                </a:r>
                <a:r>
                  <a:rPr lang="en-US" b="1" dirty="0"/>
                  <a:t> </a:t>
                </a:r>
                <a:r>
                  <a:rPr lang="en-US" b="1" dirty="0" err="1"/>
                  <a:t>quy</a:t>
                </a:r>
                <a:r>
                  <a:rPr lang="en-US" b="1" dirty="0"/>
                  <a:t> </a:t>
                </a:r>
                <a:r>
                  <a:rPr lang="en-US" b="1" dirty="0" err="1"/>
                  <a:t>tắc</a:t>
                </a:r>
                <a:r>
                  <a:rPr lang="en-US" b="1" dirty="0"/>
                  <a:t> </a:t>
                </a:r>
                <a:r>
                  <a:rPr lang="en-US" b="1" dirty="0" err="1"/>
                  <a:t>hiệu</a:t>
                </a:r>
                <a:r>
                  <a:rPr lang="en-US" b="1" dirty="0"/>
                  <a:t>, </a:t>
                </a:r>
              </a:p>
              <a:p>
                <a:pPr marL="0" indent="0">
                  <a:buNone/>
                </a:pPr>
                <a:r>
                  <a:rPr lang="en-US" b="1" dirty="0"/>
                  <a:t>   ta </a:t>
                </a:r>
                <a:r>
                  <a:rPr lang="en-US" b="1" dirty="0" err="1"/>
                  <a:t>có</a:t>
                </a: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𝑶𝑩</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𝑶𝑨</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𝑨𝑩</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𝑶𝑪</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𝑶𝑫</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𝑫𝑪</m:t>
                        </m:r>
                      </m:e>
                    </m:acc>
                    <m:r>
                      <a:rPr lang="en-US" b="1" i="1" smtClean="0">
                        <a:latin typeface="Cambria Math" panose="02040503050406030204" pitchFamily="18" charset="0"/>
                      </a:rPr>
                      <m:t>.</m:t>
                    </m:r>
                  </m:oMath>
                </a14:m>
                <a:endParaRPr lang="en-US" b="1" dirty="0"/>
              </a:p>
              <a:p>
                <a:r>
                  <a:rPr lang="en-US" b="1" dirty="0" err="1"/>
                  <a:t>Mặt</a:t>
                </a:r>
                <a:r>
                  <a:rPr lang="en-US" b="1" dirty="0"/>
                  <a:t> </a:t>
                </a:r>
                <a:r>
                  <a:rPr lang="en-US" b="1" dirty="0" err="1"/>
                  <a:t>khác</a:t>
                </a: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𝑨𝑩</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𝑫𝑪</m:t>
                        </m:r>
                      </m:e>
                    </m:acc>
                  </m:oMath>
                </a14:m>
                <a:r>
                  <a:rPr lang="en-US" b="1" dirty="0"/>
                  <a:t> </a:t>
                </a:r>
              </a:p>
              <a:p>
                <a:pPr marL="0" indent="0">
                  <a:buNone/>
                </a:pPr>
                <a:r>
                  <a:rPr lang="en-US" b="1" dirty="0"/>
                  <a:t>           </a:t>
                </a:r>
                <a:r>
                  <a:rPr lang="en-US" b="1" dirty="0" err="1"/>
                  <a:t>nên</a:t>
                </a: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𝑶𝑩</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𝑶𝑨</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𝑶𝑪</m:t>
                        </m:r>
                      </m:e>
                    </m:acc>
                    <m:r>
                      <a:rPr lang="en-US" b="1" i="1" smtClean="0">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𝑶𝑫</m:t>
                        </m:r>
                      </m:e>
                    </m:acc>
                    <m:r>
                      <a:rPr lang="en-US" b="1" i="1" smtClean="0">
                        <a:latin typeface="Cambria Math" panose="02040503050406030204" pitchFamily="18" charset="0"/>
                      </a:rPr>
                      <m:t>.</m:t>
                    </m:r>
                  </m:oMath>
                </a14:m>
                <a:endParaRPr lang="en-US" b="1" dirty="0"/>
              </a:p>
              <a:p>
                <a:pPr lvl="4"/>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7467600"/>
                <a:ext cx="11630891" cy="6054436"/>
              </a:xfrm>
              <a:prstGeom prst="rect">
                <a:avLst/>
              </a:prstGeom>
              <a:blipFill>
                <a:blip r:embed="rId5"/>
                <a:stretch>
                  <a:fillRect l="-2304" t="-3317"/>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9CDABDE-98D0-4CF6-9D0D-2B2FE4527E24}"/>
                  </a:ext>
                </a:extLst>
              </p:cNvPr>
              <p:cNvSpPr txBox="1"/>
              <p:nvPr/>
            </p:nvSpPr>
            <p:spPr>
              <a:xfrm>
                <a:off x="609600" y="3733800"/>
                <a:ext cx="23164800" cy="1834926"/>
              </a:xfrm>
              <a:prstGeom prst="rect">
                <a:avLst/>
              </a:prstGeom>
              <a:noFill/>
            </p:spPr>
            <p:txBody>
              <a:bodyPr wrap="square">
                <a:spAutoFit/>
              </a:bodyPr>
              <a:lstStyle/>
              <a:p>
                <a:pPr>
                  <a:lnSpc>
                    <a:spcPct val="107000"/>
                  </a:lnSpc>
                  <a:spcAft>
                    <a:spcPts val="600"/>
                  </a:spcAft>
                </a:pPr>
                <a:r>
                  <a:rPr lang="en-US" sz="4500" b="1" u="sng"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Chú</a:t>
                </a:r>
                <a:r>
                  <a:rPr lang="en-US" sz="4500" b="1" u="sng" dirty="0">
                    <a:solidFill>
                      <a:srgbClr val="FF0000"/>
                    </a:solidFill>
                    <a:effectLst/>
                    <a:latin typeface="Tahoma" panose="020B0604030504040204" pitchFamily="34" charset="0"/>
                    <a:ea typeface="Tahoma" panose="020B0604030504040204" pitchFamily="34" charset="0"/>
                    <a:cs typeface="Tahoma" panose="020B0604030504040204" pitchFamily="34" charset="0"/>
                  </a:rPr>
                  <a:t> ý.</a:t>
                </a:r>
                <a:r>
                  <a:rPr lang="en-US" sz="45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500" b="1" dirty="0" err="1">
                    <a:effectLst/>
                    <a:latin typeface="Tahoma" panose="020B0604030504040204" pitchFamily="34" charset="0"/>
                    <a:ea typeface="Tahoma" panose="020B0604030504040204" pitchFamily="34" charset="0"/>
                    <a:cs typeface="Tahoma" panose="020B0604030504040204" pitchFamily="34" charset="0"/>
                  </a:rPr>
                  <a:t>Nếu</a:t>
                </a:r>
                <a:r>
                  <a:rPr lang="en-US" sz="45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𝒃</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𝒄</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𝒂</m:t>
                        </m:r>
                      </m:e>
                    </m:acc>
                  </m:oMath>
                </a14:m>
                <a:r>
                  <a:rPr lang="en-US" sz="4500" b="1" dirty="0">
                    <a:effectLst/>
                    <a:latin typeface="Tahoma" panose="020B0604030504040204" pitchFamily="34" charset="0"/>
                    <a:ea typeface="Tahoma" panose="020B0604030504040204" pitchFamily="34" charset="0"/>
                    <a:cs typeface="Tahoma" panose="020B0604030504040204" pitchFamily="34" charset="0"/>
                  </a:rPr>
                  <a:t> </a:t>
                </a:r>
                <a:r>
                  <a:rPr lang="en-US" sz="4500" b="1" dirty="0" err="1">
                    <a:effectLst/>
                    <a:latin typeface="Tahoma" panose="020B0604030504040204" pitchFamily="34" charset="0"/>
                    <a:ea typeface="Tahoma" panose="020B0604030504040204" pitchFamily="34" charset="0"/>
                    <a:cs typeface="Tahoma" panose="020B0604030504040204" pitchFamily="34" charset="0"/>
                  </a:rPr>
                  <a:t>thì</a:t>
                </a:r>
                <a:r>
                  <a:rPr lang="en-US" sz="45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𝒂</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𝒃</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𝒂</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𝒃</m:t>
                            </m:r>
                          </m:e>
                        </m:acc>
                      </m:e>
                    </m:d>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𝒄</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𝒃</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𝒃</m:t>
                            </m:r>
                          </m:e>
                        </m:acc>
                      </m:e>
                    </m:d>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𝒄</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𝟎</m:t>
                        </m:r>
                      </m:e>
                    </m:acc>
                    <m:r>
                      <a:rPr lang="en-US" sz="45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effectLst/>
                            <a:latin typeface="Cambria Math" panose="02040503050406030204" pitchFamily="18" charset="0"/>
                            <a:ea typeface="Calibri" panose="020F0502020204030204" pitchFamily="34" charset="0"/>
                            <a:cs typeface="Times New Roman" panose="02020603050405020304" pitchFamily="18" charset="0"/>
                          </a:rPr>
                          <m:t>𝒄</m:t>
                        </m:r>
                      </m:e>
                    </m:acc>
                  </m:oMath>
                </a14:m>
                <a:r>
                  <a:rPr lang="en-US" sz="4500" b="1" dirty="0">
                    <a:effectLst/>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600"/>
                  </a:spcAft>
                </a:pPr>
                <a:r>
                  <a:rPr lang="en-US" sz="4500" b="1" dirty="0" err="1">
                    <a:effectLst/>
                    <a:latin typeface="Tahoma" panose="020B0604030504040204" pitchFamily="34" charset="0"/>
                    <a:ea typeface="Tahoma" panose="020B0604030504040204" pitchFamily="34" charset="0"/>
                    <a:cs typeface="Tahoma" panose="020B0604030504040204" pitchFamily="34" charset="0"/>
                  </a:rPr>
                  <a:t>Với</a:t>
                </a:r>
                <a:r>
                  <a:rPr lang="en-US" sz="4500" b="1" dirty="0">
                    <a:effectLst/>
                    <a:latin typeface="Tahoma" panose="020B0604030504040204" pitchFamily="34" charset="0"/>
                    <a:ea typeface="Tahoma" panose="020B0604030504040204" pitchFamily="34" charset="0"/>
                    <a:cs typeface="Tahoma" panose="020B0604030504040204" pitchFamily="34" charset="0"/>
                  </a:rPr>
                  <a:t> </a:t>
                </a:r>
                <a:r>
                  <a:rPr lang="en-US" sz="4500" b="1" dirty="0" err="1">
                    <a:effectLst/>
                    <a:latin typeface="Tahoma" panose="020B0604030504040204" pitchFamily="34" charset="0"/>
                    <a:ea typeface="Tahoma" panose="020B0604030504040204" pitchFamily="34" charset="0"/>
                    <a:cs typeface="Tahoma" panose="020B0604030504040204" pitchFamily="34" charset="0"/>
                  </a:rPr>
                  <a:t>ba</a:t>
                </a:r>
                <a:r>
                  <a:rPr lang="en-US" sz="4500" b="1" dirty="0">
                    <a:effectLst/>
                    <a:latin typeface="Tahoma" panose="020B0604030504040204" pitchFamily="34" charset="0"/>
                    <a:ea typeface="Tahoma" panose="020B0604030504040204" pitchFamily="34" charset="0"/>
                    <a:cs typeface="Tahoma" panose="020B0604030504040204" pitchFamily="34" charset="0"/>
                  </a:rPr>
                  <a:t> </a:t>
                </a:r>
                <a:r>
                  <a:rPr lang="en-US" sz="4500" b="1" dirty="0" err="1">
                    <a:effectLst/>
                    <a:latin typeface="Tahoma" panose="020B0604030504040204" pitchFamily="34" charset="0"/>
                    <a:ea typeface="Tahoma" panose="020B0604030504040204" pitchFamily="34" charset="0"/>
                    <a:cs typeface="Tahoma" panose="020B0604030504040204" pitchFamily="34" charset="0"/>
                  </a:rPr>
                  <a:t>điểm</a:t>
                </a:r>
                <a:r>
                  <a:rPr lang="en-US" sz="4500" b="1" dirty="0">
                    <a:effectLst/>
                    <a:latin typeface="Tahoma" panose="020B0604030504040204" pitchFamily="34" charset="0"/>
                    <a:ea typeface="Tahoma" panose="020B0604030504040204" pitchFamily="34" charset="0"/>
                    <a:cs typeface="Tahoma" panose="020B0604030504040204" pitchFamily="34" charset="0"/>
                  </a:rPr>
                  <a:t> O, M, N </a:t>
                </a:r>
                <a:r>
                  <a:rPr lang="en-US" sz="4500" b="1" dirty="0" err="1">
                    <a:effectLst/>
                    <a:latin typeface="Tahoma" panose="020B0604030504040204" pitchFamily="34" charset="0"/>
                    <a:ea typeface="Tahoma" panose="020B0604030504040204" pitchFamily="34" charset="0"/>
                    <a:cs typeface="Tahoma" panose="020B0604030504040204" pitchFamily="34" charset="0"/>
                  </a:rPr>
                  <a:t>tùy</a:t>
                </a:r>
                <a:r>
                  <a:rPr lang="en-US" sz="4500" b="1" dirty="0">
                    <a:effectLst/>
                    <a:latin typeface="Tahoma" panose="020B0604030504040204" pitchFamily="34" charset="0"/>
                    <a:ea typeface="Tahoma" panose="020B0604030504040204" pitchFamily="34" charset="0"/>
                    <a:cs typeface="Tahoma" panose="020B0604030504040204" pitchFamily="34" charset="0"/>
                  </a:rPr>
                  <a:t> ý, ta </a:t>
                </a:r>
                <a:r>
                  <a:rPr lang="en-US" sz="4500" b="1" dirty="0" err="1">
                    <a:effectLst/>
                    <a:latin typeface="Tahoma" panose="020B0604030504040204" pitchFamily="34" charset="0"/>
                    <a:ea typeface="Tahoma" panose="020B0604030504040204" pitchFamily="34" charset="0"/>
                    <a:cs typeface="Tahoma" panose="020B0604030504040204" pitchFamily="34" charset="0"/>
                  </a:rPr>
                  <a:t>có</a:t>
                </a:r>
                <a:r>
                  <a:rPr lang="en-US" sz="45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5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𝑴𝑵</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𝑴𝑶</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𝑶𝑵</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𝑶𝑴</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𝑶𝑵</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𝑶𝑵</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𝑶𝑴</m:t>
                        </m:r>
                      </m:e>
                    </m:acc>
                    <m:r>
                      <a:rPr lang="en-US" sz="45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45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 name="TextBox 7">
                <a:extLst>
                  <a:ext uri="{FF2B5EF4-FFF2-40B4-BE49-F238E27FC236}">
                    <a16:creationId xmlns:a16="http://schemas.microsoft.com/office/drawing/2014/main" id="{B9CDABDE-98D0-4CF6-9D0D-2B2FE4527E24}"/>
                  </a:ext>
                </a:extLst>
              </p:cNvPr>
              <p:cNvSpPr txBox="1">
                <a:spLocks noRot="1" noChangeAspect="1" noMove="1" noResize="1" noEditPoints="1" noAdjustHandles="1" noChangeArrowheads="1" noChangeShapeType="1" noTextEdit="1"/>
              </p:cNvSpPr>
              <p:nvPr/>
            </p:nvSpPr>
            <p:spPr>
              <a:xfrm>
                <a:off x="609600" y="3733800"/>
                <a:ext cx="23164800" cy="1834926"/>
              </a:xfrm>
              <a:prstGeom prst="rect">
                <a:avLst/>
              </a:prstGeom>
              <a:blipFill>
                <a:blip r:embed="rId6"/>
                <a:stretch>
                  <a:fillRect l="-1105" t="-1661" b="-146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CEDE476-FC6A-4599-B763-ABC8182E51ED}"/>
                  </a:ext>
                </a:extLst>
              </p:cNvPr>
              <p:cNvSpPr txBox="1"/>
              <p:nvPr/>
            </p:nvSpPr>
            <p:spPr>
              <a:xfrm>
                <a:off x="609600" y="5828359"/>
                <a:ext cx="21336000" cy="1029641"/>
              </a:xfrm>
              <a:prstGeom prst="rect">
                <a:avLst/>
              </a:prstGeom>
              <a:noFill/>
            </p:spPr>
            <p:txBody>
              <a:bodyPr wrap="square">
                <a:spAutoFit/>
              </a:bodyPr>
              <a:lstStyle/>
              <a:p>
                <a:r>
                  <a:rPr lang="en-US" sz="54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Quy</a:t>
                </a:r>
                <a:r>
                  <a:rPr lang="en-US" sz="54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54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tắc</a:t>
                </a:r>
                <a:r>
                  <a:rPr lang="en-US" sz="54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54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hiệu</a:t>
                </a:r>
                <a:r>
                  <a:rPr lang="en-US" sz="54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5400" b="1" dirty="0" err="1">
                    <a:effectLst/>
                    <a:latin typeface="Tahoma" panose="020B0604030504040204" pitchFamily="34" charset="0"/>
                    <a:ea typeface="Tahoma" panose="020B0604030504040204" pitchFamily="34" charset="0"/>
                    <a:cs typeface="Tahoma" panose="020B0604030504040204" pitchFamily="34" charset="0"/>
                  </a:rPr>
                  <a:t>Với</a:t>
                </a:r>
                <a:r>
                  <a:rPr lang="en-US" sz="5400" b="1" dirty="0">
                    <a:effectLst/>
                    <a:latin typeface="Tahoma" panose="020B0604030504040204" pitchFamily="34" charset="0"/>
                    <a:ea typeface="Tahoma" panose="020B0604030504040204" pitchFamily="34" charset="0"/>
                    <a:cs typeface="Tahoma" panose="020B0604030504040204" pitchFamily="34" charset="0"/>
                  </a:rPr>
                  <a:t> </a:t>
                </a:r>
                <a:r>
                  <a:rPr lang="en-US" sz="5400" b="1" dirty="0" err="1">
                    <a:effectLst/>
                    <a:latin typeface="Tahoma" panose="020B0604030504040204" pitchFamily="34" charset="0"/>
                    <a:ea typeface="Tahoma" panose="020B0604030504040204" pitchFamily="34" charset="0"/>
                    <a:cs typeface="Tahoma" panose="020B0604030504040204" pitchFamily="34" charset="0"/>
                  </a:rPr>
                  <a:t>ba</a:t>
                </a:r>
                <a:r>
                  <a:rPr lang="en-US" sz="5400" b="1" dirty="0">
                    <a:effectLst/>
                    <a:latin typeface="Tahoma" panose="020B0604030504040204" pitchFamily="34" charset="0"/>
                    <a:ea typeface="Tahoma" panose="020B0604030504040204" pitchFamily="34" charset="0"/>
                    <a:cs typeface="Tahoma" panose="020B0604030504040204" pitchFamily="34" charset="0"/>
                  </a:rPr>
                  <a:t> </a:t>
                </a:r>
                <a:r>
                  <a:rPr lang="en-US" sz="5400" b="1" dirty="0" err="1">
                    <a:effectLst/>
                    <a:latin typeface="Tahoma" panose="020B0604030504040204" pitchFamily="34" charset="0"/>
                    <a:ea typeface="Tahoma" panose="020B0604030504040204" pitchFamily="34" charset="0"/>
                    <a:cs typeface="Tahoma" panose="020B0604030504040204" pitchFamily="34" charset="0"/>
                  </a:rPr>
                  <a:t>điểm</a:t>
                </a:r>
                <a:r>
                  <a:rPr lang="en-US" sz="5400" b="1" dirty="0">
                    <a:effectLst/>
                    <a:latin typeface="Tahoma" panose="020B0604030504040204" pitchFamily="34" charset="0"/>
                    <a:ea typeface="Tahoma" panose="020B0604030504040204" pitchFamily="34" charset="0"/>
                    <a:cs typeface="Tahoma" panose="020B0604030504040204" pitchFamily="34" charset="0"/>
                  </a:rPr>
                  <a:t> O, M, N, ta </a:t>
                </a:r>
                <a:r>
                  <a:rPr lang="en-US" sz="5400" b="1" dirty="0" err="1">
                    <a:effectLst/>
                    <a:latin typeface="Tahoma" panose="020B0604030504040204" pitchFamily="34" charset="0"/>
                    <a:ea typeface="Tahoma" panose="020B0604030504040204" pitchFamily="34" charset="0"/>
                    <a:cs typeface="Tahoma" panose="020B0604030504040204" pitchFamily="34" charset="0"/>
                  </a:rPr>
                  <a:t>có</a:t>
                </a:r>
                <a:r>
                  <a:rPr lang="en-US" sz="5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5400" b="1" i="1" smtClean="0">
                            <a:solidFill>
                              <a:srgbClr val="FF0000"/>
                            </a:solidFill>
                            <a:effectLst/>
                            <a:latin typeface="Cambria Math" panose="02040503050406030204" pitchFamily="18" charset="0"/>
                          </a:rPr>
                        </m:ctrlPr>
                      </m:accPr>
                      <m:e>
                        <m:r>
                          <a:rPr lang="en-US" sz="54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𝑴𝑵</m:t>
                        </m:r>
                      </m:e>
                    </m:acc>
                    <m:r>
                      <a:rPr lang="en-US" sz="54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5400" b="1" i="1">
                            <a:solidFill>
                              <a:srgbClr val="FF0000"/>
                            </a:solidFill>
                            <a:effectLst/>
                            <a:latin typeface="Cambria Math" panose="02040503050406030204" pitchFamily="18" charset="0"/>
                          </a:rPr>
                        </m:ctrlPr>
                      </m:accPr>
                      <m:e>
                        <m:r>
                          <a:rPr lang="en-US" sz="54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𝑶𝑵</m:t>
                        </m:r>
                      </m:e>
                    </m:acc>
                    <m:r>
                      <a:rPr lang="en-US" sz="5400" b="1" i="1">
                        <a:solidFill>
                          <a:srgbClr val="FF0000"/>
                        </a:solidFill>
                        <a:effectLst/>
                        <a:latin typeface="Cambria Math" panose="02040503050406030204" pitchFamily="18" charset="0"/>
                        <a:ea typeface="Calibri" panose="020F0502020204030204" pitchFamily="34" charset="0"/>
                      </a:rPr>
                      <m:t>−</m:t>
                    </m:r>
                    <m:acc>
                      <m:accPr>
                        <m:chr m:val="⃗"/>
                        <m:ctrlPr>
                          <a:rPr lang="en-US" sz="5400" b="1" i="1">
                            <a:solidFill>
                              <a:srgbClr val="FF0000"/>
                            </a:solidFill>
                            <a:effectLst/>
                            <a:latin typeface="Cambria Math" panose="02040503050406030204" pitchFamily="18" charset="0"/>
                          </a:rPr>
                        </m:ctrlPr>
                      </m:accPr>
                      <m:e>
                        <m:r>
                          <a:rPr lang="en-US" sz="54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𝑶𝑴</m:t>
                        </m:r>
                      </m:e>
                    </m:acc>
                    <m:r>
                      <a:rPr lang="en-US" sz="5400" b="1"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5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TextBox 8">
                <a:extLst>
                  <a:ext uri="{FF2B5EF4-FFF2-40B4-BE49-F238E27FC236}">
                    <a16:creationId xmlns:a16="http://schemas.microsoft.com/office/drawing/2014/main" id="{0CEDE476-FC6A-4599-B763-ABC8182E51ED}"/>
                  </a:ext>
                </a:extLst>
              </p:cNvPr>
              <p:cNvSpPr txBox="1">
                <a:spLocks noRot="1" noChangeAspect="1" noMove="1" noResize="1" noEditPoints="1" noAdjustHandles="1" noChangeArrowheads="1" noChangeShapeType="1" noTextEdit="1"/>
              </p:cNvSpPr>
              <p:nvPr/>
            </p:nvSpPr>
            <p:spPr>
              <a:xfrm>
                <a:off x="609600" y="5828359"/>
                <a:ext cx="21336000" cy="1029641"/>
              </a:xfrm>
              <a:prstGeom prst="rect">
                <a:avLst/>
              </a:prstGeom>
              <a:blipFill>
                <a:blip r:embed="rId7"/>
                <a:stretch>
                  <a:fillRect l="-1514" t="-7692" b="-33728"/>
                </a:stretch>
              </a:blipFill>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21108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wipe(up)">
                                      <p:cBhvr>
                                        <p:cTn id="27" dur="500"/>
                                        <p:tgtEl>
                                          <p:spTgt spid="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9">
                                            <p:txEl>
                                              <p:pRg st="0" end="0"/>
                                            </p:txEl>
                                          </p:spTgt>
                                        </p:tgtEl>
                                        <p:attrNameLst>
                                          <p:attrName>style.visibility</p:attrName>
                                        </p:attrNameLst>
                                      </p:cBhvr>
                                      <p:to>
                                        <p:strVal val="visible"/>
                                      </p:to>
                                    </p:set>
                                    <p:animEffect transition="in" filter="wipe(up)">
                                      <p:cBhvr>
                                        <p:cTn id="32" dur="500"/>
                                        <p:tgtEl>
                                          <p:spTgt spid="9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9">
                                            <p:txEl>
                                              <p:pRg st="1" end="1"/>
                                            </p:txEl>
                                          </p:spTgt>
                                        </p:tgtEl>
                                        <p:attrNameLst>
                                          <p:attrName>style.visibility</p:attrName>
                                        </p:attrNameLst>
                                      </p:cBhvr>
                                      <p:to>
                                        <p:strVal val="visible"/>
                                      </p:to>
                                    </p:set>
                                    <p:animEffect transition="in" filter="wipe(up)">
                                      <p:cBhvr>
                                        <p:cTn id="37" dur="500"/>
                                        <p:tgtEl>
                                          <p:spTgt spid="9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wipe(up)">
                                      <p:cBhvr>
                                        <p:cTn id="47" dur="500"/>
                                        <p:tgtEl>
                                          <p:spTgt spid="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
                                            <p:txEl>
                                              <p:pRg st="1" end="1"/>
                                            </p:txEl>
                                          </p:spTgt>
                                        </p:tgtEl>
                                        <p:attrNameLst>
                                          <p:attrName>style.visibility</p:attrName>
                                        </p:attrNameLst>
                                      </p:cBhvr>
                                      <p:to>
                                        <p:strVal val="visible"/>
                                      </p:to>
                                    </p:set>
                                    <p:animEffect transition="in" filter="wipe(up)">
                                      <p:cBhvr>
                                        <p:cTn id="52" dur="500"/>
                                        <p:tgtEl>
                                          <p:spTgt spid="7">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7">
                                            <p:txEl>
                                              <p:pRg st="2" end="2"/>
                                            </p:txEl>
                                          </p:spTgt>
                                        </p:tgtEl>
                                        <p:attrNameLst>
                                          <p:attrName>style.visibility</p:attrName>
                                        </p:attrNameLst>
                                      </p:cBhvr>
                                      <p:to>
                                        <p:strVal val="visible"/>
                                      </p:to>
                                    </p:set>
                                    <p:animEffect transition="in" filter="wipe(up)">
                                      <p:cBhvr>
                                        <p:cTn id="57" dur="500"/>
                                        <p:tgtEl>
                                          <p:spTgt spid="7">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7">
                                            <p:txEl>
                                              <p:pRg st="3" end="3"/>
                                            </p:txEl>
                                          </p:spTgt>
                                        </p:tgtEl>
                                        <p:attrNameLst>
                                          <p:attrName>style.visibility</p:attrName>
                                        </p:attrNameLst>
                                      </p:cBhvr>
                                      <p:to>
                                        <p:strVal val="visible"/>
                                      </p:to>
                                    </p:set>
                                    <p:animEffect transition="in" filter="wipe(up)">
                                      <p:cBhvr>
                                        <p:cTn id="62" dur="500"/>
                                        <p:tgtEl>
                                          <p:spTgt spid="7">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7">
                                            <p:txEl>
                                              <p:pRg st="4" end="4"/>
                                            </p:txEl>
                                          </p:spTgt>
                                        </p:tgtEl>
                                        <p:attrNameLst>
                                          <p:attrName>style.visibility</p:attrName>
                                        </p:attrNameLst>
                                      </p:cBhvr>
                                      <p:to>
                                        <p:strVal val="visible"/>
                                      </p:to>
                                    </p:set>
                                    <p:animEffect transition="in" filter="wipe(up)">
                                      <p:cBhvr>
                                        <p:cTn id="6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Ví dụ 3:</a:t>
                </a:r>
              </a:p>
              <a:p>
                <a:r>
                  <a:rPr lang="en-US" b="1"/>
                  <a:t>a) Chứng minh rằng nếu </a:t>
                </a:r>
                <a14:m>
                  <m:oMath xmlns:m="http://schemas.openxmlformats.org/officeDocument/2006/math">
                    <m:r>
                      <a:rPr lang="en-US" b="1" i="1">
                        <a:latin typeface="Cambria Math" panose="02040503050406030204" pitchFamily="18" charset="0"/>
                      </a:rPr>
                      <m:t>𝑰</m:t>
                    </m:r>
                  </m:oMath>
                </a14:m>
                <a:r>
                  <a:rPr lang="en-US" b="1"/>
                  <a:t>là trung điểm của </a:t>
                </a:r>
                <a14:m>
                  <m:oMath xmlns:m="http://schemas.openxmlformats.org/officeDocument/2006/math">
                    <m:r>
                      <a:rPr lang="en-US" b="1" i="1">
                        <a:latin typeface="Cambria Math" panose="02040503050406030204" pitchFamily="18" charset="0"/>
                      </a:rPr>
                      <m:t>𝑨𝑩</m:t>
                    </m:r>
                  </m:oMath>
                </a14:m>
                <a:r>
                  <a:rPr lang="en-US" b="1"/>
                  <a:t>thì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𝑰𝑩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r>
                  <a:rPr lang="en-US" b="1"/>
                  <a:t>b) Chưng minh rằng nếu </a:t>
                </a:r>
                <a14:m>
                  <m:oMath xmlns:m="http://schemas.openxmlformats.org/officeDocument/2006/math">
                    <m:r>
                      <a:rPr lang="en-US" b="1" i="1">
                        <a:latin typeface="Cambria Math" panose="02040503050406030204" pitchFamily="18" charset="0"/>
                      </a:rPr>
                      <m:t>𝑮</m:t>
                    </m:r>
                  </m:oMath>
                </a14:m>
                <a:r>
                  <a:rPr lang="en-US" b="1"/>
                  <a:t>là trọng tâm của tam giác </a:t>
                </a:r>
                <a:r>
                  <a:rPr lang="en-US" b="1" i="1"/>
                  <a:t>ABC</a:t>
                </a:r>
                <a:r>
                  <a:rPr lang="en-US" b="1"/>
                  <a:t> thì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endParaRPr lang="en-US"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61"/>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r>
                  <a:rPr lang="en-US" b="1"/>
                  <a:t>a) (H4.15) Khi I là trung điểm của AB, thì hai vec 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𝑰𝑨</m:t>
                        </m:r>
                        <m:r>
                          <a:rPr lang="en-US" b="1" i="1">
                            <a:latin typeface="Cambria Math" panose="02040503050406030204" pitchFamily="18" charset="0"/>
                          </a:rPr>
                          <m:t> </m:t>
                        </m:r>
                      </m:e>
                    </m:acc>
                  </m:oMath>
                </a14:m>
                <a:r>
                  <a:rPr lang="en-US" b="1"/>
                  <a:t> và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𝑰𝑩</m:t>
                        </m:r>
                      </m:e>
                    </m:acc>
                  </m:oMath>
                </a14:m>
                <a:r>
                  <a:rPr lang="en-US" b="1"/>
                  <a:t> có cùng độ dài và ngược hướng.</a:t>
                </a:r>
              </a:p>
              <a:p>
                <a:endParaRPr lang="en-US" b="1"/>
              </a:p>
              <a:p>
                <a:endParaRPr lang="en-US" b="1"/>
              </a:p>
              <a:p>
                <a:endParaRPr lang="en-US" b="1"/>
              </a:p>
              <a:p>
                <a:r>
                  <a:rPr lang="en-US" b="1"/>
                  <a:t>Do đó,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𝑰𝑨</m:t>
                        </m:r>
                      </m:e>
                    </m:acc>
                  </m:oMath>
                </a14:m>
                <a:r>
                  <a:rPr lang="en-US" b="1"/>
                  <a:t>và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𝑰𝑩</m:t>
                        </m:r>
                      </m:e>
                    </m:acc>
                  </m:oMath>
                </a14:m>
                <a:r>
                  <a:rPr lang="en-US" b="1"/>
                  <a:t>đối nhau, suy ra</a:t>
                </a:r>
              </a:p>
              <a:p>
                <a:pPr marL="0" indent="0">
                  <a:buNone/>
                </a:pPr>
                <a:r>
                  <a:rPr lang="en-US" b="1"/>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𝑰𝑩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pPr marL="0" indent="0">
                  <a:buNone/>
                </a:pPr>
                <a:endParaRPr lang="en-US" b="1"/>
              </a:p>
              <a:p>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r="-1849"/>
                </a:stretch>
              </a:blipFill>
              <a:ln>
                <a:solidFill>
                  <a:srgbClr val="00B0F0"/>
                </a:solidFill>
              </a:ln>
            </p:spPr>
            <p:txBody>
              <a:bodyPr/>
              <a:lstStyle/>
              <a:p>
                <a:r>
                  <a:rPr lang="en-US">
                    <a:noFill/>
                  </a:rPr>
                  <a:t> </a:t>
                </a:r>
              </a:p>
            </p:txBody>
          </p:sp>
        </mc:Fallback>
      </mc:AlternateContent>
      <p:pic>
        <p:nvPicPr>
          <p:cNvPr id="10" name="Picture 9">
            <a:extLst>
              <a:ext uri="{FF2B5EF4-FFF2-40B4-BE49-F238E27FC236}">
                <a16:creationId xmlns:a16="http://schemas.microsoft.com/office/drawing/2014/main" id="{F1B34F2D-8FB4-400D-9004-2B0DC6BFA4F1}"/>
              </a:ext>
            </a:extLst>
          </p:cNvPr>
          <p:cNvPicPr/>
          <p:nvPr/>
        </p:nvPicPr>
        <p:blipFill>
          <a:blip r:embed="rId5"/>
          <a:stretch>
            <a:fillRect/>
          </a:stretch>
        </p:blipFill>
        <p:spPr>
          <a:xfrm>
            <a:off x="13563600" y="5486400"/>
            <a:ext cx="8991600" cy="21336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05987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wipe(up)">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wipe(up)">
                                      <p:cBhvr>
                                        <p:cTn id="42" dur="500"/>
                                        <p:tgtEl>
                                          <p:spTgt spid="7">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wipe(up)">
                                      <p:cBhvr>
                                        <p:cTn id="4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Ví dụ 3:</a:t>
                </a:r>
              </a:p>
              <a:p>
                <a:r>
                  <a:rPr lang="en-US" b="1"/>
                  <a:t>a) Chứng minh rằng nếu </a:t>
                </a:r>
                <a14:m>
                  <m:oMath xmlns:m="http://schemas.openxmlformats.org/officeDocument/2006/math">
                    <m:r>
                      <a:rPr lang="en-US" b="1" i="1">
                        <a:latin typeface="Cambria Math" panose="02040503050406030204" pitchFamily="18" charset="0"/>
                      </a:rPr>
                      <m:t>𝑰</m:t>
                    </m:r>
                  </m:oMath>
                </a14:m>
                <a:r>
                  <a:rPr lang="en-US" b="1"/>
                  <a:t>là trung điểm của </a:t>
                </a:r>
                <a14:m>
                  <m:oMath xmlns:m="http://schemas.openxmlformats.org/officeDocument/2006/math">
                    <m:r>
                      <a:rPr lang="en-US" b="1" i="1">
                        <a:latin typeface="Cambria Math" panose="02040503050406030204" pitchFamily="18" charset="0"/>
                      </a:rPr>
                      <m:t>𝑨𝑩</m:t>
                    </m:r>
                  </m:oMath>
                </a14:m>
                <a:r>
                  <a:rPr lang="en-US" b="1"/>
                  <a:t>thì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𝑰𝑩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r>
                  <a:rPr lang="en-US" b="1"/>
                  <a:t>b) Chưng minh rằng nếu </a:t>
                </a:r>
                <a14:m>
                  <m:oMath xmlns:m="http://schemas.openxmlformats.org/officeDocument/2006/math">
                    <m:r>
                      <a:rPr lang="en-US" b="1" i="1">
                        <a:latin typeface="Cambria Math" panose="02040503050406030204" pitchFamily="18" charset="0"/>
                      </a:rPr>
                      <m:t>𝑮</m:t>
                    </m:r>
                  </m:oMath>
                </a14:m>
                <a:r>
                  <a:rPr lang="en-US" b="1"/>
                  <a:t>là trọng tâm của tam giác </a:t>
                </a:r>
                <a:r>
                  <a:rPr lang="en-US" b="1" i="1"/>
                  <a:t>ABC</a:t>
                </a:r>
                <a:r>
                  <a:rPr lang="en-US" b="1"/>
                  <a:t> thì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endParaRPr lang="en-US"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61"/>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en-US" b="1"/>
                  <a:t>b) (H4.16) Trọng tâm G của tam giác ABC thuộc trung tuyến AI và </a:t>
                </a:r>
                <a14:m>
                  <m:oMath xmlns:m="http://schemas.openxmlformats.org/officeDocument/2006/math">
                    <m:r>
                      <a:rPr lang="en-US" b="1" i="1">
                        <a:latin typeface="Cambria Math" panose="02040503050406030204" pitchFamily="18" charset="0"/>
                      </a:rPr>
                      <m:t>𝑮𝑨</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𝑮𝑰</m:t>
                    </m:r>
                  </m:oMath>
                </a14:m>
                <a:r>
                  <a:rPr lang="en-US" b="1"/>
                  <a:t>. Lấy điểm D đối xứng với G qua I. </a:t>
                </a:r>
              </a:p>
              <a:p>
                <a:r>
                  <a:rPr lang="en-US" b="1"/>
                  <a:t>Khi đó tứ giác </a:t>
                </a:r>
                <a14:m>
                  <m:oMath xmlns:m="http://schemas.openxmlformats.org/officeDocument/2006/math">
                    <m:r>
                      <a:rPr lang="en-US" b="1" i="1">
                        <a:latin typeface="Cambria Math" panose="02040503050406030204" pitchFamily="18" charset="0"/>
                      </a:rPr>
                      <m:t>𝑮𝑩𝑫𝑪</m:t>
                    </m:r>
                  </m:oMath>
                </a14:m>
                <a:r>
                  <a:rPr lang="en-US" b="1"/>
                  <a:t>có hai đường chéo cắt nhau tại trung điểm mỗi đường nên nó là hình bình hành.</a:t>
                </a:r>
              </a:p>
              <a:p>
                <a:r>
                  <a:rPr lang="en-US" b="1"/>
                  <a:t>Ta có </a:t>
                </a:r>
                <a14:m>
                  <m:oMath xmlns:m="http://schemas.openxmlformats.org/officeDocument/2006/math">
                    <m:r>
                      <a:rPr lang="en-US" b="1" i="1">
                        <a:latin typeface="Cambria Math" panose="02040503050406030204" pitchFamily="18" charset="0"/>
                      </a:rPr>
                      <m:t>𝑮𝑨</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𝑮𝑰</m:t>
                    </m:r>
                    <m:r>
                      <a:rPr lang="en-US" b="1" i="1">
                        <a:latin typeface="Cambria Math" panose="02040503050406030204" pitchFamily="18" charset="0"/>
                      </a:rPr>
                      <m:t>=</m:t>
                    </m:r>
                    <m:r>
                      <a:rPr lang="en-US" b="1" i="1">
                        <a:latin typeface="Cambria Math" panose="02040503050406030204" pitchFamily="18" charset="0"/>
                      </a:rPr>
                      <m:t>𝑮𝑫</m:t>
                    </m:r>
                    <m:r>
                      <a:rPr lang="en-US" b="1" i="1">
                        <a:latin typeface="Cambria Math" panose="02040503050406030204" pitchFamily="18" charset="0"/>
                      </a:rPr>
                      <m:t>.</m:t>
                    </m:r>
                  </m:oMath>
                </a14:m>
                <a:endParaRPr lang="en-US" b="1"/>
              </a:p>
              <a:p>
                <a:r>
                  <a:rPr lang="en-US" b="1"/>
                  <a:t>Hai vec 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𝑮𝑨</m:t>
                        </m:r>
                      </m:e>
                    </m:acc>
                  </m:oMath>
                </a14:m>
                <a:r>
                  <a:rPr lang="en-US" b="1"/>
                  <a:t>và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𝑮𝑫</m:t>
                        </m:r>
                      </m:e>
                    </m:acc>
                  </m:oMath>
                </a14:m>
                <a:r>
                  <a:rPr lang="en-US" b="1"/>
                  <a:t>có cùng độ dài và ngược hướng nên chúng là hai vec tơ đối nhau, do đó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r>
                  <a:rPr lang="en-US" b="1"/>
                  <a:t>Trong hình bình hành</a:t>
                </a:r>
                <a14:m>
                  <m:oMath xmlns:m="http://schemas.openxmlformats.org/officeDocument/2006/math">
                    <m:r>
                      <a:rPr lang="en-US" b="1" i="1">
                        <a:latin typeface="Cambria Math" panose="02040503050406030204" pitchFamily="18" charset="0"/>
                      </a:rPr>
                      <m:t>𝑮𝑩𝑫𝑪</m:t>
                    </m:r>
                  </m:oMath>
                </a14:m>
                <a:r>
                  <a:rPr lang="en-US" b="1"/>
                  <a:t>, ta có </a:t>
                </a:r>
                <a:endParaRPr lang="en-US" b="1" i="1"/>
              </a:p>
              <a:p>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𝑮𝑫</m:t>
                        </m:r>
                      </m:e>
                    </m:acc>
                    <m:r>
                      <a:rPr lang="en-US" b="1" i="1">
                        <a:latin typeface="Cambria Math" panose="02040503050406030204" pitchFamily="18" charset="0"/>
                      </a:rPr>
                      <m:t>.</m:t>
                    </m:r>
                  </m:oMath>
                </a14:m>
                <a:endParaRPr lang="en-US" b="1"/>
              </a:p>
              <a:p>
                <a:r>
                  <a:rPr lang="en-US" b="1"/>
                  <a:t>Vậy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𝑮𝑨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𝑮𝑪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pPr marL="0" indent="0">
                  <a:buNone/>
                </a:pPr>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r="-1233" b="-2935"/>
                </a:stretch>
              </a:blipFill>
              <a:ln>
                <a:solidFill>
                  <a:srgbClr val="00B0F0"/>
                </a:solid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60CC2AD0-681A-469F-BB2D-27F04971CDCF}"/>
              </a:ext>
            </a:extLst>
          </p:cNvPr>
          <p:cNvPicPr/>
          <p:nvPr/>
        </p:nvPicPr>
        <p:blipFill rotWithShape="1">
          <a:blip r:embed="rId5"/>
          <a:srcRect l="3389" t="2583" r="4803" b="-1"/>
          <a:stretch/>
        </p:blipFill>
        <p:spPr bwMode="auto">
          <a:xfrm>
            <a:off x="5963083" y="7648974"/>
            <a:ext cx="6000318" cy="5334000"/>
          </a:xfrm>
          <a:prstGeom prst="rect">
            <a:avLst/>
          </a:prstGeom>
          <a:ln>
            <a:noFill/>
          </a:ln>
          <a:extLst>
            <a:ext uri="{53640926-AAD7-44D8-BBD7-CCE9431645EC}">
              <a14:shadowObscured xmlns:a14="http://schemas.microsoft.com/office/drawing/2010/main"/>
            </a:ext>
          </a:extLst>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391475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wipe(up)">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wipe(up)">
                                      <p:cBhvr>
                                        <p:cTn id="42" dur="500"/>
                                        <p:tgtEl>
                                          <p:spTgt spid="7">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
                                            <p:txEl>
                                              <p:pRg st="3" end="3"/>
                                            </p:txEl>
                                          </p:spTgt>
                                        </p:tgtEl>
                                        <p:attrNameLst>
                                          <p:attrName>style.visibility</p:attrName>
                                        </p:attrNameLst>
                                      </p:cBhvr>
                                      <p:to>
                                        <p:strVal val="visible"/>
                                      </p:to>
                                    </p:set>
                                    <p:animEffect transition="in" filter="wipe(up)">
                                      <p:cBhvr>
                                        <p:cTn id="47" dur="500"/>
                                        <p:tgtEl>
                                          <p:spTgt spid="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
                                            <p:txEl>
                                              <p:pRg st="4" end="4"/>
                                            </p:txEl>
                                          </p:spTgt>
                                        </p:tgtEl>
                                        <p:attrNameLst>
                                          <p:attrName>style.visibility</p:attrName>
                                        </p:attrNameLst>
                                      </p:cBhvr>
                                      <p:to>
                                        <p:strVal val="visible"/>
                                      </p:to>
                                    </p:set>
                                    <p:animEffect transition="in" filter="wipe(up)">
                                      <p:cBhvr>
                                        <p:cTn id="52" dur="500"/>
                                        <p:tgtEl>
                                          <p:spTgt spid="7">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7">
                                            <p:txEl>
                                              <p:pRg st="5" end="5"/>
                                            </p:txEl>
                                          </p:spTgt>
                                        </p:tgtEl>
                                        <p:attrNameLst>
                                          <p:attrName>style.visibility</p:attrName>
                                        </p:attrNameLst>
                                      </p:cBhvr>
                                      <p:to>
                                        <p:strVal val="visible"/>
                                      </p:to>
                                    </p:set>
                                    <p:animEffect transition="in" filter="wipe(up)">
                                      <p:cBhvr>
                                        <p:cTn id="57" dur="500"/>
                                        <p:tgtEl>
                                          <p:spTgt spid="7">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7">
                                            <p:txEl>
                                              <p:pRg st="6" end="6"/>
                                            </p:txEl>
                                          </p:spTgt>
                                        </p:tgtEl>
                                        <p:attrNameLst>
                                          <p:attrName>style.visibility</p:attrName>
                                        </p:attrNameLst>
                                      </p:cBhvr>
                                      <p:to>
                                        <p:strVal val="visible"/>
                                      </p:to>
                                    </p:set>
                                    <p:animEffect transition="in" filter="wipe(up)">
                                      <p:cBhvr>
                                        <p:cTn id="62" dur="500"/>
                                        <p:tgtEl>
                                          <p:spTgt spid="7">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7">
                                            <p:txEl>
                                              <p:pRg st="7" end="7"/>
                                            </p:txEl>
                                          </p:spTgt>
                                        </p:tgtEl>
                                        <p:attrNameLst>
                                          <p:attrName>style.visibility</p:attrName>
                                        </p:attrNameLst>
                                      </p:cBhvr>
                                      <p:to>
                                        <p:strVal val="visible"/>
                                      </p:to>
                                    </p:set>
                                    <p:animEffect transition="in" filter="wipe(up)">
                                      <p:cBhvr>
                                        <p:cTn id="6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Luyện tập 2.</a:t>
                </a:r>
              </a:p>
              <a:p>
                <a:pPr marL="0" indent="0">
                  <a:buNone/>
                </a:pPr>
                <a:r>
                  <a:rPr lang="en-US" b="1"/>
                  <a:t>Cho tứ giác </a:t>
                </a:r>
                <a14:m>
                  <m:oMath xmlns:m="http://schemas.openxmlformats.org/officeDocument/2006/math">
                    <m:r>
                      <a:rPr lang="en-US" b="1" i="1">
                        <a:latin typeface="Cambria Math" panose="02040503050406030204" pitchFamily="18" charset="0"/>
                      </a:rPr>
                      <m:t>𝑨𝑩𝑪𝑫</m:t>
                    </m:r>
                  </m:oMath>
                </a14:m>
                <a:r>
                  <a:rPr lang="en-US" b="1"/>
                  <a:t>. Gọi </a:t>
                </a:r>
                <a14:m>
                  <m:oMath xmlns:m="http://schemas.openxmlformats.org/officeDocument/2006/math">
                    <m:r>
                      <a:rPr lang="en-US" b="1" i="1">
                        <a:latin typeface="Cambria Math" panose="02040503050406030204" pitchFamily="18" charset="0"/>
                      </a:rPr>
                      <m:t>𝑴</m:t>
                    </m:r>
                  </m:oMath>
                </a14:m>
                <a:r>
                  <a:rPr lang="en-US" b="1"/>
                  <a:t>, </a:t>
                </a:r>
                <a14:m>
                  <m:oMath xmlns:m="http://schemas.openxmlformats.org/officeDocument/2006/math">
                    <m:r>
                      <a:rPr lang="en-US" b="1" i="1">
                        <a:latin typeface="Cambria Math" panose="02040503050406030204" pitchFamily="18" charset="0"/>
                      </a:rPr>
                      <m:t>𝑵</m:t>
                    </m:r>
                  </m:oMath>
                </a14:m>
                <a:r>
                  <a:rPr lang="en-US" b="1"/>
                  <a:t>lần lượt là trung điểm của các cạnh </a:t>
                </a:r>
                <a14:m>
                  <m:oMath xmlns:m="http://schemas.openxmlformats.org/officeDocument/2006/math">
                    <m:r>
                      <a:rPr lang="en-US" b="1" i="1">
                        <a:latin typeface="Cambria Math" panose="02040503050406030204" pitchFamily="18" charset="0"/>
                      </a:rPr>
                      <m:t>𝑨𝑩</m:t>
                    </m:r>
                  </m:oMath>
                </a14:m>
                <a:r>
                  <a:rPr lang="en-US" b="1"/>
                  <a:t>,</a:t>
                </a:r>
                <a14:m>
                  <m:oMath xmlns:m="http://schemas.openxmlformats.org/officeDocument/2006/math">
                    <m:r>
                      <a:rPr lang="en-US" b="1" i="1">
                        <a:latin typeface="Cambria Math" panose="02040503050406030204" pitchFamily="18" charset="0"/>
                      </a:rPr>
                      <m:t>𝑪𝑫</m:t>
                    </m:r>
                  </m:oMath>
                </a14:m>
                <a:r>
                  <a:rPr lang="en-US" b="1"/>
                  <a:t> và O là trung điểm của </a:t>
                </a:r>
                <a14:m>
                  <m:oMath xmlns:m="http://schemas.openxmlformats.org/officeDocument/2006/math">
                    <m:r>
                      <a:rPr lang="en-US" b="1" i="1">
                        <a:latin typeface="Cambria Math" panose="02040503050406030204" pitchFamily="18" charset="0"/>
                      </a:rPr>
                      <m:t>𝑴𝑵</m:t>
                    </m:r>
                  </m:oMath>
                </a14:m>
                <a:r>
                  <a:rPr lang="en-US" b="1"/>
                  <a:t>. Chứng minh rằng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pPr marL="0" indent="0">
                  <a:buNone/>
                </a:pPr>
                <a:endParaRPr lang="en-US" b="1"/>
              </a:p>
              <a:p>
                <a:endParaRPr lang="en-US"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61"/>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r>
                  <a:rPr lang="en-US" b="1"/>
                  <a:t>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𝑶𝑫</m:t>
                        </m:r>
                      </m:e>
                    </m:acc>
                  </m:oMath>
                </a14:m>
                <a:endParaRPr lang="en-US" b="1" i="1"/>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𝑶𝑵</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𝑶𝑵</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𝑵𝑫</m:t>
                          </m:r>
                        </m:e>
                      </m:acc>
                    </m:oMath>
                  </m:oMathPara>
                </a14:m>
                <a:endParaRPr lang="en-US" b="1"/>
              </a:p>
              <a:p>
                <a:pPr marL="0" indent="0">
                  <a:buNone/>
                </a:pPr>
                <a:r>
                  <a:rPr lang="en-US" b="1"/>
                  <a:t> </a:t>
                </a:r>
                <a14:m>
                  <m:oMath xmlns:m="http://schemas.openxmlformats.org/officeDocument/2006/math">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𝑶𝑴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𝑶𝑵</m:t>
                            </m:r>
                          </m:e>
                        </m:acc>
                      </m:e>
                    </m:d>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𝑴𝑨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𝑴𝑩</m:t>
                            </m:r>
                          </m:e>
                        </m:acc>
                      </m:e>
                    </m:d>
                  </m:oMath>
                </a14:m>
                <a:endParaRPr lang="en-US" b="1" i="1"/>
              </a:p>
              <a:p>
                <a:pPr marL="0" indent="0">
                  <a:buNone/>
                </a:pPr>
                <a14:m>
                  <m:oMath xmlns:m="http://schemas.openxmlformats.org/officeDocument/2006/math">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𝑶𝑴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𝑶𝑵</m:t>
                            </m:r>
                          </m:e>
                        </m:acc>
                      </m:e>
                    </m:d>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𝑵𝑪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𝑵𝑫</m:t>
                            </m:r>
                          </m:e>
                        </m:acc>
                      </m:e>
                    </m:d>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r>
                  <a:rPr lang="en-US" b="1"/>
                  <a:t> </a:t>
                </a:r>
              </a:p>
              <a:p>
                <a:pPr marL="0" indent="0">
                  <a:buNone/>
                </a:pPr>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020206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up)">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wipe(up)">
                                      <p:cBhvr>
                                        <p:cTn id="28" dur="500"/>
                                        <p:tgtEl>
                                          <p:spTgt spid="7">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wipe(up)">
                                      <p:cBhvr>
                                        <p:cTn id="33" dur="500"/>
                                        <p:tgtEl>
                                          <p:spTgt spid="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7">
                                            <p:txEl>
                                              <p:pRg st="3" end="3"/>
                                            </p:txEl>
                                          </p:spTgt>
                                        </p:tgtEl>
                                        <p:attrNameLst>
                                          <p:attrName>style.visibility</p:attrName>
                                        </p:attrNameLst>
                                      </p:cBhvr>
                                      <p:to>
                                        <p:strVal val="visible"/>
                                      </p:to>
                                    </p:set>
                                    <p:animEffect transition="in" filter="wipe(up)">
                                      <p:cBhvr>
                                        <p:cTn id="38" dur="500"/>
                                        <p:tgtEl>
                                          <p:spTgt spid="7">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7">
                                            <p:txEl>
                                              <p:pRg st="4" end="4"/>
                                            </p:txEl>
                                          </p:spTgt>
                                        </p:tgtEl>
                                        <p:attrNameLst>
                                          <p:attrName>style.visibility</p:attrName>
                                        </p:attrNameLst>
                                      </p:cBhvr>
                                      <p:to>
                                        <p:strVal val="visible"/>
                                      </p:to>
                                    </p:set>
                                    <p:animEffect transition="in" filter="wipe(up)">
                                      <p:cBhvr>
                                        <p:cTn id="43"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609600" y="1676400"/>
            <a:ext cx="23164800" cy="1854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a:solidFill>
                  <a:srgbClr val="FF0000"/>
                </a:solidFill>
              </a:rPr>
              <a:t>Chú ý: </a:t>
            </a:r>
          </a:p>
          <a:p>
            <a:r>
              <a:rPr lang="en-US" b="1"/>
              <a:t>Phép cộng vec tơ tương ứng với các quy tắc tổng hợp lực, tổng hợp vận tốc.</a:t>
            </a: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08709" y="4191000"/>
                <a:ext cx="11783291" cy="93122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lvl="0"/>
                <a:r>
                  <a:rPr lang="en-US" b="1"/>
                  <a:t>Nếu hai lực cùng tác động vào chất điểm </a:t>
                </a:r>
                <a14:m>
                  <m:oMath xmlns:m="http://schemas.openxmlformats.org/officeDocument/2006/math">
                    <m:r>
                      <a:rPr lang="en-US" b="1" i="1">
                        <a:latin typeface="Cambria Math" panose="02040503050406030204" pitchFamily="18" charset="0"/>
                      </a:rPr>
                      <m:t>𝑨</m:t>
                    </m:r>
                  </m:oMath>
                </a14:m>
                <a:r>
                  <a:rPr lang="en-US" b="1"/>
                  <a:t>và được biểu diễn bởi các vec tơ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𝟏</m:t>
                            </m:r>
                          </m:sub>
                        </m:sSub>
                      </m:e>
                    </m:acc>
                  </m:oMath>
                </a14:m>
                <a:r>
                  <a:rPr lang="en-US" b="1"/>
                  <a:t>,</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𝟐</m:t>
                            </m:r>
                          </m:sub>
                        </m:sSub>
                      </m:e>
                    </m:acc>
                  </m:oMath>
                </a14:m>
                <a:r>
                  <a:rPr lang="en-US" b="1"/>
                  <a:t> thì hợp lực tác dộng vào </a:t>
                </a:r>
                <a14:m>
                  <m:oMath xmlns:m="http://schemas.openxmlformats.org/officeDocument/2006/math">
                    <m:r>
                      <a:rPr lang="en-US" b="1" i="1">
                        <a:latin typeface="Cambria Math" panose="02040503050406030204" pitchFamily="18" charset="0"/>
                      </a:rPr>
                      <m:t>𝑨</m:t>
                    </m:r>
                  </m:oMath>
                </a14:m>
                <a:r>
                  <a:rPr lang="en-US" b="1"/>
                  <a:t>được biễu diễn bởi vec tơ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𝟏</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𝟐</m:t>
                            </m:r>
                          </m:sub>
                        </m:sSub>
                      </m:e>
                    </m:acc>
                  </m:oMath>
                </a14:m>
                <a:r>
                  <a:rPr lang="en-US" b="1"/>
                  <a:t>.</a:t>
                </a:r>
              </a:p>
              <a:p>
                <a:r>
                  <a:rPr lang="en-US" b="1"/>
                  <a:t>Nếu một con thuyền di chuyển trên sông với vận tốc riêng( vận tốc so với dòng nước) được biễu diễn bởi vec tơ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𝒓</m:t>
                            </m:r>
                          </m:sub>
                        </m:sSub>
                      </m:e>
                    </m:acc>
                  </m:oMath>
                </a14:m>
                <a:r>
                  <a:rPr lang="en-US" b="1"/>
                  <a:t> và vận tốc của dòng nước( so với bờ) biễu diễn bởi vec tơ</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𝒏</m:t>
                            </m:r>
                          </m:sub>
                        </m:sSub>
                      </m:e>
                    </m:acc>
                  </m:oMath>
                </a14:m>
                <a:r>
                  <a:rPr lang="en-US" b="1"/>
                  <a:t> thì vận tốc thực tế của thuyền (so với bờ) được biểu diễn bởi vec tơ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𝒓</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𝒏</m:t>
                            </m:r>
                          </m:sub>
                        </m:sSub>
                      </m:e>
                    </m:acc>
                  </m:oMath>
                </a14:m>
                <a:r>
                  <a:rPr lang="en-US" b="1"/>
                  <a:t>.</a:t>
                </a: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408709" y="4191000"/>
                <a:ext cx="11783291" cy="9312276"/>
              </a:xfrm>
              <a:prstGeom prst="rect">
                <a:avLst/>
              </a:prstGeom>
              <a:blipFill>
                <a:blip r:embed="rId3"/>
                <a:stretch>
                  <a:fillRect l="-2067" t="-2158" r="-3204"/>
                </a:stretch>
              </a:blipFill>
              <a:ln>
                <a:solidFill>
                  <a:srgbClr val="00B0F0"/>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4191000"/>
            <a:ext cx="11630891" cy="92281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lvl="4"/>
            <a:endParaRPr lang="en-US" dirty="0"/>
          </a:p>
        </p:txBody>
      </p:sp>
      <p:pic>
        <p:nvPicPr>
          <p:cNvPr id="10" name="Picture 9">
            <a:extLst>
              <a:ext uri="{FF2B5EF4-FFF2-40B4-BE49-F238E27FC236}">
                <a16:creationId xmlns:a16="http://schemas.microsoft.com/office/drawing/2014/main" id="{57FB86C9-E70E-4E7B-ADAC-2DD8FD776F33}"/>
              </a:ext>
            </a:extLst>
          </p:cNvPr>
          <p:cNvPicPr/>
          <p:nvPr/>
        </p:nvPicPr>
        <p:blipFill>
          <a:blip r:embed="rId4"/>
          <a:stretch>
            <a:fillRect/>
          </a:stretch>
        </p:blipFill>
        <p:spPr>
          <a:xfrm>
            <a:off x="12510655" y="4275136"/>
            <a:ext cx="11430000" cy="9144004"/>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148749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up)">
                                      <p:cBhvr>
                                        <p:cTn id="22" dur="500"/>
                                        <p:tgtEl>
                                          <p:spTgt spid="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nodePh="1">
                                  <p:stCondLst>
                                    <p:cond delay="0"/>
                                  </p:stCondLst>
                                  <p:endCondLst>
                                    <p:cond evt="begin" delay="0">
                                      <p:tn val="30"/>
                                    </p:cond>
                                  </p:end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up)">
                                      <p:cBhvr>
                                        <p:cTn id="32" dur="500"/>
                                        <p:tgtEl>
                                          <p:spTgt spid="7">
                                            <p:txEl>
                                              <p:pRg st="0" end="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Ví dụ 4:</a:t>
                </a:r>
              </a:p>
              <a:p>
                <a:pPr marL="0" indent="0">
                  <a:buNone/>
                </a:pPr>
                <a:r>
                  <a:rPr lang="en-US" b="1"/>
                  <a:t>Cho tứ giác </a:t>
                </a:r>
                <a14:m>
                  <m:oMath xmlns:m="http://schemas.openxmlformats.org/officeDocument/2006/math">
                    <m:r>
                      <a:rPr lang="en-US" b="1" i="1">
                        <a:latin typeface="Cambria Math" panose="02040503050406030204" pitchFamily="18" charset="0"/>
                      </a:rPr>
                      <m:t>𝑨𝑩𝑪𝑫</m:t>
                    </m:r>
                  </m:oMath>
                </a14:m>
                <a:r>
                  <a:rPr lang="en-US" b="1"/>
                  <a:t>. Gọi </a:t>
                </a:r>
                <a14:m>
                  <m:oMath xmlns:m="http://schemas.openxmlformats.org/officeDocument/2006/math">
                    <m:r>
                      <a:rPr lang="en-US" b="1" i="1">
                        <a:latin typeface="Cambria Math" panose="02040503050406030204" pitchFamily="18" charset="0"/>
                      </a:rPr>
                      <m:t>𝑴</m:t>
                    </m:r>
                  </m:oMath>
                </a14:m>
                <a:r>
                  <a:rPr lang="en-US" b="1"/>
                  <a:t>, </a:t>
                </a:r>
                <a14:m>
                  <m:oMath xmlns:m="http://schemas.openxmlformats.org/officeDocument/2006/math">
                    <m:r>
                      <a:rPr lang="en-US" b="1" i="1">
                        <a:latin typeface="Cambria Math" panose="02040503050406030204" pitchFamily="18" charset="0"/>
                      </a:rPr>
                      <m:t>𝑵</m:t>
                    </m:r>
                  </m:oMath>
                </a14:m>
                <a:r>
                  <a:rPr lang="en-US" b="1"/>
                  <a:t>lần lượt là trung điểm của các cạnh </a:t>
                </a:r>
                <a14:m>
                  <m:oMath xmlns:m="http://schemas.openxmlformats.org/officeDocument/2006/math">
                    <m:r>
                      <a:rPr lang="en-US" b="1" i="1">
                        <a:latin typeface="Cambria Math" panose="02040503050406030204" pitchFamily="18" charset="0"/>
                      </a:rPr>
                      <m:t>𝑨𝑩</m:t>
                    </m:r>
                  </m:oMath>
                </a14:m>
                <a:r>
                  <a:rPr lang="en-US" b="1"/>
                  <a:t>,</a:t>
                </a:r>
                <a14:m>
                  <m:oMath xmlns:m="http://schemas.openxmlformats.org/officeDocument/2006/math">
                    <m:r>
                      <a:rPr lang="en-US" b="1" i="1">
                        <a:latin typeface="Cambria Math" panose="02040503050406030204" pitchFamily="18" charset="0"/>
                      </a:rPr>
                      <m:t>𝑪𝑫</m:t>
                    </m:r>
                  </m:oMath>
                </a14:m>
                <a:r>
                  <a:rPr lang="en-US" b="1"/>
                  <a:t> và O là trung điểm của </a:t>
                </a:r>
                <a14:m>
                  <m:oMath xmlns:m="http://schemas.openxmlformats.org/officeDocument/2006/math">
                    <m:r>
                      <a:rPr lang="en-US" b="1" i="1">
                        <a:latin typeface="Cambria Math" panose="02040503050406030204" pitchFamily="18" charset="0"/>
                      </a:rPr>
                      <m:t>𝑴𝑵</m:t>
                    </m:r>
                  </m:oMath>
                </a14:m>
                <a:r>
                  <a:rPr lang="en-US" b="1"/>
                  <a:t>. Chứng minh rằng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pPr marL="0" indent="0">
                  <a:buNone/>
                </a:pPr>
                <a:endParaRPr lang="en-US" b="1"/>
              </a:p>
              <a:p>
                <a:endParaRPr lang="en-US"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61"/>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400" b="1">
                    <a:solidFill>
                      <a:srgbClr val="FF0000"/>
                    </a:solidFill>
                  </a:rPr>
                  <a:t>Lời giải</a:t>
                </a:r>
              </a:p>
              <a:p>
                <a:pPr marL="0" indent="0">
                  <a:buNone/>
                </a:pPr>
                <a:r>
                  <a:rPr lang="en-US" sz="4400" b="1"/>
                  <a:t>Ta biểu thị hai bờ sông là hai đường thẳng song song</a:t>
                </a:r>
                <a14:m>
                  <m:oMath xmlns:m="http://schemas.openxmlformats.org/officeDocument/2006/math">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𝟏</m:t>
                        </m:r>
                      </m:sub>
                    </m:sSub>
                  </m:oMath>
                </a14:m>
                <a:r>
                  <a:rPr lang="en-US" sz="4400" b="1"/>
                  <a:t>, </a:t>
                </a:r>
                <a14:m>
                  <m:oMath xmlns:m="http://schemas.openxmlformats.org/officeDocument/2006/math">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𝟐</m:t>
                        </m:r>
                      </m:sub>
                    </m:sSub>
                  </m:oMath>
                </a14:m>
                <a:r>
                  <a:rPr lang="en-US" sz="4400" b="1"/>
                  <a:t> (H4.17) </a:t>
                </a:r>
              </a:p>
              <a:p>
                <a:pPr marL="0" indent="0">
                  <a:buNone/>
                </a:pPr>
                <a:r>
                  <a:rPr lang="en-US" sz="4400" b="1"/>
                  <a:t>Giả sử tàu xuất phát từ </a:t>
                </a:r>
                <a14:m>
                  <m:oMath xmlns:m="http://schemas.openxmlformats.org/officeDocument/2006/math">
                    <m:r>
                      <a:rPr lang="en-US" sz="4400" b="1" i="1">
                        <a:latin typeface="Cambria Math" panose="02040503050406030204" pitchFamily="18" charset="0"/>
                      </a:rPr>
                      <m:t>𝑨</m:t>
                    </m:r>
                    <m:r>
                      <a:rPr lang="en-US" sz="4400" b="1" i="1">
                        <a:latin typeface="Cambria Math" panose="02040503050406030204" pitchFamily="18" charset="0"/>
                      </a:rPr>
                      <m:t>∈</m:t>
                    </m:r>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𝟏</m:t>
                        </m:r>
                      </m:sub>
                    </m:sSub>
                  </m:oMath>
                </a14:m>
                <a:r>
                  <a:rPr lang="en-US" sz="4400" b="1"/>
                  <a:t> và bánh lái , luôn được giữ để tàu tạo với bờ góc </a:t>
                </a:r>
                <a14:m>
                  <m:oMath xmlns:m="http://schemas.openxmlformats.org/officeDocument/2006/math">
                    <m:r>
                      <a:rPr lang="en-US" sz="4400" b="1" i="1">
                        <a:latin typeface="Cambria Math" panose="02040503050406030204" pitchFamily="18" charset="0"/>
                      </a:rPr>
                      <m:t>𝜶</m:t>
                    </m:r>
                  </m:oMath>
                </a14:m>
                <a:r>
                  <a:rPr lang="en-US" sz="4400" b="1"/>
                  <a:t>. Gọi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𝒓</m:t>
                            </m:r>
                          </m:sub>
                        </m:sSub>
                      </m:e>
                    </m:acc>
                  </m:oMath>
                </a14:m>
                <a:r>
                  <a:rPr lang="en-US" sz="4400" b="1"/>
                  <a:t> và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𝒏</m:t>
                            </m:r>
                          </m:sub>
                        </m:sSub>
                      </m:e>
                    </m:acc>
                  </m:oMath>
                </a14:m>
                <a:r>
                  <a:rPr lang="en-US" sz="4400" b="1"/>
                  <a:t>lần lượt là vec tơ vận tốc riêng của tàu và vận tốc dòng nước. Gọi </a:t>
                </a:r>
                <a14:m>
                  <m:oMath xmlns:m="http://schemas.openxmlformats.org/officeDocument/2006/math">
                    <m:r>
                      <a:rPr lang="en-US" sz="4400" b="1" i="1">
                        <a:latin typeface="Cambria Math" panose="02040503050406030204" pitchFamily="18" charset="0"/>
                      </a:rPr>
                      <m:t>𝑴</m:t>
                    </m:r>
                    <m:r>
                      <a:rPr lang="en-US" sz="4400" b="1" i="1">
                        <a:latin typeface="Cambria Math" panose="02040503050406030204" pitchFamily="18" charset="0"/>
                      </a:rPr>
                      <m:t>,</m:t>
                    </m:r>
                    <m:r>
                      <a:rPr lang="en-US" sz="4400" b="1" i="1">
                        <a:latin typeface="Cambria Math" panose="02040503050406030204" pitchFamily="18" charset="0"/>
                      </a:rPr>
                      <m:t>𝑵</m:t>
                    </m:r>
                  </m:oMath>
                </a14:m>
                <a:r>
                  <a:rPr lang="en-US" sz="4400" b="1"/>
                  <a:t>là các điểm sao cho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𝒓</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𝑨𝑴</m:t>
                        </m:r>
                      </m:e>
                    </m:acc>
                  </m:oMath>
                </a14:m>
                <a:r>
                  <a:rPr lang="en-US" sz="4400" b="1"/>
                  <a:t> và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𝒏</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oMath>
                </a14:m>
                <a:r>
                  <a:rPr lang="en-US" sz="4400" b="1"/>
                  <a:t>.</a:t>
                </a:r>
              </a:p>
              <a:p>
                <a:r>
                  <a:rPr lang="en-US" sz="4400" b="1"/>
                  <a:t>Khi đó tàu chuyển chuyển động với vec tơ vận tốc thực tế là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𝒓</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𝒏</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𝑨𝑴</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𝑨𝑵</m:t>
                        </m:r>
                      </m:e>
                    </m:acc>
                  </m:oMath>
                </a14:m>
                <a:endParaRPr lang="en-US" sz="4400" b="1"/>
              </a:p>
              <a:p>
                <a:r>
                  <a:rPr lang="en-US" sz="4400" b="1"/>
                  <a:t>Gọi </a:t>
                </a:r>
                <a14:m>
                  <m:oMath xmlns:m="http://schemas.openxmlformats.org/officeDocument/2006/math">
                    <m:r>
                      <a:rPr lang="en-US" sz="4400" b="1" i="1">
                        <a:latin typeface="Cambria Math" panose="02040503050406030204" pitchFamily="18" charset="0"/>
                      </a:rPr>
                      <m:t>𝑩</m:t>
                    </m:r>
                    <m:r>
                      <a:rPr lang="en-US" sz="4400" b="1" i="1">
                        <a:latin typeface="Cambria Math" panose="02040503050406030204" pitchFamily="18" charset="0"/>
                      </a:rPr>
                      <m:t>,</m:t>
                    </m:r>
                    <m:r>
                      <a:rPr lang="en-US" sz="4400" b="1" i="1">
                        <a:latin typeface="Cambria Math" panose="02040503050406030204" pitchFamily="18" charset="0"/>
                      </a:rPr>
                      <m:t>𝑪</m:t>
                    </m:r>
                  </m:oMath>
                </a14:m>
                <a:r>
                  <a:rPr lang="en-US" sz="4400" b="1"/>
                  <a:t>tương ứng là giao điểm của </a:t>
                </a:r>
                <a14:m>
                  <m:oMath xmlns:m="http://schemas.openxmlformats.org/officeDocument/2006/math">
                    <m:r>
                      <a:rPr lang="en-US" sz="4400" b="1" i="1">
                        <a:latin typeface="Cambria Math" panose="02040503050406030204" pitchFamily="18" charset="0"/>
                      </a:rPr>
                      <m:t>𝑨𝑵</m:t>
                    </m:r>
                    <m:r>
                      <a:rPr lang="en-US" sz="4400" b="1" i="1">
                        <a:latin typeface="Cambria Math" panose="02040503050406030204" pitchFamily="18" charset="0"/>
                      </a:rPr>
                      <m:t>,</m:t>
                    </m:r>
                    <m:r>
                      <a:rPr lang="en-US" sz="4400" b="1" i="1">
                        <a:latin typeface="Cambria Math" panose="02040503050406030204" pitchFamily="18" charset="0"/>
                      </a:rPr>
                      <m:t>𝑨𝑴</m:t>
                    </m:r>
                  </m:oMath>
                </a14:m>
                <a:r>
                  <a:rPr lang="en-US" sz="4400" b="1"/>
                  <a:t>với </a:t>
                </a:r>
                <a14:m>
                  <m:oMath xmlns:m="http://schemas.openxmlformats.org/officeDocument/2006/math">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𝟐</m:t>
                        </m:r>
                      </m:sub>
                    </m:sSub>
                  </m:oMath>
                </a14:m>
                <a:r>
                  <a:rPr lang="en-US" sz="4400" b="1"/>
                  <a:t>. Tàu chuyền động thẳng từ </a:t>
                </a:r>
                <a14:m>
                  <m:oMath xmlns:m="http://schemas.openxmlformats.org/officeDocument/2006/math">
                    <m:r>
                      <a:rPr lang="en-US" sz="4400" b="1" i="1">
                        <a:latin typeface="Cambria Math" panose="02040503050406030204" pitchFamily="18" charset="0"/>
                      </a:rPr>
                      <m:t>𝑨</m:t>
                    </m:r>
                  </m:oMath>
                </a14:m>
                <a:r>
                  <a:rPr lang="en-US" sz="4400" b="1"/>
                  <a:t>đến </a:t>
                </a:r>
                <a14:m>
                  <m:oMath xmlns:m="http://schemas.openxmlformats.org/officeDocument/2006/math">
                    <m:r>
                      <a:rPr lang="en-US" sz="4400" b="1" i="1">
                        <a:latin typeface="Cambria Math" panose="02040503050406030204" pitchFamily="18" charset="0"/>
                      </a:rPr>
                      <m:t>𝑩</m:t>
                    </m:r>
                  </m:oMath>
                </a14:m>
                <a:r>
                  <a:rPr lang="en-US" sz="4400" b="1"/>
                  <a:t>với vận tốc thực tế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𝑨𝑵</m:t>
                        </m:r>
                      </m:e>
                    </m:acc>
                  </m:oMath>
                </a14:m>
                <a:r>
                  <a:rPr lang="en-US" sz="4400" b="1"/>
                  <a:t>, do đó thời gian cần thiết kế để tàu sang được bờ </a:t>
                </a:r>
                <a14:m>
                  <m:oMath xmlns:m="http://schemas.openxmlformats.org/officeDocument/2006/math">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𝟐</m:t>
                        </m:r>
                      </m:sub>
                    </m:sSub>
                  </m:oMath>
                </a14:m>
                <a:r>
                  <a:rPr lang="en-US" sz="4400" b="1"/>
                  <a:t>là </a:t>
                </a:r>
                <a14:m>
                  <m:oMath xmlns:m="http://schemas.openxmlformats.org/officeDocument/2006/math">
                    <m:f>
                      <m:fPr>
                        <m:ctrlPr>
                          <a:rPr lang="en-US" sz="4400" b="1" i="1">
                            <a:latin typeface="Cambria Math" panose="02040503050406030204" pitchFamily="18" charset="0"/>
                          </a:rPr>
                        </m:ctrlPr>
                      </m:fPr>
                      <m:num>
                        <m:r>
                          <a:rPr lang="en-US" sz="4400" b="1" i="1">
                            <a:latin typeface="Cambria Math" panose="02040503050406030204" pitchFamily="18" charset="0"/>
                          </a:rPr>
                          <m:t>𝑨𝑩</m:t>
                        </m:r>
                      </m:num>
                      <m:den>
                        <m:r>
                          <a:rPr lang="en-US" sz="4400" b="1" i="1">
                            <a:latin typeface="Cambria Math" panose="02040503050406030204" pitchFamily="18" charset="0"/>
                          </a:rPr>
                          <m:t>𝑨𝑵</m:t>
                        </m:r>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𝑨𝑪</m:t>
                        </m:r>
                      </m:num>
                      <m:den>
                        <m:r>
                          <a:rPr lang="en-US" sz="4400" b="1" i="1">
                            <a:latin typeface="Cambria Math" panose="02040503050406030204" pitchFamily="18" charset="0"/>
                          </a:rPr>
                          <m:t>𝑨𝑴</m:t>
                        </m:r>
                      </m:den>
                    </m:f>
                    <m:r>
                      <a:rPr lang="en-US" sz="4400" b="1" i="1">
                        <a:latin typeface="Cambria Math" panose="02040503050406030204" pitchFamily="18" charset="0"/>
                      </a:rPr>
                      <m:t>.</m:t>
                    </m:r>
                  </m:oMath>
                </a14:m>
                <a:endParaRPr lang="en-US" sz="4400" b="1"/>
              </a:p>
              <a:p>
                <a:pPr marL="0" indent="0">
                  <a:buNone/>
                </a:pPr>
                <a:endParaRPr lang="en-US" sz="4400" b="1"/>
              </a:p>
              <a:p>
                <a:pPr marL="0" indent="0">
                  <a:buNone/>
                </a:pPr>
                <a:endParaRPr lang="en-US" sz="4400" b="1"/>
              </a:p>
              <a:p>
                <a:pPr marL="0" indent="0">
                  <a:buNone/>
                </a:pPr>
                <a:endParaRPr lang="en-US" sz="4400"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003" t="-1601" r="-2773"/>
                </a:stretch>
              </a:blipFill>
              <a:ln>
                <a:solidFill>
                  <a:srgbClr val="00B0F0"/>
                </a:solidFill>
              </a:ln>
            </p:spPr>
            <p:txBody>
              <a:bodyPr/>
              <a:lstStyle/>
              <a:p>
                <a:r>
                  <a:rPr lang="en-US">
                    <a:noFill/>
                  </a:rPr>
                  <a:t> </a:t>
                </a:r>
              </a:p>
            </p:txBody>
          </p:sp>
        </mc:Fallback>
      </mc:AlternateContent>
      <p:pic>
        <p:nvPicPr>
          <p:cNvPr id="11" name="Picture 10">
            <a:extLst>
              <a:ext uri="{FF2B5EF4-FFF2-40B4-BE49-F238E27FC236}">
                <a16:creationId xmlns:a16="http://schemas.microsoft.com/office/drawing/2014/main" id="{7349D8DC-3F8E-4DEC-87A8-B829F3962B66}"/>
              </a:ext>
            </a:extLst>
          </p:cNvPr>
          <p:cNvPicPr/>
          <p:nvPr/>
        </p:nvPicPr>
        <p:blipFill>
          <a:blip r:embed="rId5"/>
          <a:stretch>
            <a:fillRect/>
          </a:stretch>
        </p:blipFill>
        <p:spPr>
          <a:xfrm>
            <a:off x="3962400" y="6172200"/>
            <a:ext cx="7162799" cy="60960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634836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up)">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wipe(up)">
                                      <p:cBhvr>
                                        <p:cTn id="28" dur="500"/>
                                        <p:tgtEl>
                                          <p:spTgt spid="7">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up)">
                                      <p:cBhvr>
                                        <p:cTn id="36" dur="500"/>
                                        <p:tgtEl>
                                          <p:spTgt spid="7">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Effect transition="in" filter="wipe(up)">
                                      <p:cBhvr>
                                        <p:cTn id="41" dur="500"/>
                                        <p:tgtEl>
                                          <p:spTgt spid="7">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4" end="4"/>
                                            </p:txEl>
                                          </p:spTgt>
                                        </p:tgtEl>
                                        <p:attrNameLst>
                                          <p:attrName>style.visibility</p:attrName>
                                        </p:attrNameLst>
                                      </p:cBhvr>
                                      <p:to>
                                        <p:strVal val="visible"/>
                                      </p:to>
                                    </p:set>
                                    <p:animEffect transition="in" filter="wipe(up)">
                                      <p:cBhvr>
                                        <p:cTn id="4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Ví dụ 4:</a:t>
                </a:r>
              </a:p>
              <a:p>
                <a:pPr marL="0" indent="0">
                  <a:buNone/>
                </a:pPr>
                <a:r>
                  <a:rPr lang="en-US" b="1"/>
                  <a:t>Cho tứ giác </a:t>
                </a:r>
                <a14:m>
                  <m:oMath xmlns:m="http://schemas.openxmlformats.org/officeDocument/2006/math">
                    <m:r>
                      <a:rPr lang="en-US" b="1" i="1">
                        <a:latin typeface="Cambria Math" panose="02040503050406030204" pitchFamily="18" charset="0"/>
                      </a:rPr>
                      <m:t>𝑨𝑩𝑪𝑫</m:t>
                    </m:r>
                  </m:oMath>
                </a14:m>
                <a:r>
                  <a:rPr lang="en-US" b="1"/>
                  <a:t>. Gọi </a:t>
                </a:r>
                <a14:m>
                  <m:oMath xmlns:m="http://schemas.openxmlformats.org/officeDocument/2006/math">
                    <m:r>
                      <a:rPr lang="en-US" b="1" i="1">
                        <a:latin typeface="Cambria Math" panose="02040503050406030204" pitchFamily="18" charset="0"/>
                      </a:rPr>
                      <m:t>𝑴</m:t>
                    </m:r>
                  </m:oMath>
                </a14:m>
                <a:r>
                  <a:rPr lang="en-US" b="1"/>
                  <a:t>, </a:t>
                </a:r>
                <a14:m>
                  <m:oMath xmlns:m="http://schemas.openxmlformats.org/officeDocument/2006/math">
                    <m:r>
                      <a:rPr lang="en-US" b="1" i="1">
                        <a:latin typeface="Cambria Math" panose="02040503050406030204" pitchFamily="18" charset="0"/>
                      </a:rPr>
                      <m:t>𝑵</m:t>
                    </m:r>
                  </m:oMath>
                </a14:m>
                <a:r>
                  <a:rPr lang="en-US" b="1"/>
                  <a:t>lần lượt là trung điểm của các cạnh </a:t>
                </a:r>
                <a14:m>
                  <m:oMath xmlns:m="http://schemas.openxmlformats.org/officeDocument/2006/math">
                    <m:r>
                      <a:rPr lang="en-US" b="1" i="1">
                        <a:latin typeface="Cambria Math" panose="02040503050406030204" pitchFamily="18" charset="0"/>
                      </a:rPr>
                      <m:t>𝑨𝑩</m:t>
                    </m:r>
                  </m:oMath>
                </a14:m>
                <a:r>
                  <a:rPr lang="en-US" b="1"/>
                  <a:t>,</a:t>
                </a:r>
                <a14:m>
                  <m:oMath xmlns:m="http://schemas.openxmlformats.org/officeDocument/2006/math">
                    <m:r>
                      <a:rPr lang="en-US" b="1" i="1">
                        <a:latin typeface="Cambria Math" panose="02040503050406030204" pitchFamily="18" charset="0"/>
                      </a:rPr>
                      <m:t>𝑪𝑫</m:t>
                    </m:r>
                  </m:oMath>
                </a14:m>
                <a:r>
                  <a:rPr lang="en-US" b="1"/>
                  <a:t> và O là trung điểm của </a:t>
                </a:r>
                <a14:m>
                  <m:oMath xmlns:m="http://schemas.openxmlformats.org/officeDocument/2006/math">
                    <m:r>
                      <a:rPr lang="en-US" b="1" i="1">
                        <a:latin typeface="Cambria Math" panose="02040503050406030204" pitchFamily="18" charset="0"/>
                      </a:rPr>
                      <m:t>𝑴𝑵</m:t>
                    </m:r>
                  </m:oMath>
                </a14:m>
                <a:r>
                  <a:rPr lang="en-US" b="1"/>
                  <a:t>. Chứng minh rằng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endParaRPr lang="en-US" b="1"/>
              </a:p>
              <a:p>
                <a:pPr marL="0" indent="0">
                  <a:buNone/>
                </a:pPr>
                <a:endParaRPr lang="en-US" b="1"/>
              </a:p>
              <a:p>
                <a:endParaRPr lang="en-US"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61"/>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sz="4400" b="1"/>
                  <a:t>Mặt khác </a:t>
                </a:r>
                <a14:m>
                  <m:oMath xmlns:m="http://schemas.openxmlformats.org/officeDocument/2006/math">
                    <m:r>
                      <a:rPr lang="en-US" sz="4400" b="1" i="1">
                        <a:latin typeface="Cambria Math" panose="02040503050406030204" pitchFamily="18" charset="0"/>
                      </a:rPr>
                      <m:t>𝑨𝑴</m:t>
                    </m:r>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𝒓</m:t>
                                </m:r>
                              </m:sub>
                            </m:sSub>
                          </m:e>
                        </m:acc>
                      </m:e>
                    </m:d>
                  </m:oMath>
                </a14:m>
                <a:r>
                  <a:rPr lang="en-US" sz="4400" b="1"/>
                  <a:t> không đổi nên </a:t>
                </a:r>
                <a14:m>
                  <m:oMath xmlns:m="http://schemas.openxmlformats.org/officeDocument/2006/math">
                    <m:f>
                      <m:fPr>
                        <m:ctrlPr>
                          <a:rPr lang="en-US" sz="4400" b="1" i="1">
                            <a:latin typeface="Cambria Math" panose="02040503050406030204" pitchFamily="18" charset="0"/>
                          </a:rPr>
                        </m:ctrlPr>
                      </m:fPr>
                      <m:num>
                        <m:r>
                          <a:rPr lang="en-US" sz="4400" b="1" i="1">
                            <a:latin typeface="Cambria Math" panose="02040503050406030204" pitchFamily="18" charset="0"/>
                          </a:rPr>
                          <m:t>𝑨𝑪</m:t>
                        </m:r>
                      </m:num>
                      <m:den>
                        <m:r>
                          <a:rPr lang="en-US" sz="4400" b="1" i="1">
                            <a:latin typeface="Cambria Math" panose="02040503050406030204" pitchFamily="18" charset="0"/>
                          </a:rPr>
                          <m:t>𝑨𝑴</m:t>
                        </m:r>
                      </m:den>
                    </m:f>
                  </m:oMath>
                </a14:m>
                <a:r>
                  <a:rPr lang="en-US" sz="4400" b="1"/>
                  <a:t> nhỏ nhất </a:t>
                </a:r>
                <a14:m>
                  <m:oMath xmlns:m="http://schemas.openxmlformats.org/officeDocument/2006/math">
                    <m:r>
                      <a:rPr lang="en-US" sz="4400" b="1" i="1">
                        <a:latin typeface="Cambria Math" panose="02040503050406030204" pitchFamily="18" charset="0"/>
                      </a:rPr>
                      <m:t>⇔</m:t>
                    </m:r>
                    <m:r>
                      <a:rPr lang="en-US" sz="4400" b="1" i="1">
                        <a:latin typeface="Cambria Math" panose="02040503050406030204" pitchFamily="18" charset="0"/>
                      </a:rPr>
                      <m:t>𝑨𝑪</m:t>
                    </m:r>
                  </m:oMath>
                </a14:m>
                <a:r>
                  <a:rPr lang="en-US" sz="4400" b="1"/>
                  <a:t>nhỏ nhất </a:t>
                </a:r>
                <a14:m>
                  <m:oMath xmlns:m="http://schemas.openxmlformats.org/officeDocument/2006/math">
                    <m:r>
                      <a:rPr lang="en-US" sz="4400" b="1" i="1">
                        <a:latin typeface="Cambria Math" panose="02040503050406030204" pitchFamily="18" charset="0"/>
                      </a:rPr>
                      <m:t>⇔</m:t>
                    </m:r>
                    <m:r>
                      <a:rPr lang="en-US" sz="4400" b="1" i="1">
                        <a:latin typeface="Cambria Math" panose="02040503050406030204" pitchFamily="18" charset="0"/>
                      </a:rPr>
                      <m:t>𝑨𝑪</m:t>
                    </m:r>
                    <m:r>
                      <a:rPr lang="en-US" sz="4400" b="1" i="1">
                        <a:latin typeface="Cambria Math" panose="02040503050406030204" pitchFamily="18" charset="0"/>
                      </a:rPr>
                      <m:t>⊥</m:t>
                    </m:r>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𝟐</m:t>
                        </m:r>
                      </m:sub>
                    </m:sSub>
                    <m:r>
                      <a:rPr lang="en-US" sz="4400" b="1" i="1">
                        <a:latin typeface="Cambria Math" panose="02040503050406030204" pitchFamily="18" charset="0"/>
                      </a:rPr>
                      <m:t>⇔</m:t>
                    </m:r>
                    <m:r>
                      <a:rPr lang="en-US" sz="4400" b="1" i="1">
                        <a:latin typeface="Cambria Math" panose="02040503050406030204" pitchFamily="18" charset="0"/>
                      </a:rPr>
                      <m:t>𝑨𝑴</m:t>
                    </m:r>
                    <m:r>
                      <a:rPr lang="en-US" sz="4400" b="1" i="1">
                        <a:latin typeface="Cambria Math" panose="02040503050406030204" pitchFamily="18" charset="0"/>
                      </a:rPr>
                      <m:t>⊥</m:t>
                    </m:r>
                    <m:sSub>
                      <m:sSubPr>
                        <m:ctrlPr>
                          <a:rPr lang="en-US" sz="4400" b="1" i="1">
                            <a:latin typeface="Cambria Math" panose="02040503050406030204" pitchFamily="18" charset="0"/>
                          </a:rPr>
                        </m:ctrlPr>
                      </m:sSubPr>
                      <m:e>
                        <m:r>
                          <a:rPr lang="en-US" sz="4400" b="1" i="1">
                            <a:latin typeface="Cambria Math" panose="02040503050406030204" pitchFamily="18" charset="0"/>
                          </a:rPr>
                          <m:t>𝒅</m:t>
                        </m:r>
                      </m:e>
                      <m:sub>
                        <m:r>
                          <a:rPr lang="en-US" sz="4400" b="1" i="1">
                            <a:latin typeface="Cambria Math" panose="02040503050406030204" pitchFamily="18" charset="0"/>
                          </a:rPr>
                          <m:t>𝟐</m:t>
                        </m:r>
                      </m:sub>
                    </m:sSub>
                    <m:r>
                      <a:rPr lang="en-US" sz="4400" b="1" i="1">
                        <a:latin typeface="Cambria Math" panose="02040503050406030204" pitchFamily="18" charset="0"/>
                      </a:rPr>
                      <m:t>.</m:t>
                    </m:r>
                  </m:oMath>
                </a14:m>
                <a:endParaRPr lang="en-US" sz="4400" b="1"/>
              </a:p>
              <a:p>
                <a:r>
                  <a:rPr lang="en-US" sz="4400" b="1"/>
                  <a:t>Vậy để tàu sang được bờ bên kia nhanh nhất, ta cần giữ bánh lái để tàu luôn vuông góc với bờ.</a:t>
                </a:r>
              </a:p>
              <a:p>
                <a:pPr marL="0" indent="0">
                  <a:buNone/>
                </a:pPr>
                <a:endParaRPr lang="en-US" sz="4400" b="1"/>
              </a:p>
              <a:p>
                <a:pPr marL="0" indent="0">
                  <a:buNone/>
                </a:pPr>
                <a:endParaRPr lang="en-US" sz="4400"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1798" t="-267" r="-2619"/>
                </a:stretch>
              </a:blipFill>
              <a:ln>
                <a:solidFill>
                  <a:srgbClr val="00B0F0"/>
                </a:solidFill>
              </a:ln>
            </p:spPr>
            <p:txBody>
              <a:bodyPr/>
              <a:lstStyle/>
              <a:p>
                <a:r>
                  <a:rPr lang="en-US">
                    <a:noFill/>
                  </a:rPr>
                  <a:t> </a:t>
                </a:r>
              </a:p>
            </p:txBody>
          </p:sp>
        </mc:Fallback>
      </mc:AlternateContent>
      <p:pic>
        <p:nvPicPr>
          <p:cNvPr id="11" name="Picture 10">
            <a:extLst>
              <a:ext uri="{FF2B5EF4-FFF2-40B4-BE49-F238E27FC236}">
                <a16:creationId xmlns:a16="http://schemas.microsoft.com/office/drawing/2014/main" id="{7349D8DC-3F8E-4DEC-87A8-B829F3962B66}"/>
              </a:ext>
            </a:extLst>
          </p:cNvPr>
          <p:cNvPicPr/>
          <p:nvPr/>
        </p:nvPicPr>
        <p:blipFill>
          <a:blip r:embed="rId5"/>
          <a:stretch>
            <a:fillRect/>
          </a:stretch>
        </p:blipFill>
        <p:spPr>
          <a:xfrm>
            <a:off x="3962400" y="6172200"/>
            <a:ext cx="7162799" cy="60960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35920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up)">
                                      <p:cBhvr>
                                        <p:cTn id="7" dur="5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up)">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up)">
                                      <p:cBhvr>
                                        <p:cTn id="1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500" b="1" dirty="0" err="1">
                    <a:solidFill>
                      <a:srgbClr val="FF0000"/>
                    </a:solidFill>
                    <a:latin typeface="Times New Roman" panose="02020603050405020304" pitchFamily="18" charset="0"/>
                    <a:cs typeface="Times New Roman" panose="02020603050405020304" pitchFamily="18" charset="0"/>
                  </a:rPr>
                  <a:t>Vận</a:t>
                </a:r>
                <a:r>
                  <a:rPr lang="en-US" sz="4500" b="1" dirty="0">
                    <a:solidFill>
                      <a:srgbClr val="FF0000"/>
                    </a:solidFill>
                    <a:latin typeface="Times New Roman" panose="02020603050405020304" pitchFamily="18" charset="0"/>
                    <a:cs typeface="Times New Roman" panose="02020603050405020304" pitchFamily="18" charset="0"/>
                  </a:rPr>
                  <a:t> </a:t>
                </a:r>
                <a:r>
                  <a:rPr lang="en-US" sz="4500" b="1" dirty="0" err="1">
                    <a:solidFill>
                      <a:srgbClr val="FF0000"/>
                    </a:solidFill>
                    <a:latin typeface="Times New Roman" panose="02020603050405020304" pitchFamily="18" charset="0"/>
                    <a:cs typeface="Times New Roman" panose="02020603050405020304" pitchFamily="18" charset="0"/>
                  </a:rPr>
                  <a:t>dụng</a:t>
                </a:r>
                <a:r>
                  <a:rPr lang="en-US" sz="4500" b="1" dirty="0">
                    <a:solidFill>
                      <a:srgbClr val="FF0000"/>
                    </a:solidFill>
                    <a:latin typeface="Times New Roman" panose="02020603050405020304" pitchFamily="18" charset="0"/>
                    <a:cs typeface="Times New Roman" panose="02020603050405020304" pitchFamily="18" charset="0"/>
                  </a:rPr>
                  <a:t>:</a:t>
                </a:r>
              </a:p>
              <a:p>
                <a:pPr marL="0" indent="0">
                  <a:buNone/>
                </a:pPr>
                <a:r>
                  <a:rPr lang="en-US" sz="4500" b="1" dirty="0" err="1">
                    <a:latin typeface="Times New Roman" panose="02020603050405020304" pitchFamily="18" charset="0"/>
                    <a:cs typeface="Times New Roman" panose="02020603050405020304" pitchFamily="18" charset="0"/>
                  </a:rPr>
                  <a:t>Tính</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cần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thiết</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để</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một</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khẩu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pháo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trọng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lượng</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𝟐𝟐𝟏𝟒𝟖</m:t>
                    </m:r>
                    <m:r>
                      <a:rPr lang="en-US" sz="4500" b="1" i="1">
                        <a:latin typeface="Cambria Math" panose="02040503050406030204" pitchFamily="18" charset="0"/>
                      </a:rPr>
                      <m:t>𝑵</m:t>
                    </m:r>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ứng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khối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lượng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xấp</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xỉ</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𝟐𝟐𝟔𝟎</m:t>
                    </m:r>
                    <m:r>
                      <a:rPr lang="en-US" sz="4500" b="1" i="1">
                        <a:latin typeface="Cambria Math" panose="02040503050406030204" pitchFamily="18" charset="0"/>
                      </a:rPr>
                      <m:t>𝒌𝒈</m:t>
                    </m:r>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một</a:t>
                </a:r>
                <a:r>
                  <a:rPr lang="en-US" sz="4500" b="1" dirty="0">
                    <a:latin typeface="Times New Roman" panose="02020603050405020304" pitchFamily="18" charset="0"/>
                    <a:cs typeface="Times New Roman" panose="02020603050405020304" pitchFamily="18" charset="0"/>
                  </a:rPr>
                  <a:t> con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nghiêng</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𝟑</m:t>
                    </m:r>
                    <m:sSup>
                      <m:sSupPr>
                        <m:ctrlPr>
                          <a:rPr lang="en-US" sz="4500" b="1" i="1">
                            <a:latin typeface="Cambria Math" panose="02040503050406030204" pitchFamily="18" charset="0"/>
                          </a:rPr>
                        </m:ctrlPr>
                      </m:sSupPr>
                      <m:e>
                        <m:r>
                          <a:rPr lang="en-US" sz="4500" b="1" i="1">
                            <a:latin typeface="Cambria Math" panose="02040503050406030204" pitchFamily="18" charset="0"/>
                          </a:rPr>
                          <m:t>𝟎</m:t>
                        </m:r>
                      </m:e>
                      <m:sup>
                        <m:r>
                          <a:rPr lang="en-US" sz="4500" b="1" i="1">
                            <a:latin typeface="Cambria Math" panose="02040503050406030204" pitchFamily="18" charset="0"/>
                          </a:rPr>
                          <m:t>𝟎</m:t>
                        </m:r>
                      </m:sup>
                    </m:sSup>
                  </m:oMath>
                </a14:m>
                <a:r>
                  <a:rPr lang="en-US" sz="4500" b="1" dirty="0">
                    <a:latin typeface="Times New Roman" panose="02020603050405020304" pitchFamily="18" charset="0"/>
                    <a:cs typeface="Times New Roman" panose="02020603050405020304" pitchFamily="18" charset="0"/>
                  </a:rPr>
                  <a:t>so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nằm</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ngang</a:t>
                </a:r>
                <a:r>
                  <a:rPr lang="en-US" sz="4500" b="1" dirty="0">
                    <a:latin typeface="Times New Roman" panose="02020603050405020304" pitchFamily="18" charset="0"/>
                    <a:cs typeface="Times New Roman" panose="02020603050405020304" pitchFamily="18" charset="0"/>
                  </a:rPr>
                  <a:t> (H.4.18). </a:t>
                </a:r>
                <a:r>
                  <a:rPr lang="en-US" sz="4500" b="1" dirty="0" err="1">
                    <a:latin typeface="Times New Roman" panose="02020603050405020304" pitchFamily="18" charset="0"/>
                    <a:cs typeface="Times New Roman" panose="02020603050405020304" pitchFamily="18" charset="0"/>
                  </a:rPr>
                  <a:t>Nếu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của</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mỗi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người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bằng</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𝟏𝟎𝟎</m:t>
                    </m:r>
                    <m:r>
                      <a:rPr lang="en-US" sz="4500" b="1" i="1">
                        <a:latin typeface="Cambria Math" panose="02040503050406030204" pitchFamily="18" charset="0"/>
                      </a:rPr>
                      <m:t>𝑵</m:t>
                    </m:r>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thì</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cần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tối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thiểu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bao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nhiêu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người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để</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pháo</a:t>
                </a:r>
                <a:r>
                  <a:rPr lang="en-US" sz="4500" b="1" dirty="0">
                    <a:latin typeface="Times New Roman" panose="02020603050405020304" pitchFamily="18" charset="0"/>
                    <a:cs typeface="Times New Roman" panose="02020603050405020304" pitchFamily="18" charset="0"/>
                  </a:rPr>
                  <a:t>?</a:t>
                </a:r>
              </a:p>
              <a:p>
                <a:pPr marL="0" indent="0">
                  <a:buNone/>
                </a:pPr>
                <a:r>
                  <a:rPr lang="en-US" sz="4500" b="1" dirty="0" err="1">
                    <a:solidFill>
                      <a:srgbClr val="FF0000"/>
                    </a:solidFill>
                    <a:latin typeface="Times New Roman" panose="02020603050405020304" pitchFamily="18" charset="0"/>
                    <a:cs typeface="Times New Roman" panose="02020603050405020304" pitchFamily="18" charset="0"/>
                  </a:rPr>
                  <a:t>Chú</a:t>
                </a:r>
                <a:r>
                  <a:rPr lang="en-US" sz="4500" b="1" dirty="0">
                    <a:solidFill>
                      <a:srgbClr val="FF0000"/>
                    </a:solidFill>
                    <a:latin typeface="Times New Roman" panose="02020603050405020304" pitchFamily="18" charset="0"/>
                    <a:cs typeface="Times New Roman" panose="02020603050405020304" pitchFamily="18" charset="0"/>
                  </a:rPr>
                  <a:t> ý:</a:t>
                </a:r>
              </a:p>
              <a:p>
                <a:pPr marL="0" indent="0">
                  <a:buNone/>
                </a:pPr>
                <a:r>
                  <a:rPr lang="en-US" sz="4500" b="1" dirty="0">
                    <a:latin typeface="Times New Roman" panose="02020603050405020304" pitchFamily="18" charset="0"/>
                    <a:cs typeface="Times New Roman" panose="02020603050405020304" pitchFamily="18" charset="0"/>
                  </a:rPr>
                  <a:t>Ta </a:t>
                </a:r>
                <a:r>
                  <a:rPr lang="en-US" sz="4500" b="1" dirty="0" err="1">
                    <a:latin typeface="Times New Roman" panose="02020603050405020304" pitchFamily="18" charset="0"/>
                    <a:cs typeface="Times New Roman" panose="02020603050405020304" pitchFamily="18" charset="0"/>
                  </a:rPr>
                  <a:t>coi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khẩu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pháo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chịu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tác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động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của</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ba</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Trọng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panose="02040503050406030204" pitchFamily="18" charset="0"/>
                          </a:rPr>
                          <m:t>𝑷</m:t>
                        </m:r>
                      </m:e>
                    </m:acc>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độ</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lớn</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en-US" sz="4500" b="1" i="1">
                                <a:latin typeface="Cambria Math" panose="02040503050406030204" pitchFamily="18" charset="0"/>
                              </a:rPr>
                              <m:t>𝑷</m:t>
                            </m:r>
                          </m:e>
                        </m:acc>
                      </m:e>
                    </m:d>
                    <m:r>
                      <a:rPr lang="en-US" sz="4500" b="1" i="1">
                        <a:latin typeface="Cambria Math" panose="02040503050406030204" pitchFamily="18" charset="0"/>
                      </a:rPr>
                      <m:t>=</m:t>
                    </m:r>
                    <m:r>
                      <a:rPr lang="en-US" sz="4500" b="1" i="1">
                        <a:latin typeface="Cambria Math" panose="02040503050406030204" pitchFamily="18" charset="0"/>
                      </a:rPr>
                      <m:t>𝟐𝟐𝟏𝟒𝟖</m:t>
                    </m:r>
                    <m:r>
                      <a:rPr lang="en-US" sz="4500" b="1" i="1">
                        <a:latin typeface="Cambria Math" panose="02040503050406030204" pitchFamily="18" charset="0"/>
                      </a:rPr>
                      <m:t>𝑵</m:t>
                    </m:r>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vuông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góc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nằm</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ngang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và</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hướng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xuống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dưới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phản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panose="02040503050406030204" pitchFamily="18" charset="0"/>
                          </a:rPr>
                          <m:t>𝒘</m:t>
                        </m:r>
                      </m:e>
                    </m:acc>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độ</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lớn</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en-US" sz="4500" b="1" i="1">
                                <a:latin typeface="Cambria Math" panose="02040503050406030204" pitchFamily="18" charset="0"/>
                              </a:rPr>
                              <m:t>𝒘</m:t>
                            </m:r>
                          </m:e>
                        </m:acc>
                      </m:e>
                    </m:d>
                    <m:r>
                      <a:rPr lang="en-US" sz="4500" b="1" i="1">
                        <a:latin typeface="Cambria Math" panose="02040503050406030204" pitchFamily="18" charset="0"/>
                      </a:rPr>
                      <m:t>=</m:t>
                    </m:r>
                    <m:d>
                      <m:dPr>
                        <m:begChr m:val="|"/>
                        <m:endChr m:val="|"/>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en-US" sz="4500" b="1" i="1">
                                <a:latin typeface="Cambria Math" panose="02040503050406030204" pitchFamily="18" charset="0"/>
                              </a:rPr>
                              <m:t>𝑷</m:t>
                            </m:r>
                          </m:e>
                        </m:acc>
                      </m:e>
                    </m:d>
                    <m:r>
                      <m:rPr>
                        <m:nor/>
                      </m:rPr>
                      <a:rPr lang="en-US" sz="4500" b="1">
                        <a:latin typeface="Times New Roman" panose="02020603050405020304" pitchFamily="18" charset="0"/>
                        <a:cs typeface="Times New Roman" panose="02020603050405020304" pitchFamily="18" charset="0"/>
                      </a:rPr>
                      <m:t>cos</m:t>
                    </m:r>
                    <m:r>
                      <m:rPr>
                        <m:nor/>
                      </m:rPr>
                      <a:rPr lang="en-US" sz="4500" b="1">
                        <a:latin typeface="Times New Roman" panose="02020603050405020304" pitchFamily="18" charset="0"/>
                        <a:cs typeface="Times New Roman" panose="02020603050405020304" pitchFamily="18" charset="0"/>
                      </a:rPr>
                      <m:t>3</m:t>
                    </m:r>
                    <m:sSup>
                      <m:sSupPr>
                        <m:ctrlPr>
                          <a:rPr lang="en-US" sz="4500" b="1" i="1">
                            <a:latin typeface="Cambria Math" panose="02040503050406030204" pitchFamily="18" charset="0"/>
                          </a:rPr>
                        </m:ctrlPr>
                      </m:sSupPr>
                      <m:e>
                        <m:r>
                          <m:rPr>
                            <m:nor/>
                          </m:rPr>
                          <a:rPr lang="en-US" sz="4500" b="1">
                            <a:latin typeface="Times New Roman" panose="02020603050405020304" pitchFamily="18" charset="0"/>
                            <a:cs typeface="Times New Roman" panose="02020603050405020304" pitchFamily="18" charset="0"/>
                          </a:rPr>
                          <m:t>0</m:t>
                        </m:r>
                      </m:e>
                      <m:sup>
                        <m:r>
                          <a:rPr lang="en-US" sz="4500" b="1" i="1">
                            <a:latin typeface="Cambria Math" panose="02040503050406030204" pitchFamily="18" charset="0"/>
                          </a:rPr>
                          <m:t>𝟎</m:t>
                        </m:r>
                      </m:sup>
                    </m:sSup>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vuông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góc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mặt</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và</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hướng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trên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và</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panose="02040503050406030204" pitchFamily="18" charset="0"/>
                          </a:rPr>
                          <m:t>𝑭</m:t>
                        </m:r>
                      </m:e>
                    </m:acc>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theo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hướng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từ</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chân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đỉnh</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a:t>
                </a:r>
              </a:p>
              <a:p>
                <a:pPr marL="0" indent="0">
                  <a:buNone/>
                </a:pPr>
                <a:endParaRPr lang="en-US" sz="4500" b="1" dirty="0">
                  <a:latin typeface="Times New Roman" panose="02020603050405020304" pitchFamily="18" charset="0"/>
                  <a:cs typeface="Times New Roman" panose="02020603050405020304" pitchFamily="18" charset="0"/>
                </a:endParaRPr>
              </a:p>
              <a:p>
                <a:endParaRPr lang="en-US" sz="4500" b="1" dirty="0">
                  <a:latin typeface="Times New Roman" panose="02020603050405020304" pitchFamily="18" charset="0"/>
                  <a:cs typeface="Times New Roman" panose="02020603050405020304" pitchFamily="18"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244" t="-1708" r="-1533" b="-4963"/>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solidFill>
                      <a:srgbClr val="FF0000"/>
                    </a:solidFill>
                    <a:latin typeface="Times New Roman" panose="02020603050405020304" pitchFamily="18" charset="0"/>
                    <a:cs typeface="Times New Roman" panose="02020603050405020304" pitchFamily="18" charset="0"/>
                  </a:rPr>
                  <a:t>Lời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giải</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 </a:t>
                </a:r>
                <a:r>
                  <a:rPr lang="en-US" b="1" dirty="0" err="1">
                    <a:latin typeface="Times New Roman" panose="02020603050405020304" pitchFamily="18" charset="0"/>
                    <a:cs typeface="Times New Roman" panose="02020603050405020304" pitchFamily="18" charset="0"/>
                  </a:rPr>
                  <a:t>có</a:t>
                </a:r>
                <a:endParaRPr lang="en-US" b="1"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Trọng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lực</a:t>
                </a:r>
                <a:r>
                  <a:rPr lang="en-US"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𝑷</m:t>
                        </m:r>
                      </m:e>
                    </m:acc>
                  </m:oMath>
                </a14:m>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lớn</a:t>
                </a:r>
                <a:r>
                  <a:rPr lang="en-US"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𝑷</m:t>
                            </m:r>
                          </m:e>
                        </m:acc>
                      </m:e>
                    </m:d>
                    <m:r>
                      <a:rPr lang="en-US" b="1" i="1">
                        <a:latin typeface="Cambria Math" panose="02040503050406030204" pitchFamily="18" charset="0"/>
                      </a:rPr>
                      <m:t>=</m:t>
                    </m:r>
                    <m:r>
                      <a:rPr lang="en-US" b="1" i="1">
                        <a:latin typeface="Cambria Math" panose="02040503050406030204" pitchFamily="18" charset="0"/>
                      </a:rPr>
                      <m:t>𝟐𝟐𝟏𝟒𝟖</m:t>
                    </m:r>
                    <m:r>
                      <a:rPr lang="en-US" b="1" i="1">
                        <a:latin typeface="Cambria Math" panose="02040503050406030204" pitchFamily="18" charset="0"/>
                      </a:rPr>
                      <m:t>𝑵</m:t>
                    </m:r>
                  </m:oMath>
                </a14:m>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phương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vuông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góc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phương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nằm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ngang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xuống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dưới</a:t>
                </a:r>
                <a:endParaRPr lang="en-US" b="1"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Phản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lực</a:t>
                </a:r>
                <a:r>
                  <a:rPr lang="en-US"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𝒘</m:t>
                        </m:r>
                      </m:e>
                    </m:acc>
                  </m:oMath>
                </a14:m>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lớn</a:t>
                </a:r>
                <a:r>
                  <a:rPr lang="en-US"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𝒘</m:t>
                            </m:r>
                          </m:e>
                        </m:acc>
                      </m:e>
                    </m:d>
                    <m:r>
                      <a:rPr lang="en-US"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𝑷</m:t>
                            </m:r>
                          </m:e>
                        </m:acc>
                      </m:e>
                    </m:d>
                    <m:r>
                      <m:rPr>
                        <m:nor/>
                      </m:rPr>
                      <a:rPr lang="en-US" b="1">
                        <a:latin typeface="Times New Roman" panose="02020603050405020304" pitchFamily="18" charset="0"/>
                        <a:cs typeface="Times New Roman" panose="02020603050405020304" pitchFamily="18" charset="0"/>
                      </a:rPr>
                      <m:t>cos</m:t>
                    </m:r>
                    <m:r>
                      <m:rPr>
                        <m:nor/>
                      </m:rPr>
                      <a:rPr lang="en-US" b="1">
                        <a:latin typeface="Times New Roman" panose="02020603050405020304" pitchFamily="18" charset="0"/>
                        <a:cs typeface="Times New Roman" panose="02020603050405020304" pitchFamily="18" charset="0"/>
                      </a:rPr>
                      <m:t>3</m:t>
                    </m:r>
                    <m:sSup>
                      <m:sSupPr>
                        <m:ctrlPr>
                          <a:rPr lang="en-US" b="1" i="1">
                            <a:latin typeface="Cambria Math" panose="02040503050406030204" pitchFamily="18" charset="0"/>
                          </a:rPr>
                        </m:ctrlPr>
                      </m:sSupPr>
                      <m:e>
                        <m:r>
                          <m:rPr>
                            <m:nor/>
                          </m:rPr>
                          <a:rPr lang="en-US" b="1">
                            <a:latin typeface="Times New Roman" panose="02020603050405020304" pitchFamily="18" charset="0"/>
                            <a:cs typeface="Times New Roman" panose="02020603050405020304" pitchFamily="18" charset="0"/>
                          </a:rPr>
                          <m:t>0</m:t>
                        </m:r>
                      </m:e>
                      <m:sup>
                        <m:r>
                          <a:rPr lang="en-US" b="1" i="1">
                            <a:latin typeface="Cambria Math" panose="02040503050406030204" pitchFamily="18" charset="0"/>
                          </a:rPr>
                          <m:t>𝟎</m:t>
                        </m:r>
                      </m:sup>
                    </m:sSup>
                    <m:r>
                      <a:rPr lang="en-US" b="1" i="1">
                        <a:latin typeface="Cambria Math" panose="02040503050406030204" pitchFamily="18" charset="0"/>
                      </a:rPr>
                      <m:t>=</m:t>
                    </m:r>
                    <m:r>
                      <a:rPr lang="en-US" b="1" i="1">
                        <a:latin typeface="Cambria Math" panose="02040503050406030204" pitchFamily="18" charset="0"/>
                      </a:rPr>
                      <m:t>𝟐𝟐𝟏𝟖𝟒</m:t>
                    </m:r>
                    <m:r>
                      <a:rPr lang="en-US" b="1" i="1">
                        <a:latin typeface="Cambria Math" panose="02040503050406030204" pitchFamily="18" charset="0"/>
                      </a:rPr>
                      <m:t>.</m:t>
                    </m:r>
                    <m:f>
                      <m:fPr>
                        <m:ctrlPr>
                          <a:rPr lang="en-US" b="1" i="1">
                            <a:latin typeface="Cambria Math" panose="02040503050406030204" pitchFamily="18" charset="0"/>
                          </a:rPr>
                        </m:ctrlPr>
                      </m:fPr>
                      <m:num>
                        <m:rad>
                          <m:radPr>
                            <m:degHide m:val="on"/>
                            <m:ctrlPr>
                              <a:rPr lang="en-US" b="1" i="1">
                                <a:latin typeface="Cambria Math" panose="02040503050406030204" pitchFamily="18" charset="0"/>
                              </a:rPr>
                            </m:ctrlPr>
                          </m:radPr>
                          <m:deg/>
                          <m:e>
                            <m:r>
                              <a:rPr lang="en-US" b="1" i="1">
                                <a:latin typeface="Cambria Math" panose="02040503050406030204" pitchFamily="18" charset="0"/>
                              </a:rPr>
                              <m:t>𝟑</m:t>
                            </m:r>
                          </m:e>
                        </m:rad>
                      </m:num>
                      <m:den>
                        <m:r>
                          <a:rPr lang="en-US" b="1" i="1">
                            <a:latin typeface="Cambria Math" panose="02040503050406030204" pitchFamily="18" charset="0"/>
                          </a:rPr>
                          <m:t>𝟐</m:t>
                        </m:r>
                      </m:den>
                    </m:f>
                    <m:r>
                      <a:rPr lang="en-US" b="1" i="1">
                        <a:latin typeface="Cambria Math" panose="02040503050406030204" pitchFamily="18" charset="0"/>
                      </a:rPr>
                      <m:t>𝑵</m:t>
                    </m:r>
                  </m:oMath>
                </a14:m>
                <a:r>
                  <a:rPr lang="en-US" b="1" dirty="0">
                    <a:latin typeface="Times New Roman" panose="02020603050405020304" pitchFamily="18" charset="0"/>
                    <a:cs typeface="Times New Roman" panose="02020603050405020304" pitchFamily="18" charset="0"/>
                  </a:rPr>
                  <a:t>, </a:t>
                </a:r>
              </a:p>
              <a:p>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phương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vuông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góc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mặt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trên</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r="-462" b="-2241"/>
                </a:stretch>
              </a:blipFill>
              <a:ln>
                <a:solidFill>
                  <a:srgbClr val="00B0F0"/>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6491072D-9472-47B8-8B3E-55EC1E2FF564}"/>
              </a:ext>
            </a:extLst>
          </p:cNvPr>
          <p:cNvPicPr/>
          <p:nvPr/>
        </p:nvPicPr>
        <p:blipFill>
          <a:blip r:embed="rId5"/>
          <a:stretch>
            <a:fillRect/>
          </a:stretch>
        </p:blipFill>
        <p:spPr>
          <a:xfrm>
            <a:off x="18154650" y="2438400"/>
            <a:ext cx="5410200" cy="44196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242726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2" end="2"/>
                                            </p:txEl>
                                          </p:spTgt>
                                        </p:tgtEl>
                                        <p:attrNameLst>
                                          <p:attrName>style.visibility</p:attrName>
                                        </p:attrNameLst>
                                      </p:cBhvr>
                                      <p:to>
                                        <p:strVal val="visible"/>
                                      </p:to>
                                    </p:set>
                                    <p:animEffect transition="in" filter="wipe(up)">
                                      <p:cBhvr>
                                        <p:cTn id="20" dur="500"/>
                                        <p:tgtEl>
                                          <p:spTgt spid="9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3" end="3"/>
                                            </p:txEl>
                                          </p:spTgt>
                                        </p:tgtEl>
                                        <p:attrNameLst>
                                          <p:attrName>style.visibility</p:attrName>
                                        </p:attrNameLst>
                                      </p:cBhvr>
                                      <p:to>
                                        <p:strVal val="visible"/>
                                      </p:to>
                                    </p:set>
                                    <p:animEffect transition="in" filter="wipe(up)">
                                      <p:cBhvr>
                                        <p:cTn id="25" dur="500"/>
                                        <p:tgtEl>
                                          <p:spTgt spid="99">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Effect transition="in" filter="wipe(up)">
                                      <p:cBhvr>
                                        <p:cTn id="45" dur="500"/>
                                        <p:tgtEl>
                                          <p:spTgt spid="7">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
                                            <p:txEl>
                                              <p:pRg st="6" end="6"/>
                                            </p:txEl>
                                          </p:spTgt>
                                        </p:tgtEl>
                                        <p:attrNameLst>
                                          <p:attrName>style.visibility</p:attrName>
                                        </p:attrNameLst>
                                      </p:cBhvr>
                                      <p:to>
                                        <p:strVal val="visible"/>
                                      </p:to>
                                    </p:set>
                                    <p:animEffect transition="in" filter="wipe(up)">
                                      <p:cBhvr>
                                        <p:cTn id="50" dur="500"/>
                                        <p:tgtEl>
                                          <p:spTgt spid="7">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7">
                                            <p:txEl>
                                              <p:pRg st="7" end="7"/>
                                            </p:txEl>
                                          </p:spTgt>
                                        </p:tgtEl>
                                        <p:attrNameLst>
                                          <p:attrName>style.visibility</p:attrName>
                                        </p:attrNameLst>
                                      </p:cBhvr>
                                      <p:to>
                                        <p:strVal val="visible"/>
                                      </p:to>
                                    </p:set>
                                    <p:animEffect transition="in" filter="wipe(up)">
                                      <p:cBhvr>
                                        <p:cTn id="55" dur="500"/>
                                        <p:tgtEl>
                                          <p:spTgt spid="7">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7">
                                            <p:txEl>
                                              <p:pRg st="8" end="8"/>
                                            </p:txEl>
                                          </p:spTgt>
                                        </p:tgtEl>
                                        <p:attrNameLst>
                                          <p:attrName>style.visibility</p:attrName>
                                        </p:attrNameLst>
                                      </p:cBhvr>
                                      <p:to>
                                        <p:strVal val="visible"/>
                                      </p:to>
                                    </p:set>
                                    <p:animEffect transition="in" filter="wipe(up)">
                                      <p:cBhvr>
                                        <p:cTn id="60"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752600"/>
                <a:ext cx="11125201" cy="116403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500" b="1" dirty="0" err="1">
                    <a:solidFill>
                      <a:srgbClr val="FF0000"/>
                    </a:solidFill>
                    <a:latin typeface="Times New Roman" panose="02020603050405020304" pitchFamily="18" charset="0"/>
                    <a:cs typeface="Times New Roman" panose="02020603050405020304" pitchFamily="18" charset="0"/>
                  </a:rPr>
                  <a:t>Vận</a:t>
                </a:r>
                <a:r>
                  <a:rPr lang="en-US" sz="4500" b="1" dirty="0">
                    <a:solidFill>
                      <a:srgbClr val="FF0000"/>
                    </a:solidFill>
                    <a:latin typeface="Times New Roman" panose="02020603050405020304" pitchFamily="18" charset="0"/>
                    <a:cs typeface="Times New Roman" panose="02020603050405020304" pitchFamily="18" charset="0"/>
                  </a:rPr>
                  <a:t> </a:t>
                </a:r>
                <a:r>
                  <a:rPr lang="en-US" sz="4500" b="1" dirty="0" err="1">
                    <a:solidFill>
                      <a:srgbClr val="FF0000"/>
                    </a:solidFill>
                    <a:latin typeface="Times New Roman" panose="02020603050405020304" pitchFamily="18" charset="0"/>
                    <a:cs typeface="Times New Roman" panose="02020603050405020304" pitchFamily="18" charset="0"/>
                  </a:rPr>
                  <a:t>dụng</a:t>
                </a:r>
                <a:r>
                  <a:rPr lang="en-US" sz="4500" b="1" dirty="0">
                    <a:solidFill>
                      <a:srgbClr val="FF0000"/>
                    </a:solidFill>
                    <a:latin typeface="Times New Roman" panose="02020603050405020304" pitchFamily="18" charset="0"/>
                    <a:cs typeface="Times New Roman" panose="02020603050405020304" pitchFamily="18" charset="0"/>
                  </a:rPr>
                  <a:t>:</a:t>
                </a:r>
              </a:p>
              <a:p>
                <a:pPr marL="0" indent="0">
                  <a:buNone/>
                </a:pPr>
                <a:r>
                  <a:rPr lang="en-US" sz="4500" b="1" dirty="0" err="1">
                    <a:latin typeface="Times New Roman" panose="02020603050405020304" pitchFamily="18" charset="0"/>
                    <a:cs typeface="Times New Roman" panose="02020603050405020304" pitchFamily="18" charset="0"/>
                  </a:rPr>
                  <a:t>Tính</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cần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thiết</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để</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một</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khẩu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pháo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trọng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lượng</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𝟐𝟐𝟏𝟒𝟖</m:t>
                    </m:r>
                    <m:r>
                      <a:rPr lang="en-US" sz="4500" b="1" i="1">
                        <a:latin typeface="Cambria Math" panose="02040503050406030204" pitchFamily="18" charset="0"/>
                      </a:rPr>
                      <m:t>𝑵</m:t>
                    </m:r>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ứng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khối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lượng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xấp</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xỉ</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𝟐𝟐𝟔𝟎</m:t>
                    </m:r>
                    <m:r>
                      <a:rPr lang="en-US" sz="4500" b="1" i="1">
                        <a:latin typeface="Cambria Math" panose="02040503050406030204" pitchFamily="18" charset="0"/>
                      </a:rPr>
                      <m:t>𝒌𝒈</m:t>
                    </m:r>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một</a:t>
                </a:r>
                <a:r>
                  <a:rPr lang="en-US" sz="4500" b="1" dirty="0">
                    <a:latin typeface="Times New Roman" panose="02020603050405020304" pitchFamily="18" charset="0"/>
                    <a:cs typeface="Times New Roman" panose="02020603050405020304" pitchFamily="18" charset="0"/>
                  </a:rPr>
                  <a:t> con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nghiêng</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𝟑</m:t>
                    </m:r>
                    <m:sSup>
                      <m:sSupPr>
                        <m:ctrlPr>
                          <a:rPr lang="en-US" sz="4500" b="1" i="1">
                            <a:latin typeface="Cambria Math" panose="02040503050406030204" pitchFamily="18" charset="0"/>
                          </a:rPr>
                        </m:ctrlPr>
                      </m:sSupPr>
                      <m:e>
                        <m:r>
                          <a:rPr lang="en-US" sz="4500" b="1" i="1">
                            <a:latin typeface="Cambria Math" panose="02040503050406030204" pitchFamily="18" charset="0"/>
                          </a:rPr>
                          <m:t>𝟎</m:t>
                        </m:r>
                      </m:e>
                      <m:sup>
                        <m:r>
                          <a:rPr lang="en-US" sz="4500" b="1" i="1">
                            <a:latin typeface="Cambria Math" panose="02040503050406030204" pitchFamily="18" charset="0"/>
                          </a:rPr>
                          <m:t>𝟎</m:t>
                        </m:r>
                      </m:sup>
                    </m:sSup>
                  </m:oMath>
                </a14:m>
                <a:r>
                  <a:rPr lang="en-US" sz="4500" b="1" dirty="0">
                    <a:latin typeface="Times New Roman" panose="02020603050405020304" pitchFamily="18" charset="0"/>
                    <a:cs typeface="Times New Roman" panose="02020603050405020304" pitchFamily="18" charset="0"/>
                  </a:rPr>
                  <a:t>so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nằm</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ngang</a:t>
                </a:r>
                <a:r>
                  <a:rPr lang="en-US" sz="4500" b="1" dirty="0">
                    <a:latin typeface="Times New Roman" panose="02020603050405020304" pitchFamily="18" charset="0"/>
                    <a:cs typeface="Times New Roman" panose="02020603050405020304" pitchFamily="18" charset="0"/>
                  </a:rPr>
                  <a:t> (H.4.18). </a:t>
                </a:r>
                <a:r>
                  <a:rPr lang="en-US" sz="4500" b="1" dirty="0" err="1">
                    <a:latin typeface="Times New Roman" panose="02020603050405020304" pitchFamily="18" charset="0"/>
                    <a:cs typeface="Times New Roman" panose="02020603050405020304" pitchFamily="18" charset="0"/>
                  </a:rPr>
                  <a:t>Nếu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của</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mỗi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người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bằng</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r>
                      <a:rPr lang="en-US" sz="4500" b="1" i="1">
                        <a:latin typeface="Cambria Math" panose="02040503050406030204" pitchFamily="18" charset="0"/>
                      </a:rPr>
                      <m:t>𝟏𝟎𝟎</m:t>
                    </m:r>
                    <m:r>
                      <a:rPr lang="en-US" sz="4500" b="1" i="1">
                        <a:latin typeface="Cambria Math" panose="02040503050406030204" pitchFamily="18" charset="0"/>
                      </a:rPr>
                      <m:t>𝑵</m:t>
                    </m:r>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thì</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cần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tối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thiểu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bao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nhiêu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người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để</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pháo</a:t>
                </a:r>
                <a:r>
                  <a:rPr lang="en-US" sz="4500" b="1" dirty="0">
                    <a:latin typeface="Times New Roman" panose="02020603050405020304" pitchFamily="18" charset="0"/>
                    <a:cs typeface="Times New Roman" panose="02020603050405020304" pitchFamily="18" charset="0"/>
                  </a:rPr>
                  <a:t>?</a:t>
                </a:r>
              </a:p>
              <a:p>
                <a:pPr marL="0" indent="0">
                  <a:buNone/>
                </a:pPr>
                <a:r>
                  <a:rPr lang="en-US" sz="4500" b="1" dirty="0" err="1">
                    <a:solidFill>
                      <a:srgbClr val="FF0000"/>
                    </a:solidFill>
                    <a:latin typeface="Times New Roman" panose="02020603050405020304" pitchFamily="18" charset="0"/>
                    <a:cs typeface="Times New Roman" panose="02020603050405020304" pitchFamily="18" charset="0"/>
                  </a:rPr>
                  <a:t>Chú</a:t>
                </a:r>
                <a:r>
                  <a:rPr lang="en-US" sz="4500" b="1" dirty="0">
                    <a:solidFill>
                      <a:srgbClr val="FF0000"/>
                    </a:solidFill>
                    <a:latin typeface="Times New Roman" panose="02020603050405020304" pitchFamily="18" charset="0"/>
                    <a:cs typeface="Times New Roman" panose="02020603050405020304" pitchFamily="18" charset="0"/>
                  </a:rPr>
                  <a:t> ý:</a:t>
                </a:r>
              </a:p>
              <a:p>
                <a:pPr marL="0" indent="0">
                  <a:buNone/>
                </a:pPr>
                <a:r>
                  <a:rPr lang="en-US" sz="4500" b="1" dirty="0">
                    <a:latin typeface="Times New Roman" panose="02020603050405020304" pitchFamily="18" charset="0"/>
                    <a:cs typeface="Times New Roman" panose="02020603050405020304" pitchFamily="18" charset="0"/>
                  </a:rPr>
                  <a:t>Ta </a:t>
                </a:r>
                <a:r>
                  <a:rPr lang="en-US" sz="4500" b="1" dirty="0" err="1">
                    <a:latin typeface="Times New Roman" panose="02020603050405020304" pitchFamily="18" charset="0"/>
                    <a:cs typeface="Times New Roman" panose="02020603050405020304" pitchFamily="18" charset="0"/>
                  </a:rPr>
                  <a:t>coi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khẩu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pháo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chịu</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tác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động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của</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ba</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Trọng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panose="02040503050406030204" pitchFamily="18" charset="0"/>
                          </a:rPr>
                          <m:t>𝑷</m:t>
                        </m:r>
                      </m:e>
                    </m:acc>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độ</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lớn</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en-US" sz="4500" b="1" i="1">
                                <a:latin typeface="Cambria Math" panose="02040503050406030204" pitchFamily="18" charset="0"/>
                              </a:rPr>
                              <m:t>𝑷</m:t>
                            </m:r>
                          </m:e>
                        </m:acc>
                      </m:e>
                    </m:d>
                    <m:r>
                      <a:rPr lang="en-US" sz="4500" b="1" i="1">
                        <a:latin typeface="Cambria Math" panose="02040503050406030204" pitchFamily="18" charset="0"/>
                      </a:rPr>
                      <m:t>=</m:t>
                    </m:r>
                    <m:r>
                      <a:rPr lang="en-US" sz="4500" b="1" i="1">
                        <a:latin typeface="Cambria Math" panose="02040503050406030204" pitchFamily="18" charset="0"/>
                      </a:rPr>
                      <m:t>𝟐𝟐𝟏𝟒𝟖</m:t>
                    </m:r>
                    <m:r>
                      <a:rPr lang="en-US" sz="4500" b="1" i="1">
                        <a:latin typeface="Cambria Math" panose="02040503050406030204" pitchFamily="18" charset="0"/>
                      </a:rPr>
                      <m:t>𝑵</m:t>
                    </m:r>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vuông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góc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nằm</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ngang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và</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hướng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xuống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dưới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phản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panose="02040503050406030204" pitchFamily="18" charset="0"/>
                          </a:rPr>
                          <m:t>𝒘</m:t>
                        </m:r>
                      </m:e>
                    </m:acc>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độ</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lớn</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en-US" sz="4500" b="1" i="1">
                                <a:latin typeface="Cambria Math" panose="02040503050406030204" pitchFamily="18" charset="0"/>
                              </a:rPr>
                              <m:t>𝒘</m:t>
                            </m:r>
                          </m:e>
                        </m:acc>
                      </m:e>
                    </m:d>
                    <m:r>
                      <a:rPr lang="en-US" sz="4500" b="1" i="1">
                        <a:latin typeface="Cambria Math" panose="02040503050406030204" pitchFamily="18" charset="0"/>
                      </a:rPr>
                      <m:t>=</m:t>
                    </m:r>
                    <m:d>
                      <m:dPr>
                        <m:begChr m:val="|"/>
                        <m:endChr m:val="|"/>
                        <m:ctrlPr>
                          <a:rPr lang="en-US" sz="4500" b="1" i="1">
                            <a:latin typeface="Cambria Math" panose="02040503050406030204" pitchFamily="18" charset="0"/>
                          </a:rPr>
                        </m:ctrlPr>
                      </m:dPr>
                      <m:e>
                        <m:acc>
                          <m:accPr>
                            <m:chr m:val="⃗"/>
                            <m:ctrlPr>
                              <a:rPr lang="en-US" sz="4500" b="1" i="1">
                                <a:latin typeface="Cambria Math" panose="02040503050406030204" pitchFamily="18" charset="0"/>
                              </a:rPr>
                            </m:ctrlPr>
                          </m:accPr>
                          <m:e>
                            <m:r>
                              <a:rPr lang="en-US" sz="4500" b="1" i="1">
                                <a:latin typeface="Cambria Math" panose="02040503050406030204" pitchFamily="18" charset="0"/>
                              </a:rPr>
                              <m:t>𝑷</m:t>
                            </m:r>
                          </m:e>
                        </m:acc>
                      </m:e>
                    </m:d>
                    <m:r>
                      <m:rPr>
                        <m:nor/>
                      </m:rPr>
                      <a:rPr lang="en-US" sz="4500" b="1">
                        <a:latin typeface="Times New Roman" panose="02020603050405020304" pitchFamily="18" charset="0"/>
                        <a:cs typeface="Times New Roman" panose="02020603050405020304" pitchFamily="18" charset="0"/>
                      </a:rPr>
                      <m:t>cos</m:t>
                    </m:r>
                    <m:r>
                      <m:rPr>
                        <m:nor/>
                      </m:rPr>
                      <a:rPr lang="en-US" sz="4500" b="1">
                        <a:latin typeface="Times New Roman" panose="02020603050405020304" pitchFamily="18" charset="0"/>
                        <a:cs typeface="Times New Roman" panose="02020603050405020304" pitchFamily="18" charset="0"/>
                      </a:rPr>
                      <m:t>3</m:t>
                    </m:r>
                    <m:sSup>
                      <m:sSupPr>
                        <m:ctrlPr>
                          <a:rPr lang="en-US" sz="4500" b="1" i="1">
                            <a:latin typeface="Cambria Math" panose="02040503050406030204" pitchFamily="18" charset="0"/>
                          </a:rPr>
                        </m:ctrlPr>
                      </m:sSupPr>
                      <m:e>
                        <m:r>
                          <m:rPr>
                            <m:nor/>
                          </m:rPr>
                          <a:rPr lang="en-US" sz="4500" b="1">
                            <a:latin typeface="Times New Roman" panose="02020603050405020304" pitchFamily="18" charset="0"/>
                            <a:cs typeface="Times New Roman" panose="02020603050405020304" pitchFamily="18" charset="0"/>
                          </a:rPr>
                          <m:t>0</m:t>
                        </m:r>
                      </m:e>
                      <m:sup>
                        <m:r>
                          <a:rPr lang="en-US" sz="4500" b="1" i="1">
                            <a:latin typeface="Cambria Math" panose="02040503050406030204" pitchFamily="18" charset="0"/>
                          </a:rPr>
                          <m:t>𝟎</m:t>
                        </m:r>
                      </m:sup>
                    </m:sSup>
                  </m:oMath>
                </a14:m>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có</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vuông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góc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với</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mặt</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và</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hướng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trên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và</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lực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kéo</a:t>
                </a:r>
                <a:r>
                  <a:rPr lang="en-US" sz="45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500" b="1" i="1">
                            <a:latin typeface="Cambria Math" panose="02040503050406030204" pitchFamily="18" charset="0"/>
                          </a:rPr>
                        </m:ctrlPr>
                      </m:accPr>
                      <m:e>
                        <m:r>
                          <a:rPr lang="en-US" sz="4500" b="1" i="1">
                            <a:latin typeface="Cambria Math" panose="02040503050406030204" pitchFamily="18" charset="0"/>
                          </a:rPr>
                          <m:t>𝑭</m:t>
                        </m:r>
                      </m:e>
                    </m:acc>
                  </m:oMath>
                </a14:m>
                <a:r>
                  <a:rPr lang="en-US" sz="4500" b="1" dirty="0">
                    <a:latin typeface="Times New Roman" panose="02020603050405020304" pitchFamily="18" charset="0"/>
                    <a:cs typeface="Times New Roman" panose="02020603050405020304" pitchFamily="18" charset="0"/>
                  </a:rPr>
                  <a:t> ( </a:t>
                </a:r>
                <a:r>
                  <a:rPr lang="en-US" sz="4500" b="1" dirty="0" err="1">
                    <a:latin typeface="Times New Roman" panose="02020603050405020304" pitchFamily="18" charset="0"/>
                    <a:cs typeface="Times New Roman" panose="02020603050405020304" pitchFamily="18" charset="0"/>
                  </a:rPr>
                  <a:t>theo</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phương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hướng</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từ</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chân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lên</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đỉnh</a:t>
                </a:r>
                <a:r>
                  <a:rPr lang="en-US" sz="4500" b="1" dirty="0">
                    <a:latin typeface="Times New Roman" panose="02020603050405020304" pitchFamily="18" charset="0"/>
                    <a:cs typeface="Times New Roman" panose="02020603050405020304" pitchFamily="18" charset="0"/>
                  </a:rPr>
                  <a:t> </a:t>
                </a:r>
                <a:r>
                  <a:rPr lang="en-US" sz="4500" b="1" dirty="0" err="1">
                    <a:latin typeface="Times New Roman" panose="02020603050405020304" pitchFamily="18" charset="0"/>
                    <a:cs typeface="Times New Roman" panose="02020603050405020304" pitchFamily="18" charset="0"/>
                  </a:rPr>
                  <a:t>dốc</a:t>
                </a:r>
                <a:r>
                  <a:rPr lang="en-US" sz="4500" b="1" dirty="0">
                    <a:latin typeface="Times New Roman" panose="02020603050405020304" pitchFamily="18" charset="0"/>
                    <a:cs typeface="Times New Roman" panose="02020603050405020304" pitchFamily="18" charset="0"/>
                  </a:rPr>
                  <a:t>).</a:t>
                </a:r>
              </a:p>
              <a:p>
                <a:pPr marL="0" indent="0">
                  <a:buNone/>
                </a:pPr>
                <a:endParaRPr lang="en-US" sz="4500" b="1" dirty="0">
                  <a:latin typeface="Times New Roman" panose="02020603050405020304" pitchFamily="18" charset="0"/>
                  <a:cs typeface="Times New Roman" panose="02020603050405020304" pitchFamily="18" charset="0"/>
                </a:endParaRPr>
              </a:p>
              <a:p>
                <a:endParaRPr lang="en-US" sz="4500" b="1" dirty="0">
                  <a:latin typeface="Times New Roman" panose="02020603050405020304" pitchFamily="18" charset="0"/>
                  <a:cs typeface="Times New Roman" panose="02020603050405020304" pitchFamily="18" charset="0"/>
                </a:endParaRPr>
              </a:p>
            </p:txBody>
          </p:sp>
        </mc:Choice>
        <mc:Fallback>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752600"/>
                <a:ext cx="11125201" cy="11640349"/>
              </a:xfrm>
              <a:prstGeom prst="rect">
                <a:avLst/>
              </a:prstGeom>
              <a:blipFill>
                <a:blip r:embed="rId3"/>
                <a:stretch>
                  <a:fillRect l="-2244" t="-1727" r="-1533" b="-2930"/>
                </a:stretch>
              </a:blipFill>
              <a:ln>
                <a:solidFill>
                  <a:srgbClr val="00B0F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828800"/>
                <a:ext cx="11859491" cy="115641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solidFill>
                      <a:srgbClr val="FF0000"/>
                    </a:solidFill>
                    <a:latin typeface="Times New Roman" panose="02020603050405020304" pitchFamily="18" charset="0"/>
                    <a:cs typeface="Times New Roman" panose="02020603050405020304" pitchFamily="18" charset="0"/>
                  </a:rPr>
                  <a:t>Lời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giải</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4400" b="1" dirty="0">
                  <a:latin typeface="Times New Roman" panose="02020603050405020304" pitchFamily="18" charset="0"/>
                  <a:cs typeface="Times New Roman" panose="02020603050405020304" pitchFamily="18" charset="0"/>
                </a:endParaRPr>
              </a:p>
              <a:p>
                <a:pPr marL="0" indent="0">
                  <a:buNone/>
                </a:pPr>
                <a:endParaRPr lang="en-US" sz="4400" b="1" dirty="0">
                  <a:latin typeface="Times New Roman" panose="02020603050405020304" pitchFamily="18" charset="0"/>
                  <a:cs typeface="Times New Roman" panose="02020603050405020304" pitchFamily="18" charset="0"/>
                </a:endParaRPr>
              </a:p>
              <a:p>
                <a:pPr marL="0" indent="0">
                  <a:buNone/>
                </a:pPr>
                <a:endParaRPr lang="en-US" sz="4400" b="1" dirty="0">
                  <a:latin typeface="Times New Roman" panose="02020603050405020304" pitchFamily="18" charset="0"/>
                  <a:cs typeface="Times New Roman" panose="02020603050405020304" pitchFamily="18" charset="0"/>
                </a:endParaRPr>
              </a:p>
              <a:p>
                <a:pPr marL="0" indent="0">
                  <a:buNone/>
                </a:pPr>
                <a:endParaRPr lang="en-US" sz="4400" b="1" dirty="0">
                  <a:latin typeface="Times New Roman" panose="02020603050405020304" pitchFamily="18" charset="0"/>
                  <a:cs typeface="Times New Roman" panose="02020603050405020304" pitchFamily="18" charset="0"/>
                </a:endParaRPr>
              </a:p>
              <a:p>
                <a:r>
                  <a:rPr lang="en-US" sz="4400" b="1" dirty="0" err="1">
                    <a:latin typeface="Times New Roman" panose="02020603050405020304" pitchFamily="18" charset="0"/>
                    <a:cs typeface="Times New Roman" panose="02020603050405020304" pitchFamily="18" charset="0"/>
                  </a:rPr>
                  <a:t>Gọi</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𝑭</m:t>
                            </m:r>
                          </m:e>
                          <m:sub>
                            <m:r>
                              <a:rPr lang="en-US" sz="4400" b="1" i="1">
                                <a:latin typeface="Cambria Math" panose="02040503050406030204" pitchFamily="18" charset="0"/>
                              </a:rPr>
                              <m:t>𝟏</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𝑷</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𝒘</m:t>
                        </m:r>
                      </m:e>
                    </m:acc>
                  </m:oMath>
                </a14:m>
                <a:r>
                  <a:rPr lang="en-US" sz="4400" b="1" dirty="0">
                    <a:latin typeface="Times New Roman" panose="02020603050405020304" pitchFamily="18" charset="0"/>
                    <a:cs typeface="Times New Roman" panose="02020603050405020304" pitchFamily="18" charset="0"/>
                  </a:rPr>
                  <a:t> ta </a:t>
                </a:r>
                <a:r>
                  <a:rPr lang="en-US" sz="4400" b="1" dirty="0" err="1">
                    <a:latin typeface="Times New Roman" panose="02020603050405020304" pitchFamily="18" charset="0"/>
                    <a:cs typeface="Times New Roman" panose="02020603050405020304" pitchFamily="18" charset="0"/>
                  </a:rPr>
                  <a:t>có</a:t>
                </a:r>
                <a:endParaRPr lang="en-US" sz="4400" b="1" dirty="0">
                  <a:latin typeface="Times New Roman" panose="02020603050405020304" pitchFamily="18" charset="0"/>
                  <a:cs typeface="Times New Roman" panose="02020603050405020304" pitchFamily="18" charset="0"/>
                </a:endParaRPr>
              </a:p>
              <a:p>
                <a:r>
                  <a:rPr lang="en-US" sz="4400"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𝑭</m:t>
                                </m:r>
                              </m:e>
                              <m:sub>
                                <m:r>
                                  <a:rPr lang="en-US" sz="4400" b="1" i="1">
                                    <a:latin typeface="Cambria Math" panose="02040503050406030204" pitchFamily="18" charset="0"/>
                                  </a:rPr>
                                  <m:t>𝟏</m:t>
                                </m:r>
                              </m:sub>
                            </m:sSub>
                          </m:e>
                        </m:acc>
                      </m:e>
                    </m:d>
                    <m:r>
                      <a:rPr lang="en-US" sz="4400" b="1" i="1">
                        <a:latin typeface="Cambria Math" panose="02040503050406030204" pitchFamily="18" charset="0"/>
                      </a:rPr>
                      <m:t>=</m:t>
                    </m:r>
                    <m:r>
                      <a:rPr lang="en-US" sz="4400" b="1" i="1">
                        <a:latin typeface="Cambria Math" panose="02040503050406030204" pitchFamily="18" charset="0"/>
                      </a:rPr>
                      <m:t>𝑶𝑪</m:t>
                    </m:r>
                    <m:r>
                      <a:rPr lang="en-US" sz="4400" b="1" i="1">
                        <a:latin typeface="Cambria Math" panose="02040503050406030204" pitchFamily="18" charset="0"/>
                      </a:rPr>
                      <m:t>=</m:t>
                    </m:r>
                    <m:rad>
                      <m:radPr>
                        <m:degHide m:val="on"/>
                        <m:ctrlPr>
                          <a:rPr lang="en-US" sz="4400" b="1" i="1">
                            <a:latin typeface="Cambria Math" panose="02040503050406030204" pitchFamily="18" charset="0"/>
                          </a:rPr>
                        </m:ctrlPr>
                      </m:radPr>
                      <m:deg/>
                      <m:e>
                        <m:r>
                          <a:rPr lang="en-US" sz="4400" b="1" i="1">
                            <a:latin typeface="Cambria Math" panose="02040503050406030204" pitchFamily="18" charset="0"/>
                          </a:rPr>
                          <m:t>𝑩</m:t>
                        </m:r>
                        <m:sSup>
                          <m:sSupPr>
                            <m:ctrlPr>
                              <a:rPr lang="en-US" sz="4400" b="1" i="1">
                                <a:latin typeface="Cambria Math" panose="02040503050406030204" pitchFamily="18" charset="0"/>
                              </a:rPr>
                            </m:ctrlPr>
                          </m:sSupPr>
                          <m:e>
                            <m:r>
                              <a:rPr lang="en-US" sz="4400" b="1" i="1">
                                <a:latin typeface="Cambria Math" panose="02040503050406030204" pitchFamily="18" charset="0"/>
                              </a:rPr>
                              <m:t>𝑪</m:t>
                            </m:r>
                          </m:e>
                          <m:sup>
                            <m:r>
                              <a:rPr lang="en-US" sz="4400" b="1" i="1">
                                <a:latin typeface="Cambria Math" panose="02040503050406030204" pitchFamily="18" charset="0"/>
                              </a:rPr>
                              <m:t>𝟐</m:t>
                            </m:r>
                          </m:sup>
                        </m:sSup>
                        <m:r>
                          <a:rPr lang="en-US" sz="4400" b="1" i="1">
                            <a:latin typeface="Cambria Math" panose="02040503050406030204" pitchFamily="18" charset="0"/>
                          </a:rPr>
                          <m:t>−</m:t>
                        </m:r>
                        <m:r>
                          <a:rPr lang="en-US" sz="4400" b="1" i="1">
                            <a:latin typeface="Cambria Math" panose="02040503050406030204" pitchFamily="18" charset="0"/>
                          </a:rPr>
                          <m:t>𝑩</m:t>
                        </m:r>
                        <m:sSup>
                          <m:sSupPr>
                            <m:ctrlPr>
                              <a:rPr lang="en-US" sz="4400" b="1" i="1">
                                <a:latin typeface="Cambria Math" panose="02040503050406030204" pitchFamily="18" charset="0"/>
                              </a:rPr>
                            </m:ctrlPr>
                          </m:sSupPr>
                          <m:e>
                            <m:r>
                              <a:rPr lang="en-US" sz="4400" b="1" i="1">
                                <a:latin typeface="Cambria Math" panose="02040503050406030204" pitchFamily="18" charset="0"/>
                              </a:rPr>
                              <m:t>𝑶</m:t>
                            </m:r>
                          </m:e>
                          <m:sup>
                            <m:r>
                              <a:rPr lang="en-US" sz="4400" b="1" i="1">
                                <a:latin typeface="Cambria Math" panose="02040503050406030204" pitchFamily="18" charset="0"/>
                              </a:rPr>
                              <m:t>𝟐</m:t>
                            </m:r>
                          </m:sup>
                        </m:sSup>
                      </m:e>
                    </m:rad>
                    <m:r>
                      <a:rPr lang="en-US" sz="4400" b="1" i="1">
                        <a:latin typeface="Cambria Math" panose="02040503050406030204" pitchFamily="18" charset="0"/>
                      </a:rPr>
                      <m:t>=</m:t>
                    </m:r>
                    <m:rad>
                      <m:radPr>
                        <m:degHide m:val="on"/>
                        <m:ctrlPr>
                          <a:rPr lang="en-US" sz="4400" b="1" i="1">
                            <a:latin typeface="Cambria Math" panose="02040503050406030204" pitchFamily="18" charset="0"/>
                          </a:rPr>
                        </m:ctrlPr>
                      </m:radPr>
                      <m:deg/>
                      <m:e>
                        <m:sSup>
                          <m:sSupPr>
                            <m:ctrlPr>
                              <a:rPr lang="en-US" sz="4400" b="1" i="1">
                                <a:latin typeface="Cambria Math" panose="02040503050406030204" pitchFamily="18" charset="0"/>
                              </a:rPr>
                            </m:ctrlPr>
                          </m:sSupPr>
                          <m:e>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𝑷</m:t>
                                    </m:r>
                                  </m:e>
                                </m:acc>
                              </m:e>
                            </m:d>
                          </m:e>
                          <m:sup>
                            <m:r>
                              <a:rPr lang="en-US" sz="4400" b="1" i="1">
                                <a:latin typeface="Cambria Math" panose="02040503050406030204" pitchFamily="18" charset="0"/>
                              </a:rPr>
                              <m:t>𝟐</m:t>
                            </m:r>
                          </m:sup>
                        </m:sSup>
                        <m:r>
                          <a:rPr lang="en-US" sz="4400" b="1" i="1">
                            <a:latin typeface="Cambria Math" panose="02040503050406030204" pitchFamily="18" charset="0"/>
                          </a:rPr>
                          <m:t>−</m:t>
                        </m:r>
                        <m:sSup>
                          <m:sSupPr>
                            <m:ctrlPr>
                              <a:rPr lang="en-US" sz="4400" b="1" i="1">
                                <a:latin typeface="Cambria Math" panose="02040503050406030204" pitchFamily="18" charset="0"/>
                              </a:rPr>
                            </m:ctrlPr>
                          </m:sSupPr>
                          <m:e>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𝒘</m:t>
                                    </m:r>
                                  </m:e>
                                </m:acc>
                              </m:e>
                            </m:d>
                          </m:e>
                          <m:sup>
                            <m:r>
                              <a:rPr lang="en-US" sz="4400" b="1" i="1">
                                <a:latin typeface="Cambria Math" panose="02040503050406030204" pitchFamily="18" charset="0"/>
                              </a:rPr>
                              <m:t>𝟐</m:t>
                            </m:r>
                          </m:sup>
                        </m:sSup>
                      </m:e>
                    </m:rad>
                  </m:oMath>
                </a14:m>
                <a:endParaRPr lang="en-US" sz="4400" b="1" i="1"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4400" b="1" i="1">
                          <a:latin typeface="Cambria Math" panose="02040503050406030204" pitchFamily="18" charset="0"/>
                        </a:rPr>
                        <m:t>=</m:t>
                      </m:r>
                      <m:r>
                        <a:rPr lang="en-US" sz="4400" b="1" i="1">
                          <a:latin typeface="Cambria Math" panose="02040503050406030204" pitchFamily="18" charset="0"/>
                        </a:rPr>
                        <m:t>𝟏𝟏𝟕𝟒</m:t>
                      </m:r>
                      <m:r>
                        <a:rPr lang="en-US" sz="4400" b="1" i="1">
                          <a:latin typeface="Cambria Math" panose="02040503050406030204" pitchFamily="18" charset="0"/>
                        </a:rPr>
                        <m:t>𝑵</m:t>
                      </m:r>
                    </m:oMath>
                  </m:oMathPara>
                </a14:m>
                <a:endParaRPr lang="en-US" sz="4400" b="1" dirty="0">
                  <a:latin typeface="Times New Roman" panose="02020603050405020304" pitchFamily="18" charset="0"/>
                  <a:cs typeface="Times New Roman" panose="02020603050405020304" pitchFamily="18" charset="0"/>
                </a:endParaRPr>
              </a:p>
              <a:p>
                <a:r>
                  <a:rPr lang="en-US" sz="4400" b="1" dirty="0" err="1">
                    <a:latin typeface="Times New Roman" panose="02020603050405020304" pitchFamily="18" charset="0"/>
                    <a:cs typeface="Times New Roman" panose="02020603050405020304" pitchFamily="18" charset="0"/>
                  </a:rPr>
                  <a:t>Để</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kéo</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được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khẩu</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pháo</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lên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dốc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thì</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𝑭</m:t>
                            </m:r>
                          </m:e>
                        </m:acc>
                      </m:e>
                    </m:d>
                    <m:r>
                      <a:rPr lang="en-US" sz="4400" b="1" i="1">
                        <a:latin typeface="Cambria Math" panose="02040503050406030204" pitchFamily="18" charset="0"/>
                      </a:rPr>
                      <m:t>&gt;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𝑭</m:t>
                                </m:r>
                              </m:e>
                              <m:sub>
                                <m:r>
                                  <a:rPr lang="en-US" sz="4400" b="1" i="1">
                                    <a:latin typeface="Cambria Math" panose="02040503050406030204" pitchFamily="18" charset="0"/>
                                  </a:rPr>
                                  <m:t>𝟏</m:t>
                                </m:r>
                              </m:sub>
                            </m:sSub>
                          </m:e>
                        </m:acc>
                      </m:e>
                    </m:d>
                  </m:oMath>
                </a14:m>
                <a:r>
                  <a:rPr lang="en-US" sz="4400" b="1" dirty="0">
                    <a:latin typeface="Times New Roman" panose="02020603050405020304" pitchFamily="18" charset="0"/>
                    <a:cs typeface="Times New Roman" panose="02020603050405020304" pitchFamily="18" charset="0"/>
                  </a:rPr>
                  <a:t>,</a:t>
                </a:r>
              </a:p>
              <a:p>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nghĩa</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là</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số</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người</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kéo</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pháo</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phải</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lớn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hơn</a:t>
                </a:r>
                <a14:m>
                  <m:oMath xmlns:m="http://schemas.openxmlformats.org/officeDocument/2006/math">
                    <m:f>
                      <m:fPr>
                        <m:ctrlPr>
                          <a:rPr lang="en-US" sz="4400" b="1" i="1">
                            <a:latin typeface="Cambria Math" panose="02040503050406030204" pitchFamily="18" charset="0"/>
                          </a:rPr>
                        </m:ctrlPr>
                      </m:fPr>
                      <m:num>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𝑭</m:t>
                                    </m:r>
                                  </m:e>
                                  <m:sub>
                                    <m:r>
                                      <a:rPr lang="en-US" sz="4400" b="1" i="1">
                                        <a:latin typeface="Cambria Math" panose="02040503050406030204" pitchFamily="18" charset="0"/>
                                      </a:rPr>
                                      <m:t>𝟏</m:t>
                                    </m:r>
                                  </m:sub>
                                </m:sSub>
                              </m:e>
                            </m:acc>
                          </m:e>
                        </m:d>
                      </m:num>
                      <m:den>
                        <m:r>
                          <a:rPr lang="en-US" sz="4400" b="1" i="1">
                            <a:latin typeface="Cambria Math" panose="02040503050406030204" pitchFamily="18" charset="0"/>
                          </a:rPr>
                          <m:t>𝟏𝟎𝟎</m:t>
                        </m:r>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𝟏𝟏𝟕𝟒</m:t>
                        </m:r>
                      </m:num>
                      <m:den>
                        <m:r>
                          <a:rPr lang="en-US" sz="4400" b="1" i="1">
                            <a:latin typeface="Cambria Math" panose="02040503050406030204" pitchFamily="18" charset="0"/>
                          </a:rPr>
                          <m:t>𝟏𝟎𝟎</m:t>
                        </m:r>
                      </m:den>
                    </m:f>
                    <m:r>
                      <a:rPr lang="en-US" sz="4400" b="1" i="1">
                        <a:latin typeface="Cambria Math" panose="02040503050406030204" pitchFamily="18" charset="0"/>
                      </a:rPr>
                      <m:t>=</m:t>
                    </m:r>
                    <m:r>
                      <a:rPr lang="en-US" sz="4400" b="1" i="1">
                        <a:latin typeface="Cambria Math" panose="02040503050406030204" pitchFamily="18" charset="0"/>
                      </a:rPr>
                      <m:t>𝟏𝟏</m:t>
                    </m:r>
                    <m:r>
                      <a:rPr lang="en-US" sz="4400" b="1" i="1">
                        <a:latin typeface="Cambria Math" panose="02040503050406030204" pitchFamily="18" charset="0"/>
                      </a:rPr>
                      <m:t>,</m:t>
                    </m:r>
                    <m:r>
                      <a:rPr lang="en-US" sz="4400" b="1" i="1">
                        <a:latin typeface="Cambria Math" panose="02040503050406030204" pitchFamily="18" charset="0"/>
                      </a:rPr>
                      <m:t>𝟕𝟒</m:t>
                    </m:r>
                  </m:oMath>
                </a14:m>
                <a:endParaRPr lang="en-US" sz="4400" b="1" dirty="0">
                  <a:latin typeface="Times New Roman" panose="02020603050405020304" pitchFamily="18" charset="0"/>
                  <a:cs typeface="Times New Roman" panose="02020603050405020304" pitchFamily="18" charset="0"/>
                </a:endParaRPr>
              </a:p>
              <a:p>
                <a:r>
                  <a:rPr lang="en-US" sz="4400" b="1" dirty="0" err="1">
                    <a:latin typeface="Times New Roman" panose="02020603050405020304" pitchFamily="18" charset="0"/>
                    <a:cs typeface="Times New Roman" panose="02020603050405020304" pitchFamily="18" charset="0"/>
                  </a:rPr>
                  <a:t>Vậy</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cần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tối</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thiểu</a:t>
                </a:r>
                <a:r>
                  <a:rPr lang="en-US" sz="4400" b="1" dirty="0">
                    <a:latin typeface="Times New Roman" panose="02020603050405020304" pitchFamily="18" charset="0"/>
                    <a:cs typeface="Times New Roman" panose="02020603050405020304" pitchFamily="18" charset="0"/>
                  </a:rPr>
                  <a:t> 12 </a:t>
                </a:r>
                <a:r>
                  <a:rPr lang="en-US" sz="4400" b="1" dirty="0" err="1">
                    <a:latin typeface="Times New Roman" panose="02020603050405020304" pitchFamily="18" charset="0"/>
                    <a:cs typeface="Times New Roman" panose="02020603050405020304" pitchFamily="18" charset="0"/>
                  </a:rPr>
                  <a:t>người</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để</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kéo</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pháo</a:t>
                </a:r>
                <a:r>
                  <a:rPr lang="en-US" sz="4400" b="1" dirty="0">
                    <a:latin typeface="Times New Roman" panose="02020603050405020304" pitchFamily="18" charset="0"/>
                    <a:cs typeface="Times New Roman" panose="02020603050405020304" pitchFamily="18" charset="0"/>
                  </a:rPr>
                  <a:t>.</a:t>
                </a:r>
              </a:p>
              <a:p>
                <a:pPr marL="0" indent="0">
                  <a:buNone/>
                </a:pPr>
                <a:endParaRPr lang="en-US" sz="4400" b="1" dirty="0">
                  <a:latin typeface="Times New Roman" panose="02020603050405020304" pitchFamily="18" charset="0"/>
                  <a:cs typeface="Times New Roman" panose="02020603050405020304" pitchFamily="18" charset="0"/>
                </a:endParaRPr>
              </a:p>
            </p:txBody>
          </p:sp>
        </mc:Choice>
        <mc:Fallback>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828800"/>
                <a:ext cx="11859491" cy="11564149"/>
              </a:xfrm>
              <a:prstGeom prst="rect">
                <a:avLst/>
              </a:prstGeom>
              <a:blipFill>
                <a:blip r:embed="rId4"/>
                <a:stretch>
                  <a:fillRect l="-2260" t="-1738"/>
                </a:stretch>
              </a:blipFill>
              <a:ln>
                <a:solidFill>
                  <a:srgbClr val="00B0F0"/>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6491072D-9472-47B8-8B3E-55EC1E2FF564}"/>
              </a:ext>
            </a:extLst>
          </p:cNvPr>
          <p:cNvPicPr/>
          <p:nvPr/>
        </p:nvPicPr>
        <p:blipFill>
          <a:blip r:embed="rId5"/>
          <a:stretch>
            <a:fillRect/>
          </a:stretch>
        </p:blipFill>
        <p:spPr>
          <a:xfrm>
            <a:off x="18154650" y="2438400"/>
            <a:ext cx="5410200" cy="44196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35050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wipe(up)">
                                      <p:cBhvr>
                                        <p:cTn id="7" dur="5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wipe(up)">
                                      <p:cBhvr>
                                        <p:cTn id="12" dur="500"/>
                                        <p:tgtEl>
                                          <p:spTgt spid="7">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Effect transition="in" filter="wipe(up)">
                                      <p:cBhvr>
                                        <p:cTn id="17" dur="500"/>
                                        <p:tgtEl>
                                          <p:spTgt spid="7">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Effect transition="in" filter="wipe(up)">
                                      <p:cBhvr>
                                        <p:cTn id="22" dur="500"/>
                                        <p:tgtEl>
                                          <p:spTgt spid="7">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animEffect transition="in" filter="wipe(up)">
                                      <p:cBhvr>
                                        <p:cTn id="27" dur="500"/>
                                        <p:tgtEl>
                                          <p:spTgt spid="7">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10" end="10"/>
                                            </p:txEl>
                                          </p:spTgt>
                                        </p:tgtEl>
                                        <p:attrNameLst>
                                          <p:attrName>style.visibility</p:attrName>
                                        </p:attrNameLst>
                                      </p:cBhvr>
                                      <p:to>
                                        <p:strVal val="visible"/>
                                      </p:to>
                                    </p:set>
                                    <p:animEffect transition="in" filter="wipe(up)">
                                      <p:cBhvr>
                                        <p:cTn id="32"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a:t>
                </a:r>
              </a:p>
              <a:p>
                <a:pPr marL="0" indent="0">
                  <a:buNone/>
                </a:pPr>
                <a:r>
                  <a:rPr lang="en-US" b="1">
                    <a:solidFill>
                      <a:srgbClr val="FF0000"/>
                    </a:solidFill>
                  </a:rPr>
                  <a:t>4.6. </a:t>
                </a:r>
                <a:r>
                  <a:rPr lang="en-US" b="1"/>
                  <a:t>Cho bốn điểm bất kỳ </a:t>
                </a:r>
                <a14:m>
                  <m:oMath xmlns:m="http://schemas.openxmlformats.org/officeDocument/2006/math">
                    <m:r>
                      <a:rPr lang="en-US" b="1" i="1">
                        <a:latin typeface="Cambria Math" panose="02040503050406030204" pitchFamily="18" charset="0"/>
                      </a:rPr>
                      <m:t>𝑨</m:t>
                    </m:r>
                  </m:oMath>
                </a14:m>
                <a:r>
                  <a:rPr lang="en-US" b="1"/>
                  <a:t>, </a:t>
                </a:r>
                <a14:m>
                  <m:oMath xmlns:m="http://schemas.openxmlformats.org/officeDocument/2006/math">
                    <m:r>
                      <a:rPr lang="en-US" b="1" i="1">
                        <a:latin typeface="Cambria Math" panose="02040503050406030204" pitchFamily="18" charset="0"/>
                      </a:rPr>
                      <m:t>𝑩</m:t>
                    </m:r>
                  </m:oMath>
                </a14:m>
                <a:r>
                  <a:rPr lang="en-US" b="1"/>
                  <a:t>, </a:t>
                </a:r>
                <a14:m>
                  <m:oMath xmlns:m="http://schemas.openxmlformats.org/officeDocument/2006/math">
                    <m:r>
                      <a:rPr lang="en-US" b="1" i="1">
                        <a:latin typeface="Cambria Math" panose="02040503050406030204" pitchFamily="18" charset="0"/>
                      </a:rPr>
                      <m:t>𝑪</m:t>
                    </m:r>
                  </m:oMath>
                </a14:m>
                <a:r>
                  <a:rPr lang="en-US" b="1"/>
                  <a:t>,</a:t>
                </a:r>
                <a14:m>
                  <m:oMath xmlns:m="http://schemas.openxmlformats.org/officeDocument/2006/math">
                    <m:r>
                      <a:rPr lang="en-US" b="1" i="1">
                        <a:latin typeface="Cambria Math" panose="02040503050406030204" pitchFamily="18" charset="0"/>
                      </a:rPr>
                      <m:t>𝑫</m:t>
                    </m:r>
                  </m:oMath>
                </a14:m>
                <a:r>
                  <a:rPr lang="en-US" b="1"/>
                  <a:t>. Hãy chứng minh rằng </a:t>
                </a:r>
              </a:p>
              <a:p>
                <a:pPr marL="0" indent="0">
                  <a:buNone/>
                </a:pPr>
                <a:r>
                  <a:rPr lang="en-US" b="1"/>
                  <a:t>a)</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r>
                  <a:rPr lang="en-US" b="1"/>
                  <a:t>.	</a:t>
                </a:r>
              </a:p>
              <a:p>
                <a:pPr marL="0" indent="0">
                  <a:buNone/>
                </a:pPr>
                <a:r>
                  <a:rPr lang="en-US" b="1"/>
                  <a:t>b)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oMath>
                </a14:m>
                <a:endParaRPr lang="en-US" b="1"/>
              </a:p>
              <a:p>
                <a:pPr marL="0" indent="0">
                  <a:buNone/>
                </a:pPr>
                <a:endParaRPr lang="en-US" sz="4600" b="1"/>
              </a:p>
              <a:p>
                <a:endParaRPr lang="en-US" sz="4600"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en-US" b="1"/>
                  <a:t>a) 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𝑫𝑨</m:t>
                        </m:r>
                      </m:e>
                    </m:acc>
                  </m:oMath>
                </a14:m>
                <a:endParaRPr lang="en-US" b="1" i="1"/>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e>
                      </m:d>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𝑫𝑨</m:t>
                              </m:r>
                            </m:e>
                          </m:acc>
                        </m:e>
                      </m:d>
                    </m:oMath>
                  </m:oMathPara>
                </a14:m>
                <a:endParaRPr lang="en-US" b="1" i="1"/>
              </a:p>
              <a:p>
                <a:pPr marL="0" indent="0">
                  <a:buNone/>
                </a:pPr>
                <a:r>
                  <a:rPr lang="en-US" b="1"/>
                  <a:t>                </a:t>
                </a:r>
                <a14:m>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r>
                  <a:rPr lang="en-US" b="1"/>
                  <a:t>.</a:t>
                </a:r>
              </a:p>
              <a:p>
                <a:pPr marL="0" indent="0">
                  <a:buNone/>
                </a:pPr>
                <a:r>
                  <a:rPr lang="en-US" b="1"/>
                  <a:t>b) Ta có </a:t>
                </a:r>
                <a14:m>
                  <m:oMath xmlns:m="http://schemas.openxmlformats.org/officeDocument/2006/math">
                    <m:d>
                      <m:dPr>
                        <m:begChr m:val="{"/>
                        <m:endChr m:val=""/>
                        <m:ctrlPr>
                          <a:rPr lang="en-US" b="1" i="1">
                            <a:latin typeface="Cambria Math" panose="02040503050406030204" pitchFamily="18" charset="0"/>
                          </a:rPr>
                        </m:ctrlPr>
                      </m:dPr>
                      <m:e>
                        <m:m>
                          <m:mPr>
                            <m:mcs>
                              <m:mc>
                                <m:mcPr>
                                  <m:count m:val="1"/>
                                  <m:mcJc m:val="center"/>
                                </m:mcPr>
                              </m:mc>
                            </m:mcs>
                            <m:ctrlPr>
                              <a:rPr lang="en-US" b="1" i="1">
                                <a:latin typeface="Cambria Math" panose="02040503050406030204" pitchFamily="18" charset="0"/>
                              </a:rPr>
                            </m:ctrlPr>
                          </m:mPr>
                          <m:mr>
                            <m:e>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e>
                          </m:mr>
                          <m:mr>
                            <m:e>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e>
                          </m:mr>
                        </m:m>
                      </m:e>
                    </m:d>
                  </m:oMath>
                </a14:m>
                <a:r>
                  <a:rPr lang="en-US" b="1"/>
                  <a:t> </a:t>
                </a:r>
              </a:p>
              <a:p>
                <a:pPr marL="0" indent="0">
                  <a:buNone/>
                </a:pPr>
                <a:r>
                  <a:rPr lang="en-US" b="1"/>
                  <a:t>nên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oMath>
                </a14:m>
                <a:r>
                  <a:rPr lang="en-US" b="1"/>
                  <a:t>.</a:t>
                </a:r>
              </a:p>
              <a:p>
                <a:pPr marL="0" indent="0">
                  <a:buNone/>
                </a:pPr>
                <a:endParaRPr lang="en-US" sz="4400"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63374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wipe(up)">
                                      <p:cBhvr>
                                        <p:cTn id="36" dur="500"/>
                                        <p:tgtEl>
                                          <p:spTgt spid="7">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Effect transition="in" filter="wipe(up)">
                                      <p:cBhvr>
                                        <p:cTn id="41" dur="500"/>
                                        <p:tgtEl>
                                          <p:spTgt spid="7">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3" end="3"/>
                                            </p:txEl>
                                          </p:spTgt>
                                        </p:tgtEl>
                                        <p:attrNameLst>
                                          <p:attrName>style.visibility</p:attrName>
                                        </p:attrNameLst>
                                      </p:cBhvr>
                                      <p:to>
                                        <p:strVal val="visible"/>
                                      </p:to>
                                    </p:set>
                                    <p:animEffect transition="in" filter="wipe(up)">
                                      <p:cBhvr>
                                        <p:cTn id="46" dur="500"/>
                                        <p:tgtEl>
                                          <p:spTgt spid="7">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
                                            <p:txEl>
                                              <p:pRg st="4" end="4"/>
                                            </p:txEl>
                                          </p:spTgt>
                                        </p:tgtEl>
                                        <p:attrNameLst>
                                          <p:attrName>style.visibility</p:attrName>
                                        </p:attrNameLst>
                                      </p:cBhvr>
                                      <p:to>
                                        <p:strVal val="visible"/>
                                      </p:to>
                                    </p:set>
                                    <p:animEffect transition="in" filter="wipe(up)">
                                      <p:cBhvr>
                                        <p:cTn id="51" dur="500"/>
                                        <p:tgtEl>
                                          <p:spTgt spid="7">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7">
                                            <p:txEl>
                                              <p:pRg st="5" end="5"/>
                                            </p:txEl>
                                          </p:spTgt>
                                        </p:tgtEl>
                                        <p:attrNameLst>
                                          <p:attrName>style.visibility</p:attrName>
                                        </p:attrNameLst>
                                      </p:cBhvr>
                                      <p:to>
                                        <p:strVal val="visible"/>
                                      </p:to>
                                    </p:set>
                                    <p:animEffect transition="in" filter="wipe(up)">
                                      <p:cBhvr>
                                        <p:cTn id="56"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a:t>
                </a:r>
              </a:p>
              <a:p>
                <a:pPr marL="0" indent="0">
                  <a:buNone/>
                </a:pPr>
                <a:r>
                  <a:rPr lang="en-US" b="1">
                    <a:solidFill>
                      <a:srgbClr val="FF0000"/>
                    </a:solidFill>
                  </a:rPr>
                  <a:t>4.7.  </a:t>
                </a:r>
                <a:r>
                  <a:rPr lang="en-US" b="1"/>
                  <a:t>Cho hình bình hành </a:t>
                </a:r>
                <a14:m>
                  <m:oMath xmlns:m="http://schemas.openxmlformats.org/officeDocument/2006/math">
                    <m:r>
                      <a:rPr lang="en-US" b="1" i="1">
                        <a:latin typeface="Cambria Math" panose="02040503050406030204" pitchFamily="18" charset="0"/>
                      </a:rPr>
                      <m:t>𝑨𝑩𝑪𝑫</m:t>
                    </m:r>
                  </m:oMath>
                </a14:m>
                <a:r>
                  <a:rPr lang="en-US" b="1"/>
                  <a:t>. Hãy tìm điểm </a:t>
                </a:r>
                <a14:m>
                  <m:oMath xmlns:m="http://schemas.openxmlformats.org/officeDocument/2006/math">
                    <m:r>
                      <a:rPr lang="en-US" b="1" i="1">
                        <a:latin typeface="Cambria Math" panose="02040503050406030204" pitchFamily="18" charset="0"/>
                      </a:rPr>
                      <m:t>𝑴</m:t>
                    </m:r>
                  </m:oMath>
                </a14:m>
                <a:r>
                  <a:rPr lang="en-US" b="1"/>
                  <a:t> để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𝑩𝑴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oMath>
                </a14:m>
                <a:r>
                  <a:rPr lang="en-US" b="1"/>
                  <a:t>. Tìm mối quan hệ giữa hai vec 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oMath>
                </a14:m>
                <a:r>
                  <a:rPr lang="en-US" b="1"/>
                  <a:t>và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𝑪𝑴</m:t>
                        </m:r>
                      </m:e>
                    </m:acc>
                  </m:oMath>
                </a14:m>
                <a:r>
                  <a:rPr lang="en-US" b="1"/>
                  <a:t>.</a:t>
                </a:r>
                <a:endParaRPr lang="en-US" sz="4600" b="1"/>
              </a:p>
              <a:p>
                <a:endParaRPr lang="en-US" sz="4600"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r="-355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endParaRPr lang="en-US" sz="4400" b="1"/>
              </a:p>
              <a:p>
                <a:pPr marL="0" indent="0">
                  <a:buNone/>
                </a:pPr>
                <a:endParaRPr lang="en-US" sz="4400" b="1"/>
              </a:p>
              <a:p>
                <a:pPr marL="0" indent="0">
                  <a:buNone/>
                </a:pPr>
                <a:endParaRPr lang="en-US" sz="4400" b="1"/>
              </a:p>
              <a:p>
                <a:pPr marL="0" indent="0">
                  <a:buNone/>
                </a:pPr>
                <a:endParaRPr lang="en-US" sz="4400" b="1"/>
              </a:p>
              <a:p>
                <a:pPr marL="0" indent="0">
                  <a:buNone/>
                </a:pPr>
                <a:endParaRPr lang="en-US" sz="4400" b="1"/>
              </a:p>
              <a:p>
                <a:pPr marL="0" indent="0">
                  <a:buNone/>
                </a:pPr>
                <a:r>
                  <a:rPr lang="en-US" b="1"/>
                  <a:t>Ta có thep quy tắc hình bình hành</a:t>
                </a:r>
              </a:p>
              <a:p>
                <a:pPr marL="0" indent="0">
                  <a:buNone/>
                </a:pP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𝑩𝑴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r>
                  <a:rPr lang="en-US" b="1"/>
                  <a:t> nên </a:t>
                </a:r>
                <a14:m>
                  <m:oMath xmlns:m="http://schemas.openxmlformats.org/officeDocument/2006/math">
                    <m:r>
                      <a:rPr lang="en-US" b="1" i="1">
                        <a:latin typeface="Cambria Math" panose="02040503050406030204" pitchFamily="18" charset="0"/>
                      </a:rPr>
                      <m:t>𝑴</m:t>
                    </m:r>
                  </m:oMath>
                </a14:m>
                <a:r>
                  <a:rPr lang="en-US" b="1"/>
                  <a:t> là đỉnh thứ tư của hình bình hành </a:t>
                </a:r>
                <a14:m>
                  <m:oMath xmlns:m="http://schemas.openxmlformats.org/officeDocument/2006/math">
                    <m:r>
                      <a:rPr lang="en-US" b="1" i="1">
                        <a:latin typeface="Cambria Math" panose="02040503050406030204" pitchFamily="18" charset="0"/>
                      </a:rPr>
                      <m:t>𝑩𝑨𝑪𝑴</m:t>
                    </m:r>
                  </m:oMath>
                </a14:m>
                <a:r>
                  <a:rPr lang="en-US" b="1"/>
                  <a:t> ( như hình vẽ). </a:t>
                </a:r>
              </a:p>
              <a:p>
                <a:pPr marL="0" indent="0">
                  <a:buNone/>
                </a:pPr>
                <a:endParaRPr lang="en-US" sz="4400"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r="-1438"/>
                </a:stretch>
              </a:blipFill>
              <a:ln>
                <a:solidFill>
                  <a:srgbClr val="00B0F0"/>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4B15FEC2-7980-4280-8B7B-65E15848F078}"/>
              </a:ext>
            </a:extLst>
          </p:cNvPr>
          <p:cNvPicPr/>
          <p:nvPr/>
        </p:nvPicPr>
        <p:blipFill>
          <a:blip r:embed="rId5"/>
          <a:stretch>
            <a:fillRect/>
          </a:stretch>
        </p:blipFill>
        <p:spPr>
          <a:xfrm>
            <a:off x="12954000" y="3352800"/>
            <a:ext cx="10591800" cy="35052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489442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down)">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up)">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wipe(up)">
                                      <p:cBhvr>
                                        <p:cTn id="33" dur="500"/>
                                        <p:tgtEl>
                                          <p:spTgt spid="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7">
                                            <p:txEl>
                                              <p:pRg st="7" end="7"/>
                                            </p:txEl>
                                          </p:spTgt>
                                        </p:tgtEl>
                                        <p:attrNameLst>
                                          <p:attrName>style.visibility</p:attrName>
                                        </p:attrNameLst>
                                      </p:cBhvr>
                                      <p:to>
                                        <p:strVal val="visible"/>
                                      </p:to>
                                    </p:set>
                                    <p:animEffect transition="in" filter="wipe(up)">
                                      <p:cBhvr>
                                        <p:cTn id="38"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a:t>
                </a:r>
              </a:p>
              <a:p>
                <a:pPr marL="0" indent="0">
                  <a:buNone/>
                </a:pPr>
                <a:r>
                  <a:rPr lang="en-US" b="1">
                    <a:solidFill>
                      <a:srgbClr val="FF0000"/>
                    </a:solidFill>
                  </a:rPr>
                  <a:t>4.8.  </a:t>
                </a:r>
                <a:r>
                  <a:rPr lang="en-US" b="1"/>
                  <a:t>Cho tam giác đều</a:t>
                </a:r>
                <a14:m>
                  <m:oMath xmlns:m="http://schemas.openxmlformats.org/officeDocument/2006/math">
                    <m:r>
                      <a:rPr lang="en-US" b="1" i="1">
                        <a:latin typeface="Cambria Math" panose="02040503050406030204" pitchFamily="18" charset="0"/>
                      </a:rPr>
                      <m:t>𝑨𝑩𝑪</m:t>
                    </m:r>
                  </m:oMath>
                </a14:m>
                <a:r>
                  <a:rPr lang="en-US" b="1"/>
                  <a:t> cạnh </a:t>
                </a:r>
                <a14:m>
                  <m:oMath xmlns:m="http://schemas.openxmlformats.org/officeDocument/2006/math">
                    <m:r>
                      <a:rPr lang="en-US" b="1" i="1">
                        <a:latin typeface="Cambria Math" panose="02040503050406030204" pitchFamily="18" charset="0"/>
                      </a:rPr>
                      <m:t>𝒂</m:t>
                    </m:r>
                  </m:oMath>
                </a14:m>
                <a:r>
                  <a:rPr lang="en-US" b="1"/>
                  <a:t>. Tính độ dài các vec 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r>
                  <a:rPr lang="en-US" b="1"/>
                  <a:t>.   </a:t>
                </a:r>
              </a:p>
              <a:p>
                <a:pPr marL="0" indent="0">
                  <a:buNone/>
                </a:pPr>
                <a:endParaRPr lang="en-US" sz="4600"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r="-322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lvl="0" indent="0">
                  <a:buNone/>
                </a:pPr>
                <a:r>
                  <a:rPr lang="en-US" b="1"/>
                  <a:t>a) Tính độ dài vectơ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endParaRPr lang="en-US" b="1"/>
              </a:p>
              <a:p>
                <a:pPr marL="0" indent="0">
                  <a:buNone/>
                </a:pPr>
                <a:r>
                  <a:rPr lang="en-US" b="1"/>
                  <a:t>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endParaRPr lang="en-US" b="1"/>
              </a:p>
              <a:p>
                <a:pPr marL="0" indent="0">
                  <a:buNone/>
                </a:pPr>
                <a:r>
                  <a:rPr lang="en-US" b="1"/>
                  <a:t>nên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e>
                    </m:d>
                    <m:r>
                      <a:rPr lang="en-US"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e>
                    </m:d>
                    <m:r>
                      <a:rPr lang="en-US" b="1" i="1">
                        <a:latin typeface="Cambria Math" panose="02040503050406030204" pitchFamily="18" charset="0"/>
                      </a:rPr>
                      <m:t>=</m:t>
                    </m:r>
                    <m:r>
                      <a:rPr lang="en-US" b="1" i="1">
                        <a:latin typeface="Cambria Math" panose="02040503050406030204" pitchFamily="18" charset="0"/>
                      </a:rPr>
                      <m:t>𝑪𝑩</m:t>
                    </m:r>
                    <m:r>
                      <a:rPr lang="en-US" b="1" i="1">
                        <a:latin typeface="Cambria Math" panose="02040503050406030204" pitchFamily="18" charset="0"/>
                      </a:rPr>
                      <m:t>=</m:t>
                    </m:r>
                    <m:r>
                      <a:rPr lang="en-US" b="1" i="1">
                        <a:latin typeface="Cambria Math" panose="02040503050406030204" pitchFamily="18" charset="0"/>
                      </a:rPr>
                      <m:t>𝒂</m:t>
                    </m:r>
                  </m:oMath>
                </a14:m>
                <a:endParaRPr lang="en-US" b="1"/>
              </a:p>
              <a:p>
                <a:pPr marL="0" lvl="0" indent="0">
                  <a:buNone/>
                </a:pPr>
                <a:r>
                  <a:rPr lang="en-US" b="1"/>
                  <a:t>b) Tính độ dài vectơ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endParaRPr lang="en-US" b="1"/>
              </a:p>
              <a:p>
                <a:r>
                  <a:rPr lang="vi-VN" b="1"/>
                  <a:t>Gọi </a:t>
                </a:r>
                <a14:m>
                  <m:oMath xmlns:m="http://schemas.openxmlformats.org/officeDocument/2006/math">
                    <m:r>
                      <a:rPr lang="en-US" b="1" i="1">
                        <a:latin typeface="Cambria Math" panose="02040503050406030204" pitchFamily="18" charset="0"/>
                      </a:rPr>
                      <m:t>𝑯</m:t>
                    </m:r>
                  </m:oMath>
                </a14:m>
                <a:r>
                  <a:rPr lang="vi-VN" b="1"/>
                  <a:t> là trung điểm của </a:t>
                </a:r>
                <a14:m>
                  <m:oMath xmlns:m="http://schemas.openxmlformats.org/officeDocument/2006/math">
                    <m:r>
                      <a:rPr lang="en-US" b="1" i="1">
                        <a:latin typeface="Cambria Math" panose="02040503050406030204" pitchFamily="18" charset="0"/>
                      </a:rPr>
                      <m:t>𝑩𝑪</m:t>
                    </m:r>
                    <m:r>
                      <a:rPr lang="en-US" b="1" i="1">
                        <a:latin typeface="Cambria Math" panose="02040503050406030204" pitchFamily="18" charset="0"/>
                      </a:rPr>
                      <m:t>⇒</m:t>
                    </m:r>
                    <m:r>
                      <a:rPr lang="en-US" b="1" i="1">
                        <a:latin typeface="Cambria Math" panose="02040503050406030204" pitchFamily="18" charset="0"/>
                      </a:rPr>
                      <m:t>𝑨𝑯</m:t>
                    </m:r>
                    <m:r>
                      <a:rPr lang="en-US" b="1" i="1">
                        <a:latin typeface="Cambria Math" panose="02040503050406030204" pitchFamily="18" charset="0"/>
                      </a:rPr>
                      <m:t>⊥</m:t>
                    </m:r>
                    <m:r>
                      <a:rPr lang="en-US" b="1" i="1">
                        <a:latin typeface="Cambria Math" panose="02040503050406030204" pitchFamily="18" charset="0"/>
                      </a:rPr>
                      <m:t>𝑩𝑪</m:t>
                    </m:r>
                    <m:r>
                      <a:rPr lang="en-US" b="1" i="1">
                        <a:latin typeface="Cambria Math" panose="02040503050406030204" pitchFamily="18" charset="0"/>
                      </a:rPr>
                      <m:t>.</m:t>
                    </m:r>
                  </m:oMath>
                </a14:m>
                <a:r>
                  <a:rPr lang="en-US" b="1"/>
                  <a:t>  </a:t>
                </a:r>
                <a:r>
                  <a:rPr lang="vi-VN" b="1"/>
                  <a:t>Suy ra </a:t>
                </a:r>
                <a14:m>
                  <m:oMath xmlns:m="http://schemas.openxmlformats.org/officeDocument/2006/math">
                    <m:r>
                      <a:rPr lang="en-US" b="1" i="1">
                        <a:latin typeface="Cambria Math" panose="02040503050406030204" pitchFamily="18" charset="0"/>
                      </a:rPr>
                      <m:t>𝑨𝑯</m:t>
                    </m: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𝑩𝑪</m:t>
                        </m:r>
                        <m:rad>
                          <m:radPr>
                            <m:degHide m:val="on"/>
                            <m:ctrlPr>
                              <a:rPr lang="en-US" b="1" i="1">
                                <a:latin typeface="Cambria Math" panose="02040503050406030204" pitchFamily="18" charset="0"/>
                              </a:rPr>
                            </m:ctrlPr>
                          </m:radPr>
                          <m:deg/>
                          <m:e>
                            <m:r>
                              <a:rPr lang="en-US" b="1" i="1">
                                <a:latin typeface="Cambria Math" panose="02040503050406030204" pitchFamily="18" charset="0"/>
                              </a:rPr>
                              <m:t>𝟑</m:t>
                            </m:r>
                          </m:e>
                        </m:rad>
                      </m:num>
                      <m:den>
                        <m:r>
                          <a:rPr lang="en-US" b="1" i="1">
                            <a:latin typeface="Cambria Math" panose="02040503050406030204" pitchFamily="18" charset="0"/>
                          </a:rPr>
                          <m:t>𝟐</m:t>
                        </m:r>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𝒂</m:t>
                        </m:r>
                        <m:rad>
                          <m:radPr>
                            <m:degHide m:val="on"/>
                            <m:ctrlPr>
                              <a:rPr lang="en-US" b="1" i="1">
                                <a:latin typeface="Cambria Math" panose="02040503050406030204" pitchFamily="18" charset="0"/>
                              </a:rPr>
                            </m:ctrlPr>
                          </m:radPr>
                          <m:deg/>
                          <m:e>
                            <m:r>
                              <a:rPr lang="en-US" b="1" i="1">
                                <a:latin typeface="Cambria Math" panose="02040503050406030204" pitchFamily="18" charset="0"/>
                              </a:rPr>
                              <m:t>𝟑</m:t>
                            </m:r>
                          </m:e>
                        </m:rad>
                      </m:num>
                      <m:den>
                        <m:r>
                          <a:rPr lang="en-US" b="1" i="1">
                            <a:latin typeface="Cambria Math" panose="02040503050406030204" pitchFamily="18" charset="0"/>
                          </a:rPr>
                          <m:t>𝟐</m:t>
                        </m:r>
                      </m:den>
                    </m:f>
                    <m:r>
                      <a:rPr lang="en-US" b="1" i="1">
                        <a:latin typeface="Cambria Math" panose="02040503050406030204" pitchFamily="18" charset="0"/>
                      </a:rPr>
                      <m:t>.</m:t>
                    </m:r>
                  </m:oMath>
                </a14:m>
                <a:endParaRPr lang="en-US" b="1"/>
              </a:p>
              <a:p>
                <a:r>
                  <a:rPr lang="en-US" b="1"/>
                  <a:t>Dựng </a:t>
                </a:r>
                <a14:m>
                  <m:oMath xmlns:m="http://schemas.openxmlformats.org/officeDocument/2006/math">
                    <m:r>
                      <a:rPr lang="en-US" b="1" i="1">
                        <a:latin typeface="Cambria Math" panose="02040503050406030204" pitchFamily="18" charset="0"/>
                      </a:rPr>
                      <m:t>𝑫</m:t>
                    </m:r>
                  </m:oMath>
                </a14:m>
                <a:r>
                  <a:rPr lang="en-US" b="1"/>
                  <a:t> là điểm sao cho tứ giác </a:t>
                </a:r>
                <a14:m>
                  <m:oMath xmlns:m="http://schemas.openxmlformats.org/officeDocument/2006/math">
                    <m:r>
                      <a:rPr lang="en-US" b="1" i="1">
                        <a:latin typeface="Cambria Math" panose="02040503050406030204" pitchFamily="18" charset="0"/>
                      </a:rPr>
                      <m:t>𝑨𝑩𝑫𝑪</m:t>
                    </m:r>
                  </m:oMath>
                </a14:m>
                <a:r>
                  <a:rPr lang="en-US" b="1"/>
                  <a:t> là hình thoi.</a:t>
                </a:r>
              </a:p>
              <a:p>
                <a:r>
                  <a:rPr lang="en-US" b="1"/>
                  <a:t>Ta</a:t>
                </a:r>
                <a:r>
                  <a:rPr lang="vi-VN" b="1"/>
                  <a:t> lại có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e>
                    </m:d>
                    <m:r>
                      <a:rPr lang="en-US"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e>
                    </m:d>
                    <m:r>
                      <a:rPr lang="en-US" b="1" i="1">
                        <a:latin typeface="Cambria Math" panose="02040503050406030204" pitchFamily="18" charset="0"/>
                      </a:rPr>
                      <m:t>=</m:t>
                    </m:r>
                    <m:r>
                      <a:rPr lang="en-US" b="1" i="1">
                        <a:latin typeface="Cambria Math" panose="02040503050406030204" pitchFamily="18" charset="0"/>
                      </a:rPr>
                      <m:t>𝑨𝑫</m:t>
                    </m:r>
                  </m:oMath>
                </a14:m>
                <a:endParaRPr lang="en-US" b="1" i="1"/>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𝑨𝑯</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𝒂</m:t>
                          </m:r>
                          <m:rad>
                            <m:radPr>
                              <m:degHide m:val="on"/>
                              <m:ctrlPr>
                                <a:rPr lang="en-US" b="1" i="1">
                                  <a:latin typeface="Cambria Math" panose="02040503050406030204" pitchFamily="18" charset="0"/>
                                </a:rPr>
                              </m:ctrlPr>
                            </m:radPr>
                            <m:deg/>
                            <m:e>
                              <m:r>
                                <a:rPr lang="en-US" b="1" i="1">
                                  <a:latin typeface="Cambria Math" panose="02040503050406030204" pitchFamily="18" charset="0"/>
                                </a:rPr>
                                <m:t>𝟑</m:t>
                              </m:r>
                            </m:e>
                          </m:rad>
                        </m:num>
                        <m:den>
                          <m:r>
                            <a:rPr lang="en-US" b="1" i="1">
                              <a:latin typeface="Cambria Math" panose="02040503050406030204" pitchFamily="18" charset="0"/>
                            </a:rPr>
                            <m:t>𝟐</m:t>
                          </m:r>
                        </m:den>
                      </m:f>
                      <m:r>
                        <a:rPr lang="en-US" b="1" i="1">
                          <a:latin typeface="Cambria Math" panose="02040503050406030204" pitchFamily="18" charset="0"/>
                        </a:rPr>
                        <m:t>=</m:t>
                      </m:r>
                      <m:r>
                        <a:rPr lang="en-US" b="1" i="1">
                          <a:latin typeface="Cambria Math" panose="02040503050406030204" pitchFamily="18" charset="0"/>
                        </a:rPr>
                        <m:t>𝒂</m:t>
                      </m:r>
                      <m:rad>
                        <m:radPr>
                          <m:degHide m:val="on"/>
                          <m:ctrlPr>
                            <a:rPr lang="en-US" b="1" i="1">
                              <a:latin typeface="Cambria Math" panose="02040503050406030204" pitchFamily="18" charset="0"/>
                            </a:rPr>
                          </m:ctrlPr>
                        </m:radPr>
                        <m:deg/>
                        <m:e>
                          <m:r>
                            <a:rPr lang="en-US" b="1" i="1">
                              <a:latin typeface="Cambria Math" panose="02040503050406030204" pitchFamily="18" charset="0"/>
                            </a:rPr>
                            <m:t>𝟑</m:t>
                          </m:r>
                        </m:e>
                      </m:rad>
                      <m:r>
                        <a:rPr lang="en-US" b="1" i="1">
                          <a:latin typeface="Cambria Math" panose="02040503050406030204" pitchFamily="18" charset="0"/>
                        </a:rPr>
                        <m:t>.</m:t>
                      </m:r>
                    </m:oMath>
                  </m:oMathPara>
                </a14:m>
                <a:endParaRPr lang="en-US" b="1"/>
              </a:p>
              <a:p>
                <a:pPr marL="0" indent="0">
                  <a:buNone/>
                </a:pPr>
                <a:endParaRPr lang="en-US" sz="4400"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0E65945A-65D7-41C3-91A9-07FCDDB6D5A9}"/>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0" y="5829300"/>
            <a:ext cx="7620000" cy="5143500"/>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67142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up)">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wipe(up)">
                                      <p:cBhvr>
                                        <p:cTn id="28" dur="500"/>
                                        <p:tgtEl>
                                          <p:spTgt spid="7">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wipe(up)">
                                      <p:cBhvr>
                                        <p:cTn id="33" dur="500"/>
                                        <p:tgtEl>
                                          <p:spTgt spid="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7">
                                            <p:txEl>
                                              <p:pRg st="3" end="3"/>
                                            </p:txEl>
                                          </p:spTgt>
                                        </p:tgtEl>
                                        <p:attrNameLst>
                                          <p:attrName>style.visibility</p:attrName>
                                        </p:attrNameLst>
                                      </p:cBhvr>
                                      <p:to>
                                        <p:strVal val="visible"/>
                                      </p:to>
                                    </p:set>
                                    <p:animEffect transition="in" filter="wipe(up)">
                                      <p:cBhvr>
                                        <p:cTn id="38" dur="500"/>
                                        <p:tgtEl>
                                          <p:spTgt spid="7">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7">
                                            <p:txEl>
                                              <p:pRg st="4" end="4"/>
                                            </p:txEl>
                                          </p:spTgt>
                                        </p:tgtEl>
                                        <p:attrNameLst>
                                          <p:attrName>style.visibility</p:attrName>
                                        </p:attrNameLst>
                                      </p:cBhvr>
                                      <p:to>
                                        <p:strVal val="visible"/>
                                      </p:to>
                                    </p:set>
                                    <p:animEffect transition="in" filter="wipe(up)">
                                      <p:cBhvr>
                                        <p:cTn id="43" dur="500"/>
                                        <p:tgtEl>
                                          <p:spTgt spid="7">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7">
                                            <p:txEl>
                                              <p:pRg st="5" end="5"/>
                                            </p:txEl>
                                          </p:spTgt>
                                        </p:tgtEl>
                                        <p:attrNameLst>
                                          <p:attrName>style.visibility</p:attrName>
                                        </p:attrNameLst>
                                      </p:cBhvr>
                                      <p:to>
                                        <p:strVal val="visible"/>
                                      </p:to>
                                    </p:set>
                                    <p:animEffect transition="in" filter="wipe(up)">
                                      <p:cBhvr>
                                        <p:cTn id="53" dur="500"/>
                                        <p:tgtEl>
                                          <p:spTgt spid="7">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7">
                                            <p:txEl>
                                              <p:pRg st="6" end="6"/>
                                            </p:txEl>
                                          </p:spTgt>
                                        </p:tgtEl>
                                        <p:attrNameLst>
                                          <p:attrName>style.visibility</p:attrName>
                                        </p:attrNameLst>
                                      </p:cBhvr>
                                      <p:to>
                                        <p:strVal val="visible"/>
                                      </p:to>
                                    </p:set>
                                    <p:animEffect transition="in" filter="wipe(up)">
                                      <p:cBhvr>
                                        <p:cTn id="58" dur="500"/>
                                        <p:tgtEl>
                                          <p:spTgt spid="7">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wipe(up)">
                                      <p:cBhvr>
                                        <p:cTn id="63" dur="500"/>
                                        <p:tgtEl>
                                          <p:spTgt spid="7">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7">
                                            <p:txEl>
                                              <p:pRg st="8" end="8"/>
                                            </p:txEl>
                                          </p:spTgt>
                                        </p:tgtEl>
                                        <p:attrNameLst>
                                          <p:attrName>style.visibility</p:attrName>
                                        </p:attrNameLst>
                                      </p:cBhvr>
                                      <p:to>
                                        <p:strVal val="visible"/>
                                      </p:to>
                                    </p:set>
                                    <p:animEffect transition="in" filter="wipe(up)">
                                      <p:cBhvr>
                                        <p:cTn id="68"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a:t>
                </a:r>
              </a:p>
              <a:p>
                <a:pPr marL="0" indent="0">
                  <a:buNone/>
                </a:pPr>
                <a:r>
                  <a:rPr lang="en-US" b="1">
                    <a:solidFill>
                      <a:srgbClr val="FF0000"/>
                    </a:solidFill>
                  </a:rPr>
                  <a:t> 4.9.  </a:t>
                </a:r>
                <a:r>
                  <a:rPr lang="en-US" b="1"/>
                  <a:t>Hình 4.19 biểu diễn hai lực</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𝟏</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𝟐</m:t>
                            </m:r>
                          </m:sub>
                        </m:sSub>
                      </m:e>
                    </m:acc>
                  </m:oMath>
                </a14:m>
                <a:r>
                  <a:rPr lang="en-US" b="1"/>
                  <a:t> cùng tác động lên một vật, cho</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𝟏</m:t>
                                </m:r>
                              </m:sub>
                            </m:sSub>
                          </m:e>
                        </m:acc>
                      </m:e>
                    </m:d>
                    <m:r>
                      <a:rPr lang="en-US" b="1" i="1">
                        <a:latin typeface="Cambria Math" panose="02040503050406030204" pitchFamily="18" charset="0"/>
                      </a:rPr>
                      <m:t>=</m:t>
                    </m:r>
                    <m:r>
                      <a:rPr lang="en-US" b="1" i="1">
                        <a:latin typeface="Cambria Math" panose="02040503050406030204" pitchFamily="18" charset="0"/>
                      </a:rPr>
                      <m:t>𝟑</m:t>
                    </m:r>
                    <m:r>
                      <a:rPr lang="en-US" b="1" i="1">
                        <a:latin typeface="Cambria Math" panose="02040503050406030204" pitchFamily="18" charset="0"/>
                      </a:rPr>
                      <m:t>𝑵</m:t>
                    </m:r>
                    <m:r>
                      <a:rPr lang="en-US" b="1" i="1">
                        <a:latin typeface="Cambria Math" panose="02040503050406030204" pitchFamily="18" charset="0"/>
                      </a:rPr>
                      <m:t>, </m:t>
                    </m:r>
                  </m:oMath>
                </a14:m>
                <a:endParaRPr lang="en-US" b="1" i="1">
                  <a:latin typeface="Cambria Math" panose="02040503050406030204" pitchFamily="18" charset="0"/>
                </a:endParaRPr>
              </a:p>
              <a:p>
                <a:pPr marL="0" indent="0">
                  <a:buNone/>
                </a:pP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𝟐</m:t>
                                </m:r>
                              </m:sub>
                            </m:sSub>
                          </m:e>
                        </m:acc>
                      </m:e>
                    </m:d>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𝑵</m:t>
                    </m:r>
                  </m:oMath>
                </a14:m>
                <a:r>
                  <a:rPr lang="en-US" b="1"/>
                  <a:t> . Tính độ lớn của hợp lực</a:t>
                </a:r>
              </a:p>
              <a:p>
                <a:pPr marL="0" indent="0">
                  <a:buNone/>
                </a:pPr>
                <a:r>
                  <a:rPr lang="en-US" b="1"/>
                  <a:t>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𝟏</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𝟐</m:t>
                            </m:r>
                          </m:sub>
                        </m:sSub>
                      </m:e>
                    </m:acc>
                  </m:oMath>
                </a14:m>
                <a:r>
                  <a:rPr lang="en-US" b="1"/>
                  <a:t> .</a:t>
                </a:r>
                <a:endParaRPr lang="en-US" sz="4600" b="1"/>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r>
                  <a:rPr lang="en-US" b="1"/>
                  <a:t>Gọi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𝟏</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𝟐</m:t>
                            </m:r>
                          </m:sub>
                        </m:sSub>
                      </m:e>
                    </m:acc>
                  </m:oMath>
                </a14:m>
                <a:endParaRPr lang="en-US" b="1"/>
              </a:p>
              <a:p>
                <a:r>
                  <a:rPr lang="en-US" b="1"/>
                  <a:t>Ta có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𝟏</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𝟐</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𝑭</m:t>
                        </m:r>
                      </m:e>
                    </m:acc>
                  </m:oMath>
                </a14:m>
                <a:endParaRPr lang="en-US" b="1"/>
              </a:p>
              <a:p>
                <a:r>
                  <a:rPr lang="en-US" b="1"/>
                  <a:t>Xét tam giác</a:t>
                </a:r>
                <a14:m>
                  <m:oMath xmlns:m="http://schemas.openxmlformats.org/officeDocument/2006/math">
                    <m:r>
                      <a:rPr lang="en-US" b="1" i="1">
                        <a:latin typeface="Cambria Math" panose="02040503050406030204" pitchFamily="18" charset="0"/>
                      </a:rPr>
                      <m:t>𝑨𝑩𝑫</m:t>
                    </m:r>
                  </m:oMath>
                </a14:m>
                <a:r>
                  <a:rPr lang="en-US" b="1"/>
                  <a:t> </a:t>
                </a:r>
              </a:p>
              <a:p>
                <a14:m>
                  <m:oMath xmlns:m="http://schemas.openxmlformats.org/officeDocument/2006/math">
                    <m:r>
                      <a:rPr lang="en-US" b="1" i="1">
                        <a:latin typeface="Cambria Math" panose="02040503050406030204" pitchFamily="18" charset="0"/>
                      </a:rPr>
                      <m:t>𝑨𝑫</m:t>
                    </m:r>
                    <m:r>
                      <a:rPr lang="en-US" b="1" i="1">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𝑩</m:t>
                        </m:r>
                        <m:sSup>
                          <m:sSupPr>
                            <m:ctrlPr>
                              <a:rPr lang="en-US" b="1" i="1">
                                <a:latin typeface="Cambria Math" panose="02040503050406030204" pitchFamily="18" charset="0"/>
                              </a:rPr>
                            </m:ctrlPr>
                          </m:sSupPr>
                          <m:e>
                            <m:r>
                              <a:rPr lang="en-US" b="1" i="1">
                                <a:latin typeface="Cambria Math" panose="02040503050406030204" pitchFamily="18" charset="0"/>
                              </a:rPr>
                              <m:t>𝑨</m:t>
                            </m:r>
                          </m:e>
                          <m:sup>
                            <m:r>
                              <a:rPr lang="en-US" b="1" i="1">
                                <a:latin typeface="Cambria Math" panose="02040503050406030204" pitchFamily="18" charset="0"/>
                              </a:rPr>
                              <m:t>𝟐</m:t>
                            </m:r>
                          </m:sup>
                        </m:sSup>
                        <m:r>
                          <a:rPr lang="en-US" b="1" i="1">
                            <a:latin typeface="Cambria Math" panose="02040503050406030204" pitchFamily="18" charset="0"/>
                          </a:rPr>
                          <m:t>+</m:t>
                        </m:r>
                        <m:r>
                          <a:rPr lang="en-US" b="1" i="1">
                            <a:latin typeface="Cambria Math" panose="02040503050406030204" pitchFamily="18" charset="0"/>
                          </a:rPr>
                          <m:t>𝑩</m:t>
                        </m:r>
                        <m:sSup>
                          <m:sSupPr>
                            <m:ctrlPr>
                              <a:rPr lang="en-US" b="1" i="1">
                                <a:latin typeface="Cambria Math" panose="02040503050406030204" pitchFamily="18" charset="0"/>
                              </a:rPr>
                            </m:ctrlPr>
                          </m:sSupPr>
                          <m:e>
                            <m:r>
                              <a:rPr lang="en-US" b="1" i="1">
                                <a:latin typeface="Cambria Math" panose="02040503050406030204" pitchFamily="18" charset="0"/>
                              </a:rPr>
                              <m:t>𝑫</m:t>
                            </m:r>
                          </m:e>
                          <m:sup>
                            <m:r>
                              <a:rPr lang="en-US" b="1" i="1">
                                <a:latin typeface="Cambria Math" panose="02040503050406030204" pitchFamily="18" charset="0"/>
                              </a:rPr>
                              <m:t>𝟐</m:t>
                            </m:r>
                          </m:sup>
                        </m:sSup>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𝑩𝑨</m:t>
                        </m:r>
                        <m:r>
                          <a:rPr lang="en-US" b="1" i="1">
                            <a:latin typeface="Cambria Math" panose="02040503050406030204" pitchFamily="18" charset="0"/>
                          </a:rPr>
                          <m:t>.</m:t>
                        </m:r>
                        <m:r>
                          <a:rPr lang="en-US" b="1" i="1">
                            <a:latin typeface="Cambria Math" panose="02040503050406030204" pitchFamily="18" charset="0"/>
                          </a:rPr>
                          <m:t>𝑩𝑫</m:t>
                        </m:r>
                        <m:r>
                          <a:rPr lang="en-US" b="1" i="1">
                            <a:latin typeface="Cambria Math" panose="02040503050406030204" pitchFamily="18" charset="0"/>
                          </a:rPr>
                          <m:t>.</m:t>
                        </m:r>
                        <m:r>
                          <m:rPr>
                            <m:nor/>
                          </m:rPr>
                          <a:rPr lang="en-US" b="1"/>
                          <m:t>cos</m:t>
                        </m:r>
                        <m:r>
                          <m:rPr>
                            <m:nor/>
                          </m:rPr>
                          <a:rPr lang="en-US" b="1"/>
                          <m:t>6</m:t>
                        </m:r>
                        <m:sSup>
                          <m:sSupPr>
                            <m:ctrlPr>
                              <a:rPr lang="en-US" b="1" i="1">
                                <a:latin typeface="Cambria Math" panose="02040503050406030204" pitchFamily="18" charset="0"/>
                              </a:rPr>
                            </m:ctrlPr>
                          </m:sSupPr>
                          <m:e>
                            <m:r>
                              <m:rPr>
                                <m:nor/>
                              </m:rPr>
                              <a:rPr lang="en-US" b="1"/>
                              <m:t>0</m:t>
                            </m:r>
                          </m:e>
                          <m:sup>
                            <m:r>
                              <a:rPr lang="en-US" b="1" i="1">
                                <a:latin typeface="Cambria Math" panose="02040503050406030204" pitchFamily="18" charset="0"/>
                              </a:rPr>
                              <m:t>𝟎</m:t>
                            </m:r>
                          </m:sup>
                        </m:sSup>
                      </m:e>
                    </m:rad>
                  </m:oMath>
                </a14:m>
                <a:r>
                  <a:rPr lang="en-US" b="1"/>
                  <a:t/>
                </a:r>
                <a:br>
                  <a:rPr lang="en-US" b="1"/>
                </a:br>
                <a14:m>
                  <m:oMath xmlns:m="http://schemas.openxmlformats.org/officeDocument/2006/math">
                    <m:r>
                      <a:rPr lang="en-US" b="1" i="1">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𝟏</m:t>
                            </m:r>
                          </m:num>
                          <m:den>
                            <m:r>
                              <a:rPr lang="en-US" b="1" i="1">
                                <a:latin typeface="Cambria Math" panose="02040503050406030204" pitchFamily="18" charset="0"/>
                              </a:rPr>
                              <m:t>𝟐</m:t>
                            </m:r>
                          </m:den>
                        </m:f>
                      </m:e>
                    </m:rad>
                    <m:r>
                      <a:rPr lang="en-US" b="1" i="1">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𝟕</m:t>
                        </m:r>
                      </m:e>
                    </m:rad>
                    <m:r>
                      <a:rPr lang="en-US" b="1" i="1">
                        <a:latin typeface="Cambria Math" panose="02040503050406030204" pitchFamily="18" charset="0"/>
                      </a:rPr>
                      <m:t>.</m:t>
                    </m:r>
                  </m:oMath>
                </a14:m>
                <a:endParaRPr lang="en-US" b="1"/>
              </a:p>
              <a:p>
                <a:r>
                  <a:rPr lang="en-US" b="1"/>
                  <a:t>Vậy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𝑭</m:t>
                            </m:r>
                          </m:e>
                        </m:acc>
                      </m:e>
                    </m:d>
                    <m:r>
                      <a:rPr lang="en-US" b="1" i="1">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𝟕</m:t>
                        </m:r>
                      </m:e>
                    </m:rad>
                    <m:r>
                      <a:rPr lang="en-US" b="1" i="1">
                        <a:latin typeface="Cambria Math" panose="02040503050406030204" pitchFamily="18" charset="0"/>
                      </a:rPr>
                      <m:t>𝑵</m:t>
                    </m:r>
                    <m:r>
                      <a:rPr lang="en-US" b="1" i="1">
                        <a:latin typeface="Cambria Math" panose="02040503050406030204" pitchFamily="18" charset="0"/>
                      </a:rPr>
                      <m:t>.</m:t>
                    </m:r>
                  </m:oMath>
                </a14:m>
                <a:endParaRPr lang="en-US" sz="4400"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478085BD-176F-4BED-B93B-EA8664A975BD}"/>
              </a:ext>
            </a:extLst>
          </p:cNvPr>
          <p:cNvPicPr/>
          <p:nvPr/>
        </p:nvPicPr>
        <p:blipFill>
          <a:blip r:embed="rId5"/>
          <a:stretch>
            <a:fillRect/>
          </a:stretch>
        </p:blipFill>
        <p:spPr>
          <a:xfrm>
            <a:off x="3124200" y="6819900"/>
            <a:ext cx="6553200" cy="5715000"/>
          </a:xfrm>
          <a:prstGeom prst="rect">
            <a:avLst/>
          </a:prstGeom>
        </p:spPr>
      </p:pic>
      <p:pic>
        <p:nvPicPr>
          <p:cNvPr id="9" name="Picture 8">
            <a:extLst>
              <a:ext uri="{FF2B5EF4-FFF2-40B4-BE49-F238E27FC236}">
                <a16:creationId xmlns:a16="http://schemas.microsoft.com/office/drawing/2014/main" id="{B309EBA7-DE63-45A7-9CA4-03945F819653}"/>
              </a:ext>
            </a:extLst>
          </p:cNvPr>
          <p:cNvPicPr/>
          <p:nvPr/>
        </p:nvPicPr>
        <p:blipFill>
          <a:blip r:embed="rId6"/>
          <a:stretch>
            <a:fillRect/>
          </a:stretch>
        </p:blipFill>
        <p:spPr>
          <a:xfrm>
            <a:off x="17306923" y="8439150"/>
            <a:ext cx="6706468" cy="4953799"/>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59955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animEffect transition="in" filter="wipe(up)">
                                      <p:cBhvr>
                                        <p:cTn id="45" dur="500"/>
                                        <p:tgtEl>
                                          <p:spTgt spid="7">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wipe(up)">
                                      <p:cBhvr>
                                        <p:cTn id="50" dur="500"/>
                                        <p:tgtEl>
                                          <p:spTgt spid="7">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animEffect transition="in" filter="wipe(up)">
                                      <p:cBhvr>
                                        <p:cTn id="55" dur="500"/>
                                        <p:tgtEl>
                                          <p:spTgt spid="7">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7">
                                            <p:txEl>
                                              <p:pRg st="4" end="4"/>
                                            </p:txEl>
                                          </p:spTgt>
                                        </p:tgtEl>
                                        <p:attrNameLst>
                                          <p:attrName>style.visibility</p:attrName>
                                        </p:attrNameLst>
                                      </p:cBhvr>
                                      <p:to>
                                        <p:strVal val="visible"/>
                                      </p:to>
                                    </p:set>
                                    <p:animEffect transition="in" filter="wipe(up)">
                                      <p:cBhvr>
                                        <p:cTn id="60" dur="500"/>
                                        <p:tgtEl>
                                          <p:spTgt spid="7">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7">
                                            <p:txEl>
                                              <p:pRg st="5" end="5"/>
                                            </p:txEl>
                                          </p:spTgt>
                                        </p:tgtEl>
                                        <p:attrNameLst>
                                          <p:attrName>style.visibility</p:attrName>
                                        </p:attrNameLst>
                                      </p:cBhvr>
                                      <p:to>
                                        <p:strVal val="visible"/>
                                      </p:to>
                                    </p:set>
                                    <p:animEffect transition="in" filter="wipe(up)">
                                      <p:cBhvr>
                                        <p:cTn id="65"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dirty="0" err="1">
                <a:solidFill>
                  <a:srgbClr val="FF0000"/>
                </a:solidFill>
                <a:latin typeface="Times New Roman" panose="02020603050405020304" pitchFamily="18" charset="0"/>
                <a:cs typeface="Times New Roman" panose="02020603050405020304" pitchFamily="18" charset="0"/>
              </a:rPr>
              <a:t>Bài</a:t>
            </a:r>
            <a:r>
              <a:rPr lang="en-US" sz="4600" b="1" dirty="0">
                <a:solidFill>
                  <a:srgbClr val="FF0000"/>
                </a:solidFill>
                <a:latin typeface="Times New Roman" panose="02020603050405020304" pitchFamily="18" charset="0"/>
                <a:cs typeface="Times New Roman" panose="02020603050405020304" pitchFamily="18" charset="0"/>
              </a:rPr>
              <a:t> </a:t>
            </a:r>
            <a:r>
              <a:rPr lang="en-US" sz="4600" b="1" dirty="0" err="1">
                <a:solidFill>
                  <a:srgbClr val="FF0000"/>
                </a:solidFill>
                <a:latin typeface="Times New Roman" panose="02020603050405020304" pitchFamily="18" charset="0"/>
                <a:cs typeface="Times New Roman" panose="02020603050405020304" pitchFamily="18" charset="0"/>
              </a:rPr>
              <a:t>tập</a:t>
            </a:r>
            <a:r>
              <a:rPr lang="en-US" sz="4600" b="1" dirty="0">
                <a:solidFill>
                  <a:srgbClr val="FF0000"/>
                </a:solidFill>
                <a:latin typeface="Times New Roman" panose="02020603050405020304" pitchFamily="18" charset="0"/>
                <a:cs typeface="Times New Roman" panose="02020603050405020304" pitchFamily="18" charset="0"/>
              </a:rPr>
              <a:t>:</a:t>
            </a:r>
          </a:p>
          <a:p>
            <a:pPr marL="0" indent="0">
              <a:buNone/>
            </a:pPr>
            <a:r>
              <a:rPr lang="en-US" b="1" dirty="0">
                <a:solidFill>
                  <a:srgbClr val="FF0000"/>
                </a:solidFill>
                <a:latin typeface="Times New Roman" panose="02020603050405020304" pitchFamily="18" charset="0"/>
                <a:cs typeface="Times New Roman" panose="02020603050405020304" pitchFamily="18" charset="0"/>
              </a:rPr>
              <a:t>4.10.  </a:t>
            </a:r>
            <a:r>
              <a:rPr lang="en-US" b="1" dirty="0">
                <a:latin typeface="Times New Roman" panose="02020603050405020304" pitchFamily="18" charset="0"/>
                <a:cs typeface="Times New Roman" panose="02020603050405020304" pitchFamily="18" charset="0"/>
              </a:rPr>
              <a:t>Hai con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phát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cùng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lúc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từ</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bờ</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này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để</a:t>
            </a:r>
            <a:r>
              <a:rPr lang="en-US" b="1" dirty="0">
                <a:latin typeface="Times New Roman" panose="02020603050405020304" pitchFamily="18" charset="0"/>
                <a:cs typeface="Times New Roman" panose="02020603050405020304" pitchFamily="18" charset="0"/>
              </a:rPr>
              <a:t> sang </a:t>
            </a:r>
            <a:r>
              <a:rPr lang="en-US" b="1" dirty="0" err="1">
                <a:latin typeface="Times New Roman" panose="02020603050405020304" pitchFamily="18" charset="0"/>
                <a:cs typeface="Times New Roman" panose="02020603050405020304" pitchFamily="18" charset="0"/>
              </a:rPr>
              <a:t>bờ</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dòng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riêng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đổi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lớn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nhau</a:t>
            </a:r>
            <a:r>
              <a:rPr lang="en-US" b="1" dirty="0">
                <a:latin typeface="Times New Roman" panose="02020603050405020304" pitchFamily="18" charset="0"/>
                <a:cs typeface="Times New Roman" panose="02020603050405020304" pitchFamily="18" charset="0"/>
              </a:rPr>
              <a:t>. Hai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luôn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giữ</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lái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chúng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tạo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bờ</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cùng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một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góc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nhọn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nhưng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một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xuống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hạ</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lưu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một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thượng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nguồn</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hình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dòng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nước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kể</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yếu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ngoài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ảnh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hưởng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đến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Hỏi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nào</a:t>
            </a:r>
            <a:r>
              <a:rPr lang="en-US" b="1" dirty="0">
                <a:latin typeface="Times New Roman" panose="02020603050405020304" pitchFamily="18" charset="0"/>
                <a:cs typeface="Times New Roman" panose="02020603050405020304" pitchFamily="18" charset="0"/>
              </a:rPr>
              <a:t> sang </a:t>
            </a:r>
            <a:r>
              <a:rPr lang="en-US" b="1" dirty="0" err="1">
                <a:latin typeface="Times New Roman" panose="02020603050405020304" pitchFamily="18" charset="0"/>
                <a:cs typeface="Times New Roman" panose="02020603050405020304" pitchFamily="18" charset="0"/>
              </a:rPr>
              <a:t>bờ</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trước</a:t>
            </a:r>
            <a:r>
              <a:rPr lang="en-US" b="1" dirty="0">
                <a:latin typeface="Times New Roman" panose="02020603050405020304" pitchFamily="18" charset="0"/>
                <a:cs typeface="Times New Roman" panose="02020603050405020304" pitchFamily="18" charset="0"/>
              </a:rPr>
              <a:t>?</a:t>
            </a:r>
          </a:p>
          <a:p>
            <a:pPr marL="0" indent="0">
              <a:buNone/>
            </a:pPr>
            <a:endParaRPr lang="en-US" sz="46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err="1">
                    <a:solidFill>
                      <a:srgbClr val="FF0000"/>
                    </a:solidFill>
                    <a:latin typeface="Times New Roman" panose="02020603050405020304" pitchFamily="18" charset="0"/>
                    <a:cs typeface="Times New Roman" panose="02020603050405020304" pitchFamily="18" charset="0"/>
                  </a:rPr>
                  <a:t>Lời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giải</a:t>
                </a:r>
                <a:endParaRPr lang="en-US" b="1" dirty="0">
                  <a:solidFill>
                    <a:srgbClr val="FF0000"/>
                  </a:solidFill>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Gọi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thứ</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xuống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hạ</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lưu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thực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tế</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r>
                  <a:rPr lang="en-US"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𝟏</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𝒓</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𝒏</m:t>
                            </m:r>
                          </m:sub>
                        </m:sSub>
                      </m:e>
                    </m:acc>
                  </m:oMath>
                </a14:m>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thứ</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hai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thượng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nguồn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thực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tế</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r>
                  <a:rPr lang="en-US"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𝟐</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𝒓</m:t>
                            </m:r>
                          </m:sub>
                        </m:sSub>
                      </m:e>
                    </m:acc>
                    <m:r>
                      <a:rPr lang="en-US" b="1" i="1">
                        <a:latin typeface="Cambria Math" panose="02040503050406030204" pitchFamily="18" charset="0"/>
                      </a:rPr>
                      <m: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𝒏</m:t>
                            </m:r>
                          </m:sub>
                        </m:sSub>
                      </m:e>
                    </m:acc>
                  </m:oMath>
                </a14:m>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Ta </a:t>
                </a:r>
                <a:r>
                  <a:rPr lang="en-US" b="1" dirty="0" err="1">
                    <a:latin typeface="Times New Roman" panose="02020603050405020304" pitchFamily="18" charset="0"/>
                    <a:cs typeface="Times New Roman" panose="02020603050405020304" pitchFamily="18" charset="0"/>
                  </a:rPr>
                  <a:t>thấy</a:t>
                </a:r>
                <a:r>
                  <a:rPr lang="en-US"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𝟏</m:t>
                            </m:r>
                          </m:sub>
                        </m:sSub>
                      </m:e>
                    </m:acc>
                    <m:r>
                      <a:rPr lang="en-US" b="1" i="1">
                        <a:latin typeface="Cambria Math" panose="02040503050406030204" pitchFamily="18" charset="0"/>
                      </a:rPr>
                      <m:t>&gt;</m:t>
                    </m:r>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1" i="1">
                                <a:latin typeface="Cambria Math" panose="02040503050406030204" pitchFamily="18" charset="0"/>
                              </a:rPr>
                              <m:t>𝟐</m:t>
                            </m:r>
                          </m:sub>
                        </m:sSub>
                      </m:e>
                    </m:acc>
                  </m:oMath>
                </a14:m>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tàu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thứ</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sẽ</a:t>
                </a:r>
                <a:r>
                  <a:rPr lang="en-US" b="1" dirty="0">
                    <a:latin typeface="Times New Roman" panose="02020603050405020304" pitchFamily="18" charset="0"/>
                    <a:cs typeface="Times New Roman" panose="02020603050405020304" pitchFamily="18" charset="0"/>
                  </a:rPr>
                  <a:t> sang </a:t>
                </a:r>
                <a:r>
                  <a:rPr lang="en-US" b="1" dirty="0" err="1">
                    <a:latin typeface="Times New Roman" panose="02020603050405020304" pitchFamily="18" charset="0"/>
                    <a:cs typeface="Times New Roman" panose="02020603050405020304" pitchFamily="18" charset="0"/>
                  </a:rPr>
                  <a:t>bờ</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bên</a:t>
                </a:r>
                <a:r>
                  <a:rPr lang="en-US" b="1" dirty="0">
                    <a:latin typeface="Times New Roman" panose="02020603050405020304" pitchFamily="18" charset="0"/>
                    <a:cs typeface="Times New Roman" panose="02020603050405020304" pitchFamily="18" charset="0"/>
                  </a:rPr>
                  <a:t> kia </a:t>
                </a:r>
                <a:r>
                  <a:rPr lang="en-US" b="1" dirty="0" err="1">
                    <a:latin typeface="Times New Roman" panose="02020603050405020304" pitchFamily="18" charset="0"/>
                    <a:cs typeface="Times New Roman" panose="02020603050405020304" pitchFamily="18" charset="0"/>
                  </a:rPr>
                  <a:t>trước</a:t>
                </a:r>
                <a:r>
                  <a:rPr lang="en-US" b="1" dirty="0">
                    <a:latin typeface="Times New Roman" panose="02020603050405020304" pitchFamily="18" charset="0"/>
                    <a:cs typeface="Times New Roman" panose="02020603050405020304" pitchFamily="18" charset="0"/>
                  </a:rPr>
                  <a:t>. </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3"/>
                <a:stretch>
                  <a:fillRect l="-2260" r="-668"/>
                </a:stretch>
              </a:blipFill>
              <a:ln>
                <a:solidFill>
                  <a:srgbClr val="00B0F0"/>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83B9B361-569C-4D17-997C-0BE656D9BD76}"/>
              </a:ext>
            </a:extLst>
          </p:cNvPr>
          <p:cNvPicPr/>
          <p:nvPr/>
        </p:nvPicPr>
        <p:blipFill>
          <a:blip r:embed="rId4"/>
          <a:stretch>
            <a:fillRect/>
          </a:stretch>
        </p:blipFill>
        <p:spPr>
          <a:xfrm>
            <a:off x="13563600" y="1828800"/>
            <a:ext cx="9829800" cy="5678088"/>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388300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wipe(up)">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wipe(up)">
                                      <p:cBhvr>
                                        <p:cTn id="32" dur="500"/>
                                        <p:tgtEl>
                                          <p:spTgt spid="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wipe(up)">
                                      <p:cBhvr>
                                        <p:cTn id="37" dur="500"/>
                                        <p:tgtEl>
                                          <p:spTgt spid="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wipe(up)">
                                      <p:cBhvr>
                                        <p:cTn id="42"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2510" y="1981200"/>
                <a:ext cx="11630892"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dirty="0">
                    <a:solidFill>
                      <a:srgbClr val="FF0000"/>
                    </a:solidFill>
                  </a:rPr>
                  <a:t>Bài </a:t>
                </a:r>
                <a:r>
                  <a:rPr lang="en-US" sz="4600" b="1" dirty="0" err="1">
                    <a:solidFill>
                      <a:srgbClr val="FF0000"/>
                    </a:solidFill>
                  </a:rPr>
                  <a:t>tập</a:t>
                </a:r>
                <a:r>
                  <a:rPr lang="en-US" sz="4600" b="1" dirty="0">
                    <a:solidFill>
                      <a:srgbClr val="FF0000"/>
                    </a:solidFill>
                  </a:rPr>
                  <a:t> </a:t>
                </a:r>
                <a:r>
                  <a:rPr lang="en-US" sz="4600" b="1" dirty="0" err="1">
                    <a:solidFill>
                      <a:srgbClr val="FF0000"/>
                    </a:solidFill>
                  </a:rPr>
                  <a:t>trắc</a:t>
                </a:r>
                <a:r>
                  <a:rPr lang="en-US" sz="4600" b="1" dirty="0">
                    <a:solidFill>
                      <a:srgbClr val="FF0000"/>
                    </a:solidFill>
                  </a:rPr>
                  <a:t> </a:t>
                </a:r>
                <a:r>
                  <a:rPr lang="en-US" sz="4600" b="1" dirty="0" err="1">
                    <a:solidFill>
                      <a:srgbClr val="FF0000"/>
                    </a:solidFill>
                  </a:rPr>
                  <a:t>nghiệm</a:t>
                </a:r>
                <a:r>
                  <a:rPr lang="en-US" sz="4600" b="1" dirty="0">
                    <a:solidFill>
                      <a:srgbClr val="FF0000"/>
                    </a:solidFill>
                  </a:rPr>
                  <a:t>:</a:t>
                </a:r>
              </a:p>
              <a:p>
                <a:pPr marL="0" indent="0">
                  <a:buNone/>
                </a:pPr>
                <a:r>
                  <a:rPr lang="en-US" b="1" u="sng" dirty="0" err="1">
                    <a:solidFill>
                      <a:srgbClr val="FF0000"/>
                    </a:solidFill>
                  </a:rPr>
                  <a:t>Câu</a:t>
                </a:r>
                <a:r>
                  <a:rPr lang="en-US" b="1" u="sng" dirty="0">
                    <a:solidFill>
                      <a:srgbClr val="FF0000"/>
                    </a:solidFill>
                  </a:rPr>
                  <a:t> 1.</a:t>
                </a:r>
                <a:r>
                  <a:rPr lang="en-US" b="1" dirty="0"/>
                  <a:t>   </a:t>
                </a:r>
                <a:r>
                  <a:rPr lang="vi-VN" b="1" dirty="0"/>
                  <a:t>Cho hình bình hành </a:t>
                </a:r>
                <a14:m>
                  <m:oMath xmlns:m="http://schemas.openxmlformats.org/officeDocument/2006/math">
                    <m:r>
                      <a:rPr lang="en-US" b="1" i="1">
                        <a:latin typeface="Cambria Math" panose="02040503050406030204" pitchFamily="18" charset="0"/>
                      </a:rPr>
                      <m:t>𝑨𝑩𝑪𝑫</m:t>
                    </m:r>
                  </m:oMath>
                </a14:m>
                <a:r>
                  <a:rPr lang="vi-VN" b="1" dirty="0"/>
                  <a:t> và </a:t>
                </a:r>
                <a14:m>
                  <m:oMath xmlns:m="http://schemas.openxmlformats.org/officeDocument/2006/math">
                    <m:r>
                      <a:rPr lang="en-US" b="1" i="1">
                        <a:latin typeface="Cambria Math" panose="02040503050406030204" pitchFamily="18" charset="0"/>
                      </a:rPr>
                      <m:t>𝑰</m:t>
                    </m:r>
                  </m:oMath>
                </a14:m>
                <a:r>
                  <a:rPr lang="en-US" b="1" dirty="0"/>
                  <a:t> </a:t>
                </a:r>
                <a:r>
                  <a:rPr lang="vi-VN" b="1" dirty="0"/>
                  <a:t>là giao điểm của </a:t>
                </a:r>
                <a14:m>
                  <m:oMath xmlns:m="http://schemas.openxmlformats.org/officeDocument/2006/math">
                    <m:r>
                      <a:rPr lang="en-US" b="1" i="1">
                        <a:latin typeface="Cambria Math" panose="02040503050406030204" pitchFamily="18" charset="0"/>
                      </a:rPr>
                      <m:t>𝑨𝑪</m:t>
                    </m:r>
                  </m:oMath>
                </a14:m>
                <a:r>
                  <a:rPr lang="en-US" b="1" dirty="0"/>
                  <a:t> </a:t>
                </a:r>
                <a:r>
                  <a:rPr lang="en-US" b="1" dirty="0" err="1"/>
                  <a:t>và</a:t>
                </a:r>
                <a:r>
                  <a:rPr lang="en-US" b="1" dirty="0"/>
                  <a:t> </a:t>
                </a:r>
                <a14:m>
                  <m:oMath xmlns:m="http://schemas.openxmlformats.org/officeDocument/2006/math">
                    <m:r>
                      <a:rPr lang="en-US" b="1" i="1">
                        <a:latin typeface="Cambria Math" panose="02040503050406030204" pitchFamily="18" charset="0"/>
                      </a:rPr>
                      <m:t>𝑩𝑫</m:t>
                    </m:r>
                  </m:oMath>
                </a14:m>
                <a:r>
                  <a:rPr lang="vi-VN" b="1" dirty="0"/>
                  <a:t>.</a:t>
                </a:r>
                <a:r>
                  <a:rPr lang="vi-VN" b="1" i="1" dirty="0"/>
                  <a:t> </a:t>
                </a:r>
                <a:r>
                  <a:rPr lang="vi-VN" b="1" dirty="0"/>
                  <a:t>Trong các khẳng định sau, khẳng định nào </a:t>
                </a:r>
                <a:r>
                  <a:rPr lang="vi-VN" b="1" dirty="0">
                    <a:solidFill>
                      <a:srgbClr val="FF0000"/>
                    </a:solidFill>
                  </a:rPr>
                  <a:t>sai</a:t>
                </a:r>
                <a:r>
                  <a:rPr lang="vi-VN" b="1" dirty="0"/>
                  <a:t>?</a:t>
                </a:r>
                <a:endParaRPr lang="en-US" b="1" dirty="0"/>
              </a:p>
              <a:p>
                <a:pPr marL="0" indent="0">
                  <a:buNone/>
                </a:pPr>
                <a:r>
                  <a:rPr lang="vi-VN" b="1" dirty="0"/>
                  <a:t>A. </a:t>
                </a:r>
                <a:r>
                  <a:rPr lang="en-US" b="1" dirty="0"/>
                  <a:t>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 </m:t>
                        </m:r>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oMath>
                </a14:m>
                <a:r>
                  <a:rPr lang="en-US" b="1" dirty="0"/>
                  <a:t>.	</a:t>
                </a:r>
              </a:p>
              <a:p>
                <a:pPr marL="0" indent="0">
                  <a:buNone/>
                </a:pPr>
                <a:r>
                  <a:rPr lang="en-US" b="1" dirty="0"/>
                  <a:t>B.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𝑰𝑨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𝑰𝑩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𝑰𝑪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𝑰𝑫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r>
                  <a:rPr lang="en-US" b="1" dirty="0"/>
                  <a:t>.</a:t>
                </a:r>
              </a:p>
              <a:p>
                <a:pPr marL="0" indent="0">
                  <a:buNone/>
                </a:pPr>
                <a:r>
                  <a:rPr lang="en-US" b="1" dirty="0"/>
                  <a:t>C.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oMath>
                </a14:m>
                <a:r>
                  <a:rPr lang="en-US" b="1" dirty="0"/>
                  <a:t>.	</a:t>
                </a:r>
              </a:p>
              <a:p>
                <a:pPr marL="0" indent="0">
                  <a:buNone/>
                </a:pPr>
                <a:r>
                  <a:rPr lang="en-US" b="1" dirty="0"/>
                  <a:t>D.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𝑩𝑨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oMath>
                </a14:m>
                <a:r>
                  <a:rPr lang="en-US" b="1" dirty="0"/>
                  <a:t>.</a:t>
                </a:r>
              </a:p>
              <a:p>
                <a:pPr marL="0" indent="0">
                  <a:buNone/>
                </a:pPr>
                <a:endParaRPr lang="en-US" sz="4600" b="1" dirty="0">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2510" y="1981200"/>
                <a:ext cx="11630892" cy="11411749"/>
              </a:xfrm>
              <a:prstGeom prst="rect">
                <a:avLst/>
              </a:prstGeom>
              <a:blipFill>
                <a:blip r:embed="rId3"/>
                <a:stretch>
                  <a:fillRect l="-2356"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en-US" b="1"/>
                  <a:t>Phương án C sai vì theo quy tắc hình bình hành thì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r>
                  <a:rPr lang="en-US" b="1"/>
                  <a:t>.</a:t>
                </a:r>
              </a:p>
              <a:p>
                <a:pPr marL="0" indent="0">
                  <a:buNone/>
                </a:pPr>
                <a:endParaRPr lang="en-US" b="1">
                  <a:solidFill>
                    <a:srgbClr val="FF0000"/>
                  </a:solidFill>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9" name="Flowchart: Connector 8">
            <a:extLst>
              <a:ext uri="{FF2B5EF4-FFF2-40B4-BE49-F238E27FC236}">
                <a16:creationId xmlns:a16="http://schemas.microsoft.com/office/drawing/2014/main" id="{BC3F9A87-DBBC-4B63-8F18-5CF7BCD4FA1D}"/>
              </a:ext>
            </a:extLst>
          </p:cNvPr>
          <p:cNvSpPr/>
          <p:nvPr/>
        </p:nvSpPr>
        <p:spPr>
          <a:xfrm>
            <a:off x="304800" y="7086600"/>
            <a:ext cx="838199" cy="8382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681415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up)">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5" end="5"/>
                                            </p:txEl>
                                          </p:spTgt>
                                        </p:tgtEl>
                                        <p:attrNameLst>
                                          <p:attrName>style.visibility</p:attrName>
                                        </p:attrNameLst>
                                      </p:cBhvr>
                                      <p:to>
                                        <p:strVal val="visible"/>
                                      </p:to>
                                    </p:set>
                                    <p:animEffect transition="in" filter="wipe(up)">
                                      <p:cBhvr>
                                        <p:cTn id="31" dur="500"/>
                                        <p:tgtEl>
                                          <p:spTgt spid="99">
                                            <p:txEl>
                                              <p:pRg st="5" end="5"/>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up)">
                                      <p:cBhvr>
                                        <p:cTn id="39" dur="500"/>
                                        <p:tgtEl>
                                          <p:spTgt spid="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7">
                                            <p:txEl>
                                              <p:pRg st="1" end="1"/>
                                            </p:txEl>
                                          </p:spTgt>
                                        </p:tgtEl>
                                        <p:attrNameLst>
                                          <p:attrName>style.visibility</p:attrName>
                                        </p:attrNameLst>
                                      </p:cBhvr>
                                      <p:to>
                                        <p:strVal val="visible"/>
                                      </p:to>
                                    </p:set>
                                    <p:animEffect transition="in" filter="wipe(up)">
                                      <p:cBhvr>
                                        <p:cTn id="44" dur="500"/>
                                        <p:tgtEl>
                                          <p:spTgt spid="7">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dirty="0">
                    <a:solidFill>
                      <a:srgbClr val="FF0000"/>
                    </a:solidFill>
                  </a:rPr>
                  <a:t>Bài </a:t>
                </a:r>
                <a:r>
                  <a:rPr lang="en-US" sz="4600" b="1" dirty="0" err="1">
                    <a:solidFill>
                      <a:srgbClr val="FF0000"/>
                    </a:solidFill>
                  </a:rPr>
                  <a:t>tập</a:t>
                </a:r>
                <a:r>
                  <a:rPr lang="en-US" sz="4600" b="1" dirty="0">
                    <a:solidFill>
                      <a:srgbClr val="FF0000"/>
                    </a:solidFill>
                  </a:rPr>
                  <a:t> </a:t>
                </a:r>
                <a:r>
                  <a:rPr lang="en-US" sz="4600" b="1" dirty="0" err="1">
                    <a:solidFill>
                      <a:srgbClr val="FF0000"/>
                    </a:solidFill>
                  </a:rPr>
                  <a:t>trắc</a:t>
                </a:r>
                <a:r>
                  <a:rPr lang="en-US" sz="4600" b="1" dirty="0">
                    <a:solidFill>
                      <a:srgbClr val="FF0000"/>
                    </a:solidFill>
                  </a:rPr>
                  <a:t> </a:t>
                </a:r>
                <a:r>
                  <a:rPr lang="en-US" sz="4600" b="1" dirty="0" err="1">
                    <a:solidFill>
                      <a:srgbClr val="FF0000"/>
                    </a:solidFill>
                  </a:rPr>
                  <a:t>nghiệm</a:t>
                </a:r>
                <a:r>
                  <a:rPr lang="en-US" sz="4600" b="1" dirty="0">
                    <a:solidFill>
                      <a:srgbClr val="FF0000"/>
                    </a:solidFill>
                  </a:rPr>
                  <a:t>:</a:t>
                </a:r>
              </a:p>
              <a:p>
                <a:pPr marL="0" indent="0">
                  <a:buNone/>
                </a:pPr>
                <a:r>
                  <a:rPr lang="en-US" b="1" dirty="0" err="1"/>
                  <a:t>Câu</a:t>
                </a:r>
                <a:r>
                  <a:rPr lang="en-US" b="1" dirty="0"/>
                  <a:t> 2.  </a:t>
                </a:r>
                <a:r>
                  <a:rPr lang="en-GB" b="1" dirty="0"/>
                  <a:t>Cho 4 </a:t>
                </a:r>
                <a:r>
                  <a:rPr lang="en-GB" b="1" dirty="0" err="1"/>
                  <a:t>điểm</a:t>
                </a:r>
                <a:r>
                  <a:rPr lang="en-GB" b="1" dirty="0"/>
                  <a:t> </a:t>
                </a:r>
                <a14:m>
                  <m:oMath xmlns:m="http://schemas.openxmlformats.org/officeDocument/2006/math">
                    <m:r>
                      <a:rPr lang="en-GB" b="1" i="1">
                        <a:latin typeface="Cambria Math" panose="02040503050406030204" pitchFamily="18" charset="0"/>
                      </a:rPr>
                      <m:t>𝑴</m:t>
                    </m:r>
                    <m:r>
                      <a:rPr lang="en-GB" b="1" i="1">
                        <a:latin typeface="Cambria Math" panose="02040503050406030204" pitchFamily="18" charset="0"/>
                      </a:rPr>
                      <m:t>,</m:t>
                    </m:r>
                    <m:r>
                      <a:rPr lang="en-GB" b="1" i="1">
                        <a:latin typeface="Cambria Math" panose="02040503050406030204" pitchFamily="18" charset="0"/>
                      </a:rPr>
                      <m:t>𝑵</m:t>
                    </m:r>
                    <m:r>
                      <a:rPr lang="en-GB" b="1" i="1">
                        <a:latin typeface="Cambria Math" panose="02040503050406030204" pitchFamily="18" charset="0"/>
                      </a:rPr>
                      <m:t>,</m:t>
                    </m:r>
                    <m:r>
                      <a:rPr lang="en-GB" b="1" i="1">
                        <a:latin typeface="Cambria Math" panose="02040503050406030204" pitchFamily="18" charset="0"/>
                      </a:rPr>
                      <m:t>𝑷</m:t>
                    </m:r>
                    <m:r>
                      <a:rPr lang="en-GB" b="1" i="1">
                        <a:latin typeface="Cambria Math" panose="02040503050406030204" pitchFamily="18" charset="0"/>
                      </a:rPr>
                      <m:t>,</m:t>
                    </m:r>
                    <m:r>
                      <a:rPr lang="en-GB" b="1" i="1">
                        <a:latin typeface="Cambria Math" panose="02040503050406030204" pitchFamily="18" charset="0"/>
                      </a:rPr>
                      <m:t>𝑸</m:t>
                    </m:r>
                  </m:oMath>
                </a14:m>
                <a:r>
                  <a:rPr lang="en-GB" b="1" dirty="0"/>
                  <a:t>. </a:t>
                </a:r>
                <a:r>
                  <a:rPr lang="vi-VN" b="1" dirty="0"/>
                  <a:t>Trong các khẳng định sau, khẳng định nào </a:t>
                </a:r>
                <a:r>
                  <a:rPr lang="en-US" b="1" dirty="0" err="1">
                    <a:solidFill>
                      <a:srgbClr val="FF0000"/>
                    </a:solidFill>
                  </a:rPr>
                  <a:t>đúng</a:t>
                </a:r>
                <a:r>
                  <a:rPr lang="vi-VN" b="1" dirty="0"/>
                  <a:t>?</a:t>
                </a:r>
                <a:endParaRPr lang="en-US" b="1" dirty="0"/>
              </a:p>
              <a:p>
                <a:pPr marL="0" indent="0">
                  <a:buNone/>
                </a:pPr>
                <a:r>
                  <a:rPr lang="en-US" b="1" dirty="0"/>
                  <a:t>A.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𝑴𝑵</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𝑵𝑷</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𝑷𝑸</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𝑸𝑴</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𝑵𝑷</m:t>
                        </m:r>
                      </m:e>
                    </m:acc>
                  </m:oMath>
                </a14:m>
                <a:r>
                  <a:rPr lang="en-US" b="1" dirty="0"/>
                  <a:t>.	</a:t>
                </a:r>
              </a:p>
              <a:p>
                <a:pPr marL="0" indent="0">
                  <a:buNone/>
                </a:pPr>
                <a:r>
                  <a:rPr lang="en-US" b="1" dirty="0"/>
                  <a:t>B. </a:t>
                </a:r>
                <a14:m>
                  <m:oMath xmlns:m="http://schemas.openxmlformats.org/officeDocument/2006/math">
                    <m:r>
                      <a:rPr lang="en-US" b="1" i="0" smtClean="0">
                        <a:latin typeface="Cambria Math" panose="02040503050406030204" pitchFamily="18" charset="0"/>
                      </a:rPr>
                      <m:t> </m:t>
                    </m:r>
                    <m:acc>
                      <m:accPr>
                        <m:chr m:val="⃗"/>
                        <m:ctrlPr>
                          <a:rPr lang="en-US" b="1" i="1">
                            <a:latin typeface="Cambria Math" panose="02040503050406030204" pitchFamily="18" charset="0"/>
                          </a:rPr>
                        </m:ctrlPr>
                      </m:accPr>
                      <m:e>
                        <m:r>
                          <a:rPr lang="en-GB" b="1" i="1">
                            <a:latin typeface="Cambria Math" panose="02040503050406030204" pitchFamily="18" charset="0"/>
                          </a:rPr>
                          <m:t>𝑴𝑵</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𝑵𝑷</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𝑷𝑸</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𝑸𝑴</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𝟎</m:t>
                        </m:r>
                      </m:e>
                    </m:acc>
                  </m:oMath>
                </a14:m>
                <a:r>
                  <a:rPr lang="en-US" b="1" dirty="0"/>
                  <a:t>.</a:t>
                </a:r>
              </a:p>
              <a:p>
                <a:pPr marL="0" indent="0">
                  <a:buNone/>
                </a:pPr>
                <a:r>
                  <a:rPr lang="en-US" b="1" dirty="0"/>
                  <a:t>C.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𝑴𝑵</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𝑵𝑷</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𝑷𝑸</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𝑸𝑴</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𝑷𝑸</m:t>
                        </m:r>
                      </m:e>
                    </m:acc>
                  </m:oMath>
                </a14:m>
                <a:r>
                  <a:rPr lang="en-US" b="1" dirty="0"/>
                  <a:t>.	</a:t>
                </a:r>
              </a:p>
              <a:p>
                <a:pPr marL="0" indent="0">
                  <a:buNone/>
                </a:pPr>
                <a:r>
                  <a:rPr lang="en-US" b="1" dirty="0"/>
                  <a:t>D.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𝑴𝑵</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𝑵𝑷</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𝑷𝑸</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𝑸𝑴</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𝑴𝑷</m:t>
                        </m:r>
                      </m:e>
                    </m:acc>
                  </m:oMath>
                </a14:m>
                <a:r>
                  <a:rPr lang="en-US" b="1" dirty="0"/>
                  <a:t>.    </a:t>
                </a:r>
              </a:p>
              <a:p>
                <a:pPr marL="0" indent="0">
                  <a:buNone/>
                </a:pPr>
                <a:endParaRPr lang="en-US" sz="4600" b="1" dirty="0">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fr-FR" b="1"/>
                  <a:t>Ta có</a:t>
                </a:r>
                <a:endParaRPr lang="en-US" b="1"/>
              </a:p>
              <a:p>
                <a:pPr marL="0" indent="0">
                  <a:buNone/>
                </a:pPr>
                <a14:m>
                  <m:oMathPara xmlns:m="http://schemas.openxmlformats.org/officeDocument/2006/math">
                    <m:oMathParaPr>
                      <m:jc m:val="centerGroup"/>
                    </m:oMathParaPr>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𝑴𝑵</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𝑷𝑸</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𝑸𝑴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𝑷𝑸</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𝑸𝑴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𝑴𝑸</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𝑸𝑴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m:oMathPara>
                </a14:m>
                <a:endParaRPr lang="en-US" b="1"/>
              </a:p>
              <a:p>
                <a:pPr marL="0" indent="0">
                  <a:buNone/>
                </a:pPr>
                <a:endParaRPr lang="en-US" b="1">
                  <a:solidFill>
                    <a:srgbClr val="FF0000"/>
                  </a:solidFill>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838200" y="5562600"/>
            <a:ext cx="609600" cy="609600"/>
          </a:xfrm>
          <a:prstGeom prst="flowChartConnector">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766526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up)">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5" end="5"/>
                                            </p:txEl>
                                          </p:spTgt>
                                        </p:tgtEl>
                                        <p:attrNameLst>
                                          <p:attrName>style.visibility</p:attrName>
                                        </p:attrNameLst>
                                      </p:cBhvr>
                                      <p:to>
                                        <p:strVal val="visible"/>
                                      </p:to>
                                    </p:set>
                                    <p:animEffect transition="in" filter="wipe(up)">
                                      <p:cBhvr>
                                        <p:cTn id="31" dur="500"/>
                                        <p:tgtEl>
                                          <p:spTgt spid="99">
                                            <p:txEl>
                                              <p:pRg st="5" end="5"/>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up)">
                                      <p:cBhvr>
                                        <p:cTn id="39" dur="500"/>
                                        <p:tgtEl>
                                          <p:spTgt spid="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7">
                                            <p:txEl>
                                              <p:pRg st="1" end="1"/>
                                            </p:txEl>
                                          </p:spTgt>
                                        </p:tgtEl>
                                        <p:attrNameLst>
                                          <p:attrName>style.visibility</p:attrName>
                                        </p:attrNameLst>
                                      </p:cBhvr>
                                      <p:to>
                                        <p:strVal val="visible"/>
                                      </p:to>
                                    </p:set>
                                    <p:animEffect transition="in" filter="wipe(up)">
                                      <p:cBhvr>
                                        <p:cTn id="44" dur="500"/>
                                        <p:tgtEl>
                                          <p:spTgt spid="7">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7">
                                            <p:txEl>
                                              <p:pRg st="2" end="2"/>
                                            </p:txEl>
                                          </p:spTgt>
                                        </p:tgtEl>
                                        <p:attrNameLst>
                                          <p:attrName>style.visibility</p:attrName>
                                        </p:attrNameLst>
                                      </p:cBhvr>
                                      <p:to>
                                        <p:strVal val="visible"/>
                                      </p:to>
                                    </p:set>
                                    <p:animEffect transition="in" filter="wipe(up)">
                                      <p:cBhvr>
                                        <p:cTn id="49" dur="500"/>
                                        <p:tgtEl>
                                          <p:spTgt spid="7">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vi-VN" b="1"/>
                  <a:t>Câu </a:t>
                </a:r>
                <a:r>
                  <a:rPr lang="en-US" b="1"/>
                  <a:t>3</a:t>
                </a:r>
                <a:r>
                  <a:rPr lang="vi-VN" b="1"/>
                  <a:t>. </a:t>
                </a:r>
                <a:r>
                  <a:rPr lang="en-US" b="1"/>
                  <a:t>  Cho bốn điểm </a:t>
                </a:r>
                <a14:m>
                  <m:oMath xmlns:m="http://schemas.openxmlformats.org/officeDocument/2006/math">
                    <m:r>
                      <a:rPr lang="en-US" b="1" i="1">
                        <a:latin typeface="Cambria Math" panose="02040503050406030204" pitchFamily="18" charset="0"/>
                      </a:rPr>
                      <m:t>𝑨</m:t>
                    </m:r>
                    <m:r>
                      <a:rPr lang="en-US" b="1" i="1">
                        <a:latin typeface="Cambria Math" panose="02040503050406030204" pitchFamily="18" charset="0"/>
                      </a:rPr>
                      <m:t>, </m:t>
                    </m:r>
                    <m:r>
                      <a:rPr lang="en-US" b="1" i="1">
                        <a:latin typeface="Cambria Math" panose="02040503050406030204" pitchFamily="18" charset="0"/>
                      </a:rPr>
                      <m:t>𝑩</m:t>
                    </m:r>
                    <m:r>
                      <a:rPr lang="en-US" b="1" i="1">
                        <a:latin typeface="Cambria Math" panose="02040503050406030204" pitchFamily="18" charset="0"/>
                      </a:rPr>
                      <m:t>, </m:t>
                    </m:r>
                    <m:r>
                      <a:rPr lang="en-US" b="1" i="1">
                        <a:latin typeface="Cambria Math" panose="02040503050406030204" pitchFamily="18" charset="0"/>
                      </a:rPr>
                      <m:t>𝑪</m:t>
                    </m:r>
                    <m:r>
                      <a:rPr lang="en-US" b="1" i="1">
                        <a:latin typeface="Cambria Math" panose="02040503050406030204" pitchFamily="18" charset="0"/>
                      </a:rPr>
                      <m:t>, </m:t>
                    </m:r>
                    <m:r>
                      <a:rPr lang="en-US" b="1" i="1">
                        <a:latin typeface="Cambria Math" panose="02040503050406030204" pitchFamily="18" charset="0"/>
                      </a:rPr>
                      <m:t>𝑫</m:t>
                    </m:r>
                  </m:oMath>
                </a14:m>
                <a:r>
                  <a:rPr lang="en-US" b="1"/>
                  <a:t>. </a:t>
                </a:r>
                <a:r>
                  <a:rPr lang="vi-VN" b="1"/>
                  <a:t>Trong các khẳng định sau, khẳng định nào </a:t>
                </a:r>
                <a:r>
                  <a:rPr lang="en-US" b="1">
                    <a:solidFill>
                      <a:srgbClr val="FF0000"/>
                    </a:solidFill>
                  </a:rPr>
                  <a:t>đún</a:t>
                </a:r>
                <a:r>
                  <a:rPr lang="en-US" b="1"/>
                  <a:t>g</a:t>
                </a:r>
                <a:r>
                  <a:rPr lang="vi-VN" b="1"/>
                  <a:t>?</a:t>
                </a:r>
                <a:endParaRPr lang="en-US" b="1"/>
              </a:p>
              <a:p>
                <a:pPr marL="0" indent="0">
                  <a:buNone/>
                </a:pPr>
                <a:r>
                  <a:rPr lang="en-US" b="1"/>
                  <a:t>A.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r>
                  <a:rPr lang="en-US" b="1"/>
                  <a:t>.	</a:t>
                </a:r>
              </a:p>
              <a:p>
                <a:pPr marL="0" indent="0">
                  <a:buNone/>
                </a:pPr>
                <a:r>
                  <a:rPr lang="en-US" b="1"/>
                  <a:t>B.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𝑫𝑨</m:t>
                        </m:r>
                      </m:e>
                    </m:acc>
                  </m:oMath>
                </a14:m>
                <a:r>
                  <a:rPr lang="en-US" b="1"/>
                  <a:t>.</a:t>
                </a:r>
              </a:p>
              <a:p>
                <a:pPr marL="0" indent="0">
                  <a:buNone/>
                </a:pPr>
                <a:r>
                  <a:rPr lang="en-US" b="1"/>
                  <a:t>C.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𝑫𝑨</m:t>
                        </m:r>
                      </m:e>
                    </m:acc>
                  </m:oMath>
                </a14:m>
                <a:r>
                  <a:rPr lang="en-US" b="1"/>
                  <a:t>.	</a:t>
                </a:r>
              </a:p>
              <a:p>
                <a:pPr marL="0" indent="0">
                  <a:buNone/>
                </a:pPr>
                <a:r>
                  <a:rPr lang="en-US" b="1"/>
                  <a:t>D.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r>
                  <a:rPr lang="en-US" b="1"/>
                  <a:t>.</a:t>
                </a:r>
              </a:p>
              <a:p>
                <a:pPr marL="0" indent="0">
                  <a:buNone/>
                </a:pP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r="-27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fr-FR" b="1"/>
                  <a:t>Ta có</a:t>
                </a:r>
                <a:endParaRPr lang="en-US" b="1"/>
              </a:p>
              <a:p>
                <a:pPr marL="0" indent="0">
                  <a:buNone/>
                </a:pP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oMath>
                </a14:m>
                <a:r>
                  <a:rPr lang="en-US" b="1" i="1"/>
                  <a:t> </a:t>
                </a:r>
              </a:p>
              <a:p>
                <a:pPr marL="0" indent="0">
                  <a:buNone/>
                </a:pPr>
                <a14:m>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r>
                  <a:rPr lang="fr-FR" b="1"/>
                  <a:t>.</a:t>
                </a:r>
                <a:endParaRPr lang="en-US" b="1"/>
              </a:p>
              <a:p>
                <a:pPr marL="0" indent="0">
                  <a:buNone/>
                </a:pPr>
                <a:endParaRPr lang="en-US" b="1">
                  <a:solidFill>
                    <a:srgbClr val="FF0000"/>
                  </a:solidFill>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838200" y="5181600"/>
            <a:ext cx="609600" cy="6096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725168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up)">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5" end="5"/>
                                            </p:txEl>
                                          </p:spTgt>
                                        </p:tgtEl>
                                        <p:attrNameLst>
                                          <p:attrName>style.visibility</p:attrName>
                                        </p:attrNameLst>
                                      </p:cBhvr>
                                      <p:to>
                                        <p:strVal val="visible"/>
                                      </p:to>
                                    </p:set>
                                    <p:animEffect transition="in" filter="wipe(up)">
                                      <p:cBhvr>
                                        <p:cTn id="31" dur="500"/>
                                        <p:tgtEl>
                                          <p:spTgt spid="99">
                                            <p:txEl>
                                              <p:pRg st="5" end="5"/>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up)">
                                      <p:cBhvr>
                                        <p:cTn id="39" dur="500"/>
                                        <p:tgtEl>
                                          <p:spTgt spid="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7">
                                            <p:txEl>
                                              <p:pRg st="1" end="1"/>
                                            </p:txEl>
                                          </p:spTgt>
                                        </p:tgtEl>
                                        <p:attrNameLst>
                                          <p:attrName>style.visibility</p:attrName>
                                        </p:attrNameLst>
                                      </p:cBhvr>
                                      <p:to>
                                        <p:strVal val="visible"/>
                                      </p:to>
                                    </p:set>
                                    <p:animEffect transition="in" filter="wipe(up)">
                                      <p:cBhvr>
                                        <p:cTn id="44" dur="500"/>
                                        <p:tgtEl>
                                          <p:spTgt spid="7">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7">
                                            <p:txEl>
                                              <p:pRg st="2" end="2"/>
                                            </p:txEl>
                                          </p:spTgt>
                                        </p:tgtEl>
                                        <p:attrNameLst>
                                          <p:attrName>style.visibility</p:attrName>
                                        </p:attrNameLst>
                                      </p:cBhvr>
                                      <p:to>
                                        <p:strVal val="visible"/>
                                      </p:to>
                                    </p:set>
                                    <p:animEffect transition="in" filter="wipe(up)">
                                      <p:cBhvr>
                                        <p:cTn id="49" dur="500"/>
                                        <p:tgtEl>
                                          <p:spTgt spid="7">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7">
                                            <p:txEl>
                                              <p:pRg st="3" end="3"/>
                                            </p:txEl>
                                          </p:spTgt>
                                        </p:tgtEl>
                                        <p:attrNameLst>
                                          <p:attrName>style.visibility</p:attrName>
                                        </p:attrNameLst>
                                      </p:cBhvr>
                                      <p:to>
                                        <p:strVal val="visible"/>
                                      </p:to>
                                    </p:set>
                                    <p:animEffect transition="in" filter="wipe(up)">
                                      <p:cBhvr>
                                        <p:cTn id="54" dur="500"/>
                                        <p:tgtEl>
                                          <p:spTgt spid="7">
                                            <p:txEl>
                                              <p:pRg st="3" end="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vi-VN" b="1"/>
                  <a:t>Câu </a:t>
                </a:r>
                <a:r>
                  <a:rPr lang="fr-FR" b="1"/>
                  <a:t>4</a:t>
                </a:r>
                <a:r>
                  <a:rPr lang="vi-VN" b="1"/>
                  <a:t>. </a:t>
                </a:r>
                <a:r>
                  <a:rPr lang="fr-FR" b="1"/>
                  <a:t>  Cho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𝒖</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oMath>
                </a14:m>
                <a:r>
                  <a:rPr lang="fr-FR" b="1"/>
                  <a:t> với </a:t>
                </a:r>
                <a14:m>
                  <m:oMath xmlns:m="http://schemas.openxmlformats.org/officeDocument/2006/math">
                    <m:r>
                      <a:rPr lang="en-US" b="1" i="1">
                        <a:latin typeface="Cambria Math" panose="02040503050406030204" pitchFamily="18" charset="0"/>
                      </a:rPr>
                      <m:t>𝟒</m:t>
                    </m:r>
                  </m:oMath>
                </a14:m>
                <a:r>
                  <a:rPr lang="fr-FR" b="1"/>
                  <a:t> điểm bất kì </a:t>
                </a:r>
                <a14:m>
                  <m:oMath xmlns:m="http://schemas.openxmlformats.org/officeDocument/2006/math">
                    <m:r>
                      <a:rPr lang="en-US" b="1" i="1">
                        <a:latin typeface="Cambria Math" panose="02040503050406030204" pitchFamily="18" charset="0"/>
                      </a:rPr>
                      <m:t>𝑨</m:t>
                    </m:r>
                  </m:oMath>
                </a14:m>
                <a:r>
                  <a:rPr lang="fr-FR" b="1"/>
                  <a:t>, </a:t>
                </a:r>
                <a14:m>
                  <m:oMath xmlns:m="http://schemas.openxmlformats.org/officeDocument/2006/math">
                    <m:r>
                      <a:rPr lang="en-US" b="1" i="1">
                        <a:latin typeface="Cambria Math" panose="02040503050406030204" pitchFamily="18" charset="0"/>
                      </a:rPr>
                      <m:t>𝑩</m:t>
                    </m:r>
                  </m:oMath>
                </a14:m>
                <a:r>
                  <a:rPr lang="fr-FR" b="1"/>
                  <a:t>, </a:t>
                </a:r>
                <a14:m>
                  <m:oMath xmlns:m="http://schemas.openxmlformats.org/officeDocument/2006/math">
                    <m:r>
                      <a:rPr lang="en-US" b="1" i="1">
                        <a:latin typeface="Cambria Math" panose="02040503050406030204" pitchFamily="18" charset="0"/>
                      </a:rPr>
                      <m:t>𝑪</m:t>
                    </m:r>
                  </m:oMath>
                </a14:m>
                <a:r>
                  <a:rPr lang="fr-FR" b="1"/>
                  <a:t>, </a:t>
                </a:r>
                <a14:m>
                  <m:oMath xmlns:m="http://schemas.openxmlformats.org/officeDocument/2006/math">
                    <m:r>
                      <a:rPr lang="en-US" b="1" i="1">
                        <a:latin typeface="Cambria Math" panose="02040503050406030204" pitchFamily="18" charset="0"/>
                      </a:rPr>
                      <m:t>𝑫</m:t>
                    </m:r>
                  </m:oMath>
                </a14:m>
                <a:r>
                  <a:rPr lang="fr-FR" b="1"/>
                  <a:t>. </a:t>
                </a:r>
                <a:r>
                  <a:rPr lang="en-US" b="1"/>
                  <a:t>Chọn khẳng định </a:t>
                </a:r>
                <a:r>
                  <a:rPr lang="en-US" b="1">
                    <a:solidFill>
                      <a:srgbClr val="FF0000"/>
                    </a:solidFill>
                  </a:rPr>
                  <a:t>đúng</a:t>
                </a:r>
                <a:r>
                  <a:rPr lang="en-US" b="1"/>
                  <a:t>? </a:t>
                </a:r>
              </a:p>
              <a:p>
                <a:pPr marL="0" indent="0">
                  <a:buNone/>
                </a:pPr>
                <a:r>
                  <a:rPr lang="en-US" b="1"/>
                  <a:t>A.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𝒖</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r>
                  <a:rPr lang="en-US" b="1"/>
                  <a:t>.	              B.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𝒖</m:t>
                        </m:r>
                      </m:e>
                    </m:acc>
                    <m:r>
                      <a:rPr lang="en-US" b="1" i="1">
                        <a:latin typeface="Cambria Math" panose="02040503050406030204" pitchFamily="18" charset="0"/>
                      </a:rPr>
                      <m:t>=</m:t>
                    </m:r>
                    <m:r>
                      <a:rPr lang="en-US" b="1" i="1">
                        <a:latin typeface="Cambria Math" panose="02040503050406030204" pitchFamily="18" charset="0"/>
                      </a:rPr>
                      <m:t>𝟐</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oMath>
                </a14:m>
                <a:r>
                  <a:rPr lang="en-US" b="1"/>
                  <a:t>.</a:t>
                </a:r>
              </a:p>
              <a:p>
                <a:pPr marL="0" indent="0">
                  <a:buNone/>
                </a:pPr>
                <a:r>
                  <a:rPr lang="en-US" b="1"/>
                  <a:t>C.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𝒖</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oMath>
                </a14:m>
                <a:r>
                  <a:rPr lang="en-US" b="1"/>
                  <a:t>.	              D.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𝒖</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oMath>
                </a14:m>
                <a:r>
                  <a:rPr lang="en-US" b="1"/>
                  <a:t>.</a:t>
                </a:r>
              </a:p>
              <a:p>
                <a:pPr marL="0" indent="0">
                  <a:buNone/>
                </a:pP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fr-FR" b="1"/>
                  <a:t>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𝒖</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oMath>
                </a14:m>
                <a:endParaRPr lang="en-US" b="1" i="1"/>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𝑫𝑪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oMath>
                  </m:oMathPara>
                </a14:m>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845127" y="5334000"/>
            <a:ext cx="609600" cy="6096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577304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wipe(up)">
                                      <p:cBhvr>
                                        <p:cTn id="36" dur="500"/>
                                        <p:tgtEl>
                                          <p:spTgt spid="7">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Effect transition="in" filter="wipe(up)">
                                      <p:cBhvr>
                                        <p:cTn id="41" dur="500"/>
                                        <p:tgtEl>
                                          <p:spTgt spid="7">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en-US" b="1"/>
                  <a:t>Câu 5.   Cho tam giác </a:t>
                </a:r>
                <a14:m>
                  <m:oMath xmlns:m="http://schemas.openxmlformats.org/officeDocument/2006/math">
                    <m:r>
                      <a:rPr lang="en-US" b="1" i="1">
                        <a:latin typeface="Cambria Math" panose="02040503050406030204" pitchFamily="18" charset="0"/>
                      </a:rPr>
                      <m:t>𝑨𝑩𝑪</m:t>
                    </m:r>
                    <m:r>
                      <a:rPr lang="en-US" b="1" i="1">
                        <a:latin typeface="Cambria Math" panose="02040503050406030204" pitchFamily="18" charset="0"/>
                      </a:rPr>
                      <m:t>.</m:t>
                    </m:r>
                  </m:oMath>
                </a14:m>
                <a:r>
                  <a:rPr lang="en-US" b="1"/>
                  <a:t> </a:t>
                </a:r>
                <a:r>
                  <a:rPr lang="vi-VN" b="1"/>
                  <a:t>Trong các khẳng định sau, khẳng định nào </a:t>
                </a:r>
                <a:r>
                  <a:rPr lang="en-US" b="1">
                    <a:solidFill>
                      <a:srgbClr val="FF0000"/>
                    </a:solidFill>
                  </a:rPr>
                  <a:t>đúng</a:t>
                </a:r>
                <a:r>
                  <a:rPr lang="vi-VN" b="1"/>
                  <a:t>?</a:t>
                </a:r>
                <a:endParaRPr lang="en-US" b="1"/>
              </a:p>
              <a:p>
                <a:pPr marL="0" indent="0">
                  <a:buNone/>
                </a:pPr>
                <a:r>
                  <a:rPr lang="en-US" b="1"/>
                  <a:t>A.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oMath>
                </a14:m>
                <a:r>
                  <a:rPr lang="en-US" b="1"/>
                  <a:t>.	  B.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r>
                  <a:rPr lang="en-US" b="1"/>
                  <a:t>.</a:t>
                </a:r>
              </a:p>
              <a:p>
                <a:pPr marL="0" indent="0">
                  <a:buNone/>
                </a:pPr>
                <a:r>
                  <a:rPr lang="en-US" b="1"/>
                  <a:t>C.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𝑪𝑨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r>
                  <a:rPr lang="en-US" b="1"/>
                  <a:t>.	  D.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oMath>
                </a14:m>
                <a:r>
                  <a:rPr lang="en-US" b="1"/>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r="-328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en-US" b="1"/>
                  <a:t>Xét các đáp án:</a:t>
                </a:r>
              </a:p>
              <a:p>
                <a:pPr marL="0" indent="0">
                  <a:buNone/>
                </a:pPr>
                <a:r>
                  <a:rPr lang="en-US" b="1">
                    <a:sym typeface="Wingdings" panose="05000000000000000000" pitchFamily="2" charset="2"/>
                  </a:rPr>
                  <a:t></a:t>
                </a:r>
                <a:r>
                  <a:rPr lang="en-US" b="1"/>
                  <a:t> Đáp án. A. 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𝑩𝑪</m:t>
                        </m:r>
                      </m:e>
                    </m:acc>
                  </m:oMath>
                </a14:m>
                <a:r>
                  <a:rPr lang="en-US" b="1"/>
                  <a:t> (với </a:t>
                </a:r>
                <a14:m>
                  <m:oMath xmlns:m="http://schemas.openxmlformats.org/officeDocument/2006/math">
                    <m:r>
                      <a:rPr lang="en-US" b="1" i="1">
                        <a:latin typeface="Cambria Math" panose="02040503050406030204" pitchFamily="18" charset="0"/>
                      </a:rPr>
                      <m:t>𝑫</m:t>
                    </m:r>
                  </m:oMath>
                </a14:m>
                <a:r>
                  <a:rPr lang="en-US" b="1"/>
                  <a:t> là điểm thỏa mãn </a:t>
                </a:r>
                <a14:m>
                  <m:oMath xmlns:m="http://schemas.openxmlformats.org/officeDocument/2006/math">
                    <m:r>
                      <a:rPr lang="en-US" b="1" i="1">
                        <a:latin typeface="Cambria Math" panose="02040503050406030204" pitchFamily="18" charset="0"/>
                      </a:rPr>
                      <m:t>𝑨𝑩𝑫𝑪</m:t>
                    </m:r>
                  </m:oMath>
                </a14:m>
                <a:r>
                  <a:rPr lang="en-US" b="1"/>
                  <a:t>là hình bình hành). Suy ra A sai.</a:t>
                </a:r>
              </a:p>
              <a:p>
                <a:pPr marL="0" indent="0">
                  <a:buNone/>
                </a:pPr>
                <a:r>
                  <a:rPr lang="en-US" b="1">
                    <a:sym typeface="Wingdings" panose="05000000000000000000" pitchFamily="2" charset="2"/>
                  </a:rPr>
                  <a:t></a:t>
                </a:r>
                <a:r>
                  <a:rPr lang="en-US" b="1"/>
                  <a:t> Đáp án. B. 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𝑴𝑷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𝑴𝑷</m:t>
                        </m:r>
                      </m:e>
                    </m:acc>
                  </m:oMath>
                </a14:m>
                <a:endParaRPr lang="en-US" b="1" i="1"/>
              </a:p>
              <a:p>
                <a:pPr marL="0" indent="0">
                  <a:buNone/>
                </a:pPr>
                <a14:m>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𝑵𝑷</m:t>
                        </m:r>
                      </m:e>
                    </m:acc>
                  </m:oMath>
                </a14:m>
                <a:r>
                  <a:rPr lang="en-US" b="1"/>
                  <a:t>. Suy ra B đúng.</a:t>
                </a:r>
              </a:p>
              <a:p>
                <a:pPr marL="0" indent="0">
                  <a:buNone/>
                </a:pPr>
                <a:r>
                  <a:rPr lang="en-US" b="1">
                    <a:sym typeface="Wingdings" panose="05000000000000000000" pitchFamily="2" charset="2"/>
                  </a:rPr>
                  <a:t></a:t>
                </a:r>
                <a:r>
                  <a:rPr lang="en-US" b="1"/>
                  <a:t> Đáp án. C. 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𝑪𝑨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𝑩𝑨</m:t>
                        </m:r>
                      </m:e>
                    </m:acc>
                    <m:r>
                      <a:rPr lang="en-US" b="1" i="1">
                        <a:latin typeface="Cambria Math" panose="02040503050406030204" pitchFamily="18" charset="0"/>
                      </a:rPr>
                      <m:t>=−</m:t>
                    </m:r>
                    <m:d>
                      <m:dPr>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e>
                    </m:d>
                  </m:oMath>
                </a14:m>
                <a:endParaRPr lang="en-US" b="1" i="1"/>
              </a:p>
              <a:p>
                <a:pPr marL="0" indent="0">
                  <a:buNone/>
                </a:pPr>
                <a14:m>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𝑪𝑩</m:t>
                        </m:r>
                      </m:e>
                    </m:acc>
                  </m:oMath>
                </a14:m>
                <a:r>
                  <a:rPr lang="en-US" b="1"/>
                  <a:t> (với </a:t>
                </a:r>
                <a14:m>
                  <m:oMath xmlns:m="http://schemas.openxmlformats.org/officeDocument/2006/math">
                    <m:r>
                      <a:rPr lang="en-US" b="1" i="1">
                        <a:latin typeface="Cambria Math" panose="02040503050406030204" pitchFamily="18" charset="0"/>
                      </a:rPr>
                      <m:t>𝑫</m:t>
                    </m:r>
                  </m:oMath>
                </a14:m>
                <a:r>
                  <a:rPr lang="en-US" b="1"/>
                  <a:t> là điểm thỏa mãn </a:t>
                </a:r>
                <a14:m>
                  <m:oMath xmlns:m="http://schemas.openxmlformats.org/officeDocument/2006/math">
                    <m:r>
                      <a:rPr lang="en-US" b="1" i="1">
                        <a:latin typeface="Cambria Math" panose="02040503050406030204" pitchFamily="18" charset="0"/>
                      </a:rPr>
                      <m:t>𝑨𝑩𝑫𝑪</m:t>
                    </m:r>
                  </m:oMath>
                </a14:m>
                <a:r>
                  <a:rPr lang="en-US" b="1"/>
                  <a:t>là hình bình hành). </a:t>
                </a:r>
                <a:r>
                  <a:rPr lang="fr-FR" b="1"/>
                  <a:t>Suy ra C sai.</a:t>
                </a:r>
                <a:endParaRPr lang="en-US" b="1"/>
              </a:p>
              <a:p>
                <a:pPr marL="0" indent="0">
                  <a:buNone/>
                </a:pPr>
                <a:r>
                  <a:rPr lang="en-US" b="1">
                    <a:sym typeface="Wingdings" panose="05000000000000000000" pitchFamily="2" charset="2"/>
                  </a:rPr>
                  <a:t></a:t>
                </a:r>
                <a:r>
                  <a:rPr lang="fr-FR" b="1"/>
                  <a:t> Đáp án. D. 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endParaRPr lang="en-US" b="1" i="1"/>
              </a:p>
              <a:p>
                <a:pPr marL="0" indent="0">
                  <a:buNone/>
                </a:pPr>
                <a14:m>
                  <m:oMath xmlns:m="http://schemas.openxmlformats.org/officeDocument/2006/math">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oMath>
                </a14:m>
                <a:r>
                  <a:rPr lang="fr-FR" b="1"/>
                  <a:t>. Suy ra D sai.</a:t>
                </a:r>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r="-3082"/>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6553200" y="5029200"/>
            <a:ext cx="838200" cy="8382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04926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wipe(up)">
                                      <p:cBhvr>
                                        <p:cTn id="36" dur="500"/>
                                        <p:tgtEl>
                                          <p:spTgt spid="7">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Effect transition="in" filter="wipe(up)">
                                      <p:cBhvr>
                                        <p:cTn id="41" dur="500"/>
                                        <p:tgtEl>
                                          <p:spTgt spid="7">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3" end="3"/>
                                            </p:txEl>
                                          </p:spTgt>
                                        </p:tgtEl>
                                        <p:attrNameLst>
                                          <p:attrName>style.visibility</p:attrName>
                                        </p:attrNameLst>
                                      </p:cBhvr>
                                      <p:to>
                                        <p:strVal val="visible"/>
                                      </p:to>
                                    </p:set>
                                    <p:animEffect transition="in" filter="wipe(up)">
                                      <p:cBhvr>
                                        <p:cTn id="46" dur="500"/>
                                        <p:tgtEl>
                                          <p:spTgt spid="7">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
                                            <p:txEl>
                                              <p:pRg st="4" end="4"/>
                                            </p:txEl>
                                          </p:spTgt>
                                        </p:tgtEl>
                                        <p:attrNameLst>
                                          <p:attrName>style.visibility</p:attrName>
                                        </p:attrNameLst>
                                      </p:cBhvr>
                                      <p:to>
                                        <p:strVal val="visible"/>
                                      </p:to>
                                    </p:set>
                                    <p:animEffect transition="in" filter="wipe(up)">
                                      <p:cBhvr>
                                        <p:cTn id="51" dur="500"/>
                                        <p:tgtEl>
                                          <p:spTgt spid="7">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7">
                                            <p:txEl>
                                              <p:pRg st="5" end="5"/>
                                            </p:txEl>
                                          </p:spTgt>
                                        </p:tgtEl>
                                        <p:attrNameLst>
                                          <p:attrName>style.visibility</p:attrName>
                                        </p:attrNameLst>
                                      </p:cBhvr>
                                      <p:to>
                                        <p:strVal val="visible"/>
                                      </p:to>
                                    </p:set>
                                    <p:animEffect transition="in" filter="wipe(up)">
                                      <p:cBhvr>
                                        <p:cTn id="56" dur="500"/>
                                        <p:tgtEl>
                                          <p:spTgt spid="7">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7">
                                            <p:txEl>
                                              <p:pRg st="6" end="6"/>
                                            </p:txEl>
                                          </p:spTgt>
                                        </p:tgtEl>
                                        <p:attrNameLst>
                                          <p:attrName>style.visibility</p:attrName>
                                        </p:attrNameLst>
                                      </p:cBhvr>
                                      <p:to>
                                        <p:strVal val="visible"/>
                                      </p:to>
                                    </p:set>
                                    <p:animEffect transition="in" filter="wipe(up)">
                                      <p:cBhvr>
                                        <p:cTn id="61" dur="500"/>
                                        <p:tgtEl>
                                          <p:spTgt spid="7">
                                            <p:txEl>
                                              <p:pRg st="6" end="6"/>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
                                            <p:txEl>
                                              <p:pRg st="7" end="7"/>
                                            </p:txEl>
                                          </p:spTgt>
                                        </p:tgtEl>
                                        <p:attrNameLst>
                                          <p:attrName>style.visibility</p:attrName>
                                        </p:attrNameLst>
                                      </p:cBhvr>
                                      <p:to>
                                        <p:strVal val="visible"/>
                                      </p:to>
                                    </p:set>
                                    <p:animEffect transition="in" filter="wipe(up)">
                                      <p:cBhvr>
                                        <p:cTn id="66" dur="500"/>
                                        <p:tgtEl>
                                          <p:spTgt spid="7">
                                            <p:txEl>
                                              <p:pRg st="7" end="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7">
                                            <p:txEl>
                                              <p:pRg st="8" end="8"/>
                                            </p:txEl>
                                          </p:spTgt>
                                        </p:tgtEl>
                                        <p:attrNameLst>
                                          <p:attrName>style.visibility</p:attrName>
                                        </p:attrNameLst>
                                      </p:cBhvr>
                                      <p:to>
                                        <p:strVal val="visible"/>
                                      </p:to>
                                    </p:set>
                                    <p:animEffect transition="in" filter="wipe(up)">
                                      <p:cBhvr>
                                        <p:cTn id="71" dur="500"/>
                                        <p:tgtEl>
                                          <p:spTgt spid="7">
                                            <p:txEl>
                                              <p:pRg st="8" end="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wipe(down)">
                                      <p:cBhvr>
                                        <p:cTn id="7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fr-FR" b="1"/>
                  <a:t>Câu 6</a:t>
                </a:r>
                <a:r>
                  <a:rPr lang="vi-VN" b="1"/>
                  <a:t>. </a:t>
                </a:r>
                <a:r>
                  <a:rPr lang="fr-FR" b="1"/>
                  <a:t>  Cho hình vuông </a:t>
                </a:r>
                <a14:m>
                  <m:oMath xmlns:m="http://schemas.openxmlformats.org/officeDocument/2006/math">
                    <m:r>
                      <a:rPr lang="en-GB" b="1" i="1">
                        <a:latin typeface="Cambria Math" panose="02040503050406030204" pitchFamily="18" charset="0"/>
                      </a:rPr>
                      <m:t>𝑨𝑩𝑪𝑫</m:t>
                    </m:r>
                  </m:oMath>
                </a14:m>
                <a:r>
                  <a:rPr lang="fr-FR" b="1"/>
                  <a:t> có cạnh bằng </a:t>
                </a:r>
                <a14:m>
                  <m:oMath xmlns:m="http://schemas.openxmlformats.org/officeDocument/2006/math">
                    <m:r>
                      <a:rPr lang="en-GB" b="1" i="1">
                        <a:latin typeface="Cambria Math" panose="02040503050406030204" pitchFamily="18" charset="0"/>
                      </a:rPr>
                      <m:t>𝒂</m:t>
                    </m:r>
                  </m:oMath>
                </a14:m>
                <a:r>
                  <a:rPr lang="fr-FR" b="1"/>
                  <a:t>. </a:t>
                </a:r>
                <a:r>
                  <a:rPr lang="en-GB" b="1"/>
                  <a:t>Tính  độ dài vectơ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𝑨𝑩</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𝑨𝑫</m:t>
                        </m:r>
                      </m:e>
                    </m:acc>
                  </m:oMath>
                </a14:m>
                <a:r>
                  <a:rPr lang="en-GB" b="1"/>
                  <a:t> theo </a:t>
                </a:r>
                <a14:m>
                  <m:oMath xmlns:m="http://schemas.openxmlformats.org/officeDocument/2006/math">
                    <m:r>
                      <a:rPr lang="en-GB" b="1" i="1">
                        <a:latin typeface="Cambria Math" panose="02040503050406030204" pitchFamily="18" charset="0"/>
                      </a:rPr>
                      <m:t>𝒂</m:t>
                    </m:r>
                  </m:oMath>
                </a14:m>
                <a:r>
                  <a:rPr lang="en-GB" b="1"/>
                  <a:t>.</a:t>
                </a:r>
                <a:endParaRPr lang="en-US" b="1"/>
              </a:p>
              <a:p>
                <a:pPr marL="0" indent="0">
                  <a:buNone/>
                </a:pPr>
                <a:r>
                  <a:rPr lang="en-US" b="1"/>
                  <a:t>A.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GB" b="1" i="1">
                                <a:latin typeface="Cambria Math" panose="02040503050406030204" pitchFamily="18" charset="0"/>
                              </a:rPr>
                              <m:t>𝑨𝑩</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𝑨𝑫</m:t>
                            </m:r>
                          </m:e>
                        </m:acc>
                      </m:e>
                    </m:d>
                    <m:r>
                      <a:rPr lang="en-GB" b="1" i="1">
                        <a:latin typeface="Cambria Math" panose="02040503050406030204" pitchFamily="18" charset="0"/>
                      </a:rPr>
                      <m:t>=</m:t>
                    </m:r>
                    <m:f>
                      <m:fPr>
                        <m:ctrlPr>
                          <a:rPr lang="en-US" b="1" i="1">
                            <a:latin typeface="Cambria Math" panose="02040503050406030204" pitchFamily="18" charset="0"/>
                          </a:rPr>
                        </m:ctrlPr>
                      </m:fPr>
                      <m:num>
                        <m:r>
                          <a:rPr lang="en-GB" b="1" i="1">
                            <a:latin typeface="Cambria Math" panose="02040503050406030204" pitchFamily="18" charset="0"/>
                          </a:rPr>
                          <m:t>𝒂</m:t>
                        </m:r>
                        <m:rad>
                          <m:radPr>
                            <m:degHide m:val="on"/>
                            <m:ctrlPr>
                              <a:rPr lang="en-US" b="1" i="1">
                                <a:latin typeface="Cambria Math" panose="02040503050406030204" pitchFamily="18" charset="0"/>
                              </a:rPr>
                            </m:ctrlPr>
                          </m:radPr>
                          <m:deg/>
                          <m:e>
                            <m:r>
                              <a:rPr lang="en-GB" b="1" i="1">
                                <a:latin typeface="Cambria Math" panose="02040503050406030204" pitchFamily="18" charset="0"/>
                              </a:rPr>
                              <m:t>𝟐</m:t>
                            </m:r>
                          </m:e>
                        </m:rad>
                      </m:num>
                      <m:den>
                        <m:r>
                          <a:rPr lang="en-GB" b="1" i="1">
                            <a:latin typeface="Cambria Math" panose="02040503050406030204" pitchFamily="18" charset="0"/>
                          </a:rPr>
                          <m:t>𝟐</m:t>
                        </m:r>
                      </m:den>
                    </m:f>
                  </m:oMath>
                </a14:m>
                <a:r>
                  <a:rPr lang="en-US" b="1"/>
                  <a:t>.	</a:t>
                </a:r>
              </a:p>
              <a:p>
                <a:pPr marL="0" indent="0">
                  <a:buNone/>
                </a:pPr>
                <a:r>
                  <a:rPr lang="en-US" b="1"/>
                  <a:t>B.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GB" b="1" i="1">
                                <a:latin typeface="Cambria Math" panose="02040503050406030204" pitchFamily="18" charset="0"/>
                              </a:rPr>
                              <m:t>𝑨𝑩</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𝑨𝑫</m:t>
                            </m:r>
                          </m:e>
                        </m:acc>
                      </m:e>
                    </m:d>
                    <m:r>
                      <a:rPr lang="en-GB" b="1" i="1">
                        <a:latin typeface="Cambria Math" panose="02040503050406030204" pitchFamily="18" charset="0"/>
                      </a:rPr>
                      <m:t>=</m:t>
                    </m:r>
                    <m:r>
                      <a:rPr lang="en-GB" b="1" i="1">
                        <a:latin typeface="Cambria Math" panose="02040503050406030204" pitchFamily="18" charset="0"/>
                      </a:rPr>
                      <m:t>𝒂</m:t>
                    </m:r>
                  </m:oMath>
                </a14:m>
                <a:r>
                  <a:rPr lang="en-US" b="1"/>
                  <a:t>.</a:t>
                </a:r>
              </a:p>
              <a:p>
                <a:pPr marL="0" indent="0">
                  <a:buNone/>
                </a:pPr>
                <a:r>
                  <a:rPr lang="en-US" b="1"/>
                  <a:t>C.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GB" b="1" i="1">
                                <a:latin typeface="Cambria Math" panose="02040503050406030204" pitchFamily="18" charset="0"/>
                              </a:rPr>
                              <m:t>𝑨𝑩</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𝑨𝑫</m:t>
                            </m:r>
                          </m:e>
                        </m:acc>
                      </m:e>
                    </m:d>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𝒂</m:t>
                    </m:r>
                  </m:oMath>
                </a14:m>
                <a:r>
                  <a:rPr lang="en-US" b="1"/>
                  <a:t>.	</a:t>
                </a:r>
              </a:p>
              <a:p>
                <a:pPr marL="0" indent="0">
                  <a:buNone/>
                </a:pPr>
                <a:r>
                  <a:rPr lang="en-US" b="1"/>
                  <a:t>D.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GB" b="1" i="1">
                                <a:latin typeface="Cambria Math" panose="02040503050406030204" pitchFamily="18" charset="0"/>
                              </a:rPr>
                              <m:t>𝑨𝑩</m:t>
                            </m:r>
                          </m:e>
                        </m:acc>
                        <m:r>
                          <a:rPr lang="en-GB" b="1" i="1">
                            <a:latin typeface="Cambria Math" panose="02040503050406030204" pitchFamily="18" charset="0"/>
                          </a:rPr>
                          <m:t>+</m:t>
                        </m:r>
                        <m:acc>
                          <m:accPr>
                            <m:chr m:val="⃗"/>
                            <m:ctrlPr>
                              <a:rPr lang="en-US" b="1" i="1">
                                <a:latin typeface="Cambria Math" panose="02040503050406030204" pitchFamily="18" charset="0"/>
                              </a:rPr>
                            </m:ctrlPr>
                          </m:accPr>
                          <m:e>
                            <m:r>
                              <a:rPr lang="en-GB" b="1" i="1">
                                <a:latin typeface="Cambria Math" panose="02040503050406030204" pitchFamily="18" charset="0"/>
                              </a:rPr>
                              <m:t>𝑨𝑫</m:t>
                            </m:r>
                          </m:e>
                        </m:acc>
                      </m:e>
                    </m:d>
                    <m:r>
                      <a:rPr lang="en-GB" b="1" i="1">
                        <a:latin typeface="Cambria Math" panose="02040503050406030204" pitchFamily="18" charset="0"/>
                      </a:rPr>
                      <m:t>=</m:t>
                    </m:r>
                    <m:r>
                      <a:rPr lang="en-GB" b="1" i="1">
                        <a:latin typeface="Cambria Math" panose="02040503050406030204" pitchFamily="18" charset="0"/>
                      </a:rPr>
                      <m:t>𝒂</m:t>
                    </m:r>
                    <m:rad>
                      <m:radPr>
                        <m:degHide m:val="on"/>
                        <m:ctrlPr>
                          <a:rPr lang="en-US" b="1" i="1">
                            <a:latin typeface="Cambria Math" panose="02040503050406030204" pitchFamily="18" charset="0"/>
                          </a:rPr>
                        </m:ctrlPr>
                      </m:radPr>
                      <m:deg/>
                      <m:e>
                        <m:r>
                          <a:rPr lang="en-GB" b="1" i="1">
                            <a:latin typeface="Cambria Math" panose="02040503050406030204" pitchFamily="18" charset="0"/>
                          </a:rPr>
                          <m:t>𝟐</m:t>
                        </m:r>
                      </m:e>
                    </m:rad>
                  </m:oMath>
                </a14:m>
                <a:r>
                  <a:rPr lang="en-US" b="1"/>
                  <a:t>.</a:t>
                </a:r>
              </a:p>
              <a:p>
                <a:pPr marL="0" indent="0">
                  <a:buNone/>
                </a:pP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endParaRPr lang="en-US" b="1"/>
              </a:p>
              <a:p>
                <a:pPr marL="0" indent="0">
                  <a:buNone/>
                </a:pPr>
                <a:endParaRPr lang="en-US" b="1"/>
              </a:p>
              <a:p>
                <a:pPr marL="0" indent="0">
                  <a:buNone/>
                </a:pPr>
                <a:endParaRPr lang="en-US" b="1"/>
              </a:p>
              <a:p>
                <a:pPr marL="0" indent="0">
                  <a:buNone/>
                </a:pPr>
                <a:endParaRPr lang="en-US" b="1"/>
              </a:p>
              <a:p>
                <a:pPr marL="0" indent="0">
                  <a:buNone/>
                </a:pPr>
                <a:endParaRPr lang="en-US" b="1"/>
              </a:p>
              <a:p>
                <a:pPr marL="0" indent="0">
                  <a:buNone/>
                </a:pPr>
                <a:r>
                  <a:rPr lang="fr-FR" b="1"/>
                  <a:t>Ta có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oMath>
                </a14:m>
                <a:r>
                  <a:rPr lang="fr-FR" b="1"/>
                  <a:t> </a:t>
                </a:r>
              </a:p>
              <a:p>
                <a:pPr marL="0" indent="0">
                  <a:buNone/>
                </a:pPr>
                <a:r>
                  <a:rPr lang="fr-FR" b="1"/>
                  <a:t>Suy ra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𝑨𝑫</m:t>
                            </m:r>
                          </m:e>
                        </m:acc>
                      </m:e>
                    </m:d>
                    <m:r>
                      <a:rPr lang="en-US"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e>
                    </m:d>
                    <m:r>
                      <a:rPr lang="en-US" b="1" i="1">
                        <a:latin typeface="Cambria Math" panose="02040503050406030204" pitchFamily="18" charset="0"/>
                      </a:rPr>
                      <m:t>=</m:t>
                    </m:r>
                    <m:r>
                      <a:rPr lang="en-US" b="1" i="1">
                        <a:latin typeface="Cambria Math" panose="02040503050406030204" pitchFamily="18" charset="0"/>
                      </a:rPr>
                      <m:t>𝑨𝑪</m:t>
                    </m:r>
                    <m:r>
                      <a:rPr lang="en-US" b="1" i="1">
                        <a:latin typeface="Cambria Math" panose="02040503050406030204" pitchFamily="18" charset="0"/>
                      </a:rPr>
                      <m:t>=</m:t>
                    </m:r>
                    <m:r>
                      <a:rPr lang="en-US" b="1" i="1">
                        <a:latin typeface="Cambria Math" panose="02040503050406030204" pitchFamily="18" charset="0"/>
                      </a:rPr>
                      <m:t>𝒂</m:t>
                    </m:r>
                    <m:rad>
                      <m:radPr>
                        <m:degHide m:val="on"/>
                        <m:ctrlPr>
                          <a:rPr lang="en-US" b="1" i="1">
                            <a:latin typeface="Cambria Math" panose="02040503050406030204" pitchFamily="18" charset="0"/>
                          </a:rPr>
                        </m:ctrlPr>
                      </m:radPr>
                      <m:deg/>
                      <m:e>
                        <m:r>
                          <a:rPr lang="en-US" b="1" i="1">
                            <a:latin typeface="Cambria Math" panose="02040503050406030204" pitchFamily="18" charset="0"/>
                          </a:rPr>
                          <m:t>𝟐</m:t>
                        </m:r>
                      </m:e>
                    </m:rad>
                    <m:r>
                      <a:rPr lang="en-US" b="1" i="1">
                        <a:latin typeface="Cambria Math" panose="02040503050406030204" pitchFamily="18" charset="0"/>
                      </a:rPr>
                      <m:t>.</m:t>
                    </m:r>
                  </m:oMath>
                </a14:m>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609601" y="8686800"/>
            <a:ext cx="838199" cy="7620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3F9095E-C899-42D2-8D6E-F6E1985A2DE2}"/>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249400" y="2514600"/>
            <a:ext cx="4191000" cy="4343400"/>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241451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up)">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5" end="5"/>
                                            </p:txEl>
                                          </p:spTgt>
                                        </p:tgtEl>
                                        <p:attrNameLst>
                                          <p:attrName>style.visibility</p:attrName>
                                        </p:attrNameLst>
                                      </p:cBhvr>
                                      <p:to>
                                        <p:strVal val="visible"/>
                                      </p:to>
                                    </p:set>
                                    <p:animEffect transition="in" filter="wipe(up)">
                                      <p:cBhvr>
                                        <p:cTn id="31" dur="500"/>
                                        <p:tgtEl>
                                          <p:spTgt spid="99">
                                            <p:txEl>
                                              <p:pRg st="5" end="5"/>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up)">
                                      <p:cBhvr>
                                        <p:cTn id="39" dur="500"/>
                                        <p:tgtEl>
                                          <p:spTgt spid="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wipe(up)">
                                      <p:cBhvr>
                                        <p:cTn id="49" dur="500"/>
                                        <p:tgtEl>
                                          <p:spTgt spid="7">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7">
                                            <p:txEl>
                                              <p:pRg st="7" end="7"/>
                                            </p:txEl>
                                          </p:spTgt>
                                        </p:tgtEl>
                                        <p:attrNameLst>
                                          <p:attrName>style.visibility</p:attrName>
                                        </p:attrNameLst>
                                      </p:cBhvr>
                                      <p:to>
                                        <p:strVal val="visible"/>
                                      </p:to>
                                    </p:set>
                                    <p:animEffect transition="in" filter="wipe(up)">
                                      <p:cBhvr>
                                        <p:cTn id="54" dur="500"/>
                                        <p:tgtEl>
                                          <p:spTgt spid="7">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fr-FR" b="1"/>
                  <a:t>Câu 7.   Cho tam giác </a:t>
                </a:r>
                <a14:m>
                  <m:oMath xmlns:m="http://schemas.openxmlformats.org/officeDocument/2006/math">
                    <m:r>
                      <a:rPr lang="en-US" b="1" i="1">
                        <a:latin typeface="Cambria Math" panose="02040503050406030204" pitchFamily="18" charset="0"/>
                      </a:rPr>
                      <m:t>𝑨𝑩𝑪</m:t>
                    </m:r>
                  </m:oMath>
                </a14:m>
                <a:r>
                  <a:rPr lang="en-US" b="1" i="1"/>
                  <a:t> </a:t>
                </a:r>
                <a:r>
                  <a:rPr lang="fr-FR" b="1" i="1"/>
                  <a:t>.</a:t>
                </a:r>
                <a:r>
                  <a:rPr lang="fr-FR" b="1"/>
                  <a:t> Gọi </a:t>
                </a:r>
                <a14:m>
                  <m:oMath xmlns:m="http://schemas.openxmlformats.org/officeDocument/2006/math">
                    <m:r>
                      <a:rPr lang="en-US" b="1" i="1">
                        <a:latin typeface="Cambria Math" panose="02040503050406030204" pitchFamily="18" charset="0"/>
                      </a:rPr>
                      <m:t>𝑴</m:t>
                    </m:r>
                    <m:r>
                      <a:rPr lang="en-US" b="1" i="1">
                        <a:latin typeface="Cambria Math" panose="02040503050406030204" pitchFamily="18" charset="0"/>
                      </a:rPr>
                      <m:t>,</m:t>
                    </m:r>
                    <m:r>
                      <a:rPr lang="en-US" b="1" i="1">
                        <a:latin typeface="Cambria Math" panose="02040503050406030204" pitchFamily="18" charset="0"/>
                      </a:rPr>
                      <m:t>𝑵</m:t>
                    </m:r>
                    <m:r>
                      <a:rPr lang="en-US" b="1" i="1">
                        <a:latin typeface="Cambria Math" panose="02040503050406030204" pitchFamily="18" charset="0"/>
                      </a:rPr>
                      <m:t>,​</m:t>
                    </m:r>
                    <m:r>
                      <a:rPr lang="en-US" b="1" i="1">
                        <a:latin typeface="Cambria Math" panose="02040503050406030204" pitchFamily="18" charset="0"/>
                      </a:rPr>
                      <m:t>𝑷</m:t>
                    </m:r>
                  </m:oMath>
                </a14:m>
                <a:r>
                  <a:rPr lang="en-US" b="1"/>
                  <a:t> </a:t>
                </a:r>
                <a:r>
                  <a:rPr lang="en-US" b="1" i="1"/>
                  <a:t> </a:t>
                </a:r>
                <a:r>
                  <a:rPr lang="fr-FR" b="1"/>
                  <a:t>lần lượt là trung điểm của các cạnh </a:t>
                </a:r>
                <a14:m>
                  <m:oMath xmlns:m="http://schemas.openxmlformats.org/officeDocument/2006/math">
                    <m:r>
                      <a:rPr lang="en-US" b="1" i="1">
                        <a:latin typeface="Cambria Math" panose="02040503050406030204" pitchFamily="18" charset="0"/>
                      </a:rPr>
                      <m:t>𝑨𝑩</m:t>
                    </m:r>
                    <m:r>
                      <a:rPr lang="en-US" b="1" i="1">
                        <a:latin typeface="Cambria Math" panose="02040503050406030204" pitchFamily="18" charset="0"/>
                      </a:rPr>
                      <m:t>,</m:t>
                    </m:r>
                    <m:r>
                      <a:rPr lang="en-US" b="1" i="1">
                        <a:latin typeface="Cambria Math" panose="02040503050406030204" pitchFamily="18" charset="0"/>
                      </a:rPr>
                      <m:t>𝑨𝑪</m:t>
                    </m:r>
                    <m:r>
                      <a:rPr lang="en-US" b="1" i="1">
                        <a:latin typeface="Cambria Math" panose="02040503050406030204" pitchFamily="18" charset="0"/>
                      </a:rPr>
                      <m:t>,</m:t>
                    </m:r>
                    <m:r>
                      <a:rPr lang="en-US" b="1" i="1">
                        <a:latin typeface="Cambria Math" panose="02040503050406030204" pitchFamily="18" charset="0"/>
                      </a:rPr>
                      <m:t>𝑩𝑪</m:t>
                    </m:r>
                  </m:oMath>
                </a14:m>
                <a:r>
                  <a:rPr lang="fr-FR" b="1" i="1"/>
                  <a:t>.</a:t>
                </a:r>
                <a:r>
                  <a:rPr lang="fr-FR" b="1"/>
                  <a:t> Khi đó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𝑴𝑷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𝑵𝑷</m:t>
                        </m:r>
                      </m:e>
                    </m:acc>
                  </m:oMath>
                </a14:m>
                <a:r>
                  <a:rPr lang="fr-FR" b="1"/>
                  <a:t>  bằng véctơ nào trong các vectơ sau?</a:t>
                </a:r>
                <a:endParaRPr lang="en-US" b="1"/>
              </a:p>
              <a:p>
                <a:pPr marL="0" indent="0">
                  <a:buNone/>
                </a:pPr>
                <a:r>
                  <a:rPr lang="fr-FR" b="1"/>
                  <a:t>A.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𝑨𝑴</m:t>
                        </m:r>
                      </m:e>
                    </m:acc>
                  </m:oMath>
                </a14:m>
                <a:r>
                  <a:rPr lang="en-US" b="1"/>
                  <a:t>.		B.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𝑷𝑩</m:t>
                        </m:r>
                      </m:e>
                    </m:acc>
                  </m:oMath>
                </a14:m>
                <a:r>
                  <a:rPr lang="en-US" b="1"/>
                  <a:t>.	</a:t>
                </a:r>
              </a:p>
              <a:p>
                <a:pPr marL="0" indent="0">
                  <a:buNone/>
                </a:pPr>
                <a:r>
                  <a:rPr lang="en-US" b="1"/>
                  <a:t>C.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𝑨𝑷</m:t>
                        </m:r>
                      </m:e>
                    </m:acc>
                  </m:oMath>
                </a14:m>
                <a:r>
                  <a:rPr lang="en-US" b="1"/>
                  <a:t>.		D.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𝑴𝑵</m:t>
                        </m:r>
                      </m:e>
                    </m:acc>
                  </m:oMath>
                </a14:m>
                <a:r>
                  <a:rPr lang="en-US" b="1"/>
                  <a:t>. </a:t>
                </a:r>
                <a:r>
                  <a:rPr lang="fr-FR" b="1"/>
                  <a:t>    </a:t>
                </a:r>
                <a:endParaRPr lang="en-US" b="1"/>
              </a:p>
              <a:p>
                <a:pPr marL="0" indent="0">
                  <a:buNone/>
                </a:pP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r="-985"/>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endParaRPr lang="en-US" b="1"/>
              </a:p>
              <a:p>
                <a:pPr marL="0" indent="0">
                  <a:buNone/>
                </a:pPr>
                <a:endParaRPr lang="en-US" b="1"/>
              </a:p>
              <a:p>
                <a:pPr marL="0" indent="0">
                  <a:buNone/>
                </a:pPr>
                <a:endParaRPr lang="en-US" b="1"/>
              </a:p>
              <a:p>
                <a:pPr marL="0" indent="0">
                  <a:buNone/>
                </a:pPr>
                <a:r>
                  <a:rPr lang="en-US" b="1"/>
                  <a:t>Ta có</a:t>
                </a:r>
              </a:p>
              <a:p>
                <a:pPr marL="0" indent="0">
                  <a:buNone/>
                </a:pPr>
                <a14:m>
                  <m:oMathPara xmlns:m="http://schemas.openxmlformats.org/officeDocument/2006/math">
                    <m:oMathParaPr>
                      <m:jc m:val="centerGroup"/>
                    </m:oMathParaPr>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𝑴𝑷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𝑨𝑵</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𝑵𝑷</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𝑨𝑷</m:t>
                          </m:r>
                        </m:e>
                      </m:acc>
                      <m:r>
                        <a:rPr lang="en-US" b="1" i="1">
                          <a:latin typeface="Cambria Math" panose="02040503050406030204" pitchFamily="18" charset="0"/>
                        </a:rPr>
                        <m:t>.</m:t>
                      </m:r>
                    </m:oMath>
                  </m:oMathPara>
                </a14:m>
                <a:endParaRPr lang="en-US" b="1"/>
              </a:p>
              <a:p>
                <a:pPr marL="0" indent="0">
                  <a:buNone/>
                </a:pPr>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838200" y="6934200"/>
            <a:ext cx="609600" cy="6096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EACFACB-B64F-4643-9B9E-8D6F01B2D3BF}"/>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63800" y="1995055"/>
            <a:ext cx="5105400" cy="3567545"/>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370196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4" end="4"/>
                                            </p:txEl>
                                          </p:spTgt>
                                        </p:tgtEl>
                                        <p:attrNameLst>
                                          <p:attrName>style.visibility</p:attrName>
                                        </p:attrNameLst>
                                      </p:cBhvr>
                                      <p:to>
                                        <p:strVal val="visible"/>
                                      </p:to>
                                    </p:set>
                                    <p:animEffect transition="in" filter="wipe(up)">
                                      <p:cBhvr>
                                        <p:cTn id="41" dur="500"/>
                                        <p:tgtEl>
                                          <p:spTgt spid="7">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5" end="5"/>
                                            </p:txEl>
                                          </p:spTgt>
                                        </p:tgtEl>
                                        <p:attrNameLst>
                                          <p:attrName>style.visibility</p:attrName>
                                        </p:attrNameLst>
                                      </p:cBhvr>
                                      <p:to>
                                        <p:strVal val="visible"/>
                                      </p:to>
                                    </p:set>
                                    <p:animEffect transition="in" filter="wipe(up)">
                                      <p:cBhvr>
                                        <p:cTn id="46" dur="500"/>
                                        <p:tgtEl>
                                          <p:spTgt spid="7">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en-US" b="1"/>
                  <a:t>Câu 8.  Cho ba điểm </a:t>
                </a:r>
                <a14:m>
                  <m:oMath xmlns:m="http://schemas.openxmlformats.org/officeDocument/2006/math">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𝑪</m:t>
                    </m:r>
                  </m:oMath>
                </a14:m>
                <a:r>
                  <a:rPr lang="en-US" b="1"/>
                  <a:t> thuộc đường tròn tâm </a:t>
                </a:r>
                <a14:m>
                  <m:oMath xmlns:m="http://schemas.openxmlformats.org/officeDocument/2006/math">
                    <m:r>
                      <a:rPr lang="en-US" b="1" i="1">
                        <a:latin typeface="Cambria Math" panose="02040503050406030204" pitchFamily="18" charset="0"/>
                      </a:rPr>
                      <m:t>𝑶</m:t>
                    </m:r>
                  </m:oMath>
                </a14:m>
                <a:r>
                  <a:rPr lang="en-US" b="1"/>
                  <a:t> thỏa mãn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b="1" i="1">
                        <a:latin typeface="Cambria Math" panose="02040503050406030204" pitchFamily="18" charset="0"/>
                      </a:rPr>
                      <m:t>.</m:t>
                    </m:r>
                  </m:oMath>
                </a14:m>
                <a:r>
                  <a:rPr lang="en-US" b="1"/>
                  <a:t> Tính góc</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𝑨𝑶𝑩</m:t>
                        </m:r>
                      </m:e>
                    </m:acc>
                    <m:r>
                      <a:rPr lang="en-US" b="1" i="1">
                        <a:latin typeface="Cambria Math" panose="02040503050406030204" pitchFamily="18" charset="0"/>
                      </a:rPr>
                      <m:t>.</m:t>
                    </m:r>
                  </m:oMath>
                </a14:m>
                <a:endParaRPr lang="en-US" b="1"/>
              </a:p>
              <a:p>
                <a:pPr marL="0" indent="0">
                  <a:buNone/>
                </a:pPr>
                <a:r>
                  <a:rPr lang="en-US" b="1"/>
                  <a:t>A.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𝑨𝑶𝑩</m:t>
                        </m:r>
                      </m:e>
                    </m:acc>
                    <m:r>
                      <a:rPr lang="en-GB" b="1" i="1">
                        <a:latin typeface="Cambria Math" panose="02040503050406030204" pitchFamily="18" charset="0"/>
                      </a:rPr>
                      <m:t>=</m:t>
                    </m:r>
                    <m:r>
                      <a:rPr lang="en-GB" b="1" i="1">
                        <a:latin typeface="Cambria Math" panose="02040503050406030204" pitchFamily="18" charset="0"/>
                      </a:rPr>
                      <m:t>𝟏𝟐</m:t>
                    </m:r>
                    <m:sSup>
                      <m:sSupPr>
                        <m:ctrlPr>
                          <a:rPr lang="en-US" b="1" i="1">
                            <a:latin typeface="Cambria Math" panose="02040503050406030204" pitchFamily="18" charset="0"/>
                          </a:rPr>
                        </m:ctrlPr>
                      </m:sSupPr>
                      <m:e>
                        <m:r>
                          <a:rPr lang="en-GB" b="1" i="1">
                            <a:latin typeface="Cambria Math" panose="02040503050406030204" pitchFamily="18" charset="0"/>
                          </a:rPr>
                          <m:t>𝟎</m:t>
                        </m:r>
                      </m:e>
                      <m:sup>
                        <m:r>
                          <a:rPr lang="en-GB" b="1" i="1">
                            <a:latin typeface="Cambria Math" panose="02040503050406030204" pitchFamily="18" charset="0"/>
                          </a:rPr>
                          <m:t>𝟎</m:t>
                        </m:r>
                      </m:sup>
                    </m:sSup>
                  </m:oMath>
                </a14:m>
                <a:r>
                  <a:rPr lang="en-US" b="1"/>
                  <a:t>.	B.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𝑨𝑶𝑩</m:t>
                        </m:r>
                      </m:e>
                    </m:acc>
                    <m:r>
                      <a:rPr lang="en-GB" b="1" i="1">
                        <a:latin typeface="Cambria Math" panose="02040503050406030204" pitchFamily="18" charset="0"/>
                      </a:rPr>
                      <m:t>=</m:t>
                    </m:r>
                    <m:r>
                      <a:rPr lang="en-GB" b="1" i="1">
                        <a:latin typeface="Cambria Math" panose="02040503050406030204" pitchFamily="18" charset="0"/>
                      </a:rPr>
                      <m:t>𝟔</m:t>
                    </m:r>
                    <m:sSup>
                      <m:sSupPr>
                        <m:ctrlPr>
                          <a:rPr lang="en-US" b="1" i="1">
                            <a:latin typeface="Cambria Math" panose="02040503050406030204" pitchFamily="18" charset="0"/>
                          </a:rPr>
                        </m:ctrlPr>
                      </m:sSupPr>
                      <m:e>
                        <m:r>
                          <a:rPr lang="en-GB" b="1" i="1">
                            <a:latin typeface="Cambria Math" panose="02040503050406030204" pitchFamily="18" charset="0"/>
                          </a:rPr>
                          <m:t>𝟎</m:t>
                        </m:r>
                      </m:e>
                      <m:sup>
                        <m:r>
                          <a:rPr lang="en-GB" b="1" i="1">
                            <a:latin typeface="Cambria Math" panose="02040503050406030204" pitchFamily="18" charset="0"/>
                          </a:rPr>
                          <m:t>𝟎</m:t>
                        </m:r>
                      </m:sup>
                    </m:sSup>
                  </m:oMath>
                </a14:m>
                <a:r>
                  <a:rPr lang="en-US" b="1"/>
                  <a:t>.</a:t>
                </a:r>
              </a:p>
              <a:p>
                <a:pPr marL="0" indent="0">
                  <a:buNone/>
                </a:pPr>
                <a:r>
                  <a:rPr lang="en-US" b="1"/>
                  <a:t>C.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𝑨𝑶𝑩</m:t>
                        </m:r>
                      </m:e>
                    </m:acc>
                    <m:r>
                      <a:rPr lang="en-GB" b="1" i="1">
                        <a:latin typeface="Cambria Math" panose="02040503050406030204" pitchFamily="18" charset="0"/>
                      </a:rPr>
                      <m:t>=</m:t>
                    </m:r>
                    <m:r>
                      <a:rPr lang="en-GB" b="1" i="1">
                        <a:latin typeface="Cambria Math" panose="02040503050406030204" pitchFamily="18" charset="0"/>
                      </a:rPr>
                      <m:t>𝟗</m:t>
                    </m:r>
                    <m:sSup>
                      <m:sSupPr>
                        <m:ctrlPr>
                          <a:rPr lang="en-US" b="1" i="1">
                            <a:latin typeface="Cambria Math" panose="02040503050406030204" pitchFamily="18" charset="0"/>
                          </a:rPr>
                        </m:ctrlPr>
                      </m:sSupPr>
                      <m:e>
                        <m:r>
                          <a:rPr lang="en-GB" b="1" i="1">
                            <a:latin typeface="Cambria Math" panose="02040503050406030204" pitchFamily="18" charset="0"/>
                          </a:rPr>
                          <m:t>𝟎</m:t>
                        </m:r>
                      </m:e>
                      <m:sup>
                        <m:r>
                          <a:rPr lang="en-GB" b="1" i="1">
                            <a:latin typeface="Cambria Math" panose="02040503050406030204" pitchFamily="18" charset="0"/>
                          </a:rPr>
                          <m:t>𝟎</m:t>
                        </m:r>
                      </m:sup>
                    </m:sSup>
                  </m:oMath>
                </a14:m>
                <a:r>
                  <a:rPr lang="en-US" b="1"/>
                  <a:t>.	D.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𝑨𝑶𝑩</m:t>
                        </m:r>
                      </m:e>
                    </m:acc>
                    <m:r>
                      <a:rPr lang="en-GB" b="1" i="1">
                        <a:latin typeface="Cambria Math" panose="02040503050406030204" pitchFamily="18" charset="0"/>
                      </a:rPr>
                      <m:t>=</m:t>
                    </m:r>
                    <m:r>
                      <a:rPr lang="en-GB" b="1" i="1">
                        <a:latin typeface="Cambria Math" panose="02040503050406030204" pitchFamily="18" charset="0"/>
                      </a:rPr>
                      <m:t>𝟏𝟓</m:t>
                    </m:r>
                    <m:sSup>
                      <m:sSupPr>
                        <m:ctrlPr>
                          <a:rPr lang="en-US" b="1" i="1">
                            <a:latin typeface="Cambria Math" panose="02040503050406030204" pitchFamily="18" charset="0"/>
                          </a:rPr>
                        </m:ctrlPr>
                      </m:sSupPr>
                      <m:e>
                        <m:r>
                          <a:rPr lang="en-GB" b="1" i="1">
                            <a:latin typeface="Cambria Math" panose="02040503050406030204" pitchFamily="18" charset="0"/>
                          </a:rPr>
                          <m:t>𝟎</m:t>
                        </m:r>
                      </m:e>
                      <m:sup>
                        <m:r>
                          <a:rPr lang="en-GB" b="1" i="1">
                            <a:latin typeface="Cambria Math" panose="02040503050406030204" pitchFamily="18" charset="0"/>
                          </a:rPr>
                          <m:t>𝟎</m:t>
                        </m:r>
                      </m:sup>
                    </m:sSup>
                  </m:oMath>
                </a14:m>
                <a:r>
                  <a:rPr lang="en-US" b="1"/>
                  <a:t>.   </a:t>
                </a:r>
                <a:r>
                  <a:rPr lang="fr-FR" b="1"/>
                  <a:t>                         </a:t>
                </a:r>
                <a:endParaRPr lang="en-US" b="1"/>
              </a:p>
              <a:p>
                <a:pPr marL="0" indent="0">
                  <a:buNone/>
                </a:pP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r>
                  <a:rPr lang="en-US" b="1"/>
                  <a:t>Do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𝑶𝑨</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𝟎</m:t>
                        </m:r>
                      </m:e>
                    </m:acc>
                  </m:oMath>
                </a14:m>
                <a:r>
                  <a:rPr lang="en-US" b="1"/>
                  <a:t>  nên </a:t>
                </a:r>
                <a14:m>
                  <m:oMath xmlns:m="http://schemas.openxmlformats.org/officeDocument/2006/math">
                    <m:r>
                      <a:rPr lang="en-US" b="1" i="1">
                        <a:latin typeface="Cambria Math" panose="02040503050406030204" pitchFamily="18" charset="0"/>
                      </a:rPr>
                      <m:t>𝑶</m:t>
                    </m:r>
                  </m:oMath>
                </a14:m>
                <a:r>
                  <a:rPr lang="en-US" b="1"/>
                  <a:t> là trọng tâm tam giác </a:t>
                </a:r>
                <a14:m>
                  <m:oMath xmlns:m="http://schemas.openxmlformats.org/officeDocument/2006/math">
                    <m:r>
                      <a:rPr lang="en-US" b="1" i="1">
                        <a:latin typeface="Cambria Math" panose="02040503050406030204" pitchFamily="18" charset="0"/>
                      </a:rPr>
                      <m:t>𝑨𝑩𝑪</m:t>
                    </m:r>
                  </m:oMath>
                </a14:m>
                <a:r>
                  <a:rPr lang="en-US" b="1"/>
                  <a:t>.</a:t>
                </a:r>
              </a:p>
              <a:p>
                <a:pPr marL="0" indent="0">
                  <a:buNone/>
                </a:pPr>
                <a:r>
                  <a:rPr lang="en-US" b="1"/>
                  <a:t>Mà </a:t>
                </a:r>
                <a14:m>
                  <m:oMath xmlns:m="http://schemas.openxmlformats.org/officeDocument/2006/math">
                    <m:r>
                      <a:rPr lang="en-US" b="1" i="1">
                        <a:latin typeface="Cambria Math" panose="02040503050406030204" pitchFamily="18" charset="0"/>
                      </a:rPr>
                      <m:t>𝑶</m:t>
                    </m:r>
                  </m:oMath>
                </a14:m>
                <a:r>
                  <a:rPr lang="en-US" b="1"/>
                  <a:t> là tâm đường tròn ngoại tiếp tam giác nên tam giác </a:t>
                </a:r>
                <a14:m>
                  <m:oMath xmlns:m="http://schemas.openxmlformats.org/officeDocument/2006/math">
                    <m:r>
                      <a:rPr lang="en-US" b="1" i="1">
                        <a:latin typeface="Cambria Math" panose="02040503050406030204" pitchFamily="18" charset="0"/>
                      </a:rPr>
                      <m:t>𝑨𝑩𝑪</m:t>
                    </m:r>
                  </m:oMath>
                </a14:m>
                <a:r>
                  <a:rPr lang="en-US" b="1"/>
                  <a:t> là tam giác đều. </a:t>
                </a:r>
              </a:p>
              <a:p>
                <a:pPr marL="0" indent="0">
                  <a:buNone/>
                </a:pPr>
                <a:r>
                  <a:rPr lang="en-US" b="1"/>
                  <a:t>Suy ra </a:t>
                </a:r>
                <a14:m>
                  <m:oMath xmlns:m="http://schemas.openxmlformats.org/officeDocument/2006/math">
                    <m:acc>
                      <m:accPr>
                        <m:chr m:val="̂"/>
                        <m:ctrlPr>
                          <a:rPr lang="en-US" b="1" i="1">
                            <a:latin typeface="Cambria Math" panose="02040503050406030204" pitchFamily="18" charset="0"/>
                          </a:rPr>
                        </m:ctrlPr>
                      </m:accPr>
                      <m:e>
                        <m:r>
                          <a:rPr lang="en-GB" b="1" i="1">
                            <a:latin typeface="Cambria Math" panose="02040503050406030204" pitchFamily="18" charset="0"/>
                          </a:rPr>
                          <m:t>𝑨𝑶𝑩</m:t>
                        </m:r>
                      </m:e>
                    </m:acc>
                    <m:r>
                      <a:rPr lang="en-GB" b="1" i="1">
                        <a:latin typeface="Cambria Math" panose="02040503050406030204" pitchFamily="18" charset="0"/>
                      </a:rPr>
                      <m:t>=</m:t>
                    </m:r>
                    <m:r>
                      <a:rPr lang="en-GB" b="1" i="1">
                        <a:latin typeface="Cambria Math" panose="02040503050406030204" pitchFamily="18" charset="0"/>
                      </a:rPr>
                      <m:t>𝟏𝟐</m:t>
                    </m:r>
                    <m:sSup>
                      <m:sSupPr>
                        <m:ctrlPr>
                          <a:rPr lang="en-US" b="1" i="1">
                            <a:latin typeface="Cambria Math" panose="02040503050406030204" pitchFamily="18" charset="0"/>
                          </a:rPr>
                        </m:ctrlPr>
                      </m:sSupPr>
                      <m:e>
                        <m:r>
                          <a:rPr lang="en-GB" b="1" i="1">
                            <a:latin typeface="Cambria Math" panose="02040503050406030204" pitchFamily="18" charset="0"/>
                          </a:rPr>
                          <m:t>𝟎</m:t>
                        </m:r>
                      </m:e>
                      <m:sup>
                        <m:r>
                          <a:rPr lang="en-GB" b="1" i="1">
                            <a:latin typeface="Cambria Math" panose="02040503050406030204" pitchFamily="18" charset="0"/>
                          </a:rPr>
                          <m:t>𝟎</m:t>
                        </m:r>
                      </m:sup>
                    </m:sSup>
                    <m:r>
                      <a:rPr lang="en-GB" b="1" i="1">
                        <a:latin typeface="Cambria Math" panose="02040503050406030204" pitchFamily="18" charset="0"/>
                      </a:rPr>
                      <m:t>.</m:t>
                    </m:r>
                  </m:oMath>
                </a14:m>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838200" y="5257800"/>
            <a:ext cx="609600" cy="6096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8437801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wipe(up)">
                                      <p:cBhvr>
                                        <p:cTn id="36" dur="500"/>
                                        <p:tgtEl>
                                          <p:spTgt spid="7">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Effect transition="in" filter="wipe(up)">
                                      <p:cBhvr>
                                        <p:cTn id="41" dur="500"/>
                                        <p:tgtEl>
                                          <p:spTgt spid="7">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3" end="3"/>
                                            </p:txEl>
                                          </p:spTgt>
                                        </p:tgtEl>
                                        <p:attrNameLst>
                                          <p:attrName>style.visibility</p:attrName>
                                        </p:attrNameLst>
                                      </p:cBhvr>
                                      <p:to>
                                        <p:strVal val="visible"/>
                                      </p:to>
                                    </p:set>
                                    <p:animEffect transition="in" filter="wipe(up)">
                                      <p:cBhvr>
                                        <p:cTn id="46" dur="500"/>
                                        <p:tgtEl>
                                          <p:spTgt spid="7">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en-US" b="1"/>
                  <a:t>Câu 9.   </a:t>
                </a:r>
                <a:r>
                  <a:rPr lang="vi-VN" b="1"/>
                  <a:t>Cho hình </a:t>
                </a:r>
                <a:r>
                  <a:rPr lang="en-US" b="1"/>
                  <a:t>vuông </a:t>
                </a:r>
                <a14:m>
                  <m:oMath xmlns:m="http://schemas.openxmlformats.org/officeDocument/2006/math">
                    <m:r>
                      <a:rPr lang="en-US" b="1" i="1">
                        <a:latin typeface="Cambria Math" panose="02040503050406030204" pitchFamily="18" charset="0"/>
                      </a:rPr>
                      <m:t>𝑨𝑩𝑪𝑫</m:t>
                    </m:r>
                  </m:oMath>
                </a14:m>
                <a:r>
                  <a:rPr lang="en-US" b="1"/>
                  <a:t> </a:t>
                </a:r>
                <a:r>
                  <a:rPr lang="vi-VN" b="1"/>
                  <a:t>có </a:t>
                </a:r>
                <a:r>
                  <a:rPr lang="en-US" b="1"/>
                  <a:t>cạnh</a:t>
                </a:r>
                <a:r>
                  <a:rPr lang="vi-VN" b="1"/>
                  <a:t> bằng </a:t>
                </a:r>
                <a14:m>
                  <m:oMath xmlns:m="http://schemas.openxmlformats.org/officeDocument/2006/math">
                    <m:r>
                      <a:rPr lang="vi-VN" b="1" i="1">
                        <a:latin typeface="Cambria Math" panose="02040503050406030204" pitchFamily="18" charset="0"/>
                      </a:rPr>
                      <m:t>𝒂</m:t>
                    </m:r>
                  </m:oMath>
                </a14:m>
                <a:r>
                  <a:rPr lang="vi-VN" b="1"/>
                  <a:t>. Khi đó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e>
                    </m:d>
                  </m:oMath>
                </a14:m>
                <a:r>
                  <a:rPr lang="vi-VN" b="1"/>
                  <a:t> bằng</a:t>
                </a:r>
                <a:endParaRPr lang="en-US" b="1"/>
              </a:p>
              <a:p>
                <a:pPr marL="0" indent="0">
                  <a:buNone/>
                </a:pPr>
                <a:r>
                  <a:rPr lang="en-US" b="1"/>
                  <a:t>A. </a:t>
                </a:r>
                <a14:m>
                  <m:oMath xmlns:m="http://schemas.openxmlformats.org/officeDocument/2006/math">
                    <m:f>
                      <m:fPr>
                        <m:ctrlPr>
                          <a:rPr lang="en-US" b="1" i="1">
                            <a:latin typeface="Cambria Math" panose="02040503050406030204" pitchFamily="18" charset="0"/>
                          </a:rPr>
                        </m:ctrlPr>
                      </m:fPr>
                      <m:num>
                        <m:r>
                          <a:rPr lang="vi-VN" b="1" i="1">
                            <a:latin typeface="Cambria Math" panose="02040503050406030204" pitchFamily="18" charset="0"/>
                          </a:rPr>
                          <m:t>𝒂</m:t>
                        </m:r>
                        <m:rad>
                          <m:radPr>
                            <m:degHide m:val="on"/>
                            <m:ctrlPr>
                              <a:rPr lang="en-US" b="1" i="1">
                                <a:latin typeface="Cambria Math" panose="02040503050406030204" pitchFamily="18" charset="0"/>
                              </a:rPr>
                            </m:ctrlPr>
                          </m:radPr>
                          <m:deg/>
                          <m:e>
                            <m:r>
                              <a:rPr lang="vi-VN" b="1" i="1">
                                <a:latin typeface="Cambria Math" panose="02040503050406030204" pitchFamily="18" charset="0"/>
                              </a:rPr>
                              <m:t>𝟓</m:t>
                            </m:r>
                          </m:e>
                        </m:rad>
                      </m:num>
                      <m:den>
                        <m:r>
                          <a:rPr lang="vi-VN" b="1" i="1">
                            <a:latin typeface="Cambria Math" panose="02040503050406030204" pitchFamily="18" charset="0"/>
                          </a:rPr>
                          <m:t>𝟐</m:t>
                        </m:r>
                      </m:den>
                    </m:f>
                  </m:oMath>
                </a14:m>
                <a:r>
                  <a:rPr lang="en-US" b="1"/>
                  <a:t>.		B. </a:t>
                </a:r>
                <a14:m>
                  <m:oMath xmlns:m="http://schemas.openxmlformats.org/officeDocument/2006/math">
                    <m:f>
                      <m:fPr>
                        <m:ctrlPr>
                          <a:rPr lang="en-US" b="1" i="1">
                            <a:latin typeface="Cambria Math" panose="02040503050406030204" pitchFamily="18" charset="0"/>
                          </a:rPr>
                        </m:ctrlPr>
                      </m:fPr>
                      <m:num>
                        <m:r>
                          <a:rPr lang="vi-VN" b="1" i="1">
                            <a:latin typeface="Cambria Math" panose="02040503050406030204" pitchFamily="18" charset="0"/>
                          </a:rPr>
                          <m:t>𝒂</m:t>
                        </m:r>
                        <m:rad>
                          <m:radPr>
                            <m:degHide m:val="on"/>
                            <m:ctrlPr>
                              <a:rPr lang="en-US" b="1" i="1">
                                <a:latin typeface="Cambria Math" panose="02040503050406030204" pitchFamily="18" charset="0"/>
                              </a:rPr>
                            </m:ctrlPr>
                          </m:radPr>
                          <m:deg/>
                          <m:e>
                            <m:r>
                              <a:rPr lang="vi-VN" b="1" i="1">
                                <a:latin typeface="Cambria Math" panose="02040503050406030204" pitchFamily="18" charset="0"/>
                              </a:rPr>
                              <m:t>𝟑</m:t>
                            </m:r>
                          </m:e>
                        </m:rad>
                      </m:num>
                      <m:den>
                        <m:r>
                          <a:rPr lang="vi-VN" b="1" i="1">
                            <a:latin typeface="Cambria Math" panose="02040503050406030204" pitchFamily="18" charset="0"/>
                          </a:rPr>
                          <m:t>𝟐</m:t>
                        </m:r>
                      </m:den>
                    </m:f>
                  </m:oMath>
                </a14:m>
                <a:r>
                  <a:rPr lang="en-US" b="1"/>
                  <a:t>.	</a:t>
                </a:r>
              </a:p>
              <a:p>
                <a:pPr marL="0" indent="0">
                  <a:buNone/>
                </a:pPr>
                <a:r>
                  <a:rPr lang="en-US" b="1"/>
                  <a:t>C. </a:t>
                </a:r>
                <a14:m>
                  <m:oMath xmlns:m="http://schemas.openxmlformats.org/officeDocument/2006/math">
                    <m:f>
                      <m:fPr>
                        <m:ctrlPr>
                          <a:rPr lang="en-US" b="1" i="1">
                            <a:latin typeface="Cambria Math" panose="02040503050406030204" pitchFamily="18" charset="0"/>
                          </a:rPr>
                        </m:ctrlPr>
                      </m:fPr>
                      <m:num>
                        <m:r>
                          <a:rPr lang="vi-VN" b="1" i="1">
                            <a:latin typeface="Cambria Math" panose="02040503050406030204" pitchFamily="18" charset="0"/>
                          </a:rPr>
                          <m:t>𝒂</m:t>
                        </m:r>
                        <m:rad>
                          <m:radPr>
                            <m:degHide m:val="on"/>
                            <m:ctrlPr>
                              <a:rPr lang="en-US" b="1" i="1">
                                <a:latin typeface="Cambria Math" panose="02040503050406030204" pitchFamily="18" charset="0"/>
                              </a:rPr>
                            </m:ctrlPr>
                          </m:radPr>
                          <m:deg/>
                          <m:e>
                            <m:r>
                              <a:rPr lang="vi-VN" b="1" i="1">
                                <a:latin typeface="Cambria Math" panose="02040503050406030204" pitchFamily="18" charset="0"/>
                              </a:rPr>
                              <m:t>𝟑</m:t>
                            </m:r>
                          </m:e>
                        </m:rad>
                      </m:num>
                      <m:den>
                        <m:r>
                          <a:rPr lang="vi-VN" b="1" i="1">
                            <a:latin typeface="Cambria Math" panose="02040503050406030204" pitchFamily="18" charset="0"/>
                          </a:rPr>
                          <m:t>𝟑</m:t>
                        </m:r>
                      </m:den>
                    </m:f>
                  </m:oMath>
                </a14:m>
                <a:r>
                  <a:rPr lang="en-US" b="1"/>
                  <a:t>.		D. </a:t>
                </a:r>
                <a14:m>
                  <m:oMath xmlns:m="http://schemas.openxmlformats.org/officeDocument/2006/math">
                    <m:r>
                      <a:rPr lang="vi-VN" b="1" i="1">
                        <a:latin typeface="Cambria Math" panose="02040503050406030204" pitchFamily="18" charset="0"/>
                      </a:rPr>
                      <m:t>𝒂</m:t>
                    </m:r>
                    <m:rad>
                      <m:radPr>
                        <m:degHide m:val="on"/>
                        <m:ctrlPr>
                          <a:rPr lang="en-US" b="1" i="1">
                            <a:latin typeface="Cambria Math" panose="02040503050406030204" pitchFamily="18" charset="0"/>
                          </a:rPr>
                        </m:ctrlPr>
                      </m:radPr>
                      <m:deg/>
                      <m:e>
                        <m:r>
                          <a:rPr lang="vi-VN" b="1" i="1">
                            <a:latin typeface="Cambria Math" panose="02040503050406030204" pitchFamily="18" charset="0"/>
                          </a:rPr>
                          <m:t>𝟓</m:t>
                        </m:r>
                      </m:e>
                    </m:rad>
                  </m:oMath>
                </a14:m>
                <a:r>
                  <a:rPr lang="en-US" b="1"/>
                  <a:t>. </a:t>
                </a: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endParaRPr lang="en-US" b="1"/>
              </a:p>
              <a:p>
                <a:pPr marL="0" indent="0">
                  <a:buNone/>
                </a:pPr>
                <a:endParaRPr lang="en-US" b="1"/>
              </a:p>
              <a:p>
                <a:pPr marL="0" indent="0">
                  <a:buNone/>
                </a:pPr>
                <a:endParaRPr lang="en-US" b="1"/>
              </a:p>
              <a:p>
                <a:pPr marL="0" indent="0">
                  <a:buNone/>
                </a:pPr>
                <a:endParaRPr lang="en-US" b="1"/>
              </a:p>
              <a:p>
                <a:pPr marL="0" indent="0">
                  <a:buNone/>
                </a:pPr>
                <a:r>
                  <a:rPr lang="en-US" b="1"/>
                  <a:t>Dựng hình bình hành </a:t>
                </a:r>
                <a14:m>
                  <m:oMath xmlns:m="http://schemas.openxmlformats.org/officeDocument/2006/math">
                    <m:r>
                      <a:rPr lang="en-US" b="1" i="1">
                        <a:latin typeface="Cambria Math" panose="02040503050406030204" pitchFamily="18" charset="0"/>
                      </a:rPr>
                      <m:t>𝑨𝑩𝑬𝑪</m:t>
                    </m:r>
                  </m:oMath>
                </a14:m>
                <a:r>
                  <a:rPr lang="en-US" b="1"/>
                  <a:t> tâm </a:t>
                </a:r>
                <a14:m>
                  <m:oMath xmlns:m="http://schemas.openxmlformats.org/officeDocument/2006/math">
                    <m:r>
                      <a:rPr lang="en-US" b="1" i="1">
                        <a:latin typeface="Cambria Math" panose="02040503050406030204" pitchFamily="18" charset="0"/>
                      </a:rPr>
                      <m:t>𝑭</m:t>
                    </m:r>
                  </m:oMath>
                </a14:m>
                <a:r>
                  <a:rPr lang="en-US" b="1"/>
                  <a:t>.</a:t>
                </a:r>
              </a:p>
              <a:p>
                <a:pPr marL="0" indent="0">
                  <a:buNone/>
                </a:pPr>
                <a:r>
                  <a:rPr lang="en-US" b="1"/>
                  <a:t>Ta có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𝑨𝑩</m:t>
                            </m:r>
                          </m:e>
                        </m:acc>
                        <m:r>
                          <a:rPr lang="vi-VN" b="1" i="1">
                            <a:latin typeface="Cambria Math" panose="02040503050406030204" pitchFamily="18" charset="0"/>
                          </a:rPr>
                          <m:t>+</m:t>
                        </m:r>
                        <m:acc>
                          <m:accPr>
                            <m:chr m:val="⃗"/>
                            <m:ctrlPr>
                              <a:rPr lang="en-US" b="1" i="1">
                                <a:latin typeface="Cambria Math" panose="02040503050406030204" pitchFamily="18" charset="0"/>
                              </a:rPr>
                            </m:ctrlPr>
                          </m:accPr>
                          <m:e>
                            <m:r>
                              <a:rPr lang="vi-VN" b="1" i="1">
                                <a:latin typeface="Cambria Math" panose="02040503050406030204" pitchFamily="18" charset="0"/>
                              </a:rPr>
                              <m:t>𝑨𝑪</m:t>
                            </m:r>
                          </m:e>
                        </m:acc>
                      </m:e>
                    </m:d>
                    <m:r>
                      <a:rPr lang="vi-VN"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vi-VN" b="1" i="1">
                                <a:latin typeface="Cambria Math" panose="02040503050406030204" pitchFamily="18" charset="0"/>
                              </a:rPr>
                              <m:t>𝑨𝑬</m:t>
                            </m:r>
                          </m:e>
                        </m:acc>
                      </m:e>
                    </m:d>
                    <m:r>
                      <a:rPr lang="vi-VN" b="1" i="1">
                        <a:latin typeface="Cambria Math" panose="02040503050406030204" pitchFamily="18" charset="0"/>
                      </a:rPr>
                      <m:t>=</m:t>
                    </m:r>
                    <m:r>
                      <a:rPr lang="vi-VN" b="1" i="1">
                        <a:latin typeface="Cambria Math" panose="02040503050406030204" pitchFamily="18" charset="0"/>
                      </a:rPr>
                      <m:t>𝑨𝑬</m:t>
                    </m:r>
                    <m:r>
                      <a:rPr lang="vi-VN" b="1" i="1">
                        <a:latin typeface="Cambria Math" panose="02040503050406030204" pitchFamily="18" charset="0"/>
                      </a:rPr>
                      <m:t>=</m:t>
                    </m:r>
                    <m:r>
                      <a:rPr lang="vi-VN" b="1" i="1">
                        <a:latin typeface="Cambria Math" panose="02040503050406030204" pitchFamily="18" charset="0"/>
                      </a:rPr>
                      <m:t>𝟐</m:t>
                    </m:r>
                    <m:r>
                      <a:rPr lang="vi-VN" b="1" i="1">
                        <a:latin typeface="Cambria Math" panose="02040503050406030204" pitchFamily="18" charset="0"/>
                      </a:rPr>
                      <m:t>𝑨𝑭</m:t>
                    </m:r>
                  </m:oMath>
                </a14:m>
                <a:endParaRPr lang="en-US" b="1" i="1"/>
              </a:p>
              <a:p>
                <a:pPr marL="0" indent="0">
                  <a:buNone/>
                </a:pPr>
                <a14:m>
                  <m:oMath xmlns:m="http://schemas.openxmlformats.org/officeDocument/2006/math">
                    <m:r>
                      <a:rPr lang="vi-VN" b="1" i="1">
                        <a:latin typeface="Cambria Math" panose="02040503050406030204" pitchFamily="18" charset="0"/>
                      </a:rPr>
                      <m:t>=</m:t>
                    </m:r>
                    <m:r>
                      <a:rPr lang="vi-VN" b="1" i="1">
                        <a:latin typeface="Cambria Math" panose="02040503050406030204" pitchFamily="18" charset="0"/>
                      </a:rPr>
                      <m:t>𝟐</m:t>
                    </m:r>
                    <m:rad>
                      <m:radPr>
                        <m:degHide m:val="on"/>
                        <m:ctrlPr>
                          <a:rPr lang="en-US" b="1" i="1">
                            <a:latin typeface="Cambria Math" panose="02040503050406030204" pitchFamily="18" charset="0"/>
                          </a:rPr>
                        </m:ctrlPr>
                      </m:radPr>
                      <m:deg/>
                      <m:e>
                        <m:r>
                          <a:rPr lang="vi-VN" b="1" i="1">
                            <a:latin typeface="Cambria Math" panose="02040503050406030204" pitchFamily="18" charset="0"/>
                          </a:rPr>
                          <m:t>𝑨</m:t>
                        </m:r>
                        <m:sSup>
                          <m:sSupPr>
                            <m:ctrlPr>
                              <a:rPr lang="en-US" b="1" i="1">
                                <a:latin typeface="Cambria Math" panose="02040503050406030204" pitchFamily="18" charset="0"/>
                              </a:rPr>
                            </m:ctrlPr>
                          </m:sSupPr>
                          <m:e>
                            <m:r>
                              <a:rPr lang="vi-VN" b="1" i="1">
                                <a:latin typeface="Cambria Math" panose="02040503050406030204" pitchFamily="18" charset="0"/>
                              </a:rPr>
                              <m:t>𝑩</m:t>
                            </m:r>
                          </m:e>
                          <m:sup>
                            <m:r>
                              <a:rPr lang="vi-VN" b="1" i="1">
                                <a:latin typeface="Cambria Math" panose="02040503050406030204" pitchFamily="18" charset="0"/>
                              </a:rPr>
                              <m:t>𝟐</m:t>
                            </m:r>
                          </m:sup>
                        </m:sSup>
                        <m:r>
                          <a:rPr lang="vi-VN" b="1" i="1">
                            <a:latin typeface="Cambria Math" panose="02040503050406030204" pitchFamily="18" charset="0"/>
                          </a:rPr>
                          <m:t>+</m:t>
                        </m:r>
                        <m:r>
                          <a:rPr lang="vi-VN" b="1" i="1">
                            <a:latin typeface="Cambria Math" panose="02040503050406030204" pitchFamily="18" charset="0"/>
                          </a:rPr>
                          <m:t>𝑩</m:t>
                        </m:r>
                        <m:sSup>
                          <m:sSupPr>
                            <m:ctrlPr>
                              <a:rPr lang="en-US" b="1" i="1">
                                <a:latin typeface="Cambria Math" panose="02040503050406030204" pitchFamily="18" charset="0"/>
                              </a:rPr>
                            </m:ctrlPr>
                          </m:sSupPr>
                          <m:e>
                            <m:r>
                              <a:rPr lang="vi-VN" b="1" i="1">
                                <a:latin typeface="Cambria Math" panose="02040503050406030204" pitchFamily="18" charset="0"/>
                              </a:rPr>
                              <m:t>𝑭</m:t>
                            </m:r>
                          </m:e>
                          <m:sup>
                            <m:r>
                              <a:rPr lang="vi-VN" b="1" i="1">
                                <a:latin typeface="Cambria Math" panose="02040503050406030204" pitchFamily="18" charset="0"/>
                              </a:rPr>
                              <m:t>𝟐</m:t>
                            </m:r>
                          </m:sup>
                        </m:sSup>
                      </m:e>
                    </m:rad>
                    <m:r>
                      <a:rPr lang="vi-VN" b="1" i="1">
                        <a:latin typeface="Cambria Math" panose="02040503050406030204" pitchFamily="18" charset="0"/>
                      </a:rPr>
                      <m:t>=</m:t>
                    </m:r>
                    <m:r>
                      <a:rPr lang="vi-VN" b="1" i="1">
                        <a:latin typeface="Cambria Math" panose="02040503050406030204" pitchFamily="18" charset="0"/>
                      </a:rPr>
                      <m:t>𝟐</m:t>
                    </m:r>
                    <m:rad>
                      <m:radPr>
                        <m:degHide m:val="on"/>
                        <m:ctrlPr>
                          <a:rPr lang="en-US" b="1" i="1">
                            <a:latin typeface="Cambria Math" panose="02040503050406030204" pitchFamily="18" charset="0"/>
                          </a:rPr>
                        </m:ctrlPr>
                      </m:radPr>
                      <m:deg/>
                      <m:e>
                        <m:sSup>
                          <m:sSupPr>
                            <m:ctrlPr>
                              <a:rPr lang="en-US" b="1" i="1">
                                <a:latin typeface="Cambria Math" panose="02040503050406030204" pitchFamily="18" charset="0"/>
                              </a:rPr>
                            </m:ctrlPr>
                          </m:sSupPr>
                          <m:e>
                            <m:r>
                              <a:rPr lang="vi-VN" b="1" i="1">
                                <a:latin typeface="Cambria Math" panose="02040503050406030204" pitchFamily="18" charset="0"/>
                              </a:rPr>
                              <m:t>𝒂</m:t>
                            </m:r>
                          </m:e>
                          <m:sup>
                            <m:r>
                              <a:rPr lang="vi-VN" b="1" i="1">
                                <a:latin typeface="Cambria Math" panose="02040503050406030204" pitchFamily="18" charset="0"/>
                              </a:rPr>
                              <m:t>𝟐</m:t>
                            </m:r>
                          </m:sup>
                        </m:sSup>
                        <m:r>
                          <a:rPr lang="vi-VN" b="1" i="1">
                            <a:latin typeface="Cambria Math" panose="02040503050406030204" pitchFamily="18" charset="0"/>
                          </a:rPr>
                          <m:t>+</m:t>
                        </m:r>
                        <m:f>
                          <m:fPr>
                            <m:ctrlPr>
                              <a:rPr lang="en-US" b="1" i="1">
                                <a:latin typeface="Cambria Math" panose="02040503050406030204" pitchFamily="18" charset="0"/>
                              </a:rPr>
                            </m:ctrlPr>
                          </m:fPr>
                          <m:num>
                            <m:sSup>
                              <m:sSupPr>
                                <m:ctrlPr>
                                  <a:rPr lang="en-US" b="1" i="1">
                                    <a:latin typeface="Cambria Math" panose="02040503050406030204" pitchFamily="18" charset="0"/>
                                  </a:rPr>
                                </m:ctrlPr>
                              </m:sSupPr>
                              <m:e>
                                <m:r>
                                  <a:rPr lang="vi-VN" b="1" i="1">
                                    <a:latin typeface="Cambria Math" panose="02040503050406030204" pitchFamily="18" charset="0"/>
                                  </a:rPr>
                                  <m:t>𝒂</m:t>
                                </m:r>
                              </m:e>
                              <m:sup>
                                <m:r>
                                  <a:rPr lang="vi-VN" b="1" i="1">
                                    <a:latin typeface="Cambria Math" panose="02040503050406030204" pitchFamily="18" charset="0"/>
                                  </a:rPr>
                                  <m:t>𝟐</m:t>
                                </m:r>
                              </m:sup>
                            </m:sSup>
                          </m:num>
                          <m:den>
                            <m:r>
                              <a:rPr lang="vi-VN" b="1" i="1">
                                <a:latin typeface="Cambria Math" panose="02040503050406030204" pitchFamily="18" charset="0"/>
                              </a:rPr>
                              <m:t>𝟒</m:t>
                            </m:r>
                          </m:den>
                        </m:f>
                      </m:e>
                    </m:rad>
                    <m:r>
                      <a:rPr lang="vi-VN" b="1" i="1">
                        <a:latin typeface="Cambria Math" panose="02040503050406030204" pitchFamily="18" charset="0"/>
                      </a:rPr>
                      <m:t>=</m:t>
                    </m:r>
                    <m:r>
                      <a:rPr lang="vi-VN" b="1" i="1">
                        <a:latin typeface="Cambria Math" panose="02040503050406030204" pitchFamily="18" charset="0"/>
                      </a:rPr>
                      <m:t>𝒂</m:t>
                    </m:r>
                    <m:rad>
                      <m:radPr>
                        <m:degHide m:val="on"/>
                        <m:ctrlPr>
                          <a:rPr lang="en-US" b="1" i="1">
                            <a:latin typeface="Cambria Math" panose="02040503050406030204" pitchFamily="18" charset="0"/>
                          </a:rPr>
                        </m:ctrlPr>
                      </m:radPr>
                      <m:deg/>
                      <m:e>
                        <m:r>
                          <a:rPr lang="vi-VN" b="1" i="1">
                            <a:latin typeface="Cambria Math" panose="02040503050406030204" pitchFamily="18" charset="0"/>
                          </a:rPr>
                          <m:t>𝟓</m:t>
                        </m:r>
                      </m:e>
                    </m:rad>
                  </m:oMath>
                </a14:m>
                <a:r>
                  <a:rPr lang="vi-VN" b="1"/>
                  <a:t>.</a:t>
                </a:r>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4267200" y="6172200"/>
            <a:ext cx="838200" cy="8382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9D5B0B7-6A3A-49F3-8D8F-5886AF574648}"/>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782800" y="2362200"/>
            <a:ext cx="5867400" cy="3505200"/>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22926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wipe(up)">
                                      <p:cBhvr>
                                        <p:cTn id="41" dur="500"/>
                                        <p:tgtEl>
                                          <p:spTgt spid="7">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6" end="6"/>
                                            </p:txEl>
                                          </p:spTgt>
                                        </p:tgtEl>
                                        <p:attrNameLst>
                                          <p:attrName>style.visibility</p:attrName>
                                        </p:attrNameLst>
                                      </p:cBhvr>
                                      <p:to>
                                        <p:strVal val="visible"/>
                                      </p:to>
                                    </p:set>
                                    <p:animEffect transition="in" filter="wipe(up)">
                                      <p:cBhvr>
                                        <p:cTn id="46" dur="500"/>
                                        <p:tgtEl>
                                          <p:spTgt spid="7">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
                                            <p:txEl>
                                              <p:pRg st="7" end="7"/>
                                            </p:txEl>
                                          </p:spTgt>
                                        </p:tgtEl>
                                        <p:attrNameLst>
                                          <p:attrName>style.visibility</p:attrName>
                                        </p:attrNameLst>
                                      </p:cBhvr>
                                      <p:to>
                                        <p:strVal val="visible"/>
                                      </p:to>
                                    </p:set>
                                    <p:animEffect transition="in" filter="wipe(up)">
                                      <p:cBhvr>
                                        <p:cTn id="51" dur="500"/>
                                        <p:tgtEl>
                                          <p:spTgt spid="7">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fade">
                                      <p:cBhvr>
                                        <p:cTn id="5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sz="4600" b="1">
                    <a:solidFill>
                      <a:srgbClr val="FF0000"/>
                    </a:solidFill>
                  </a:rPr>
                  <a:t>Bài tập trắc nghiệm:</a:t>
                </a:r>
              </a:p>
              <a:p>
                <a:pPr marL="0" indent="0">
                  <a:buNone/>
                </a:pPr>
                <a:r>
                  <a:rPr lang="en-US" b="1"/>
                  <a:t>Câu 10. Cho hình thang </a:t>
                </a:r>
                <a14:m>
                  <m:oMath xmlns:m="http://schemas.openxmlformats.org/officeDocument/2006/math">
                    <m:r>
                      <a:rPr lang="en-US" b="1" i="1">
                        <a:latin typeface="Cambria Math" panose="02040503050406030204" pitchFamily="18" charset="0"/>
                      </a:rPr>
                      <m:t>𝑨𝑩𝑪𝑫</m:t>
                    </m:r>
                  </m:oMath>
                </a14:m>
                <a:r>
                  <a:rPr lang="en-US" b="1"/>
                  <a:t> </a:t>
                </a:r>
                <a14:m>
                  <m:oMath xmlns:m="http://schemas.openxmlformats.org/officeDocument/2006/math">
                    <m:d>
                      <m:dPr>
                        <m:ctrlPr>
                          <a:rPr lang="en-US" b="1" i="1">
                            <a:latin typeface="Cambria Math" panose="02040503050406030204" pitchFamily="18" charset="0"/>
                          </a:rPr>
                        </m:ctrlPr>
                      </m:dPr>
                      <m:e>
                        <m:r>
                          <a:rPr lang="en-US" b="1" i="1">
                            <a:latin typeface="Cambria Math" panose="02040503050406030204" pitchFamily="18" charset="0"/>
                          </a:rPr>
                          <m:t>𝑨𝑩</m:t>
                        </m:r>
                        <m:r>
                          <a:rPr lang="en-US" b="1" i="1">
                            <a:latin typeface="Cambria Math" panose="02040503050406030204" pitchFamily="18" charset="0"/>
                          </a:rPr>
                          <m:t>//</m:t>
                        </m:r>
                        <m:r>
                          <a:rPr lang="en-US" b="1" i="1">
                            <a:latin typeface="Cambria Math" panose="02040503050406030204" pitchFamily="18" charset="0"/>
                          </a:rPr>
                          <m:t>𝑪𝑫</m:t>
                        </m:r>
                      </m:e>
                    </m:d>
                  </m:oMath>
                </a14:m>
                <a:r>
                  <a:rPr lang="en-US" b="1"/>
                  <a:t> và có hai đường chéo vuông góc với nhau. Biết </a:t>
                </a:r>
                <a14:m>
                  <m:oMath xmlns:m="http://schemas.openxmlformats.org/officeDocument/2006/math">
                    <m:r>
                      <a:rPr lang="en-US" b="1" i="1">
                        <a:latin typeface="Cambria Math" panose="02040503050406030204" pitchFamily="18" charset="0"/>
                      </a:rPr>
                      <m:t>𝑨𝑩</m:t>
                    </m:r>
                    <m:r>
                      <a:rPr lang="en-US" b="1" i="1">
                        <a:latin typeface="Cambria Math" panose="02040503050406030204" pitchFamily="18" charset="0"/>
                      </a:rPr>
                      <m:t>+</m:t>
                    </m:r>
                    <m:r>
                      <a:rPr lang="en-US" b="1" i="1">
                        <a:latin typeface="Cambria Math" panose="02040503050406030204" pitchFamily="18" charset="0"/>
                      </a:rPr>
                      <m:t>𝑪𝑫</m:t>
                    </m:r>
                    <m:r>
                      <a:rPr lang="en-US" b="1" i="1">
                        <a:latin typeface="Cambria Math" panose="02040503050406030204" pitchFamily="18" charset="0"/>
                      </a:rPr>
                      <m:t>=</m:t>
                    </m:r>
                    <m:r>
                      <a:rPr lang="en-US" b="1" i="1">
                        <a:latin typeface="Cambria Math" panose="02040503050406030204" pitchFamily="18" charset="0"/>
                      </a:rPr>
                      <m:t>𝟑𝟎</m:t>
                    </m:r>
                    <m:r>
                      <a:rPr lang="en-US" b="1" i="1">
                        <a:latin typeface="Cambria Math" panose="02040503050406030204" pitchFamily="18" charset="0"/>
                      </a:rPr>
                      <m:t>𝒄𝒎</m:t>
                    </m:r>
                  </m:oMath>
                </a14:m>
                <a:r>
                  <a:rPr lang="en-US" b="1"/>
                  <a:t>. Tính </a:t>
                </a:r>
                <a14:m>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e>
                    </m:d>
                  </m:oMath>
                </a14:m>
                <a:r>
                  <a:rPr lang="en-US" b="1"/>
                  <a:t>.</a:t>
                </a:r>
              </a:p>
              <a:p>
                <a:pPr marL="0" indent="0">
                  <a:buNone/>
                </a:pPr>
                <a:r>
                  <a:rPr lang="en-US" b="1"/>
                  <a:t>A. </a:t>
                </a:r>
                <a14:m>
                  <m:oMath xmlns:m="http://schemas.openxmlformats.org/officeDocument/2006/math">
                    <m:r>
                      <a:rPr lang="vi-VN" b="1" i="1">
                        <a:latin typeface="Cambria Math" panose="02040503050406030204" pitchFamily="18" charset="0"/>
                      </a:rPr>
                      <m:t>𝟐𝟓</m:t>
                    </m:r>
                    <m:r>
                      <a:rPr lang="vi-VN" b="1" i="1">
                        <a:latin typeface="Cambria Math" panose="02040503050406030204" pitchFamily="18" charset="0"/>
                      </a:rPr>
                      <m:t>𝒄𝒎</m:t>
                    </m:r>
                  </m:oMath>
                </a14:m>
                <a:r>
                  <a:rPr lang="en-US" b="1"/>
                  <a:t>.	B. </a:t>
                </a:r>
                <a14:m>
                  <m:oMath xmlns:m="http://schemas.openxmlformats.org/officeDocument/2006/math">
                    <m:r>
                      <a:rPr lang="vi-VN" b="1" i="1">
                        <a:latin typeface="Cambria Math" panose="02040503050406030204" pitchFamily="18" charset="0"/>
                      </a:rPr>
                      <m:t>𝟐𝟎</m:t>
                    </m:r>
                    <m:r>
                      <a:rPr lang="vi-VN" b="1" i="1">
                        <a:latin typeface="Cambria Math" panose="02040503050406030204" pitchFamily="18" charset="0"/>
                      </a:rPr>
                      <m:t>𝒄𝒎</m:t>
                    </m:r>
                  </m:oMath>
                </a14:m>
                <a:r>
                  <a:rPr lang="en-US" b="1"/>
                  <a:t>.	</a:t>
                </a:r>
              </a:p>
              <a:p>
                <a:pPr marL="0" indent="0">
                  <a:buNone/>
                </a:pPr>
                <a:r>
                  <a:rPr lang="en-US" b="1"/>
                  <a:t>C. </a:t>
                </a:r>
                <a14:m>
                  <m:oMath xmlns:m="http://schemas.openxmlformats.org/officeDocument/2006/math">
                    <m:r>
                      <a:rPr lang="vi-VN" b="1" i="1">
                        <a:latin typeface="Cambria Math" panose="02040503050406030204" pitchFamily="18" charset="0"/>
                      </a:rPr>
                      <m:t>𝟏𝟓</m:t>
                    </m:r>
                    <m:r>
                      <a:rPr lang="vi-VN" b="1" i="1">
                        <a:latin typeface="Cambria Math" panose="02040503050406030204" pitchFamily="18" charset="0"/>
                      </a:rPr>
                      <m:t>𝒄𝒎</m:t>
                    </m:r>
                  </m:oMath>
                </a14:m>
                <a:r>
                  <a:rPr lang="en-US" b="1"/>
                  <a:t>.	D. </a:t>
                </a:r>
                <a14:m>
                  <m:oMath xmlns:m="http://schemas.openxmlformats.org/officeDocument/2006/math">
                    <m:r>
                      <a:rPr lang="vi-VN" b="1" i="1">
                        <a:latin typeface="Cambria Math" panose="02040503050406030204" pitchFamily="18" charset="0"/>
                      </a:rPr>
                      <m:t>𝟑𝟎</m:t>
                    </m:r>
                    <m:r>
                      <a:rPr lang="vi-VN" b="1" i="1">
                        <a:latin typeface="Cambria Math" panose="02040503050406030204" pitchFamily="18" charset="0"/>
                      </a:rPr>
                      <m:t>𝒄𝒎</m:t>
                    </m:r>
                  </m:oMath>
                </a14:m>
                <a:r>
                  <a:rPr lang="en-US" b="1"/>
                  <a:t>.   </a:t>
                </a:r>
                <a:r>
                  <a:rPr lang="fr-FR" b="1"/>
                  <a:t>                                    </a:t>
                </a:r>
                <a:endParaRPr lang="en-US" b="1"/>
              </a:p>
              <a:p>
                <a:pPr marL="0" indent="0">
                  <a:buNone/>
                </a:pPr>
                <a:endParaRPr lang="en-US" sz="4600" b="1">
                  <a:solidFill>
                    <a:srgbClr val="FF0000"/>
                  </a:solidFill>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0"/>
                <a:ext cx="11125201" cy="11411749"/>
              </a:xfrm>
              <a:prstGeom prst="rect">
                <a:avLst/>
              </a:prstGeom>
              <a:blipFill>
                <a:blip r:embed="rId3"/>
                <a:stretch>
                  <a:fillRect l="-2463" t="-1708" r="-1423"/>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Lời giải</a:t>
                </a:r>
              </a:p>
              <a:p>
                <a:pPr marL="0" indent="0">
                  <a:buNone/>
                </a:pPr>
                <a:endParaRPr lang="en-US" b="1"/>
              </a:p>
              <a:p>
                <a:pPr marL="0" indent="0">
                  <a:buNone/>
                </a:pPr>
                <a:endParaRPr lang="en-US" b="1"/>
              </a:p>
              <a:p>
                <a:pPr marL="0" indent="0">
                  <a:buNone/>
                </a:pPr>
                <a:endParaRPr lang="en-US" b="1"/>
              </a:p>
              <a:p>
                <a:pPr marL="0" indent="0">
                  <a:buNone/>
                </a:pPr>
                <a:endParaRPr lang="en-US" b="1"/>
              </a:p>
              <a:p>
                <a:pPr marL="0" indent="0">
                  <a:buNone/>
                </a:pPr>
                <a:endParaRPr lang="en-US" b="1"/>
              </a:p>
              <a:p>
                <a:pPr marL="0" indent="0">
                  <a:buNone/>
                </a:pPr>
                <a:endParaRPr lang="en-US" b="1"/>
              </a:p>
              <a:p>
                <a:pPr marL="0" indent="0">
                  <a:buNone/>
                </a:pPr>
                <a:r>
                  <a:rPr lang="en-US" b="1"/>
                  <a:t>Dựng hình bình hành </a:t>
                </a:r>
                <a14:m>
                  <m:oMath xmlns:m="http://schemas.openxmlformats.org/officeDocument/2006/math">
                    <m:r>
                      <a:rPr lang="en-US" b="1" i="1">
                        <a:latin typeface="Cambria Math" panose="02040503050406030204" pitchFamily="18" charset="0"/>
                      </a:rPr>
                      <m:t>𝑨𝑩𝑬𝑪</m:t>
                    </m:r>
                  </m:oMath>
                </a14:m>
                <a:r>
                  <a:rPr lang="en-US" b="1"/>
                  <a:t> và hình bình hành </a:t>
                </a:r>
                <a14:m>
                  <m:oMath xmlns:m="http://schemas.openxmlformats.org/officeDocument/2006/math">
                    <m:r>
                      <a:rPr lang="en-US" b="1" i="1">
                        <a:latin typeface="Cambria Math" panose="02040503050406030204" pitchFamily="18" charset="0"/>
                      </a:rPr>
                      <m:t>𝑩𝑬𝑭𝑫</m:t>
                    </m:r>
                  </m:oMath>
                </a14:m>
                <a:r>
                  <a:rPr lang="en-US" b="1"/>
                  <a:t>. </a:t>
                </a:r>
              </a:p>
              <a:p>
                <a:pPr marL="0" indent="0">
                  <a:buNone/>
                </a:pPr>
                <a:r>
                  <a:rPr lang="en-US" b="1"/>
                  <a:t>Vì </a:t>
                </a:r>
                <a14:m>
                  <m:oMath xmlns:m="http://schemas.openxmlformats.org/officeDocument/2006/math">
                    <m:r>
                      <a:rPr lang="en-US" b="1" i="1">
                        <a:latin typeface="Cambria Math" panose="02040503050406030204" pitchFamily="18" charset="0"/>
                      </a:rPr>
                      <m:t>𝑨𝑪</m:t>
                    </m:r>
                    <m:r>
                      <a:rPr lang="en-US" b="1" i="1">
                        <a:latin typeface="Cambria Math" panose="02040503050406030204" pitchFamily="18" charset="0"/>
                      </a:rPr>
                      <m:t>⊥</m:t>
                    </m:r>
                    <m:r>
                      <a:rPr lang="en-US" b="1" i="1">
                        <a:latin typeface="Cambria Math" panose="02040503050406030204" pitchFamily="18" charset="0"/>
                      </a:rPr>
                      <m:t>𝑩𝑫</m:t>
                    </m:r>
                  </m:oMath>
                </a14:m>
                <a:r>
                  <a:rPr lang="en-US" b="1"/>
                  <a:t> nên </a:t>
                </a:r>
                <a14:m>
                  <m:oMath xmlns:m="http://schemas.openxmlformats.org/officeDocument/2006/math">
                    <m:r>
                      <a:rPr lang="en-US" b="1" i="1">
                        <a:latin typeface="Cambria Math" panose="02040503050406030204" pitchFamily="18" charset="0"/>
                      </a:rPr>
                      <m:t>𝑩𝑫</m:t>
                    </m:r>
                    <m:r>
                      <a:rPr lang="en-US" b="1" i="1">
                        <a:latin typeface="Cambria Math" panose="02040503050406030204" pitchFamily="18" charset="0"/>
                      </a:rPr>
                      <m:t>⊥</m:t>
                    </m:r>
                    <m:r>
                      <a:rPr lang="en-US" b="1" i="1">
                        <a:latin typeface="Cambria Math" panose="02040503050406030204" pitchFamily="18" charset="0"/>
                      </a:rPr>
                      <m:t>𝑩𝑬</m:t>
                    </m:r>
                  </m:oMath>
                </a14:m>
                <a:r>
                  <a:rPr lang="en-US" b="1"/>
                  <a:t>. Do đó hình bình hành </a:t>
                </a:r>
                <a14:m>
                  <m:oMath xmlns:m="http://schemas.openxmlformats.org/officeDocument/2006/math">
                    <m:r>
                      <a:rPr lang="en-US" b="1" i="1">
                        <a:latin typeface="Cambria Math" panose="02040503050406030204" pitchFamily="18" charset="0"/>
                      </a:rPr>
                      <m:t>𝑩𝑬𝑭𝑫</m:t>
                    </m:r>
                  </m:oMath>
                </a14:m>
                <a:r>
                  <a:rPr lang="en-US" b="1"/>
                  <a:t> là hình chữ nhật. Khi đó</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𝑨𝑪</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e>
                      </m:d>
                      <m:r>
                        <a:rPr lang="en-US"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𝑩𝑬</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𝑩𝑫</m:t>
                              </m:r>
                            </m:e>
                          </m:acc>
                        </m:e>
                      </m:d>
                      <m:r>
                        <a:rPr lang="en-US" b="1" i="1">
                          <a:latin typeface="Cambria Math" panose="02040503050406030204" pitchFamily="18" charset="0"/>
                        </a:rPr>
                        <m:t>=</m:t>
                      </m:r>
                      <m:d>
                        <m:dPr>
                          <m:begChr m:val="|"/>
                          <m:endChr m:val="|"/>
                          <m:ctrlPr>
                            <a:rPr lang="en-US" b="1"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𝑩𝑭</m:t>
                              </m:r>
                            </m:e>
                          </m:acc>
                        </m:e>
                      </m:d>
                      <m:r>
                        <a:rPr lang="en-US" b="1" i="1">
                          <a:latin typeface="Cambria Math" panose="02040503050406030204" pitchFamily="18" charset="0"/>
                        </a:rPr>
                        <m:t>=</m:t>
                      </m:r>
                      <m:r>
                        <a:rPr lang="en-US" b="1" i="1">
                          <a:latin typeface="Cambria Math" panose="02040503050406030204" pitchFamily="18" charset="0"/>
                        </a:rPr>
                        <m:t>𝑩𝑭</m:t>
                      </m:r>
                    </m:oMath>
                  </m:oMathPara>
                </a14:m>
                <a:endParaRPr lang="en-US" b="1" i="1"/>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m:t>
                      </m:r>
                      <m:r>
                        <a:rPr lang="en-US" b="1" i="1">
                          <a:latin typeface="Cambria Math" panose="02040503050406030204" pitchFamily="18" charset="0"/>
                        </a:rPr>
                        <m:t>𝑫𝑬</m:t>
                      </m:r>
                      <m:r>
                        <a:rPr lang="en-US" b="1" i="1">
                          <a:latin typeface="Cambria Math" panose="02040503050406030204" pitchFamily="18" charset="0"/>
                        </a:rPr>
                        <m:t>=</m:t>
                      </m:r>
                      <m:r>
                        <a:rPr lang="en-US" b="1" i="1">
                          <a:latin typeface="Cambria Math" panose="02040503050406030204" pitchFamily="18" charset="0"/>
                        </a:rPr>
                        <m:t>𝟑𝟎</m:t>
                      </m:r>
                      <m:r>
                        <a:rPr lang="en-US" b="1" i="1">
                          <a:latin typeface="Cambria Math" panose="02040503050406030204" pitchFamily="18" charset="0"/>
                        </a:rPr>
                        <m:t>𝒄𝒎</m:t>
                      </m:r>
                      <m:r>
                        <a:rPr lang="en-US" b="1" i="1">
                          <a:latin typeface="Cambria Math" panose="02040503050406030204" pitchFamily="18" charset="0"/>
                        </a:rPr>
                        <m:t>.</m:t>
                      </m:r>
                    </m:oMath>
                  </m:oMathPara>
                </a14:m>
                <a:endParaRPr lang="en-US" b="1"/>
              </a:p>
              <a:p>
                <a:pPr marL="0" indent="0">
                  <a:buNone/>
                </a:pPr>
                <a:endParaRPr lang="en-US" b="1"/>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4"/>
                <a:stretch>
                  <a:fillRect l="-2260" t="-1761"/>
                </a:stretch>
              </a:blipFill>
              <a:ln>
                <a:solidFill>
                  <a:srgbClr val="00B0F0"/>
                </a:solidFill>
              </a:ln>
            </p:spPr>
            <p:txBody>
              <a:bodyPr/>
              <a:lstStyle/>
              <a:p>
                <a:r>
                  <a:rPr lang="en-US">
                    <a:noFill/>
                  </a:rPr>
                  <a:t> </a:t>
                </a:r>
              </a:p>
            </p:txBody>
          </p:sp>
        </mc:Fallback>
      </mc:AlternateContent>
      <p:sp>
        <p:nvSpPr>
          <p:cNvPr id="4" name="Flowchart: Connector 3">
            <a:extLst>
              <a:ext uri="{FF2B5EF4-FFF2-40B4-BE49-F238E27FC236}">
                <a16:creationId xmlns:a16="http://schemas.microsoft.com/office/drawing/2014/main" id="{A785E262-58B7-4194-8F57-B27C3D33B262}"/>
              </a:ext>
            </a:extLst>
          </p:cNvPr>
          <p:cNvSpPr/>
          <p:nvPr/>
        </p:nvSpPr>
        <p:spPr>
          <a:xfrm>
            <a:off x="4343400" y="6705600"/>
            <a:ext cx="838200" cy="838200"/>
          </a:xfrm>
          <a:prstGeom prst="flowChartConnector">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4F18148-BFAE-4F2F-8310-4B27E0379987}"/>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63800" y="2438400"/>
            <a:ext cx="6400800" cy="5486400"/>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8</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62452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7" end="7"/>
                                            </p:txEl>
                                          </p:spTgt>
                                        </p:tgtEl>
                                        <p:attrNameLst>
                                          <p:attrName>style.visibility</p:attrName>
                                        </p:attrNameLst>
                                      </p:cBhvr>
                                      <p:to>
                                        <p:strVal val="visible"/>
                                      </p:to>
                                    </p:set>
                                    <p:animEffect transition="in" filter="wipe(up)">
                                      <p:cBhvr>
                                        <p:cTn id="41" dur="500"/>
                                        <p:tgtEl>
                                          <p:spTgt spid="7">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8" end="8"/>
                                            </p:txEl>
                                          </p:spTgt>
                                        </p:tgtEl>
                                        <p:attrNameLst>
                                          <p:attrName>style.visibility</p:attrName>
                                        </p:attrNameLst>
                                      </p:cBhvr>
                                      <p:to>
                                        <p:strVal val="visible"/>
                                      </p:to>
                                    </p:set>
                                    <p:animEffect transition="in" filter="wipe(up)">
                                      <p:cBhvr>
                                        <p:cTn id="46" dur="500"/>
                                        <p:tgtEl>
                                          <p:spTgt spid="7">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
                                            <p:txEl>
                                              <p:pRg st="9" end="9"/>
                                            </p:txEl>
                                          </p:spTgt>
                                        </p:tgtEl>
                                        <p:attrNameLst>
                                          <p:attrName>style.visibility</p:attrName>
                                        </p:attrNameLst>
                                      </p:cBhvr>
                                      <p:to>
                                        <p:strVal val="visible"/>
                                      </p:to>
                                    </p:set>
                                    <p:animEffect transition="in" filter="wipe(up)">
                                      <p:cBhvr>
                                        <p:cTn id="51" dur="500"/>
                                        <p:tgtEl>
                                          <p:spTgt spid="7">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7">
                                            <p:txEl>
                                              <p:pRg st="10" end="10"/>
                                            </p:txEl>
                                          </p:spTgt>
                                        </p:tgtEl>
                                        <p:attrNameLst>
                                          <p:attrName>style.visibility</p:attrName>
                                        </p:attrNameLst>
                                      </p:cBhvr>
                                      <p:to>
                                        <p:strVal val="visible"/>
                                      </p:to>
                                    </p:set>
                                    <p:animEffect transition="in" filter="wipe(up)">
                                      <p:cBhvr>
                                        <p:cTn id="56" dur="500"/>
                                        <p:tgtEl>
                                          <p:spTgt spid="7">
                                            <p:txEl>
                                              <p:pRg st="10" end="1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4"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3205</TotalTime>
  <Words>1518</Words>
  <Application>Microsoft Office PowerPoint</Application>
  <PresentationFormat>Custom</PresentationFormat>
  <Paragraphs>364</Paragraphs>
  <Slides>37</Slides>
  <Notes>36</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51" baseType="lpstr">
      <vt:lpstr>Yu Gothic UI Semilight</vt:lpstr>
      <vt:lpstr>Arial</vt:lpstr>
      <vt:lpstr>Bahnschrift SemiBold SemiConden</vt:lpstr>
      <vt:lpstr>Baumans</vt:lpstr>
      <vt:lpstr>Calibri</vt:lpstr>
      <vt:lpstr>Calibri Light</vt:lpstr>
      <vt:lpstr>Cambria Math</vt:lpstr>
      <vt:lpstr>Tahoma</vt:lpstr>
      <vt:lpstr>Times New Roman</vt:lpstr>
      <vt:lpstr>Tomaho</vt:lpstr>
      <vt:lpstr>Wingdings</vt:lpstr>
      <vt:lpstr>Office Theme</vt:lpstr>
      <vt:lpstr>1_Office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366</cp:revision>
  <dcterms:created xsi:type="dcterms:W3CDTF">2013-08-31T11:42:51Z</dcterms:created>
  <dcterms:modified xsi:type="dcterms:W3CDTF">2022-08-29T07:29:12Z</dcterms:modified>
  <cp:category>9Slide.vn</cp:category>
</cp:coreProperties>
</file>