
<file path=[Content_Types].xml><?xml version="1.0" encoding="utf-8"?>
<Types xmlns="http://schemas.openxmlformats.org/package/2006/content-types">
  <Default Extension="jpg" ContentType="image/jpeg"/>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35"/>
  </p:notesMasterIdLst>
  <p:sldIdLst>
    <p:sldId id="318" r:id="rId3"/>
    <p:sldId id="317" r:id="rId4"/>
    <p:sldId id="320" r:id="rId5"/>
    <p:sldId id="319" r:id="rId6"/>
    <p:sldId id="323" r:id="rId7"/>
    <p:sldId id="324" r:id="rId8"/>
    <p:sldId id="328" r:id="rId9"/>
    <p:sldId id="326" r:id="rId10"/>
    <p:sldId id="327" r:id="rId11"/>
    <p:sldId id="329" r:id="rId12"/>
    <p:sldId id="330" r:id="rId13"/>
    <p:sldId id="331" r:id="rId14"/>
    <p:sldId id="332" r:id="rId15"/>
    <p:sldId id="334" r:id="rId16"/>
    <p:sldId id="336" r:id="rId17"/>
    <p:sldId id="340" r:id="rId18"/>
    <p:sldId id="341" r:id="rId19"/>
    <p:sldId id="337" r:id="rId20"/>
    <p:sldId id="342" r:id="rId21"/>
    <p:sldId id="338" r:id="rId22"/>
    <p:sldId id="343" r:id="rId23"/>
    <p:sldId id="344" r:id="rId24"/>
    <p:sldId id="345" r:id="rId25"/>
    <p:sldId id="346" r:id="rId26"/>
    <p:sldId id="347" r:id="rId27"/>
    <p:sldId id="348" r:id="rId28"/>
    <p:sldId id="349" r:id="rId29"/>
    <p:sldId id="350" r:id="rId30"/>
    <p:sldId id="351" r:id="rId31"/>
    <p:sldId id="352" r:id="rId32"/>
    <p:sldId id="353" r:id="rId33"/>
    <p:sldId id="354" r:id="rId34"/>
  </p:sldIdLst>
  <p:sldSz cx="24384000" cy="13716000"/>
  <p:notesSz cx="6858000" cy="9144000"/>
  <p:custDataLst>
    <p:tags r:id="rId36"/>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F7FE"/>
    <a:srgbClr val="0000FF"/>
    <a:srgbClr val="FFFFFF"/>
    <a:srgbClr val="E7F7FF"/>
    <a:srgbClr val="EEF7E9"/>
    <a:srgbClr val="135F82"/>
    <a:srgbClr val="008000"/>
    <a:srgbClr val="242452"/>
    <a:srgbClr val="270F6B"/>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98" autoAdjust="0"/>
    <p:restoredTop sz="94139" autoAdjust="0"/>
  </p:normalViewPr>
  <p:slideViewPr>
    <p:cSldViewPr>
      <p:cViewPr varScale="1">
        <p:scale>
          <a:sx n="31" d="100"/>
          <a:sy n="31" d="100"/>
        </p:scale>
        <p:origin x="162" y="348"/>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notesMaster" Target="notesMasters/notesMaster1.xml"/><Relationship Id="rId36" Type="http://schemas.openxmlformats.org/officeDocument/2006/relationships/tags" Target="tags/tag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8/30/2022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080966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185544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1676079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1018266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2673849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2511176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1803792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456333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2439633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2877965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3560886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13</a:t>
            </a:fld>
            <a:endParaRPr lang="en-US"/>
          </a:p>
        </p:txBody>
      </p:sp>
    </p:spTree>
    <p:extLst>
      <p:ext uri="{BB962C8B-B14F-4D97-AF65-F5344CB8AC3E}">
        <p14:creationId xmlns:p14="http://schemas.microsoft.com/office/powerpoint/2010/main" val="1421079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14</a:t>
            </a:fld>
            <a:endParaRPr lang="en-US"/>
          </a:p>
        </p:txBody>
      </p:sp>
    </p:spTree>
    <p:extLst>
      <p:ext uri="{BB962C8B-B14F-4D97-AF65-F5344CB8AC3E}">
        <p14:creationId xmlns:p14="http://schemas.microsoft.com/office/powerpoint/2010/main" val="621605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4227412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25844442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947728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2500560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3783722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223351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30332462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20351368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12537139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24</a:t>
            </a:fld>
            <a:endParaRPr lang="en-US"/>
          </a:p>
        </p:txBody>
      </p:sp>
    </p:spTree>
    <p:extLst>
      <p:ext uri="{BB962C8B-B14F-4D97-AF65-F5344CB8AC3E}">
        <p14:creationId xmlns:p14="http://schemas.microsoft.com/office/powerpoint/2010/main" val="39360007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25</a:t>
            </a:fld>
            <a:endParaRPr lang="en-US"/>
          </a:p>
        </p:txBody>
      </p:sp>
    </p:spTree>
    <p:extLst>
      <p:ext uri="{BB962C8B-B14F-4D97-AF65-F5344CB8AC3E}">
        <p14:creationId xmlns:p14="http://schemas.microsoft.com/office/powerpoint/2010/main" val="38546276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26</a:t>
            </a:fld>
            <a:endParaRPr lang="en-US"/>
          </a:p>
        </p:txBody>
      </p:sp>
    </p:spTree>
    <p:extLst>
      <p:ext uri="{BB962C8B-B14F-4D97-AF65-F5344CB8AC3E}">
        <p14:creationId xmlns:p14="http://schemas.microsoft.com/office/powerpoint/2010/main" val="1955450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27</a:t>
            </a:fld>
            <a:endParaRPr lang="en-US"/>
          </a:p>
        </p:txBody>
      </p:sp>
    </p:spTree>
    <p:extLst>
      <p:ext uri="{BB962C8B-B14F-4D97-AF65-F5344CB8AC3E}">
        <p14:creationId xmlns:p14="http://schemas.microsoft.com/office/powerpoint/2010/main" val="37250207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28</a:t>
            </a:fld>
            <a:endParaRPr lang="en-US"/>
          </a:p>
        </p:txBody>
      </p:sp>
    </p:spTree>
    <p:extLst>
      <p:ext uri="{BB962C8B-B14F-4D97-AF65-F5344CB8AC3E}">
        <p14:creationId xmlns:p14="http://schemas.microsoft.com/office/powerpoint/2010/main" val="32049416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29</a:t>
            </a:fld>
            <a:endParaRPr lang="en-US"/>
          </a:p>
        </p:txBody>
      </p:sp>
    </p:spTree>
    <p:extLst>
      <p:ext uri="{BB962C8B-B14F-4D97-AF65-F5344CB8AC3E}">
        <p14:creationId xmlns:p14="http://schemas.microsoft.com/office/powerpoint/2010/main" val="34172806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30</a:t>
            </a:fld>
            <a:endParaRPr lang="en-US"/>
          </a:p>
        </p:txBody>
      </p:sp>
    </p:spTree>
    <p:extLst>
      <p:ext uri="{BB962C8B-B14F-4D97-AF65-F5344CB8AC3E}">
        <p14:creationId xmlns:p14="http://schemas.microsoft.com/office/powerpoint/2010/main" val="21130560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31</a:t>
            </a:fld>
            <a:endParaRPr lang="en-US"/>
          </a:p>
        </p:txBody>
      </p:sp>
    </p:spTree>
    <p:extLst>
      <p:ext uri="{BB962C8B-B14F-4D97-AF65-F5344CB8AC3E}">
        <p14:creationId xmlns:p14="http://schemas.microsoft.com/office/powerpoint/2010/main" val="28653805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32</a:t>
            </a:fld>
            <a:endParaRPr lang="en-US"/>
          </a:p>
        </p:txBody>
      </p:sp>
    </p:spTree>
    <p:extLst>
      <p:ext uri="{BB962C8B-B14F-4D97-AF65-F5344CB8AC3E}">
        <p14:creationId xmlns:p14="http://schemas.microsoft.com/office/powerpoint/2010/main" val="2797644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emf"/><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9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0.jp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43.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45.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E17C9077-2F0E-4830-9CBB-2CF87E745444}"/>
              </a:ext>
            </a:extLst>
          </p:cNvPr>
          <p:cNvGrpSpPr/>
          <p:nvPr/>
        </p:nvGrpSpPr>
        <p:grpSpPr>
          <a:xfrm>
            <a:off x="990598" y="1809823"/>
            <a:ext cx="22808130" cy="11677577"/>
            <a:chOff x="1447797" y="1793819"/>
            <a:chExt cx="22808130" cy="11677577"/>
          </a:xfrm>
        </p:grpSpPr>
        <p:grpSp>
          <p:nvGrpSpPr>
            <p:cNvPr id="69" name="Group 68"/>
            <p:cNvGrpSpPr/>
            <p:nvPr/>
          </p:nvGrpSpPr>
          <p:grpSpPr>
            <a:xfrm>
              <a:off x="1575873" y="1797127"/>
              <a:ext cx="22680054" cy="11674269"/>
              <a:chOff x="-3538955" y="3448230"/>
              <a:chExt cx="22680054" cy="11674269"/>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a:ea typeface="+mn-ea"/>
                  <a:cs typeface="+mn-cs"/>
                </a:endParaRPr>
              </a:p>
            </p:txBody>
          </p:sp>
          <p:grpSp>
            <p:nvGrpSpPr>
              <p:cNvPr id="71" name="Group 70"/>
              <p:cNvGrpSpPr/>
              <p:nvPr/>
            </p:nvGrpSpPr>
            <p:grpSpPr>
              <a:xfrm>
                <a:off x="-3538955" y="3448230"/>
                <a:ext cx="22680054" cy="11674269"/>
                <a:chOff x="-3538955" y="3448230"/>
                <a:chExt cx="22680054" cy="11674269"/>
              </a:xfrm>
            </p:grpSpPr>
            <p:sp>
              <p:nvSpPr>
                <p:cNvPr id="72" name="Rounded Rectangle 71"/>
                <p:cNvSpPr/>
                <p:nvPr/>
              </p:nvSpPr>
              <p:spPr>
                <a:xfrm>
                  <a:off x="-3538955" y="3592713"/>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6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marL="0" marR="0" lvl="0" indent="0" algn="ctr" defTabSz="2177278" rtl="0" eaLnBrk="1" fontAlgn="auto" latinLnBrk="0" hangingPunct="1">
                    <a:lnSpc>
                      <a:spcPct val="100000"/>
                    </a:lnSpc>
                    <a:spcBef>
                      <a:spcPct val="50000"/>
                    </a:spcBef>
                    <a:spcAft>
                      <a:spcPts val="0"/>
                    </a:spcAft>
                    <a:buClrTx/>
                    <a:buSzTx/>
                    <a:buFontTx/>
                    <a:buNone/>
                    <a:tabLst/>
                    <a:defRPr/>
                  </a:pPr>
                  <a:r>
                    <a:rPr kumimoji="0" lang="en-US" sz="5400" b="1" i="0" u="none" strike="noStrike" kern="1200" cap="all" spc="0" normalizeH="0" baseline="0" noProof="0" dirty="0">
                      <a:ln w="0"/>
                      <a:solidFill>
                        <a:prstClr val="white"/>
                      </a:solidFill>
                      <a:effectLst>
                        <a:reflection blurRad="12700" stA="50000" endPos="50000" dist="5000" dir="5400000" sy="-100000" rotWithShape="0"/>
                      </a:effectLst>
                      <a:uLnTx/>
                      <a:uFillTx/>
                      <a:latin typeface="Tahoma" pitchFamily="34" charset="0"/>
                      <a:ea typeface="Tahoma" pitchFamily="34" charset="0"/>
                      <a:cs typeface="Tahoma" pitchFamily="34" charset="0"/>
                    </a:rPr>
                    <a:t>CHƯƠNG I</a:t>
                  </a:r>
                </a:p>
              </p:txBody>
            </p:sp>
          </p:grpSp>
        </p:grpSp>
        <p:sp>
          <p:nvSpPr>
            <p:cNvPr id="74" name="Right Triangle 73"/>
            <p:cNvSpPr/>
            <p:nvPr/>
          </p:nvSpPr>
          <p:spPr>
            <a:xfrm flipH="1">
              <a:off x="3124199"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a:ea typeface="+mn-ea"/>
                <a:cs typeface="+mn-cs"/>
              </a:endParaRPr>
            </a:p>
          </p:txBody>
        </p:sp>
        <p:sp>
          <p:nvSpPr>
            <p:cNvPr id="96" name="Round Same Side Corner Rectangle 95"/>
            <p:cNvSpPr/>
            <p:nvPr/>
          </p:nvSpPr>
          <p:spPr>
            <a:xfrm flipV="1">
              <a:off x="3317576" y="1795947"/>
              <a:ext cx="18018423"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a:ea typeface="+mn-ea"/>
                <a:cs typeface="+mn-cs"/>
              </a:endParaRPr>
            </a:p>
          </p:txBody>
        </p:sp>
        <p:sp>
          <p:nvSpPr>
            <p:cNvPr id="98" name="TextBox 97"/>
            <p:cNvSpPr txBox="1"/>
            <p:nvPr/>
          </p:nvSpPr>
          <p:spPr>
            <a:xfrm>
              <a:off x="3419336" y="1881221"/>
              <a:ext cx="18069345" cy="83099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rPr>
                <a:t>CHƯƠNG I</a:t>
              </a:r>
              <a:r>
                <a:rPr kumimoji="0" lang="en-US" sz="4800" b="1" i="0" u="none" strike="noStrike" kern="1200" cap="none" spc="0" normalizeH="0" baseline="0" noProof="0" dirty="0">
                  <a:ln>
                    <a:noFill/>
                  </a:ln>
                  <a:solidFill>
                    <a:srgbClr val="C00000"/>
                  </a:solidFill>
                  <a:effectLst/>
                  <a:uLnTx/>
                  <a:uFillTx/>
                  <a:latin typeface="Times New Roman" panose="02020603050405020304" pitchFamily="18" charset="0"/>
                  <a:ea typeface="Tahoma" panose="020B0604030504040204" pitchFamily="34" charset="0"/>
                  <a:cs typeface="Times New Roman" panose="02020603050405020304" pitchFamily="18" charset="0"/>
                </a:rPr>
                <a:t>X</a:t>
              </a:r>
              <a:r>
                <a:rPr kumimoji="0" lang="vi-VN" sz="4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t>
              </a:r>
              <a:r>
                <a:rPr kumimoji="0" lang="en-US" sz="4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TÍNH XÁC SUẤT THEO ĐỊNH NGHĨA CỔ ĐIỂN</a:t>
              </a:r>
              <a:endParaRPr kumimoji="0" lang="vi-VN" sz="4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447800" y="7765130"/>
              <a:ext cx="12066799" cy="830571"/>
              <a:chOff x="7459670" y="9587370"/>
              <a:chExt cx="12068197" cy="830667"/>
            </a:xfrm>
          </p:grpSpPr>
          <p:sp>
            <p:nvSpPr>
              <p:cNvPr id="57" name="Rectangle 56"/>
              <p:cNvSpPr/>
              <p:nvPr/>
            </p:nvSpPr>
            <p:spPr>
              <a:xfrm>
                <a:off x="9177360" y="9602335"/>
                <a:ext cx="10350507" cy="815702"/>
              </a:xfrm>
              <a:prstGeom prst="rect">
                <a:avLst/>
              </a:prstGeom>
            </p:spPr>
            <p:txBody>
              <a:bodyPr wrap="none">
                <a:spAutoFit/>
              </a:bodyPr>
              <a:lstStyle/>
              <a:p>
                <a:pPr marL="0" marR="0" lvl="0" indent="0" algn="l" defTabSz="2177278" rtl="0" eaLnBrk="1" fontAlgn="auto" latinLnBrk="0" hangingPunct="1">
                  <a:lnSpc>
                    <a:spcPct val="100000"/>
                  </a:lnSpc>
                  <a:spcBef>
                    <a:spcPct val="0"/>
                  </a:spcBef>
                  <a:spcAft>
                    <a:spcPts val="0"/>
                  </a:spcAft>
                  <a:buClrTx/>
                  <a:buSzTx/>
                  <a:buFontTx/>
                  <a:buNone/>
                  <a:tabLst/>
                  <a:defRPr/>
                </a:pPr>
                <a:r>
                  <a:rPr kumimoji="0" lang="en-US" sz="4700" b="1" i="0" u="none" strike="noStrike" kern="1200" cap="none" spc="0" normalizeH="0" baseline="0" noProof="0" dirty="0">
                    <a:ln>
                      <a:noFill/>
                    </a:ln>
                    <a:solidFill>
                      <a:srgbClr val="242452"/>
                    </a:solidFill>
                    <a:effectLst/>
                    <a:uLnTx/>
                    <a:uFillTx/>
                    <a:latin typeface="Tahoma" panose="020B0604030504040204" pitchFamily="34" charset="0"/>
                    <a:ea typeface="Tahoma" panose="020B0604030504040204" pitchFamily="34" charset="0"/>
                    <a:cs typeface="Tahoma" panose="020B0604030504040204" pitchFamily="34" charset="0"/>
                  </a:rPr>
                  <a:t>SỬ DỤNG PHƯƠNG PHÁP TỔ HỢP</a:t>
                </a:r>
              </a:p>
            </p:txBody>
          </p:sp>
          <p:grpSp>
            <p:nvGrpSpPr>
              <p:cNvPr id="58" name="Group 26"/>
              <p:cNvGrpSpPr/>
              <p:nvPr/>
            </p:nvGrpSpPr>
            <p:grpSpPr>
              <a:xfrm>
                <a:off x="7459670" y="9587370"/>
                <a:ext cx="1383019" cy="815717"/>
                <a:chOff x="7459663" y="10044570"/>
                <a:chExt cx="1371600" cy="815717"/>
              </a:xfrm>
            </p:grpSpPr>
            <p:sp>
              <p:nvSpPr>
                <p:cNvPr id="59" name="Isosceles Triangle 44"/>
                <p:cNvSpPr/>
                <p:nvPr/>
              </p:nvSpPr>
              <p:spPr>
                <a:xfrm rot="16200000">
                  <a:off x="7532451" y="1003430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59663" y="10113401"/>
                  <a:ext cx="1371600" cy="746886"/>
                  <a:chOff x="7459663" y="10113401"/>
                  <a:chExt cx="1371600" cy="746886"/>
                </a:xfrm>
              </p:grpSpPr>
              <p:sp>
                <p:nvSpPr>
                  <p:cNvPr id="61" name="Round Same Side Corner Rectangle 60"/>
                  <p:cNvSpPr/>
                  <p:nvPr/>
                </p:nvSpPr>
                <p:spPr>
                  <a:xfrm rot="5400000">
                    <a:off x="7779703" y="9808727"/>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8052504" y="10113401"/>
                    <a:ext cx="507514" cy="707968"/>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1</a:t>
                    </a:r>
                    <a:endParaRPr kumimoji="0" lang="en-US" sz="40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63" name="Group 67"/>
            <p:cNvGrpSpPr/>
            <p:nvPr/>
          </p:nvGrpSpPr>
          <p:grpSpPr>
            <a:xfrm>
              <a:off x="1447797" y="8814033"/>
              <a:ext cx="9662358" cy="929775"/>
              <a:chOff x="7459670" y="8524495"/>
              <a:chExt cx="9663482" cy="929882"/>
            </a:xfrm>
          </p:grpSpPr>
          <p:sp>
            <p:nvSpPr>
              <p:cNvPr id="75" name="Rectangle 74"/>
              <p:cNvSpPr/>
              <p:nvPr/>
            </p:nvSpPr>
            <p:spPr>
              <a:xfrm>
                <a:off x="9092456" y="8638675"/>
                <a:ext cx="8030696" cy="815702"/>
              </a:xfrm>
              <a:prstGeom prst="rect">
                <a:avLst/>
              </a:prstGeom>
            </p:spPr>
            <p:txBody>
              <a:bodyPr wrap="none">
                <a:spAutoFit/>
              </a:bodyPr>
              <a:lstStyle/>
              <a:p>
                <a:pPr marL="0" marR="0" lvl="0" indent="0" algn="l" defTabSz="2177278" rtl="0" eaLnBrk="1" fontAlgn="auto" latinLnBrk="0" hangingPunct="1">
                  <a:lnSpc>
                    <a:spcPct val="100000"/>
                  </a:lnSpc>
                  <a:spcBef>
                    <a:spcPct val="0"/>
                  </a:spcBef>
                  <a:spcAft>
                    <a:spcPts val="0"/>
                  </a:spcAft>
                  <a:buClrTx/>
                  <a:buSzTx/>
                  <a:buFontTx/>
                  <a:buNone/>
                  <a:tabLst/>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SỬ DỤNG SƠ ĐỒ HÌNH CÂY</a:t>
                </a:r>
                <a:endParaRPr kumimoji="0" lang="en-US" sz="4700" b="1" i="0" u="none" strike="noStrike" kern="1200" cap="none" spc="-150" normalizeH="0" baseline="0" noProof="0" dirty="0">
                  <a:ln>
                    <a:noFill/>
                  </a:ln>
                  <a:solidFill>
                    <a:srgbClr val="242452"/>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76" name="Group 32"/>
              <p:cNvGrpSpPr/>
              <p:nvPr/>
            </p:nvGrpSpPr>
            <p:grpSpPr>
              <a:xfrm>
                <a:off x="7459670" y="8524495"/>
                <a:ext cx="1392615" cy="872846"/>
                <a:chOff x="7459669" y="7543800"/>
                <a:chExt cx="1381118" cy="872846"/>
              </a:xfrm>
            </p:grpSpPr>
            <p:sp>
              <p:nvSpPr>
                <p:cNvPr id="77"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69187" y="7685126"/>
                  <a:ext cx="1371600" cy="731520"/>
                  <a:chOff x="7469187" y="7685126"/>
                  <a:chExt cx="1371600" cy="731520"/>
                </a:xfrm>
              </p:grpSpPr>
              <p:sp>
                <p:nvSpPr>
                  <p:cNvPr id="79" name="Round Same Side Corner Rectangle 78"/>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58806" y="7688759"/>
                    <a:ext cx="507513" cy="707967"/>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2</a:t>
                    </a:r>
                  </a:p>
                </p:txBody>
              </p:sp>
            </p:grpSp>
          </p:grpSp>
        </p:grpSp>
        <p:sp>
          <p:nvSpPr>
            <p:cNvPr id="53" name="TextBox 52"/>
            <p:cNvSpPr txBox="1"/>
            <p:nvPr/>
          </p:nvSpPr>
          <p:spPr>
            <a:xfrm>
              <a:off x="1951033" y="10163800"/>
              <a:ext cx="511679" cy="707886"/>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3</a:t>
              </a:r>
              <a:endParaRPr kumimoji="0" lang="en-US" sz="40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2708091" y="3025810"/>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a:ln>
                  <a:noFill/>
                </a:ln>
                <a:solidFill>
                  <a:srgbClr val="FF0000"/>
                </a:solidFill>
                <a:effectLst>
                  <a:glow rad="76200">
                    <a:srgbClr val="FFFF00">
                      <a:alpha val="47000"/>
                    </a:srgbClr>
                  </a:glow>
                  <a:outerShdw blurRad="50800" dist="38100" dir="18900000" algn="bl" rotWithShape="0">
                    <a:srgbClr val="0000CC">
                      <a:alpha val="40000"/>
                    </a:srgbClr>
                  </a:outerShdw>
                </a:effectLst>
                <a:uLnTx/>
                <a:uFillTx/>
                <a:latin typeface="Bahnschrift SemiBold SemiConden" panose="020B0502040204020203" pitchFamily="34" charset="0"/>
                <a:ea typeface="+mn-ea"/>
                <a:cs typeface="+mn-cs"/>
                <a:sym typeface="Baumans"/>
              </a:rPr>
              <a:t>TOÁN ĐẠI SỐ  </a:t>
            </a:r>
            <a:endParaRPr kumimoji="0" sz="6000" b="0" i="0" u="none" strike="noStrike" kern="1200" cap="none" spc="0" normalizeH="0" baseline="0" noProof="0" dirty="0">
              <a:ln>
                <a:noFill/>
              </a:ln>
              <a:solidFill>
                <a:srgbClr val="FF0000"/>
              </a:solidFill>
              <a:effectLst>
                <a:glow rad="76200">
                  <a:srgbClr val="FFFF00">
                    <a:alpha val="47000"/>
                  </a:srgbClr>
                </a:glow>
                <a:outerShdw blurRad="50800" dist="38100" dir="18900000" algn="bl" rotWithShape="0">
                  <a:srgbClr val="0000CC">
                    <a:alpha val="40000"/>
                  </a:srgbClr>
                </a:outerShdw>
              </a:effectLst>
              <a:uLnTx/>
              <a:uFillTx/>
              <a:latin typeface="Bahnschrift SemiBold SemiConden" panose="020B0502040204020203" pitchFamily="34" charset="0"/>
              <a:ea typeface="+mn-ea"/>
              <a:cs typeface="+mn-cs"/>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3984393" y="3916047"/>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a:ea typeface="+mn-ea"/>
                  <a:cs typeface="+mn-cs"/>
                </a:endParaRPr>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a:ea typeface="+mn-ea"/>
                  <a:cs typeface="+mn-cs"/>
                </a:endParaRPr>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a:ln>
                    <a:noFill/>
                  </a:ln>
                  <a:solidFill>
                    <a:prstClr val="white"/>
                  </a:solidFill>
                  <a:effectLst/>
                  <a:uLnTx/>
                  <a:uFillTx/>
                  <a:latin typeface="Yu Gothic UI Semilight" panose="020B0400000000000000" pitchFamily="34" charset="-128"/>
                  <a:ea typeface="Yu Gothic UI Semilight" panose="020B0400000000000000" pitchFamily="34" charset="-128"/>
                  <a:cs typeface="+mn-cs"/>
                </a:rPr>
                <a:t>➉</a:t>
              </a:r>
              <a:endParaRPr kumimoji="0" sz="80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112" name="Group 111">
            <a:extLst>
              <a:ext uri="{FF2B5EF4-FFF2-40B4-BE49-F238E27FC236}">
                <a16:creationId xmlns:a16="http://schemas.microsoft.com/office/drawing/2014/main" id="{1F6311BF-A4CF-4E55-85D0-0A86514BB33B}"/>
              </a:ext>
            </a:extLst>
          </p:cNvPr>
          <p:cNvGrpSpPr/>
          <p:nvPr/>
        </p:nvGrpSpPr>
        <p:grpSpPr>
          <a:xfrm>
            <a:off x="6897768" y="3080726"/>
            <a:ext cx="17013541" cy="2746159"/>
            <a:chOff x="71819" y="148683"/>
            <a:chExt cx="6507659" cy="893768"/>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71819" y="148683"/>
              <a:ext cx="6507659"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67645" y="236444"/>
              <a:ext cx="4239341" cy="595896"/>
            </a:xfrm>
            <a:prstGeom prst="rect">
              <a:avLst/>
            </a:prstGeom>
            <a:noFill/>
          </p:spPr>
          <p:txBody>
            <a:bodyPr wrap="square" rtlCol="0">
              <a:noAutofit/>
            </a:bodyPr>
            <a:lstStyle/>
            <a:p>
              <a:pPr marL="0" marR="0" lvl="0" indent="0" algn="ctr" defTabSz="2177278" rtl="0" eaLnBrk="1" fontAlgn="auto" latinLnBrk="0" hangingPunct="1">
                <a:lnSpc>
                  <a:spcPct val="106000"/>
                </a:lnSpc>
                <a:spcBef>
                  <a:spcPts val="0"/>
                </a:spcBef>
                <a:spcAft>
                  <a:spcPts val="800"/>
                </a:spcAft>
                <a:buClrTx/>
                <a:buSzTx/>
                <a:buFontTx/>
                <a:buNone/>
                <a:tabLst/>
                <a:defRPr/>
              </a:pPr>
              <a:r>
                <a:rPr kumimoji="0" lang="en-US" sz="5800" b="1" i="0" u="none" strike="noStrike" kern="1200" cap="none" spc="0" normalizeH="0" baseline="0" noProof="0" dirty="0">
                  <a:ln>
                    <a:noFill/>
                  </a:ln>
                  <a:solidFill>
                    <a:srgbClr val="FCFFEF"/>
                  </a:solidFill>
                  <a:effectLst/>
                  <a:uLnTx/>
                  <a:uFillTx/>
                  <a:latin typeface="Tahoma" panose="020B0604030504040204" pitchFamily="34" charset="0"/>
                  <a:ea typeface="Tahoma" panose="020B0604030504040204" pitchFamily="34" charset="0"/>
                  <a:cs typeface="Tahoma" panose="020B0604030504040204" pitchFamily="34" charset="0"/>
                </a:rPr>
                <a:t>THỰC HÀNH TÍNH XÁC SUẤT THEO ĐỊNH NGHĨA CỔ ĐIỂN</a:t>
              </a:r>
              <a:endParaRPr kumimoji="0" lang="en-US" sz="5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471861" y="169967"/>
              <a:ext cx="715323" cy="872484"/>
            </a:xfrm>
            <a:prstGeom prst="rect">
              <a:avLst/>
            </a:prstGeom>
            <a:noFill/>
          </p:spPr>
          <p:txBody>
            <a:bodyPr wrap="square" rtlCol="0">
              <a:noAutofit/>
            </a:bodyPr>
            <a:lstStyle/>
            <a:p>
              <a:pPr marL="0" marR="0" lvl="0" indent="0" algn="ctr" defTabSz="2177278" rtl="0" eaLnBrk="1" fontAlgn="auto" latinLnBrk="0" hangingPunct="1">
                <a:lnSpc>
                  <a:spcPct val="106000"/>
                </a:lnSpc>
                <a:spcBef>
                  <a:spcPts val="0"/>
                </a:spcBef>
                <a:spcAft>
                  <a:spcPts val="800"/>
                </a:spcAft>
                <a:buClrTx/>
                <a:buSzTx/>
                <a:buFontTx/>
                <a:buNone/>
                <a:tabLst/>
                <a:defRPr/>
              </a:pPr>
              <a:r>
                <a:rPr kumimoji="0" lang="en-US" sz="8800" b="1" i="0" u="none" strike="noStrike" kern="1200" cap="none" spc="0" normalizeH="0" baseline="0" noProof="0" dirty="0">
                  <a:ln>
                    <a:noFill/>
                  </a:ln>
                  <a:solidFill>
                    <a:srgbClr val="FFFFFF"/>
                  </a:solidFill>
                  <a:effectLst/>
                  <a:uLnTx/>
                  <a:uFillTx/>
                  <a:latin typeface="Calibri" panose="020F0502020204030204" pitchFamily="34" charset="0"/>
                  <a:ea typeface="Cascadia Mono" panose="020B0609020000020004" pitchFamily="49" charset="0"/>
                  <a:cs typeface="Times New Roman" panose="02020603050405020304" pitchFamily="18" charset="0"/>
                </a:rPr>
                <a:t>27</a:t>
              </a:r>
              <a:endParaRPr kumimoji="0" lang="en-US" sz="8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39" name="Rectangle 38">
            <a:extLst>
              <a:ext uri="{FF2B5EF4-FFF2-40B4-BE49-F238E27FC236}">
                <a16:creationId xmlns:a16="http://schemas.microsoft.com/office/drawing/2014/main" id="{1CCAF326-A057-8A8C-64B5-465D4EE7B987}"/>
              </a:ext>
            </a:extLst>
          </p:cNvPr>
          <p:cNvSpPr/>
          <p:nvPr/>
        </p:nvSpPr>
        <p:spPr>
          <a:xfrm>
            <a:off x="2623194" y="10276606"/>
            <a:ext cx="8329524" cy="815608"/>
          </a:xfrm>
          <a:prstGeom prst="rect">
            <a:avLst/>
          </a:prstGeom>
        </p:spPr>
        <p:txBody>
          <a:bodyPr wrap="none">
            <a:spAutoFit/>
          </a:bodyPr>
          <a:lstStyle/>
          <a:p>
            <a:pPr marL="0" marR="0" lvl="0" indent="0" algn="l" defTabSz="2177278" rtl="0" eaLnBrk="1" fontAlgn="auto" latinLnBrk="0" hangingPunct="1">
              <a:lnSpc>
                <a:spcPct val="100000"/>
              </a:lnSpc>
              <a:spcBef>
                <a:spcPct val="0"/>
              </a:spcBef>
              <a:spcAft>
                <a:spcPts val="0"/>
              </a:spcAft>
              <a:buClrTx/>
              <a:buSzTx/>
              <a:buFontTx/>
              <a:buNone/>
              <a:tabLst/>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XÁC SUẤT CỦA BIẾN CỐ ĐỐI</a:t>
            </a:r>
            <a:endParaRPr kumimoji="0" lang="en-US" sz="4700" b="1" i="0" u="none" strike="noStrike" kern="1200" cap="none" spc="-150" normalizeH="0" baseline="0" noProof="0" dirty="0">
              <a:ln>
                <a:noFill/>
              </a:ln>
              <a:solidFill>
                <a:srgbClr val="242452"/>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40" name="Round Same Side Corner Rectangle 78">
            <a:extLst>
              <a:ext uri="{FF2B5EF4-FFF2-40B4-BE49-F238E27FC236}">
                <a16:creationId xmlns:a16="http://schemas.microsoft.com/office/drawing/2014/main" id="{74B9C988-CBD1-3939-DF55-9C932259D5CA}"/>
              </a:ext>
            </a:extLst>
          </p:cNvPr>
          <p:cNvSpPr/>
          <p:nvPr/>
        </p:nvSpPr>
        <p:spPr>
          <a:xfrm rot="5400000">
            <a:off x="1325905" y="9978039"/>
            <a:ext cx="731436" cy="1382857"/>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41" name="TextBox 40">
            <a:extLst>
              <a:ext uri="{FF2B5EF4-FFF2-40B4-BE49-F238E27FC236}">
                <a16:creationId xmlns:a16="http://schemas.microsoft.com/office/drawing/2014/main" id="{A904EEB5-DB17-5C4B-CEB2-671C0D1278DF}"/>
              </a:ext>
            </a:extLst>
          </p:cNvPr>
          <p:cNvSpPr txBox="1"/>
          <p:nvPr/>
        </p:nvSpPr>
        <p:spPr>
          <a:xfrm>
            <a:off x="1524000" y="10264914"/>
            <a:ext cx="511679" cy="707886"/>
          </a:xfrm>
          <a:prstGeom prst="rect">
            <a:avLst/>
          </a:prstGeom>
          <a:noFill/>
        </p:spPr>
        <p:txBody>
          <a:bodyPr wrap="non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3</a:t>
            </a:r>
          </a:p>
        </p:txBody>
      </p:sp>
      <p:sp>
        <p:nvSpPr>
          <p:cNvPr id="42" name="Rectangle 41">
            <a:extLst>
              <a:ext uri="{FF2B5EF4-FFF2-40B4-BE49-F238E27FC236}">
                <a16:creationId xmlns:a16="http://schemas.microsoft.com/office/drawing/2014/main" id="{660B61B4-7CDC-E023-E09B-83F011FE58F0}"/>
              </a:ext>
            </a:extLst>
          </p:cNvPr>
          <p:cNvSpPr/>
          <p:nvPr/>
        </p:nvSpPr>
        <p:spPr>
          <a:xfrm>
            <a:off x="2733006" y="11688803"/>
            <a:ext cx="2520242" cy="815608"/>
          </a:xfrm>
          <a:prstGeom prst="rect">
            <a:avLst/>
          </a:prstGeom>
        </p:spPr>
        <p:txBody>
          <a:bodyPr wrap="none">
            <a:spAutoFit/>
          </a:bodyPr>
          <a:lstStyle/>
          <a:p>
            <a:pPr marL="0" marR="0" lvl="0" indent="0" algn="l" defTabSz="2177278" rtl="0" eaLnBrk="1" fontAlgn="auto" latinLnBrk="0" hangingPunct="1">
              <a:lnSpc>
                <a:spcPct val="100000"/>
              </a:lnSpc>
              <a:spcBef>
                <a:spcPct val="0"/>
              </a:spcBef>
              <a:spcAft>
                <a:spcPts val="0"/>
              </a:spcAft>
              <a:buClrTx/>
              <a:buSzTx/>
              <a:buFontTx/>
              <a:buNone/>
              <a:tabLst/>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BÀI TẬP</a:t>
            </a:r>
            <a:endParaRPr kumimoji="0" lang="en-US" sz="4700" b="1" i="0" u="none" strike="noStrike" kern="1200" cap="none" spc="-150" normalizeH="0" baseline="0" noProof="0" dirty="0">
              <a:ln>
                <a:noFill/>
              </a:ln>
              <a:solidFill>
                <a:srgbClr val="242452"/>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0426080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 name="Group 6">
            <a:extLst>
              <a:ext uri="{FF2B5EF4-FFF2-40B4-BE49-F238E27FC236}">
                <a16:creationId xmlns:a16="http://schemas.microsoft.com/office/drawing/2014/main" id="{9FEA0747-DF74-931A-F3C0-8CA5264B24DC}"/>
              </a:ext>
            </a:extLst>
          </p:cNvPr>
          <p:cNvGrpSpPr/>
          <p:nvPr/>
        </p:nvGrpSpPr>
        <p:grpSpPr>
          <a:xfrm>
            <a:off x="195471" y="2404632"/>
            <a:ext cx="23698200" cy="3559420"/>
            <a:chOff x="-15328" y="92326"/>
            <a:chExt cx="10964237" cy="1814341"/>
          </a:xfrm>
          <a:solidFill>
            <a:schemeClr val="bg2"/>
          </a:solidFill>
        </p:grpSpPr>
        <mc:AlternateContent xmlns:mc="http://schemas.openxmlformats.org/markup-compatibility/2006" xmlns:a14="http://schemas.microsoft.com/office/drawing/2010/main">
          <mc:Choice Requires="a14">
            <p:sp>
              <p:nvSpPr>
                <p:cNvPr id="8" name="TextBox 321">
                  <a:extLst>
                    <a:ext uri="{FF2B5EF4-FFF2-40B4-BE49-F238E27FC236}">
                      <a16:creationId xmlns:a16="http://schemas.microsoft.com/office/drawing/2014/main" id="{3ED730EE-1433-A98D-E05B-48BF0657C5AA}"/>
                    </a:ext>
                  </a:extLst>
                </p:cNvPr>
                <p:cNvSpPr txBox="1"/>
                <p:nvPr/>
              </p:nvSpPr>
              <p:spPr>
                <a:xfrm>
                  <a:off x="-15328" y="197646"/>
                  <a:ext cx="10964237" cy="1709021"/>
                </a:xfrm>
                <a:prstGeom prst="rect">
                  <a:avLst/>
                </a:prstGeom>
                <a:grpFill/>
              </p:spPr>
              <p:txBody>
                <a:bodyPr wrap="square" rtlCol="0">
                  <a:noAutofit/>
                </a:bodyPr>
                <a:lstStyle/>
                <a:p>
                  <a:pPr>
                    <a:lnSpc>
                      <a:spcPct val="107000"/>
                    </a:lnSpc>
                    <a:spcAft>
                      <a:spcPts val="800"/>
                    </a:spcAft>
                  </a:pPr>
                  <a:r>
                    <a:rPr lang="vi-VN" sz="4000" b="1" kern="1200" dirty="0">
                      <a:solidFill>
                        <a:srgbClr val="FF0000"/>
                      </a:solidFill>
                      <a:effectLst/>
                      <a:latin typeface="Times New Roman" panose="02020603050405020304" pitchFamily="18" charset="0"/>
                      <a:ea typeface="Cascadia Mono"/>
                      <a:cs typeface="Times New Roman" panose="02020603050405020304" pitchFamily="18" charset="0"/>
                    </a:rPr>
                    <a:t>           </a:t>
                  </a:r>
                  <a:r>
                    <a:rPr lang="en-US" sz="4000" b="1" kern="1200" dirty="0">
                      <a:solidFill>
                        <a:srgbClr val="FF0000"/>
                      </a:solidFill>
                      <a:effectLst/>
                      <a:latin typeface="Times New Roman" panose="02020603050405020304" pitchFamily="18" charset="0"/>
                      <a:ea typeface="Cascadia Mono"/>
                      <a:cs typeface="Times New Roman" panose="02020603050405020304" pitchFamily="18" charset="0"/>
                    </a:rPr>
                    <a:t>HĐ1: </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Theo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nghĩa</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cổ</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điển</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xác</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suất</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đề</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tính</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xác</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suất</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biến</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cố</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Bạn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trúng</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giải</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độc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đắc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biến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cố</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G.</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Bạn</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An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trúng</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giải</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nhất</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ta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cần</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xác</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2C2A29"/>
                              </a:solidFill>
                              <a:effectLst/>
                              <a:latin typeface="Cambria Math" panose="02040503050406030204" pitchFamily="18" charset="0"/>
                              <a:cs typeface="Times New Roman" panose="02020603050405020304" pitchFamily="18" charset="0"/>
                            </a:rPr>
                          </m:ctrlPr>
                        </m:dPr>
                        <m:e>
                          <m: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𝜴</m:t>
                          </m:r>
                        </m:e>
                      </m:d>
                      <m: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2C2A29"/>
                              </a:solidFill>
                              <a:effectLst/>
                              <a:latin typeface="Cambria Math" panose="02040503050406030204" pitchFamily="18" charset="0"/>
                              <a:cs typeface="Times New Roman" panose="02020603050405020304" pitchFamily="18" charset="0"/>
                            </a:rPr>
                          </m:ctrlPr>
                        </m:dPr>
                        <m:e>
                          <m: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𝑭</m:t>
                          </m:r>
                        </m:e>
                      </m:d>
                    </m:oMath>
                  </a14:m>
                  <a:r>
                    <a:rPr lang="en-US" sz="4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4800" b="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và</a:t>
                  </a:r>
                  <a:r>
                    <a:rPr lang="en-US" sz="4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000000"/>
                              </a:solidFill>
                              <a:effectLst/>
                              <a:latin typeface="Cambria Math" panose="02040503050406030204" pitchFamily="18" charset="0"/>
                              <a:cs typeface="Times New Roman" panose="02020603050405020304" pitchFamily="18" charset="0"/>
                            </a:rPr>
                          </m:ctrlPr>
                        </m:d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𝑮</m:t>
                          </m:r>
                        </m:e>
                      </m:d>
                    </m:oMath>
                  </a14:m>
                  <a:r>
                    <a:rPr lang="en-US" sz="4800" b="1"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Liệu</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thể</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tính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bằng</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cách</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liệt</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kê</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ra</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hết</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tử</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cùa</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t> </a:t>
                  </a:r>
                  <a14:m>
                    <m:oMath xmlns:m="http://schemas.openxmlformats.org/officeDocument/2006/math">
                      <m:r>
                        <a:rPr lang="en-US" sz="4800" b="1" i="1">
                          <a:latin typeface="Cambria Math" panose="02040503050406030204" pitchFamily="18" charset="0"/>
                        </a:rPr>
                        <m:t>𝜴</m:t>
                      </m:r>
                      <m:r>
                        <a:rPr lang="en-US" sz="4800" b="1" i="1">
                          <a:latin typeface="Cambria Math" panose="02040503050406030204" pitchFamily="18" charset="0"/>
                        </a:rPr>
                        <m:t>,</m:t>
                      </m:r>
                      <m:r>
                        <a:rPr lang="en-US" sz="4800" b="1" i="1">
                          <a:latin typeface="Cambria Math" panose="02040503050406030204" pitchFamily="18" charset="0"/>
                        </a:rPr>
                        <m:t>𝑭</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𝑮</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rồi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kiểm</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đếm</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không</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8" name="TextBox 321">
                  <a:extLst>
                    <a:ext uri="{FF2B5EF4-FFF2-40B4-BE49-F238E27FC236}">
                      <a16:creationId xmlns:a16="http://schemas.microsoft.com/office/drawing/2014/main" id="{3ED730EE-1433-A98D-E05B-48BF0657C5AA}"/>
                    </a:ext>
                  </a:extLst>
                </p:cNvPr>
                <p:cNvSpPr txBox="1">
                  <a:spLocks noRot="1" noChangeAspect="1" noMove="1" noResize="1" noEditPoints="1" noAdjustHandles="1" noChangeArrowheads="1" noChangeShapeType="1" noTextEdit="1"/>
                </p:cNvSpPr>
                <p:nvPr/>
              </p:nvSpPr>
              <p:spPr>
                <a:xfrm>
                  <a:off x="-15328" y="197646"/>
                  <a:ext cx="10964237" cy="1709021"/>
                </a:xfrm>
                <a:prstGeom prst="rect">
                  <a:avLst/>
                </a:prstGeom>
                <a:blipFill>
                  <a:blip r:embed="rId3"/>
                  <a:stretch>
                    <a:fillRect l="-1157" t="-4182" r="-1106" b="-7273"/>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EA3C882E-F886-EDF8-C4AA-5C1105CC3513}"/>
                </a:ext>
              </a:extLst>
            </p:cNvPr>
            <p:cNvGrpSpPr/>
            <p:nvPr/>
          </p:nvGrpSpPr>
          <p:grpSpPr>
            <a:xfrm>
              <a:off x="0" y="92326"/>
              <a:ext cx="627012" cy="197663"/>
              <a:chOff x="0" y="92326"/>
              <a:chExt cx="575416" cy="197663"/>
            </a:xfrm>
            <a:grpFill/>
          </p:grpSpPr>
          <p:grpSp>
            <p:nvGrpSpPr>
              <p:cNvPr id="10" name="Group 9">
                <a:extLst>
                  <a:ext uri="{FF2B5EF4-FFF2-40B4-BE49-F238E27FC236}">
                    <a16:creationId xmlns:a16="http://schemas.microsoft.com/office/drawing/2014/main" id="{8FF25404-D973-A0FD-4AA9-A62B4895691C}"/>
                  </a:ext>
                </a:extLst>
              </p:cNvPr>
              <p:cNvGrpSpPr/>
              <p:nvPr/>
            </p:nvGrpSpPr>
            <p:grpSpPr>
              <a:xfrm>
                <a:off x="0" y="92326"/>
                <a:ext cx="575416" cy="197663"/>
                <a:chOff x="0" y="92326"/>
                <a:chExt cx="644449" cy="302837"/>
              </a:xfrm>
              <a:grpFill/>
            </p:grpSpPr>
            <p:sp>
              <p:nvSpPr>
                <p:cNvPr id="16" name="Arrow: Pentagon 15">
                  <a:extLst>
                    <a:ext uri="{FF2B5EF4-FFF2-40B4-BE49-F238E27FC236}">
                      <a16:creationId xmlns:a16="http://schemas.microsoft.com/office/drawing/2014/main" id="{65309179-E6BE-6942-01AB-E3D7D6301C03}"/>
                    </a:ext>
                  </a:extLst>
                </p:cNvPr>
                <p:cNvSpPr/>
                <p:nvPr/>
              </p:nvSpPr>
              <p:spPr>
                <a:xfrm>
                  <a:off x="0" y="103807"/>
                  <a:ext cx="420648" cy="2913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7" name="Arrow: Chevron 16">
                  <a:extLst>
                    <a:ext uri="{FF2B5EF4-FFF2-40B4-BE49-F238E27FC236}">
                      <a16:creationId xmlns:a16="http://schemas.microsoft.com/office/drawing/2014/main" id="{257B274A-E606-259A-C5D3-F4E9A0B54679}"/>
                    </a:ext>
                  </a:extLst>
                </p:cNvPr>
                <p:cNvSpPr/>
                <p:nvPr/>
              </p:nvSpPr>
              <p:spPr>
                <a:xfrm>
                  <a:off x="380243" y="92326"/>
                  <a:ext cx="169459" cy="291671"/>
                </a:xfrm>
                <a:prstGeom prst="chevron">
                  <a:avLst>
                    <a:gd name="adj" fmla="val 83506"/>
                  </a:avLst>
                </a:prstGeom>
                <a:grp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8" name="Arrow: Chevron 17">
                  <a:extLst>
                    <a:ext uri="{FF2B5EF4-FFF2-40B4-BE49-F238E27FC236}">
                      <a16:creationId xmlns:a16="http://schemas.microsoft.com/office/drawing/2014/main" id="{28FE571D-3B47-A524-66C3-9A10EB81AE65}"/>
                    </a:ext>
                  </a:extLst>
                </p:cNvPr>
                <p:cNvSpPr/>
                <p:nvPr/>
              </p:nvSpPr>
              <p:spPr>
                <a:xfrm>
                  <a:off x="474990" y="92326"/>
                  <a:ext cx="169459" cy="291671"/>
                </a:xfrm>
                <a:prstGeom prst="chevron">
                  <a:avLst>
                    <a:gd name="adj" fmla="val 83506"/>
                  </a:avLst>
                </a:prstGeom>
                <a:grp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sp>
            <p:nvSpPr>
              <p:cNvPr id="12" name="Flowchart: Terminator 11">
                <a:extLst>
                  <a:ext uri="{FF2B5EF4-FFF2-40B4-BE49-F238E27FC236}">
                    <a16:creationId xmlns:a16="http://schemas.microsoft.com/office/drawing/2014/main" id="{304D7D04-5BE8-D3B6-0108-648C096FE59E}"/>
                  </a:ext>
                </a:extLst>
              </p:cNvPr>
              <p:cNvSpPr/>
              <p:nvPr/>
            </p:nvSpPr>
            <p:spPr>
              <a:xfrm>
                <a:off x="80311" y="137613"/>
                <a:ext cx="253736" cy="115827"/>
              </a:xfrm>
              <a:prstGeom prst="flowChartTermina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sp>
            <p:nvSpPr>
              <p:cNvPr id="14" name="Oval 13">
                <a:extLst>
                  <a:ext uri="{FF2B5EF4-FFF2-40B4-BE49-F238E27FC236}">
                    <a16:creationId xmlns:a16="http://schemas.microsoft.com/office/drawing/2014/main" id="{8F481881-E299-7B77-5024-3C8CA01B3EDE}"/>
                  </a:ext>
                </a:extLst>
              </p:cNvPr>
              <p:cNvSpPr/>
              <p:nvPr/>
            </p:nvSpPr>
            <p:spPr>
              <a:xfrm>
                <a:off x="211660" y="142761"/>
                <a:ext cx="92369" cy="9543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p>
            </p:txBody>
          </p:sp>
        </p:grpSp>
      </p:grpSp>
      <p:sp>
        <p:nvSpPr>
          <p:cNvPr id="33" name="Content Placeholder 2">
            <a:extLst>
              <a:ext uri="{FF2B5EF4-FFF2-40B4-BE49-F238E27FC236}">
                <a16:creationId xmlns:a16="http://schemas.microsoft.com/office/drawing/2014/main" id="{9ED0B0D3-A3DB-01D1-AB63-6FEEA2159E37}"/>
              </a:ext>
            </a:extLst>
          </p:cNvPr>
          <p:cNvSpPr txBox="1">
            <a:spLocks/>
          </p:cNvSpPr>
          <p:nvPr/>
        </p:nvSpPr>
        <p:spPr>
          <a:xfrm>
            <a:off x="198783" y="6019800"/>
            <a:ext cx="23804217" cy="74834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buNone/>
            </a:pPr>
            <a:r>
              <a:rPr lang="en-US" b="1" u="sng" err="1">
                <a:solidFill>
                  <a:srgbClr val="FF0000"/>
                </a:solidFill>
                <a:latin typeface="Times New Roman" panose="02020603050405020304" pitchFamily="18" charset="0"/>
                <a:cs typeface="Times New Roman" panose="02020603050405020304" pitchFamily="18" charset="0"/>
              </a:rPr>
              <a:t>Lời</a:t>
            </a:r>
            <a:r>
              <a:rPr lang="en-US" b="1" u="sng">
                <a:solidFill>
                  <a:srgbClr val="FF0000"/>
                </a:solidFill>
                <a:latin typeface="Times New Roman" panose="02020603050405020304" pitchFamily="18" charset="0"/>
                <a:cs typeface="Times New Roman" panose="02020603050405020304" pitchFamily="18" charset="0"/>
              </a:rPr>
              <a:t> giải</a:t>
            </a:r>
            <a:r>
              <a:rPr lang="vi-VN" b="1" u="sng">
                <a:solidFill>
                  <a:srgbClr val="FF0000"/>
                </a:solidFill>
                <a:latin typeface="Times New Roman" panose="02020603050405020304" pitchFamily="18" charset="0"/>
                <a:cs typeface="Times New Roman" panose="02020603050405020304" pitchFamily="18" charset="0"/>
              </a:rPr>
              <a:t>:</a:t>
            </a:r>
            <a:r>
              <a:rPr lang="vi-VN" b="1">
                <a:latin typeface="Times New Roman" panose="02020603050405020304" pitchFamily="18" charset="0"/>
                <a:cs typeface="Times New Roman" panose="02020603050405020304" pitchFamily="18" charset="0"/>
              </a:rPr>
              <a:t>     </a:t>
            </a:r>
            <a:r>
              <a:rPr lang="en-US" b="1">
                <a:latin typeface="Times New Roman" panose="02020603050405020304" pitchFamily="18" charset="0"/>
                <a:cs typeface="Times New Roman" panose="02020603050405020304" pitchFamily="18" charset="0"/>
              </a:rPr>
              <a:t>Không thể được, vì số các tập con 6 phần tử của tập {1; 2 ;...; 45} là quá lớn.</a:t>
            </a:r>
          </a:p>
          <a:p>
            <a:pPr marL="0" indent="0">
              <a:lnSpc>
                <a:spcPct val="150000"/>
              </a:lnSpc>
              <a:buNone/>
            </a:pPr>
            <a:r>
              <a:rPr lang="en-US" b="1">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a:p>
            <a:pPr lvl="4"/>
            <a:endParaRPr lang="en-US" b="1" dirty="0">
              <a:latin typeface="Times New Roman" panose="02020603050405020304" pitchFamily="18" charset="0"/>
              <a:cs typeface="Times New Roman" panose="02020603050405020304" pitchFamily="18" charset="0"/>
            </a:endParaRPr>
          </a:p>
        </p:txBody>
      </p:sp>
      <p:sp>
        <p:nvSpPr>
          <p:cNvPr id="36" name="Text Box 22">
            <a:extLst>
              <a:ext uri="{FF2B5EF4-FFF2-40B4-BE49-F238E27FC236}">
                <a16:creationId xmlns:a16="http://schemas.microsoft.com/office/drawing/2014/main" id="{88DA78DB-E5CB-4BDB-0554-EE2A343EC520}"/>
              </a:ext>
            </a:extLst>
          </p:cNvPr>
          <p:cNvSpPr txBox="1"/>
          <p:nvPr/>
        </p:nvSpPr>
        <p:spPr>
          <a:xfrm>
            <a:off x="417751" y="7543800"/>
            <a:ext cx="11545649" cy="3505200"/>
          </a:xfrm>
          <a:prstGeom prst="rect">
            <a:avLst/>
          </a:prstGeom>
          <a:solidFill>
            <a:schemeClr val="lt1"/>
          </a:solidFill>
          <a:ln w="19050">
            <a:solidFill>
              <a:srgbClr val="C00000"/>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Trong</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nhiều</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bài</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toán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để</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tính</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tử</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không</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gian</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mẫu</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cùa</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biến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cố</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ta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thường</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sử</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quy</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tắc</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đếm</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thức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tính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hoán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vị</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chình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hợp</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tổ</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hợp</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a:effectLst/>
                <a:latin typeface="Times New Roman" panose="02020603050405020304" pitchFamily="18" charset="0"/>
                <a:ea typeface="Calibri" panose="020F0502020204030204" pitchFamily="34" charset="0"/>
                <a:cs typeface="Times New Roman" panose="02020603050405020304" pitchFamily="18" charset="0"/>
              </a:rPr>
              <a:t> </a:t>
            </a:r>
          </a:p>
        </p:txBody>
      </p:sp>
      <p:pic>
        <p:nvPicPr>
          <p:cNvPr id="37" name="Picture 36">
            <a:extLst>
              <a:ext uri="{FF2B5EF4-FFF2-40B4-BE49-F238E27FC236}">
                <a16:creationId xmlns:a16="http://schemas.microsoft.com/office/drawing/2014/main" id="{377DE3D6-EBA3-FE33-36A1-53AF756BF946}"/>
              </a:ext>
            </a:extLst>
          </p:cNvPr>
          <p:cNvPicPr>
            <a:picLocks noChangeAspect="1"/>
          </p:cNvPicPr>
          <p:nvPr/>
        </p:nvPicPr>
        <p:blipFill>
          <a:blip r:embed="rId4"/>
          <a:stretch>
            <a:fillRect/>
          </a:stretch>
        </p:blipFill>
        <p:spPr>
          <a:xfrm>
            <a:off x="12649200" y="7086600"/>
            <a:ext cx="8991600" cy="5181600"/>
          </a:xfrm>
          <a:prstGeom prst="rect">
            <a:avLst/>
          </a:prstGeom>
        </p:spPr>
      </p:pic>
      <p:sp>
        <p:nvSpPr>
          <p:cNvPr id="19" name="TextBox 18">
            <a:extLst>
              <a:ext uri="{FF2B5EF4-FFF2-40B4-BE49-F238E27FC236}">
                <a16:creationId xmlns:a16="http://schemas.microsoft.com/office/drawing/2014/main" id="{D2311B5C-098F-06A6-9D26-F11C42C0EC66}"/>
              </a:ext>
            </a:extLst>
          </p:cNvPr>
          <p:cNvSpPr txBox="1"/>
          <p:nvPr/>
        </p:nvSpPr>
        <p:spPr>
          <a:xfrm>
            <a:off x="195471" y="1667329"/>
            <a:ext cx="12245008" cy="767261"/>
          </a:xfrm>
          <a:prstGeom prst="rect">
            <a:avLst/>
          </a:prstGeom>
          <a:noFill/>
        </p:spPr>
        <p:txBody>
          <a:bodyPr wrap="square">
            <a:spAutoFit/>
          </a:bodyPr>
          <a:lstStyle/>
          <a:p>
            <a:pPr>
              <a:lnSpc>
                <a:spcPct val="107000"/>
              </a:lnSpc>
              <a:spcAft>
                <a:spcPts val="800"/>
              </a:spcAft>
            </a:pPr>
            <a:r>
              <a:rPr lang="en-US" sz="4400" b="1">
                <a:solidFill>
                  <a:srgbClr val="E4496A"/>
                </a:solidFill>
                <a:effectLst/>
                <a:latin typeface="ArialMT"/>
                <a:ea typeface="Calibri" panose="020F0502020204030204" pitchFamily="34" charset="0"/>
                <a:cs typeface="ArialMT"/>
              </a:rPr>
              <a:t>1. S</a:t>
            </a:r>
            <a:r>
              <a:rPr lang="en-US" sz="4400" b="1">
                <a:solidFill>
                  <a:srgbClr val="E4496A"/>
                </a:solidFill>
                <a:effectLst/>
                <a:latin typeface="Arial" panose="020B0604020202020204" pitchFamily="34" charset="0"/>
                <a:ea typeface="Calibri" panose="020F0502020204030204" pitchFamily="34" charset="0"/>
                <a:cs typeface="Times New Roman" panose="02020603050405020304" pitchFamily="18" charset="0"/>
              </a:rPr>
              <a:t>Ử DỤNG PHƯƠNG PHÁP TỔ HỢP</a:t>
            </a:r>
            <a:endParaRPr lang="en-US" sz="48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9" name="Rounded Rectangle 3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43" name="TextBox 4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50108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up)">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3">
                                            <p:txEl>
                                              <p:pRg st="1" end="1"/>
                                            </p:txEl>
                                          </p:spTgt>
                                        </p:tgtEl>
                                        <p:attrNameLst>
                                          <p:attrName>style.visibility</p:attrName>
                                        </p:attrNameLst>
                                      </p:cBhvr>
                                      <p:to>
                                        <p:strVal val="visible"/>
                                      </p:to>
                                    </p:set>
                                    <p:animEffect transition="in" filter="fade">
                                      <p:cBhvr>
                                        <p:cTn id="20" dur="500"/>
                                        <p:tgtEl>
                                          <p:spTgt spid="3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879600"/>
            <a:ext cx="23622000" cy="33782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a:latin typeface="Times New Roman" panose="02020603050405020304" pitchFamily="18" charset="0"/>
                <a:cs typeface="Times New Roman" panose="02020603050405020304" pitchFamily="18" charset="0"/>
              </a:rPr>
              <a:t>                   </a:t>
            </a:r>
            <a:r>
              <a:rPr lang="vi-VN" sz="4800" b="1">
                <a:latin typeface="Times New Roman" panose="02020603050405020304" pitchFamily="18" charset="0"/>
                <a:cs typeface="Times New Roman" panose="02020603050405020304" pitchFamily="18" charset="0"/>
              </a:rPr>
              <a:t> </a:t>
            </a:r>
            <a:r>
              <a:rPr lang="en-US" sz="4800" b="1">
                <a:latin typeface="Times New Roman" panose="02020603050405020304" pitchFamily="18" charset="0"/>
                <a:cs typeface="Times New Roman" panose="02020603050405020304" pitchFamily="18" charset="0"/>
              </a:rPr>
              <a:t>   Một t</a:t>
            </a:r>
            <a:r>
              <a:rPr lang="vi-VN" sz="4800" b="1">
                <a:latin typeface="Times New Roman" panose="02020603050405020304" pitchFamily="18" charset="0"/>
                <a:cs typeface="Times New Roman" panose="02020603050405020304" pitchFamily="18" charset="0"/>
              </a:rPr>
              <a:t>ổ</a:t>
            </a:r>
            <a:r>
              <a:rPr lang="en-US" sz="4800" b="1">
                <a:latin typeface="Times New Roman" panose="02020603050405020304" pitchFamily="18" charset="0"/>
                <a:cs typeface="Times New Roman" panose="02020603050405020304" pitchFamily="18" charset="0"/>
              </a:rPr>
              <a:t> trong lớp 10A có 10 học sinh trong đó có 6 học sinh nam và 4 học sinh nữ. Giáo viên chọn ngẫu nhiên 6 học sinh trong tồ đó để tham gia đội tình nguyện Mùa hè xanh. Tính xác suất của hai biến cố sau: </a:t>
            </a:r>
          </a:p>
          <a:p>
            <a:r>
              <a:rPr lang="en-US" sz="4800" b="1">
                <a:latin typeface="Times New Roman" panose="02020603050405020304" pitchFamily="18" charset="0"/>
                <a:cs typeface="Times New Roman" panose="02020603050405020304" pitchFamily="18" charset="0"/>
              </a:rPr>
              <a:t>C: “6 học sinh được chọn đều là nam”; </a:t>
            </a:r>
          </a:p>
          <a:p>
            <a:r>
              <a:rPr lang="en-US" sz="4800" b="1" i="1">
                <a:latin typeface="Times New Roman" panose="02020603050405020304" pitchFamily="18" charset="0"/>
                <a:cs typeface="Times New Roman" panose="02020603050405020304" pitchFamily="18" charset="0"/>
              </a:rPr>
              <a:t>D:</a:t>
            </a:r>
            <a:r>
              <a:rPr lang="en-US" sz="4800" b="1">
                <a:latin typeface="Times New Roman" panose="02020603050405020304" pitchFamily="18" charset="0"/>
                <a:cs typeface="Times New Roman" panose="02020603050405020304" pitchFamily="18" charset="0"/>
              </a:rPr>
              <a:t> “Trong 6 học sinh được chọn có 4 nam và 2 nữ”.</a:t>
            </a:r>
          </a:p>
          <a:p>
            <a:endParaRPr lang="en-US" sz="4800" b="1" dirty="0">
              <a:latin typeface="Times New Roman" panose="02020603050405020304" pitchFamily="18" charset="0"/>
              <a:cs typeface="Times New Roman" panose="02020603050405020304" pitchFamily="18"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87626" y="5208104"/>
            <a:ext cx="23622000" cy="792834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buNone/>
            </a:pPr>
            <a:r>
              <a:rPr lang="en-US" b="1" u="sng" err="1">
                <a:solidFill>
                  <a:srgbClr val="FF0000"/>
                </a:solidFill>
              </a:rPr>
              <a:t>Lời</a:t>
            </a:r>
            <a:r>
              <a:rPr lang="en-US" b="1" u="sng">
                <a:solidFill>
                  <a:srgbClr val="FF0000"/>
                </a:solidFill>
              </a:rPr>
              <a:t> giải</a:t>
            </a:r>
          </a:p>
          <a:p>
            <a:pPr marL="0" indent="0">
              <a:lnSpc>
                <a:spcPct val="150000"/>
              </a:lnSpc>
              <a:buNone/>
            </a:pPr>
            <a:endParaRPr lang="en-US" b="1" u="sng" dirty="0">
              <a:solidFill>
                <a:srgbClr val="FF0000"/>
              </a:solidFill>
            </a:endParaRPr>
          </a:p>
        </p:txBody>
      </p:sp>
      <p:grpSp>
        <p:nvGrpSpPr>
          <p:cNvPr id="8" name="Group 7">
            <a:extLst>
              <a:ext uri="{FF2B5EF4-FFF2-40B4-BE49-F238E27FC236}">
                <a16:creationId xmlns:a16="http://schemas.microsoft.com/office/drawing/2014/main" id="{F0B38B41-3FBC-CE60-8FAA-BEBFFB5FC794}"/>
              </a:ext>
            </a:extLst>
          </p:cNvPr>
          <p:cNvGrpSpPr/>
          <p:nvPr/>
        </p:nvGrpSpPr>
        <p:grpSpPr>
          <a:xfrm>
            <a:off x="304800" y="1879601"/>
            <a:ext cx="4343400" cy="939800"/>
            <a:chOff x="22440" y="16831"/>
            <a:chExt cx="1124434" cy="284868"/>
          </a:xfrm>
        </p:grpSpPr>
        <p:grpSp>
          <p:nvGrpSpPr>
            <p:cNvPr id="9" name="Group 8">
              <a:extLst>
                <a:ext uri="{FF2B5EF4-FFF2-40B4-BE49-F238E27FC236}">
                  <a16:creationId xmlns:a16="http://schemas.microsoft.com/office/drawing/2014/main" id="{41AD00A6-8DB1-5B02-DDF2-477B009EB448}"/>
                </a:ext>
              </a:extLst>
            </p:cNvPr>
            <p:cNvGrpSpPr/>
            <p:nvPr/>
          </p:nvGrpSpPr>
          <p:grpSpPr>
            <a:xfrm>
              <a:off x="22440" y="59287"/>
              <a:ext cx="850471" cy="159855"/>
              <a:chOff x="31572" y="60276"/>
              <a:chExt cx="1196628" cy="197828"/>
            </a:xfrm>
          </p:grpSpPr>
          <p:sp>
            <p:nvSpPr>
              <p:cNvPr id="11" name="Arrow: Pentagon 10">
                <a:extLst>
                  <a:ext uri="{FF2B5EF4-FFF2-40B4-BE49-F238E27FC236}">
                    <a16:creationId xmlns:a16="http://schemas.microsoft.com/office/drawing/2014/main" id="{8BD8B31F-C88C-D141-6D35-F425EDC88AA1}"/>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r>
                  <a:rPr lang="en-US" sz="4800" b="1" kern="1200">
                    <a:solidFill>
                      <a:srgbClr val="0000CC"/>
                    </a:solidFill>
                    <a:effectLst/>
                    <a:ea typeface="Calibri" panose="020F0502020204030204" pitchFamily="34" charset="0"/>
                    <a:cs typeface="Times New Roman" panose="02020603050405020304" pitchFamily="18" charset="0"/>
                  </a:rPr>
                  <a:t> </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Arrow: Chevron 11">
                <a:extLst>
                  <a:ext uri="{FF2B5EF4-FFF2-40B4-BE49-F238E27FC236}">
                    <a16:creationId xmlns:a16="http://schemas.microsoft.com/office/drawing/2014/main" id="{81AEBCE5-7190-1F9D-3708-5AC036475A2C}"/>
                  </a:ext>
                </a:extLst>
              </p:cNvPr>
              <p:cNvSpPr/>
              <p:nvPr/>
            </p:nvSpPr>
            <p:spPr>
              <a:xfrm>
                <a:off x="31572" y="60341"/>
                <a:ext cx="162630" cy="1960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b="1"/>
              </a:p>
            </p:txBody>
          </p:sp>
          <p:sp>
            <p:nvSpPr>
              <p:cNvPr id="13" name="Arrow: Chevron 12">
                <a:extLst>
                  <a:ext uri="{FF2B5EF4-FFF2-40B4-BE49-F238E27FC236}">
                    <a16:creationId xmlns:a16="http://schemas.microsoft.com/office/drawing/2014/main" id="{3F1A7C28-4479-300B-C5B1-81BFBB35E139}"/>
                  </a:ext>
                </a:extLst>
              </p:cNvPr>
              <p:cNvSpPr/>
              <p:nvPr/>
            </p:nvSpPr>
            <p:spPr>
              <a:xfrm>
                <a:off x="116273" y="60276"/>
                <a:ext cx="176766" cy="1960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b="1"/>
              </a:p>
            </p:txBody>
          </p:sp>
        </p:grpSp>
        <p:sp>
          <p:nvSpPr>
            <p:cNvPr id="10" name="TextBox 56">
              <a:extLst>
                <a:ext uri="{FF2B5EF4-FFF2-40B4-BE49-F238E27FC236}">
                  <a16:creationId xmlns:a16="http://schemas.microsoft.com/office/drawing/2014/main" id="{90FAE6C9-6284-323A-A08D-5D216E7769C3}"/>
                </a:ext>
              </a:extLst>
            </p:cNvPr>
            <p:cNvSpPr txBox="1"/>
            <p:nvPr/>
          </p:nvSpPr>
          <p:spPr>
            <a:xfrm>
              <a:off x="188215" y="16831"/>
              <a:ext cx="958659" cy="284868"/>
            </a:xfrm>
            <a:prstGeom prst="rect">
              <a:avLst/>
            </a:prstGeom>
            <a:noFill/>
          </p:spPr>
          <p:txBody>
            <a:bodyPr wrap="square">
              <a:noAutofit/>
            </a:bodyPr>
            <a:lstStyle/>
            <a:p>
              <a:pPr>
                <a:lnSpc>
                  <a:spcPct val="107000"/>
                </a:lnSpc>
                <a:spcAft>
                  <a:spcPts val="800"/>
                </a:spcAft>
              </a:pPr>
              <a:r>
                <a:rPr lang="en-US" sz="4800" b="1" kern="1200" dirty="0" err="1">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Ví</a:t>
              </a:r>
              <a:r>
                <a:rPr lang="en-US" sz="4800" b="1" kern="1200" dirty="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kern="1200" dirty="0" err="1">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dụ</a:t>
              </a:r>
              <a:r>
                <a:rPr lang="en-US" sz="4800" b="1" kern="1200" dirty="0">
                  <a:solidFill>
                    <a:srgbClr val="0000CC"/>
                  </a:solidFill>
                  <a:effectLst/>
                  <a:latin typeface="Times New Roman" panose="02020603050405020304" pitchFamily="18" charset="0"/>
                  <a:ea typeface="Calibri" panose="020F0502020204030204" pitchFamily="34" charset="0"/>
                  <a:cs typeface="Times New Roman" panose="02020603050405020304" pitchFamily="18" charset="0"/>
                </a:rPr>
                <a:t> 1.</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4" name="Text Box 2">
                <a:extLst>
                  <a:ext uri="{FF2B5EF4-FFF2-40B4-BE49-F238E27FC236}">
                    <a16:creationId xmlns:a16="http://schemas.microsoft.com/office/drawing/2014/main" id="{13A00B16-721A-692C-FDFF-DEF0C1A6714B}"/>
                  </a:ext>
                </a:extLst>
              </p:cNvPr>
              <p:cNvSpPr txBox="1">
                <a:spLocks noChangeArrowheads="1"/>
              </p:cNvSpPr>
              <p:nvPr/>
            </p:nvSpPr>
            <p:spPr bwMode="auto">
              <a:xfrm>
                <a:off x="387626" y="6158761"/>
                <a:ext cx="23223220" cy="6642839"/>
              </a:xfrm>
              <a:prstGeom prst="rect">
                <a:avLst/>
              </a:prstGeom>
              <a:solidFill>
                <a:srgbClr val="D6F7FE"/>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Không</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gian</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mẫu</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là</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tập</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tất</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cả</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các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tập</a:t>
                </a:r>
                <a:r>
                  <a:rPr lang="en-US" sz="4400" b="1" dirty="0">
                    <a:latin typeface="Times New Roman" panose="02020603050405020304" pitchFamily="18" charset="0"/>
                    <a:cs typeface="Times New Roman" panose="02020603050405020304" pitchFamily="18" charset="0"/>
                  </a:rPr>
                  <a:t> con </a:t>
                </a:r>
                <a:r>
                  <a:rPr lang="en-US" sz="4400" b="1" dirty="0" err="1">
                    <a:latin typeface="Times New Roman" panose="02020603050405020304" pitchFamily="18" charset="0"/>
                    <a:cs typeface="Times New Roman" panose="02020603050405020304" pitchFamily="18" charset="0"/>
                  </a:rPr>
                  <a:t>gồm</a:t>
                </a:r>
                <a:r>
                  <a:rPr lang="en-US" sz="4400" b="1" dirty="0">
                    <a:latin typeface="Times New Roman" panose="02020603050405020304" pitchFamily="18" charset="0"/>
                    <a:cs typeface="Times New Roman" panose="02020603050405020304" pitchFamily="18" charset="0"/>
                  </a:rPr>
                  <a:t> 6 </a:t>
                </a:r>
                <a:r>
                  <a:rPr lang="en-US" sz="4400" b="1" dirty="0" err="1">
                    <a:latin typeface="Times New Roman" panose="02020603050405020304" pitchFamily="18" charset="0"/>
                    <a:cs typeface="Times New Roman" panose="02020603050405020304" pitchFamily="18" charset="0"/>
                  </a:rPr>
                  <a:t>học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sinh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trong</a:t>
                </a:r>
                <a:r>
                  <a:rPr lang="en-US" sz="4400" b="1" dirty="0">
                    <a:latin typeface="Times New Roman" panose="02020603050405020304" pitchFamily="18" charset="0"/>
                    <a:cs typeface="Times New Roman" panose="02020603050405020304" pitchFamily="18" charset="0"/>
                  </a:rPr>
                  <a:t> 10 </a:t>
                </a:r>
                <a:r>
                  <a:rPr lang="en-US" sz="4400" b="1" dirty="0" err="1">
                    <a:latin typeface="Times New Roman" panose="02020603050405020304" pitchFamily="18" charset="0"/>
                    <a:cs typeface="Times New Roman" panose="02020603050405020304" pitchFamily="18" charset="0"/>
                  </a:rPr>
                  <a:t>học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sinh</a:t>
                </a:r>
                <a:r>
                  <a:rPr lang="en-US" sz="4400" b="1" dirty="0">
                    <a:latin typeface="Times New Roman" panose="02020603050405020304" pitchFamily="18" charset="0"/>
                    <a:cs typeface="Times New Roman" panose="02020603050405020304" pitchFamily="18" charset="0"/>
                  </a:rPr>
                  <a:t>.</a:t>
                </a:r>
              </a:p>
              <a:p>
                <a:pPr>
                  <a:lnSpc>
                    <a:spcPct val="107000"/>
                  </a:lnSpc>
                  <a:spcAft>
                    <a:spcPts val="800"/>
                  </a:spcAft>
                </a:pP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Vậy</a:t>
                </a:r>
                <a:r>
                  <a:rPr lang="en-US" sz="4400" b="1" dirty="0">
                    <a:latin typeface="Times New Roman" panose="02020603050405020304" pitchFamily="18" charset="0"/>
                    <a:cs typeface="Times New Roman" panose="02020603050405020304" pitchFamily="18" charset="0"/>
                  </a:rPr>
                  <a:t> </a:t>
                </a:r>
                <a14:m>
                  <m:oMath xmlns:m="http://schemas.openxmlformats.org/officeDocument/2006/math">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𝜴</m:t>
                        </m:r>
                      </m:e>
                    </m:d>
                    <m:r>
                      <a:rPr lang="en-US" sz="4400" b="1" i="1">
                        <a:latin typeface="Cambria Math" panose="02040503050406030204" pitchFamily="18" charset="0"/>
                      </a:rPr>
                      <m:t>=</m:t>
                    </m:r>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𝟏𝟎</m:t>
                        </m:r>
                      </m:sub>
                      <m:sup>
                        <m:r>
                          <a:rPr lang="en-US" sz="4400" b="1" i="1">
                            <a:latin typeface="Cambria Math" panose="02040503050406030204" pitchFamily="18" charset="0"/>
                          </a:rPr>
                          <m:t>𝟔</m:t>
                        </m:r>
                      </m:sup>
                    </m:sSubSup>
                    <m:r>
                      <a:rPr lang="en-US" sz="4400" b="1" i="1">
                        <a:latin typeface="Cambria Math" panose="02040503050406030204" pitchFamily="18" charset="0"/>
                      </a:rPr>
                      <m:t>=</m:t>
                    </m:r>
                    <m:r>
                      <a:rPr lang="en-US" sz="4400" b="1" i="1">
                        <a:latin typeface="Cambria Math" panose="02040503050406030204" pitchFamily="18" charset="0"/>
                      </a:rPr>
                      <m:t>𝟐𝟏𝟎</m:t>
                    </m:r>
                  </m:oMath>
                </a14:m>
                <a:endParaRPr lang="en-US" sz="4400" b="1" dirty="0">
                  <a:latin typeface="Times New Roman" panose="02020603050405020304" pitchFamily="18" charset="0"/>
                  <a:cs typeface="Times New Roman" panose="02020603050405020304" pitchFamily="18" charset="0"/>
                </a:endParaRPr>
              </a:p>
              <a:p>
                <a:pPr>
                  <a:lnSpc>
                    <a:spcPct val="107000"/>
                  </a:lnSpc>
                  <a:spcAft>
                    <a:spcPts val="800"/>
                  </a:spcAft>
                </a:pPr>
                <a:r>
                  <a:rPr lang="en-US" sz="4400" b="1" dirty="0">
                    <a:latin typeface="Times New Roman" panose="02020603050405020304" pitchFamily="18" charset="0"/>
                    <a:cs typeface="Times New Roman" panose="02020603050405020304" pitchFamily="18" charset="0"/>
                  </a:rPr>
                  <a:t>a) </a:t>
                </a:r>
                <a:r>
                  <a:rPr lang="en-US" sz="4400" b="1" dirty="0" err="1">
                    <a:latin typeface="Times New Roman" panose="02020603050405020304" pitchFamily="18" charset="0"/>
                    <a:cs typeface="Times New Roman" panose="02020603050405020304" pitchFamily="18" charset="0"/>
                  </a:rPr>
                  <a:t>Tập</a:t>
                </a:r>
                <a:r>
                  <a:rPr lang="en-US" sz="4400" b="1" dirty="0">
                    <a:latin typeface="Times New Roman" panose="02020603050405020304" pitchFamily="18" charset="0"/>
                    <a:cs typeface="Times New Roman" panose="02020603050405020304" pitchFamily="18" charset="0"/>
                  </a:rPr>
                  <a:t> C </a:t>
                </a:r>
                <a:r>
                  <a:rPr lang="en-US" sz="4400" b="1" dirty="0" err="1">
                    <a:latin typeface="Times New Roman" panose="02020603050405020304" pitchFamily="18" charset="0"/>
                    <a:cs typeface="Times New Roman" panose="02020603050405020304" pitchFamily="18" charset="0"/>
                  </a:rPr>
                  <a:t>chỉ</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có</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một</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phần</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tử</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là</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tập</a:t>
                </a:r>
                <a:r>
                  <a:rPr lang="en-US" sz="4400" b="1" dirty="0">
                    <a:latin typeface="Times New Roman" panose="02020603050405020304" pitchFamily="18" charset="0"/>
                    <a:cs typeface="Times New Roman" panose="02020603050405020304" pitchFamily="18" charset="0"/>
                  </a:rPr>
                  <a:t> 6 </a:t>
                </a:r>
                <a:r>
                  <a:rPr lang="en-US" sz="4400" b="1" dirty="0" err="1">
                    <a:latin typeface="Times New Roman" panose="02020603050405020304" pitchFamily="18" charset="0"/>
                    <a:cs typeface="Times New Roman" panose="02020603050405020304" pitchFamily="18" charset="0"/>
                  </a:rPr>
                  <a:t>học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sinh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nam</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Vậy</a:t>
                </a:r>
                <a:r>
                  <a:rPr lang="en-US" sz="4400" b="1" dirty="0">
                    <a:latin typeface="Times New Roman" panose="02020603050405020304" pitchFamily="18" charset="0"/>
                    <a:cs typeface="Times New Roman" panose="02020603050405020304" pitchFamily="18" charset="0"/>
                  </a:rPr>
                  <a:t> </a:t>
                </a:r>
                <a14:m>
                  <m:oMath xmlns:m="http://schemas.openxmlformats.org/officeDocument/2006/math">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𝑪</m:t>
                        </m:r>
                      </m:e>
                    </m:d>
                    <m:r>
                      <a:rPr lang="en-US" sz="4400" b="1" i="1">
                        <a:latin typeface="Cambria Math" panose="02040503050406030204" pitchFamily="18" charset="0"/>
                      </a:rPr>
                      <m:t>=</m:t>
                    </m:r>
                    <m:r>
                      <a:rPr lang="en-US" sz="4400" b="1" i="1">
                        <a:latin typeface="Cambria Math" panose="02040503050406030204" pitchFamily="18" charset="0"/>
                      </a:rPr>
                      <m:t>𝟏</m:t>
                    </m:r>
                  </m:oMath>
                </a14:m>
                <a:r>
                  <a:rPr lang="en-US" sz="4400" b="1" dirty="0">
                    <a:latin typeface="Times New Roman" panose="02020603050405020304" pitchFamily="18" charset="0"/>
                    <a:cs typeface="Times New Roman" panose="02020603050405020304" pitchFamily="18" charset="0"/>
                  </a:rPr>
                  <a:t>, do </a:t>
                </a:r>
                <a:r>
                  <a:rPr lang="en-US" sz="4400" b="1" dirty="0" err="1">
                    <a:latin typeface="Times New Roman" panose="02020603050405020304" pitchFamily="18" charset="0"/>
                    <a:cs typeface="Times New Roman" panose="02020603050405020304" pitchFamily="18" charset="0"/>
                  </a:rPr>
                  <a:t>đó</a:t>
                </a:r>
                <a:r>
                  <a:rPr lang="en-US" sz="4400" b="1" dirty="0">
                    <a:latin typeface="Times New Roman" panose="02020603050405020304" pitchFamily="18" charset="0"/>
                    <a:cs typeface="Times New Roman" panose="02020603050405020304" pitchFamily="18" charset="0"/>
                  </a:rPr>
                  <a:t> </a:t>
                </a:r>
                <a14:m>
                  <m:oMath xmlns:m="http://schemas.openxmlformats.org/officeDocument/2006/math">
                    <m:r>
                      <a:rPr lang="en-US" sz="4400" b="1" i="1">
                        <a:latin typeface="Cambria Math" panose="02040503050406030204" pitchFamily="18" charset="0"/>
                      </a:rPr>
                      <m:t>𝑷</m:t>
                    </m:r>
                    <m:d>
                      <m:dPr>
                        <m:ctrlPr>
                          <a:rPr lang="en-US" sz="4400" b="1" i="1">
                            <a:latin typeface="Cambria Math" panose="02040503050406030204" pitchFamily="18" charset="0"/>
                          </a:rPr>
                        </m:ctrlPr>
                      </m:dPr>
                      <m:e>
                        <m:r>
                          <a:rPr lang="en-US" sz="4400" b="1" i="1">
                            <a:latin typeface="Cambria Math" panose="02040503050406030204" pitchFamily="18" charset="0"/>
                          </a:rPr>
                          <m:t>𝑪</m:t>
                        </m:r>
                      </m:e>
                    </m:d>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𝟏</m:t>
                        </m:r>
                      </m:num>
                      <m:den>
                        <m:r>
                          <a:rPr lang="en-US" sz="4400" b="1" i="1">
                            <a:latin typeface="Cambria Math" panose="02040503050406030204" pitchFamily="18" charset="0"/>
                          </a:rPr>
                          <m:t>𝟐𝟏𝟎</m:t>
                        </m:r>
                      </m:den>
                    </m:f>
                  </m:oMath>
                </a14:m>
                <a:endParaRPr lang="en-US" sz="4400" b="1" dirty="0">
                  <a:latin typeface="Times New Roman" panose="02020603050405020304" pitchFamily="18" charset="0"/>
                  <a:cs typeface="Times New Roman" panose="02020603050405020304" pitchFamily="18" charset="0"/>
                </a:endParaRPr>
              </a:p>
              <a:p>
                <a:pPr>
                  <a:lnSpc>
                    <a:spcPct val="107000"/>
                  </a:lnSpc>
                  <a:spcAft>
                    <a:spcPts val="800"/>
                  </a:spcAft>
                </a:pPr>
                <a:r>
                  <a:rPr lang="en-US" sz="4400" b="1" dirty="0">
                    <a:latin typeface="Times New Roman" panose="02020603050405020304" pitchFamily="18" charset="0"/>
                    <a:cs typeface="Times New Roman" panose="02020603050405020304" pitchFamily="18" charset="0"/>
                  </a:rPr>
                  <a:t>b) </a:t>
                </a:r>
                <a:r>
                  <a:rPr lang="en-US" sz="4400" b="1" dirty="0" err="1">
                    <a:latin typeface="Times New Roman" panose="02020603050405020304" pitchFamily="18" charset="0"/>
                    <a:cs typeface="Times New Roman" panose="02020603050405020304" pitchFamily="18" charset="0"/>
                  </a:rPr>
                  <a:t>Mỗi</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phần</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tử</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của</a:t>
                </a:r>
                <a:r>
                  <a:rPr lang="en-US" sz="4400" b="1" dirty="0">
                    <a:latin typeface="Times New Roman" panose="02020603050405020304" pitchFamily="18" charset="0"/>
                    <a:cs typeface="Times New Roman" panose="02020603050405020304" pitchFamily="18" charset="0"/>
                  </a:rPr>
                  <a:t> D </a:t>
                </a:r>
                <a:r>
                  <a:rPr lang="en-US" sz="4400" b="1" dirty="0" err="1">
                    <a:latin typeface="Times New Roman" panose="02020603050405020304" pitchFamily="18" charset="0"/>
                    <a:cs typeface="Times New Roman" panose="02020603050405020304" pitchFamily="18" charset="0"/>
                  </a:rPr>
                  <a:t>được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hình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thành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từ</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hai</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công</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đoạn</a:t>
                </a:r>
                <a:r>
                  <a:rPr lang="en-US" sz="4400" b="1" dirty="0">
                    <a:latin typeface="Times New Roman" panose="02020603050405020304" pitchFamily="18" charset="0"/>
                    <a:cs typeface="Times New Roman" panose="02020603050405020304" pitchFamily="18" charset="0"/>
                  </a:rPr>
                  <a:t>.</a:t>
                </a:r>
              </a:p>
              <a:p>
                <a:pPr>
                  <a:lnSpc>
                    <a:spcPct val="107000"/>
                  </a:lnSpc>
                  <a:spcAft>
                    <a:spcPts val="800"/>
                  </a:spcAft>
                </a:pPr>
                <a:r>
                  <a:rPr lang="en-US" sz="4400" b="1" dirty="0" err="1">
                    <a:latin typeface="Times New Roman" panose="02020603050405020304" pitchFamily="18" charset="0"/>
                    <a:cs typeface="Times New Roman" panose="02020603050405020304" pitchFamily="18" charset="0"/>
                  </a:rPr>
                  <a:t>Công</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đoạn</a:t>
                </a:r>
                <a:r>
                  <a:rPr lang="en-US" sz="4400" b="1" dirty="0">
                    <a:latin typeface="Times New Roman" panose="02020603050405020304" pitchFamily="18" charset="0"/>
                    <a:cs typeface="Times New Roman" panose="02020603050405020304" pitchFamily="18" charset="0"/>
                  </a:rPr>
                  <a:t> 1. </a:t>
                </a:r>
                <a:r>
                  <a:rPr lang="en-US" sz="4400" b="1" dirty="0" err="1">
                    <a:latin typeface="Times New Roman" panose="02020603050405020304" pitchFamily="18" charset="0"/>
                    <a:cs typeface="Times New Roman" panose="02020603050405020304" pitchFamily="18" charset="0"/>
                  </a:rPr>
                  <a:t>Chọn</a:t>
                </a:r>
                <a:r>
                  <a:rPr lang="en-US" sz="4400" b="1" dirty="0">
                    <a:latin typeface="Times New Roman" panose="02020603050405020304" pitchFamily="18" charset="0"/>
                    <a:cs typeface="Times New Roman" panose="02020603050405020304" pitchFamily="18" charset="0"/>
                  </a:rPr>
                  <a:t> 4 </a:t>
                </a:r>
                <a:r>
                  <a:rPr lang="en-US" sz="4400" b="1" dirty="0" err="1">
                    <a:latin typeface="Times New Roman" panose="02020603050405020304" pitchFamily="18" charset="0"/>
                    <a:cs typeface="Times New Roman" panose="02020603050405020304" pitchFamily="18" charset="0"/>
                  </a:rPr>
                  <a:t>học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sinh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nam</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từ</a:t>
                </a:r>
                <a:r>
                  <a:rPr lang="en-US" sz="4400" b="1" dirty="0">
                    <a:latin typeface="Times New Roman" panose="02020603050405020304" pitchFamily="18" charset="0"/>
                    <a:cs typeface="Times New Roman" panose="02020603050405020304" pitchFamily="18" charset="0"/>
                  </a:rPr>
                  <a:t> 6 </a:t>
                </a:r>
                <a:r>
                  <a:rPr lang="en-US" sz="4400" b="1" dirty="0" err="1">
                    <a:latin typeface="Times New Roman" panose="02020603050405020304" pitchFamily="18" charset="0"/>
                    <a:cs typeface="Times New Roman" panose="02020603050405020304" pitchFamily="18" charset="0"/>
                  </a:rPr>
                  <a:t>học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sinh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nam</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có</a:t>
                </a:r>
                <a:r>
                  <a:rPr lang="en-US" sz="4400" b="1"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𝟔</m:t>
                        </m:r>
                      </m:sub>
                      <m:sup>
                        <m:r>
                          <a:rPr lang="en-US" sz="4400" b="1" i="1">
                            <a:latin typeface="Cambria Math" panose="02040503050406030204" pitchFamily="18" charset="0"/>
                          </a:rPr>
                          <m:t>𝟒</m:t>
                        </m:r>
                      </m:sup>
                    </m:sSubSup>
                    <m:r>
                      <a:rPr lang="en-US" sz="4400" b="1" i="1">
                        <a:latin typeface="Cambria Math" panose="02040503050406030204" pitchFamily="18" charset="0"/>
                      </a:rPr>
                      <m:t>=</m:t>
                    </m:r>
                    <m:r>
                      <a:rPr lang="en-US" sz="4400" b="1" i="1">
                        <a:latin typeface="Cambria Math" panose="02040503050406030204" pitchFamily="18" charset="0"/>
                      </a:rPr>
                      <m:t>𝟏𝟓</m:t>
                    </m:r>
                  </m:oMath>
                </a14:m>
                <a:r>
                  <a:rPr lang="en-US" sz="4400" b="1" dirty="0">
                    <a:latin typeface="Times New Roman" panose="02020603050405020304" pitchFamily="18" charset="0"/>
                    <a:cs typeface="Times New Roman" panose="02020603050405020304" pitchFamily="18" charset="0"/>
                  </a:rPr>
                  <a:t>(</a:t>
                </a:r>
                <a:r>
                  <a:rPr lang="en-US" sz="4400" b="1" dirty="0" err="1">
                    <a:latin typeface="Times New Roman" panose="02020603050405020304" pitchFamily="18" charset="0"/>
                    <a:cs typeface="Times New Roman" panose="02020603050405020304" pitchFamily="18" charset="0"/>
                  </a:rPr>
                  <a:t>cách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chọn</a:t>
                </a:r>
                <a:r>
                  <a:rPr lang="en-US" sz="4400" b="1" dirty="0">
                    <a:latin typeface="Times New Roman" panose="02020603050405020304" pitchFamily="18" charset="0"/>
                    <a:cs typeface="Times New Roman" panose="02020603050405020304" pitchFamily="18" charset="0"/>
                  </a:rPr>
                  <a:t>).</a:t>
                </a:r>
              </a:p>
              <a:p>
                <a:pPr>
                  <a:lnSpc>
                    <a:spcPct val="107000"/>
                  </a:lnSpc>
                  <a:spcAft>
                    <a:spcPts val="800"/>
                  </a:spcAft>
                </a:pPr>
                <a:r>
                  <a:rPr lang="en-US" sz="4400" b="1" dirty="0" err="1">
                    <a:latin typeface="Times New Roman" panose="02020603050405020304" pitchFamily="18" charset="0"/>
                    <a:cs typeface="Times New Roman" panose="02020603050405020304" pitchFamily="18" charset="0"/>
                  </a:rPr>
                  <a:t>Công</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đoạn</a:t>
                </a:r>
                <a:r>
                  <a:rPr lang="en-US" sz="4400" b="1" dirty="0">
                    <a:latin typeface="Times New Roman" panose="02020603050405020304" pitchFamily="18" charset="0"/>
                    <a:cs typeface="Times New Roman" panose="02020603050405020304" pitchFamily="18" charset="0"/>
                  </a:rPr>
                  <a:t> 2. </a:t>
                </a:r>
                <a:r>
                  <a:rPr lang="en-US" sz="4400" b="1" dirty="0" err="1">
                    <a:latin typeface="Times New Roman" panose="02020603050405020304" pitchFamily="18" charset="0"/>
                    <a:cs typeface="Times New Roman" panose="02020603050405020304" pitchFamily="18" charset="0"/>
                  </a:rPr>
                  <a:t>Chọn</a:t>
                </a:r>
                <a:r>
                  <a:rPr lang="en-US" sz="4400" b="1" dirty="0">
                    <a:latin typeface="Times New Roman" panose="02020603050405020304" pitchFamily="18" charset="0"/>
                    <a:cs typeface="Times New Roman" panose="02020603050405020304" pitchFamily="18" charset="0"/>
                  </a:rPr>
                  <a:t> 2 </a:t>
                </a:r>
                <a:r>
                  <a:rPr lang="en-US" sz="4400" b="1" dirty="0" err="1">
                    <a:latin typeface="Times New Roman" panose="02020603050405020304" pitchFamily="18" charset="0"/>
                    <a:cs typeface="Times New Roman" panose="02020603050405020304" pitchFamily="18" charset="0"/>
                  </a:rPr>
                  <a:t>học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sinh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nữ</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từ</a:t>
                </a:r>
                <a:r>
                  <a:rPr lang="en-US" sz="4400" b="1" dirty="0">
                    <a:latin typeface="Times New Roman" panose="02020603050405020304" pitchFamily="18" charset="0"/>
                    <a:cs typeface="Times New Roman" panose="02020603050405020304" pitchFamily="18" charset="0"/>
                  </a:rPr>
                  <a:t> 4 </a:t>
                </a:r>
                <a:r>
                  <a:rPr lang="en-US" sz="4400" b="1" dirty="0" err="1">
                    <a:latin typeface="Times New Roman" panose="02020603050405020304" pitchFamily="18" charset="0"/>
                    <a:cs typeface="Times New Roman" panose="02020603050405020304" pitchFamily="18" charset="0"/>
                  </a:rPr>
                  <a:t>học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sinh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nữ</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có</a:t>
                </a:r>
                <a:r>
                  <a:rPr lang="en-US" sz="4400" b="1"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𝟒</m:t>
                        </m:r>
                      </m:sub>
                      <m:sup>
                        <m:r>
                          <a:rPr lang="en-US" sz="4400" b="1" i="1">
                            <a:latin typeface="Cambria Math" panose="02040503050406030204" pitchFamily="18" charset="0"/>
                          </a:rPr>
                          <m:t>𝟐</m:t>
                        </m:r>
                      </m:sup>
                    </m:sSubSup>
                    <m:r>
                      <a:rPr lang="en-US" sz="4400" b="1" i="1">
                        <a:latin typeface="Cambria Math" panose="02040503050406030204" pitchFamily="18" charset="0"/>
                      </a:rPr>
                      <m:t>=</m:t>
                    </m:r>
                    <m:r>
                      <a:rPr lang="en-US" sz="4400" b="1" i="1">
                        <a:latin typeface="Cambria Math" panose="02040503050406030204" pitchFamily="18" charset="0"/>
                      </a:rPr>
                      <m:t>𝟔</m:t>
                    </m:r>
                  </m:oMath>
                </a14:m>
                <a:r>
                  <a:rPr lang="en-US" sz="4400" b="1" dirty="0">
                    <a:latin typeface="Times New Roman" panose="02020603050405020304" pitchFamily="18" charset="0"/>
                    <a:cs typeface="Times New Roman" panose="02020603050405020304" pitchFamily="18" charset="0"/>
                  </a:rPr>
                  <a:t>(</a:t>
                </a:r>
                <a:r>
                  <a:rPr lang="en-US" sz="4400" b="1" dirty="0" err="1">
                    <a:latin typeface="Times New Roman" panose="02020603050405020304" pitchFamily="18" charset="0"/>
                    <a:cs typeface="Times New Roman" panose="02020603050405020304" pitchFamily="18" charset="0"/>
                  </a:rPr>
                  <a:t>cách</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chọn</a:t>
                </a:r>
                <a:r>
                  <a:rPr lang="en-US" sz="4400" b="1" dirty="0">
                    <a:latin typeface="Times New Roman" panose="02020603050405020304" pitchFamily="18" charset="0"/>
                    <a:cs typeface="Times New Roman" panose="02020603050405020304" pitchFamily="18" charset="0"/>
                  </a:rPr>
                  <a:t>).</a:t>
                </a:r>
              </a:p>
              <a:p>
                <a:pPr>
                  <a:lnSpc>
                    <a:spcPct val="107000"/>
                  </a:lnSpc>
                  <a:spcAft>
                    <a:spcPts val="800"/>
                  </a:spcAft>
                </a:pPr>
                <a:r>
                  <a:rPr lang="en-US" sz="4400" b="1" dirty="0">
                    <a:latin typeface="Times New Roman" panose="02020603050405020304" pitchFamily="18" charset="0"/>
                    <a:cs typeface="Times New Roman" panose="02020603050405020304" pitchFamily="18" charset="0"/>
                  </a:rPr>
                  <a:t>Theo </a:t>
                </a:r>
                <a:r>
                  <a:rPr lang="en-US" sz="4400" b="1" dirty="0" err="1">
                    <a:latin typeface="Times New Roman" panose="02020603050405020304" pitchFamily="18" charset="0"/>
                    <a:cs typeface="Times New Roman" panose="02020603050405020304" pitchFamily="18" charset="0"/>
                  </a:rPr>
                  <a:t>quy</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tắc</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nhân</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tập</a:t>
                </a:r>
                <a:r>
                  <a:rPr lang="en-US" sz="4400" b="1" dirty="0">
                    <a:latin typeface="Times New Roman" panose="02020603050405020304" pitchFamily="18" charset="0"/>
                    <a:cs typeface="Times New Roman" panose="02020603050405020304" pitchFamily="18" charset="0"/>
                  </a:rPr>
                  <a:t> D </a:t>
                </a:r>
                <a:r>
                  <a:rPr lang="en-US" sz="4400" b="1" dirty="0" err="1">
                    <a:latin typeface="Times New Roman" panose="02020603050405020304" pitchFamily="18" charset="0"/>
                    <a:cs typeface="Times New Roman" panose="02020603050405020304" pitchFamily="18" charset="0"/>
                  </a:rPr>
                  <a:t>có</a:t>
                </a:r>
                <a:r>
                  <a:rPr lang="en-US" sz="4400" b="1" dirty="0">
                    <a:latin typeface="Times New Roman" panose="02020603050405020304" pitchFamily="18" charset="0"/>
                    <a:cs typeface="Times New Roman" panose="02020603050405020304" pitchFamily="18" charset="0"/>
                  </a:rPr>
                  <a:t> 15 . 6 = 90 (</a:t>
                </a:r>
                <a:r>
                  <a:rPr lang="en-US" sz="4400" b="1" dirty="0" err="1">
                    <a:latin typeface="Times New Roman" panose="02020603050405020304" pitchFamily="18" charset="0"/>
                    <a:cs typeface="Times New Roman" panose="02020603050405020304" pitchFamily="18" charset="0"/>
                  </a:rPr>
                  <a:t>phần</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tử</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Vậy</a:t>
                </a:r>
                <a:r>
                  <a:rPr lang="en-US" sz="4400" b="1" dirty="0">
                    <a:latin typeface="Times New Roman" panose="02020603050405020304" pitchFamily="18" charset="0"/>
                    <a:cs typeface="Times New Roman" panose="02020603050405020304" pitchFamily="18" charset="0"/>
                  </a:rPr>
                  <a:t> </a:t>
                </a:r>
                <a14:m>
                  <m:oMath xmlns:m="http://schemas.openxmlformats.org/officeDocument/2006/math">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𝑫</m:t>
                        </m:r>
                      </m:e>
                    </m:d>
                    <m:r>
                      <a:rPr lang="en-US" sz="4400" b="1" i="1">
                        <a:latin typeface="Cambria Math" panose="02040503050406030204" pitchFamily="18" charset="0"/>
                      </a:rPr>
                      <m:t>=</m:t>
                    </m:r>
                    <m:r>
                      <a:rPr lang="en-US" sz="4400" b="1" i="1">
                        <a:latin typeface="Cambria Math" panose="02040503050406030204" pitchFamily="18" charset="0"/>
                      </a:rPr>
                      <m:t>𝟗𝟎</m:t>
                    </m:r>
                  </m:oMath>
                </a14:m>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Từ</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đó</a:t>
                </a:r>
                <a:r>
                  <a:rPr lang="en-US" sz="4400" b="1" dirty="0">
                    <a:latin typeface="Times New Roman" panose="02020603050405020304" pitchFamily="18" charset="0"/>
                    <a:cs typeface="Times New Roman" panose="02020603050405020304" pitchFamily="18" charset="0"/>
                  </a:rPr>
                  <a:t> </a:t>
                </a:r>
                <a14:m>
                  <m:oMath xmlns:m="http://schemas.openxmlformats.org/officeDocument/2006/math">
                    <m:r>
                      <a:rPr lang="en-US" sz="4400" b="1" i="1">
                        <a:latin typeface="Cambria Math" panose="02040503050406030204" pitchFamily="18" charset="0"/>
                      </a:rPr>
                      <m:t>𝑷</m:t>
                    </m:r>
                    <m:d>
                      <m:dPr>
                        <m:ctrlPr>
                          <a:rPr lang="en-US" sz="4400" b="1" i="1">
                            <a:latin typeface="Cambria Math" panose="02040503050406030204" pitchFamily="18" charset="0"/>
                          </a:rPr>
                        </m:ctrlPr>
                      </m:dPr>
                      <m:e>
                        <m:r>
                          <a:rPr lang="en-US" sz="4400" b="1" i="1">
                            <a:latin typeface="Cambria Math" panose="02040503050406030204" pitchFamily="18" charset="0"/>
                          </a:rPr>
                          <m:t>𝑫</m:t>
                        </m:r>
                      </m:e>
                    </m:d>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𝟗𝟎</m:t>
                        </m:r>
                      </m:num>
                      <m:den>
                        <m:r>
                          <a:rPr lang="en-US" sz="4400" b="1" i="1">
                            <a:latin typeface="Cambria Math" panose="02040503050406030204" pitchFamily="18" charset="0"/>
                          </a:rPr>
                          <m:t>𝟐𝟏𝟎</m:t>
                        </m:r>
                      </m:den>
                    </m:f>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𝟑</m:t>
                        </m:r>
                      </m:num>
                      <m:den>
                        <m:r>
                          <a:rPr lang="en-US" sz="4400" b="1" i="1">
                            <a:latin typeface="Cambria Math" panose="02040503050406030204" pitchFamily="18" charset="0"/>
                          </a:rPr>
                          <m:t>𝟕</m:t>
                        </m:r>
                      </m:den>
                    </m:f>
                  </m:oMath>
                </a14:m>
                <a:r>
                  <a:rPr lang="en-US" sz="4400" b="1" dirty="0">
                    <a:latin typeface="Times New Roman" panose="02020603050405020304" pitchFamily="18" charset="0"/>
                    <a:cs typeface="Times New Roman" panose="02020603050405020304" pitchFamily="18" charset="0"/>
                  </a:rPr>
                  <a:t>.</a:t>
                </a:r>
              </a:p>
              <a:p>
                <a:pPr>
                  <a:lnSpc>
                    <a:spcPct val="107000"/>
                  </a:lnSpc>
                  <a:spcAft>
                    <a:spcPts val="800"/>
                  </a:spcAft>
                </a:pPr>
                <a:r>
                  <a:rPr lang="en-US" sz="4400" b="1" dirty="0">
                    <a:latin typeface="Times New Roman" panose="02020603050405020304" pitchFamily="18" charset="0"/>
                    <a:cs typeface="Times New Roman" panose="02020603050405020304" pitchFamily="18" charset="0"/>
                  </a:rPr>
                  <a:t> </a:t>
                </a:r>
              </a:p>
            </p:txBody>
          </p:sp>
        </mc:Choice>
        <mc:Fallback xmlns="">
          <p:sp>
            <p:nvSpPr>
              <p:cNvPr id="14" name="Text Box 2">
                <a:extLst>
                  <a:ext uri="{FF2B5EF4-FFF2-40B4-BE49-F238E27FC236}">
                    <a16:creationId xmlns:a16="http://schemas.microsoft.com/office/drawing/2014/main" id="{13A00B16-721A-692C-FDFF-DEF0C1A6714B}"/>
                  </a:ext>
                </a:extLst>
              </p:cNvPr>
              <p:cNvSpPr txBox="1">
                <a:spLocks noRot="1" noChangeAspect="1" noMove="1" noResize="1" noEditPoints="1" noAdjustHandles="1" noChangeArrowheads="1" noChangeShapeType="1" noTextEdit="1"/>
              </p:cNvSpPr>
              <p:nvPr/>
            </p:nvSpPr>
            <p:spPr bwMode="auto">
              <a:xfrm>
                <a:off x="387626" y="6158761"/>
                <a:ext cx="23223220" cy="6642839"/>
              </a:xfrm>
              <a:prstGeom prst="rect">
                <a:avLst/>
              </a:prstGeom>
              <a:blipFill>
                <a:blip r:embed="rId3"/>
                <a:stretch>
                  <a:fillRect l="-1076" t="-1835" b="-92"/>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361689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7">
                                            <p:txEl>
                                              <p:pRg st="0" end="0"/>
                                            </p:txEl>
                                          </p:spTgt>
                                        </p:tgtEl>
                                        <p:attrNameLst>
                                          <p:attrName>style.visibility</p:attrName>
                                        </p:attrNameLst>
                                      </p:cBhvr>
                                      <p:to>
                                        <p:strVal val="visible"/>
                                      </p:to>
                                    </p:set>
                                    <p:animEffect transition="in" filter="wipe(left)">
                                      <p:cBhvr>
                                        <p:cTn id="11" dur="500"/>
                                        <p:tgtEl>
                                          <p:spTgt spid="97">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xEl>
                                              <p:pRg st="1" end="1"/>
                                            </p:txEl>
                                          </p:spTgt>
                                        </p:tgtEl>
                                        <p:attrNameLst>
                                          <p:attrName>style.visibility</p:attrName>
                                        </p:attrNameLst>
                                      </p:cBhvr>
                                      <p:to>
                                        <p:strVal val="visible"/>
                                      </p:to>
                                    </p:set>
                                    <p:animEffect transition="in" filter="wipe(left)">
                                      <p:cBhvr>
                                        <p:cTn id="15" dur="500"/>
                                        <p:tgtEl>
                                          <p:spTgt spid="97">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7">
                                            <p:txEl>
                                              <p:pRg st="2" end="2"/>
                                            </p:txEl>
                                          </p:spTgt>
                                        </p:tgtEl>
                                        <p:attrNameLst>
                                          <p:attrName>style.visibility</p:attrName>
                                        </p:attrNameLst>
                                      </p:cBhvr>
                                      <p:to>
                                        <p:strVal val="visible"/>
                                      </p:to>
                                    </p:set>
                                    <p:animEffect transition="in" filter="wipe(left)">
                                      <p:cBhvr>
                                        <p:cTn id="19" dur="500"/>
                                        <p:tgtEl>
                                          <p:spTgt spid="97">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0" end="0"/>
                                            </p:txEl>
                                          </p:spTgt>
                                        </p:tgtEl>
                                        <p:attrNameLst>
                                          <p:attrName>style.visibility</p:attrName>
                                        </p:attrNameLst>
                                      </p:cBhvr>
                                      <p:to>
                                        <p:strVal val="visible"/>
                                      </p:to>
                                    </p:set>
                                    <p:animEffect transition="in" filter="wipe(up)">
                                      <p:cBhvr>
                                        <p:cTn id="23" dur="500"/>
                                        <p:tgtEl>
                                          <p:spTgt spid="9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xEl>
                                              <p:pRg st="0" end="0"/>
                                            </p:txEl>
                                          </p:spTgt>
                                        </p:tgtEl>
                                        <p:attrNameLst>
                                          <p:attrName>style.visibility</p:attrName>
                                        </p:attrNameLst>
                                      </p:cBhvr>
                                      <p:to>
                                        <p:strVal val="visible"/>
                                      </p:to>
                                    </p:set>
                                    <p:animEffect transition="in" filter="fade">
                                      <p:cBhvr>
                                        <p:cTn id="28" dur="500"/>
                                        <p:tgtEl>
                                          <p:spTgt spid="1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xEl>
                                              <p:pRg st="1" end="1"/>
                                            </p:txEl>
                                          </p:spTgt>
                                        </p:tgtEl>
                                        <p:attrNameLst>
                                          <p:attrName>style.visibility</p:attrName>
                                        </p:attrNameLst>
                                      </p:cBhvr>
                                      <p:to>
                                        <p:strVal val="visible"/>
                                      </p:to>
                                    </p:set>
                                    <p:animEffect transition="in" filter="fade">
                                      <p:cBhvr>
                                        <p:cTn id="33" dur="500"/>
                                        <p:tgtEl>
                                          <p:spTgt spid="14">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
                                            <p:txEl>
                                              <p:pRg st="2" end="2"/>
                                            </p:txEl>
                                          </p:spTgt>
                                        </p:tgtEl>
                                        <p:attrNameLst>
                                          <p:attrName>style.visibility</p:attrName>
                                        </p:attrNameLst>
                                      </p:cBhvr>
                                      <p:to>
                                        <p:strVal val="visible"/>
                                      </p:to>
                                    </p:set>
                                    <p:animEffect transition="in" filter="fade">
                                      <p:cBhvr>
                                        <p:cTn id="38" dur="500"/>
                                        <p:tgtEl>
                                          <p:spTgt spid="14">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
                                            <p:txEl>
                                              <p:pRg st="3" end="3"/>
                                            </p:txEl>
                                          </p:spTgt>
                                        </p:tgtEl>
                                        <p:attrNameLst>
                                          <p:attrName>style.visibility</p:attrName>
                                        </p:attrNameLst>
                                      </p:cBhvr>
                                      <p:to>
                                        <p:strVal val="visible"/>
                                      </p:to>
                                    </p:set>
                                    <p:animEffect transition="in" filter="fade">
                                      <p:cBhvr>
                                        <p:cTn id="43" dur="500"/>
                                        <p:tgtEl>
                                          <p:spTgt spid="14">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4">
                                            <p:txEl>
                                              <p:pRg st="4" end="4"/>
                                            </p:txEl>
                                          </p:spTgt>
                                        </p:tgtEl>
                                        <p:attrNameLst>
                                          <p:attrName>style.visibility</p:attrName>
                                        </p:attrNameLst>
                                      </p:cBhvr>
                                      <p:to>
                                        <p:strVal val="visible"/>
                                      </p:to>
                                    </p:set>
                                    <p:animEffect transition="in" filter="fade">
                                      <p:cBhvr>
                                        <p:cTn id="48" dur="500"/>
                                        <p:tgtEl>
                                          <p:spTgt spid="14">
                                            <p:txEl>
                                              <p:pRg st="4" end="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4">
                                            <p:txEl>
                                              <p:pRg st="5" end="5"/>
                                            </p:txEl>
                                          </p:spTgt>
                                        </p:tgtEl>
                                        <p:attrNameLst>
                                          <p:attrName>style.visibility</p:attrName>
                                        </p:attrNameLst>
                                      </p:cBhvr>
                                      <p:to>
                                        <p:strVal val="visible"/>
                                      </p:to>
                                    </p:set>
                                    <p:animEffect transition="in" filter="fade">
                                      <p:cBhvr>
                                        <p:cTn id="53" dur="500"/>
                                        <p:tgtEl>
                                          <p:spTgt spid="14">
                                            <p:txEl>
                                              <p:pRg st="5" end="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4">
                                            <p:txEl>
                                              <p:pRg st="6" end="6"/>
                                            </p:txEl>
                                          </p:spTgt>
                                        </p:tgtEl>
                                        <p:attrNameLst>
                                          <p:attrName>style.visibility</p:attrName>
                                        </p:attrNameLst>
                                      </p:cBhvr>
                                      <p:to>
                                        <p:strVal val="visible"/>
                                      </p:to>
                                    </p:set>
                                    <p:animEffect transition="in" filter="fade">
                                      <p:cBhvr>
                                        <p:cTn id="58"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425302" y="1977466"/>
            <a:ext cx="23622000" cy="214099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dirty="0"/>
              <a:t>		                  </a:t>
            </a:r>
            <a:r>
              <a:rPr lang="en-US" sz="4800" b="1" dirty="0" err="1">
                <a:latin typeface="Times New Roman" panose="02020603050405020304" pitchFamily="18" charset="0"/>
                <a:cs typeface="Times New Roman" panose="02020603050405020304" pitchFamily="18" charset="0"/>
              </a:rPr>
              <a:t>Một</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tổ</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trong</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lớp</a:t>
            </a:r>
            <a:r>
              <a:rPr lang="en-US" sz="4800" b="1" dirty="0">
                <a:latin typeface="Times New Roman" panose="02020603050405020304" pitchFamily="18" charset="0"/>
                <a:cs typeface="Times New Roman" panose="02020603050405020304" pitchFamily="18" charset="0"/>
              </a:rPr>
              <a:t> 10B </a:t>
            </a:r>
            <a:r>
              <a:rPr lang="en-US" sz="4800" b="1" dirty="0" err="1">
                <a:latin typeface="Times New Roman" panose="02020603050405020304" pitchFamily="18" charset="0"/>
                <a:cs typeface="Times New Roman" panose="02020603050405020304" pitchFamily="18" charset="0"/>
              </a:rPr>
              <a:t>có</a:t>
            </a:r>
            <a:r>
              <a:rPr lang="en-US" sz="4800" b="1" dirty="0">
                <a:latin typeface="Times New Roman" panose="02020603050405020304" pitchFamily="18" charset="0"/>
                <a:cs typeface="Times New Roman" panose="02020603050405020304" pitchFamily="18" charset="0"/>
              </a:rPr>
              <a:t> 12 </a:t>
            </a:r>
            <a:r>
              <a:rPr lang="en-US" sz="4800" b="1" dirty="0" err="1">
                <a:latin typeface="Times New Roman" panose="02020603050405020304" pitchFamily="18" charset="0"/>
                <a:cs typeface="Times New Roman" panose="02020603050405020304" pitchFamily="18" charset="0"/>
              </a:rPr>
              <a:t>học</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sinh</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trong</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đó</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có</a:t>
            </a:r>
            <a:r>
              <a:rPr lang="en-US" sz="4800" b="1" dirty="0">
                <a:latin typeface="Times New Roman" panose="02020603050405020304" pitchFamily="18" charset="0"/>
                <a:cs typeface="Times New Roman" panose="02020603050405020304" pitchFamily="18" charset="0"/>
              </a:rPr>
              <a:t> 7 </a:t>
            </a:r>
            <a:r>
              <a:rPr lang="en-US" sz="4800" b="1" dirty="0" err="1">
                <a:latin typeface="Times New Roman" panose="02020603050405020304" pitchFamily="18" charset="0"/>
                <a:cs typeface="Times New Roman" panose="02020603050405020304" pitchFamily="18" charset="0"/>
              </a:rPr>
              <a:t>học</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sinh</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nam</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và</a:t>
            </a:r>
            <a:r>
              <a:rPr lang="en-US" sz="4800" b="1" dirty="0">
                <a:latin typeface="Times New Roman" panose="02020603050405020304" pitchFamily="18" charset="0"/>
                <a:cs typeface="Times New Roman" panose="02020603050405020304" pitchFamily="18" charset="0"/>
              </a:rPr>
              <a:t> 5 </a:t>
            </a:r>
            <a:r>
              <a:rPr lang="en-US" sz="4800" b="1" dirty="0" err="1">
                <a:latin typeface="Times New Roman" panose="02020603050405020304" pitchFamily="18" charset="0"/>
                <a:cs typeface="Times New Roman" panose="02020603050405020304" pitchFamily="18" charset="0"/>
              </a:rPr>
              <a:t>học</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sinh</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nữ</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Giáo</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viên</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chọn</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ngẫu</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nhiên</a:t>
            </a:r>
            <a:r>
              <a:rPr lang="en-US" sz="4800" b="1" dirty="0">
                <a:latin typeface="Times New Roman" panose="02020603050405020304" pitchFamily="18" charset="0"/>
                <a:cs typeface="Times New Roman" panose="02020603050405020304" pitchFamily="18" charset="0"/>
              </a:rPr>
              <a:t> 6 </a:t>
            </a:r>
            <a:r>
              <a:rPr lang="en-US" sz="4800" b="1" dirty="0" err="1">
                <a:latin typeface="Times New Roman" panose="02020603050405020304" pitchFamily="18" charset="0"/>
                <a:cs typeface="Times New Roman" panose="02020603050405020304" pitchFamily="18" charset="0"/>
              </a:rPr>
              <a:t>học</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sinh</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trong</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tổ</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để</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kiểm</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tra</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vở</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bài</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tập</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Toán</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Tính</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xác</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suất</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để</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trong</a:t>
            </a:r>
            <a:r>
              <a:rPr lang="en-US" sz="4800" b="1" dirty="0">
                <a:latin typeface="Times New Roman" panose="02020603050405020304" pitchFamily="18" charset="0"/>
                <a:cs typeface="Times New Roman" panose="02020603050405020304" pitchFamily="18" charset="0"/>
              </a:rPr>
              <a:t> 6 </a:t>
            </a:r>
            <a:r>
              <a:rPr lang="en-US" sz="4800" b="1" dirty="0" err="1">
                <a:latin typeface="Times New Roman" panose="02020603050405020304" pitchFamily="18" charset="0"/>
                <a:cs typeface="Times New Roman" panose="02020603050405020304" pitchFamily="18" charset="0"/>
              </a:rPr>
              <a:t>học</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sinh</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được</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chọn</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số</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học</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sinh</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nữ</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bằng</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số</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học</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sinh</a:t>
            </a:r>
            <a:r>
              <a:rPr lang="en-US" sz="4800" b="1" dirty="0">
                <a:latin typeface="Times New Roman" panose="02020603050405020304" pitchFamily="18" charset="0"/>
                <a:cs typeface="Times New Roman" panose="02020603050405020304" pitchFamily="18" charset="0"/>
              </a:rPr>
              <a:t> </a:t>
            </a:r>
            <a:r>
              <a:rPr lang="en-US" sz="4800" b="1" dirty="0" err="1">
                <a:latin typeface="Times New Roman" panose="02020603050405020304" pitchFamily="18" charset="0"/>
                <a:cs typeface="Times New Roman" panose="02020603050405020304" pitchFamily="18" charset="0"/>
              </a:rPr>
              <a:t>nam</a:t>
            </a:r>
            <a:r>
              <a:rPr lang="en-US" sz="4800" b="1" dirty="0">
                <a:latin typeface="Times New Roman" panose="02020603050405020304" pitchFamily="18" charset="0"/>
                <a:cs typeface="Times New Roman" panose="02020603050405020304" pitchFamily="18" charset="0"/>
              </a:rPr>
              <a:t>.</a:t>
            </a:r>
          </a:p>
          <a:p>
            <a:endParaRPr lang="en-US" b="1" dirty="0"/>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98721" y="4176516"/>
            <a:ext cx="23658572" cy="9162293"/>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398721" y="1847702"/>
            <a:ext cx="6306879" cy="822960"/>
            <a:chOff x="0" y="55017"/>
            <a:chExt cx="1513311" cy="284138"/>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284138"/>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Luyện tập 1.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863330" y="5190467"/>
                <a:ext cx="23221841" cy="7672870"/>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07000"/>
                  </a:lnSpc>
                  <a:spcAft>
                    <a:spcPts val="800"/>
                  </a:spcAft>
                </a:pPr>
                <a:r>
                  <a:rPr lang="vi-VN"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Không gian mẫu là tập tất cả các tập con gồm 6 học sinh trong 12 học sinh. </a:t>
                </a:r>
                <a:endPar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Vậy</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0"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𝜴</m:t>
                        </m:r>
                      </m:e>
                    </m:d>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𝑪</m:t>
                        </m:r>
                      </m:e>
                      <m:sub>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𝟏𝟐</m:t>
                        </m:r>
                      </m:sub>
                      <m:sup>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𝟔</m:t>
                        </m:r>
                      </m:sup>
                    </m:sSubSup>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𝟗𝟐𝟒</m:t>
                    </m:r>
                  </m:oMath>
                </a14:m>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Biến</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cô</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 “</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học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chọn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học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nữ</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bằng</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học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nam</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Mỗi</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tử</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hình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thành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hai</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đoạn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a:t>
                </a:r>
                <a:r>
                  <a:rPr lang="en-US"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đoạn</a:t>
                </a:r>
                <a:r>
                  <a:rPr lang="en-US" sz="4800" b="1" i="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1.</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Chọn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3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học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nam</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7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học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nam</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Sup>
                      <m:sSubSupPr>
                        <m:ctrlP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𝑪</m:t>
                        </m:r>
                      </m:e>
                      <m:sub>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𝟕</m:t>
                        </m:r>
                      </m:sub>
                      <m:sup>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𝟑</m:t>
                        </m:r>
                      </m:sup>
                    </m:sSubSup>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𝟑𝟓</m:t>
                    </m:r>
                  </m:oMath>
                </a14:m>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cách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chọn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a:t>
                </a:r>
                <a:r>
                  <a:rPr lang="en-US"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đoạn</a:t>
                </a:r>
                <a:r>
                  <a:rPr lang="en-US" sz="4800" b="1" i="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Chọn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3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học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nữ</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5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học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nữ</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Sup>
                      <m:sSubSupPr>
                        <m:ctrlP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𝑪</m:t>
                        </m:r>
                      </m:e>
                      <m:sub>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𝟓</m:t>
                        </m:r>
                      </m:sub>
                      <m:sup>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𝟑</m:t>
                        </m:r>
                      </m:sup>
                    </m:sSubSup>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𝟏𝟎</m:t>
                    </m:r>
                  </m:oMath>
                </a14:m>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cách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chọn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Theo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quy</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tắc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nhân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tập</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𝟑𝟓</m:t>
                    </m:r>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𝟏𝟎</m:t>
                    </m:r>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𝟑𝟓𝟎</m:t>
                    </m:r>
                  </m:oMath>
                </a14:m>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tử</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Vậy</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𝑨</m:t>
                        </m:r>
                      </m:e>
                    </m:d>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𝟑𝟓𝟎</m:t>
                    </m:r>
                  </m:oMath>
                </a14:m>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𝑷</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𝑨</m:t>
                        </m:r>
                      </m:e>
                    </m:d>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𝟑𝟓𝟎</m:t>
                        </m:r>
                      </m:num>
                      <m:den>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𝟗𝟐𝟒</m:t>
                        </m:r>
                      </m:den>
                    </m:f>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𝟐𝟓</m:t>
                        </m:r>
                      </m:num>
                      <m:den>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𝟔𝟔</m:t>
                        </m:r>
                      </m:den>
                    </m:f>
                  </m:oMath>
                </a14:m>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4800" b="1" dirty="0">
                    <a:effectLst/>
                    <a:latin typeface="Times New Roman" panose="02020603050405020304" pitchFamily="18" charset="0"/>
                    <a:ea typeface="Calibri" panose="020F0502020204030204" pitchFamily="34" charset="0"/>
                    <a:cs typeface="Times New Roman" panose="02020603050405020304" pitchFamily="18" charset="0"/>
                  </a:rPr>
                  <a:t> </a:t>
                </a: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863330" y="5190467"/>
                <a:ext cx="23221841" cy="7672870"/>
              </a:xfrm>
              <a:prstGeom prst="rect">
                <a:avLst/>
              </a:prstGeom>
              <a:blipFill>
                <a:blip r:embed="rId3"/>
                <a:stretch>
                  <a:fillRect l="-1208" t="-1827" b="-1112"/>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6167130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7">
                                            <p:txEl>
                                              <p:pRg st="0" end="0"/>
                                            </p:txEl>
                                          </p:spTgt>
                                        </p:tgtEl>
                                        <p:attrNameLst>
                                          <p:attrName>style.visibility</p:attrName>
                                        </p:attrNameLst>
                                      </p:cBhvr>
                                      <p:to>
                                        <p:strVal val="visible"/>
                                      </p:to>
                                    </p:set>
                                    <p:animEffect transition="in" filter="fade">
                                      <p:cBhvr>
                                        <p:cTn id="11" dur="500"/>
                                        <p:tgtEl>
                                          <p:spTgt spid="97">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7">
                                            <p:txEl>
                                              <p:pRg st="0" end="0"/>
                                            </p:txEl>
                                          </p:spTgt>
                                        </p:tgtEl>
                                        <p:attrNameLst>
                                          <p:attrName>style.visibility</p:attrName>
                                        </p:attrNameLst>
                                      </p:cBhvr>
                                      <p:to>
                                        <p:strVal val="visible"/>
                                      </p:to>
                                    </p:set>
                                    <p:animEffect transition="in" filter="fade">
                                      <p:cBhvr>
                                        <p:cTn id="20" dur="500"/>
                                        <p:tgtEl>
                                          <p:spTgt spid="2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7">
                                            <p:txEl>
                                              <p:pRg st="1" end="1"/>
                                            </p:txEl>
                                          </p:spTgt>
                                        </p:tgtEl>
                                        <p:attrNameLst>
                                          <p:attrName>style.visibility</p:attrName>
                                        </p:attrNameLst>
                                      </p:cBhvr>
                                      <p:to>
                                        <p:strVal val="visible"/>
                                      </p:to>
                                    </p:set>
                                    <p:animEffect transition="in" filter="fade">
                                      <p:cBhvr>
                                        <p:cTn id="25" dur="500"/>
                                        <p:tgtEl>
                                          <p:spTgt spid="27">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7">
                                            <p:txEl>
                                              <p:pRg st="2" end="2"/>
                                            </p:txEl>
                                          </p:spTgt>
                                        </p:tgtEl>
                                        <p:attrNameLst>
                                          <p:attrName>style.visibility</p:attrName>
                                        </p:attrNameLst>
                                      </p:cBhvr>
                                      <p:to>
                                        <p:strVal val="visible"/>
                                      </p:to>
                                    </p:set>
                                    <p:animEffect transition="in" filter="fade">
                                      <p:cBhvr>
                                        <p:cTn id="30" dur="500"/>
                                        <p:tgtEl>
                                          <p:spTgt spid="27">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7">
                                            <p:txEl>
                                              <p:pRg st="3" end="3"/>
                                            </p:txEl>
                                          </p:spTgt>
                                        </p:tgtEl>
                                        <p:attrNameLst>
                                          <p:attrName>style.visibility</p:attrName>
                                        </p:attrNameLst>
                                      </p:cBhvr>
                                      <p:to>
                                        <p:strVal val="visible"/>
                                      </p:to>
                                    </p:set>
                                    <p:animEffect transition="in" filter="fade">
                                      <p:cBhvr>
                                        <p:cTn id="35" dur="500"/>
                                        <p:tgtEl>
                                          <p:spTgt spid="27">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7">
                                            <p:txEl>
                                              <p:pRg st="4" end="4"/>
                                            </p:txEl>
                                          </p:spTgt>
                                        </p:tgtEl>
                                        <p:attrNameLst>
                                          <p:attrName>style.visibility</p:attrName>
                                        </p:attrNameLst>
                                      </p:cBhvr>
                                      <p:to>
                                        <p:strVal val="visible"/>
                                      </p:to>
                                    </p:set>
                                    <p:animEffect transition="in" filter="fade">
                                      <p:cBhvr>
                                        <p:cTn id="40" dur="500"/>
                                        <p:tgtEl>
                                          <p:spTgt spid="27">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7">
                                            <p:txEl>
                                              <p:pRg st="5" end="5"/>
                                            </p:txEl>
                                          </p:spTgt>
                                        </p:tgtEl>
                                        <p:attrNameLst>
                                          <p:attrName>style.visibility</p:attrName>
                                        </p:attrNameLst>
                                      </p:cBhvr>
                                      <p:to>
                                        <p:strVal val="visible"/>
                                      </p:to>
                                    </p:set>
                                    <p:animEffect transition="in" filter="fade">
                                      <p:cBhvr>
                                        <p:cTn id="45" dur="500"/>
                                        <p:tgtEl>
                                          <p:spTgt spid="27">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7">
                                            <p:txEl>
                                              <p:pRg st="6" end="6"/>
                                            </p:txEl>
                                          </p:spTgt>
                                        </p:tgtEl>
                                        <p:attrNameLst>
                                          <p:attrName>style.visibility</p:attrName>
                                        </p:attrNameLst>
                                      </p:cBhvr>
                                      <p:to>
                                        <p:strVal val="visible"/>
                                      </p:to>
                                    </p:set>
                                    <p:animEffect transition="in" filter="fade">
                                      <p:cBhvr>
                                        <p:cTn id="50" dur="500"/>
                                        <p:tgtEl>
                                          <p:spTgt spid="27">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7">
                                            <p:txEl>
                                              <p:pRg st="7" end="7"/>
                                            </p:txEl>
                                          </p:spTgt>
                                        </p:tgtEl>
                                        <p:attrNameLst>
                                          <p:attrName>style.visibility</p:attrName>
                                        </p:attrNameLst>
                                      </p:cBhvr>
                                      <p:to>
                                        <p:strVal val="visible"/>
                                      </p:to>
                                    </p:set>
                                    <p:animEffect transition="in" filter="fade">
                                      <p:cBhvr>
                                        <p:cTn id="55" dur="500"/>
                                        <p:tgtEl>
                                          <p:spTgt spid="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D2311B5C-098F-06A6-9D26-F11C42C0EC66}"/>
              </a:ext>
            </a:extLst>
          </p:cNvPr>
          <p:cNvSpPr txBox="1"/>
          <p:nvPr/>
        </p:nvSpPr>
        <p:spPr>
          <a:xfrm>
            <a:off x="195470" y="1667329"/>
            <a:ext cx="14282529" cy="767261"/>
          </a:xfrm>
          <a:prstGeom prst="rect">
            <a:avLst/>
          </a:prstGeom>
          <a:noFill/>
        </p:spPr>
        <p:txBody>
          <a:bodyPr wrap="square">
            <a:spAutoFit/>
          </a:bodyPr>
          <a:lstStyle/>
          <a:p>
            <a:pPr>
              <a:lnSpc>
                <a:spcPct val="107000"/>
              </a:lnSpc>
              <a:spcAft>
                <a:spcPts val="800"/>
              </a:spcAft>
            </a:pPr>
            <a:r>
              <a:rPr lang="en-US" sz="4400" b="1">
                <a:solidFill>
                  <a:srgbClr val="0033CC"/>
                </a:solidFill>
                <a:latin typeface="Times New Roman" panose="02020603050405020304" pitchFamily="18" charset="0"/>
                <a:cs typeface="Times New Roman" panose="02020603050405020304" pitchFamily="18" charset="0"/>
              </a:rPr>
              <a:t>2. </a:t>
            </a:r>
            <a:r>
              <a:rPr lang="en-US" sz="4400" b="1">
                <a:solidFill>
                  <a:srgbClr val="0033CC"/>
                </a:solidFill>
                <a:effectLst/>
                <a:latin typeface="Times New Roman" panose="02020603050405020304" pitchFamily="18" charset="0"/>
                <a:ea typeface="Calibri" panose="020F0502020204030204" pitchFamily="34" charset="0"/>
                <a:cs typeface="Times New Roman" panose="02020603050405020304" pitchFamily="18" charset="0"/>
              </a:rPr>
              <a:t>SỬ DỤNG SƠ ĐỒ HÌNH CÂY</a:t>
            </a:r>
            <a:endParaRPr lang="en-US"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20" name="Group 19">
            <a:extLst>
              <a:ext uri="{FF2B5EF4-FFF2-40B4-BE49-F238E27FC236}">
                <a16:creationId xmlns:a16="http://schemas.microsoft.com/office/drawing/2014/main" id="{733EC7B3-28E2-4EC1-96F1-9B6C790B4072}"/>
              </a:ext>
            </a:extLst>
          </p:cNvPr>
          <p:cNvGrpSpPr/>
          <p:nvPr/>
        </p:nvGrpSpPr>
        <p:grpSpPr>
          <a:xfrm>
            <a:off x="79515" y="2350134"/>
            <a:ext cx="13103085" cy="10299065"/>
            <a:chOff x="0" y="-68663"/>
            <a:chExt cx="6294303" cy="5419466"/>
          </a:xfrm>
        </p:grpSpPr>
        <p:sp>
          <p:nvSpPr>
            <p:cNvPr id="21" name="TextBox 321">
              <a:extLst>
                <a:ext uri="{FF2B5EF4-FFF2-40B4-BE49-F238E27FC236}">
                  <a16:creationId xmlns:a16="http://schemas.microsoft.com/office/drawing/2014/main" id="{8FB67F4D-D94D-0AAD-572A-B84D46204181}"/>
                </a:ext>
              </a:extLst>
            </p:cNvPr>
            <p:cNvSpPr txBox="1"/>
            <p:nvPr/>
          </p:nvSpPr>
          <p:spPr>
            <a:xfrm>
              <a:off x="547194" y="-68663"/>
              <a:ext cx="5747109" cy="5419466"/>
            </a:xfrm>
            <a:prstGeom prst="rect">
              <a:avLst/>
            </a:prstGeom>
            <a:solidFill>
              <a:srgbClr val="D6F7FE"/>
            </a:solidFill>
          </p:spPr>
          <p:txBody>
            <a:bodyPr wrap="square" rtlCol="0">
              <a:noAutofit/>
            </a:bodyPr>
            <a:lstStyle/>
            <a:p>
              <a:pPr>
                <a:lnSpc>
                  <a:spcPct val="107000"/>
                </a:lnSpc>
                <a:spcAft>
                  <a:spcPts val="800"/>
                </a:spcAft>
              </a:pPr>
              <a:r>
                <a:rPr lang="en-US" sz="4800" b="1" kern="1200">
                  <a:solidFill>
                    <a:srgbClr val="FF0000"/>
                  </a:solidFill>
                  <a:effectLst/>
                  <a:latin typeface="Times New Roman" panose="02020603050405020304" pitchFamily="18" charset="0"/>
                  <a:ea typeface="Cascadia Mono"/>
                  <a:cs typeface="Times New Roman" panose="02020603050405020304" pitchFamily="18" charset="0"/>
                </a:rPr>
                <a:t>HĐ2: </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Trong trò chơi "Vòng quay may mắn", người chơi sẽ quay hai bảnh xe. Mũi tên ở bánh xe thứ nhất có thề dừng ở một trong hai vị trí: Loại xe 50 cc và Loại xe 110 cc. Mũi tên ở bánh xe thứ hai có thề dừng ở một trong bốn vị trí: màu đen, màu trắng, màu đò và màu xanh. Vị trí cùa mũi tên trên hai bánh xe sẽ xác định người chơi nhận được loại xe nào, màu gì. </a:t>
              </a:r>
              <a:r>
                <a:rPr lang="fr-FR"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Phép thử T là quay hai bánh xe. </a:t>
              </a:r>
            </a:p>
            <a:p>
              <a:pPr>
                <a:lnSpc>
                  <a:spcPct val="107000"/>
                </a:lnSpc>
                <a:spcAft>
                  <a:spcPts val="800"/>
                </a:spcAft>
              </a:pPr>
              <a:r>
                <a:rPr lang="fr-FR"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Hãy vẽ sơ đồ hình cây mô tả các phần tử của không gian mẫu.</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endParaRPr lang="en-US" sz="480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kern="1200">
                  <a:solidFill>
                    <a:srgbClr val="FF0000"/>
                  </a:solidFill>
                  <a:effectLst/>
                  <a:latin typeface="Times New Roman" panose="02020603050405020304" pitchFamily="18" charset="0"/>
                  <a:ea typeface="Cascadia Mono"/>
                  <a:cs typeface="Times New Roman" panose="02020603050405020304" pitchFamily="18" charset="0"/>
                </a:rPr>
                <a:t> </a:t>
              </a:r>
              <a:endParaRPr lang="en-US" sz="480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22" name="Group 21">
              <a:extLst>
                <a:ext uri="{FF2B5EF4-FFF2-40B4-BE49-F238E27FC236}">
                  <a16:creationId xmlns:a16="http://schemas.microsoft.com/office/drawing/2014/main" id="{5B480C2F-C464-41D6-2F19-E641AEA4E1AF}"/>
                </a:ext>
              </a:extLst>
            </p:cNvPr>
            <p:cNvGrpSpPr/>
            <p:nvPr/>
          </p:nvGrpSpPr>
          <p:grpSpPr>
            <a:xfrm>
              <a:off x="0" y="92326"/>
              <a:ext cx="627012" cy="197663"/>
              <a:chOff x="0" y="92326"/>
              <a:chExt cx="575416" cy="197663"/>
            </a:xfrm>
          </p:grpSpPr>
          <p:grpSp>
            <p:nvGrpSpPr>
              <p:cNvPr id="23" name="Group 22">
                <a:extLst>
                  <a:ext uri="{FF2B5EF4-FFF2-40B4-BE49-F238E27FC236}">
                    <a16:creationId xmlns:a16="http://schemas.microsoft.com/office/drawing/2014/main" id="{B5289849-6757-FD7C-CBD4-ECE8D1480ABE}"/>
                  </a:ext>
                </a:extLst>
              </p:cNvPr>
              <p:cNvGrpSpPr/>
              <p:nvPr/>
            </p:nvGrpSpPr>
            <p:grpSpPr>
              <a:xfrm>
                <a:off x="0" y="92326"/>
                <a:ext cx="575416" cy="197663"/>
                <a:chOff x="0" y="92326"/>
                <a:chExt cx="644449" cy="302837"/>
              </a:xfrm>
            </p:grpSpPr>
            <p:sp>
              <p:nvSpPr>
                <p:cNvPr id="26" name="Arrow: Pentagon 25">
                  <a:extLst>
                    <a:ext uri="{FF2B5EF4-FFF2-40B4-BE49-F238E27FC236}">
                      <a16:creationId xmlns:a16="http://schemas.microsoft.com/office/drawing/2014/main" id="{2D6FBE1C-784D-F914-44F8-1A63EA000BD0}"/>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a:p>
              </p:txBody>
            </p:sp>
            <p:sp>
              <p:nvSpPr>
                <p:cNvPr id="27" name="Arrow: Chevron 26">
                  <a:extLst>
                    <a:ext uri="{FF2B5EF4-FFF2-40B4-BE49-F238E27FC236}">
                      <a16:creationId xmlns:a16="http://schemas.microsoft.com/office/drawing/2014/main" id="{4E8EFE40-4E12-8A57-70BF-A1B6DB669A47}"/>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a:p>
              </p:txBody>
            </p:sp>
            <p:sp>
              <p:nvSpPr>
                <p:cNvPr id="28" name="Arrow: Chevron 27">
                  <a:extLst>
                    <a:ext uri="{FF2B5EF4-FFF2-40B4-BE49-F238E27FC236}">
                      <a16:creationId xmlns:a16="http://schemas.microsoft.com/office/drawing/2014/main" id="{D0D01B48-699A-B27D-8D7F-1A6598282463}"/>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a:p>
              </p:txBody>
            </p:sp>
          </p:grpSp>
          <p:sp>
            <p:nvSpPr>
              <p:cNvPr id="24" name="Flowchart: Terminator 23">
                <a:extLst>
                  <a:ext uri="{FF2B5EF4-FFF2-40B4-BE49-F238E27FC236}">
                    <a16:creationId xmlns:a16="http://schemas.microsoft.com/office/drawing/2014/main" id="{C0506E1E-8F3B-CF84-3E2E-7699D83F7F61}"/>
                  </a:ext>
                </a:extLst>
              </p:cNvPr>
              <p:cNvSpPr/>
              <p:nvPr/>
            </p:nvSpPr>
            <p:spPr>
              <a:xfrm>
                <a:off x="80311" y="137613"/>
                <a:ext cx="253736" cy="115826"/>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a:p>
            </p:txBody>
          </p:sp>
          <p:sp>
            <p:nvSpPr>
              <p:cNvPr id="25" name="Oval 24">
                <a:extLst>
                  <a:ext uri="{FF2B5EF4-FFF2-40B4-BE49-F238E27FC236}">
                    <a16:creationId xmlns:a16="http://schemas.microsoft.com/office/drawing/2014/main" id="{15A12938-5FDF-C5DB-375D-D31E2A318BA7}"/>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a:p>
            </p:txBody>
          </p:sp>
        </p:grpSp>
      </p:grpSp>
      <p:pic>
        <p:nvPicPr>
          <p:cNvPr id="29" name="Picture 28" descr="A close-up of a sign&#10;&#10;Description automatically generated with low confidence">
            <a:extLst>
              <a:ext uri="{FF2B5EF4-FFF2-40B4-BE49-F238E27FC236}">
                <a16:creationId xmlns:a16="http://schemas.microsoft.com/office/drawing/2014/main" id="{286DE190-091B-DBDD-C516-CAD8F79D16C7}"/>
              </a:ext>
            </a:extLst>
          </p:cNvPr>
          <p:cNvPicPr>
            <a:picLocks noChangeAspect="1"/>
          </p:cNvPicPr>
          <p:nvPr/>
        </p:nvPicPr>
        <p:blipFill>
          <a:blip r:embed="rId3"/>
          <a:stretch>
            <a:fillRect/>
          </a:stretch>
        </p:blipFill>
        <p:spPr>
          <a:xfrm>
            <a:off x="13868400" y="2933280"/>
            <a:ext cx="9144000" cy="5372520"/>
          </a:xfrm>
          <a:prstGeom prst="rect">
            <a:avLst/>
          </a:prstGeom>
          <a:solidFill>
            <a:srgbClr val="D6F7FE"/>
          </a:solidFill>
        </p:spPr>
      </p:pic>
      <p:sp>
        <p:nvSpPr>
          <p:cNvPr id="31" name="Rounded Rectangle 3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35" name="TextBox 3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36716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a:extLst>
              <a:ext uri="{FF2B5EF4-FFF2-40B4-BE49-F238E27FC236}">
                <a16:creationId xmlns:a16="http://schemas.microsoft.com/office/drawing/2014/main" id="{C0B27210-D0CA-4654-B3E3-9ABB4F178EA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Shape 105">
            <a:extLst>
              <a:ext uri="{FF2B5EF4-FFF2-40B4-BE49-F238E27FC236}">
                <a16:creationId xmlns:a16="http://schemas.microsoft.com/office/drawing/2014/main" id="{1DB7C82F-AB7E-4F0C-B829-FA1B9C41518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345564" cy="13716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8" name="Freeform: Shape 107">
            <a:extLst>
              <a:ext uri="{FF2B5EF4-FFF2-40B4-BE49-F238E27FC236}">
                <a16:creationId xmlns:a16="http://schemas.microsoft.com/office/drawing/2014/main" id="{70B66945-4967-4040-926D-DCA44313CDA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048308" cy="13716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14" descr="A close-up of a sign&#10;&#10;Description automatically generated with low confidence">
            <a:extLst>
              <a:ext uri="{FF2B5EF4-FFF2-40B4-BE49-F238E27FC236}">
                <a16:creationId xmlns:a16="http://schemas.microsoft.com/office/drawing/2014/main" id="{3EE6C194-6A5F-705C-ECE8-7A59A5FA7FBA}"/>
              </a:ext>
            </a:extLst>
          </p:cNvPr>
          <p:cNvPicPr>
            <a:picLocks noChangeAspect="1"/>
          </p:cNvPicPr>
          <p:nvPr/>
        </p:nvPicPr>
        <p:blipFill>
          <a:blip r:embed="rId3"/>
          <a:stretch>
            <a:fillRect/>
          </a:stretch>
        </p:blipFill>
        <p:spPr>
          <a:xfrm>
            <a:off x="838764" y="3121842"/>
            <a:ext cx="7543236" cy="4374746"/>
          </a:xfrm>
          <a:prstGeom prst="rect">
            <a:avLst/>
          </a:prstGeom>
        </p:spPr>
      </p:pic>
      <p:sp>
        <p:nvSpPr>
          <p:cNvPr id="20" name="TextBox 19">
            <a:extLst>
              <a:ext uri="{FF2B5EF4-FFF2-40B4-BE49-F238E27FC236}">
                <a16:creationId xmlns:a16="http://schemas.microsoft.com/office/drawing/2014/main" id="{1E970085-AC89-D513-F5A2-C2D250217BD1}"/>
              </a:ext>
            </a:extLst>
          </p:cNvPr>
          <p:cNvSpPr txBox="1"/>
          <p:nvPr/>
        </p:nvSpPr>
        <p:spPr>
          <a:xfrm>
            <a:off x="7391400" y="228600"/>
            <a:ext cx="12187988" cy="768031"/>
          </a:xfrm>
          <a:prstGeom prst="rect">
            <a:avLst/>
          </a:prstGeom>
          <a:noFill/>
        </p:spPr>
        <p:txBody>
          <a:bodyPr wrap="square">
            <a:spAutoFit/>
          </a:bodyPr>
          <a:lstStyle/>
          <a:p>
            <a:pPr marL="629920" algn="ctr">
              <a:lnSpc>
                <a:spcPct val="107000"/>
              </a:lnSpc>
              <a:spcAft>
                <a:spcPts val="800"/>
              </a:spcAft>
              <a:tabLst>
                <a:tab pos="3599815" algn="l"/>
                <a:tab pos="5039995" algn="l"/>
              </a:tabLst>
            </a:pPr>
            <a:r>
              <a:rPr lang="vi-VN" sz="4400" b="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Lời giải</a:t>
            </a:r>
            <a:endParaRPr lang="en-US" sz="44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1" name="Hình ảnh 148" descr="Ảnh có chứa văn bản, kẻng ba góc, máy cắt cỏ&#10;&#10;Mô tả được tạo tự động">
            <a:extLst>
              <a:ext uri="{FF2B5EF4-FFF2-40B4-BE49-F238E27FC236}">
                <a16:creationId xmlns:a16="http://schemas.microsoft.com/office/drawing/2014/main" id="{ED99CF72-D4D1-4E49-EBCC-C3B2F0E1F9D6}"/>
              </a:ext>
            </a:extLst>
          </p:cNvPr>
          <p:cNvPicPr>
            <a:picLocks noChangeAspect="1"/>
          </p:cNvPicPr>
          <p:nvPr/>
        </p:nvPicPr>
        <p:blipFill>
          <a:blip r:embed="rId4"/>
          <a:stretch>
            <a:fillRect/>
          </a:stretch>
        </p:blipFill>
        <p:spPr>
          <a:xfrm>
            <a:off x="12573000" y="1589558"/>
            <a:ext cx="10668000" cy="3744442"/>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F19148D-5C06-C595-7F64-6016B27FD625}"/>
                  </a:ext>
                </a:extLst>
              </p:cNvPr>
              <p:cNvSpPr txBox="1"/>
              <p:nvPr/>
            </p:nvSpPr>
            <p:spPr>
              <a:xfrm>
                <a:off x="12048308" y="5926927"/>
                <a:ext cx="12195312" cy="1569660"/>
              </a:xfrm>
              <a:prstGeom prst="rect">
                <a:avLst/>
              </a:prstGeom>
              <a:noFill/>
            </p:spPr>
            <p:txBody>
              <a:bodyPr wrap="square">
                <a:spAutoFit/>
              </a:bodyPr>
              <a:lstStyle/>
              <a:p>
                <a14:m>
                  <m:oMath xmlns:m="http://schemas.openxmlformats.org/officeDocument/2006/math">
                    <m:r>
                      <a:rPr lang="en-US" sz="4800" b="1" i="1" smtClean="0">
                        <a:solidFill>
                          <a:srgbClr val="FFFFFF"/>
                        </a:solidFill>
                        <a:latin typeface="Cambria Math" panose="02040503050406030204" pitchFamily="18" charset="0"/>
                      </a:rPr>
                      <m:t>𝜴</m:t>
                    </m:r>
                    <m:r>
                      <a:rPr lang="en-US" sz="4800" b="1" i="0">
                        <a:solidFill>
                          <a:srgbClr val="FFFFFF"/>
                        </a:solidFill>
                        <a:latin typeface="Cambria Math" panose="02040503050406030204" pitchFamily="18" charset="0"/>
                      </a:rPr>
                      <m:t>=</m:t>
                    </m:r>
                  </m:oMath>
                </a14:m>
                <a:r>
                  <a:rPr lang="en-US" sz="4800" b="1" dirty="0">
                    <a:solidFill>
                      <a:srgbClr val="FFFFFF"/>
                    </a:solidFill>
                  </a:rPr>
                  <a:t> { 50 </a:t>
                </a:r>
                <a:r>
                  <a:rPr lang="en-US" sz="4800" b="1" dirty="0" err="1">
                    <a:solidFill>
                      <a:srgbClr val="FFFFFF"/>
                    </a:solidFill>
                  </a:rPr>
                  <a:t>đỏ</a:t>
                </a:r>
                <a:r>
                  <a:rPr lang="en-US" sz="4800" b="1" dirty="0">
                    <a:solidFill>
                      <a:srgbClr val="FFFFFF"/>
                    </a:solidFill>
                  </a:rPr>
                  <a:t>; 50 </a:t>
                </a:r>
                <a:r>
                  <a:rPr lang="en-US" sz="4800" b="1" dirty="0" err="1">
                    <a:solidFill>
                      <a:srgbClr val="FFFFFF"/>
                    </a:solidFill>
                  </a:rPr>
                  <a:t>Xanh</a:t>
                </a:r>
                <a:r>
                  <a:rPr lang="en-US" sz="4800" b="1" dirty="0">
                    <a:solidFill>
                      <a:srgbClr val="FFFFFF"/>
                    </a:solidFill>
                  </a:rPr>
                  <a:t>; 50 </a:t>
                </a:r>
                <a:r>
                  <a:rPr lang="en-US" sz="4800" b="1" dirty="0" err="1">
                    <a:solidFill>
                      <a:srgbClr val="FFFFFF"/>
                    </a:solidFill>
                  </a:rPr>
                  <a:t>đen</a:t>
                </a:r>
                <a:r>
                  <a:rPr lang="en-US" sz="4800" b="1" dirty="0">
                    <a:solidFill>
                      <a:srgbClr val="FFFFFF"/>
                    </a:solidFill>
                  </a:rPr>
                  <a:t>; 50 </a:t>
                </a:r>
                <a:r>
                  <a:rPr lang="en-US" sz="4800" b="1" dirty="0" err="1">
                    <a:solidFill>
                      <a:srgbClr val="FFFFFF"/>
                    </a:solidFill>
                  </a:rPr>
                  <a:t>trắng</a:t>
                </a:r>
                <a:r>
                  <a:rPr lang="en-US" sz="4800" b="1" dirty="0">
                    <a:solidFill>
                      <a:srgbClr val="FFFFFF"/>
                    </a:solidFill>
                  </a:rPr>
                  <a:t>; 100 </a:t>
                </a:r>
                <a:r>
                  <a:rPr lang="en-US" sz="4800" b="1" dirty="0" err="1">
                    <a:solidFill>
                      <a:srgbClr val="FFFFFF"/>
                    </a:solidFill>
                  </a:rPr>
                  <a:t>đỏ</a:t>
                </a:r>
                <a:r>
                  <a:rPr lang="en-US" sz="4800" b="1" dirty="0">
                    <a:solidFill>
                      <a:srgbClr val="FFFFFF"/>
                    </a:solidFill>
                  </a:rPr>
                  <a:t>; 100 </a:t>
                </a:r>
                <a:r>
                  <a:rPr lang="en-US" sz="4800" b="1" dirty="0" err="1">
                    <a:solidFill>
                      <a:srgbClr val="FFFFFF"/>
                    </a:solidFill>
                  </a:rPr>
                  <a:t>xanh</a:t>
                </a:r>
                <a:r>
                  <a:rPr lang="en-US" sz="4800" b="1" dirty="0">
                    <a:solidFill>
                      <a:srgbClr val="FFFFFF"/>
                    </a:solidFill>
                  </a:rPr>
                  <a:t>; 100 </a:t>
                </a:r>
                <a:r>
                  <a:rPr lang="en-US" sz="4800" b="1" dirty="0" err="1">
                    <a:solidFill>
                      <a:srgbClr val="FFFFFF"/>
                    </a:solidFill>
                  </a:rPr>
                  <a:t>đen</a:t>
                </a:r>
                <a:r>
                  <a:rPr lang="en-US" sz="4800" b="1" dirty="0">
                    <a:solidFill>
                      <a:srgbClr val="FFFFFF"/>
                    </a:solidFill>
                  </a:rPr>
                  <a:t>; 100 </a:t>
                </a:r>
                <a:r>
                  <a:rPr lang="en-US" sz="4800" b="1" dirty="0" err="1">
                    <a:solidFill>
                      <a:srgbClr val="FFFFFF"/>
                    </a:solidFill>
                  </a:rPr>
                  <a:t>trắng</a:t>
                </a:r>
                <a:r>
                  <a:rPr lang="en-US" sz="4800" b="1" dirty="0">
                    <a:solidFill>
                      <a:srgbClr val="FFFFFF"/>
                    </a:solidFill>
                  </a:rPr>
                  <a:t> } </a:t>
                </a:r>
              </a:p>
            </p:txBody>
          </p:sp>
        </mc:Choice>
        <mc:Fallback xmlns="">
          <p:sp>
            <p:nvSpPr>
              <p:cNvPr id="24" name="TextBox 23">
                <a:extLst>
                  <a:ext uri="{FF2B5EF4-FFF2-40B4-BE49-F238E27FC236}">
                    <a16:creationId xmlns:a16="http://schemas.microsoft.com/office/drawing/2014/main" id="{AF19148D-5C06-C595-7F64-6016B27FD625}"/>
                  </a:ext>
                </a:extLst>
              </p:cNvPr>
              <p:cNvSpPr txBox="1">
                <a:spLocks noRot="1" noChangeAspect="1" noMove="1" noResize="1" noEditPoints="1" noAdjustHandles="1" noChangeArrowheads="1" noChangeShapeType="1" noTextEdit="1"/>
              </p:cNvSpPr>
              <p:nvPr/>
            </p:nvSpPr>
            <p:spPr>
              <a:xfrm>
                <a:off x="12048308" y="5926927"/>
                <a:ext cx="12195312" cy="1569660"/>
              </a:xfrm>
              <a:prstGeom prst="rect">
                <a:avLst/>
              </a:prstGeom>
              <a:blipFill>
                <a:blip r:embed="rId5"/>
                <a:stretch>
                  <a:fillRect l="-2249" t="-8527" b="-19767"/>
                </a:stretch>
              </a:blipFill>
            </p:spPr>
            <p:txBody>
              <a:bodyPr/>
              <a:lstStyle/>
              <a:p>
                <a:r>
                  <a:rPr lang="en-US">
                    <a:noFill/>
                  </a:rPr>
                  <a:t> </a:t>
                </a:r>
              </a:p>
            </p:txBody>
          </p:sp>
        </mc:Fallback>
      </mc:AlternateContent>
      <p:sp>
        <p:nvSpPr>
          <p:cNvPr id="25" name="Text Box 51">
            <a:extLst>
              <a:ext uri="{FF2B5EF4-FFF2-40B4-BE49-F238E27FC236}">
                <a16:creationId xmlns:a16="http://schemas.microsoft.com/office/drawing/2014/main" id="{51C5A9B3-FF98-AF1D-50C7-6BD1A89DC020}"/>
              </a:ext>
            </a:extLst>
          </p:cNvPr>
          <p:cNvSpPr txBox="1"/>
          <p:nvPr/>
        </p:nvSpPr>
        <p:spPr>
          <a:xfrm>
            <a:off x="10989365" y="8244093"/>
            <a:ext cx="13411200" cy="4724400"/>
          </a:xfrm>
          <a:prstGeom prst="rect">
            <a:avLst/>
          </a:prstGeom>
          <a:noFill/>
          <a:ln w="19050">
            <a:solidFill>
              <a:srgbClr val="C00000"/>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4800" b="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Trong một số bài toán, phép thử </a:t>
            </a:r>
            <a:r>
              <a:rPr lang="en-US" sz="4800" b="1" i="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US" sz="4800" b="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được hình thành từ một vài phép thử, chẳng hạn: gieo xúc xắc liên tiếp bốn lần: lấy ba viên bi, mỗi viên từ một hộp;... Khi đó ta sử dụng sơ đồ hình cây đề cỏ thề mô tà đầy đủ, trực quan không gian mẫu và biến cố cần tính xác suất.</a:t>
            </a:r>
          </a:p>
        </p:txBody>
      </p:sp>
      <p:sp>
        <p:nvSpPr>
          <p:cNvPr id="110" name="Rounded Rectangle 10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14" name="TextBox 11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6213318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425302" y="1977466"/>
            <a:ext cx="23622000" cy="4423334"/>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fr-FR" b="1"/>
              <a:t>Có ba chiếc hộp. Hộp I có chứa ba viên bi: 1 viên màu đỏ, 1 viên màu xanh và 1 viên màu vàng. Hộp II chứa hai viên bi: 1 viên màu xanh và 1 viên màu vàng. Hộp III chứa hai viên bi: 1 viên màu đỏ và 1 viên màu xanh. Từ mỗi hộp ta lấy ngẫu nhiên một viên bi.</a:t>
            </a:r>
            <a:endParaRPr lang="en-US" b="1"/>
          </a:p>
          <a:p>
            <a:r>
              <a:rPr lang="fr-FR" b="1"/>
              <a:t>a) Vẽ sơ đồ hình cây để mô tả các phần tử của không gian mẫu.</a:t>
            </a:r>
            <a:endParaRPr lang="en-US" b="1"/>
          </a:p>
          <a:p>
            <a:r>
              <a:rPr lang="fr-FR" b="1"/>
              <a:t>b) Tính xác suất để trong ba viên bi lấy ra có đúng một viên bi màu xanh.</a:t>
            </a:r>
            <a:endParaRPr lang="en-US" b="1"/>
          </a:p>
          <a:p>
            <a:endParaRPr lang="en-US" b="1" dirty="0"/>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25302" y="6480077"/>
            <a:ext cx="23658572" cy="7007323"/>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847702"/>
            <a:ext cx="44196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vi-VN" sz="4000" b="1">
                  <a:solidFill>
                    <a:srgbClr val="FF0000"/>
                  </a:solidFill>
                  <a:latin typeface="Tahoma" panose="020B0604030504040204" pitchFamily="34" charset="0"/>
                  <a:ea typeface="Tahoma" panose="020B0604030504040204" pitchFamily="34" charset="0"/>
                  <a:cs typeface="Tahoma" panose="020B0604030504040204" pitchFamily="34" charset="0"/>
                </a:rPr>
                <a:t>Ví dụ 2</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2258396" y="6701026"/>
            <a:ext cx="20144403" cy="829394"/>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07000"/>
              </a:lnSpc>
              <a:spcAft>
                <a:spcPts val="800"/>
              </a:spcAft>
            </a:pPr>
            <a:r>
              <a:rPr lang="fr-FR"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Kí hiệu Đ, X, V tương ứng là viên bi màu đỏ, màu xanh và màu vàng</a:t>
            </a:r>
            <a:r>
              <a:rPr lang="en-US" sz="4800" b="1">
                <a:effectLst/>
                <a:latin typeface="Times New Roman" panose="02020603050405020304" pitchFamily="18" charset="0"/>
                <a:ea typeface="Calibri" panose="020F0502020204030204" pitchFamily="34" charset="0"/>
                <a:cs typeface="Times New Roman" panose="02020603050405020304" pitchFamily="18" charset="0"/>
              </a:rPr>
              <a:t> </a:t>
            </a:r>
          </a:p>
        </p:txBody>
      </p:sp>
      <p:pic>
        <p:nvPicPr>
          <p:cNvPr id="18" name="Picture 17">
            <a:extLst>
              <a:ext uri="{FF2B5EF4-FFF2-40B4-BE49-F238E27FC236}">
                <a16:creationId xmlns:a16="http://schemas.microsoft.com/office/drawing/2014/main" id="{7EE7270B-72AB-7BEE-466F-F42FB6150FAC}"/>
              </a:ext>
            </a:extLst>
          </p:cNvPr>
          <p:cNvPicPr>
            <a:picLocks noChangeAspect="1"/>
          </p:cNvPicPr>
          <p:nvPr/>
        </p:nvPicPr>
        <p:blipFill>
          <a:blip r:embed="rId3"/>
          <a:stretch>
            <a:fillRect/>
          </a:stretch>
        </p:blipFill>
        <p:spPr>
          <a:xfrm>
            <a:off x="665850" y="7645276"/>
            <a:ext cx="11526149" cy="5384924"/>
          </a:xfrm>
          <a:prstGeom prst="rect">
            <a:avLst/>
          </a:prstGeom>
        </p:spPr>
      </p:pic>
      <p:pic>
        <p:nvPicPr>
          <p:cNvPr id="19" name="Picture 18">
            <a:extLst>
              <a:ext uri="{FF2B5EF4-FFF2-40B4-BE49-F238E27FC236}">
                <a16:creationId xmlns:a16="http://schemas.microsoft.com/office/drawing/2014/main" id="{EA5C7648-0CEA-B54E-FAFC-5FA3A8BA4B89}"/>
              </a:ext>
            </a:extLst>
          </p:cNvPr>
          <p:cNvPicPr>
            <a:picLocks noChangeAspect="1"/>
          </p:cNvPicPr>
          <p:nvPr/>
        </p:nvPicPr>
        <p:blipFill>
          <a:blip r:embed="rId4"/>
          <a:stretch>
            <a:fillRect/>
          </a:stretch>
        </p:blipFill>
        <p:spPr>
          <a:xfrm>
            <a:off x="14025094" y="7710368"/>
            <a:ext cx="7836654" cy="5319832"/>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3164766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7">
                                            <p:txEl>
                                              <p:pRg st="0" end="0"/>
                                            </p:txEl>
                                          </p:spTgt>
                                        </p:tgtEl>
                                        <p:attrNameLst>
                                          <p:attrName>style.visibility</p:attrName>
                                        </p:attrNameLst>
                                      </p:cBhvr>
                                      <p:to>
                                        <p:strVal val="visible"/>
                                      </p:to>
                                    </p:set>
                                    <p:animEffect transition="in" filter="fade">
                                      <p:cBhvr>
                                        <p:cTn id="11" dur="500"/>
                                        <p:tgtEl>
                                          <p:spTgt spid="97">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7">
                                            <p:txEl>
                                              <p:pRg st="1" end="1"/>
                                            </p:txEl>
                                          </p:spTgt>
                                        </p:tgtEl>
                                        <p:attrNameLst>
                                          <p:attrName>style.visibility</p:attrName>
                                        </p:attrNameLst>
                                      </p:cBhvr>
                                      <p:to>
                                        <p:strVal val="visible"/>
                                      </p:to>
                                    </p:set>
                                    <p:animEffect transition="in" filter="fade">
                                      <p:cBhvr>
                                        <p:cTn id="15" dur="500"/>
                                        <p:tgtEl>
                                          <p:spTgt spid="97">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97">
                                            <p:txEl>
                                              <p:pRg st="2" end="2"/>
                                            </p:txEl>
                                          </p:spTgt>
                                        </p:tgtEl>
                                        <p:attrNameLst>
                                          <p:attrName>style.visibility</p:attrName>
                                        </p:attrNameLst>
                                      </p:cBhvr>
                                      <p:to>
                                        <p:strVal val="visible"/>
                                      </p:to>
                                    </p:set>
                                    <p:animEffect transition="in" filter="fade">
                                      <p:cBhvr>
                                        <p:cTn id="19" dur="500"/>
                                        <p:tgtEl>
                                          <p:spTgt spid="97">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0" end="0"/>
                                            </p:txEl>
                                          </p:spTgt>
                                        </p:tgtEl>
                                        <p:attrNameLst>
                                          <p:attrName>style.visibility</p:attrName>
                                        </p:attrNameLst>
                                      </p:cBhvr>
                                      <p:to>
                                        <p:strVal val="visible"/>
                                      </p:to>
                                    </p:set>
                                    <p:animEffect transition="in" filter="wipe(up)">
                                      <p:cBhvr>
                                        <p:cTn id="23" dur="500"/>
                                        <p:tgtEl>
                                          <p:spTgt spid="9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59577" y="1981200"/>
            <a:ext cx="24106649" cy="117348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2286000" y="1981200"/>
            <a:ext cx="21880226" cy="829394"/>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07000"/>
              </a:lnSpc>
              <a:spcAft>
                <a:spcPts val="800"/>
              </a:spcAft>
            </a:pPr>
            <a:r>
              <a:rPr lang="fr-FR"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Kí hiệu Đ, X, V tương ứng là viên bi màu đỏ, màu xanh và màu vàng</a:t>
            </a:r>
            <a:r>
              <a:rPr lang="en-US" sz="4800" b="1">
                <a:effectLst/>
                <a:latin typeface="Times New Roman" panose="02020603050405020304" pitchFamily="18" charset="0"/>
                <a:ea typeface="Calibri" panose="020F0502020204030204" pitchFamily="34" charset="0"/>
                <a:cs typeface="Times New Roman" panose="02020603050405020304" pitchFamily="18" charset="0"/>
              </a:rPr>
              <a:t> </a:t>
            </a:r>
          </a:p>
        </p:txBody>
      </p:sp>
      <p:pic>
        <p:nvPicPr>
          <p:cNvPr id="18" name="Picture 17">
            <a:extLst>
              <a:ext uri="{FF2B5EF4-FFF2-40B4-BE49-F238E27FC236}">
                <a16:creationId xmlns:a16="http://schemas.microsoft.com/office/drawing/2014/main" id="{7EE7270B-72AB-7BEE-466F-F42FB6150FAC}"/>
              </a:ext>
            </a:extLst>
          </p:cNvPr>
          <p:cNvPicPr>
            <a:picLocks noChangeAspect="1"/>
          </p:cNvPicPr>
          <p:nvPr/>
        </p:nvPicPr>
        <p:blipFill>
          <a:blip r:embed="rId3"/>
          <a:stretch>
            <a:fillRect/>
          </a:stretch>
        </p:blipFill>
        <p:spPr>
          <a:xfrm>
            <a:off x="375967" y="3200400"/>
            <a:ext cx="11526149" cy="3172179"/>
          </a:xfrm>
          <a:prstGeom prst="rect">
            <a:avLst/>
          </a:prstGeom>
        </p:spPr>
      </p:pic>
      <p:pic>
        <p:nvPicPr>
          <p:cNvPr id="19" name="Picture 18">
            <a:extLst>
              <a:ext uri="{FF2B5EF4-FFF2-40B4-BE49-F238E27FC236}">
                <a16:creationId xmlns:a16="http://schemas.microsoft.com/office/drawing/2014/main" id="{EA5C7648-0CEA-B54E-FAFC-5FA3A8BA4B89}"/>
              </a:ext>
            </a:extLst>
          </p:cNvPr>
          <p:cNvPicPr>
            <a:picLocks noChangeAspect="1"/>
          </p:cNvPicPr>
          <p:nvPr/>
        </p:nvPicPr>
        <p:blipFill>
          <a:blip r:embed="rId4"/>
          <a:stretch>
            <a:fillRect/>
          </a:stretch>
        </p:blipFill>
        <p:spPr>
          <a:xfrm>
            <a:off x="13106400" y="2842365"/>
            <a:ext cx="7836654" cy="3211128"/>
          </a:xfrm>
          <a:prstGeom prst="rect">
            <a:avLst/>
          </a:prstGeom>
        </p:spPr>
      </p:pic>
      <mc:AlternateContent xmlns:mc="http://schemas.openxmlformats.org/markup-compatibility/2006" xmlns:a14="http://schemas.microsoft.com/office/drawing/2010/main">
        <mc:Choice Requires="a14">
          <p:sp>
            <p:nvSpPr>
              <p:cNvPr id="20" name="Text Box 2">
                <a:extLst>
                  <a:ext uri="{FF2B5EF4-FFF2-40B4-BE49-F238E27FC236}">
                    <a16:creationId xmlns:a16="http://schemas.microsoft.com/office/drawing/2014/main" id="{8CC32123-ACD0-CC0C-DD78-AC76C139F44A}"/>
                  </a:ext>
                </a:extLst>
              </p:cNvPr>
              <p:cNvSpPr txBox="1">
                <a:spLocks noChangeArrowheads="1"/>
              </p:cNvSpPr>
              <p:nvPr/>
            </p:nvSpPr>
            <p:spPr bwMode="auto">
              <a:xfrm>
                <a:off x="217772" y="6532122"/>
                <a:ext cx="23948455" cy="5816016"/>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07000"/>
                  </a:lnSpc>
                  <a:spcAft>
                    <a:spcPts val="800"/>
                  </a:spcAft>
                </a:pP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kết</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quả</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thể</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ĐXĐ, ĐXX, ĐVĐ, ĐVX, XXĐ, XXX, XVĐ, XVX, VXD, VXX, VVĐ, VVX .</a:t>
                </a: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Do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𝜴</m:t>
                    </m:r>
                  </m:oMath>
                </a14:m>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{ĐXĐ; ĐXX; DVD; ĐVX; XXĐ; XXX; XVĐ; XVX; VXD; VXX; VVĐ; VVX}.</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Vậy</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𝜴</m:t>
                        </m:r>
                      </m:e>
                    </m:d>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𝟏𝟐</m:t>
                    </m:r>
                  </m:oMath>
                </a14:m>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Gọi</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biến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cố</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Trong</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viên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bi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lấy</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đúng</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một</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viên</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bi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màu</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xanh</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{ĐXĐ; ĐVX; XVĐ; VXD; VVX}.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Vậy</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n(K) =</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5. </a:t>
                </a:r>
              </a:p>
              <a:p>
                <a:pPr>
                  <a:lnSpc>
                    <a:spcPct val="107000"/>
                  </a:lnSpc>
                  <a:spcAft>
                    <a:spcPts val="800"/>
                  </a:spcAft>
                </a:pP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0"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𝑷</m:t>
                    </m:r>
                    <m:d>
                      <m:dPr>
                        <m:ctrlPr>
                          <a:rPr lang="en-US" sz="4800" b="1" i="1" kern="120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𝑲</m:t>
                        </m:r>
                      </m:e>
                    </m:d>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kern="120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kern="120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𝑲</m:t>
                            </m:r>
                          </m:e>
                        </m:d>
                      </m:num>
                      <m:den>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kern="120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𝜴</m:t>
                            </m:r>
                          </m:e>
                        </m:d>
                      </m:den>
                    </m:f>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kern="120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𝟓</m:t>
                        </m:r>
                      </m:num>
                      <m:den>
                        <m:r>
                          <a:rPr lang="en-US" sz="4800" b="1" i="1" kern="1200" smtClean="0">
                            <a:solidFill>
                              <a:srgbClr val="0033CC"/>
                            </a:solidFill>
                            <a:effectLst/>
                            <a:latin typeface="Cambria Math" panose="02040503050406030204" pitchFamily="18" charset="0"/>
                            <a:ea typeface="Calibri" panose="020F0502020204030204" pitchFamily="34" charset="0"/>
                            <a:cs typeface="Times New Roman" panose="02020603050405020304" pitchFamily="18" charset="0"/>
                          </a:rPr>
                          <m:t>𝟏𝟐</m:t>
                        </m:r>
                      </m:den>
                    </m:f>
                  </m:oMath>
                </a14:m>
                <a:r>
                  <a:rPr lang="en-US" sz="4800" b="1" kern="1200" dirty="0">
                    <a:solidFill>
                      <a:srgbClr val="0033CC"/>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4800" b="1" dirty="0">
                    <a:effectLst/>
                    <a:latin typeface="Times New Roman" panose="02020603050405020304" pitchFamily="18" charset="0"/>
                    <a:ea typeface="Calibri" panose="020F0502020204030204" pitchFamily="34" charset="0"/>
                    <a:cs typeface="Times New Roman" panose="02020603050405020304" pitchFamily="18" charset="0"/>
                  </a:rPr>
                  <a:t> </a:t>
                </a:r>
              </a:p>
            </p:txBody>
          </p:sp>
        </mc:Choice>
        <mc:Fallback xmlns="">
          <p:sp>
            <p:nvSpPr>
              <p:cNvPr id="20" name="Text Box 2">
                <a:extLst>
                  <a:ext uri="{FF2B5EF4-FFF2-40B4-BE49-F238E27FC236}">
                    <a16:creationId xmlns:a16="http://schemas.microsoft.com/office/drawing/2014/main" id="{8CC32123-ACD0-CC0C-DD78-AC76C139F44A}"/>
                  </a:ext>
                </a:extLst>
              </p:cNvPr>
              <p:cNvSpPr txBox="1">
                <a:spLocks noRot="1" noChangeAspect="1" noMove="1" noResize="1" noEditPoints="1" noAdjustHandles="1" noChangeArrowheads="1" noChangeShapeType="1" noTextEdit="1"/>
              </p:cNvSpPr>
              <p:nvPr/>
            </p:nvSpPr>
            <p:spPr bwMode="auto">
              <a:xfrm>
                <a:off x="217772" y="6532122"/>
                <a:ext cx="23948455" cy="5816016"/>
              </a:xfrm>
              <a:prstGeom prst="rect">
                <a:avLst/>
              </a:prstGeom>
              <a:blipFill>
                <a:blip r:embed="rId5"/>
                <a:stretch>
                  <a:fillRect l="-1171" t="-2411" b="-524"/>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617139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Effect transition="in" filter="fade">
                                      <p:cBhvr>
                                        <p:cTn id="12" dur="500"/>
                                        <p:tgtEl>
                                          <p:spTgt spid="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xEl>
                                              <p:pRg st="2" end="2"/>
                                            </p:txEl>
                                          </p:spTgt>
                                        </p:tgtEl>
                                        <p:attrNameLst>
                                          <p:attrName>style.visibility</p:attrName>
                                        </p:attrNameLst>
                                      </p:cBhvr>
                                      <p:to>
                                        <p:strVal val="visible"/>
                                      </p:to>
                                    </p:set>
                                    <p:animEffect transition="in" filter="fade">
                                      <p:cBhvr>
                                        <p:cTn id="17" dur="500"/>
                                        <p:tgtEl>
                                          <p:spTgt spid="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xEl>
                                              <p:pRg st="3" end="3"/>
                                            </p:txEl>
                                          </p:spTgt>
                                        </p:tgtEl>
                                        <p:attrNameLst>
                                          <p:attrName>style.visibility</p:attrName>
                                        </p:attrNameLst>
                                      </p:cBhvr>
                                      <p:to>
                                        <p:strVal val="visible"/>
                                      </p:to>
                                    </p:set>
                                    <p:animEffect transition="in" filter="fade">
                                      <p:cBhvr>
                                        <p:cTn id="22" dur="500"/>
                                        <p:tgtEl>
                                          <p:spTgt spid="2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xEl>
                                              <p:pRg st="4" end="4"/>
                                            </p:txEl>
                                          </p:spTgt>
                                        </p:tgtEl>
                                        <p:attrNameLst>
                                          <p:attrName>style.visibility</p:attrName>
                                        </p:attrNameLst>
                                      </p:cBhvr>
                                      <p:to>
                                        <p:strVal val="visible"/>
                                      </p:to>
                                    </p:set>
                                    <p:animEffect transition="in" filter="fade">
                                      <p:cBhvr>
                                        <p:cTn id="27" dur="500"/>
                                        <p:tgtEl>
                                          <p:spTgt spid="2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xEl>
                                              <p:pRg st="5" end="5"/>
                                            </p:txEl>
                                          </p:spTgt>
                                        </p:tgtEl>
                                        <p:attrNameLst>
                                          <p:attrName>style.visibility</p:attrName>
                                        </p:attrNameLst>
                                      </p:cBhvr>
                                      <p:to>
                                        <p:strVal val="visible"/>
                                      </p:to>
                                    </p:set>
                                    <p:animEffect transition="in" filter="fade">
                                      <p:cBhvr>
                                        <p:cTn id="32" dur="500"/>
                                        <p:tgtEl>
                                          <p:spTgt spid="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28600" y="1977466"/>
            <a:ext cx="23818702" cy="1775077"/>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vi-VN" b="1"/>
              <a:t>          </a:t>
            </a:r>
            <a:r>
              <a:rPr lang="en-US" sz="4800" b="1">
                <a:latin typeface="Times New Roman" panose="02020603050405020304" pitchFamily="18" charset="0"/>
                <a:cs typeface="Times New Roman" panose="02020603050405020304" pitchFamily="18" charset="0"/>
              </a:rPr>
              <a:t>Trở lại trò chơi ‘Vòng quay may mắn” ở HĐ2. Tính xác suất để người chơi nhận được loại xe 110 cc có màu trắng hoặc màu xanh. </a:t>
            </a:r>
            <a:endParaRPr lang="en-US" sz="4800" b="1" dirty="0">
              <a:latin typeface="Times New Roman" panose="02020603050405020304" pitchFamily="18" charset="0"/>
              <a:cs typeface="Times New Roman" panose="02020603050405020304" pitchFamily="18"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82649" y="3860941"/>
            <a:ext cx="23818702" cy="924545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847702"/>
            <a:ext cx="58674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vi-VN" sz="4000" b="1">
                  <a:solidFill>
                    <a:srgbClr val="FF0000"/>
                  </a:solidFill>
                  <a:latin typeface="Tahoma" panose="020B0604030504040204" pitchFamily="34" charset="0"/>
                  <a:ea typeface="Tahoma" panose="020B0604030504040204" pitchFamily="34" charset="0"/>
                  <a:cs typeface="Tahoma" panose="020B0604030504040204" pitchFamily="34" charset="0"/>
                </a:rPr>
                <a:t>Luyện tập 2</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2275076" y="4953000"/>
                <a:ext cx="21118323" cy="4805931"/>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07000"/>
                  </a:lnSpc>
                  <a:spcAft>
                    <a:spcPts val="800"/>
                  </a:spcAft>
                </a:pPr>
                <a:r>
                  <a:rPr lang="vi-VN"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Cách 1:</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Theo sơ đồ hình cây ta có </a:t>
                </a:r>
                <a14:m>
                  <m:oMath xmlns:m="http://schemas.openxmlformats.org/officeDocument/2006/math">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𝜴</m:t>
                        </m:r>
                      </m:e>
                    </m:d>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𝟖</m:t>
                    </m:r>
                  </m:oMath>
                </a14:m>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Biến cố A:”</a:t>
                </a:r>
                <a:r>
                  <a:rPr lang="vi-VN"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người chơi nhận được loại xe 110 cc có màu trắng hoặc màu xanh</a:t>
                </a:r>
                <a:r>
                  <a:rPr lang="vi-VN"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Nên </a:t>
                </a:r>
                <a:r>
                  <a:rPr lang="vi-VN" sz="4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vi-VN"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{100cc-trắng; 100cc-xanh}.</a:t>
                </a:r>
                <a:r>
                  <a:rPr lang="vi-VN"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Vậy</a:t>
                </a:r>
                <a:r>
                  <a:rPr lang="en-US" sz="48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𝑨</m:t>
                        </m:r>
                      </m:e>
                    </m:d>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𝟐</m:t>
                    </m:r>
                  </m:oMath>
                </a14:m>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đó</a:t>
                </a:r>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𝑷</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𝑨</m:t>
                        </m:r>
                      </m:e>
                    </m:d>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num>
                      <m:den>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𝟖</m:t>
                        </m:r>
                      </m:den>
                    </m:f>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num>
                      <m:den>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𝟒</m:t>
                        </m:r>
                      </m:den>
                    </m:f>
                  </m:oMath>
                </a14:m>
                <a:r>
                  <a:rPr lang="en-US" sz="4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2275076" y="4953000"/>
                <a:ext cx="21118323" cy="4805931"/>
              </a:xfrm>
              <a:prstGeom prst="rect">
                <a:avLst/>
              </a:prstGeom>
              <a:blipFill>
                <a:blip r:embed="rId3"/>
                <a:stretch>
                  <a:fillRect l="-1299" t="-2919" b="-2284"/>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338976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7">
                                            <p:txEl>
                                              <p:pRg st="0" end="0"/>
                                            </p:txEl>
                                          </p:spTgt>
                                        </p:tgtEl>
                                        <p:attrNameLst>
                                          <p:attrName>style.visibility</p:attrName>
                                        </p:attrNameLst>
                                      </p:cBhvr>
                                      <p:to>
                                        <p:strVal val="visible"/>
                                      </p:to>
                                    </p:set>
                                    <p:animEffect transition="in" filter="wipe(left)">
                                      <p:cBhvr>
                                        <p:cTn id="11" dur="500"/>
                                        <p:tgtEl>
                                          <p:spTgt spid="97">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7">
                                            <p:txEl>
                                              <p:pRg st="0" end="0"/>
                                            </p:txEl>
                                          </p:spTgt>
                                        </p:tgtEl>
                                        <p:attrNameLst>
                                          <p:attrName>style.visibility</p:attrName>
                                        </p:attrNameLst>
                                      </p:cBhvr>
                                      <p:to>
                                        <p:strVal val="visible"/>
                                      </p:to>
                                    </p:set>
                                    <p:animEffect transition="in" filter="fade">
                                      <p:cBhvr>
                                        <p:cTn id="20" dur="500"/>
                                        <p:tgtEl>
                                          <p:spTgt spid="2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7">
                                            <p:txEl>
                                              <p:pRg st="1" end="1"/>
                                            </p:txEl>
                                          </p:spTgt>
                                        </p:tgtEl>
                                        <p:attrNameLst>
                                          <p:attrName>style.visibility</p:attrName>
                                        </p:attrNameLst>
                                      </p:cBhvr>
                                      <p:to>
                                        <p:strVal val="visible"/>
                                      </p:to>
                                    </p:set>
                                    <p:animEffect transition="in" filter="fade">
                                      <p:cBhvr>
                                        <p:cTn id="25" dur="500"/>
                                        <p:tgtEl>
                                          <p:spTgt spid="27">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7">
                                            <p:txEl>
                                              <p:pRg st="2" end="2"/>
                                            </p:txEl>
                                          </p:spTgt>
                                        </p:tgtEl>
                                        <p:attrNameLst>
                                          <p:attrName>style.visibility</p:attrName>
                                        </p:attrNameLst>
                                      </p:cBhvr>
                                      <p:to>
                                        <p:strVal val="visible"/>
                                      </p:to>
                                    </p:set>
                                    <p:animEffect transition="in" filter="fade">
                                      <p:cBhvr>
                                        <p:cTn id="30" dur="500"/>
                                        <p:tgtEl>
                                          <p:spTgt spid="27">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7">
                                            <p:txEl>
                                              <p:pRg st="3" end="3"/>
                                            </p:txEl>
                                          </p:spTgt>
                                        </p:tgtEl>
                                        <p:attrNameLst>
                                          <p:attrName>style.visibility</p:attrName>
                                        </p:attrNameLst>
                                      </p:cBhvr>
                                      <p:to>
                                        <p:strVal val="visible"/>
                                      </p:to>
                                    </p:set>
                                    <p:animEffect transition="in" filter="fade">
                                      <p:cBhvr>
                                        <p:cTn id="35" dur="500"/>
                                        <p:tgtEl>
                                          <p:spTgt spid="27">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7">
                                            <p:txEl>
                                              <p:pRg st="4" end="4"/>
                                            </p:txEl>
                                          </p:spTgt>
                                        </p:tgtEl>
                                        <p:attrNameLst>
                                          <p:attrName>style.visibility</p:attrName>
                                        </p:attrNameLst>
                                      </p:cBhvr>
                                      <p:to>
                                        <p:strVal val="visible"/>
                                      </p:to>
                                    </p:set>
                                    <p:animEffect transition="in" filter="fade">
                                      <p:cBhvr>
                                        <p:cTn id="40"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20133" y="1666164"/>
            <a:ext cx="23818702" cy="195563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vi-VN" b="1"/>
              <a:t>          </a:t>
            </a:r>
            <a:r>
              <a:rPr lang="en-US" sz="4800" b="1">
                <a:latin typeface="Times New Roman" panose="02020603050405020304" pitchFamily="18" charset="0"/>
                <a:cs typeface="Times New Roman" panose="02020603050405020304" pitchFamily="18" charset="0"/>
              </a:rPr>
              <a:t>Trở lại trò chơi ‘Vòng quay may mắn” ở HĐ2. Tính xác suất để người chơi nhận được loại xe 110 cc có màu trắng hoặc màu xanh. </a:t>
            </a:r>
            <a:endParaRPr lang="en-US" sz="4800" b="1" dirty="0">
              <a:latin typeface="Times New Roman" panose="02020603050405020304" pitchFamily="18" charset="0"/>
              <a:cs typeface="Times New Roman" panose="02020603050405020304" pitchFamily="18"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82649" y="3276600"/>
            <a:ext cx="23818702" cy="1011712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666164"/>
            <a:ext cx="58674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vi-VN" sz="4000" b="1">
                  <a:solidFill>
                    <a:srgbClr val="FF0000"/>
                  </a:solidFill>
                  <a:latin typeface="Tahoma" panose="020B0604030504040204" pitchFamily="34" charset="0"/>
                  <a:ea typeface="Tahoma" panose="020B0604030504040204" pitchFamily="34" charset="0"/>
                  <a:cs typeface="Tahoma" panose="020B0604030504040204" pitchFamily="34" charset="0"/>
                </a:rPr>
                <a:t>Luyện tập 2</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609601" y="3276600"/>
                <a:ext cx="23437702" cy="9409884"/>
              </a:xfrm>
              <a:prstGeom prst="rect">
                <a:avLst/>
              </a:prstGeom>
              <a:noFill/>
              <a:ln w="9525">
                <a:noFill/>
                <a:miter lim="800000"/>
                <a:headEnd/>
                <a:tailEnd/>
              </a:ln>
            </p:spPr>
            <p:txBody>
              <a:bodyPr rot="0" vert="horz" wrap="square" lIns="91440" tIns="45720" rIns="91440" bIns="45720" anchor="t" anchorCtr="0">
                <a:spAutoFit/>
              </a:bodyPr>
              <a:lstStyle/>
              <a:p>
                <a:pPr>
                  <a:lnSpc>
                    <a:spcPct val="107000"/>
                  </a:lnSpc>
                  <a:spcAft>
                    <a:spcPts val="800"/>
                  </a:spcAft>
                </a:pP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Cách 2: </a:t>
                </a:r>
              </a:p>
              <a:p>
                <a:pPr>
                  <a:lnSpc>
                    <a:spcPct val="107000"/>
                  </a:lnSpc>
                  <a:spcAft>
                    <a:spcPts val="800"/>
                  </a:spcAft>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Mỗi phần tử của không gian mẫu được hình thành từ hai công đoạn.</a:t>
                </a:r>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4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 </a:t>
                </a:r>
                <a:r>
                  <a:rPr lang="vi-VN" sz="4400" b="1" i="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đoạn 1.</a:t>
                </a:r>
                <a:r>
                  <a:rPr lang="vi-VN" sz="44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Quay bánh xe 1, có </a:t>
                </a:r>
                <a:r>
                  <a:rPr lang="vi-VN" sz="44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2 </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(khả năng).</a:t>
                </a:r>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4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 </a:t>
                </a:r>
                <a:r>
                  <a:rPr lang="vi-VN" sz="4400" b="1" i="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đoạn </a:t>
                </a:r>
                <a:r>
                  <a:rPr lang="vi-VN" sz="44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Quay bánh xe 2, có </a:t>
                </a:r>
                <a:r>
                  <a:rPr lang="vi-VN" sz="44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4 </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(khả năng). </a:t>
                </a:r>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Theo quy tắc nhân, </a:t>
                </a:r>
                <a14:m>
                  <m:oMath xmlns:m="http://schemas.openxmlformats.org/officeDocument/2006/math">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4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𝜴</m:t>
                        </m:r>
                      </m:e>
                    </m:d>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𝟐</m:t>
                    </m:r>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𝟒</m:t>
                    </m:r>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𝟖</m:t>
                    </m:r>
                  </m:oMath>
                </a14:m>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4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Biến cố A:”</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người chơi nhận được loại xe 110 cc có màu trắng hoặc màu xanh</a:t>
                </a:r>
                <a:r>
                  <a:rPr lang="vi-VN" sz="44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Mỗi</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tử</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hình</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thành</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hai</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đoạn</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400" b="1"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a:t>
                </a:r>
                <a:r>
                  <a:rPr lang="en-US" sz="44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i="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đoạn</a:t>
                </a:r>
                <a:r>
                  <a:rPr lang="en-US" sz="4400" b="1" i="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1.</a:t>
                </a:r>
                <a:r>
                  <a:rPr lang="en-US" sz="44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Quay bánh xe 1, người chơi nhận được loại xe 110 cc</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1 </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(khả năng).</a:t>
                </a:r>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400" b="1"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a:t>
                </a:r>
                <a:r>
                  <a:rPr lang="en-US" sz="44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i="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đoạn</a:t>
                </a:r>
                <a:r>
                  <a:rPr lang="en-US" sz="4400" b="1" i="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Quay bánh xe 2, người chơi nhận được màu trắng hoặc màu xanh</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2 </a:t>
                </a:r>
                <a:r>
                  <a:rPr lang="vi-VN"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(khả năng).</a:t>
                </a:r>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Theo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quy</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tắc</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nhân</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tập</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oMath>
                </a14:m>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tử</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Vậy</a:t>
                </a:r>
                <a:r>
                  <a:rPr lang="en-US" sz="4400" b="1" dirty="0">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4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𝑨</m:t>
                        </m:r>
                      </m:e>
                    </m:d>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𝟐</m:t>
                    </m:r>
                  </m:oMath>
                </a14:m>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đó</a:t>
                </a:r>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𝑷</m:t>
                    </m:r>
                    <m:d>
                      <m:dPr>
                        <m:ctrlP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𝑨</m:t>
                        </m:r>
                      </m:e>
                    </m:d>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num>
                      <m:den>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𝟖</m:t>
                        </m:r>
                      </m:den>
                    </m:f>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num>
                      <m:den>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𝟒</m:t>
                        </m:r>
                      </m:den>
                    </m:f>
                  </m:oMath>
                </a14:m>
                <a:r>
                  <a:rPr lang="en-US" sz="4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4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609601" y="3276600"/>
                <a:ext cx="23437702" cy="9409884"/>
              </a:xfrm>
              <a:prstGeom prst="rect">
                <a:avLst/>
              </a:prstGeom>
              <a:blipFill>
                <a:blip r:embed="rId3"/>
                <a:stretch>
                  <a:fillRect l="-1040" t="-1361" r="-26" b="-518"/>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552153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xEl>
                                              <p:pRg st="5" end="5"/>
                                            </p:txEl>
                                          </p:spTgt>
                                        </p:tgtEl>
                                        <p:attrNameLst>
                                          <p:attrName>style.visibility</p:attrName>
                                        </p:attrNameLst>
                                      </p:cBhvr>
                                      <p:to>
                                        <p:strVal val="visible"/>
                                      </p:to>
                                    </p:set>
                                    <p:animEffect transition="in" filter="fade">
                                      <p:cBhvr>
                                        <p:cTn id="32" dur="500"/>
                                        <p:tgtEl>
                                          <p:spTgt spid="2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xEl>
                                              <p:pRg st="6" end="6"/>
                                            </p:txEl>
                                          </p:spTgt>
                                        </p:tgtEl>
                                        <p:attrNameLst>
                                          <p:attrName>style.visibility</p:attrName>
                                        </p:attrNameLst>
                                      </p:cBhvr>
                                      <p:to>
                                        <p:strVal val="visible"/>
                                      </p:to>
                                    </p:set>
                                    <p:animEffect transition="in" filter="fade">
                                      <p:cBhvr>
                                        <p:cTn id="37" dur="500"/>
                                        <p:tgtEl>
                                          <p:spTgt spid="2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
                                            <p:txEl>
                                              <p:pRg st="7" end="7"/>
                                            </p:txEl>
                                          </p:spTgt>
                                        </p:tgtEl>
                                        <p:attrNameLst>
                                          <p:attrName>style.visibility</p:attrName>
                                        </p:attrNameLst>
                                      </p:cBhvr>
                                      <p:to>
                                        <p:strVal val="visible"/>
                                      </p:to>
                                    </p:set>
                                    <p:animEffect transition="in" filter="fade">
                                      <p:cBhvr>
                                        <p:cTn id="42" dur="500"/>
                                        <p:tgtEl>
                                          <p:spTgt spid="2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xEl>
                                              <p:pRg st="8" end="8"/>
                                            </p:txEl>
                                          </p:spTgt>
                                        </p:tgtEl>
                                        <p:attrNameLst>
                                          <p:attrName>style.visibility</p:attrName>
                                        </p:attrNameLst>
                                      </p:cBhvr>
                                      <p:to>
                                        <p:strVal val="visible"/>
                                      </p:to>
                                    </p:set>
                                    <p:animEffect transition="in" filter="fade">
                                      <p:cBhvr>
                                        <p:cTn id="47" dur="500"/>
                                        <p:tgtEl>
                                          <p:spTgt spid="2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7">
                                            <p:txEl>
                                              <p:pRg st="9" end="9"/>
                                            </p:txEl>
                                          </p:spTgt>
                                        </p:tgtEl>
                                        <p:attrNameLst>
                                          <p:attrName>style.visibility</p:attrName>
                                        </p:attrNameLst>
                                      </p:cBhvr>
                                      <p:to>
                                        <p:strVal val="visible"/>
                                      </p:to>
                                    </p:set>
                                    <p:animEffect transition="in" filter="fade">
                                      <p:cBhvr>
                                        <p:cTn id="52" dur="500"/>
                                        <p:tgtEl>
                                          <p:spTgt spid="2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7">
                                            <p:txEl>
                                              <p:pRg st="10" end="10"/>
                                            </p:txEl>
                                          </p:spTgt>
                                        </p:tgtEl>
                                        <p:attrNameLst>
                                          <p:attrName>style.visibility</p:attrName>
                                        </p:attrNameLst>
                                      </p:cBhvr>
                                      <p:to>
                                        <p:strVal val="visible"/>
                                      </p:to>
                                    </p:set>
                                    <p:animEffect transition="in" filter="fade">
                                      <p:cBhvr>
                                        <p:cTn id="57" dur="500"/>
                                        <p:tgtEl>
                                          <p:spTgt spid="2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20133" y="1666164"/>
            <a:ext cx="23818702" cy="34392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vi-VN" b="1" dirty="0"/>
              <a:t>          </a:t>
            </a:r>
            <a:r>
              <a:rPr lang="en-US" sz="4800" b="1" dirty="0" err="1"/>
              <a:t>Trong</a:t>
            </a:r>
            <a:r>
              <a:rPr lang="en-US" sz="4800" b="1" dirty="0"/>
              <a:t> </a:t>
            </a:r>
            <a:r>
              <a:rPr lang="en-US" sz="4800" b="1" dirty="0" err="1"/>
              <a:t>một</a:t>
            </a:r>
            <a:r>
              <a:rPr lang="en-US" sz="4800" b="1" dirty="0"/>
              <a:t> </a:t>
            </a:r>
            <a:r>
              <a:rPr lang="en-US" sz="4800" b="1" dirty="0" err="1"/>
              <a:t>cuộc</a:t>
            </a:r>
            <a:r>
              <a:rPr lang="en-US" sz="4800" b="1" dirty="0"/>
              <a:t> </a:t>
            </a:r>
            <a:r>
              <a:rPr lang="en-US" sz="4800" b="1"/>
              <a:t>tổng</a:t>
            </a:r>
            <a:r>
              <a:rPr lang="en-US" sz="4800" b="1" dirty="0"/>
              <a:t> </a:t>
            </a:r>
            <a:r>
              <a:rPr lang="en-US" sz="4800" b="1" dirty="0" err="1"/>
              <a:t>điều</a:t>
            </a:r>
            <a:r>
              <a:rPr lang="en-US" sz="4800" b="1" dirty="0"/>
              <a:t> </a:t>
            </a:r>
            <a:r>
              <a:rPr lang="en-US" sz="4800" b="1" dirty="0" err="1"/>
              <a:t>tra</a:t>
            </a:r>
            <a:r>
              <a:rPr lang="en-US" sz="4800" b="1" dirty="0"/>
              <a:t> </a:t>
            </a:r>
            <a:r>
              <a:rPr lang="en-US" sz="4800" b="1" dirty="0" err="1"/>
              <a:t>dân</a:t>
            </a:r>
            <a:r>
              <a:rPr lang="en-US" sz="4800" b="1" dirty="0"/>
              <a:t> </a:t>
            </a:r>
            <a:r>
              <a:rPr lang="en-US" sz="4800" b="1" dirty="0" err="1"/>
              <a:t>số</a:t>
            </a:r>
            <a:r>
              <a:rPr lang="en-US" sz="4800" b="1" dirty="0"/>
              <a:t>, </a:t>
            </a:r>
            <a:r>
              <a:rPr lang="en-US" sz="4800" b="1" dirty="0" err="1"/>
              <a:t>điều</a:t>
            </a:r>
            <a:r>
              <a:rPr lang="en-US" sz="4800" b="1" dirty="0"/>
              <a:t> </a:t>
            </a:r>
            <a:r>
              <a:rPr lang="en-US" sz="4800" b="1" dirty="0" err="1"/>
              <a:t>tra</a:t>
            </a:r>
            <a:r>
              <a:rPr lang="en-US" sz="4800" b="1" dirty="0"/>
              <a:t> </a:t>
            </a:r>
            <a:r>
              <a:rPr lang="en-US" sz="4800" b="1" dirty="0" err="1"/>
              <a:t>viên</a:t>
            </a:r>
            <a:r>
              <a:rPr lang="en-US" sz="4800" b="1" dirty="0"/>
              <a:t> </a:t>
            </a:r>
            <a:r>
              <a:rPr lang="en-US" sz="4800" b="1" dirty="0" err="1"/>
              <a:t>chọn</a:t>
            </a:r>
            <a:r>
              <a:rPr lang="en-US" sz="4800" b="1" dirty="0"/>
              <a:t> </a:t>
            </a:r>
            <a:r>
              <a:rPr lang="en-US" sz="4800" b="1" dirty="0" err="1"/>
              <a:t>ngẫu</a:t>
            </a:r>
            <a:r>
              <a:rPr lang="en-US" sz="4800" b="1" dirty="0"/>
              <a:t> </a:t>
            </a:r>
            <a:r>
              <a:rPr lang="en-US" sz="4800" b="1" dirty="0" err="1"/>
              <a:t>nhiên</a:t>
            </a:r>
            <a:r>
              <a:rPr lang="en-US" sz="4800" b="1" dirty="0"/>
              <a:t> </a:t>
            </a:r>
            <a:r>
              <a:rPr lang="en-US" sz="4800" b="1" dirty="0" err="1"/>
              <a:t>một</a:t>
            </a:r>
            <a:r>
              <a:rPr lang="en-US" sz="4800" b="1" dirty="0"/>
              <a:t> </a:t>
            </a:r>
            <a:r>
              <a:rPr lang="en-US" sz="4800" b="1" dirty="0" err="1"/>
              <a:t>gia</a:t>
            </a:r>
            <a:r>
              <a:rPr lang="en-US" sz="4800" b="1" dirty="0"/>
              <a:t> </a:t>
            </a:r>
            <a:r>
              <a:rPr lang="en-US" sz="4800" b="1" dirty="0" err="1"/>
              <a:t>đình</a:t>
            </a:r>
            <a:r>
              <a:rPr lang="en-US" sz="4800" b="1" dirty="0"/>
              <a:t> </a:t>
            </a:r>
            <a:r>
              <a:rPr lang="en-US" sz="4800" b="1" dirty="0" err="1"/>
              <a:t>có</a:t>
            </a:r>
            <a:r>
              <a:rPr lang="en-US" sz="4800" b="1" dirty="0"/>
              <a:t> </a:t>
            </a:r>
            <a:r>
              <a:rPr lang="en-US" sz="4800" b="1" dirty="0" err="1"/>
              <a:t>ba</a:t>
            </a:r>
            <a:r>
              <a:rPr lang="en-US" sz="4800" b="1" dirty="0"/>
              <a:t> </a:t>
            </a:r>
            <a:r>
              <a:rPr lang="en-US" sz="4800" b="1" dirty="0" err="1"/>
              <a:t>người</a:t>
            </a:r>
            <a:r>
              <a:rPr lang="en-US" sz="4800" b="1" dirty="0"/>
              <a:t> con </a:t>
            </a:r>
            <a:r>
              <a:rPr lang="en-US" sz="4800" b="1" dirty="0" err="1"/>
              <a:t>và</a:t>
            </a:r>
            <a:r>
              <a:rPr lang="en-US" sz="4800" b="1" dirty="0"/>
              <a:t> </a:t>
            </a:r>
            <a:r>
              <a:rPr lang="en-US" sz="4800" b="1" dirty="0" err="1"/>
              <a:t>quan</a:t>
            </a:r>
            <a:r>
              <a:rPr lang="en-US" sz="4800" b="1" dirty="0"/>
              <a:t> </a:t>
            </a:r>
            <a:r>
              <a:rPr lang="en-US" sz="4800" b="1" dirty="0" err="1"/>
              <a:t>tâm</a:t>
            </a:r>
            <a:r>
              <a:rPr lang="en-US" sz="4800" b="1" dirty="0"/>
              <a:t> </a:t>
            </a:r>
            <a:r>
              <a:rPr lang="en-US" sz="4800" b="1" dirty="0" err="1"/>
              <a:t>giới</a:t>
            </a:r>
            <a:r>
              <a:rPr lang="en-US" sz="4800" b="1" dirty="0"/>
              <a:t> </a:t>
            </a:r>
            <a:r>
              <a:rPr lang="en-US" sz="4800" b="1" dirty="0" err="1"/>
              <a:t>tính</a:t>
            </a:r>
            <a:r>
              <a:rPr lang="en-US" sz="4800" b="1" dirty="0"/>
              <a:t> </a:t>
            </a:r>
            <a:r>
              <a:rPr lang="en-US" sz="4800" b="1" dirty="0" err="1"/>
              <a:t>của</a:t>
            </a:r>
            <a:r>
              <a:rPr lang="en-US" sz="4800" b="1" dirty="0"/>
              <a:t> </a:t>
            </a:r>
            <a:r>
              <a:rPr lang="en-US" sz="4800" b="1" dirty="0" err="1"/>
              <a:t>ba</a:t>
            </a:r>
            <a:r>
              <a:rPr lang="en-US" sz="4800" b="1" dirty="0"/>
              <a:t> </a:t>
            </a:r>
            <a:r>
              <a:rPr lang="en-US" sz="4800" b="1" dirty="0" err="1"/>
              <a:t>người</a:t>
            </a:r>
            <a:r>
              <a:rPr lang="en-US" sz="4800" b="1" dirty="0"/>
              <a:t> con </a:t>
            </a:r>
            <a:r>
              <a:rPr lang="en-US" sz="4800" b="1" dirty="0" err="1"/>
              <a:t>này</a:t>
            </a:r>
            <a:r>
              <a:rPr lang="en-US" sz="4800" b="1" dirty="0"/>
              <a:t>. </a:t>
            </a:r>
          </a:p>
          <a:p>
            <a:r>
              <a:rPr lang="en-US" sz="4800" b="1" dirty="0"/>
              <a:t>a) </a:t>
            </a:r>
            <a:r>
              <a:rPr lang="en-US" sz="4800" b="1" dirty="0" err="1"/>
              <a:t>Vẽ</a:t>
            </a:r>
            <a:r>
              <a:rPr lang="en-US" sz="4800" b="1" dirty="0"/>
              <a:t> </a:t>
            </a:r>
            <a:r>
              <a:rPr lang="en-US" sz="4800" b="1" dirty="0" err="1"/>
              <a:t>sơ</a:t>
            </a:r>
            <a:r>
              <a:rPr lang="en-US" sz="4800" b="1" dirty="0"/>
              <a:t> </a:t>
            </a:r>
            <a:r>
              <a:rPr lang="en-US" sz="4800" b="1" dirty="0" err="1"/>
              <a:t>đồ</a:t>
            </a:r>
            <a:r>
              <a:rPr lang="en-US" sz="4800" b="1" dirty="0"/>
              <a:t> </a:t>
            </a:r>
            <a:r>
              <a:rPr lang="en-US" sz="4800" b="1" dirty="0" err="1"/>
              <a:t>hình</a:t>
            </a:r>
            <a:r>
              <a:rPr lang="en-US" sz="4800" b="1" dirty="0"/>
              <a:t> </a:t>
            </a:r>
            <a:r>
              <a:rPr lang="en-US" sz="4800" b="1" dirty="0" err="1"/>
              <a:t>cây</a:t>
            </a:r>
            <a:r>
              <a:rPr lang="en-US" sz="4800" b="1" dirty="0"/>
              <a:t> </a:t>
            </a:r>
            <a:r>
              <a:rPr lang="en-US" sz="4800" b="1" dirty="0" err="1"/>
              <a:t>để</a:t>
            </a:r>
            <a:r>
              <a:rPr lang="en-US" sz="4800" b="1" dirty="0"/>
              <a:t> </a:t>
            </a:r>
            <a:r>
              <a:rPr lang="en-US" sz="4800" b="1" dirty="0" err="1"/>
              <a:t>mô</a:t>
            </a:r>
            <a:r>
              <a:rPr lang="en-US" sz="4800" b="1" dirty="0"/>
              <a:t> </a:t>
            </a:r>
            <a:r>
              <a:rPr lang="en-US" sz="4800" b="1" dirty="0" err="1"/>
              <a:t>tả</a:t>
            </a:r>
            <a:r>
              <a:rPr lang="en-US" sz="4800" b="1" dirty="0"/>
              <a:t> </a:t>
            </a:r>
            <a:r>
              <a:rPr lang="en-US" sz="4800" b="1" dirty="0" err="1"/>
              <a:t>các</a:t>
            </a:r>
            <a:r>
              <a:rPr lang="en-US" sz="4800" b="1" dirty="0"/>
              <a:t> </a:t>
            </a:r>
            <a:r>
              <a:rPr lang="en-US" sz="4800" b="1" dirty="0" err="1"/>
              <a:t>phần</a:t>
            </a:r>
            <a:r>
              <a:rPr lang="en-US" sz="4800" b="1" dirty="0"/>
              <a:t> </a:t>
            </a:r>
            <a:r>
              <a:rPr lang="en-US" sz="4800" b="1" dirty="0" err="1"/>
              <a:t>tử</a:t>
            </a:r>
            <a:r>
              <a:rPr lang="en-US" sz="4800" b="1" dirty="0"/>
              <a:t> </a:t>
            </a:r>
            <a:r>
              <a:rPr lang="en-US" sz="4800" b="1" dirty="0" err="1"/>
              <a:t>của</a:t>
            </a:r>
            <a:r>
              <a:rPr lang="en-US" sz="4800" b="1" dirty="0"/>
              <a:t> </a:t>
            </a:r>
            <a:r>
              <a:rPr lang="en-US" sz="4800" b="1" dirty="0" err="1"/>
              <a:t>không</a:t>
            </a:r>
            <a:r>
              <a:rPr lang="en-US" sz="4800" b="1" dirty="0"/>
              <a:t> </a:t>
            </a:r>
            <a:r>
              <a:rPr lang="en-US" sz="4800" b="1" dirty="0" err="1"/>
              <a:t>gian</a:t>
            </a:r>
            <a:r>
              <a:rPr lang="en-US" sz="4800" b="1" dirty="0"/>
              <a:t> </a:t>
            </a:r>
            <a:r>
              <a:rPr lang="en-US" sz="4800" b="1" dirty="0" err="1"/>
              <a:t>mẫu</a:t>
            </a:r>
            <a:r>
              <a:rPr lang="en-US" sz="4800" b="1" dirty="0"/>
              <a:t>. </a:t>
            </a:r>
          </a:p>
          <a:p>
            <a:r>
              <a:rPr lang="en-US" sz="4800" b="1" dirty="0"/>
              <a:t>b) </a:t>
            </a:r>
            <a:r>
              <a:rPr lang="en-US" sz="4800" b="1" dirty="0" err="1"/>
              <a:t>Giả</a:t>
            </a:r>
            <a:r>
              <a:rPr lang="en-US" sz="4800" b="1" dirty="0"/>
              <a:t> </a:t>
            </a:r>
            <a:r>
              <a:rPr lang="en-US" sz="4800" b="1" dirty="0" err="1"/>
              <a:t>thiết</a:t>
            </a:r>
            <a:r>
              <a:rPr lang="en-US" sz="4800" b="1" dirty="0"/>
              <a:t> </a:t>
            </a:r>
            <a:r>
              <a:rPr lang="en-US" sz="4800" b="1" dirty="0" err="1"/>
              <a:t>rằng</a:t>
            </a:r>
            <a:r>
              <a:rPr lang="en-US" sz="4800" b="1" dirty="0"/>
              <a:t> </a:t>
            </a:r>
            <a:r>
              <a:rPr lang="en-US" sz="4800" b="1" dirty="0" err="1"/>
              <a:t>khả</a:t>
            </a:r>
            <a:r>
              <a:rPr lang="en-US" sz="4800" b="1" dirty="0"/>
              <a:t> </a:t>
            </a:r>
            <a:r>
              <a:rPr lang="en-US" sz="4800" b="1" dirty="0" err="1"/>
              <a:t>năng</a:t>
            </a:r>
            <a:r>
              <a:rPr lang="en-US" sz="4800" b="1" dirty="0"/>
              <a:t> </a:t>
            </a:r>
            <a:r>
              <a:rPr lang="en-US" sz="4800" b="1" dirty="0" err="1"/>
              <a:t>sinh</a:t>
            </a:r>
            <a:r>
              <a:rPr lang="en-US" sz="4800" b="1" dirty="0"/>
              <a:t> con </a:t>
            </a:r>
            <a:r>
              <a:rPr lang="en-US" sz="4800" b="1" dirty="0" err="1"/>
              <a:t>trai</a:t>
            </a:r>
            <a:r>
              <a:rPr lang="en-US" sz="4800" b="1" dirty="0"/>
              <a:t> </a:t>
            </a:r>
            <a:r>
              <a:rPr lang="en-US" sz="4800" b="1" dirty="0" err="1"/>
              <a:t>và</a:t>
            </a:r>
            <a:r>
              <a:rPr lang="en-US" sz="4800" b="1" dirty="0"/>
              <a:t> </a:t>
            </a:r>
            <a:r>
              <a:rPr lang="en-US" sz="4800" b="1" dirty="0" err="1"/>
              <a:t>khả</a:t>
            </a:r>
            <a:r>
              <a:rPr lang="en-US" sz="4800" b="1" dirty="0"/>
              <a:t> </a:t>
            </a:r>
            <a:r>
              <a:rPr lang="en-US" sz="4800" b="1" dirty="0" err="1"/>
              <a:t>năng</a:t>
            </a:r>
            <a:r>
              <a:rPr lang="en-US" sz="4800" b="1" dirty="0"/>
              <a:t> </a:t>
            </a:r>
            <a:r>
              <a:rPr lang="en-US" sz="4800" b="1" dirty="0" err="1"/>
              <a:t>sinh</a:t>
            </a:r>
            <a:r>
              <a:rPr lang="en-US" sz="4800" b="1" dirty="0"/>
              <a:t> con </a:t>
            </a:r>
            <a:r>
              <a:rPr lang="en-US" sz="4800" b="1" dirty="0" err="1"/>
              <a:t>gái</a:t>
            </a:r>
            <a:r>
              <a:rPr lang="en-US" sz="4800" b="1" dirty="0"/>
              <a:t> </a:t>
            </a:r>
            <a:r>
              <a:rPr lang="en-US" sz="4800" b="1" dirty="0" err="1"/>
              <a:t>là</a:t>
            </a:r>
            <a:r>
              <a:rPr lang="en-US" sz="4800" b="1" dirty="0"/>
              <a:t> </a:t>
            </a:r>
            <a:r>
              <a:rPr lang="en-US" sz="4800" b="1" dirty="0" err="1"/>
              <a:t>như</a:t>
            </a:r>
            <a:r>
              <a:rPr lang="en-US" sz="4800" b="1" dirty="0"/>
              <a:t> </a:t>
            </a:r>
            <a:r>
              <a:rPr lang="en-US" sz="4800" b="1" dirty="0" err="1"/>
              <a:t>nhau</a:t>
            </a:r>
            <a:r>
              <a:rPr lang="en-US" sz="4800" b="1" dirty="0"/>
              <a:t>. </a:t>
            </a:r>
            <a:r>
              <a:rPr lang="en-US" sz="4800" b="1" dirty="0" err="1"/>
              <a:t>Tính</a:t>
            </a:r>
            <a:r>
              <a:rPr lang="en-US" sz="4800" b="1" dirty="0"/>
              <a:t> </a:t>
            </a:r>
            <a:r>
              <a:rPr lang="en-US" sz="4800" b="1" dirty="0" err="1"/>
              <a:t>xác</a:t>
            </a:r>
            <a:r>
              <a:rPr lang="en-US" sz="4800" b="1" dirty="0"/>
              <a:t> </a:t>
            </a:r>
            <a:r>
              <a:rPr lang="en-US" sz="4800" b="1" dirty="0" err="1"/>
              <a:t>suất</a:t>
            </a:r>
            <a:r>
              <a:rPr lang="en-US" sz="4800" b="1" dirty="0"/>
              <a:t> </a:t>
            </a:r>
            <a:r>
              <a:rPr lang="en-US" sz="4800" b="1" dirty="0" err="1"/>
              <a:t>để</a:t>
            </a:r>
            <a:r>
              <a:rPr lang="en-US" sz="4800" b="1" dirty="0"/>
              <a:t> </a:t>
            </a:r>
            <a:r>
              <a:rPr lang="en-US" sz="4800" b="1" dirty="0" err="1"/>
              <a:t>gia</a:t>
            </a:r>
            <a:r>
              <a:rPr lang="en-US" sz="4800" b="1" dirty="0"/>
              <a:t> </a:t>
            </a:r>
            <a:r>
              <a:rPr lang="en-US" sz="4800" b="1" dirty="0" err="1"/>
              <a:t>đình</a:t>
            </a:r>
            <a:r>
              <a:rPr lang="en-US" sz="4800" b="1" dirty="0"/>
              <a:t> </a:t>
            </a:r>
            <a:r>
              <a:rPr lang="en-US" sz="4800" b="1" dirty="0" err="1"/>
              <a:t>đó</a:t>
            </a:r>
            <a:r>
              <a:rPr lang="en-US" sz="4800" b="1" dirty="0"/>
              <a:t> </a:t>
            </a:r>
            <a:r>
              <a:rPr lang="en-US" sz="4800" b="1" dirty="0" err="1"/>
              <a:t>có</a:t>
            </a:r>
            <a:r>
              <a:rPr lang="en-US" sz="4800" b="1" dirty="0"/>
              <a:t> </a:t>
            </a:r>
            <a:r>
              <a:rPr lang="en-US" sz="4800" b="1" dirty="0" err="1"/>
              <a:t>một</a:t>
            </a:r>
            <a:r>
              <a:rPr lang="en-US" sz="4800" b="1" dirty="0"/>
              <a:t> con </a:t>
            </a:r>
            <a:r>
              <a:rPr lang="en-US" sz="4800" b="1" dirty="0" err="1"/>
              <a:t>trai</a:t>
            </a:r>
            <a:r>
              <a:rPr lang="en-US" sz="4800" b="1" dirty="0"/>
              <a:t> </a:t>
            </a:r>
            <a:r>
              <a:rPr lang="en-US" sz="4800" b="1" dirty="0" err="1"/>
              <a:t>và</a:t>
            </a:r>
            <a:r>
              <a:rPr lang="en-US" sz="4800" b="1" dirty="0"/>
              <a:t> </a:t>
            </a:r>
            <a:r>
              <a:rPr lang="en-US" sz="4800" b="1" dirty="0" err="1"/>
              <a:t>hai</a:t>
            </a:r>
            <a:r>
              <a:rPr lang="en-US" sz="4800" b="1" dirty="0"/>
              <a:t> con </a:t>
            </a:r>
            <a:r>
              <a:rPr lang="en-US" sz="4800" b="1" dirty="0" err="1"/>
              <a:t>gái</a:t>
            </a:r>
            <a:r>
              <a:rPr lang="en-US" sz="4800" b="1" dirty="0"/>
              <a:t>.</a:t>
            </a:r>
            <a:endParaRPr lang="en-US" sz="4800" b="1" dirty="0">
              <a:latin typeface="Times New Roman" panose="02020603050405020304" pitchFamily="18" charset="0"/>
              <a:cs typeface="Times New Roman" panose="02020603050405020304" pitchFamily="18"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82649" y="5176536"/>
            <a:ext cx="23818702" cy="828832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666164"/>
            <a:ext cx="58674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vi-VN" sz="4000" b="1">
                  <a:solidFill>
                    <a:srgbClr val="FF0000"/>
                  </a:solidFill>
                  <a:latin typeface="Tahoma" panose="020B0604030504040204" pitchFamily="34" charset="0"/>
                  <a:ea typeface="Tahoma" panose="020B0604030504040204" pitchFamily="34" charset="0"/>
                  <a:cs typeface="Tahoma" panose="020B0604030504040204" pitchFamily="34" charset="0"/>
                </a:rPr>
                <a:t>Luyện tập </a:t>
              </a:r>
              <a:r>
                <a:rPr lang="en-US" sz="4000" b="1">
                  <a:solidFill>
                    <a:srgbClr val="FF0000"/>
                  </a:solidFill>
                  <a:latin typeface="Tahoma" panose="020B0604030504040204" pitchFamily="34" charset="0"/>
                  <a:ea typeface="Tahoma" panose="020B0604030504040204" pitchFamily="34" charset="0"/>
                  <a:cs typeface="Tahoma" panose="020B0604030504040204" pitchFamily="34" charset="0"/>
                </a:rPr>
                <a:t>3</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2493432" y="5272905"/>
            <a:ext cx="21645403" cy="2175596"/>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marL="342900" lvl="0" indent="-342900" algn="just">
              <a:lnSpc>
                <a:spcPct val="150000"/>
              </a:lnSpc>
              <a:buFont typeface="+mj-lt"/>
              <a:buAutoNum type="alphaLcParenR"/>
            </a:pPr>
            <a:r>
              <a:rPr lang="vi-VN" sz="4800" b="1">
                <a:solidFill>
                  <a:srgbClr val="000000"/>
                </a:solidFill>
                <a:effectLst/>
                <a:latin typeface="Times New Roman" panose="02020603050405020304" pitchFamily="18" charset="0"/>
                <a:ea typeface="Calibri" panose="020F0502020204030204" pitchFamily="34" charset="0"/>
              </a:rPr>
              <a:t>Vẽ sơ đồ hình cây để mô tả các phần tử của không gian mẫu. </a:t>
            </a:r>
            <a:endParaRPr lang="en-US" sz="4800" b="1">
              <a:effectLst/>
              <a:latin typeface="Times New Roman" panose="02020603050405020304" pitchFamily="18" charset="0"/>
              <a:ea typeface="Calibri" panose="020F0502020204030204" pitchFamily="34" charset="0"/>
            </a:endParaRPr>
          </a:p>
          <a:p>
            <a:pPr marL="457200" algn="just">
              <a:lnSpc>
                <a:spcPct val="150000"/>
              </a:lnSpc>
            </a:pPr>
            <a:r>
              <a:rPr lang="vi-VN" sz="4800" b="1">
                <a:solidFill>
                  <a:srgbClr val="000000"/>
                </a:solidFill>
                <a:effectLst/>
                <a:latin typeface="Times New Roman" panose="02020603050405020304" pitchFamily="18" charset="0"/>
                <a:ea typeface="Calibri" panose="020F0502020204030204" pitchFamily="34" charset="0"/>
              </a:rPr>
              <a:t>Ký hiệu:  T: Con trai,    G: Con gái</a:t>
            </a:r>
            <a:endParaRPr lang="en-US" sz="4800" b="1">
              <a:effectLst/>
              <a:latin typeface="Times New Roman" panose="02020603050405020304" pitchFamily="18" charset="0"/>
              <a:ea typeface="Calibri" panose="020F0502020204030204" pitchFamily="34" charset="0"/>
            </a:endParaRPr>
          </a:p>
        </p:txBody>
      </p:sp>
      <p:pic>
        <p:nvPicPr>
          <p:cNvPr id="18" name="Hình ảnh 149">
            <a:extLst>
              <a:ext uri="{FF2B5EF4-FFF2-40B4-BE49-F238E27FC236}">
                <a16:creationId xmlns:a16="http://schemas.microsoft.com/office/drawing/2014/main" id="{1151E9CE-8277-C024-0F8E-1E778E048E13}"/>
              </a:ext>
            </a:extLst>
          </p:cNvPr>
          <p:cNvPicPr>
            <a:picLocks noChangeAspect="1"/>
          </p:cNvPicPr>
          <p:nvPr/>
        </p:nvPicPr>
        <p:blipFill>
          <a:blip r:embed="rId3"/>
          <a:stretch>
            <a:fillRect/>
          </a:stretch>
        </p:blipFill>
        <p:spPr>
          <a:xfrm>
            <a:off x="2493432" y="7649137"/>
            <a:ext cx="18080568" cy="5744592"/>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021208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7">
                                            <p:txEl>
                                              <p:pRg st="0" end="0"/>
                                            </p:txEl>
                                          </p:spTgt>
                                        </p:tgtEl>
                                        <p:attrNameLst>
                                          <p:attrName>style.visibility</p:attrName>
                                        </p:attrNameLst>
                                      </p:cBhvr>
                                      <p:to>
                                        <p:strVal val="visible"/>
                                      </p:to>
                                    </p:set>
                                    <p:animEffect transition="in" filter="wipe(left)">
                                      <p:cBhvr>
                                        <p:cTn id="11" dur="500"/>
                                        <p:tgtEl>
                                          <p:spTgt spid="97">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xEl>
                                              <p:pRg st="1" end="1"/>
                                            </p:txEl>
                                          </p:spTgt>
                                        </p:tgtEl>
                                        <p:attrNameLst>
                                          <p:attrName>style.visibility</p:attrName>
                                        </p:attrNameLst>
                                      </p:cBhvr>
                                      <p:to>
                                        <p:strVal val="visible"/>
                                      </p:to>
                                    </p:set>
                                    <p:animEffect transition="in" filter="wipe(left)">
                                      <p:cBhvr>
                                        <p:cTn id="15" dur="500"/>
                                        <p:tgtEl>
                                          <p:spTgt spid="97">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7">
                                            <p:txEl>
                                              <p:pRg st="2" end="2"/>
                                            </p:txEl>
                                          </p:spTgt>
                                        </p:tgtEl>
                                        <p:attrNameLst>
                                          <p:attrName>style.visibility</p:attrName>
                                        </p:attrNameLst>
                                      </p:cBhvr>
                                      <p:to>
                                        <p:strVal val="visible"/>
                                      </p:to>
                                    </p:set>
                                    <p:animEffect transition="in" filter="wipe(left)">
                                      <p:cBhvr>
                                        <p:cTn id="19" dur="500"/>
                                        <p:tgtEl>
                                          <p:spTgt spid="97">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0" end="0"/>
                                            </p:txEl>
                                          </p:spTgt>
                                        </p:tgtEl>
                                        <p:attrNameLst>
                                          <p:attrName>style.visibility</p:attrName>
                                        </p:attrNameLst>
                                      </p:cBhvr>
                                      <p:to>
                                        <p:strVal val="visible"/>
                                      </p:to>
                                    </p:set>
                                    <p:animEffect transition="in" filter="wipe(up)">
                                      <p:cBhvr>
                                        <p:cTn id="23" dur="500"/>
                                        <p:tgtEl>
                                          <p:spTgt spid="9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7">
                                            <p:txEl>
                                              <p:pRg st="0" end="0"/>
                                            </p:txEl>
                                          </p:spTgt>
                                        </p:tgtEl>
                                        <p:attrNameLst>
                                          <p:attrName>style.visibility</p:attrName>
                                        </p:attrNameLst>
                                      </p:cBhvr>
                                      <p:to>
                                        <p:strVal val="visible"/>
                                      </p:to>
                                    </p:set>
                                    <p:animEffect transition="in" filter="fade">
                                      <p:cBhvr>
                                        <p:cTn id="28" dur="500"/>
                                        <p:tgtEl>
                                          <p:spTgt spid="2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7">
                                            <p:txEl>
                                              <p:pRg st="1" end="1"/>
                                            </p:txEl>
                                          </p:spTgt>
                                        </p:tgtEl>
                                        <p:attrNameLst>
                                          <p:attrName>style.visibility</p:attrName>
                                        </p:attrNameLst>
                                      </p:cBhvr>
                                      <p:to>
                                        <p:strVal val="visible"/>
                                      </p:to>
                                    </p:set>
                                    <p:animEffect transition="in" filter="fade">
                                      <p:cBhvr>
                                        <p:cTn id="33" dur="500"/>
                                        <p:tgtEl>
                                          <p:spTgt spid="2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20133" y="1666164"/>
            <a:ext cx="23818702" cy="34392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vi-VN" b="1"/>
              <a:t>          </a:t>
            </a:r>
            <a:r>
              <a:rPr lang="en-US" sz="4800" b="1"/>
              <a:t>Trong một cuộc tồng điều tra dân số, điều tra viên chọn ngẫu nhiên một gia đình có ba người con và quan tâm giới tính của ba người con này. </a:t>
            </a:r>
          </a:p>
          <a:p>
            <a:r>
              <a:rPr lang="en-US" sz="4800" b="1"/>
              <a:t>a) Vẽ sơ đồ hình cây để mô tả các phần tử của không gian mẫu. </a:t>
            </a:r>
          </a:p>
          <a:p>
            <a:r>
              <a:rPr lang="en-US" sz="4800" b="1"/>
              <a:t>b) Giả thiết rằng khả năng sinh con trai và khả năng sinh con gái là như nhau. Tính xác suất để gia đình đó có một con trai và hai con gái.</a:t>
            </a:r>
            <a:endParaRPr lang="en-US" sz="4800" b="1" dirty="0">
              <a:latin typeface="Times New Roman" panose="02020603050405020304" pitchFamily="18" charset="0"/>
              <a:cs typeface="Times New Roman" panose="02020603050405020304" pitchFamily="18"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82649" y="5176536"/>
            <a:ext cx="23818702" cy="828832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666164"/>
            <a:ext cx="58674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vi-VN" sz="4000" b="1">
                  <a:solidFill>
                    <a:srgbClr val="FF0000"/>
                  </a:solidFill>
                  <a:latin typeface="Tahoma" panose="020B0604030504040204" pitchFamily="34" charset="0"/>
                  <a:ea typeface="Tahoma" panose="020B0604030504040204" pitchFamily="34" charset="0"/>
                  <a:cs typeface="Tahoma" panose="020B0604030504040204" pitchFamily="34" charset="0"/>
                </a:rPr>
                <a:t>Luyện tập </a:t>
              </a:r>
              <a:r>
                <a:rPr lang="en-US" sz="4000" b="1">
                  <a:solidFill>
                    <a:srgbClr val="FF0000"/>
                  </a:solidFill>
                  <a:latin typeface="Tahoma" panose="020B0604030504040204" pitchFamily="34" charset="0"/>
                  <a:ea typeface="Tahoma" panose="020B0604030504040204" pitchFamily="34" charset="0"/>
                  <a:cs typeface="Tahoma" panose="020B0604030504040204" pitchFamily="34" charset="0"/>
                </a:rPr>
                <a:t>3</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2493432" y="5272905"/>
                <a:ext cx="21645403" cy="5236049"/>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lvl="0" algn="just">
                  <a:lnSpc>
                    <a:spcPct val="150000"/>
                  </a:lnSpc>
                </a:pPr>
                <a:r>
                  <a:rPr lang="vi-VN" sz="4800" b="1">
                    <a:solidFill>
                      <a:srgbClr val="000000"/>
                    </a:solidFill>
                    <a:effectLst/>
                    <a:latin typeface="Times New Roman" panose="02020603050405020304" pitchFamily="18" charset="0"/>
                    <a:ea typeface="Calibri" panose="020F0502020204030204" pitchFamily="34" charset="0"/>
                  </a:rPr>
                  <a:t>b) </a:t>
                </a:r>
                <a:r>
                  <a:rPr lang="en-US" sz="4800" b="1">
                    <a:solidFill>
                      <a:srgbClr val="000000"/>
                    </a:solidFill>
                    <a:effectLst/>
                    <a:latin typeface="Times New Roman" panose="02020603050405020304" pitchFamily="18" charset="0"/>
                    <a:ea typeface="Calibri" panose="020F0502020204030204" pitchFamily="34" charset="0"/>
                  </a:rPr>
                  <a:t>Theo sơ đồ hình cây </a:t>
                </a:r>
                <a:endParaRPr lang="en-US" sz="4800" b="1">
                  <a:effectLst/>
                  <a:latin typeface="Times New Roman" panose="02020603050405020304" pitchFamily="18" charset="0"/>
                  <a:ea typeface="Calibri" panose="020F0502020204030204" pitchFamily="34" charset="0"/>
                </a:endParaRPr>
              </a:p>
              <a:p>
                <a:pPr marL="457200" algn="just">
                  <a:lnSpc>
                    <a:spcPct val="150000"/>
                  </a:lnSpc>
                </a:pPr>
                <a:r>
                  <a:rPr lang="en-US" sz="4800" b="1">
                    <a:solidFill>
                      <a:srgbClr val="000000"/>
                    </a:solidFill>
                    <a:effectLst/>
                    <a:latin typeface="Times New Roman" panose="02020603050405020304" pitchFamily="18" charset="0"/>
                    <a:ea typeface="Calibri" panose="020F0502020204030204" pitchFamily="34" charset="0"/>
                  </a:rPr>
                  <a:t>Ta có </a:t>
                </a:r>
                <a14:m>
                  <m:oMath xmlns:m="http://schemas.openxmlformats.org/officeDocument/2006/math">
                    <m:r>
                      <a:rPr lang="en-US" sz="4800" b="1" i="1" smtClean="0">
                        <a:solidFill>
                          <a:srgbClr val="2C2A29"/>
                        </a:solidFill>
                        <a:effectLst/>
                        <a:latin typeface="Cambria Math" panose="02040503050406030204" pitchFamily="18" charset="0"/>
                        <a:ea typeface="Calibri" panose="020F0502020204030204" pitchFamily="34" charset="0"/>
                      </a:rPr>
                      <m:t>𝒏</m:t>
                    </m:r>
                    <m:d>
                      <m:dPr>
                        <m:ctrlPr>
                          <a:rPr lang="en-US" sz="4800" b="1" i="1">
                            <a:solidFill>
                              <a:srgbClr val="2C2A29"/>
                            </a:solidFill>
                            <a:effectLst/>
                            <a:latin typeface="Cambria Math" panose="02040503050406030204" pitchFamily="18" charset="0"/>
                            <a:ea typeface="Calibri" panose="020F0502020204030204" pitchFamily="34" charset="0"/>
                          </a:rPr>
                        </m:ctrlPr>
                      </m:dPr>
                      <m:e>
                        <m:r>
                          <a:rPr lang="en-US" sz="4800" b="1" i="1" smtClean="0">
                            <a:solidFill>
                              <a:srgbClr val="2C2A29"/>
                            </a:solidFill>
                            <a:effectLst/>
                            <a:latin typeface="Cambria Math" panose="02040503050406030204" pitchFamily="18" charset="0"/>
                            <a:ea typeface="Calibri" panose="020F0502020204030204" pitchFamily="34" charset="0"/>
                          </a:rPr>
                          <m:t>𝜴</m:t>
                        </m:r>
                      </m:e>
                    </m:d>
                    <m:r>
                      <a:rPr lang="en-US" sz="4800" b="1" i="1" smtClean="0">
                        <a:solidFill>
                          <a:srgbClr val="2C2A29"/>
                        </a:solidFill>
                        <a:effectLst/>
                        <a:latin typeface="Cambria Math" panose="02040503050406030204" pitchFamily="18" charset="0"/>
                        <a:ea typeface="Calibri" panose="020F0502020204030204" pitchFamily="34" charset="0"/>
                      </a:rPr>
                      <m:t>=</m:t>
                    </m:r>
                    <m:r>
                      <a:rPr lang="en-US" sz="4800" b="1" i="1" smtClean="0">
                        <a:solidFill>
                          <a:srgbClr val="2C2A29"/>
                        </a:solidFill>
                        <a:effectLst/>
                        <a:latin typeface="Cambria Math" panose="02040503050406030204" pitchFamily="18" charset="0"/>
                        <a:ea typeface="Calibri" panose="020F0502020204030204" pitchFamily="34" charset="0"/>
                      </a:rPr>
                      <m:t>𝟖</m:t>
                    </m:r>
                  </m:oMath>
                </a14:m>
                <a:r>
                  <a:rPr lang="en-US" sz="4800" b="1">
                    <a:solidFill>
                      <a:srgbClr val="2C2A29"/>
                    </a:solidFill>
                    <a:effectLst/>
                    <a:latin typeface="Times New Roman" panose="02020603050405020304" pitchFamily="18" charset="0"/>
                    <a:ea typeface="Calibri" panose="020F0502020204030204" pitchFamily="34" charset="0"/>
                  </a:rPr>
                  <a:t>.</a:t>
                </a:r>
                <a:endParaRPr lang="en-US" sz="4800" b="1">
                  <a:effectLst/>
                  <a:latin typeface="Times New Roman" panose="02020603050405020304" pitchFamily="18" charset="0"/>
                  <a:ea typeface="Calibri" panose="020F0502020204030204" pitchFamily="34" charset="0"/>
                </a:endParaRPr>
              </a:p>
              <a:p>
                <a:pPr>
                  <a:lnSpc>
                    <a:spcPct val="107000"/>
                  </a:lnSpc>
                  <a:spcAft>
                    <a:spcPts val="800"/>
                  </a:spcAft>
                </a:pPr>
                <a:r>
                  <a:rPr lang="vi-VN" sz="4800" b="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Biến cố A:”</a:t>
                </a:r>
                <a:r>
                  <a:rPr lang="vi-VN"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gia đình được chọn có một con trai và hai con gái</a:t>
                </a:r>
                <a:r>
                  <a:rPr lang="vi-VN" sz="4800" b="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Nên </a:t>
                </a:r>
                <a:r>
                  <a:rPr lang="vi-VN"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vi-VN"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{TGG, GTG, GGT}.</a:t>
                </a:r>
                <a:r>
                  <a:rPr lang="vi-VN" sz="4800" b="1">
                    <a:solidFill>
                      <a:srgbClr val="2C2A29"/>
                    </a:solidFill>
                    <a:effectLst/>
                    <a:latin typeface="Times New Roman" panose="02020603050405020304" pitchFamily="18" charset="0"/>
                    <a:ea typeface="Calibri" panose="020F0502020204030204" pitchFamily="34" charset="0"/>
                    <a:cs typeface="Times New Roman" panose="02020603050405020304" pitchFamily="18" charset="0"/>
                  </a:rPr>
                  <a:t> Vậy </a:t>
                </a:r>
                <a14:m>
                  <m:oMath xmlns:m="http://schemas.openxmlformats.org/officeDocument/2006/math">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𝑨</m:t>
                        </m:r>
                      </m:e>
                    </m:d>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2C2A29"/>
                        </a:solidFill>
                        <a:effectLst/>
                        <a:latin typeface="Cambria Math" panose="02040503050406030204" pitchFamily="18" charset="0"/>
                        <a:ea typeface="Calibri" panose="020F0502020204030204" pitchFamily="34" charset="0"/>
                        <a:cs typeface="Times New Roman" panose="02020603050405020304" pitchFamily="18" charset="0"/>
                      </a:rPr>
                      <m:t>𝟑</m:t>
                    </m:r>
                  </m:oMath>
                </a14:m>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vi-VN"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 đó </a:t>
                </a:r>
                <a14:m>
                  <m:oMath xmlns:m="http://schemas.openxmlformats.org/officeDocument/2006/math">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𝑷</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𝑨</m:t>
                        </m:r>
                      </m:e>
                    </m:d>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m:t>
                        </m:r>
                      </m:num>
                      <m:den>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𝟖</m:t>
                        </m:r>
                      </m:den>
                    </m:f>
                  </m:oMath>
                </a14:m>
                <a:r>
                  <a:rPr lang="vi-VN"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2493432" y="5272905"/>
                <a:ext cx="21645403" cy="5236049"/>
              </a:xfrm>
              <a:prstGeom prst="rect">
                <a:avLst/>
              </a:prstGeom>
              <a:blipFill>
                <a:blip r:embed="rId3"/>
                <a:stretch>
                  <a:fillRect l="-1267" b="-2095"/>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887180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7">
                                            <p:txEl>
                                              <p:pRg st="0" end="0"/>
                                            </p:txEl>
                                          </p:spTgt>
                                        </p:tgtEl>
                                        <p:attrNameLst>
                                          <p:attrName>style.visibility</p:attrName>
                                        </p:attrNameLst>
                                      </p:cBhvr>
                                      <p:to>
                                        <p:strVal val="visible"/>
                                      </p:to>
                                    </p:set>
                                    <p:animEffect transition="in" filter="wipe(left)">
                                      <p:cBhvr>
                                        <p:cTn id="11" dur="500"/>
                                        <p:tgtEl>
                                          <p:spTgt spid="97">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xEl>
                                              <p:pRg st="1" end="1"/>
                                            </p:txEl>
                                          </p:spTgt>
                                        </p:tgtEl>
                                        <p:attrNameLst>
                                          <p:attrName>style.visibility</p:attrName>
                                        </p:attrNameLst>
                                      </p:cBhvr>
                                      <p:to>
                                        <p:strVal val="visible"/>
                                      </p:to>
                                    </p:set>
                                    <p:animEffect transition="in" filter="wipe(left)">
                                      <p:cBhvr>
                                        <p:cTn id="15" dur="500"/>
                                        <p:tgtEl>
                                          <p:spTgt spid="97">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7">
                                            <p:txEl>
                                              <p:pRg st="2" end="2"/>
                                            </p:txEl>
                                          </p:spTgt>
                                        </p:tgtEl>
                                        <p:attrNameLst>
                                          <p:attrName>style.visibility</p:attrName>
                                        </p:attrNameLst>
                                      </p:cBhvr>
                                      <p:to>
                                        <p:strVal val="visible"/>
                                      </p:to>
                                    </p:set>
                                    <p:animEffect transition="in" filter="wipe(left)">
                                      <p:cBhvr>
                                        <p:cTn id="19" dur="500"/>
                                        <p:tgtEl>
                                          <p:spTgt spid="97">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0" end="0"/>
                                            </p:txEl>
                                          </p:spTgt>
                                        </p:tgtEl>
                                        <p:attrNameLst>
                                          <p:attrName>style.visibility</p:attrName>
                                        </p:attrNameLst>
                                      </p:cBhvr>
                                      <p:to>
                                        <p:strVal val="visible"/>
                                      </p:to>
                                    </p:set>
                                    <p:animEffect transition="in" filter="wipe(up)">
                                      <p:cBhvr>
                                        <p:cTn id="23" dur="500"/>
                                        <p:tgtEl>
                                          <p:spTgt spid="9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7">
                                            <p:txEl>
                                              <p:pRg st="0" end="0"/>
                                            </p:txEl>
                                          </p:spTgt>
                                        </p:tgtEl>
                                        <p:attrNameLst>
                                          <p:attrName>style.visibility</p:attrName>
                                        </p:attrNameLst>
                                      </p:cBhvr>
                                      <p:to>
                                        <p:strVal val="visible"/>
                                      </p:to>
                                    </p:set>
                                    <p:animEffect transition="in" filter="fade">
                                      <p:cBhvr>
                                        <p:cTn id="28" dur="500"/>
                                        <p:tgtEl>
                                          <p:spTgt spid="2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7">
                                            <p:txEl>
                                              <p:pRg st="1" end="1"/>
                                            </p:txEl>
                                          </p:spTgt>
                                        </p:tgtEl>
                                        <p:attrNameLst>
                                          <p:attrName>style.visibility</p:attrName>
                                        </p:attrNameLst>
                                      </p:cBhvr>
                                      <p:to>
                                        <p:strVal val="visible"/>
                                      </p:to>
                                    </p:set>
                                    <p:animEffect transition="in" filter="fade">
                                      <p:cBhvr>
                                        <p:cTn id="33" dur="500"/>
                                        <p:tgtEl>
                                          <p:spTgt spid="2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7">
                                            <p:txEl>
                                              <p:pRg st="2" end="2"/>
                                            </p:txEl>
                                          </p:spTgt>
                                        </p:tgtEl>
                                        <p:attrNameLst>
                                          <p:attrName>style.visibility</p:attrName>
                                        </p:attrNameLst>
                                      </p:cBhvr>
                                      <p:to>
                                        <p:strVal val="visible"/>
                                      </p:to>
                                    </p:set>
                                    <p:animEffect transition="in" filter="fade">
                                      <p:cBhvr>
                                        <p:cTn id="38" dur="500"/>
                                        <p:tgtEl>
                                          <p:spTgt spid="27">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7">
                                            <p:txEl>
                                              <p:pRg st="3" end="3"/>
                                            </p:txEl>
                                          </p:spTgt>
                                        </p:tgtEl>
                                        <p:attrNameLst>
                                          <p:attrName>style.visibility</p:attrName>
                                        </p:attrNameLst>
                                      </p:cBhvr>
                                      <p:to>
                                        <p:strVal val="visible"/>
                                      </p:to>
                                    </p:set>
                                    <p:animEffect transition="in" filter="fade">
                                      <p:cBhvr>
                                        <p:cTn id="43" dur="500"/>
                                        <p:tgtEl>
                                          <p:spTgt spid="27">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7">
                                            <p:txEl>
                                              <p:pRg st="4" end="4"/>
                                            </p:txEl>
                                          </p:spTgt>
                                        </p:tgtEl>
                                        <p:attrNameLst>
                                          <p:attrName>style.visibility</p:attrName>
                                        </p:attrNameLst>
                                      </p:cBhvr>
                                      <p:to>
                                        <p:strVal val="visible"/>
                                      </p:to>
                                    </p:set>
                                    <p:animEffect transition="in" filter="fade">
                                      <p:cBhvr>
                                        <p:cTn id="48"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D2311B5C-098F-06A6-9D26-F11C42C0EC66}"/>
              </a:ext>
            </a:extLst>
          </p:cNvPr>
          <p:cNvSpPr txBox="1"/>
          <p:nvPr/>
        </p:nvSpPr>
        <p:spPr>
          <a:xfrm>
            <a:off x="664410" y="1735843"/>
            <a:ext cx="14282529"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3</a:t>
            </a:r>
            <a:r>
              <a:rPr lang="en-US" sz="4400" b="1">
                <a:solidFill>
                  <a:srgbClr val="0033CC"/>
                </a:solidFill>
                <a:latin typeface="Times New Roman" panose="02020603050405020304" pitchFamily="18" charset="0"/>
                <a:cs typeface="Times New Roman" panose="02020603050405020304" pitchFamily="18" charset="0"/>
              </a:rPr>
              <a:t>. </a:t>
            </a:r>
            <a:r>
              <a:rPr lang="en-US" sz="4400" b="1">
                <a:solidFill>
                  <a:srgbClr val="0033CC"/>
                </a:solidFill>
                <a:effectLst/>
                <a:latin typeface="Times New Roman" panose="02020603050405020304" pitchFamily="18" charset="0"/>
                <a:ea typeface="Calibri" panose="020F0502020204030204" pitchFamily="34" charset="0"/>
              </a:rPr>
              <a:t>XÁC SUẤT CỦA BIẾN CỐ ĐỐI</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43" name="Group 42">
            <a:extLst>
              <a:ext uri="{FF2B5EF4-FFF2-40B4-BE49-F238E27FC236}">
                <a16:creationId xmlns:a16="http://schemas.microsoft.com/office/drawing/2014/main" id="{6173859E-61BA-2A01-D3ED-45F175DCE692}"/>
              </a:ext>
            </a:extLst>
          </p:cNvPr>
          <p:cNvGrpSpPr/>
          <p:nvPr/>
        </p:nvGrpSpPr>
        <p:grpSpPr>
          <a:xfrm>
            <a:off x="664410" y="2519283"/>
            <a:ext cx="23436941" cy="2357517"/>
            <a:chOff x="0" y="-45827"/>
            <a:chExt cx="11795431" cy="1274617"/>
          </a:xfrm>
          <a:solidFill>
            <a:schemeClr val="bg2"/>
          </a:solidFill>
        </p:grpSpPr>
        <mc:AlternateContent xmlns:mc="http://schemas.openxmlformats.org/markup-compatibility/2006" xmlns:a14="http://schemas.microsoft.com/office/drawing/2010/main">
          <mc:Choice Requires="a14">
            <p:sp>
              <p:nvSpPr>
                <p:cNvPr id="44" name="TextBox 321">
                  <a:extLst>
                    <a:ext uri="{FF2B5EF4-FFF2-40B4-BE49-F238E27FC236}">
                      <a16:creationId xmlns:a16="http://schemas.microsoft.com/office/drawing/2014/main" id="{15D86722-41C9-9650-35B6-B151BBF81037}"/>
                    </a:ext>
                  </a:extLst>
                </p:cNvPr>
                <p:cNvSpPr txBox="1"/>
                <p:nvPr/>
              </p:nvSpPr>
              <p:spPr>
                <a:xfrm>
                  <a:off x="679884" y="-45827"/>
                  <a:ext cx="11115547" cy="1274617"/>
                </a:xfrm>
                <a:prstGeom prst="rect">
                  <a:avLst/>
                </a:prstGeom>
                <a:grpFill/>
              </p:spPr>
              <p:txBody>
                <a:bodyPr wrap="square" rtlCol="0">
                  <a:noAutofit/>
                </a:bodyPr>
                <a:lstStyle/>
                <a:p>
                  <a:pPr>
                    <a:lnSpc>
                      <a:spcPct val="107000"/>
                    </a:lnSpc>
                    <a:spcAft>
                      <a:spcPts val="800"/>
                    </a:spcAft>
                  </a:pPr>
                  <a:r>
                    <a:rPr lang="en-US" sz="4800" b="1" kern="1200">
                      <a:solidFill>
                        <a:srgbClr val="FF0000"/>
                      </a:solidFill>
                      <a:effectLst/>
                      <a:latin typeface="Times New Roman" panose="02020603050405020304" pitchFamily="18" charset="0"/>
                      <a:ea typeface="Cascadia Mono"/>
                      <a:cs typeface="Times New Roman" panose="02020603050405020304" pitchFamily="18" charset="0"/>
                    </a:rPr>
                    <a:t>HĐ3: </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Cho </a:t>
                  </a: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là một </a:t>
                  </a:r>
                  <a:r>
                    <a:rPr lang="en-US" sz="4800" b="1">
                      <a:solidFill>
                        <a:srgbClr val="373430"/>
                      </a:solidFill>
                      <a:effectLst/>
                      <a:latin typeface="Times New Roman" panose="02020603050405020304" pitchFamily="18" charset="0"/>
                      <a:ea typeface="Calibri" panose="020F0502020204030204" pitchFamily="34" charset="0"/>
                      <a:cs typeface="Times New Roman" panose="02020603050405020304" pitchFamily="18" charset="0"/>
                    </a:rPr>
                    <a:t>biến cố và </a:t>
                  </a:r>
                  <a14:m>
                    <m:oMath xmlns:m="http://schemas.openxmlformats.org/officeDocument/2006/math">
                      <m:r>
                        <a:rPr lang="en-US" sz="4800" b="1" i="1">
                          <a:latin typeface="Cambria Math" panose="02040503050406030204" pitchFamily="18" charset="0"/>
                        </a:rPr>
                        <m:t>𝜴</m:t>
                      </m:r>
                    </m:oMath>
                  </a14:m>
                  <a:r>
                    <a:rPr lang="en-US" sz="4800" b="1">
                      <a:solidFill>
                        <a:srgbClr val="373430"/>
                      </a:solidFill>
                      <a:effectLst/>
                      <a:latin typeface="Times New Roman" panose="02020603050405020304" pitchFamily="18" charset="0"/>
                      <a:ea typeface="Calibri" panose="020F0502020204030204" pitchFamily="34" charset="0"/>
                      <a:cs typeface="Times New Roman" panose="02020603050405020304" pitchFamily="18" charset="0"/>
                    </a:rPr>
                    <a:t> là không </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gian </a:t>
                  </a:r>
                  <a:r>
                    <a:rPr lang="en-US" sz="4800" b="1">
                      <a:solidFill>
                        <a:srgbClr val="373430"/>
                      </a:solidFill>
                      <a:effectLst/>
                      <a:latin typeface="Times New Roman" panose="02020603050405020304" pitchFamily="18" charset="0"/>
                      <a:ea typeface="Calibri" panose="020F0502020204030204" pitchFamily="34" charset="0"/>
                      <a:cs typeface="Times New Roman" panose="02020603050405020304" pitchFamily="18" charset="0"/>
                    </a:rPr>
                    <a:t>mẫu. Tính </a:t>
                  </a:r>
                  <a14:m>
                    <m:oMath xmlns:m="http://schemas.openxmlformats.org/officeDocument/2006/math">
                      <m:r>
                        <a:rPr lang="en-US" sz="4800" b="1" i="1">
                          <a:latin typeface="Cambria Math" panose="02040503050406030204" pitchFamily="18" charset="0"/>
                        </a:rPr>
                        <m:t>𝒏</m:t>
                      </m:r>
                      <m:d>
                        <m:dPr>
                          <m:ctrlPr>
                            <a:rPr lang="en-US" sz="4800" b="1" i="1">
                              <a:latin typeface="Cambria Math" panose="02040503050406030204" pitchFamily="18" charset="0"/>
                            </a:rPr>
                          </m:ctrlPr>
                        </m:dPr>
                        <m:e>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𝑬</m:t>
                              </m:r>
                            </m:e>
                          </m:bar>
                        </m:e>
                      </m:d>
                    </m:oMath>
                  </a14:m>
                  <a:r>
                    <a:rPr lang="en-US" sz="4800" b="1">
                      <a:solidFill>
                        <a:srgbClr val="373430"/>
                      </a:solidFill>
                      <a:effectLst/>
                      <a:latin typeface="Times New Roman" panose="02020603050405020304" pitchFamily="18" charset="0"/>
                      <a:ea typeface="Calibri" panose="020F0502020204030204" pitchFamily="34" charset="0"/>
                      <a:cs typeface="Times New Roman" panose="02020603050405020304" pitchFamily="18" charset="0"/>
                    </a:rPr>
                    <a:t>  theo </a:t>
                  </a:r>
                  <a14:m>
                    <m:oMath xmlns:m="http://schemas.openxmlformats.org/officeDocument/2006/math">
                      <m:r>
                        <a:rPr lang="en-US" sz="4800" b="1" i="1" smtClean="0">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effectLst/>
                              <a:latin typeface="Cambria Math" panose="02040503050406030204" pitchFamily="18" charset="0"/>
                              <a:cs typeface="Times New Roman" panose="02020603050405020304" pitchFamily="18" charset="0"/>
                            </a:rPr>
                          </m:ctrlPr>
                        </m:d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𝜴</m:t>
                          </m:r>
                        </m:e>
                      </m:d>
                    </m:oMath>
                  </a14:m>
                  <a:r>
                    <a:rPr lang="en-US" sz="4800" b="1">
                      <a:solidFill>
                        <a:srgbClr val="37343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và </a:t>
                  </a:r>
                  <a14:m>
                    <m:oMath xmlns:m="http://schemas.openxmlformats.org/officeDocument/2006/math">
                      <m:r>
                        <a:rPr lang="en-US" sz="4800" b="1" i="1">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latin typeface="Cambria Math" panose="02040503050406030204" pitchFamily="18" charset="0"/>
                              <a:cs typeface="Times New Roman" panose="02020603050405020304" pitchFamily="18" charset="0"/>
                            </a:rPr>
                          </m:ctrlPr>
                        </m:dPr>
                        <m:e>
                          <m:r>
                            <a:rPr lang="en-US" sz="4800" b="1" i="1" smtClean="0">
                              <a:latin typeface="Cambria Math" panose="02040503050406030204" pitchFamily="18" charset="0"/>
                              <a:cs typeface="Times New Roman" panose="02020603050405020304" pitchFamily="18" charset="0"/>
                            </a:rPr>
                            <m:t>𝑬</m:t>
                          </m:r>
                        </m:e>
                      </m:d>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44" name="TextBox 321">
                  <a:extLst>
                    <a:ext uri="{FF2B5EF4-FFF2-40B4-BE49-F238E27FC236}">
                      <a16:creationId xmlns:a16="http://schemas.microsoft.com/office/drawing/2014/main" id="{15D86722-41C9-9650-35B6-B151BBF81037}"/>
                    </a:ext>
                  </a:extLst>
                </p:cNvPr>
                <p:cNvSpPr txBox="1">
                  <a:spLocks noRot="1" noChangeAspect="1" noMove="1" noResize="1" noEditPoints="1" noAdjustHandles="1" noChangeArrowheads="1" noChangeShapeType="1" noTextEdit="1"/>
                </p:cNvSpPr>
                <p:nvPr/>
              </p:nvSpPr>
              <p:spPr>
                <a:xfrm>
                  <a:off x="679884" y="-45827"/>
                  <a:ext cx="11115547" cy="1274617"/>
                </a:xfrm>
                <a:prstGeom prst="rect">
                  <a:avLst/>
                </a:prstGeom>
                <a:blipFill>
                  <a:blip r:embed="rId3"/>
                  <a:stretch>
                    <a:fillRect l="-1270" t="-1034"/>
                  </a:stretch>
                </a:blipFill>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BE7B34D6-30FE-08C2-DAC9-FE4896C0F468}"/>
                </a:ext>
              </a:extLst>
            </p:cNvPr>
            <p:cNvGrpSpPr/>
            <p:nvPr/>
          </p:nvGrpSpPr>
          <p:grpSpPr>
            <a:xfrm>
              <a:off x="0" y="92326"/>
              <a:ext cx="627012" cy="197663"/>
              <a:chOff x="0" y="92326"/>
              <a:chExt cx="575416" cy="197663"/>
            </a:xfrm>
            <a:grpFill/>
          </p:grpSpPr>
          <p:grpSp>
            <p:nvGrpSpPr>
              <p:cNvPr id="46" name="Group 45">
                <a:extLst>
                  <a:ext uri="{FF2B5EF4-FFF2-40B4-BE49-F238E27FC236}">
                    <a16:creationId xmlns:a16="http://schemas.microsoft.com/office/drawing/2014/main" id="{CD05600A-0609-6591-03F6-F6CC43C249D3}"/>
                  </a:ext>
                </a:extLst>
              </p:cNvPr>
              <p:cNvGrpSpPr/>
              <p:nvPr/>
            </p:nvGrpSpPr>
            <p:grpSpPr>
              <a:xfrm>
                <a:off x="0" y="92326"/>
                <a:ext cx="575416" cy="197663"/>
                <a:chOff x="0" y="92326"/>
                <a:chExt cx="644449" cy="302837"/>
              </a:xfrm>
              <a:grpFill/>
            </p:grpSpPr>
            <p:sp>
              <p:nvSpPr>
                <p:cNvPr id="49" name="Arrow: Pentagon 48">
                  <a:extLst>
                    <a:ext uri="{FF2B5EF4-FFF2-40B4-BE49-F238E27FC236}">
                      <a16:creationId xmlns:a16="http://schemas.microsoft.com/office/drawing/2014/main" id="{0D0D24FE-D303-6DE0-80C1-30D26E65942C}"/>
                    </a:ext>
                  </a:extLst>
                </p:cNvPr>
                <p:cNvSpPr/>
                <p:nvPr/>
              </p:nvSpPr>
              <p:spPr>
                <a:xfrm>
                  <a:off x="0" y="103807"/>
                  <a:ext cx="420648" cy="2913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0" name="Arrow: Chevron 49">
                  <a:extLst>
                    <a:ext uri="{FF2B5EF4-FFF2-40B4-BE49-F238E27FC236}">
                      <a16:creationId xmlns:a16="http://schemas.microsoft.com/office/drawing/2014/main" id="{81141139-8775-5475-58D6-22490F5A7227}"/>
                    </a:ext>
                  </a:extLst>
                </p:cNvPr>
                <p:cNvSpPr/>
                <p:nvPr/>
              </p:nvSpPr>
              <p:spPr>
                <a:xfrm>
                  <a:off x="380243" y="92326"/>
                  <a:ext cx="169459" cy="291671"/>
                </a:xfrm>
                <a:prstGeom prst="chevron">
                  <a:avLst>
                    <a:gd name="adj" fmla="val 83506"/>
                  </a:avLst>
                </a:prstGeom>
                <a:grp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1" name="Arrow: Chevron 50">
                  <a:extLst>
                    <a:ext uri="{FF2B5EF4-FFF2-40B4-BE49-F238E27FC236}">
                      <a16:creationId xmlns:a16="http://schemas.microsoft.com/office/drawing/2014/main" id="{795E2E89-CFD1-4B7C-68D3-ECC3B386F9DC}"/>
                    </a:ext>
                  </a:extLst>
                </p:cNvPr>
                <p:cNvSpPr/>
                <p:nvPr/>
              </p:nvSpPr>
              <p:spPr>
                <a:xfrm>
                  <a:off x="474990" y="92326"/>
                  <a:ext cx="169459" cy="291671"/>
                </a:xfrm>
                <a:prstGeom prst="chevron">
                  <a:avLst>
                    <a:gd name="adj" fmla="val 83506"/>
                  </a:avLst>
                </a:prstGeom>
                <a:grp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47" name="Flowchart: Terminator 46">
                <a:extLst>
                  <a:ext uri="{FF2B5EF4-FFF2-40B4-BE49-F238E27FC236}">
                    <a16:creationId xmlns:a16="http://schemas.microsoft.com/office/drawing/2014/main" id="{2B3B877B-00AA-F2A1-4285-A15D6BF828F8}"/>
                  </a:ext>
                </a:extLst>
              </p:cNvPr>
              <p:cNvSpPr/>
              <p:nvPr/>
            </p:nvSpPr>
            <p:spPr>
              <a:xfrm>
                <a:off x="80311" y="137613"/>
                <a:ext cx="253736" cy="115827"/>
              </a:xfrm>
              <a:prstGeom prst="flowChartTermina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48" name="Oval 47">
                <a:extLst>
                  <a:ext uri="{FF2B5EF4-FFF2-40B4-BE49-F238E27FC236}">
                    <a16:creationId xmlns:a16="http://schemas.microsoft.com/office/drawing/2014/main" id="{6A41727C-06FA-D5AB-F41C-0BAC36744C25}"/>
                  </a:ext>
                </a:extLst>
              </p:cNvPr>
              <p:cNvSpPr/>
              <p:nvPr/>
            </p:nvSpPr>
            <p:spPr>
              <a:xfrm>
                <a:off x="211660" y="142761"/>
                <a:ext cx="92369" cy="9543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8DA0EB25-F115-D8EB-98C6-904A6167C725}"/>
                  </a:ext>
                </a:extLst>
              </p:cNvPr>
              <p:cNvSpPr txBox="1">
                <a:spLocks/>
              </p:cNvSpPr>
              <p:nvPr/>
            </p:nvSpPr>
            <p:spPr>
              <a:xfrm>
                <a:off x="336698" y="5176536"/>
                <a:ext cx="23818702" cy="828832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a:solidFill>
                      <a:srgbClr val="FF0000"/>
                    </a:solidFill>
                  </a:rPr>
                  <a:t>Lời giải </a:t>
                </a:r>
              </a:p>
              <a:p>
                <a:r>
                  <a:rPr lang="en-US" b="1"/>
                  <a:t>Do </a:t>
                </a:r>
                <a14:m>
                  <m:oMath xmlns:m="http://schemas.openxmlformats.org/officeDocument/2006/math">
                    <m:d>
                      <m:dPr>
                        <m:begChr m:val="{"/>
                        <m:endChr m:val=""/>
                        <m:ctrlPr>
                          <a:rPr lang="en-US" b="1" i="1">
                            <a:latin typeface="Cambria Math" panose="02040503050406030204" pitchFamily="18" charset="0"/>
                          </a:rPr>
                        </m:ctrlPr>
                      </m:dPr>
                      <m:e>
                        <m:eqArr>
                          <m:eqArrPr>
                            <m:ctrlPr>
                              <a:rPr lang="en-US" b="1" i="1">
                                <a:latin typeface="Cambria Math" panose="02040503050406030204" pitchFamily="18" charset="0"/>
                              </a:rPr>
                            </m:ctrlPr>
                          </m:eqArrPr>
                          <m:e>
                            <m:r>
                              <a:rPr lang="en-US" b="1" i="1">
                                <a:latin typeface="Cambria Math" panose="02040503050406030204" pitchFamily="18" charset="0"/>
                              </a:rPr>
                              <m:t>𝑬</m:t>
                            </m:r>
                            <m:r>
                              <a:rPr lang="en-US" b="1" i="1">
                                <a:latin typeface="Cambria Math" panose="02040503050406030204" pitchFamily="18" charset="0"/>
                              </a:rPr>
                              <m:t>∪</m:t>
                            </m:r>
                            <m:bar>
                              <m:barPr>
                                <m:pos m:val="top"/>
                                <m:ctrlPr>
                                  <a:rPr lang="en-US" b="1" i="1">
                                    <a:latin typeface="Cambria Math" panose="02040503050406030204" pitchFamily="18" charset="0"/>
                                  </a:rPr>
                                </m:ctrlPr>
                              </m:barPr>
                              <m:e>
                                <m:r>
                                  <a:rPr lang="en-US" b="1" i="1">
                                    <a:latin typeface="Cambria Math" panose="02040503050406030204" pitchFamily="18" charset="0"/>
                                  </a:rPr>
                                  <m:t>𝑬</m:t>
                                </m:r>
                              </m:e>
                            </m:bar>
                            <m:r>
                              <a:rPr lang="en-US" b="1" i="1">
                                <a:latin typeface="Cambria Math" panose="02040503050406030204" pitchFamily="18" charset="0"/>
                              </a:rPr>
                              <m:t>=</m:t>
                            </m:r>
                            <m:r>
                              <a:rPr lang="en-US" b="1" i="1">
                                <a:latin typeface="Cambria Math" panose="02040503050406030204" pitchFamily="18" charset="0"/>
                              </a:rPr>
                              <m:t>𝜴</m:t>
                            </m:r>
                          </m:e>
                          <m:e>
                            <m:r>
                              <a:rPr lang="en-US" b="1" i="1">
                                <a:latin typeface="Cambria Math" panose="02040503050406030204" pitchFamily="18" charset="0"/>
                              </a:rPr>
                              <m:t>𝑬</m:t>
                            </m:r>
                            <m:r>
                              <a:rPr lang="en-US" b="1" i="1">
                                <a:latin typeface="Cambria Math" panose="02040503050406030204" pitchFamily="18" charset="0"/>
                              </a:rPr>
                              <m:t>∩</m:t>
                            </m:r>
                            <m:bar>
                              <m:barPr>
                                <m:pos m:val="top"/>
                                <m:ctrlPr>
                                  <a:rPr lang="en-US" b="1" i="1">
                                    <a:latin typeface="Cambria Math" panose="02040503050406030204" pitchFamily="18" charset="0"/>
                                  </a:rPr>
                                </m:ctrlPr>
                              </m:barPr>
                              <m:e>
                                <m:r>
                                  <a:rPr lang="en-US" b="1" i="1">
                                    <a:latin typeface="Cambria Math" panose="02040503050406030204" pitchFamily="18" charset="0"/>
                                  </a:rPr>
                                  <m:t>𝑬</m:t>
                                </m:r>
                              </m:e>
                            </m:bar>
                            <m:r>
                              <a:rPr lang="en-US" b="1" i="1">
                                <a:latin typeface="Cambria Math" panose="02040503050406030204" pitchFamily="18" charset="0"/>
                              </a:rPr>
                              <m:t>=</m:t>
                            </m:r>
                            <m:r>
                              <a:rPr lang="en-US" b="1" i="1">
                                <a:latin typeface="Cambria Math" panose="02040503050406030204" pitchFamily="18" charset="0"/>
                              </a:rPr>
                              <m:t>∅</m:t>
                            </m:r>
                          </m:e>
                        </m:eqAr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𝑬</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bar>
                          <m:barPr>
                            <m:pos m:val="top"/>
                            <m:ctrlPr>
                              <a:rPr lang="en-US" b="1" i="1">
                                <a:latin typeface="Cambria Math" panose="02040503050406030204" pitchFamily="18" charset="0"/>
                              </a:rPr>
                            </m:ctrlPr>
                          </m:barPr>
                          <m:e>
                            <m:r>
                              <a:rPr lang="en-US" b="1" i="1">
                                <a:latin typeface="Cambria Math" panose="02040503050406030204" pitchFamily="18" charset="0"/>
                              </a:rPr>
                              <m:t>𝑬</m:t>
                            </m:r>
                          </m:e>
                        </m:ba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bar>
                          <m:barPr>
                            <m:pos m:val="top"/>
                            <m:ctrlPr>
                              <a:rPr lang="en-US" b="1" i="1">
                                <a:latin typeface="Cambria Math" panose="02040503050406030204" pitchFamily="18" charset="0"/>
                              </a:rPr>
                            </m:ctrlPr>
                          </m:barPr>
                          <m:e>
                            <m:r>
                              <a:rPr lang="en-US" b="1" i="1">
                                <a:latin typeface="Cambria Math" panose="02040503050406030204" pitchFamily="18" charset="0"/>
                              </a:rPr>
                              <m:t>𝑬</m:t>
                            </m:r>
                          </m:e>
                        </m:ba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𝑬</m:t>
                        </m:r>
                      </m:e>
                    </m:d>
                  </m:oMath>
                </a14:m>
                <a:endParaRPr lang="en-US" b="1"/>
              </a:p>
              <a:p>
                <a:r>
                  <a:rPr lang="en-US" b="1"/>
                  <a:t>Ta có công thức sau đây liên hệ giữa xác suất của một biến cố với xác suất của biến cố đối.</a:t>
                </a:r>
              </a:p>
              <a:p>
                <a:pPr marL="0" indent="0">
                  <a:buNone/>
                </a:pPr>
                <a:endParaRPr lang="en-US" u="sng">
                  <a:solidFill>
                    <a:srgbClr val="FF0000"/>
                  </a:solidFill>
                </a:endParaRPr>
              </a:p>
              <a:p>
                <a:pPr marL="0" indent="0">
                  <a:buNone/>
                </a:pPr>
                <a:endParaRPr lang="en-US" b="1" dirty="0"/>
              </a:p>
            </p:txBody>
          </p:sp>
        </mc:Choice>
        <mc:Fallback xmlns="">
          <p:sp>
            <p:nvSpPr>
              <p:cNvPr id="53" name="Content Placeholder 2">
                <a:extLst>
                  <a:ext uri="{FF2B5EF4-FFF2-40B4-BE49-F238E27FC236}">
                    <a16:creationId xmlns:a16="http://schemas.microsoft.com/office/drawing/2014/main" id="{8DA0EB25-F115-D8EB-98C6-904A6167C725}"/>
                  </a:ext>
                </a:extLst>
              </p:cNvPr>
              <p:cNvSpPr txBox="1">
                <a:spLocks noRot="1" noChangeAspect="1" noMove="1" noResize="1" noEditPoints="1" noAdjustHandles="1" noChangeArrowheads="1" noChangeShapeType="1" noTextEdit="1"/>
              </p:cNvSpPr>
              <p:nvPr/>
            </p:nvSpPr>
            <p:spPr>
              <a:xfrm>
                <a:off x="336698" y="5176536"/>
                <a:ext cx="23818702" cy="8288329"/>
              </a:xfrm>
              <a:prstGeom prst="rect">
                <a:avLst/>
              </a:prstGeom>
              <a:blipFill>
                <a:blip r:embed="rId4"/>
                <a:stretch>
                  <a:fillRect l="-1023" t="-2423"/>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 Box 140">
                <a:extLst>
                  <a:ext uri="{FF2B5EF4-FFF2-40B4-BE49-F238E27FC236}">
                    <a16:creationId xmlns:a16="http://schemas.microsoft.com/office/drawing/2014/main" id="{40FA7067-7F1F-09D5-AD51-E8B3D4D58C8B}"/>
                  </a:ext>
                </a:extLst>
              </p:cNvPr>
              <p:cNvSpPr txBox="1"/>
              <p:nvPr/>
            </p:nvSpPr>
            <p:spPr>
              <a:xfrm>
                <a:off x="1322668" y="9829800"/>
                <a:ext cx="20013332" cy="1676400"/>
              </a:xfrm>
              <a:prstGeom prst="rect">
                <a:avLst/>
              </a:prstGeom>
              <a:solidFill>
                <a:schemeClr val="lt1"/>
              </a:solidFill>
              <a:ln w="12700">
                <a:solidFill>
                  <a:srgbClr val="C00000"/>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Cho </a:t>
                </a:r>
                <a:r>
                  <a:rPr lang="fr-FR"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fr-FR"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là một biến </a:t>
                </a:r>
                <a:r>
                  <a:rPr lang="fr-FR" sz="4800" b="1">
                    <a:solidFill>
                      <a:srgbClr val="373430"/>
                    </a:solidFill>
                    <a:effectLst/>
                    <a:latin typeface="Times New Roman" panose="02020603050405020304" pitchFamily="18" charset="0"/>
                    <a:ea typeface="Calibri" panose="020F0502020204030204" pitchFamily="34" charset="0"/>
                    <a:cs typeface="Times New Roman" panose="02020603050405020304" pitchFamily="18" charset="0"/>
                  </a:rPr>
                  <a:t>cố. Xác suất của biến cố </a:t>
                </a:r>
                <a:r>
                  <a:rPr lang="fr-FR" sz="4800" b="1" i="1">
                    <a:solidFill>
                      <a:srgbClr val="373430"/>
                    </a:solidFill>
                    <a:effectLst/>
                    <a:latin typeface="Times New Roman" panose="02020603050405020304" pitchFamily="18" charset="0"/>
                    <a:ea typeface="Calibri" panose="020F0502020204030204" pitchFamily="34" charset="0"/>
                    <a:cs typeface="Times New Roman" panose="02020603050405020304" pitchFamily="18" charset="0"/>
                  </a:rPr>
                  <a:t>E</a:t>
                </a:r>
                <a:r>
                  <a:rPr lang="fr-FR" sz="4800" b="1">
                    <a:solidFill>
                      <a:srgbClr val="373430"/>
                    </a:solidFill>
                    <a:effectLst/>
                    <a:latin typeface="Times New Roman" panose="02020603050405020304" pitchFamily="18" charset="0"/>
                    <a:ea typeface="Calibri" panose="020F0502020204030204" pitchFamily="34" charset="0"/>
                    <a:cs typeface="Times New Roman" panose="02020603050405020304" pitchFamily="18" charset="0"/>
                  </a:rPr>
                  <a:t>  liên hệ với xác </a:t>
                </a:r>
                <a:r>
                  <a:rPr lang="fr-FR"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suất của </a:t>
                </a:r>
                <a:r>
                  <a:rPr lang="fr-FR"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fr-FR"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bởi công thức sau: </a:t>
                </a:r>
                <a14:m>
                  <m:oMath xmlns:m="http://schemas.openxmlformats.org/officeDocument/2006/math">
                    <m:r>
                      <a:rPr lang="en-US" sz="4800" b="1" i="1" smtClean="0">
                        <a:effectLst/>
                        <a:latin typeface="Cambria Math" panose="02040503050406030204" pitchFamily="18" charset="0"/>
                        <a:ea typeface="Calibri" panose="020F0502020204030204" pitchFamily="34" charset="0"/>
                        <a:cs typeface="Times New Roman" panose="02020603050405020304" pitchFamily="18" charset="0"/>
                      </a:rPr>
                      <m:t>𝑷</m:t>
                    </m:r>
                    <m:d>
                      <m:dPr>
                        <m:ctrlPr>
                          <a:rPr lang="en-US" sz="4800" b="1" i="1">
                            <a:effectLst/>
                            <a:latin typeface="Cambria Math" panose="02040503050406030204" pitchFamily="18" charset="0"/>
                            <a:cs typeface="Times New Roman" panose="02020603050405020304" pitchFamily="18" charset="0"/>
                          </a:rPr>
                        </m:ctrlPr>
                      </m:dPr>
                      <m:e>
                        <m:bar>
                          <m:barPr>
                            <m:pos m:val="top"/>
                            <m:ctrlPr>
                              <a:rPr lang="en-US" sz="4800" b="1" i="1">
                                <a:effectLst/>
                                <a:latin typeface="Cambria Math" panose="02040503050406030204" pitchFamily="18" charset="0"/>
                                <a:cs typeface="Times New Roman" panose="02020603050405020304" pitchFamily="18" charset="0"/>
                              </a:rPr>
                            </m:ctrlPr>
                          </m:bar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𝑬</m:t>
                            </m:r>
                          </m:e>
                        </m:bar>
                      </m:e>
                    </m:d>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effectLst/>
                        <a:latin typeface="Cambria Math" panose="02040503050406030204" pitchFamily="18" charset="0"/>
                        <a:ea typeface="Calibri" panose="020F0502020204030204" pitchFamily="34" charset="0"/>
                        <a:cs typeface="Times New Roman" panose="02020603050405020304" pitchFamily="18" charset="0"/>
                      </a:rPr>
                      <m:t>𝟏</m:t>
                    </m:r>
                    <m:r>
                      <a:rPr lang="en-US" sz="4800" b="1" i="1">
                        <a:effectLst/>
                        <a:latin typeface="Cambria Math" panose="02040503050406030204" pitchFamily="18" charset="0"/>
                        <a:ea typeface="Calibri" panose="020F0502020204030204" pitchFamily="34" charset="0"/>
                      </a:rPr>
                      <m:t>−</m:t>
                    </m:r>
                    <m:r>
                      <a:rPr lang="en-US" sz="4800" b="1" i="1" smtClean="0">
                        <a:effectLst/>
                        <a:latin typeface="Cambria Math" panose="02040503050406030204" pitchFamily="18" charset="0"/>
                        <a:ea typeface="Calibri" panose="020F0502020204030204" pitchFamily="34" charset="0"/>
                      </a:rPr>
                      <m:t>𝑷</m:t>
                    </m:r>
                    <m:d>
                      <m:dPr>
                        <m:ctrlPr>
                          <a:rPr lang="en-US" sz="4800" b="1" i="1">
                            <a:effectLst/>
                            <a:latin typeface="Cambria Math" panose="02040503050406030204" pitchFamily="18" charset="0"/>
                            <a:cs typeface="Times New Roman" panose="02020603050405020304" pitchFamily="18" charset="0"/>
                          </a:rPr>
                        </m:ctrlPr>
                      </m:d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𝑬</m:t>
                        </m:r>
                      </m:e>
                    </m:d>
                  </m:oMath>
                </a14:m>
                <a:r>
                  <a:rPr lang="en-US" sz="4800" b="1">
                    <a:effectLst/>
                    <a:latin typeface="Times New Roman" panose="02020603050405020304" pitchFamily="18" charset="0"/>
                    <a:ea typeface="Calibri" panose="020F0502020204030204" pitchFamily="34" charset="0"/>
                    <a:cs typeface="Times New Roman" panose="02020603050405020304" pitchFamily="18" charset="0"/>
                  </a:rPr>
                  <a:t>.</a:t>
                </a:r>
              </a:p>
            </p:txBody>
          </p:sp>
        </mc:Choice>
        <mc:Fallback xmlns="">
          <p:sp>
            <p:nvSpPr>
              <p:cNvPr id="56" name="Text Box 140">
                <a:extLst>
                  <a:ext uri="{FF2B5EF4-FFF2-40B4-BE49-F238E27FC236}">
                    <a16:creationId xmlns:a16="http://schemas.microsoft.com/office/drawing/2014/main" id="{40FA7067-7F1F-09D5-AD51-E8B3D4D58C8B}"/>
                  </a:ext>
                </a:extLst>
              </p:cNvPr>
              <p:cNvSpPr txBox="1">
                <a:spLocks noRot="1" noChangeAspect="1" noMove="1" noResize="1" noEditPoints="1" noAdjustHandles="1" noChangeArrowheads="1" noChangeShapeType="1" noTextEdit="1"/>
              </p:cNvSpPr>
              <p:nvPr/>
            </p:nvSpPr>
            <p:spPr>
              <a:xfrm>
                <a:off x="1322668" y="9829800"/>
                <a:ext cx="20013332" cy="1676400"/>
              </a:xfrm>
              <a:prstGeom prst="rect">
                <a:avLst/>
              </a:prstGeom>
              <a:blipFill>
                <a:blip r:embed="rId5"/>
                <a:stretch>
                  <a:fillRect l="-1370" t="-7942" r="-1187" b="-20939"/>
                </a:stretch>
              </a:blipFill>
              <a:ln w="12700">
                <a:solidFill>
                  <a:srgbClr val="C00000"/>
                </a:solidFill>
              </a:ln>
            </p:spPr>
            <p:txBody>
              <a:bodyPr/>
              <a:lstStyle/>
              <a:p>
                <a:r>
                  <a:rPr lang="en-US">
                    <a:noFill/>
                  </a:rPr>
                  <a:t> </a:t>
                </a:r>
              </a:p>
            </p:txBody>
          </p:sp>
        </mc:Fallback>
      </mc:AlternateContent>
      <p:sp>
        <p:nvSpPr>
          <p:cNvPr id="58" name="Rounded Rectangle 5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62" name="TextBox 6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168544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500"/>
                                        <p:tgtEl>
                                          <p:spTgt spid="4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up)">
                                      <p:cBhvr>
                                        <p:cTn id="15" dur="500"/>
                                        <p:tgtEl>
                                          <p:spTgt spid="53"/>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3">
                                            <p:txEl>
                                              <p:pRg st="0" end="0"/>
                                            </p:txEl>
                                          </p:spTgt>
                                        </p:tgtEl>
                                        <p:attrNameLst>
                                          <p:attrName>style.visibility</p:attrName>
                                        </p:attrNameLst>
                                      </p:cBhvr>
                                      <p:to>
                                        <p:strVal val="visible"/>
                                      </p:to>
                                    </p:set>
                                    <p:animEffect transition="in" filter="wipe(up)">
                                      <p:cBhvr>
                                        <p:cTn id="19" dur="500"/>
                                        <p:tgtEl>
                                          <p:spTgt spid="5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53">
                                            <p:txEl>
                                              <p:pRg st="1" end="1"/>
                                            </p:txEl>
                                          </p:spTgt>
                                        </p:tgtEl>
                                        <p:attrNameLst>
                                          <p:attrName>style.visibility</p:attrName>
                                        </p:attrNameLst>
                                      </p:cBhvr>
                                      <p:to>
                                        <p:strVal val="visible"/>
                                      </p:to>
                                    </p:set>
                                    <p:animEffect transition="in" filter="wipe(up)">
                                      <p:cBhvr>
                                        <p:cTn id="24" dur="500"/>
                                        <p:tgtEl>
                                          <p:spTgt spid="5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53">
                                            <p:txEl>
                                              <p:pRg st="2" end="2"/>
                                            </p:txEl>
                                          </p:spTgt>
                                        </p:tgtEl>
                                        <p:attrNameLst>
                                          <p:attrName>style.visibility</p:attrName>
                                        </p:attrNameLst>
                                      </p:cBhvr>
                                      <p:to>
                                        <p:strVal val="visible"/>
                                      </p:to>
                                    </p:set>
                                    <p:animEffect transition="in" filter="wipe(up)">
                                      <p:cBhvr>
                                        <p:cTn id="29" dur="500"/>
                                        <p:tgtEl>
                                          <p:spTgt spid="5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3" grpId="0" animBg="1"/>
      <p:bldP spid="5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425302" y="1977466"/>
                <a:ext cx="23622000" cy="4042334"/>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Chọn ngẫu nhiên hai số từ tập </a:t>
                </a:r>
                <a14:m>
                  <m:oMath xmlns:m="http://schemas.openxmlformats.org/officeDocument/2006/math">
                    <m:d>
                      <m:dPr>
                        <m:begChr m:val="{"/>
                        <m:endChr m:val="}"/>
                        <m:ctrlPr>
                          <a:rPr lang="en-US" b="1" i="1">
                            <a:latin typeface="Cambria Math" panose="02040503050406030204" pitchFamily="18" charset="0"/>
                          </a:rPr>
                        </m:ctrlPr>
                      </m:dPr>
                      <m:e>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𝟖</m:t>
                        </m:r>
                        <m:r>
                          <a:rPr lang="en-US" b="1" i="1">
                            <a:latin typeface="Cambria Math" panose="02040503050406030204" pitchFamily="18" charset="0"/>
                          </a:rPr>
                          <m:t>;</m:t>
                        </m:r>
                        <m:r>
                          <a:rPr lang="en-US" b="1" i="1">
                            <a:latin typeface="Cambria Math" panose="02040503050406030204" pitchFamily="18" charset="0"/>
                          </a:rPr>
                          <m:t>𝟗</m:t>
                        </m:r>
                      </m:e>
                    </m:d>
                  </m:oMath>
                </a14:m>
                <a:r>
                  <a:rPr lang="en-US" b="1"/>
                  <a:t>. Gọi </a:t>
                </a:r>
                <a:r>
                  <a:rPr lang="en-US" b="1" i="1"/>
                  <a:t>H  </a:t>
                </a:r>
                <a:r>
                  <a:rPr lang="en-US" b="1"/>
                  <a:t>là biến cố: “Trong hai số được chọn có ít nhất một số chẵn”. </a:t>
                </a:r>
              </a:p>
              <a:p>
                <a:r>
                  <a:rPr lang="en-US" b="1"/>
                  <a:t>a) Mô tả không gian mẫu. </a:t>
                </a:r>
              </a:p>
              <a:p>
                <a:r>
                  <a:rPr lang="en-US" b="1"/>
                  <a:t>b) Biến cố </a:t>
                </a:r>
                <a14:m>
                  <m:oMath xmlns:m="http://schemas.openxmlformats.org/officeDocument/2006/math">
                    <m:bar>
                      <m:barPr>
                        <m:pos m:val="top"/>
                        <m:ctrlPr>
                          <a:rPr lang="en-US" b="1" i="1">
                            <a:latin typeface="Cambria Math" panose="02040503050406030204" pitchFamily="18" charset="0"/>
                          </a:rPr>
                        </m:ctrlPr>
                      </m:barPr>
                      <m:e>
                        <m:r>
                          <a:rPr lang="en-US" b="1" i="1">
                            <a:latin typeface="Cambria Math" panose="02040503050406030204" pitchFamily="18" charset="0"/>
                          </a:rPr>
                          <m:t>𝑯</m:t>
                        </m:r>
                      </m:e>
                    </m:bar>
                  </m:oMath>
                </a14:m>
                <a:r>
                  <a:rPr lang="en-US" b="1" i="1"/>
                  <a:t> </a:t>
                </a:r>
                <a:r>
                  <a:rPr lang="en-US" b="1"/>
                  <a:t>là tập con nào của không gian mẫu? </a:t>
                </a:r>
              </a:p>
              <a:p>
                <a:r>
                  <a:rPr lang="en-US" b="1"/>
                  <a:t>c) Tính  </a:t>
                </a:r>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bar>
                          <m:barPr>
                            <m:pos m:val="top"/>
                            <m:ctrlPr>
                              <a:rPr lang="en-US" b="1" i="1">
                                <a:latin typeface="Cambria Math" panose="02040503050406030204" pitchFamily="18" charset="0"/>
                              </a:rPr>
                            </m:ctrlPr>
                          </m:barPr>
                          <m:e>
                            <m:r>
                              <a:rPr lang="en-US" b="1" i="1">
                                <a:latin typeface="Cambria Math" panose="02040503050406030204" pitchFamily="18" charset="0"/>
                              </a:rPr>
                              <m:t>𝑯</m:t>
                            </m:r>
                          </m:e>
                        </m:bar>
                      </m:e>
                    </m:d>
                  </m:oMath>
                </a14:m>
                <a:r>
                  <a:rPr lang="en-US" b="1"/>
                  <a:t>và </a:t>
                </a:r>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𝑯</m:t>
                        </m:r>
                      </m:e>
                    </m:d>
                  </m:oMath>
                </a14:m>
                <a:r>
                  <a:rPr lang="en-US" b="1"/>
                  <a:t>.</a:t>
                </a:r>
              </a:p>
              <a:p>
                <a:endParaRPr lang="en-US" b="1" dirty="0"/>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425302" y="1977466"/>
                <a:ext cx="23622000" cy="4042334"/>
              </a:xfrm>
              <a:prstGeom prst="rect">
                <a:avLst/>
              </a:prstGeom>
              <a:blipFill>
                <a:blip r:embed="rId3"/>
                <a:stretch>
                  <a:fillRect l="-1367" t="-6006" r="-1625" b="-7357"/>
                </a:stretch>
              </a:blipFill>
              <a:ln>
                <a:solidFill>
                  <a:schemeClr val="tx2">
                    <a:lumMod val="20000"/>
                    <a:lumOff val="80000"/>
                  </a:schemeClr>
                </a:solidFill>
              </a:ln>
            </p:spPr>
            <p:txBody>
              <a:bodyPr/>
              <a:lstStyle/>
              <a:p>
                <a:r>
                  <a:rPr lang="en-US">
                    <a:noFill/>
                  </a:rPr>
                  <a:t> </a:t>
                </a:r>
              </a:p>
            </p:txBody>
          </p:sp>
        </mc:Fallback>
      </mc:AlternateContent>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25302" y="6041409"/>
            <a:ext cx="23658572" cy="7445992"/>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665850" y="1873234"/>
            <a:ext cx="44196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vi-VN" sz="4000" b="1">
                  <a:solidFill>
                    <a:srgbClr val="FF0000"/>
                  </a:solidFill>
                  <a:latin typeface="Tahoma" panose="020B0604030504040204" pitchFamily="34" charset="0"/>
                  <a:ea typeface="Tahoma" panose="020B0604030504040204" pitchFamily="34" charset="0"/>
                  <a:cs typeface="Tahoma" panose="020B0604030504040204" pitchFamily="34" charset="0"/>
                </a:rPr>
                <a:t>Ví dụ </a:t>
              </a:r>
              <a:r>
                <a:rPr lang="en-US" sz="4000" b="1">
                  <a:solidFill>
                    <a:srgbClr val="FF0000"/>
                  </a:solidFill>
                  <a:latin typeface="Tahoma" panose="020B0604030504040204" pitchFamily="34" charset="0"/>
                  <a:ea typeface="Tahoma" panose="020B0604030504040204" pitchFamily="34" charset="0"/>
                  <a:cs typeface="Tahoma" panose="020B0604030504040204" pitchFamily="34" charset="0"/>
                </a:rPr>
                <a:t>3</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2518895" y="6019800"/>
                <a:ext cx="21439803" cy="5127686"/>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Không gian mẫu là tập tất cả các tập con cỏ 2 phần tử của tập </a:t>
                </a:r>
                <a14:m>
                  <m:oMath xmlns:m="http://schemas.openxmlformats.org/officeDocument/2006/math">
                    <m:d>
                      <m:dPr>
                        <m:begChr m:val="{"/>
                        <m:endChr m:val="}"/>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𝟖</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𝟗</m:t>
                        </m:r>
                      </m:e>
                    </m:d>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 Biến cố </a:t>
                </a: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 </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"Cả hai số được chọn đều là số lẻ". Khi đó </a:t>
                </a:r>
                <a14:m>
                  <m:oMath xmlns:m="http://schemas.openxmlformats.org/officeDocument/2006/math">
                    <m:bar>
                      <m:barPr>
                        <m:pos m:val="top"/>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𝑯</m:t>
                        </m:r>
                      </m:e>
                    </m:bar>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là tập tất cả các tập con có 2 phần từ của tập số lẻ  </a:t>
                </a:r>
                <a14:m>
                  <m:oMath xmlns:m="http://schemas.openxmlformats.org/officeDocument/2006/math">
                    <m:d>
                      <m:dPr>
                        <m:begChr m:val="{"/>
                        <m:endChr m:val="}"/>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𝟓</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𝟕</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𝟗</m:t>
                        </m:r>
                      </m:e>
                    </m:d>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 Tacó </a:t>
                </a:r>
                <a14:m>
                  <m:oMath xmlns:m="http://schemas.openxmlformats.org/officeDocument/2006/math">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𝜴</m:t>
                        </m:r>
                      </m:e>
                    </m:d>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𝑪</m:t>
                        </m:r>
                      </m:e>
                      <m:sub>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𝟗</m:t>
                        </m:r>
                      </m:sub>
                      <m:sup>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sup>
                    </m:sSubSup>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𝟑𝟔</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bar>
                          <m:barPr>
                            <m:pos m:val="top"/>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𝑯</m:t>
                            </m:r>
                          </m:e>
                        </m:bar>
                      </m:e>
                    </m:d>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𝑪</m:t>
                        </m:r>
                      </m:e>
                      <m:sub>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𝟓</m:t>
                        </m:r>
                      </m:sub>
                      <m:sup>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sup>
                    </m:sSubSup>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𝟏𝟎</m:t>
                    </m:r>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Vậy </a:t>
                </a:r>
                <a14:m>
                  <m:oMath xmlns:m="http://schemas.openxmlformats.org/officeDocument/2006/math">
                    <m:r>
                      <a:rPr lang="en-US" sz="48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𝑷</m:t>
                    </m:r>
                    <m:d>
                      <m:dPr>
                        <m:ctrlP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dPr>
                      <m:e>
                        <m:bar>
                          <m:barPr>
                            <m:pos m:val="top"/>
                            <m:ctrlP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𝑯</m:t>
                            </m:r>
                          </m:e>
                        </m:bar>
                      </m:e>
                    </m:d>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𝟏𝟎</m:t>
                        </m:r>
                      </m:num>
                      <m:den>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𝟑𝟔</m:t>
                        </m:r>
                      </m:den>
                    </m:f>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𝟓</m:t>
                        </m:r>
                      </m:num>
                      <m:den>
                        <m:r>
                          <a:rPr lang="en-US" sz="48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𝟏𝟖</m:t>
                        </m:r>
                      </m:den>
                    </m:f>
                  </m:oMath>
                </a14:m>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 đó </a:t>
                </a:r>
                <a14:m>
                  <m:oMath xmlns:m="http://schemas.openxmlformats.org/officeDocument/2006/math">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𝑷</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𝑯</m:t>
                        </m:r>
                      </m:e>
                    </m:d>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𝑷</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bar>
                          <m:barPr>
                            <m:pos m:val="top"/>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𝑯</m:t>
                            </m:r>
                          </m:e>
                        </m:bar>
                      </m:e>
                    </m:d>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𝟓</m:t>
                        </m:r>
                      </m:num>
                      <m:den>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𝟏𝟖</m:t>
                        </m:r>
                      </m:den>
                    </m:f>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𝟏𝟑</m:t>
                        </m:r>
                      </m:num>
                      <m:den>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𝟏𝟖</m:t>
                        </m:r>
                      </m:den>
                    </m:f>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2518895" y="6019800"/>
                <a:ext cx="21439803" cy="5127686"/>
              </a:xfrm>
              <a:prstGeom prst="rect">
                <a:avLst/>
              </a:prstGeom>
              <a:blipFill>
                <a:blip r:embed="rId4"/>
                <a:stretch>
                  <a:fillRect l="-1279" t="-2735" r="-825" b="-2735"/>
                </a:stretch>
              </a:blipFill>
              <a:ln w="9525">
                <a:noFill/>
                <a:miter lim="800000"/>
                <a:headEnd/>
                <a:tailEnd/>
              </a:ln>
            </p:spPr>
            <p:txBody>
              <a:bodyPr/>
              <a:lstStyle/>
              <a:p>
                <a:r>
                  <a:rPr lang="en-US">
                    <a:noFill/>
                  </a:rPr>
                  <a:t> </a:t>
                </a:r>
              </a:p>
            </p:txBody>
          </p:sp>
        </mc:Fallback>
      </mc:AlternateContent>
      <p:sp>
        <p:nvSpPr>
          <p:cNvPr id="20" name="Text Box 2">
            <a:extLst>
              <a:ext uri="{FF2B5EF4-FFF2-40B4-BE49-F238E27FC236}">
                <a16:creationId xmlns:a16="http://schemas.microsoft.com/office/drawing/2014/main" id="{D13923C7-2F96-9AF1-3625-BD07059DBC29}"/>
              </a:ext>
            </a:extLst>
          </p:cNvPr>
          <p:cNvSpPr txBox="1">
            <a:spLocks noChangeArrowheads="1"/>
          </p:cNvSpPr>
          <p:nvPr/>
        </p:nvSpPr>
        <p:spPr bwMode="auto">
          <a:xfrm>
            <a:off x="665850" y="11482847"/>
            <a:ext cx="23292848" cy="1569660"/>
          </a:xfrm>
          <a:prstGeom prst="rect">
            <a:avLst/>
          </a:prstGeom>
          <a:solidFill>
            <a:srgbClr val="FFFFFF"/>
          </a:solidFill>
          <a:ln w="9525">
            <a:solidFill>
              <a:srgbClr val="FF0000"/>
            </a:solidFill>
            <a:miter lim="800000"/>
            <a:headEnd/>
            <a:tailEnd/>
          </a:ln>
        </p:spPr>
        <p:txBody>
          <a:bodyPr rot="0" vert="horz" wrap="square" lIns="91440" tIns="45720" rIns="91440" bIns="45720" anchor="t" anchorCtr="0">
            <a:spAutoFit/>
          </a:bodyPr>
          <a:lstStyle/>
          <a:p>
            <a:r>
              <a:rPr lang="en-US" sz="4800" b="1">
                <a:solidFill>
                  <a:srgbClr val="FF0000"/>
                </a:solidFill>
              </a:rPr>
              <a:t>Chú ý.</a:t>
            </a:r>
            <a:r>
              <a:rPr lang="en-US" sz="4800" b="1"/>
              <a:t> </a:t>
            </a:r>
            <a:r>
              <a:rPr lang="en-US" sz="4800" b="1">
                <a:solidFill>
                  <a:srgbClr val="0000FF"/>
                </a:solidFill>
              </a:rPr>
              <a:t>Trong một số bài toán, nếu tính trực tiếp xác suất của biến cố gặp khó khăn, ta cỏ thề tính gián tiếp bằng cách tính xác suất cùa biến cố đối cùa nó.</a:t>
            </a: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200742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7">
                                            <p:txEl>
                                              <p:pRg st="0" end="0"/>
                                            </p:txEl>
                                          </p:spTgt>
                                        </p:tgtEl>
                                        <p:attrNameLst>
                                          <p:attrName>style.visibility</p:attrName>
                                        </p:attrNameLst>
                                      </p:cBhvr>
                                      <p:to>
                                        <p:strVal val="visible"/>
                                      </p:to>
                                    </p:set>
                                    <p:animEffect transition="in" filter="wipe(left)">
                                      <p:cBhvr>
                                        <p:cTn id="11" dur="500"/>
                                        <p:tgtEl>
                                          <p:spTgt spid="97">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xEl>
                                              <p:pRg st="1" end="1"/>
                                            </p:txEl>
                                          </p:spTgt>
                                        </p:tgtEl>
                                        <p:attrNameLst>
                                          <p:attrName>style.visibility</p:attrName>
                                        </p:attrNameLst>
                                      </p:cBhvr>
                                      <p:to>
                                        <p:strVal val="visible"/>
                                      </p:to>
                                    </p:set>
                                    <p:animEffect transition="in" filter="wipe(left)">
                                      <p:cBhvr>
                                        <p:cTn id="15" dur="500"/>
                                        <p:tgtEl>
                                          <p:spTgt spid="97">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7">
                                            <p:txEl>
                                              <p:pRg st="2" end="2"/>
                                            </p:txEl>
                                          </p:spTgt>
                                        </p:tgtEl>
                                        <p:attrNameLst>
                                          <p:attrName>style.visibility</p:attrName>
                                        </p:attrNameLst>
                                      </p:cBhvr>
                                      <p:to>
                                        <p:strVal val="visible"/>
                                      </p:to>
                                    </p:set>
                                    <p:animEffect transition="in" filter="wipe(left)">
                                      <p:cBhvr>
                                        <p:cTn id="19" dur="500"/>
                                        <p:tgtEl>
                                          <p:spTgt spid="97">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97">
                                            <p:txEl>
                                              <p:pRg st="3" end="3"/>
                                            </p:txEl>
                                          </p:spTgt>
                                        </p:tgtEl>
                                        <p:attrNameLst>
                                          <p:attrName>style.visibility</p:attrName>
                                        </p:attrNameLst>
                                      </p:cBhvr>
                                      <p:to>
                                        <p:strVal val="visible"/>
                                      </p:to>
                                    </p:set>
                                    <p:animEffect transition="in" filter="wipe(left)">
                                      <p:cBhvr>
                                        <p:cTn id="23" dur="500"/>
                                        <p:tgtEl>
                                          <p:spTgt spid="97">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0" end="0"/>
                                            </p:txEl>
                                          </p:spTgt>
                                        </p:tgtEl>
                                        <p:attrNameLst>
                                          <p:attrName>style.visibility</p:attrName>
                                        </p:attrNameLst>
                                      </p:cBhvr>
                                      <p:to>
                                        <p:strVal val="visible"/>
                                      </p:to>
                                    </p:set>
                                    <p:animEffect transition="in" filter="wipe(up)">
                                      <p:cBhvr>
                                        <p:cTn id="27" dur="500"/>
                                        <p:tgtEl>
                                          <p:spTgt spid="9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xEl>
                                              <p:pRg st="0" end="0"/>
                                            </p:txEl>
                                          </p:spTgt>
                                        </p:tgtEl>
                                        <p:attrNameLst>
                                          <p:attrName>style.visibility</p:attrName>
                                        </p:attrNameLst>
                                      </p:cBhvr>
                                      <p:to>
                                        <p:strVal val="visible"/>
                                      </p:to>
                                    </p:set>
                                    <p:animEffect transition="in" filter="fade">
                                      <p:cBhvr>
                                        <p:cTn id="32" dur="500"/>
                                        <p:tgtEl>
                                          <p:spTgt spid="2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xEl>
                                              <p:pRg st="1" end="1"/>
                                            </p:txEl>
                                          </p:spTgt>
                                        </p:tgtEl>
                                        <p:attrNameLst>
                                          <p:attrName>style.visibility</p:attrName>
                                        </p:attrNameLst>
                                      </p:cBhvr>
                                      <p:to>
                                        <p:strVal val="visible"/>
                                      </p:to>
                                    </p:set>
                                    <p:animEffect transition="in" filter="fade">
                                      <p:cBhvr>
                                        <p:cTn id="37" dur="500"/>
                                        <p:tgtEl>
                                          <p:spTgt spid="2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
                                            <p:txEl>
                                              <p:pRg st="2" end="2"/>
                                            </p:txEl>
                                          </p:spTgt>
                                        </p:tgtEl>
                                        <p:attrNameLst>
                                          <p:attrName>style.visibility</p:attrName>
                                        </p:attrNameLst>
                                      </p:cBhvr>
                                      <p:to>
                                        <p:strVal val="visible"/>
                                      </p:to>
                                    </p:set>
                                    <p:animEffect transition="in" filter="fade">
                                      <p:cBhvr>
                                        <p:cTn id="42" dur="500"/>
                                        <p:tgtEl>
                                          <p:spTgt spid="27">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xEl>
                                              <p:pRg st="3" end="3"/>
                                            </p:txEl>
                                          </p:spTgt>
                                        </p:tgtEl>
                                        <p:attrNameLst>
                                          <p:attrName>style.visibility</p:attrName>
                                        </p:attrNameLst>
                                      </p:cBhvr>
                                      <p:to>
                                        <p:strVal val="visible"/>
                                      </p:to>
                                    </p:set>
                                    <p:animEffect transition="in" filter="fade">
                                      <p:cBhvr>
                                        <p:cTn id="47" dur="500"/>
                                        <p:tgtEl>
                                          <p:spTgt spid="27">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228600" y="1977466"/>
                <a:ext cx="23818702" cy="5698688"/>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vi-VN" b="1"/>
                  <a:t>          </a:t>
                </a:r>
                <a:r>
                  <a:rPr lang="en-US" sz="4800" b="1">
                    <a:latin typeface="Times New Roman" panose="02020603050405020304" pitchFamily="18" charset="0"/>
                    <a:cs typeface="Times New Roman" panose="02020603050405020304" pitchFamily="18" charset="0"/>
                  </a:rPr>
                  <a:t>Có ba hộp </a:t>
                </a:r>
                <a:r>
                  <a:rPr lang="en-US" sz="4800" b="1" i="1">
                    <a:latin typeface="Times New Roman" panose="02020603050405020304" pitchFamily="18" charset="0"/>
                    <a:cs typeface="Times New Roman" panose="02020603050405020304" pitchFamily="18" charset="0"/>
                  </a:rPr>
                  <a:t>A, B, C.</a:t>
                </a:r>
                <a:r>
                  <a:rPr lang="en-US" sz="4800" b="1">
                    <a:latin typeface="Times New Roman" panose="02020603050405020304" pitchFamily="18" charset="0"/>
                    <a:cs typeface="Times New Roman" panose="02020603050405020304" pitchFamily="18" charset="0"/>
                  </a:rPr>
                  <a:t> Hộp </a:t>
                </a:r>
                <a:r>
                  <a:rPr lang="en-US" sz="4800" b="1" i="1">
                    <a:latin typeface="Times New Roman" panose="02020603050405020304" pitchFamily="18" charset="0"/>
                    <a:cs typeface="Times New Roman" panose="02020603050405020304" pitchFamily="18" charset="0"/>
                  </a:rPr>
                  <a:t>A</a:t>
                </a:r>
                <a:r>
                  <a:rPr lang="en-US" sz="4800" b="1">
                    <a:latin typeface="Times New Roman" panose="02020603050405020304" pitchFamily="18" charset="0"/>
                    <a:cs typeface="Times New Roman" panose="02020603050405020304" pitchFamily="18" charset="0"/>
                  </a:rPr>
                  <a:t> cỏ chứa ba thẻ mang số 1, số 2 và số 3. Hộp B chứa hai thẻ mang số 2 và số 3. Hộp </a:t>
                </a:r>
                <a:r>
                  <a:rPr lang="en-US" sz="4800" b="1" i="1">
                    <a:latin typeface="Times New Roman" panose="02020603050405020304" pitchFamily="18" charset="0"/>
                    <a:cs typeface="Times New Roman" panose="02020603050405020304" pitchFamily="18" charset="0"/>
                  </a:rPr>
                  <a:t>C</a:t>
                </a:r>
                <a:r>
                  <a:rPr lang="en-US" sz="4800" b="1">
                    <a:latin typeface="Times New Roman" panose="02020603050405020304" pitchFamily="18" charset="0"/>
                    <a:cs typeface="Times New Roman" panose="02020603050405020304" pitchFamily="18" charset="0"/>
                  </a:rPr>
                  <a:t> chứa hai thẻ mang số 1 và số 2. Từ mỗi hộp ta rút ra ngẫu nhiên một thẻ. </a:t>
                </a:r>
              </a:p>
              <a:p>
                <a:r>
                  <a:rPr lang="en-US" sz="4800" b="1">
                    <a:latin typeface="Times New Roman" panose="02020603050405020304" pitchFamily="18" charset="0"/>
                    <a:cs typeface="Times New Roman" panose="02020603050405020304" pitchFamily="18" charset="0"/>
                  </a:rPr>
                  <a:t>a) Vẽ sơ đồ hình cây để mô tả các phần tử của không gian mẫu. </a:t>
                </a:r>
              </a:p>
              <a:p>
                <a:r>
                  <a:rPr lang="en-US" sz="4800" b="1">
                    <a:latin typeface="Times New Roman" panose="02020603050405020304" pitchFamily="18" charset="0"/>
                    <a:cs typeface="Times New Roman" panose="02020603050405020304" pitchFamily="18" charset="0"/>
                  </a:rPr>
                  <a:t>b) Gọi </a:t>
                </a:r>
                <a:r>
                  <a:rPr lang="en-US" sz="4800" b="1" i="1">
                    <a:latin typeface="Times New Roman" panose="02020603050405020304" pitchFamily="18" charset="0"/>
                    <a:cs typeface="Times New Roman" panose="02020603050405020304" pitchFamily="18" charset="0"/>
                  </a:rPr>
                  <a:t>M</a:t>
                </a:r>
                <a:r>
                  <a:rPr lang="en-US" sz="4800" b="1">
                    <a:latin typeface="Times New Roman" panose="02020603050405020304" pitchFamily="18" charset="0"/>
                    <a:cs typeface="Times New Roman" panose="02020603050405020304" pitchFamily="18" charset="0"/>
                  </a:rPr>
                  <a:t> là biến cố: “Trong ba thẻ rút ra có ít nhất một thẻ số 1”. Biến cố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𝑴</m:t>
                        </m:r>
                      </m:e>
                    </m:bar>
                  </m:oMath>
                </a14:m>
                <a:r>
                  <a:rPr lang="en-US" sz="4800" b="1">
                    <a:latin typeface="Times New Roman" panose="02020603050405020304" pitchFamily="18" charset="0"/>
                    <a:cs typeface="Times New Roman" panose="02020603050405020304" pitchFamily="18" charset="0"/>
                  </a:rPr>
                  <a:t> là tập con nào của không gian mẫu? </a:t>
                </a:r>
              </a:p>
              <a:p>
                <a:r>
                  <a:rPr lang="en-US" sz="4800" b="1">
                    <a:latin typeface="Times New Roman" panose="02020603050405020304" pitchFamily="18" charset="0"/>
                    <a:cs typeface="Times New Roman" panose="02020603050405020304" pitchFamily="18" charset="0"/>
                  </a:rPr>
                  <a:t>c) Tinh </a:t>
                </a:r>
                <a14:m>
                  <m:oMath xmlns:m="http://schemas.openxmlformats.org/officeDocument/2006/math">
                    <m:r>
                      <a:rPr lang="en-US" sz="4800" b="1" i="1">
                        <a:latin typeface="Cambria Math" panose="02040503050406030204" pitchFamily="18" charset="0"/>
                      </a:rPr>
                      <m:t>𝑷</m:t>
                    </m:r>
                    <m:d>
                      <m:dPr>
                        <m:ctrlPr>
                          <a:rPr lang="en-US" sz="4800" b="1" i="1">
                            <a:latin typeface="Cambria Math" panose="02040503050406030204" pitchFamily="18" charset="0"/>
                          </a:rPr>
                        </m:ctrlPr>
                      </m:dPr>
                      <m:e>
                        <m:r>
                          <a:rPr lang="en-US" sz="4800" b="1" i="1">
                            <a:latin typeface="Cambria Math" panose="02040503050406030204" pitchFamily="18" charset="0"/>
                          </a:rPr>
                          <m:t>𝑴</m:t>
                        </m:r>
                      </m:e>
                    </m:d>
                  </m:oMath>
                </a14:m>
                <a:r>
                  <a:rPr lang="en-US" sz="4800" b="1">
                    <a:latin typeface="Times New Roman" panose="02020603050405020304" pitchFamily="18" charset="0"/>
                    <a:cs typeface="Times New Roman" panose="02020603050405020304" pitchFamily="18" charset="0"/>
                  </a:rPr>
                  <a:t>và </a:t>
                </a:r>
                <a14:m>
                  <m:oMath xmlns:m="http://schemas.openxmlformats.org/officeDocument/2006/math">
                    <m:r>
                      <a:rPr lang="en-US" sz="4800" b="1" i="1">
                        <a:latin typeface="Cambria Math" panose="02040503050406030204" pitchFamily="18" charset="0"/>
                      </a:rPr>
                      <m:t>𝑷</m:t>
                    </m:r>
                    <m:d>
                      <m:dPr>
                        <m:ctrlPr>
                          <a:rPr lang="en-US" sz="4800" b="1" i="1">
                            <a:latin typeface="Cambria Math" panose="02040503050406030204" pitchFamily="18" charset="0"/>
                          </a:rPr>
                        </m:ctrlPr>
                      </m:dPr>
                      <m:e>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𝑴</m:t>
                            </m:r>
                          </m:e>
                        </m:bar>
                      </m:e>
                    </m:d>
                  </m:oMath>
                </a14:m>
                <a:r>
                  <a:rPr lang="en-US" sz="4800" b="1">
                    <a:latin typeface="Times New Roman" panose="02020603050405020304" pitchFamily="18" charset="0"/>
                    <a:cs typeface="Times New Roman" panose="02020603050405020304" pitchFamily="18" charset="0"/>
                  </a:rPr>
                  <a:t>.</a:t>
                </a:r>
              </a:p>
              <a:p>
                <a:endParaRPr lang="en-US" sz="4800" b="1" dirty="0">
                  <a:latin typeface="Times New Roman" panose="02020603050405020304" pitchFamily="18" charset="0"/>
                  <a:cs typeface="Times New Roman" panose="02020603050405020304" pitchFamily="18"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228600" y="1977466"/>
                <a:ext cx="23818702" cy="5698688"/>
              </a:xfrm>
              <a:prstGeom prst="rect">
                <a:avLst/>
              </a:prstGeom>
              <a:blipFill>
                <a:blip r:embed="rId3"/>
                <a:stretch>
                  <a:fillRect l="-1151" t="-4269" r="-1663"/>
                </a:stretch>
              </a:blipFill>
              <a:ln>
                <a:solidFill>
                  <a:schemeClr val="tx2">
                    <a:lumMod val="20000"/>
                    <a:lumOff val="80000"/>
                  </a:schemeClr>
                </a:solidFill>
              </a:ln>
            </p:spPr>
            <p:txBody>
              <a:bodyPr/>
              <a:lstStyle/>
              <a:p>
                <a:r>
                  <a:rPr lang="en-US">
                    <a:noFill/>
                  </a:rPr>
                  <a:t> </a:t>
                </a:r>
              </a:p>
            </p:txBody>
          </p:sp>
        </mc:Fallback>
      </mc:AlternateContent>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195470" y="6880184"/>
            <a:ext cx="23818702" cy="6531015"/>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847702"/>
            <a:ext cx="58674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vi-VN" sz="4000" b="1">
                  <a:solidFill>
                    <a:srgbClr val="FF0000"/>
                  </a:solidFill>
                  <a:latin typeface="Tahoma" panose="020B0604030504040204" pitchFamily="34" charset="0"/>
                  <a:ea typeface="Tahoma" panose="020B0604030504040204" pitchFamily="34" charset="0"/>
                  <a:cs typeface="Tahoma" panose="020B0604030504040204" pitchFamily="34" charset="0"/>
                </a:rPr>
                <a:t>Luyện tập </a:t>
              </a:r>
              <a:r>
                <a:rPr lang="en-US" sz="4000" b="1">
                  <a:solidFill>
                    <a:srgbClr val="FF0000"/>
                  </a:solidFill>
                  <a:latin typeface="Tahoma" panose="020B0604030504040204" pitchFamily="34" charset="0"/>
                  <a:ea typeface="Tahoma" panose="020B0604030504040204" pitchFamily="34" charset="0"/>
                  <a:cs typeface="Tahoma" panose="020B0604030504040204" pitchFamily="34" charset="0"/>
                </a:rPr>
                <a:t>4</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353263" y="7639400"/>
                <a:ext cx="23660909" cy="5294078"/>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a:t>
                </a:r>
              </a:p>
              <a:p>
                <a:pPr>
                  <a:lnSpc>
                    <a:spcPct val="107000"/>
                  </a:lnSpc>
                  <a:spcAft>
                    <a:spcPts val="800"/>
                  </a:spcAft>
                </a:pPr>
                <a:endPar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Từ sơ đồ hình cây </a:t>
                </a:r>
              </a:p>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 có</a:t>
                </a:r>
              </a:p>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𝜴</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𝟏𝟐𝟏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𝟏𝟐𝟐</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𝟏𝟑𝟏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𝟏𝟑𝟐</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𝟐𝟐𝟏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𝟐𝟐𝟐</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𝟐𝟑𝟏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𝟐𝟑𝟐</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𝟑𝟐𝟏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𝟑𝟐𝟐</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𝟑𝟑𝟏</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𝟑𝟑𝟐</m:t>
                        </m:r>
                      </m:e>
                    </m:d>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Vậy số phần tử của không gian mẫu:  </a:t>
                </a:r>
                <a14:m>
                  <m:oMath xmlns:m="http://schemas.openxmlformats.org/officeDocument/2006/math">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𝜴</m:t>
                        </m:r>
                      </m:e>
                    </m:d>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𝟏𝟐</m:t>
                    </m:r>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353263" y="7639400"/>
                <a:ext cx="23660909" cy="5294078"/>
              </a:xfrm>
              <a:prstGeom prst="rect">
                <a:avLst/>
              </a:prstGeom>
              <a:blipFill>
                <a:blip r:embed="rId4"/>
                <a:stretch>
                  <a:fillRect l="-1185" t="-2647" b="-5178"/>
                </a:stretch>
              </a:blipFill>
              <a:ln w="9525">
                <a:noFill/>
                <a:miter lim="800000"/>
                <a:headEnd/>
                <a:tailEnd/>
              </a:ln>
            </p:spPr>
            <p:txBody>
              <a:bodyPr/>
              <a:lstStyle/>
              <a:p>
                <a:r>
                  <a:rPr lang="en-US">
                    <a:noFill/>
                  </a:rPr>
                  <a:t> </a:t>
                </a:r>
              </a:p>
            </p:txBody>
          </p:sp>
        </mc:Fallback>
      </mc:AlternateContent>
      <p:pic>
        <p:nvPicPr>
          <p:cNvPr id="18" name="Picture 17">
            <a:extLst>
              <a:ext uri="{FF2B5EF4-FFF2-40B4-BE49-F238E27FC236}">
                <a16:creationId xmlns:a16="http://schemas.microsoft.com/office/drawing/2014/main" id="{C7D0D9C8-E9D8-6D71-3E33-E500EFB58852}"/>
              </a:ext>
            </a:extLst>
          </p:cNvPr>
          <p:cNvPicPr>
            <a:picLocks noChangeAspect="1"/>
          </p:cNvPicPr>
          <p:nvPr/>
        </p:nvPicPr>
        <p:blipFill>
          <a:blip r:embed="rId5"/>
          <a:stretch>
            <a:fillRect/>
          </a:stretch>
        </p:blipFill>
        <p:spPr>
          <a:xfrm>
            <a:off x="6553200" y="5766331"/>
            <a:ext cx="17297400" cy="5294078"/>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421663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7">
                                            <p:txEl>
                                              <p:pRg st="0" end="0"/>
                                            </p:txEl>
                                          </p:spTgt>
                                        </p:tgtEl>
                                        <p:attrNameLst>
                                          <p:attrName>style.visibility</p:attrName>
                                        </p:attrNameLst>
                                      </p:cBhvr>
                                      <p:to>
                                        <p:strVal val="visible"/>
                                      </p:to>
                                    </p:set>
                                    <p:animEffect transition="in" filter="wipe(left)">
                                      <p:cBhvr>
                                        <p:cTn id="11" dur="500"/>
                                        <p:tgtEl>
                                          <p:spTgt spid="97">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xEl>
                                              <p:pRg st="1" end="1"/>
                                            </p:txEl>
                                          </p:spTgt>
                                        </p:tgtEl>
                                        <p:attrNameLst>
                                          <p:attrName>style.visibility</p:attrName>
                                        </p:attrNameLst>
                                      </p:cBhvr>
                                      <p:to>
                                        <p:strVal val="visible"/>
                                      </p:to>
                                    </p:set>
                                    <p:animEffect transition="in" filter="wipe(left)">
                                      <p:cBhvr>
                                        <p:cTn id="15" dur="500"/>
                                        <p:tgtEl>
                                          <p:spTgt spid="97">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7">
                                            <p:txEl>
                                              <p:pRg st="2" end="2"/>
                                            </p:txEl>
                                          </p:spTgt>
                                        </p:tgtEl>
                                        <p:attrNameLst>
                                          <p:attrName>style.visibility</p:attrName>
                                        </p:attrNameLst>
                                      </p:cBhvr>
                                      <p:to>
                                        <p:strVal val="visible"/>
                                      </p:to>
                                    </p:set>
                                    <p:animEffect transition="in" filter="wipe(left)">
                                      <p:cBhvr>
                                        <p:cTn id="19" dur="500"/>
                                        <p:tgtEl>
                                          <p:spTgt spid="97">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97">
                                            <p:txEl>
                                              <p:pRg st="3" end="3"/>
                                            </p:txEl>
                                          </p:spTgt>
                                        </p:tgtEl>
                                        <p:attrNameLst>
                                          <p:attrName>style.visibility</p:attrName>
                                        </p:attrNameLst>
                                      </p:cBhvr>
                                      <p:to>
                                        <p:strVal val="visible"/>
                                      </p:to>
                                    </p:set>
                                    <p:animEffect transition="in" filter="wipe(left)">
                                      <p:cBhvr>
                                        <p:cTn id="23" dur="500"/>
                                        <p:tgtEl>
                                          <p:spTgt spid="97">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0" end="0"/>
                                            </p:txEl>
                                          </p:spTgt>
                                        </p:tgtEl>
                                        <p:attrNameLst>
                                          <p:attrName>style.visibility</p:attrName>
                                        </p:attrNameLst>
                                      </p:cBhvr>
                                      <p:to>
                                        <p:strVal val="visible"/>
                                      </p:to>
                                    </p:set>
                                    <p:animEffect transition="in" filter="wipe(up)">
                                      <p:cBhvr>
                                        <p:cTn id="27" dur="500"/>
                                        <p:tgtEl>
                                          <p:spTgt spid="9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xEl>
                                              <p:pRg st="0" end="0"/>
                                            </p:txEl>
                                          </p:spTgt>
                                        </p:tgtEl>
                                        <p:attrNameLst>
                                          <p:attrName>style.visibility</p:attrName>
                                        </p:attrNameLst>
                                      </p:cBhvr>
                                      <p:to>
                                        <p:strVal val="visible"/>
                                      </p:to>
                                    </p:set>
                                    <p:animEffect transition="in" filter="fade">
                                      <p:cBhvr>
                                        <p:cTn id="37" dur="500"/>
                                        <p:tgtEl>
                                          <p:spTgt spid="2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
                                            <p:txEl>
                                              <p:pRg st="2" end="2"/>
                                            </p:txEl>
                                          </p:spTgt>
                                        </p:tgtEl>
                                        <p:attrNameLst>
                                          <p:attrName>style.visibility</p:attrName>
                                        </p:attrNameLst>
                                      </p:cBhvr>
                                      <p:to>
                                        <p:strVal val="visible"/>
                                      </p:to>
                                    </p:set>
                                    <p:animEffect transition="in" filter="fade">
                                      <p:cBhvr>
                                        <p:cTn id="42" dur="500"/>
                                        <p:tgtEl>
                                          <p:spTgt spid="27">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xEl>
                                              <p:pRg st="3" end="3"/>
                                            </p:txEl>
                                          </p:spTgt>
                                        </p:tgtEl>
                                        <p:attrNameLst>
                                          <p:attrName>style.visibility</p:attrName>
                                        </p:attrNameLst>
                                      </p:cBhvr>
                                      <p:to>
                                        <p:strVal val="visible"/>
                                      </p:to>
                                    </p:set>
                                    <p:animEffect transition="in" filter="fade">
                                      <p:cBhvr>
                                        <p:cTn id="47" dur="500"/>
                                        <p:tgtEl>
                                          <p:spTgt spid="27">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7">
                                            <p:txEl>
                                              <p:pRg st="4" end="4"/>
                                            </p:txEl>
                                          </p:spTgt>
                                        </p:tgtEl>
                                        <p:attrNameLst>
                                          <p:attrName>style.visibility</p:attrName>
                                        </p:attrNameLst>
                                      </p:cBhvr>
                                      <p:to>
                                        <p:strVal val="visible"/>
                                      </p:to>
                                    </p:set>
                                    <p:animEffect transition="in" filter="fade">
                                      <p:cBhvr>
                                        <p:cTn id="52" dur="500"/>
                                        <p:tgtEl>
                                          <p:spTgt spid="27">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7">
                                            <p:txEl>
                                              <p:pRg st="5" end="5"/>
                                            </p:txEl>
                                          </p:spTgt>
                                        </p:tgtEl>
                                        <p:attrNameLst>
                                          <p:attrName>style.visibility</p:attrName>
                                        </p:attrNameLst>
                                      </p:cBhvr>
                                      <p:to>
                                        <p:strVal val="visible"/>
                                      </p:to>
                                    </p:set>
                                    <p:animEffect transition="in" filter="fade">
                                      <p:cBhvr>
                                        <p:cTn id="57" dur="500"/>
                                        <p:tgtEl>
                                          <p:spTgt spid="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228600" y="1977466"/>
                <a:ext cx="23818702" cy="5698688"/>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vi-VN" b="1"/>
                  <a:t>          </a:t>
                </a:r>
                <a:r>
                  <a:rPr lang="en-US" sz="4800" b="1">
                    <a:latin typeface="Times New Roman" panose="02020603050405020304" pitchFamily="18" charset="0"/>
                    <a:cs typeface="Times New Roman" panose="02020603050405020304" pitchFamily="18" charset="0"/>
                  </a:rPr>
                  <a:t>Có ba hộp </a:t>
                </a:r>
                <a:r>
                  <a:rPr lang="en-US" sz="4800" b="1" i="1">
                    <a:latin typeface="Times New Roman" panose="02020603050405020304" pitchFamily="18" charset="0"/>
                    <a:cs typeface="Times New Roman" panose="02020603050405020304" pitchFamily="18" charset="0"/>
                  </a:rPr>
                  <a:t>A, B, C.</a:t>
                </a:r>
                <a:r>
                  <a:rPr lang="en-US" sz="4800" b="1">
                    <a:latin typeface="Times New Roman" panose="02020603050405020304" pitchFamily="18" charset="0"/>
                    <a:cs typeface="Times New Roman" panose="02020603050405020304" pitchFamily="18" charset="0"/>
                  </a:rPr>
                  <a:t> Hộp </a:t>
                </a:r>
                <a:r>
                  <a:rPr lang="en-US" sz="4800" b="1" i="1">
                    <a:latin typeface="Times New Roman" panose="02020603050405020304" pitchFamily="18" charset="0"/>
                    <a:cs typeface="Times New Roman" panose="02020603050405020304" pitchFamily="18" charset="0"/>
                  </a:rPr>
                  <a:t>A</a:t>
                </a:r>
                <a:r>
                  <a:rPr lang="en-US" sz="4800" b="1">
                    <a:latin typeface="Times New Roman" panose="02020603050405020304" pitchFamily="18" charset="0"/>
                    <a:cs typeface="Times New Roman" panose="02020603050405020304" pitchFamily="18" charset="0"/>
                  </a:rPr>
                  <a:t> cỏ chứa ba thẻ mang số 1, số 2 và số 3. Hộp B chứa hai thẻ mang số 2 và số 3. Hộp </a:t>
                </a:r>
                <a:r>
                  <a:rPr lang="en-US" sz="4800" b="1" i="1">
                    <a:latin typeface="Times New Roman" panose="02020603050405020304" pitchFamily="18" charset="0"/>
                    <a:cs typeface="Times New Roman" panose="02020603050405020304" pitchFamily="18" charset="0"/>
                  </a:rPr>
                  <a:t>C</a:t>
                </a:r>
                <a:r>
                  <a:rPr lang="en-US" sz="4800" b="1">
                    <a:latin typeface="Times New Roman" panose="02020603050405020304" pitchFamily="18" charset="0"/>
                    <a:cs typeface="Times New Roman" panose="02020603050405020304" pitchFamily="18" charset="0"/>
                  </a:rPr>
                  <a:t> chứa hai thẻ mang số 1 và số 2. Từ mỗi hộp ta rút ra ngẫu nhiên một thẻ. </a:t>
                </a:r>
              </a:p>
              <a:p>
                <a:r>
                  <a:rPr lang="en-US" sz="4800" b="1">
                    <a:latin typeface="Times New Roman" panose="02020603050405020304" pitchFamily="18" charset="0"/>
                    <a:cs typeface="Times New Roman" panose="02020603050405020304" pitchFamily="18" charset="0"/>
                  </a:rPr>
                  <a:t>a) Vẽ sơ đồ hình cây để mô tả các phần tử của không gian mẫu. </a:t>
                </a:r>
              </a:p>
              <a:p>
                <a:r>
                  <a:rPr lang="en-US" sz="4800" b="1">
                    <a:latin typeface="Times New Roman" panose="02020603050405020304" pitchFamily="18" charset="0"/>
                    <a:cs typeface="Times New Roman" panose="02020603050405020304" pitchFamily="18" charset="0"/>
                  </a:rPr>
                  <a:t>b) Gọi </a:t>
                </a:r>
                <a:r>
                  <a:rPr lang="en-US" sz="4800" b="1" i="1">
                    <a:latin typeface="Times New Roman" panose="02020603050405020304" pitchFamily="18" charset="0"/>
                    <a:cs typeface="Times New Roman" panose="02020603050405020304" pitchFamily="18" charset="0"/>
                  </a:rPr>
                  <a:t>M</a:t>
                </a:r>
                <a:r>
                  <a:rPr lang="en-US" sz="4800" b="1">
                    <a:latin typeface="Times New Roman" panose="02020603050405020304" pitchFamily="18" charset="0"/>
                    <a:cs typeface="Times New Roman" panose="02020603050405020304" pitchFamily="18" charset="0"/>
                  </a:rPr>
                  <a:t> là biến cố: “Trong ba thẻ rút ra có ít nhất một thẻ số 1”. Biến cố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𝑴</m:t>
                        </m:r>
                      </m:e>
                    </m:bar>
                  </m:oMath>
                </a14:m>
                <a:r>
                  <a:rPr lang="en-US" sz="4800" b="1">
                    <a:latin typeface="Times New Roman" panose="02020603050405020304" pitchFamily="18" charset="0"/>
                    <a:cs typeface="Times New Roman" panose="02020603050405020304" pitchFamily="18" charset="0"/>
                  </a:rPr>
                  <a:t> là tập con nào của không gian mẫu? </a:t>
                </a:r>
              </a:p>
              <a:p>
                <a:r>
                  <a:rPr lang="en-US" sz="4800" b="1">
                    <a:latin typeface="Times New Roman" panose="02020603050405020304" pitchFamily="18" charset="0"/>
                    <a:cs typeface="Times New Roman" panose="02020603050405020304" pitchFamily="18" charset="0"/>
                  </a:rPr>
                  <a:t>c) Tinh </a:t>
                </a:r>
                <a14:m>
                  <m:oMath xmlns:m="http://schemas.openxmlformats.org/officeDocument/2006/math">
                    <m:r>
                      <a:rPr lang="en-US" sz="4800" b="1" i="1">
                        <a:latin typeface="Cambria Math" panose="02040503050406030204" pitchFamily="18" charset="0"/>
                      </a:rPr>
                      <m:t>𝑷</m:t>
                    </m:r>
                    <m:d>
                      <m:dPr>
                        <m:ctrlPr>
                          <a:rPr lang="en-US" sz="4800" b="1" i="1">
                            <a:latin typeface="Cambria Math" panose="02040503050406030204" pitchFamily="18" charset="0"/>
                          </a:rPr>
                        </m:ctrlPr>
                      </m:dPr>
                      <m:e>
                        <m:r>
                          <a:rPr lang="en-US" sz="4800" b="1" i="1">
                            <a:latin typeface="Cambria Math" panose="02040503050406030204" pitchFamily="18" charset="0"/>
                          </a:rPr>
                          <m:t>𝑴</m:t>
                        </m:r>
                      </m:e>
                    </m:d>
                  </m:oMath>
                </a14:m>
                <a:r>
                  <a:rPr lang="en-US" sz="4800" b="1">
                    <a:latin typeface="Times New Roman" panose="02020603050405020304" pitchFamily="18" charset="0"/>
                    <a:cs typeface="Times New Roman" panose="02020603050405020304" pitchFamily="18" charset="0"/>
                  </a:rPr>
                  <a:t>và </a:t>
                </a:r>
                <a14:m>
                  <m:oMath xmlns:m="http://schemas.openxmlformats.org/officeDocument/2006/math">
                    <m:r>
                      <a:rPr lang="en-US" sz="4800" b="1" i="1">
                        <a:latin typeface="Cambria Math" panose="02040503050406030204" pitchFamily="18" charset="0"/>
                      </a:rPr>
                      <m:t>𝑷</m:t>
                    </m:r>
                    <m:d>
                      <m:dPr>
                        <m:ctrlPr>
                          <a:rPr lang="en-US" sz="4800" b="1" i="1">
                            <a:latin typeface="Cambria Math" panose="02040503050406030204" pitchFamily="18" charset="0"/>
                          </a:rPr>
                        </m:ctrlPr>
                      </m:dPr>
                      <m:e>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𝑴</m:t>
                            </m:r>
                          </m:e>
                        </m:bar>
                      </m:e>
                    </m:d>
                  </m:oMath>
                </a14:m>
                <a:r>
                  <a:rPr lang="en-US" sz="4800" b="1">
                    <a:latin typeface="Times New Roman" panose="02020603050405020304" pitchFamily="18" charset="0"/>
                    <a:cs typeface="Times New Roman" panose="02020603050405020304" pitchFamily="18" charset="0"/>
                  </a:rPr>
                  <a:t>.</a:t>
                </a:r>
              </a:p>
              <a:p>
                <a:endParaRPr lang="en-US" sz="4800" b="1" dirty="0">
                  <a:latin typeface="Times New Roman" panose="02020603050405020304" pitchFamily="18" charset="0"/>
                  <a:cs typeface="Times New Roman" panose="02020603050405020304" pitchFamily="18"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228600" y="1977466"/>
                <a:ext cx="23818702" cy="5698688"/>
              </a:xfrm>
              <a:prstGeom prst="rect">
                <a:avLst/>
              </a:prstGeom>
              <a:blipFill>
                <a:blip r:embed="rId3"/>
                <a:stretch>
                  <a:fillRect l="-1151" t="-4269" r="-1663"/>
                </a:stretch>
              </a:blipFill>
              <a:ln>
                <a:solidFill>
                  <a:schemeClr val="tx2">
                    <a:lumMod val="20000"/>
                    <a:lumOff val="80000"/>
                  </a:schemeClr>
                </a:solidFill>
              </a:ln>
            </p:spPr>
            <p:txBody>
              <a:bodyPr/>
              <a:lstStyle/>
              <a:p>
                <a:r>
                  <a:rPr lang="en-US">
                    <a:noFill/>
                  </a:rPr>
                  <a:t> </a:t>
                </a:r>
              </a:p>
            </p:txBody>
          </p:sp>
        </mc:Fallback>
      </mc:AlternateContent>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195470" y="6880184"/>
            <a:ext cx="23818702" cy="6531015"/>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847702"/>
            <a:ext cx="58674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vi-VN" sz="4000" b="1">
                  <a:solidFill>
                    <a:srgbClr val="FF0000"/>
                  </a:solidFill>
                  <a:latin typeface="Tahoma" panose="020B0604030504040204" pitchFamily="34" charset="0"/>
                  <a:ea typeface="Tahoma" panose="020B0604030504040204" pitchFamily="34" charset="0"/>
                  <a:cs typeface="Tahoma" panose="020B0604030504040204" pitchFamily="34" charset="0"/>
                </a:rPr>
                <a:t>Luyện tập </a:t>
              </a:r>
              <a:r>
                <a:rPr lang="en-US" sz="4000" b="1">
                  <a:solidFill>
                    <a:srgbClr val="FF0000"/>
                  </a:solidFill>
                  <a:latin typeface="Tahoma" panose="020B0604030504040204" pitchFamily="34" charset="0"/>
                  <a:ea typeface="Tahoma" panose="020B0604030504040204" pitchFamily="34" charset="0"/>
                  <a:cs typeface="Tahoma" panose="020B0604030504040204" pitchFamily="34" charset="0"/>
                </a:rPr>
                <a:t>4</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353263" y="7639400"/>
                <a:ext cx="23660909" cy="1874744"/>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07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a:effectLst/>
                    <a:latin typeface="Times New Roman" panose="02020603050405020304" pitchFamily="18" charset="0"/>
                    <a:ea typeface="Calibri" panose="020F0502020204030204" pitchFamily="34" charset="0"/>
                    <a:cs typeface="Times New Roman" panose="02020603050405020304" pitchFamily="18" charset="0"/>
                  </a:rPr>
                  <a:t>b) Gọi </a:t>
                </a:r>
                <a14:m>
                  <m:oMath xmlns:m="http://schemas.openxmlformats.org/officeDocument/2006/math">
                    <m:bar>
                      <m:barPr>
                        <m:pos m:val="top"/>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𝑴</m:t>
                        </m:r>
                      </m:e>
                    </m:bar>
                  </m:oMath>
                </a14:m>
                <a:r>
                  <a:rPr lang="en-US" sz="4800" b="1">
                    <a:effectLst/>
                    <a:latin typeface="Times New Roman" panose="02020603050405020304" pitchFamily="18" charset="0"/>
                    <a:ea typeface="Calibri" panose="020F0502020204030204" pitchFamily="34" charset="0"/>
                    <a:cs typeface="Times New Roman" panose="02020603050405020304" pitchFamily="18" charset="0"/>
                  </a:rPr>
                  <a:t> là biến cố: “Trong ba thẻ rút ra không có thẻ nào mang số 1”</a:t>
                </a:r>
              </a:p>
              <a:p>
                <a:pPr>
                  <a:lnSpc>
                    <a:spcPct val="107000"/>
                  </a:lnSpc>
                  <a:spcAft>
                    <a:spcPts val="800"/>
                  </a:spcAft>
                </a:pPr>
                <a14:m>
                  <m:oMath xmlns:m="http://schemas.openxmlformats.org/officeDocument/2006/math">
                    <m:r>
                      <a:rPr lang="en-US" sz="4800" b="1" i="1">
                        <a:effectLst/>
                        <a:latin typeface="Cambria Math" panose="02040503050406030204" pitchFamily="18" charset="0"/>
                        <a:ea typeface="Calibri" panose="020F0502020204030204" pitchFamily="34" charset="0"/>
                        <a:cs typeface="Cambria Math" panose="02040503050406030204" pitchFamily="18" charset="0"/>
                      </a:rPr>
                      <m:t>⇒</m:t>
                    </m:r>
                    <m:bar>
                      <m:barPr>
                        <m:pos m:val="top"/>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𝑴</m:t>
                        </m:r>
                      </m:e>
                    </m:bar>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dPr>
                      <m:e>
                        <m:d>
                          <m:dPr>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𝟐</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𝟐</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𝟐</m:t>
                            </m:r>
                          </m:e>
                        </m:d>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𝟐</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𝟑</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𝟐</m:t>
                            </m:r>
                          </m:e>
                        </m:d>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𝟑</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𝟐</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𝟐</m:t>
                            </m:r>
                          </m:e>
                        </m:d>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𝟑</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𝟑</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effectLst/>
                                <a:latin typeface="Cambria Math" panose="02040503050406030204" pitchFamily="18" charset="0"/>
                                <a:ea typeface="Calibri" panose="020F0502020204030204" pitchFamily="34" charset="0"/>
                                <a:cs typeface="Times New Roman" panose="02020603050405020304" pitchFamily="18" charset="0"/>
                              </a:rPr>
                              <m:t>𝟐</m:t>
                            </m:r>
                          </m:e>
                        </m:d>
                      </m:e>
                    </m:d>
                  </m:oMath>
                </a14:m>
                <a:r>
                  <a:rPr lang="en-US" sz="4800" b="1">
                    <a:effectLst/>
                    <a:latin typeface="Times New Roman" panose="02020603050405020304" pitchFamily="18" charset="0"/>
                    <a:ea typeface="Calibri" panose="020F0502020204030204" pitchFamily="34" charset="0"/>
                    <a:cs typeface="Times New Roman" panose="02020603050405020304" pitchFamily="18" charset="0"/>
                  </a:rPr>
                  <a:t>.</a:t>
                </a: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353263" y="7639400"/>
                <a:ext cx="23660909" cy="1874744"/>
              </a:xfrm>
              <a:prstGeom prst="rect">
                <a:avLst/>
              </a:prstGeom>
              <a:blipFill>
                <a:blip r:embed="rId4"/>
                <a:stretch>
                  <a:fillRect l="-541" t="-3896" b="-16234"/>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3965721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228600" y="1977466"/>
                <a:ext cx="23818702" cy="5698688"/>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vi-VN" b="1"/>
                  <a:t>          </a:t>
                </a:r>
                <a:r>
                  <a:rPr lang="en-US" sz="4800" b="1">
                    <a:latin typeface="Times New Roman" panose="02020603050405020304" pitchFamily="18" charset="0"/>
                    <a:cs typeface="Times New Roman" panose="02020603050405020304" pitchFamily="18" charset="0"/>
                  </a:rPr>
                  <a:t>Có ba hộp </a:t>
                </a:r>
                <a:r>
                  <a:rPr lang="en-US" sz="4800" b="1" i="1">
                    <a:latin typeface="Times New Roman" panose="02020603050405020304" pitchFamily="18" charset="0"/>
                    <a:cs typeface="Times New Roman" panose="02020603050405020304" pitchFamily="18" charset="0"/>
                  </a:rPr>
                  <a:t>A, B, C.</a:t>
                </a:r>
                <a:r>
                  <a:rPr lang="en-US" sz="4800" b="1">
                    <a:latin typeface="Times New Roman" panose="02020603050405020304" pitchFamily="18" charset="0"/>
                    <a:cs typeface="Times New Roman" panose="02020603050405020304" pitchFamily="18" charset="0"/>
                  </a:rPr>
                  <a:t> Hộp </a:t>
                </a:r>
                <a:r>
                  <a:rPr lang="en-US" sz="4800" b="1" i="1">
                    <a:latin typeface="Times New Roman" panose="02020603050405020304" pitchFamily="18" charset="0"/>
                    <a:cs typeface="Times New Roman" panose="02020603050405020304" pitchFamily="18" charset="0"/>
                  </a:rPr>
                  <a:t>A</a:t>
                </a:r>
                <a:r>
                  <a:rPr lang="en-US" sz="4800" b="1">
                    <a:latin typeface="Times New Roman" panose="02020603050405020304" pitchFamily="18" charset="0"/>
                    <a:cs typeface="Times New Roman" panose="02020603050405020304" pitchFamily="18" charset="0"/>
                  </a:rPr>
                  <a:t> cỏ chứa ba thẻ mang số 1, số 2 và số 3. Hộp B chứa hai thẻ mang số 2 và số 3. Hộp </a:t>
                </a:r>
                <a:r>
                  <a:rPr lang="en-US" sz="4800" b="1" i="1">
                    <a:latin typeface="Times New Roman" panose="02020603050405020304" pitchFamily="18" charset="0"/>
                    <a:cs typeface="Times New Roman" panose="02020603050405020304" pitchFamily="18" charset="0"/>
                  </a:rPr>
                  <a:t>C</a:t>
                </a:r>
                <a:r>
                  <a:rPr lang="en-US" sz="4800" b="1">
                    <a:latin typeface="Times New Roman" panose="02020603050405020304" pitchFamily="18" charset="0"/>
                    <a:cs typeface="Times New Roman" panose="02020603050405020304" pitchFamily="18" charset="0"/>
                  </a:rPr>
                  <a:t> chứa hai thẻ mang số 1 và số 2. Từ mỗi hộp ta rút ra ngẫu nhiên một thẻ. </a:t>
                </a:r>
              </a:p>
              <a:p>
                <a:r>
                  <a:rPr lang="en-US" sz="4800" b="1">
                    <a:latin typeface="Times New Roman" panose="02020603050405020304" pitchFamily="18" charset="0"/>
                    <a:cs typeface="Times New Roman" panose="02020603050405020304" pitchFamily="18" charset="0"/>
                  </a:rPr>
                  <a:t>a) Vẽ sơ đồ hình cây để mô tả các phần tử của không gian mẫu. </a:t>
                </a:r>
              </a:p>
              <a:p>
                <a:r>
                  <a:rPr lang="en-US" sz="4800" b="1">
                    <a:latin typeface="Times New Roman" panose="02020603050405020304" pitchFamily="18" charset="0"/>
                    <a:cs typeface="Times New Roman" panose="02020603050405020304" pitchFamily="18" charset="0"/>
                  </a:rPr>
                  <a:t>b) Gọi </a:t>
                </a:r>
                <a:r>
                  <a:rPr lang="en-US" sz="4800" b="1" i="1">
                    <a:latin typeface="Times New Roman" panose="02020603050405020304" pitchFamily="18" charset="0"/>
                    <a:cs typeface="Times New Roman" panose="02020603050405020304" pitchFamily="18" charset="0"/>
                  </a:rPr>
                  <a:t>M</a:t>
                </a:r>
                <a:r>
                  <a:rPr lang="en-US" sz="4800" b="1">
                    <a:latin typeface="Times New Roman" panose="02020603050405020304" pitchFamily="18" charset="0"/>
                    <a:cs typeface="Times New Roman" panose="02020603050405020304" pitchFamily="18" charset="0"/>
                  </a:rPr>
                  <a:t> là biến cố: “Trong ba thẻ rút ra có ít nhất một thẻ số 1”. Biến cố </a:t>
                </a:r>
                <a14:m>
                  <m:oMath xmlns:m="http://schemas.openxmlformats.org/officeDocument/2006/math">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𝑴</m:t>
                        </m:r>
                      </m:e>
                    </m:bar>
                  </m:oMath>
                </a14:m>
                <a:r>
                  <a:rPr lang="en-US" sz="4800" b="1">
                    <a:latin typeface="Times New Roman" panose="02020603050405020304" pitchFamily="18" charset="0"/>
                    <a:cs typeface="Times New Roman" panose="02020603050405020304" pitchFamily="18" charset="0"/>
                  </a:rPr>
                  <a:t> là tập con nào của không gian mẫu? </a:t>
                </a:r>
              </a:p>
              <a:p>
                <a:r>
                  <a:rPr lang="en-US" sz="4800" b="1">
                    <a:latin typeface="Times New Roman" panose="02020603050405020304" pitchFamily="18" charset="0"/>
                    <a:cs typeface="Times New Roman" panose="02020603050405020304" pitchFamily="18" charset="0"/>
                  </a:rPr>
                  <a:t>c) Tinh </a:t>
                </a:r>
                <a14:m>
                  <m:oMath xmlns:m="http://schemas.openxmlformats.org/officeDocument/2006/math">
                    <m:r>
                      <a:rPr lang="en-US" sz="4800" b="1" i="1">
                        <a:latin typeface="Cambria Math" panose="02040503050406030204" pitchFamily="18" charset="0"/>
                      </a:rPr>
                      <m:t>𝑷</m:t>
                    </m:r>
                    <m:d>
                      <m:dPr>
                        <m:ctrlPr>
                          <a:rPr lang="en-US" sz="4800" b="1" i="1">
                            <a:latin typeface="Cambria Math" panose="02040503050406030204" pitchFamily="18" charset="0"/>
                          </a:rPr>
                        </m:ctrlPr>
                      </m:dPr>
                      <m:e>
                        <m:r>
                          <a:rPr lang="en-US" sz="4800" b="1" i="1">
                            <a:latin typeface="Cambria Math" panose="02040503050406030204" pitchFamily="18" charset="0"/>
                          </a:rPr>
                          <m:t>𝑴</m:t>
                        </m:r>
                      </m:e>
                    </m:d>
                  </m:oMath>
                </a14:m>
                <a:r>
                  <a:rPr lang="en-US" sz="4800" b="1">
                    <a:latin typeface="Times New Roman" panose="02020603050405020304" pitchFamily="18" charset="0"/>
                    <a:cs typeface="Times New Roman" panose="02020603050405020304" pitchFamily="18" charset="0"/>
                  </a:rPr>
                  <a:t>và </a:t>
                </a:r>
                <a14:m>
                  <m:oMath xmlns:m="http://schemas.openxmlformats.org/officeDocument/2006/math">
                    <m:r>
                      <a:rPr lang="en-US" sz="4800" b="1" i="1">
                        <a:latin typeface="Cambria Math" panose="02040503050406030204" pitchFamily="18" charset="0"/>
                      </a:rPr>
                      <m:t>𝑷</m:t>
                    </m:r>
                    <m:d>
                      <m:dPr>
                        <m:ctrlPr>
                          <a:rPr lang="en-US" sz="4800" b="1" i="1">
                            <a:latin typeface="Cambria Math" panose="02040503050406030204" pitchFamily="18" charset="0"/>
                          </a:rPr>
                        </m:ctrlPr>
                      </m:dPr>
                      <m:e>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𝑴</m:t>
                            </m:r>
                          </m:e>
                        </m:bar>
                      </m:e>
                    </m:d>
                  </m:oMath>
                </a14:m>
                <a:r>
                  <a:rPr lang="en-US" sz="4800" b="1">
                    <a:latin typeface="Times New Roman" panose="02020603050405020304" pitchFamily="18" charset="0"/>
                    <a:cs typeface="Times New Roman" panose="02020603050405020304" pitchFamily="18" charset="0"/>
                  </a:rPr>
                  <a:t>.</a:t>
                </a:r>
              </a:p>
              <a:p>
                <a:endParaRPr lang="en-US" sz="4800" b="1" dirty="0">
                  <a:latin typeface="Times New Roman" panose="02020603050405020304" pitchFamily="18" charset="0"/>
                  <a:cs typeface="Times New Roman" panose="02020603050405020304" pitchFamily="18"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228600" y="1977466"/>
                <a:ext cx="23818702" cy="5698688"/>
              </a:xfrm>
              <a:prstGeom prst="rect">
                <a:avLst/>
              </a:prstGeom>
              <a:blipFill>
                <a:blip r:embed="rId3"/>
                <a:stretch>
                  <a:fillRect l="-1151" t="-2775" r="-1407"/>
                </a:stretch>
              </a:blipFill>
              <a:ln>
                <a:solidFill>
                  <a:schemeClr val="tx2">
                    <a:lumMod val="20000"/>
                    <a:lumOff val="80000"/>
                  </a:schemeClr>
                </a:solidFill>
              </a:ln>
            </p:spPr>
            <p:txBody>
              <a:bodyPr/>
              <a:lstStyle/>
              <a:p>
                <a:r>
                  <a:rPr lang="en-US">
                    <a:noFill/>
                  </a:rPr>
                  <a:t> </a:t>
                </a:r>
              </a:p>
            </p:txBody>
          </p:sp>
        </mc:Fallback>
      </mc:AlternateContent>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195470" y="6880184"/>
            <a:ext cx="23818702" cy="6531015"/>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u="sng" dirty="0" err="1">
                <a:solidFill>
                  <a:srgbClr val="FF0000"/>
                </a:solidFill>
              </a:rPr>
              <a:t>Lời</a:t>
            </a:r>
            <a:r>
              <a:rPr lang="en-US" b="1" u="sng" dirty="0">
                <a:solidFill>
                  <a:srgbClr val="FF0000"/>
                </a:solidFill>
              </a:rPr>
              <a:t> </a:t>
            </a:r>
            <a:r>
              <a:rPr lang="en-US" b="1" u="sng" dirty="0" err="1">
                <a:solidFill>
                  <a:srgbClr val="FF0000"/>
                </a:solidFill>
              </a:rPr>
              <a:t>giải</a:t>
            </a:r>
            <a:endParaRPr lang="en-US" u="sng" dirty="0">
              <a:solidFill>
                <a:srgbClr val="FF0000"/>
              </a:solidFill>
            </a:endParaRPr>
          </a:p>
          <a:p>
            <a:pPr marL="0" indent="0">
              <a:buNone/>
            </a:pPr>
            <a:endParaRPr lang="en-US" b="1" dirty="0"/>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847702"/>
            <a:ext cx="58674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vi-VN" sz="4000" b="1">
                  <a:solidFill>
                    <a:srgbClr val="FF0000"/>
                  </a:solidFill>
                  <a:latin typeface="Tahoma" panose="020B0604030504040204" pitchFamily="34" charset="0"/>
                  <a:ea typeface="Tahoma" panose="020B0604030504040204" pitchFamily="34" charset="0"/>
                  <a:cs typeface="Tahoma" panose="020B0604030504040204" pitchFamily="34" charset="0"/>
                </a:rPr>
                <a:t>Luyện tập </a:t>
              </a:r>
              <a:r>
                <a:rPr lang="en-US" sz="4000" b="1">
                  <a:solidFill>
                    <a:srgbClr val="FF0000"/>
                  </a:solidFill>
                  <a:latin typeface="Tahoma" panose="020B0604030504040204" pitchFamily="34" charset="0"/>
                  <a:ea typeface="Tahoma" panose="020B0604030504040204" pitchFamily="34" charset="0"/>
                  <a:cs typeface="Tahoma" panose="020B0604030504040204" pitchFamily="34" charset="0"/>
                </a:rPr>
                <a:t>4</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2057400" y="7639400"/>
                <a:ext cx="21956772" cy="5301323"/>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r>
                  <a:rPr lang="en-US" sz="4800" b="1"/>
                  <a:t>c) Ta có số cách rút một thẻ trong hộp </a:t>
                </a:r>
                <a:r>
                  <a:rPr lang="en-US" sz="4800" b="1" i="1"/>
                  <a:t>A</a:t>
                </a:r>
                <a:r>
                  <a:rPr lang="en-US" sz="4800" b="1"/>
                  <a:t> là </a:t>
                </a:r>
                <a14:m>
                  <m:oMath xmlns:m="http://schemas.openxmlformats.org/officeDocument/2006/math">
                    <m:sSubSup>
                      <m:sSubSupPr>
                        <m:ctrlPr>
                          <a:rPr lang="en-US" sz="4800" b="1" i="1">
                            <a:latin typeface="Cambria Math" panose="02040503050406030204" pitchFamily="18" charset="0"/>
                          </a:rPr>
                        </m:ctrlPr>
                      </m:sSubSupPr>
                      <m:e>
                        <m:r>
                          <a:rPr lang="en-US" sz="4800" b="1" i="1">
                            <a:latin typeface="Cambria Math" panose="02040503050406030204" pitchFamily="18" charset="0"/>
                          </a:rPr>
                          <m:t>𝑪</m:t>
                        </m:r>
                      </m:e>
                      <m:sub>
                        <m:r>
                          <a:rPr lang="en-US" sz="4800" b="1" i="1">
                            <a:latin typeface="Cambria Math" panose="02040503050406030204" pitchFamily="18" charset="0"/>
                          </a:rPr>
                          <m:t>𝟑</m:t>
                        </m:r>
                      </m:sub>
                      <m:sup>
                        <m:r>
                          <a:rPr lang="en-US" sz="4800" b="1" i="1">
                            <a:latin typeface="Cambria Math" panose="02040503050406030204" pitchFamily="18" charset="0"/>
                          </a:rPr>
                          <m:t>𝟏</m:t>
                        </m:r>
                      </m:sup>
                    </m:sSubSup>
                  </m:oMath>
                </a14:m>
                <a:r>
                  <a:rPr lang="en-US" sz="4800" b="1"/>
                  <a:t>.</a:t>
                </a:r>
              </a:p>
              <a:p>
                <a:r>
                  <a:rPr lang="en-US" sz="4800" b="1"/>
                  <a:t>    Ta có số cách rút một thẻ trong hộp </a:t>
                </a:r>
                <a:r>
                  <a:rPr lang="en-US" sz="4800" b="1" i="1"/>
                  <a:t>B</a:t>
                </a:r>
                <a:r>
                  <a:rPr lang="en-US" sz="4800" b="1"/>
                  <a:t> là </a:t>
                </a:r>
                <a14:m>
                  <m:oMath xmlns:m="http://schemas.openxmlformats.org/officeDocument/2006/math">
                    <m:sSubSup>
                      <m:sSubSupPr>
                        <m:ctrlPr>
                          <a:rPr lang="en-US" sz="4800" b="1" i="1">
                            <a:latin typeface="Cambria Math" panose="02040503050406030204" pitchFamily="18" charset="0"/>
                          </a:rPr>
                        </m:ctrlPr>
                      </m:sSubSupPr>
                      <m:e>
                        <m:r>
                          <a:rPr lang="en-US" sz="4800" b="1" i="1">
                            <a:latin typeface="Cambria Math" panose="02040503050406030204" pitchFamily="18" charset="0"/>
                          </a:rPr>
                          <m:t>𝑪</m:t>
                        </m:r>
                      </m:e>
                      <m:sub>
                        <m:r>
                          <a:rPr lang="en-US" sz="4800" b="1" i="1">
                            <a:latin typeface="Cambria Math" panose="02040503050406030204" pitchFamily="18" charset="0"/>
                          </a:rPr>
                          <m:t>𝟐</m:t>
                        </m:r>
                      </m:sub>
                      <m:sup>
                        <m:r>
                          <a:rPr lang="en-US" sz="4800" b="1" i="1">
                            <a:latin typeface="Cambria Math" panose="02040503050406030204" pitchFamily="18" charset="0"/>
                          </a:rPr>
                          <m:t>𝟏</m:t>
                        </m:r>
                      </m:sup>
                    </m:sSubSup>
                  </m:oMath>
                </a14:m>
                <a:r>
                  <a:rPr lang="en-US" sz="4800" b="1"/>
                  <a:t>.</a:t>
                </a:r>
              </a:p>
              <a:p>
                <a:r>
                  <a:rPr lang="en-US" sz="4800" b="1"/>
                  <a:t>    Ta có số cách rút một thẻ trong hộp </a:t>
                </a:r>
                <a:r>
                  <a:rPr lang="en-US" sz="4800" b="1" i="1"/>
                  <a:t>C</a:t>
                </a:r>
                <a:r>
                  <a:rPr lang="en-US" sz="4800" b="1"/>
                  <a:t> là </a:t>
                </a:r>
                <a14:m>
                  <m:oMath xmlns:m="http://schemas.openxmlformats.org/officeDocument/2006/math">
                    <m:sSubSup>
                      <m:sSubSupPr>
                        <m:ctrlPr>
                          <a:rPr lang="en-US" sz="4800" b="1" i="1">
                            <a:latin typeface="Cambria Math" panose="02040503050406030204" pitchFamily="18" charset="0"/>
                          </a:rPr>
                        </m:ctrlPr>
                      </m:sSubSupPr>
                      <m:e>
                        <m:r>
                          <a:rPr lang="en-US" sz="4800" b="1" i="1">
                            <a:latin typeface="Cambria Math" panose="02040503050406030204" pitchFamily="18" charset="0"/>
                          </a:rPr>
                          <m:t>𝑪</m:t>
                        </m:r>
                      </m:e>
                      <m:sub>
                        <m:r>
                          <a:rPr lang="en-US" sz="4800" b="1" i="1">
                            <a:latin typeface="Cambria Math" panose="02040503050406030204" pitchFamily="18" charset="0"/>
                          </a:rPr>
                          <m:t>𝟐</m:t>
                        </m:r>
                      </m:sub>
                      <m:sup>
                        <m:r>
                          <a:rPr lang="en-US" sz="4800" b="1" i="1">
                            <a:latin typeface="Cambria Math" panose="02040503050406030204" pitchFamily="18" charset="0"/>
                          </a:rPr>
                          <m:t>𝟏</m:t>
                        </m:r>
                      </m:sup>
                    </m:sSubSup>
                  </m:oMath>
                </a14:m>
                <a:r>
                  <a:rPr lang="en-US" sz="4800" b="1"/>
                  <a:t>.</a:t>
                </a:r>
              </a:p>
              <a:p>
                <a:r>
                  <a:rPr lang="en-US" sz="4800" b="1"/>
                  <a:t>Nên số phần tử của không gian mẫu là: </a:t>
                </a:r>
                <a14:m>
                  <m:oMath xmlns:m="http://schemas.openxmlformats.org/officeDocument/2006/math">
                    <m:r>
                      <a:rPr lang="en-US" sz="4800" b="1" i="1">
                        <a:latin typeface="Cambria Math" panose="02040503050406030204" pitchFamily="18" charset="0"/>
                      </a:rPr>
                      <m:t>𝒏</m:t>
                    </m:r>
                    <m:d>
                      <m:dPr>
                        <m:ctrlPr>
                          <a:rPr lang="en-US" sz="4800" b="1" i="1">
                            <a:latin typeface="Cambria Math" panose="02040503050406030204" pitchFamily="18" charset="0"/>
                          </a:rPr>
                        </m:ctrlPr>
                      </m:dPr>
                      <m:e>
                        <m:r>
                          <a:rPr lang="en-US" sz="4800" b="1" i="1">
                            <a:latin typeface="Cambria Math" panose="02040503050406030204" pitchFamily="18" charset="0"/>
                          </a:rPr>
                          <m:t>𝜴</m:t>
                        </m:r>
                      </m:e>
                    </m:d>
                    <m:r>
                      <a:rPr lang="en-US" sz="4800" b="1" i="1">
                        <a:latin typeface="Cambria Math" panose="02040503050406030204" pitchFamily="18" charset="0"/>
                      </a:rPr>
                      <m:t>=</m:t>
                    </m:r>
                    <m:sSubSup>
                      <m:sSubSupPr>
                        <m:ctrlPr>
                          <a:rPr lang="en-US" sz="4800" b="1" i="1">
                            <a:latin typeface="Cambria Math" panose="02040503050406030204" pitchFamily="18" charset="0"/>
                          </a:rPr>
                        </m:ctrlPr>
                      </m:sSubSupPr>
                      <m:e>
                        <m:r>
                          <a:rPr lang="en-US" sz="4800" b="1" i="1">
                            <a:latin typeface="Cambria Math" panose="02040503050406030204" pitchFamily="18" charset="0"/>
                          </a:rPr>
                          <m:t>𝑪</m:t>
                        </m:r>
                      </m:e>
                      <m:sub>
                        <m:r>
                          <a:rPr lang="en-US" sz="4800" b="1" i="1">
                            <a:latin typeface="Cambria Math" panose="02040503050406030204" pitchFamily="18" charset="0"/>
                          </a:rPr>
                          <m:t>𝟑</m:t>
                        </m:r>
                      </m:sub>
                      <m:sup>
                        <m:r>
                          <a:rPr lang="en-US" sz="4800" b="1" i="1">
                            <a:latin typeface="Cambria Math" panose="02040503050406030204" pitchFamily="18" charset="0"/>
                          </a:rPr>
                          <m:t>𝟏</m:t>
                        </m:r>
                      </m:sup>
                    </m:sSubSup>
                    <m:r>
                      <a:rPr lang="en-US" sz="4800" b="1" i="1">
                        <a:latin typeface="Cambria Math" panose="02040503050406030204" pitchFamily="18" charset="0"/>
                      </a:rPr>
                      <m:t>.</m:t>
                    </m:r>
                    <m:sSubSup>
                      <m:sSubSupPr>
                        <m:ctrlPr>
                          <a:rPr lang="en-US" sz="4800" b="1" i="1">
                            <a:latin typeface="Cambria Math" panose="02040503050406030204" pitchFamily="18" charset="0"/>
                          </a:rPr>
                        </m:ctrlPr>
                      </m:sSubSupPr>
                      <m:e>
                        <m:r>
                          <a:rPr lang="en-US" sz="4800" b="1" i="1">
                            <a:latin typeface="Cambria Math" panose="02040503050406030204" pitchFamily="18" charset="0"/>
                          </a:rPr>
                          <m:t>𝑪</m:t>
                        </m:r>
                      </m:e>
                      <m:sub>
                        <m:r>
                          <a:rPr lang="en-US" sz="4800" b="1" i="1">
                            <a:latin typeface="Cambria Math" panose="02040503050406030204" pitchFamily="18" charset="0"/>
                          </a:rPr>
                          <m:t>𝟐</m:t>
                        </m:r>
                      </m:sub>
                      <m:sup>
                        <m:r>
                          <a:rPr lang="en-US" sz="4800" b="1" i="1">
                            <a:latin typeface="Cambria Math" panose="02040503050406030204" pitchFamily="18" charset="0"/>
                          </a:rPr>
                          <m:t>𝟏</m:t>
                        </m:r>
                      </m:sup>
                    </m:sSubSup>
                    <m:r>
                      <a:rPr lang="en-US" sz="4800" b="1" i="1">
                        <a:latin typeface="Cambria Math" panose="02040503050406030204" pitchFamily="18" charset="0"/>
                      </a:rPr>
                      <m:t>.</m:t>
                    </m:r>
                    <m:sSubSup>
                      <m:sSubSupPr>
                        <m:ctrlPr>
                          <a:rPr lang="en-US" sz="4800" b="1" i="1">
                            <a:latin typeface="Cambria Math" panose="02040503050406030204" pitchFamily="18" charset="0"/>
                          </a:rPr>
                        </m:ctrlPr>
                      </m:sSubSupPr>
                      <m:e>
                        <m:r>
                          <a:rPr lang="en-US" sz="4800" b="1" i="1">
                            <a:latin typeface="Cambria Math" panose="02040503050406030204" pitchFamily="18" charset="0"/>
                          </a:rPr>
                          <m:t>𝑪</m:t>
                        </m:r>
                      </m:e>
                      <m:sub>
                        <m:r>
                          <a:rPr lang="en-US" sz="4800" b="1" i="1">
                            <a:latin typeface="Cambria Math" panose="02040503050406030204" pitchFamily="18" charset="0"/>
                          </a:rPr>
                          <m:t>𝟐</m:t>
                        </m:r>
                      </m:sub>
                      <m:sup>
                        <m:r>
                          <a:rPr lang="en-US" sz="4800" b="1" i="1">
                            <a:latin typeface="Cambria Math" panose="02040503050406030204" pitchFamily="18" charset="0"/>
                          </a:rPr>
                          <m:t>𝟏</m:t>
                        </m:r>
                      </m:sup>
                    </m:sSubSup>
                    <m:r>
                      <a:rPr lang="en-US" sz="4800" b="1" i="1">
                        <a:latin typeface="Cambria Math" panose="02040503050406030204" pitchFamily="18" charset="0"/>
                      </a:rPr>
                      <m:t>=</m:t>
                    </m:r>
                    <m:r>
                      <a:rPr lang="en-US" sz="4800" b="1" i="1">
                        <a:latin typeface="Cambria Math" panose="02040503050406030204" pitchFamily="18" charset="0"/>
                      </a:rPr>
                      <m:t>𝟏𝟐</m:t>
                    </m:r>
                  </m:oMath>
                </a14:m>
                <a:r>
                  <a:rPr lang="en-US" sz="4800" b="1"/>
                  <a:t> .</a:t>
                </a:r>
              </a:p>
              <a:p>
                <a:r>
                  <a:rPr lang="en-US" sz="4800" b="1"/>
                  <a:t>Ta có </a:t>
                </a:r>
                <a14:m>
                  <m:oMath xmlns:m="http://schemas.openxmlformats.org/officeDocument/2006/math">
                    <m:r>
                      <a:rPr lang="en-US" sz="4800" b="1" i="1">
                        <a:latin typeface="Cambria Math" panose="02040503050406030204" pitchFamily="18" charset="0"/>
                      </a:rPr>
                      <m:t>𝒏</m:t>
                    </m:r>
                    <m:d>
                      <m:dPr>
                        <m:ctrlPr>
                          <a:rPr lang="en-US" sz="4800" b="1" i="1">
                            <a:latin typeface="Cambria Math" panose="02040503050406030204" pitchFamily="18" charset="0"/>
                          </a:rPr>
                        </m:ctrlPr>
                      </m:dPr>
                      <m:e>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𝑴</m:t>
                            </m:r>
                          </m:e>
                        </m:bar>
                      </m:e>
                    </m:d>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𝒏</m:t>
                    </m:r>
                    <m:d>
                      <m:dPr>
                        <m:ctrlPr>
                          <a:rPr lang="en-US" sz="4800" b="1" i="1">
                            <a:latin typeface="Cambria Math" panose="02040503050406030204" pitchFamily="18" charset="0"/>
                          </a:rPr>
                        </m:ctrlPr>
                      </m:dPr>
                      <m:e>
                        <m:r>
                          <a:rPr lang="en-US" sz="4800" b="1" i="1">
                            <a:latin typeface="Cambria Math" panose="02040503050406030204" pitchFamily="18" charset="0"/>
                          </a:rPr>
                          <m:t>𝑴</m:t>
                        </m:r>
                      </m:e>
                    </m:d>
                    <m:r>
                      <a:rPr lang="en-US" sz="4800" b="1" i="1">
                        <a:latin typeface="Cambria Math" panose="02040503050406030204" pitchFamily="18" charset="0"/>
                      </a:rPr>
                      <m:t>=</m:t>
                    </m:r>
                    <m:r>
                      <a:rPr lang="en-US" sz="4800" b="1" i="1">
                        <a:latin typeface="Cambria Math" panose="02040503050406030204" pitchFamily="18" charset="0"/>
                      </a:rPr>
                      <m:t>𝒏</m:t>
                    </m:r>
                    <m:d>
                      <m:dPr>
                        <m:ctrlPr>
                          <a:rPr lang="en-US" sz="4800" b="1" i="1">
                            <a:latin typeface="Cambria Math" panose="02040503050406030204" pitchFamily="18" charset="0"/>
                          </a:rPr>
                        </m:ctrlPr>
                      </m:dPr>
                      <m:e>
                        <m:r>
                          <a:rPr lang="en-US" sz="4800" b="1" i="1">
                            <a:latin typeface="Cambria Math" panose="02040503050406030204" pitchFamily="18" charset="0"/>
                          </a:rPr>
                          <m:t>𝜴</m:t>
                        </m:r>
                      </m:e>
                    </m:d>
                    <m:r>
                      <a:rPr lang="en-US" sz="4800" b="1" i="1">
                        <a:latin typeface="Cambria Math" panose="02040503050406030204" pitchFamily="18" charset="0"/>
                      </a:rPr>
                      <m:t>−</m:t>
                    </m:r>
                    <m:r>
                      <a:rPr lang="en-US" sz="4800" b="1" i="1">
                        <a:latin typeface="Cambria Math" panose="02040503050406030204" pitchFamily="18" charset="0"/>
                      </a:rPr>
                      <m:t>𝒏</m:t>
                    </m:r>
                    <m:d>
                      <m:dPr>
                        <m:ctrlPr>
                          <a:rPr lang="en-US" sz="4800" b="1" i="1">
                            <a:latin typeface="Cambria Math" panose="02040503050406030204" pitchFamily="18" charset="0"/>
                          </a:rPr>
                        </m:ctrlPr>
                      </m:dPr>
                      <m:e>
                        <m:bar>
                          <m:barPr>
                            <m:pos m:val="top"/>
                            <m:ctrlPr>
                              <a:rPr lang="en-US" sz="4800" b="1" i="1">
                                <a:latin typeface="Cambria Math" panose="02040503050406030204" pitchFamily="18" charset="0"/>
                              </a:rPr>
                            </m:ctrlPr>
                          </m:barPr>
                          <m:e>
                            <m:r>
                              <a:rPr lang="en-US" sz="4800" b="1" i="1">
                                <a:latin typeface="Cambria Math" panose="02040503050406030204" pitchFamily="18" charset="0"/>
                              </a:rPr>
                              <m:t>𝑴</m:t>
                            </m:r>
                          </m:e>
                        </m:bar>
                      </m:e>
                    </m:d>
                    <m:r>
                      <a:rPr lang="en-US" sz="4800" b="1" i="1">
                        <a:latin typeface="Cambria Math" panose="02040503050406030204" pitchFamily="18" charset="0"/>
                      </a:rPr>
                      <m:t>=</m:t>
                    </m:r>
                    <m:r>
                      <a:rPr lang="en-US" sz="4800" b="1" i="1">
                        <a:latin typeface="Cambria Math" panose="02040503050406030204" pitchFamily="18" charset="0"/>
                      </a:rPr>
                      <m:t>𝟏𝟐</m:t>
                    </m:r>
                    <m:r>
                      <a:rPr lang="en-US" sz="4800" b="1" i="1">
                        <a:latin typeface="Cambria Math" panose="02040503050406030204" pitchFamily="18" charset="0"/>
                      </a:rPr>
                      <m:t>−</m:t>
                    </m:r>
                    <m:r>
                      <a:rPr lang="en-US" sz="4800" b="1" i="1">
                        <a:latin typeface="Cambria Math" panose="02040503050406030204" pitchFamily="18" charset="0"/>
                      </a:rPr>
                      <m:t>𝟒</m:t>
                    </m:r>
                    <m:r>
                      <a:rPr lang="en-US" sz="4800" b="1" i="1">
                        <a:latin typeface="Cambria Math" panose="02040503050406030204" pitchFamily="18" charset="0"/>
                      </a:rPr>
                      <m:t>=</m:t>
                    </m:r>
                    <m:r>
                      <a:rPr lang="en-US" sz="4800" b="1" i="1">
                        <a:latin typeface="Cambria Math" panose="02040503050406030204" pitchFamily="18" charset="0"/>
                      </a:rPr>
                      <m:t>𝟖</m:t>
                    </m:r>
                  </m:oMath>
                </a14:m>
                <a:r>
                  <a:rPr lang="en-US" sz="4800" b="1"/>
                  <a:t>.</a:t>
                </a:r>
              </a:p>
              <a:p>
                <a14:m>
                  <m:oMath xmlns:m="http://schemas.openxmlformats.org/officeDocument/2006/math">
                    <m:r>
                      <a:rPr lang="en-US" sz="4800" b="1" i="1">
                        <a:latin typeface="Cambria Math" panose="02040503050406030204" pitchFamily="18" charset="0"/>
                      </a:rPr>
                      <m:t>⇒</m:t>
                    </m:r>
                    <m:r>
                      <a:rPr lang="en-US" sz="4800" b="1" i="1">
                        <a:latin typeface="Cambria Math" panose="02040503050406030204" pitchFamily="18" charset="0"/>
                      </a:rPr>
                      <m:t>𝑷</m:t>
                    </m:r>
                    <m:d>
                      <m:dPr>
                        <m:ctrlPr>
                          <a:rPr lang="en-US" sz="4800" b="1" i="1">
                            <a:latin typeface="Cambria Math" panose="02040503050406030204" pitchFamily="18" charset="0"/>
                          </a:rPr>
                        </m:ctrlPr>
                      </m:dPr>
                      <m:e>
                        <m:r>
                          <a:rPr lang="en-US" sz="4800" b="1" i="1">
                            <a:latin typeface="Cambria Math" panose="02040503050406030204" pitchFamily="18" charset="0"/>
                          </a:rPr>
                          <m:t>𝑴</m:t>
                        </m:r>
                      </m:e>
                    </m:d>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𝒏</m:t>
                        </m:r>
                        <m:d>
                          <m:dPr>
                            <m:ctrlPr>
                              <a:rPr lang="en-US" sz="4800" b="1" i="1">
                                <a:latin typeface="Cambria Math" panose="02040503050406030204" pitchFamily="18" charset="0"/>
                              </a:rPr>
                            </m:ctrlPr>
                          </m:dPr>
                          <m:e>
                            <m:r>
                              <a:rPr lang="en-US" sz="4800" b="1" i="1">
                                <a:latin typeface="Cambria Math" panose="02040503050406030204" pitchFamily="18" charset="0"/>
                              </a:rPr>
                              <m:t>𝑴</m:t>
                            </m:r>
                          </m:e>
                        </m:d>
                      </m:num>
                      <m:den>
                        <m:r>
                          <a:rPr lang="en-US" sz="4800" b="1" i="1">
                            <a:latin typeface="Cambria Math" panose="02040503050406030204" pitchFamily="18" charset="0"/>
                          </a:rPr>
                          <m:t>𝒏</m:t>
                        </m:r>
                        <m:d>
                          <m:dPr>
                            <m:ctrlPr>
                              <a:rPr lang="en-US" sz="4800" b="1" i="1">
                                <a:latin typeface="Cambria Math" panose="02040503050406030204" pitchFamily="18" charset="0"/>
                              </a:rPr>
                            </m:ctrlPr>
                          </m:dPr>
                          <m:e>
                            <m:r>
                              <a:rPr lang="en-US" sz="4800" b="1" i="1">
                                <a:latin typeface="Cambria Math" panose="02040503050406030204" pitchFamily="18" charset="0"/>
                              </a:rPr>
                              <m:t>𝜴</m:t>
                            </m:r>
                          </m:e>
                        </m:d>
                      </m:den>
                    </m:f>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𝟖</m:t>
                        </m:r>
                      </m:num>
                      <m:den>
                        <m:r>
                          <a:rPr lang="en-US" sz="4800" b="1" i="1">
                            <a:latin typeface="Cambria Math" panose="02040503050406030204" pitchFamily="18" charset="0"/>
                          </a:rPr>
                          <m:t>𝟏𝟐</m:t>
                        </m:r>
                      </m:den>
                    </m:f>
                    <m:r>
                      <a:rPr lang="en-US" sz="4800" b="1" i="1">
                        <a:latin typeface="Cambria Math" panose="02040503050406030204" pitchFamily="18" charset="0"/>
                      </a:rPr>
                      <m:t>=</m:t>
                    </m:r>
                    <m:f>
                      <m:fPr>
                        <m:ctrlPr>
                          <a:rPr lang="en-US" sz="4800" b="1" i="1">
                            <a:latin typeface="Cambria Math" panose="02040503050406030204" pitchFamily="18" charset="0"/>
                          </a:rPr>
                        </m:ctrlPr>
                      </m:fPr>
                      <m:num>
                        <m:r>
                          <a:rPr lang="en-US" sz="4800" b="1" i="1">
                            <a:latin typeface="Cambria Math" panose="02040503050406030204" pitchFamily="18" charset="0"/>
                          </a:rPr>
                          <m:t>𝟐</m:t>
                        </m:r>
                      </m:num>
                      <m:den>
                        <m:r>
                          <a:rPr lang="en-US" sz="4800" b="1" i="1">
                            <a:latin typeface="Cambria Math" panose="02040503050406030204" pitchFamily="18" charset="0"/>
                          </a:rPr>
                          <m:t>𝟑</m:t>
                        </m:r>
                      </m:den>
                    </m:f>
                  </m:oMath>
                </a14:m>
                <a:r>
                  <a:rPr lang="en-US" sz="4800" b="1"/>
                  <a:t>.</a:t>
                </a: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2057400" y="7639400"/>
                <a:ext cx="21956772" cy="5301323"/>
              </a:xfrm>
              <a:prstGeom prst="rect">
                <a:avLst/>
              </a:prstGeom>
              <a:blipFill>
                <a:blip r:embed="rId4"/>
                <a:stretch>
                  <a:fillRect l="-1277" t="-1609" b="-920"/>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662617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xEl>
                                              <p:pRg st="5" end="5"/>
                                            </p:txEl>
                                          </p:spTgt>
                                        </p:tgtEl>
                                        <p:attrNameLst>
                                          <p:attrName>style.visibility</p:attrName>
                                        </p:attrNameLst>
                                      </p:cBhvr>
                                      <p:to>
                                        <p:strVal val="visible"/>
                                      </p:to>
                                    </p:set>
                                    <p:animEffect transition="in" filter="fade">
                                      <p:cBhvr>
                                        <p:cTn id="32" dur="500"/>
                                        <p:tgtEl>
                                          <p:spTgt spid="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20133" y="1666164"/>
            <a:ext cx="23818702" cy="195563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vi-VN" b="1"/>
              <a:t>          </a:t>
            </a:r>
            <a:r>
              <a:rPr lang="en-US" sz="4800" b="1">
                <a:latin typeface="Times New Roman" panose="02020603050405020304" pitchFamily="18" charset="0"/>
                <a:cs typeface="Times New Roman" panose="02020603050405020304" pitchFamily="18" charset="0"/>
              </a:rPr>
              <a:t>Giải bài toán trong </a:t>
            </a:r>
            <a:r>
              <a:rPr lang="en-US" sz="4800" b="1" i="1">
                <a:latin typeface="Times New Roman" panose="02020603050405020304" pitchFamily="18" charset="0"/>
                <a:cs typeface="Times New Roman" panose="02020603050405020304" pitchFamily="18" charset="0"/>
              </a:rPr>
              <a:t>tình huống mở đầu.</a:t>
            </a:r>
            <a:endParaRPr lang="en-US" sz="4800" b="1">
              <a:latin typeface="Times New Roman" panose="02020603050405020304" pitchFamily="18" charset="0"/>
              <a:cs typeface="Times New Roman" panose="02020603050405020304" pitchFamily="18" charset="0"/>
            </a:endParaRPr>
          </a:p>
          <a:p>
            <a:endParaRPr lang="en-US" sz="4800" b="1" dirty="0">
              <a:latin typeface="Times New Roman" panose="02020603050405020304" pitchFamily="18" charset="0"/>
              <a:cs typeface="Times New Roman" panose="02020603050405020304" pitchFamily="18"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20133" y="2664970"/>
            <a:ext cx="23818702" cy="1011712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i="1" u="sng">
                <a:solidFill>
                  <a:srgbClr val="FF0000"/>
                </a:solidFill>
              </a:rPr>
              <a:t>Hướng dẫn.</a:t>
            </a:r>
            <a:r>
              <a:rPr lang="en-US" u="sng">
                <a:solidFill>
                  <a:srgbClr val="FF0000"/>
                </a:solidFill>
              </a:rPr>
              <a:t> </a:t>
            </a:r>
            <a:endParaRPr lang="en-US" b="1" u="sng" dirty="0">
              <a:solidFill>
                <a:srgbClr val="FF0000"/>
              </a:solidFill>
            </a:endParaRPr>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666164"/>
            <a:ext cx="58674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en-US" sz="4000" b="1">
                  <a:solidFill>
                    <a:srgbClr val="FF0000"/>
                  </a:solidFill>
                  <a:latin typeface="Tahoma" panose="020B0604030504040204" pitchFamily="34" charset="0"/>
                  <a:ea typeface="Tahoma" panose="020B0604030504040204" pitchFamily="34" charset="0"/>
                  <a:cs typeface="Tahoma" panose="020B0604030504040204" pitchFamily="34" charset="0"/>
                </a:rPr>
                <a:t>Vận dụng</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533399" y="3429000"/>
                <a:ext cx="23393401" cy="9434955"/>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50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Vì </a:t>
                </a:r>
                <a14:m>
                  <m:oMath xmlns:m="http://schemas.openxmlformats.org/officeDocument/2006/math">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𝜴</m:t>
                    </m:r>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là tập tất cả các tập con có 6 phần tử của tập {1; 2;...; 44; 45} nên</a:t>
                </a:r>
                <a:r>
                  <a:rPr lang="en-US" sz="4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𝜴</m:t>
                        </m:r>
                      </m:e>
                    </m:d>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𝑪</m:t>
                        </m:r>
                      </m:e>
                      <m:sub>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𝟒𝟓</m:t>
                        </m:r>
                      </m:sub>
                      <m:sup>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𝟔</m:t>
                        </m:r>
                      </m:sup>
                    </m:sSubSup>
                  </m:oMath>
                </a14:m>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Gọi </a:t>
                </a: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là biến cố: “Bạn An trúng giải độc đắc”. </a:t>
                </a: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là tập hợp có duy nhất một phần tử là tập {5; 13; 20; 31; 32; 35}. Vậy </a:t>
                </a:r>
                <a14:m>
                  <m:oMath xmlns:m="http://schemas.openxmlformats.org/officeDocument/2006/math">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𝑭</m:t>
                        </m:r>
                      </m:e>
                    </m:d>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Từ đó tính được </a:t>
                </a: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P(F).</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Gọi </a:t>
                </a: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là biến cố: “Bạn An trúng giải nhất". </a:t>
                </a: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là tập hợp tấp cả các tập con gồm sáu phần tử của tập {1; 2; 3;...; 45} cỏ tính chất:</a:t>
                </a:r>
              </a:p>
              <a:p>
                <a:pPr>
                  <a:lnSpc>
                    <a:spcPct val="150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Năm phần tử </a:t>
                </a:r>
                <a:r>
                  <a:rPr lang="en-US" sz="4800" b="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của G thuộc tập {5; 13; </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 </a:t>
                </a:r>
                <a:r>
                  <a:rPr lang="en-US" sz="4800" b="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31; 32; 35}. </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Một phần tử còn </a:t>
                </a:r>
                <a:r>
                  <a:rPr lang="en-US" sz="4800" b="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lại của </a:t>
                </a:r>
                <a:r>
                  <a:rPr lang="en-US" sz="4800" b="1" i="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G</a:t>
                </a:r>
                <a:r>
                  <a:rPr lang="en-US" sz="4800" b="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 không thuộc tập {5; 13; 20; 31; 32; 35}.</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533399" y="3429000"/>
                <a:ext cx="23393401" cy="9434955"/>
              </a:xfrm>
              <a:prstGeom prst="rect">
                <a:avLst/>
              </a:prstGeom>
              <a:blipFill>
                <a:blip r:embed="rId3"/>
                <a:stretch>
                  <a:fillRect l="-1172"/>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089722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7">
                                            <p:txEl>
                                              <p:pRg st="0" end="0"/>
                                            </p:txEl>
                                          </p:spTgt>
                                        </p:tgtEl>
                                        <p:attrNameLst>
                                          <p:attrName>style.visibility</p:attrName>
                                        </p:attrNameLst>
                                      </p:cBhvr>
                                      <p:to>
                                        <p:strVal val="visible"/>
                                      </p:to>
                                    </p:set>
                                    <p:animEffect transition="in" filter="wipe(left)">
                                      <p:cBhvr>
                                        <p:cTn id="12" dur="500"/>
                                        <p:tgtEl>
                                          <p:spTgt spid="9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9">
                                            <p:txEl>
                                              <p:pRg st="0" end="0"/>
                                            </p:txEl>
                                          </p:spTgt>
                                        </p:tgtEl>
                                        <p:attrNameLst>
                                          <p:attrName>style.visibility</p:attrName>
                                        </p:attrNameLst>
                                      </p:cBhvr>
                                      <p:to>
                                        <p:strVal val="visible"/>
                                      </p:to>
                                    </p:set>
                                    <p:animEffect transition="in" filter="wipe(up)">
                                      <p:cBhvr>
                                        <p:cTn id="17" dur="500"/>
                                        <p:tgtEl>
                                          <p:spTgt spid="9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0" end="0"/>
                                            </p:txEl>
                                          </p:spTgt>
                                        </p:tgtEl>
                                        <p:attrNameLst>
                                          <p:attrName>style.visibility</p:attrName>
                                        </p:attrNameLst>
                                      </p:cBhvr>
                                      <p:to>
                                        <p:strVal val="visible"/>
                                      </p:to>
                                    </p:set>
                                    <p:animEffect transition="in" filter="fade">
                                      <p:cBhvr>
                                        <p:cTn id="22" dur="500"/>
                                        <p:tgtEl>
                                          <p:spTgt spid="2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1" end="1"/>
                                            </p:txEl>
                                          </p:spTgt>
                                        </p:tgtEl>
                                        <p:attrNameLst>
                                          <p:attrName>style.visibility</p:attrName>
                                        </p:attrNameLst>
                                      </p:cBhvr>
                                      <p:to>
                                        <p:strVal val="visible"/>
                                      </p:to>
                                    </p:set>
                                    <p:animEffect transition="in" filter="fade">
                                      <p:cBhvr>
                                        <p:cTn id="27" dur="500"/>
                                        <p:tgtEl>
                                          <p:spTgt spid="2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xEl>
                                              <p:pRg st="2" end="2"/>
                                            </p:txEl>
                                          </p:spTgt>
                                        </p:tgtEl>
                                        <p:attrNameLst>
                                          <p:attrName>style.visibility</p:attrName>
                                        </p:attrNameLst>
                                      </p:cBhvr>
                                      <p:to>
                                        <p:strVal val="visible"/>
                                      </p:to>
                                    </p:set>
                                    <p:animEffect transition="in" filter="fade">
                                      <p:cBhvr>
                                        <p:cTn id="32" dur="500"/>
                                        <p:tgtEl>
                                          <p:spTgt spid="27">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xEl>
                                              <p:pRg st="3" end="3"/>
                                            </p:txEl>
                                          </p:spTgt>
                                        </p:tgtEl>
                                        <p:attrNameLst>
                                          <p:attrName>style.visibility</p:attrName>
                                        </p:attrNameLst>
                                      </p:cBhvr>
                                      <p:to>
                                        <p:strVal val="visible"/>
                                      </p:to>
                                    </p:set>
                                    <p:animEffect transition="in" filter="fade">
                                      <p:cBhvr>
                                        <p:cTn id="37" dur="500"/>
                                        <p:tgtEl>
                                          <p:spTgt spid="27">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
                                            <p:txEl>
                                              <p:pRg st="4" end="4"/>
                                            </p:txEl>
                                          </p:spTgt>
                                        </p:tgtEl>
                                        <p:attrNameLst>
                                          <p:attrName>style.visibility</p:attrName>
                                        </p:attrNameLst>
                                      </p:cBhvr>
                                      <p:to>
                                        <p:strVal val="visible"/>
                                      </p:to>
                                    </p:set>
                                    <p:animEffect transition="in" filter="fade">
                                      <p:cBhvr>
                                        <p:cTn id="42"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20133" y="1666164"/>
            <a:ext cx="23818702" cy="195563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vi-VN" b="1"/>
              <a:t>          </a:t>
            </a:r>
            <a:r>
              <a:rPr lang="en-US" sz="4800" b="1">
                <a:latin typeface="Times New Roman" panose="02020603050405020304" pitchFamily="18" charset="0"/>
                <a:cs typeface="Times New Roman" panose="02020603050405020304" pitchFamily="18" charset="0"/>
              </a:rPr>
              <a:t>Giải bài toán trong </a:t>
            </a:r>
            <a:r>
              <a:rPr lang="en-US" sz="4800" b="1" i="1">
                <a:latin typeface="Times New Roman" panose="02020603050405020304" pitchFamily="18" charset="0"/>
                <a:cs typeface="Times New Roman" panose="02020603050405020304" pitchFamily="18" charset="0"/>
              </a:rPr>
              <a:t>tình huống mở đầu.</a:t>
            </a:r>
            <a:endParaRPr lang="en-US" sz="4800" b="1">
              <a:latin typeface="Times New Roman" panose="02020603050405020304" pitchFamily="18" charset="0"/>
              <a:cs typeface="Times New Roman" panose="02020603050405020304" pitchFamily="18" charset="0"/>
            </a:endParaRPr>
          </a:p>
          <a:p>
            <a:endParaRPr lang="en-US" sz="4800" b="1" dirty="0">
              <a:latin typeface="Times New Roman" panose="02020603050405020304" pitchFamily="18" charset="0"/>
              <a:cs typeface="Times New Roman" panose="02020603050405020304" pitchFamily="18"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20133" y="2664970"/>
            <a:ext cx="23818702" cy="1011712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i="1" u="sng">
                <a:solidFill>
                  <a:srgbClr val="FF0000"/>
                </a:solidFill>
              </a:rPr>
              <a:t>Hướng dẫn.</a:t>
            </a:r>
            <a:r>
              <a:rPr lang="en-US" u="sng">
                <a:solidFill>
                  <a:srgbClr val="FF0000"/>
                </a:solidFill>
              </a:rPr>
              <a:t> </a:t>
            </a:r>
            <a:endParaRPr lang="en-US" b="1" u="sng" dirty="0">
              <a:solidFill>
                <a:srgbClr val="FF0000"/>
              </a:solidFill>
            </a:endParaRPr>
          </a:p>
        </p:txBody>
      </p:sp>
      <p:grpSp>
        <p:nvGrpSpPr>
          <p:cNvPr id="9" name="Group 8">
            <a:extLst>
              <a:ext uri="{FF2B5EF4-FFF2-40B4-BE49-F238E27FC236}">
                <a16:creationId xmlns:a16="http://schemas.microsoft.com/office/drawing/2014/main" id="{52C43FBF-0C0B-497A-A939-73FBF81796B3}"/>
              </a:ext>
            </a:extLst>
          </p:cNvPr>
          <p:cNvGrpSpPr/>
          <p:nvPr/>
        </p:nvGrpSpPr>
        <p:grpSpPr>
          <a:xfrm>
            <a:off x="990600" y="1666164"/>
            <a:ext cx="5867400" cy="895499"/>
            <a:chOff x="0" y="55017"/>
            <a:chExt cx="1513311" cy="310565"/>
          </a:xfrm>
        </p:grpSpPr>
        <p:sp>
          <p:nvSpPr>
            <p:cNvPr id="10" name="TextBox 321">
              <a:extLst>
                <a:ext uri="{FF2B5EF4-FFF2-40B4-BE49-F238E27FC236}">
                  <a16:creationId xmlns:a16="http://schemas.microsoft.com/office/drawing/2014/main" id="{37E91BB3-C148-3A48-5E55-BC0BDA2DB18E}"/>
                </a:ext>
              </a:extLst>
            </p:cNvPr>
            <p:cNvSpPr txBox="1"/>
            <p:nvPr/>
          </p:nvSpPr>
          <p:spPr>
            <a:xfrm>
              <a:off x="634399" y="55017"/>
              <a:ext cx="878912" cy="310565"/>
            </a:xfrm>
            <a:prstGeom prst="rect">
              <a:avLst/>
            </a:prstGeom>
            <a:noFill/>
          </p:spPr>
          <p:txBody>
            <a:bodyPr wrap="square" rtlCol="0">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lang="en-US" sz="4000" b="1">
                  <a:solidFill>
                    <a:srgbClr val="FF0000"/>
                  </a:solidFill>
                  <a:latin typeface="Tahoma" panose="020B0604030504040204" pitchFamily="34" charset="0"/>
                  <a:ea typeface="Tahoma" panose="020B0604030504040204" pitchFamily="34" charset="0"/>
                  <a:cs typeface="Tahoma" panose="020B0604030504040204" pitchFamily="34" charset="0"/>
                </a:rPr>
                <a:t>Vận dụng</a:t>
              </a:r>
              <a:r>
                <a:rPr kumimoji="0" lang="en-US" sz="40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4400" b="1" i="0" u="none" strike="noStrike" kern="120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4800" b="0" i="0" u="none" strike="noStrike" kern="120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0" cap="none" spc="0" normalizeH="0" baseline="0" noProof="0" dirty="0">
                <a:ln>
                  <a:noFill/>
                </a:ln>
                <a:solidFill>
                  <a:sysClr val="windowText" lastClr="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1" name="Group 10">
              <a:extLst>
                <a:ext uri="{FF2B5EF4-FFF2-40B4-BE49-F238E27FC236}">
                  <a16:creationId xmlns:a16="http://schemas.microsoft.com/office/drawing/2014/main" id="{2953B2D4-0DBE-99BA-35CF-2D72CB5E6E1D}"/>
                </a:ext>
              </a:extLst>
            </p:cNvPr>
            <p:cNvGrpSpPr/>
            <p:nvPr/>
          </p:nvGrpSpPr>
          <p:grpSpPr>
            <a:xfrm>
              <a:off x="0" y="92326"/>
              <a:ext cx="627012" cy="197663"/>
              <a:chOff x="0" y="92326"/>
              <a:chExt cx="575416" cy="197663"/>
            </a:xfrm>
          </p:grpSpPr>
          <p:grpSp>
            <p:nvGrpSpPr>
              <p:cNvPr id="12" name="Group 11">
                <a:extLst>
                  <a:ext uri="{FF2B5EF4-FFF2-40B4-BE49-F238E27FC236}">
                    <a16:creationId xmlns:a16="http://schemas.microsoft.com/office/drawing/2014/main" id="{6A72863D-9CD8-05C8-437C-E8581E322049}"/>
                  </a:ext>
                </a:extLst>
              </p:cNvPr>
              <p:cNvGrpSpPr/>
              <p:nvPr/>
            </p:nvGrpSpPr>
            <p:grpSpPr>
              <a:xfrm>
                <a:off x="0" y="92326"/>
                <a:ext cx="575416" cy="197663"/>
                <a:chOff x="0" y="92326"/>
                <a:chExt cx="644449" cy="302837"/>
              </a:xfrm>
            </p:grpSpPr>
            <p:sp>
              <p:nvSpPr>
                <p:cNvPr id="15" name="Arrow: Pentagon 14">
                  <a:extLst>
                    <a:ext uri="{FF2B5EF4-FFF2-40B4-BE49-F238E27FC236}">
                      <a16:creationId xmlns:a16="http://schemas.microsoft.com/office/drawing/2014/main" id="{E206FD19-824D-F1C6-F600-84C453A1BDEB}"/>
                    </a:ext>
                  </a:extLst>
                </p:cNvPr>
                <p:cNvSpPr/>
                <p:nvPr/>
              </p:nvSpPr>
              <p:spPr>
                <a:xfrm>
                  <a:off x="0" y="103807"/>
                  <a:ext cx="420648" cy="291356"/>
                </a:xfrm>
                <a:prstGeom prst="homePlate">
                  <a:avLst/>
                </a:prstGeom>
                <a:solidFill>
                  <a:srgbClr val="5B9BD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Arrow: Chevron 15">
                  <a:extLst>
                    <a:ext uri="{FF2B5EF4-FFF2-40B4-BE49-F238E27FC236}">
                      <a16:creationId xmlns:a16="http://schemas.microsoft.com/office/drawing/2014/main" id="{F94FC2C3-6B3E-1901-F93C-3EE062F0CD9F}"/>
                    </a:ext>
                  </a:extLst>
                </p:cNvPr>
                <p:cNvSpPr/>
                <p:nvPr/>
              </p:nvSpPr>
              <p:spPr>
                <a:xfrm>
                  <a:off x="380243" y="92326"/>
                  <a:ext cx="169459" cy="291671"/>
                </a:xfrm>
                <a:prstGeom prst="chevron">
                  <a:avLst>
                    <a:gd name="adj" fmla="val 83506"/>
                  </a:avLst>
                </a:prstGeom>
                <a:solidFill>
                  <a:srgbClr val="FFC000">
                    <a:lumMod val="40000"/>
                    <a:lumOff val="60000"/>
                  </a:srgbClr>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Arrow: Chevron 16">
                  <a:extLst>
                    <a:ext uri="{FF2B5EF4-FFF2-40B4-BE49-F238E27FC236}">
                      <a16:creationId xmlns:a16="http://schemas.microsoft.com/office/drawing/2014/main" id="{B4D7D77F-3209-1591-E01B-B6A21909F9C3}"/>
                    </a:ext>
                  </a:extLst>
                </p:cNvPr>
                <p:cNvSpPr/>
                <p:nvPr/>
              </p:nvSpPr>
              <p:spPr>
                <a:xfrm>
                  <a:off x="474990" y="92326"/>
                  <a:ext cx="169459" cy="291671"/>
                </a:xfrm>
                <a:prstGeom prst="chevron">
                  <a:avLst>
                    <a:gd name="adj" fmla="val 83506"/>
                  </a:avLst>
                </a:prstGeom>
                <a:solidFill>
                  <a:srgbClr val="0000CC"/>
                </a:solidFill>
                <a:ln w="12700" cap="flat" cmpd="sng" algn="ctr">
                  <a:solidFill>
                    <a:srgbClr val="FFFF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13" name="Flowchart: Terminator 12">
                <a:extLst>
                  <a:ext uri="{FF2B5EF4-FFF2-40B4-BE49-F238E27FC236}">
                    <a16:creationId xmlns:a16="http://schemas.microsoft.com/office/drawing/2014/main" id="{AAB8509B-BB89-F9BB-8AE9-CA9157DD4E7C}"/>
                  </a:ext>
                </a:extLst>
              </p:cNvPr>
              <p:cNvSpPr/>
              <p:nvPr/>
            </p:nvSpPr>
            <p:spPr>
              <a:xfrm>
                <a:off x="80311" y="137613"/>
                <a:ext cx="253736" cy="115827"/>
              </a:xfrm>
              <a:prstGeom prst="flowChartTerminator">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06BD5EA-7853-63AE-7DBA-8DCBCB571632}"/>
                  </a:ext>
                </a:extLst>
              </p:cNvPr>
              <p:cNvSpPr/>
              <p:nvPr/>
            </p:nvSpPr>
            <p:spPr>
              <a:xfrm>
                <a:off x="211660" y="142761"/>
                <a:ext cx="92369" cy="95432"/>
              </a:xfrm>
              <a:prstGeom prst="ellipse">
                <a:avLst/>
              </a:prstGeom>
              <a:solidFill>
                <a:srgbClr val="3333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grpSp>
      <mc:AlternateContent xmlns:mc="http://schemas.openxmlformats.org/markup-compatibility/2006" xmlns:a14="http://schemas.microsoft.com/office/drawing/2010/main">
        <mc:Choice Requires="a14">
          <p:sp>
            <p:nvSpPr>
              <p:cNvPr id="27" name="Text Box 2">
                <a:extLst>
                  <a:ext uri="{FF2B5EF4-FFF2-40B4-BE49-F238E27FC236}">
                    <a16:creationId xmlns:a16="http://schemas.microsoft.com/office/drawing/2014/main" id="{6EE956B7-9DFD-1E0F-7A33-0A8EBEEB9047}"/>
                  </a:ext>
                </a:extLst>
              </p:cNvPr>
              <p:cNvSpPr txBox="1">
                <a:spLocks noChangeArrowheads="1"/>
              </p:cNvSpPr>
              <p:nvPr/>
            </p:nvSpPr>
            <p:spPr bwMode="auto">
              <a:xfrm>
                <a:off x="745434" y="3369005"/>
                <a:ext cx="23393401" cy="7090531"/>
              </a:xfrm>
              <a:prstGeom prst="rect">
                <a:avLst/>
              </a:prstGeom>
              <a:solidFill>
                <a:srgbClr val="D6F7FE"/>
              </a:solidFill>
              <a:ln w="9525">
                <a:noFill/>
                <a:miter lim="800000"/>
                <a:headEnd/>
                <a:tailEnd/>
              </a:ln>
            </p:spPr>
            <p:txBody>
              <a:bodyPr rot="0" vert="horz" wrap="square" lIns="91440" tIns="45720" rIns="91440" bIns="45720" anchor="t" anchorCtr="0">
                <a:spAutoFit/>
              </a:bodyPr>
              <a:lstStyle/>
              <a:p>
                <a:pPr>
                  <a:lnSpc>
                    <a:spcPct val="150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Mỗi phần tử của </a:t>
                </a: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được hình thành từ hai công đoạn.</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 đoạn 1.</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Chọn </a:t>
                </a:r>
                <a:r>
                  <a:rPr lang="en-US" sz="4800" b="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năm phần tử trong tập {5; 13; 20; 31; 32; 35}, có </a:t>
                </a:r>
                <a14:m>
                  <m:oMath xmlns:m="http://schemas.openxmlformats.org/officeDocument/2006/math">
                    <m:sSubSup>
                      <m:sSubSupPr>
                        <m:ctrlPr>
                          <a:rPr lang="en-US" sz="4800" b="1" i="1">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b="1" i="1" smtClean="0">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t>𝑪</m:t>
                        </m:r>
                      </m:e>
                      <m:sub>
                        <m:r>
                          <a:rPr lang="en-US" sz="4800" b="1" i="1" smtClean="0">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t>𝟔</m:t>
                        </m:r>
                      </m:sub>
                      <m:sup>
                        <m:r>
                          <a:rPr lang="en-US" sz="4800" b="1" i="1" smtClean="0">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t>𝟓</m:t>
                        </m:r>
                      </m:sup>
                    </m:sSubSup>
                    <m:r>
                      <a:rPr lang="en-US" sz="4800" b="1" i="1" smtClean="0">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t>𝟔</m:t>
                    </m:r>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(cách chọn).</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800" b="1" i="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Công đoạn</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 Chọn một </a:t>
                </a:r>
                <a:r>
                  <a:rPr lang="en-US" sz="4800" b="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phần tử còn lại trong 39 phần tử không thuộc tập </a:t>
                </a: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13; 20; 31; 32; 35},   có </a:t>
                </a:r>
                <a14:m>
                  <m:oMath xmlns:m="http://schemas.openxmlformats.org/officeDocument/2006/math">
                    <m:sSubSup>
                      <m:sSubSupPr>
                        <m:ctrlPr>
                          <a:rPr lang="en-US" sz="48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𝑪</m:t>
                        </m:r>
                      </m:e>
                      <m:sub>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𝟑𝟗</m:t>
                        </m:r>
                      </m:sub>
                      <m:sup>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sup>
                    </m:sSubSup>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𝟑𝟗</m:t>
                    </m:r>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(cách chọn).</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Theo quy tắc nhân, tập G có 6.39 = 234 (phần tử). </a:t>
                </a:r>
                <a:r>
                  <a:rPr lang="en-US" sz="4800" b="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Vậy</a:t>
                </a:r>
                <a:r>
                  <a:rPr lang="en-US" sz="4800" b="1" i="1">
                    <a:solidFill>
                      <a:srgbClr val="353435"/>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sz="4800" b="1" i="1" smtClean="0">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t>𝒏</m:t>
                    </m:r>
                    <m:d>
                      <m:dPr>
                        <m:ctrlPr>
                          <a:rPr lang="en-US" sz="4800" b="1" i="1">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4800" b="1" i="1" smtClean="0">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t>𝑮</m:t>
                        </m:r>
                      </m:e>
                    </m:d>
                    <m:r>
                      <a:rPr lang="en-US" sz="4800" b="1" i="1" smtClean="0">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b="1" i="1" smtClean="0">
                        <a:solidFill>
                          <a:srgbClr val="353435"/>
                        </a:solidFill>
                        <a:effectLst/>
                        <a:latin typeface="Cambria Math" panose="02040503050406030204" pitchFamily="18" charset="0"/>
                        <a:ea typeface="Calibri" panose="020F0502020204030204" pitchFamily="34" charset="0"/>
                        <a:cs typeface="Times New Roman" panose="02020603050405020304" pitchFamily="18" charset="0"/>
                      </a:rPr>
                      <m:t>𝟐𝟑𝟒</m:t>
                    </m:r>
                  </m:oMath>
                </a14:m>
                <a:r>
                  <a:rPr lang="en-US" sz="4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Từ đó tính được P(G).</a:t>
                </a:r>
                <a:endParaRPr lang="en-US" sz="4800" b="1">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7" name="Text Box 2">
                <a:extLst>
                  <a:ext uri="{FF2B5EF4-FFF2-40B4-BE49-F238E27FC236}">
                    <a16:creationId xmlns:a16="http://schemas.microsoft.com/office/drawing/2014/main" id="{6EE956B7-9DFD-1E0F-7A33-0A8EBEEB9047}"/>
                  </a:ext>
                </a:extLst>
              </p:cNvPr>
              <p:cNvSpPr txBox="1">
                <a:spLocks noRot="1" noChangeAspect="1" noMove="1" noResize="1" noEditPoints="1" noAdjustHandles="1" noChangeArrowheads="1" noChangeShapeType="1" noTextEdit="1"/>
              </p:cNvSpPr>
              <p:nvPr/>
            </p:nvSpPr>
            <p:spPr bwMode="auto">
              <a:xfrm>
                <a:off x="745434" y="3369005"/>
                <a:ext cx="23393401" cy="7090531"/>
              </a:xfrm>
              <a:prstGeom prst="rect">
                <a:avLst/>
              </a:prstGeom>
              <a:blipFill>
                <a:blip r:embed="rId3"/>
                <a:stretch>
                  <a:fillRect l="-1172" r="-443" b="-3611"/>
                </a:stretch>
              </a:blipFill>
              <a:ln w="9525">
                <a:noFill/>
                <a:miter lim="800000"/>
                <a:headEnd/>
                <a:tailEnd/>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382440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380092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9.6. </a:t>
            </a:r>
          </a:p>
          <a:p>
            <a:r>
              <a:rPr lang="en-US" b="1">
                <a:latin typeface="Times New Roman" panose="02020603050405020304" pitchFamily="18" charset="0"/>
                <a:cs typeface="Times New Roman" panose="02020603050405020304" pitchFamily="18" charset="0"/>
              </a:rPr>
              <a:t>Chọn ngẫu nhiên một gia đình có ba con và quan sát giới tính của ba người con này. Tính xác suất của các biến cố sau:</a:t>
            </a:r>
          </a:p>
          <a:p>
            <a:r>
              <a:rPr lang="en-US" b="1">
                <a:latin typeface="Times New Roman" panose="02020603050405020304" pitchFamily="18" charset="0"/>
                <a:cs typeface="Times New Roman" panose="02020603050405020304" pitchFamily="18" charset="0"/>
              </a:rPr>
              <a:t>a) A: “Con đầu là gái”;</a:t>
            </a:r>
          </a:p>
          <a:p>
            <a:r>
              <a:rPr lang="en-US" b="1">
                <a:latin typeface="Times New Roman" panose="02020603050405020304" pitchFamily="18" charset="0"/>
                <a:cs typeface="Times New Roman" panose="02020603050405020304" pitchFamily="18" charset="0"/>
              </a:rPr>
              <a:t>b) B: “Có ít nhất một người con trai”.</a:t>
            </a:r>
          </a:p>
          <a:p>
            <a:endParaRPr lang="en-US" sz="4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72710" y="5581490"/>
                <a:ext cx="23818702" cy="760111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pPr marL="0" indent="0">
                  <a:buNone/>
                </a:pPr>
                <a:r>
                  <a:rPr lang="en-US" b="1">
                    <a:latin typeface="Times New Roman" panose="02020603050405020304" pitchFamily="18" charset="0"/>
                    <a:cs typeface="Times New Roman" panose="02020603050405020304" pitchFamily="18" charset="0"/>
                  </a:rPr>
                  <a:t>Trong Luyện tập 3 ta có: </a:t>
                </a:r>
                <a14:m>
                  <m:oMath xmlns:m="http://schemas.openxmlformats.org/officeDocument/2006/math">
                    <m:r>
                      <a:rPr lang="en-US" b="1" i="1">
                        <a:latin typeface="Cambria Math" panose="02040503050406030204" pitchFamily="18" charset="0"/>
                      </a:rPr>
                      <m:t>𝜴</m:t>
                    </m:r>
                    <m:r>
                      <a:rPr lang="en-US" b="1" i="1">
                        <a:latin typeface="Cambria Math" panose="02040503050406030204" pitchFamily="18" charset="0"/>
                      </a:rPr>
                      <m:t>=</m:t>
                    </m:r>
                    <m:d>
                      <m:dPr>
                        <m:begChr m:val="{"/>
                        <m:endChr m:val="}"/>
                        <m:ctrlPr>
                          <a:rPr lang="en-US" b="1" i="1">
                            <a:latin typeface="Cambria Math" panose="02040503050406030204" pitchFamily="18" charset="0"/>
                          </a:rPr>
                        </m:ctrlPr>
                      </m:dPr>
                      <m:e>
                        <m:r>
                          <a:rPr lang="en-US" b="1" i="1">
                            <a:latin typeface="Cambria Math" panose="02040503050406030204" pitchFamily="18" charset="0"/>
                          </a:rPr>
                          <m:t>𝑻𝑮𝑻</m:t>
                        </m:r>
                        <m:r>
                          <a:rPr lang="en-US" b="1" i="1">
                            <a:latin typeface="Cambria Math" panose="02040503050406030204" pitchFamily="18" charset="0"/>
                          </a:rPr>
                          <m:t>;</m:t>
                        </m:r>
                        <m:r>
                          <a:rPr lang="en-US" b="1" i="1">
                            <a:latin typeface="Cambria Math" panose="02040503050406030204" pitchFamily="18" charset="0"/>
                          </a:rPr>
                          <m:t>𝑻𝑻𝑮</m:t>
                        </m:r>
                        <m:r>
                          <a:rPr lang="en-US" b="1" i="1">
                            <a:latin typeface="Cambria Math" panose="02040503050406030204" pitchFamily="18" charset="0"/>
                          </a:rPr>
                          <m:t>;</m:t>
                        </m:r>
                        <m:r>
                          <a:rPr lang="en-US" b="1" i="1">
                            <a:latin typeface="Cambria Math" panose="02040503050406030204" pitchFamily="18" charset="0"/>
                          </a:rPr>
                          <m:t>𝑻𝑻𝑻</m:t>
                        </m:r>
                        <m:r>
                          <a:rPr lang="en-US" b="1" i="1">
                            <a:latin typeface="Cambria Math" panose="02040503050406030204" pitchFamily="18" charset="0"/>
                          </a:rPr>
                          <m:t>;</m:t>
                        </m:r>
                        <m:r>
                          <a:rPr lang="en-US" b="1" i="1">
                            <a:latin typeface="Cambria Math" panose="02040503050406030204" pitchFamily="18" charset="0"/>
                          </a:rPr>
                          <m:t>𝑻𝑮𝑮</m:t>
                        </m:r>
                        <m:r>
                          <a:rPr lang="en-US" b="1" i="1">
                            <a:latin typeface="Cambria Math" panose="02040503050406030204" pitchFamily="18" charset="0"/>
                          </a:rPr>
                          <m:t>;</m:t>
                        </m:r>
                        <m:r>
                          <a:rPr lang="en-US" b="1" i="1">
                            <a:latin typeface="Cambria Math" panose="02040503050406030204" pitchFamily="18" charset="0"/>
                          </a:rPr>
                          <m:t>𝑮𝑮𝑻</m:t>
                        </m:r>
                        <m:r>
                          <a:rPr lang="en-US" b="1" i="1">
                            <a:latin typeface="Cambria Math" panose="02040503050406030204" pitchFamily="18" charset="0"/>
                          </a:rPr>
                          <m:t>;</m:t>
                        </m:r>
                        <m:r>
                          <a:rPr lang="en-US" b="1" i="1">
                            <a:latin typeface="Cambria Math" panose="02040503050406030204" pitchFamily="18" charset="0"/>
                          </a:rPr>
                          <m:t>𝑮𝑻𝑮</m:t>
                        </m:r>
                        <m:r>
                          <a:rPr lang="en-US" b="1" i="1">
                            <a:latin typeface="Cambria Math" panose="02040503050406030204" pitchFamily="18" charset="0"/>
                          </a:rPr>
                          <m:t>;</m:t>
                        </m:r>
                        <m:r>
                          <a:rPr lang="en-US" b="1" i="1">
                            <a:latin typeface="Cambria Math" panose="02040503050406030204" pitchFamily="18" charset="0"/>
                          </a:rPr>
                          <m:t>𝑮𝑻𝑻</m:t>
                        </m:r>
                        <m:r>
                          <a:rPr lang="en-US" b="1" i="1">
                            <a:latin typeface="Cambria Math" panose="02040503050406030204" pitchFamily="18" charset="0"/>
                          </a:rPr>
                          <m:t>;</m:t>
                        </m:r>
                        <m:r>
                          <a:rPr lang="en-US" b="1" i="1">
                            <a:latin typeface="Cambria Math" panose="02040503050406030204" pitchFamily="18" charset="0"/>
                          </a:rPr>
                          <m:t>𝑮𝑮𝑮</m:t>
                        </m:r>
                      </m:e>
                    </m:d>
                  </m:oMath>
                </a14:m>
                <a:r>
                  <a:rPr lang="en-US" b="1">
                    <a:latin typeface="Times New Roman" panose="02020603050405020304" pitchFamily="18" charset="0"/>
                    <a:cs typeface="Times New Roman" panose="02020603050405020304" pitchFamily="18" charset="0"/>
                  </a:rPr>
                  <a:t>.</a:t>
                </a:r>
              </a:p>
              <a:p>
                <a:pPr marL="0" indent="0">
                  <a:buNone/>
                </a:pPr>
                <a:r>
                  <a:rPr lang="en-US" b="1">
                    <a:latin typeface="Times New Roman" panose="02020603050405020304" pitchFamily="18" charset="0"/>
                    <a:cs typeface="Times New Roman" panose="02020603050405020304" pitchFamily="18" charset="0"/>
                  </a:rPr>
                  <a:t>a) Số phần tử của tập A: “Con đầu là gái”.  </a:t>
                </a:r>
                <a14:m>
                  <m:oMath xmlns:m="http://schemas.openxmlformats.org/officeDocument/2006/math">
                    <m:r>
                      <a:rPr lang="en-US" b="1" i="1">
                        <a:latin typeface="Cambria Math" panose="02040503050406030204" pitchFamily="18" charset="0"/>
                      </a:rPr>
                      <m:t>𝑨</m:t>
                    </m:r>
                    <m:r>
                      <a:rPr lang="en-US" b="1" i="1">
                        <a:latin typeface="Cambria Math" panose="02040503050406030204" pitchFamily="18" charset="0"/>
                      </a:rPr>
                      <m:t>=</m:t>
                    </m:r>
                    <m:d>
                      <m:dPr>
                        <m:begChr m:val="{"/>
                        <m:endChr m:val="}"/>
                        <m:ctrlPr>
                          <a:rPr lang="en-US" b="1" i="1">
                            <a:latin typeface="Cambria Math" panose="02040503050406030204" pitchFamily="18" charset="0"/>
                          </a:rPr>
                        </m:ctrlPr>
                      </m:dPr>
                      <m:e>
                        <m:r>
                          <a:rPr lang="en-US" b="1" i="1">
                            <a:latin typeface="Cambria Math" panose="02040503050406030204" pitchFamily="18" charset="0"/>
                          </a:rPr>
                          <m:t>𝑮𝑮𝑻</m:t>
                        </m:r>
                        <m:r>
                          <a:rPr lang="en-US" b="1" i="1">
                            <a:latin typeface="Cambria Math" panose="02040503050406030204" pitchFamily="18" charset="0"/>
                          </a:rPr>
                          <m:t>;</m:t>
                        </m:r>
                        <m:r>
                          <a:rPr lang="en-US" b="1" i="1">
                            <a:latin typeface="Cambria Math" panose="02040503050406030204" pitchFamily="18" charset="0"/>
                          </a:rPr>
                          <m:t>𝑮𝑻𝑮</m:t>
                        </m:r>
                        <m:r>
                          <a:rPr lang="en-US" b="1" i="1">
                            <a:latin typeface="Cambria Math" panose="02040503050406030204" pitchFamily="18" charset="0"/>
                          </a:rPr>
                          <m:t>;</m:t>
                        </m:r>
                        <m:r>
                          <a:rPr lang="en-US" b="1" i="1">
                            <a:latin typeface="Cambria Math" panose="02040503050406030204" pitchFamily="18" charset="0"/>
                          </a:rPr>
                          <m:t>𝑮𝑻𝑻</m:t>
                        </m:r>
                        <m:r>
                          <a:rPr lang="en-US" b="1" i="1">
                            <a:latin typeface="Cambria Math" panose="02040503050406030204" pitchFamily="18" charset="0"/>
                          </a:rPr>
                          <m:t>;</m:t>
                        </m:r>
                        <m:r>
                          <a:rPr lang="en-US" b="1" i="1">
                            <a:latin typeface="Cambria Math" panose="02040503050406030204" pitchFamily="18" charset="0"/>
                          </a:rPr>
                          <m:t>𝑮𝑮𝑮</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𝑨</m:t>
                        </m:r>
                      </m:e>
                    </m:d>
                    <m:r>
                      <a:rPr lang="en-US" b="1" i="1">
                        <a:latin typeface="Cambria Math" panose="02040503050406030204" pitchFamily="18" charset="0"/>
                      </a:rPr>
                      <m:t>=</m:t>
                    </m:r>
                    <m:r>
                      <a:rPr lang="en-US" b="1" i="1">
                        <a:latin typeface="Cambria Math" panose="02040503050406030204" pitchFamily="18" charset="0"/>
                      </a:rPr>
                      <m:t>𝟒</m:t>
                    </m:r>
                  </m:oMath>
                </a14:m>
                <a:r>
                  <a:rPr lang="en-US" b="1">
                    <a:latin typeface="Times New Roman" panose="02020603050405020304" pitchFamily="18" charset="0"/>
                    <a:cs typeface="Times New Roman" panose="02020603050405020304" pitchFamily="18" charset="0"/>
                  </a:rPr>
                  <a:t>.</a:t>
                </a:r>
              </a:p>
              <a:p>
                <a:r>
                  <a:rPr lang="en-US" b="1">
                    <a:latin typeface="Times New Roman" panose="02020603050405020304" pitchFamily="18" charset="0"/>
                    <a:cs typeface="Times New Roman" panose="02020603050405020304" pitchFamily="18" charset="0"/>
                  </a:rPr>
                  <a:t>Vậy xác suất của biến cố A: </a:t>
                </a:r>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𝑨</m:t>
                        </m:r>
                      </m:e>
                    </m: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𝑨</m:t>
                            </m:r>
                          </m:e>
                        </m:d>
                      </m:num>
                      <m:den>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𝟒</m:t>
                        </m:r>
                      </m:num>
                      <m:den>
                        <m:r>
                          <a:rPr lang="en-US" b="1" i="1">
                            <a:latin typeface="Cambria Math" panose="02040503050406030204" pitchFamily="18" charset="0"/>
                          </a:rPr>
                          <m:t>𝟖</m:t>
                        </m:r>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𝟏</m:t>
                        </m:r>
                      </m:num>
                      <m:den>
                        <m:r>
                          <a:rPr lang="en-US" b="1" i="1">
                            <a:latin typeface="Cambria Math" panose="02040503050406030204" pitchFamily="18" charset="0"/>
                          </a:rPr>
                          <m:t>𝟐</m:t>
                        </m:r>
                      </m:den>
                    </m:f>
                  </m:oMath>
                </a14:m>
                <a:r>
                  <a:rPr lang="en-US" b="1">
                    <a:latin typeface="Times New Roman" panose="02020603050405020304" pitchFamily="18" charset="0"/>
                    <a:cs typeface="Times New Roman" panose="02020603050405020304" pitchFamily="18" charset="0"/>
                  </a:rPr>
                  <a:t>.</a:t>
                </a:r>
              </a:p>
              <a:p>
                <a:pPr marL="0" indent="0">
                  <a:buNone/>
                </a:pPr>
                <a:r>
                  <a:rPr lang="en-US" b="1">
                    <a:latin typeface="Times New Roman" panose="02020603050405020304" pitchFamily="18" charset="0"/>
                    <a:cs typeface="Times New Roman" panose="02020603050405020304" pitchFamily="18" charset="0"/>
                  </a:rPr>
                  <a:t>b) Số phần tử của biến cố B: “Có ít nhất một người con trai” </a:t>
                </a:r>
                <a14:m>
                  <m:oMath xmlns:m="http://schemas.openxmlformats.org/officeDocument/2006/math">
                    <m:r>
                      <a:rPr lang="en-US" b="1" i="1">
                        <a:latin typeface="Cambria Math" panose="02040503050406030204" pitchFamily="18" charset="0"/>
                      </a:rPr>
                      <m:t>𝑩</m:t>
                    </m:r>
                    <m:r>
                      <a:rPr lang="en-US" b="1" i="1">
                        <a:latin typeface="Cambria Math" panose="02040503050406030204" pitchFamily="18" charset="0"/>
                      </a:rPr>
                      <m:t>=</m:t>
                    </m:r>
                    <m:d>
                      <m:dPr>
                        <m:begChr m:val="{"/>
                        <m:endChr m:val="}"/>
                        <m:ctrlPr>
                          <a:rPr lang="en-US" b="1" i="1">
                            <a:latin typeface="Cambria Math" panose="02040503050406030204" pitchFamily="18" charset="0"/>
                          </a:rPr>
                        </m:ctrlPr>
                      </m:dPr>
                      <m:e>
                        <m:r>
                          <a:rPr lang="en-US" b="1" i="1">
                            <a:latin typeface="Cambria Math" panose="02040503050406030204" pitchFamily="18" charset="0"/>
                          </a:rPr>
                          <m:t>𝑻𝑮𝑻</m:t>
                        </m:r>
                        <m:r>
                          <a:rPr lang="en-US" b="1" i="1">
                            <a:latin typeface="Cambria Math" panose="02040503050406030204" pitchFamily="18" charset="0"/>
                          </a:rPr>
                          <m:t>;</m:t>
                        </m:r>
                        <m:r>
                          <a:rPr lang="en-US" b="1" i="1">
                            <a:latin typeface="Cambria Math" panose="02040503050406030204" pitchFamily="18" charset="0"/>
                          </a:rPr>
                          <m:t>𝑻𝑻𝑮</m:t>
                        </m:r>
                        <m:r>
                          <a:rPr lang="en-US" b="1" i="1">
                            <a:latin typeface="Cambria Math" panose="02040503050406030204" pitchFamily="18" charset="0"/>
                          </a:rPr>
                          <m:t>;</m:t>
                        </m:r>
                        <m:r>
                          <a:rPr lang="en-US" b="1" i="1">
                            <a:latin typeface="Cambria Math" panose="02040503050406030204" pitchFamily="18" charset="0"/>
                          </a:rPr>
                          <m:t>𝑻𝑻𝑻</m:t>
                        </m:r>
                        <m:r>
                          <a:rPr lang="en-US" b="1" i="1">
                            <a:latin typeface="Cambria Math" panose="02040503050406030204" pitchFamily="18" charset="0"/>
                          </a:rPr>
                          <m:t>;</m:t>
                        </m:r>
                        <m:r>
                          <a:rPr lang="en-US" b="1" i="1">
                            <a:latin typeface="Cambria Math" panose="02040503050406030204" pitchFamily="18" charset="0"/>
                          </a:rPr>
                          <m:t>𝑻𝑮𝑮</m:t>
                        </m:r>
                        <m:r>
                          <a:rPr lang="en-US" b="1" i="1">
                            <a:latin typeface="Cambria Math" panose="02040503050406030204" pitchFamily="18" charset="0"/>
                          </a:rPr>
                          <m:t>;</m:t>
                        </m:r>
                        <m:r>
                          <a:rPr lang="en-US" b="1" i="1">
                            <a:latin typeface="Cambria Math" panose="02040503050406030204" pitchFamily="18" charset="0"/>
                          </a:rPr>
                          <m:t>𝑮𝑮𝑻</m:t>
                        </m:r>
                        <m:r>
                          <a:rPr lang="en-US" b="1" i="1">
                            <a:latin typeface="Cambria Math" panose="02040503050406030204" pitchFamily="18" charset="0"/>
                          </a:rPr>
                          <m:t>;</m:t>
                        </m:r>
                        <m:r>
                          <a:rPr lang="en-US" b="1" i="1">
                            <a:latin typeface="Cambria Math" panose="02040503050406030204" pitchFamily="18" charset="0"/>
                          </a:rPr>
                          <m:t>𝑮𝑻𝑮</m:t>
                        </m:r>
                        <m:r>
                          <a:rPr lang="en-US" b="1" i="1">
                            <a:latin typeface="Cambria Math" panose="02040503050406030204" pitchFamily="18" charset="0"/>
                          </a:rPr>
                          <m:t>;</m:t>
                        </m:r>
                        <m:r>
                          <a:rPr lang="en-US" b="1" i="1">
                            <a:latin typeface="Cambria Math" panose="02040503050406030204" pitchFamily="18" charset="0"/>
                          </a:rPr>
                          <m:t>𝑮𝑻𝑻</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𝑩</m:t>
                        </m:r>
                      </m:e>
                    </m:d>
                    <m:r>
                      <a:rPr lang="en-US" b="1" i="1">
                        <a:latin typeface="Cambria Math" panose="02040503050406030204" pitchFamily="18" charset="0"/>
                      </a:rPr>
                      <m:t>=</m:t>
                    </m:r>
                    <m:r>
                      <a:rPr lang="en-US" b="1" i="1">
                        <a:latin typeface="Cambria Math" panose="02040503050406030204" pitchFamily="18" charset="0"/>
                      </a:rPr>
                      <m:t>𝟕</m:t>
                    </m:r>
                  </m:oMath>
                </a14:m>
                <a:r>
                  <a:rPr lang="en-US" b="1">
                    <a:latin typeface="Times New Roman" panose="02020603050405020304" pitchFamily="18" charset="0"/>
                    <a:cs typeface="Times New Roman" panose="02020603050405020304" pitchFamily="18" charset="0"/>
                  </a:rPr>
                  <a:t>.</a:t>
                </a:r>
              </a:p>
              <a:p>
                <a:r>
                  <a:rPr lang="en-US" b="1">
                    <a:latin typeface="Times New Roman" panose="02020603050405020304" pitchFamily="18" charset="0"/>
                    <a:cs typeface="Times New Roman" panose="02020603050405020304" pitchFamily="18" charset="0"/>
                  </a:rPr>
                  <a:t>Vậy xác suất của biến cố B: </a:t>
                </a:r>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𝑩</m:t>
                        </m:r>
                      </m:e>
                    </m: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𝑩</m:t>
                            </m:r>
                          </m:e>
                        </m:d>
                      </m:num>
                      <m:den>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𝟕</m:t>
                        </m:r>
                      </m:num>
                      <m:den>
                        <m:r>
                          <a:rPr lang="en-US" b="1" i="1">
                            <a:latin typeface="Cambria Math" panose="02040503050406030204" pitchFamily="18" charset="0"/>
                          </a:rPr>
                          <m:t>𝟖</m:t>
                        </m:r>
                      </m:den>
                    </m:f>
                  </m:oMath>
                </a14:m>
                <a:r>
                  <a:rPr lang="en-US" b="1">
                    <a:latin typeface="Times New Roman" panose="02020603050405020304" pitchFamily="18" charset="0"/>
                    <a:cs typeface="Times New Roman" panose="02020603050405020304" pitchFamily="18" charset="0"/>
                  </a:rPr>
                  <a:t>.</a:t>
                </a:r>
              </a:p>
              <a:p>
                <a:pPr marL="0" indent="0">
                  <a:buNone/>
                </a:pPr>
                <a:endParaRPr lang="en-US" b="1" u="sng"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72710" y="5581490"/>
                <a:ext cx="23818702" cy="7601110"/>
              </a:xfrm>
              <a:prstGeom prst="rect">
                <a:avLst/>
              </a:prstGeom>
              <a:blipFill>
                <a:blip r:embed="rId3"/>
                <a:stretch>
                  <a:fillRect l="-1151" t="-2642"/>
                </a:stretch>
              </a:blipFill>
              <a:ln>
                <a:solidFill>
                  <a:srgbClr val="00B0F0"/>
                </a:solid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5580565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wipe(left)">
                                      <p:cBhvr>
                                        <p:cTn id="7" dur="500"/>
                                        <p:tgtEl>
                                          <p:spTgt spid="9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animEffect transition="in" filter="wipe(left)">
                                      <p:cBhvr>
                                        <p:cTn id="11" dur="500"/>
                                        <p:tgtEl>
                                          <p:spTgt spid="97">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xEl>
                                              <p:pRg st="2" end="2"/>
                                            </p:txEl>
                                          </p:spTgt>
                                        </p:tgtEl>
                                        <p:attrNameLst>
                                          <p:attrName>style.visibility</p:attrName>
                                        </p:attrNameLst>
                                      </p:cBhvr>
                                      <p:to>
                                        <p:strVal val="visible"/>
                                      </p:to>
                                    </p:set>
                                    <p:animEffect transition="in" filter="wipe(left)">
                                      <p:cBhvr>
                                        <p:cTn id="15" dur="500"/>
                                        <p:tgtEl>
                                          <p:spTgt spid="97">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7">
                                            <p:txEl>
                                              <p:pRg st="3" end="3"/>
                                            </p:txEl>
                                          </p:spTgt>
                                        </p:tgtEl>
                                        <p:attrNameLst>
                                          <p:attrName>style.visibility</p:attrName>
                                        </p:attrNameLst>
                                      </p:cBhvr>
                                      <p:to>
                                        <p:strVal val="visible"/>
                                      </p:to>
                                    </p:set>
                                    <p:animEffect transition="in" filter="wipe(left)">
                                      <p:cBhvr>
                                        <p:cTn id="19" dur="500"/>
                                        <p:tgtEl>
                                          <p:spTgt spid="97">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0" end="0"/>
                                            </p:txEl>
                                          </p:spTgt>
                                        </p:tgtEl>
                                        <p:attrNameLst>
                                          <p:attrName>style.visibility</p:attrName>
                                        </p:attrNameLst>
                                      </p:cBhvr>
                                      <p:to>
                                        <p:strVal val="visible"/>
                                      </p:to>
                                    </p:set>
                                    <p:animEffect transition="in" filter="wipe(up)">
                                      <p:cBhvr>
                                        <p:cTn id="23" dur="500"/>
                                        <p:tgtEl>
                                          <p:spTgt spid="9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99">
                                            <p:txEl>
                                              <p:pRg st="1" end="1"/>
                                            </p:txEl>
                                          </p:spTgt>
                                        </p:tgtEl>
                                        <p:attrNameLst>
                                          <p:attrName>style.visibility</p:attrName>
                                        </p:attrNameLst>
                                      </p:cBhvr>
                                      <p:to>
                                        <p:strVal val="visible"/>
                                      </p:to>
                                    </p:set>
                                    <p:animEffect transition="in" filter="wipe(up)">
                                      <p:cBhvr>
                                        <p:cTn id="28" dur="500"/>
                                        <p:tgtEl>
                                          <p:spTgt spid="99">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99">
                                            <p:txEl>
                                              <p:pRg st="2" end="2"/>
                                            </p:txEl>
                                          </p:spTgt>
                                        </p:tgtEl>
                                        <p:attrNameLst>
                                          <p:attrName>style.visibility</p:attrName>
                                        </p:attrNameLst>
                                      </p:cBhvr>
                                      <p:to>
                                        <p:strVal val="visible"/>
                                      </p:to>
                                    </p:set>
                                    <p:animEffect transition="in" filter="wipe(up)">
                                      <p:cBhvr>
                                        <p:cTn id="33" dur="500"/>
                                        <p:tgtEl>
                                          <p:spTgt spid="99">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99">
                                            <p:txEl>
                                              <p:pRg st="3" end="3"/>
                                            </p:txEl>
                                          </p:spTgt>
                                        </p:tgtEl>
                                        <p:attrNameLst>
                                          <p:attrName>style.visibility</p:attrName>
                                        </p:attrNameLst>
                                      </p:cBhvr>
                                      <p:to>
                                        <p:strVal val="visible"/>
                                      </p:to>
                                    </p:set>
                                    <p:animEffect transition="in" filter="wipe(up)">
                                      <p:cBhvr>
                                        <p:cTn id="38" dur="500"/>
                                        <p:tgtEl>
                                          <p:spTgt spid="99">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99">
                                            <p:txEl>
                                              <p:pRg st="4" end="4"/>
                                            </p:txEl>
                                          </p:spTgt>
                                        </p:tgtEl>
                                        <p:attrNameLst>
                                          <p:attrName>style.visibility</p:attrName>
                                        </p:attrNameLst>
                                      </p:cBhvr>
                                      <p:to>
                                        <p:strVal val="visible"/>
                                      </p:to>
                                    </p:set>
                                    <p:animEffect transition="in" filter="wipe(up)">
                                      <p:cBhvr>
                                        <p:cTn id="43" dur="500"/>
                                        <p:tgtEl>
                                          <p:spTgt spid="99">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99">
                                            <p:txEl>
                                              <p:pRg st="5" end="5"/>
                                            </p:txEl>
                                          </p:spTgt>
                                        </p:tgtEl>
                                        <p:attrNameLst>
                                          <p:attrName>style.visibility</p:attrName>
                                        </p:attrNameLst>
                                      </p:cBhvr>
                                      <p:to>
                                        <p:strVal val="visible"/>
                                      </p:to>
                                    </p:set>
                                    <p:animEffect transition="in" filter="wipe(up)">
                                      <p:cBhvr>
                                        <p:cTn id="48" dur="500"/>
                                        <p:tgtEl>
                                          <p:spTgt spid="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37820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9.7. </a:t>
            </a:r>
          </a:p>
          <a:p>
            <a:r>
              <a:rPr lang="en-US" sz="4800" b="1">
                <a:latin typeface="Times New Roman" panose="02020603050405020304" pitchFamily="18" charset="0"/>
                <a:cs typeface="Times New Roman" panose="02020603050405020304" pitchFamily="18" charset="0"/>
              </a:rPr>
              <a:t>Một hộp đựng các tấm thẻ đánh số 10; 11; …..; 20. Rút ngẫu nhiên từ hộp hai tấm thẻ.</a:t>
            </a:r>
          </a:p>
          <a:p>
            <a:r>
              <a:rPr lang="en-US" sz="4800" b="1">
                <a:latin typeface="Times New Roman" panose="02020603050405020304" pitchFamily="18" charset="0"/>
                <a:cs typeface="Times New Roman" panose="02020603050405020304" pitchFamily="18" charset="0"/>
              </a:rPr>
              <a:t>Tính xác suất các biến cố sau:</a:t>
            </a:r>
          </a:p>
          <a:p>
            <a:r>
              <a:rPr lang="en-US" sz="4800" b="1">
                <a:latin typeface="Times New Roman" panose="02020603050405020304" pitchFamily="18" charset="0"/>
                <a:cs typeface="Times New Roman" panose="02020603050405020304" pitchFamily="18" charset="0"/>
              </a:rPr>
              <a:t>a) C: “Cả hai thẻ rút được đều mang số lẻ”,</a:t>
            </a:r>
          </a:p>
          <a:p>
            <a:r>
              <a:rPr lang="en-US" sz="4800" b="1">
                <a:latin typeface="Times New Roman" panose="02020603050405020304" pitchFamily="18" charset="0"/>
                <a:cs typeface="Times New Roman" panose="02020603050405020304" pitchFamily="18" charset="0"/>
              </a:rPr>
              <a:t>b) D: “Cả hai thẻ rút được đều mang số chẵn”</a:t>
            </a:r>
          </a:p>
          <a:p>
            <a:endParaRPr lang="en-US" sz="4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72711" y="5562600"/>
                <a:ext cx="23818702" cy="79248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r>
                  <a:rPr lang="en-US" b="1">
                    <a:latin typeface="Times New Roman" panose="02020603050405020304" pitchFamily="18" charset="0"/>
                    <a:cs typeface="Times New Roman" panose="02020603050405020304" pitchFamily="18" charset="0"/>
                  </a:rPr>
                  <a:t>Rút hai thẻ từ hộp có 11 thẻ: </a:t>
                </a:r>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𝟏𝟏</m:t>
                        </m:r>
                      </m:sub>
                      <m:sup>
                        <m:r>
                          <a:rPr lang="en-US" b="1" i="1">
                            <a:latin typeface="Cambria Math" panose="02040503050406030204" pitchFamily="18" charset="0"/>
                          </a:rPr>
                          <m:t>𝟐</m:t>
                        </m:r>
                      </m:sup>
                    </m:sSubSup>
                  </m:oMath>
                </a14:m>
                <a:r>
                  <a:rPr lang="en-US" b="1">
                    <a:latin typeface="Times New Roman" panose="02020603050405020304" pitchFamily="18" charset="0"/>
                    <a:cs typeface="Times New Roman" panose="02020603050405020304" pitchFamily="18" charset="0"/>
                  </a:rPr>
                  <a:t>cách </a:t>
                </a:r>
                <a14:m>
                  <m:oMath xmlns:m="http://schemas.openxmlformats.org/officeDocument/2006/math">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r>
                      <a:rPr lang="en-US" b="1" i="1">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𝟏𝟏</m:t>
                        </m:r>
                      </m:sub>
                      <m:sup>
                        <m:r>
                          <a:rPr lang="en-US" b="1" i="1">
                            <a:latin typeface="Cambria Math" panose="02040503050406030204" pitchFamily="18" charset="0"/>
                          </a:rPr>
                          <m:t>𝟐</m:t>
                        </m:r>
                      </m:sup>
                    </m:sSubSup>
                  </m:oMath>
                </a14:m>
                <a:r>
                  <a:rPr lang="en-US" b="1">
                    <a:latin typeface="Times New Roman" panose="02020603050405020304" pitchFamily="18" charset="0"/>
                    <a:cs typeface="Times New Roman" panose="02020603050405020304" pitchFamily="18" charset="0"/>
                  </a:rPr>
                  <a:t>.</a:t>
                </a:r>
              </a:p>
              <a:p>
                <a:r>
                  <a:rPr lang="en-US" b="1">
                    <a:latin typeface="Times New Roman" panose="02020603050405020304" pitchFamily="18" charset="0"/>
                    <a:cs typeface="Times New Roman" panose="02020603050405020304" pitchFamily="18" charset="0"/>
                  </a:rPr>
                  <a:t>a) Trong hộp có 5 thẻ đánh số lẻ là tập hợp: </a:t>
                </a:r>
                <a14:m>
                  <m:oMath xmlns:m="http://schemas.openxmlformats.org/officeDocument/2006/math">
                    <m:r>
                      <a:rPr lang="en-US" b="1" i="1">
                        <a:latin typeface="Cambria Math" panose="02040503050406030204" pitchFamily="18" charset="0"/>
                      </a:rPr>
                      <m:t>𝑨</m:t>
                    </m:r>
                    <m:r>
                      <a:rPr lang="en-US" b="1" i="1">
                        <a:latin typeface="Cambria Math" panose="02040503050406030204" pitchFamily="18" charset="0"/>
                      </a:rPr>
                      <m:t>=</m:t>
                    </m:r>
                    <m:d>
                      <m:dPr>
                        <m:begChr m:val="{"/>
                        <m:endChr m:val="}"/>
                        <m:ctrlPr>
                          <a:rPr lang="en-US" b="1" i="1">
                            <a:latin typeface="Cambria Math" panose="02040503050406030204" pitchFamily="18" charset="0"/>
                          </a:rPr>
                        </m:ctrlPr>
                      </m:dPr>
                      <m:e>
                        <m:r>
                          <a:rPr lang="en-US" b="1" i="1">
                            <a:latin typeface="Cambria Math" panose="02040503050406030204" pitchFamily="18" charset="0"/>
                          </a:rPr>
                          <m:t>𝟏𝟏</m:t>
                        </m:r>
                        <m:r>
                          <a:rPr lang="en-US" b="1" i="1">
                            <a:latin typeface="Cambria Math" panose="02040503050406030204" pitchFamily="18" charset="0"/>
                          </a:rPr>
                          <m:t>;</m:t>
                        </m:r>
                        <m:r>
                          <a:rPr lang="en-US" b="1" i="1">
                            <a:latin typeface="Cambria Math" panose="02040503050406030204" pitchFamily="18" charset="0"/>
                          </a:rPr>
                          <m:t>𝟏𝟑</m:t>
                        </m:r>
                        <m:r>
                          <a:rPr lang="en-US" b="1" i="1">
                            <a:latin typeface="Cambria Math" panose="02040503050406030204" pitchFamily="18" charset="0"/>
                          </a:rPr>
                          <m:t>;</m:t>
                        </m:r>
                        <m:r>
                          <a:rPr lang="en-US" b="1" i="1">
                            <a:latin typeface="Cambria Math" panose="02040503050406030204" pitchFamily="18" charset="0"/>
                          </a:rPr>
                          <m:t>𝟏𝟓</m:t>
                        </m:r>
                        <m:r>
                          <a:rPr lang="en-US" b="1" i="1">
                            <a:latin typeface="Cambria Math" panose="02040503050406030204" pitchFamily="18" charset="0"/>
                          </a:rPr>
                          <m:t>;</m:t>
                        </m:r>
                        <m:r>
                          <a:rPr lang="en-US" b="1" i="1">
                            <a:latin typeface="Cambria Math" panose="02040503050406030204" pitchFamily="18" charset="0"/>
                          </a:rPr>
                          <m:t>𝟏𝟕</m:t>
                        </m:r>
                        <m:r>
                          <a:rPr lang="en-US" b="1" i="1">
                            <a:latin typeface="Cambria Math" panose="02040503050406030204" pitchFamily="18" charset="0"/>
                          </a:rPr>
                          <m:t>;</m:t>
                        </m:r>
                        <m:r>
                          <a:rPr lang="en-US" b="1" i="1">
                            <a:latin typeface="Cambria Math" panose="02040503050406030204" pitchFamily="18" charset="0"/>
                          </a:rPr>
                          <m:t>𝟏𝟗</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𝑨</m:t>
                        </m:r>
                      </m:e>
                    </m:d>
                    <m:r>
                      <a:rPr lang="en-US" b="1" i="1">
                        <a:latin typeface="Cambria Math" panose="02040503050406030204" pitchFamily="18" charset="0"/>
                      </a:rPr>
                      <m:t>=</m:t>
                    </m:r>
                    <m:r>
                      <a:rPr lang="en-US" b="1" i="1">
                        <a:latin typeface="Cambria Math" panose="02040503050406030204" pitchFamily="18" charset="0"/>
                      </a:rPr>
                      <m:t>𝟓</m:t>
                    </m:r>
                  </m:oMath>
                </a14:m>
                <a:r>
                  <a:rPr lang="en-US" b="1">
                    <a:latin typeface="Times New Roman" panose="02020603050405020304" pitchFamily="18" charset="0"/>
                    <a:cs typeface="Times New Roman" panose="02020603050405020304" pitchFamily="18" charset="0"/>
                  </a:rPr>
                  <a:t>. Số cách rút 2 thẻ mang số lẻ là: </a:t>
                </a:r>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𝟓</m:t>
                        </m:r>
                      </m:sub>
                      <m:sup>
                        <m:r>
                          <a:rPr lang="en-US" b="1" i="1">
                            <a:latin typeface="Cambria Math" panose="02040503050406030204" pitchFamily="18" charset="0"/>
                          </a:rPr>
                          <m:t>𝟐</m:t>
                        </m:r>
                      </m:sup>
                    </m:sSubSup>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𝑪</m:t>
                        </m:r>
                      </m:e>
                    </m:d>
                    <m:r>
                      <a:rPr lang="en-US" b="1" i="1">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𝟓</m:t>
                        </m:r>
                      </m:sub>
                      <m:sup>
                        <m:r>
                          <a:rPr lang="en-US" b="1" i="1">
                            <a:latin typeface="Cambria Math" panose="02040503050406030204" pitchFamily="18" charset="0"/>
                          </a:rPr>
                          <m:t>𝟐</m:t>
                        </m:r>
                      </m:sup>
                    </m:sSubSup>
                  </m:oMath>
                </a14:m>
                <a:r>
                  <a:rPr lang="en-US" b="1">
                    <a:latin typeface="Times New Roman" panose="02020603050405020304" pitchFamily="18" charset="0"/>
                    <a:cs typeface="Times New Roman" panose="02020603050405020304" pitchFamily="18" charset="0"/>
                  </a:rPr>
                  <a:t>.</a:t>
                </a:r>
              </a:p>
              <a:p>
                <a:r>
                  <a:rPr lang="en-US" b="1">
                    <a:latin typeface="Times New Roman" panose="02020603050405020304" pitchFamily="18" charset="0"/>
                    <a:cs typeface="Times New Roman" panose="02020603050405020304" pitchFamily="18" charset="0"/>
                  </a:rPr>
                  <a:t>Xác suất của biến cố C: “Cả hai thẻ rút được đều mang số lẻ”</a:t>
                </a:r>
              </a:p>
              <a:p>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𝑪</m:t>
                        </m:r>
                      </m:e>
                    </m: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𝑪</m:t>
                            </m:r>
                          </m:e>
                        </m:d>
                      </m:num>
                      <m:den>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den>
                    </m:f>
                    <m:r>
                      <a:rPr lang="en-US" b="1" i="1">
                        <a:latin typeface="Cambria Math" panose="02040503050406030204" pitchFamily="18" charset="0"/>
                      </a:rPr>
                      <m:t>=</m:t>
                    </m:r>
                    <m:f>
                      <m:fPr>
                        <m:ctrlPr>
                          <a:rPr lang="en-US" b="1" i="1">
                            <a:latin typeface="Cambria Math" panose="02040503050406030204" pitchFamily="18" charset="0"/>
                          </a:rPr>
                        </m:ctrlPr>
                      </m:fPr>
                      <m:num>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𝟓</m:t>
                            </m:r>
                          </m:sub>
                          <m:sup>
                            <m:r>
                              <a:rPr lang="en-US" b="1" i="1">
                                <a:latin typeface="Cambria Math" panose="02040503050406030204" pitchFamily="18" charset="0"/>
                              </a:rPr>
                              <m:t>𝟐</m:t>
                            </m:r>
                          </m:sup>
                        </m:sSubSup>
                      </m:num>
                      <m:den>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𝟏𝟏</m:t>
                            </m:r>
                          </m:sub>
                          <m:sup>
                            <m:r>
                              <a:rPr lang="en-US" b="1" i="1">
                                <a:latin typeface="Cambria Math" panose="02040503050406030204" pitchFamily="18" charset="0"/>
                              </a:rPr>
                              <m:t>𝟐</m:t>
                            </m:r>
                          </m:sup>
                        </m:sSubSup>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𝟐</m:t>
                        </m:r>
                      </m:num>
                      <m:den>
                        <m:r>
                          <a:rPr lang="en-US" b="1" i="1">
                            <a:latin typeface="Cambria Math" panose="02040503050406030204" pitchFamily="18" charset="0"/>
                          </a:rPr>
                          <m:t>𝟏𝟏</m:t>
                        </m:r>
                      </m:den>
                    </m:f>
                  </m:oMath>
                </a14:m>
                <a:r>
                  <a:rPr lang="en-US" b="1">
                    <a:latin typeface="Times New Roman" panose="02020603050405020304" pitchFamily="18" charset="0"/>
                    <a:cs typeface="Times New Roman" panose="02020603050405020304" pitchFamily="18" charset="0"/>
                  </a:rPr>
                  <a:t>.</a:t>
                </a:r>
              </a:p>
              <a:p>
                <a:pPr marL="0" indent="0">
                  <a:buNone/>
                </a:pPr>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72711" y="5562600"/>
                <a:ext cx="23818702" cy="7924800"/>
              </a:xfrm>
              <a:prstGeom prst="rect">
                <a:avLst/>
              </a:prstGeom>
              <a:blipFill>
                <a:blip r:embed="rId3"/>
                <a:stretch>
                  <a:fillRect l="-1049" t="-2535"/>
                </a:stretch>
              </a:blipFill>
              <a:ln>
                <a:solidFill>
                  <a:srgbClr val="00B0F0"/>
                </a:solid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41283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wipe(left)">
                                      <p:cBhvr>
                                        <p:cTn id="7" dur="500"/>
                                        <p:tgtEl>
                                          <p:spTgt spid="97">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animEffect transition="in" filter="fade">
                                      <p:cBhvr>
                                        <p:cTn id="11" dur="500"/>
                                        <p:tgtEl>
                                          <p:spTgt spid="97">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7">
                                            <p:txEl>
                                              <p:pRg st="2" end="2"/>
                                            </p:txEl>
                                          </p:spTgt>
                                        </p:tgtEl>
                                        <p:attrNameLst>
                                          <p:attrName>style.visibility</p:attrName>
                                        </p:attrNameLst>
                                      </p:cBhvr>
                                      <p:to>
                                        <p:strVal val="visible"/>
                                      </p:to>
                                    </p:set>
                                    <p:animEffect transition="in" filter="fade">
                                      <p:cBhvr>
                                        <p:cTn id="15" dur="500"/>
                                        <p:tgtEl>
                                          <p:spTgt spid="97">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97">
                                            <p:txEl>
                                              <p:pRg st="3" end="3"/>
                                            </p:txEl>
                                          </p:spTgt>
                                        </p:tgtEl>
                                        <p:attrNameLst>
                                          <p:attrName>style.visibility</p:attrName>
                                        </p:attrNameLst>
                                      </p:cBhvr>
                                      <p:to>
                                        <p:strVal val="visible"/>
                                      </p:to>
                                    </p:set>
                                    <p:animEffect transition="in" filter="fade">
                                      <p:cBhvr>
                                        <p:cTn id="19" dur="500"/>
                                        <p:tgtEl>
                                          <p:spTgt spid="97">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97">
                                            <p:txEl>
                                              <p:pRg st="4" end="4"/>
                                            </p:txEl>
                                          </p:spTgt>
                                        </p:tgtEl>
                                        <p:attrNameLst>
                                          <p:attrName>style.visibility</p:attrName>
                                        </p:attrNameLst>
                                      </p:cBhvr>
                                      <p:to>
                                        <p:strVal val="visible"/>
                                      </p:to>
                                    </p:set>
                                    <p:animEffect transition="in" filter="fade">
                                      <p:cBhvr>
                                        <p:cTn id="23" dur="500"/>
                                        <p:tgtEl>
                                          <p:spTgt spid="97">
                                            <p:txEl>
                                              <p:pRg st="4" end="4"/>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0" end="0"/>
                                            </p:txEl>
                                          </p:spTgt>
                                        </p:tgtEl>
                                        <p:attrNameLst>
                                          <p:attrName>style.visibility</p:attrName>
                                        </p:attrNameLst>
                                      </p:cBhvr>
                                      <p:to>
                                        <p:strVal val="visible"/>
                                      </p:to>
                                    </p:set>
                                    <p:animEffect transition="in" filter="wipe(up)">
                                      <p:cBhvr>
                                        <p:cTn id="27" dur="500"/>
                                        <p:tgtEl>
                                          <p:spTgt spid="9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9">
                                            <p:txEl>
                                              <p:pRg st="1" end="1"/>
                                            </p:txEl>
                                          </p:spTgt>
                                        </p:tgtEl>
                                        <p:attrNameLst>
                                          <p:attrName>style.visibility</p:attrName>
                                        </p:attrNameLst>
                                      </p:cBhvr>
                                      <p:to>
                                        <p:strVal val="visible"/>
                                      </p:to>
                                    </p:set>
                                    <p:animEffect transition="in" filter="fade">
                                      <p:cBhvr>
                                        <p:cTn id="32" dur="500"/>
                                        <p:tgtEl>
                                          <p:spTgt spid="99">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9">
                                            <p:txEl>
                                              <p:pRg st="2" end="2"/>
                                            </p:txEl>
                                          </p:spTgt>
                                        </p:tgtEl>
                                        <p:attrNameLst>
                                          <p:attrName>style.visibility</p:attrName>
                                        </p:attrNameLst>
                                      </p:cBhvr>
                                      <p:to>
                                        <p:strVal val="visible"/>
                                      </p:to>
                                    </p:set>
                                    <p:animEffect transition="in" filter="fade">
                                      <p:cBhvr>
                                        <p:cTn id="37" dur="500"/>
                                        <p:tgtEl>
                                          <p:spTgt spid="99">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9">
                                            <p:txEl>
                                              <p:pRg st="3" end="3"/>
                                            </p:txEl>
                                          </p:spTgt>
                                        </p:tgtEl>
                                        <p:attrNameLst>
                                          <p:attrName>style.visibility</p:attrName>
                                        </p:attrNameLst>
                                      </p:cBhvr>
                                      <p:to>
                                        <p:strVal val="visible"/>
                                      </p:to>
                                    </p:set>
                                    <p:animEffect transition="in" filter="fade">
                                      <p:cBhvr>
                                        <p:cTn id="42" dur="500"/>
                                        <p:tgtEl>
                                          <p:spTgt spid="99">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9">
                                            <p:txEl>
                                              <p:pRg st="4" end="4"/>
                                            </p:txEl>
                                          </p:spTgt>
                                        </p:tgtEl>
                                        <p:attrNameLst>
                                          <p:attrName>style.visibility</p:attrName>
                                        </p:attrNameLst>
                                      </p:cBhvr>
                                      <p:to>
                                        <p:strVal val="visible"/>
                                      </p:to>
                                    </p:set>
                                    <p:animEffect transition="in" filter="fade">
                                      <p:cBhvr>
                                        <p:cTn id="47" dur="500"/>
                                        <p:tgtEl>
                                          <p:spTgt spid="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37820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9.7. </a:t>
            </a:r>
          </a:p>
          <a:p>
            <a:r>
              <a:rPr lang="en-US" sz="4800" b="1">
                <a:latin typeface="Times New Roman" panose="02020603050405020304" pitchFamily="18" charset="0"/>
                <a:cs typeface="Times New Roman" panose="02020603050405020304" pitchFamily="18" charset="0"/>
              </a:rPr>
              <a:t>Một hộp đựng các tấm thẻ đánh số 10; 11; …..; 20. Rút ngẫu nhiên từ hộp hai tấm thẻ.</a:t>
            </a:r>
          </a:p>
          <a:p>
            <a:r>
              <a:rPr lang="en-US" sz="4800" b="1">
                <a:latin typeface="Times New Roman" panose="02020603050405020304" pitchFamily="18" charset="0"/>
                <a:cs typeface="Times New Roman" panose="02020603050405020304" pitchFamily="18" charset="0"/>
              </a:rPr>
              <a:t>Tính xác suất các biến cố sau:</a:t>
            </a:r>
          </a:p>
          <a:p>
            <a:r>
              <a:rPr lang="en-US" sz="4800" b="1">
                <a:latin typeface="Times New Roman" panose="02020603050405020304" pitchFamily="18" charset="0"/>
                <a:cs typeface="Times New Roman" panose="02020603050405020304" pitchFamily="18" charset="0"/>
              </a:rPr>
              <a:t>a) C: “Cả hai thẻ rút được đều mang số lẻ”,</a:t>
            </a:r>
          </a:p>
          <a:p>
            <a:r>
              <a:rPr lang="en-US" sz="4800" b="1">
                <a:latin typeface="Times New Roman" panose="02020603050405020304" pitchFamily="18" charset="0"/>
                <a:cs typeface="Times New Roman" panose="02020603050405020304" pitchFamily="18" charset="0"/>
              </a:rPr>
              <a:t>b) D: “Cả hai thẻ rút được đều mang số chẵn”</a:t>
            </a:r>
          </a:p>
          <a:p>
            <a:endParaRPr lang="en-US" sz="4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72711" y="5562600"/>
                <a:ext cx="23818702" cy="79248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r>
                  <a:rPr lang="en-US" b="1">
                    <a:latin typeface="Times New Roman" panose="02020603050405020304" pitchFamily="18" charset="0"/>
                    <a:cs typeface="Times New Roman" panose="02020603050405020304" pitchFamily="18" charset="0"/>
                  </a:rPr>
                  <a:t>b) Trong hộp có 6 thẻ đánh số chẵn là tập hợp:  </a:t>
                </a:r>
                <a14:m>
                  <m:oMath xmlns:m="http://schemas.openxmlformats.org/officeDocument/2006/math">
                    <m:r>
                      <a:rPr lang="en-US" b="1" i="1">
                        <a:latin typeface="Cambria Math" panose="02040503050406030204" pitchFamily="18" charset="0"/>
                      </a:rPr>
                      <m:t>𝑩</m:t>
                    </m:r>
                    <m:r>
                      <a:rPr lang="en-US" b="1" i="1">
                        <a:latin typeface="Cambria Math" panose="02040503050406030204" pitchFamily="18" charset="0"/>
                      </a:rPr>
                      <m:t>=</m:t>
                    </m:r>
                    <m:d>
                      <m:dPr>
                        <m:begChr m:val="{"/>
                        <m:endChr m:val="}"/>
                        <m:ctrlPr>
                          <a:rPr lang="en-US" b="1" i="1">
                            <a:latin typeface="Cambria Math" panose="02040503050406030204" pitchFamily="18" charset="0"/>
                          </a:rPr>
                        </m:ctrlPr>
                      </m:dPr>
                      <m:e>
                        <m:r>
                          <a:rPr lang="en-US" b="1" i="1">
                            <a:latin typeface="Cambria Math" panose="02040503050406030204" pitchFamily="18" charset="0"/>
                          </a:rPr>
                          <m:t>𝟏𝟎</m:t>
                        </m:r>
                        <m:r>
                          <a:rPr lang="en-US" b="1" i="1">
                            <a:latin typeface="Cambria Math" panose="02040503050406030204" pitchFamily="18" charset="0"/>
                          </a:rPr>
                          <m:t>;</m:t>
                        </m:r>
                        <m:r>
                          <a:rPr lang="en-US" b="1" i="1">
                            <a:latin typeface="Cambria Math" panose="02040503050406030204" pitchFamily="18" charset="0"/>
                          </a:rPr>
                          <m:t>𝟏𝟐</m:t>
                        </m:r>
                        <m:r>
                          <a:rPr lang="en-US" b="1" i="1">
                            <a:latin typeface="Cambria Math" panose="02040503050406030204" pitchFamily="18" charset="0"/>
                          </a:rPr>
                          <m:t>;...;</m:t>
                        </m:r>
                        <m:r>
                          <a:rPr lang="en-US" b="1" i="1">
                            <a:latin typeface="Cambria Math" panose="02040503050406030204" pitchFamily="18" charset="0"/>
                          </a:rPr>
                          <m:t>𝟏𝟖</m:t>
                        </m:r>
                        <m:r>
                          <a:rPr lang="en-US" b="1" i="1">
                            <a:latin typeface="Cambria Math" panose="02040503050406030204" pitchFamily="18" charset="0"/>
                          </a:rPr>
                          <m:t>;</m:t>
                        </m:r>
                        <m:r>
                          <a:rPr lang="en-US" b="1" i="1">
                            <a:latin typeface="Cambria Math" panose="02040503050406030204" pitchFamily="18" charset="0"/>
                          </a:rPr>
                          <m:t>𝟐𝟎</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𝑩</m:t>
                        </m:r>
                      </m:e>
                    </m:d>
                    <m:r>
                      <a:rPr lang="en-US" b="1" i="1">
                        <a:latin typeface="Cambria Math" panose="02040503050406030204" pitchFamily="18" charset="0"/>
                      </a:rPr>
                      <m:t>=</m:t>
                    </m:r>
                    <m:r>
                      <a:rPr lang="en-US" b="1" i="1">
                        <a:latin typeface="Cambria Math" panose="02040503050406030204" pitchFamily="18" charset="0"/>
                      </a:rPr>
                      <m:t>𝟔</m:t>
                    </m:r>
                  </m:oMath>
                </a14:m>
                <a:r>
                  <a:rPr lang="en-US" b="1">
                    <a:latin typeface="Times New Roman" panose="02020603050405020304" pitchFamily="18" charset="0"/>
                    <a:cs typeface="Times New Roman" panose="02020603050405020304" pitchFamily="18" charset="0"/>
                  </a:rPr>
                  <a:t>.</a:t>
                </a:r>
              </a:p>
              <a:p>
                <a:r>
                  <a:rPr lang="en-US" b="1">
                    <a:latin typeface="Times New Roman" panose="02020603050405020304" pitchFamily="18" charset="0"/>
                    <a:cs typeface="Times New Roman" panose="02020603050405020304" pitchFamily="18" charset="0"/>
                  </a:rPr>
                  <a:t>Số cách rút 2 thẻ mang số chẵn là: </a:t>
                </a:r>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𝟔</m:t>
                        </m:r>
                      </m:sub>
                      <m:sup>
                        <m:r>
                          <a:rPr lang="en-US" b="1" i="1">
                            <a:latin typeface="Cambria Math" panose="02040503050406030204" pitchFamily="18" charset="0"/>
                          </a:rPr>
                          <m:t>𝟐</m:t>
                        </m:r>
                      </m:sup>
                    </m:sSubSup>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𝑪</m:t>
                        </m:r>
                      </m:e>
                    </m:d>
                    <m:r>
                      <a:rPr lang="en-US" b="1" i="1">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𝟔</m:t>
                        </m:r>
                      </m:sub>
                      <m:sup>
                        <m:r>
                          <a:rPr lang="en-US" b="1" i="1">
                            <a:latin typeface="Cambria Math" panose="02040503050406030204" pitchFamily="18" charset="0"/>
                          </a:rPr>
                          <m:t>𝟐</m:t>
                        </m:r>
                      </m:sup>
                    </m:sSubSup>
                  </m:oMath>
                </a14:m>
                <a:r>
                  <a:rPr lang="en-US" b="1">
                    <a:latin typeface="Times New Roman" panose="02020603050405020304" pitchFamily="18" charset="0"/>
                    <a:cs typeface="Times New Roman" panose="02020603050405020304" pitchFamily="18" charset="0"/>
                  </a:rPr>
                  <a:t>.</a:t>
                </a:r>
              </a:p>
              <a:p>
                <a:r>
                  <a:rPr lang="en-US" b="1">
                    <a:latin typeface="Times New Roman" panose="02020603050405020304" pitchFamily="18" charset="0"/>
                    <a:cs typeface="Times New Roman" panose="02020603050405020304" pitchFamily="18" charset="0"/>
                  </a:rPr>
                  <a:t>Xác suất của biến cố D: “Cả hai thẻ rút được đều mang số chẵn”</a:t>
                </a:r>
              </a:p>
              <a:p>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𝑫</m:t>
                        </m:r>
                      </m:e>
                    </m: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𝑫</m:t>
                            </m:r>
                          </m:e>
                        </m:d>
                      </m:num>
                      <m:den>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den>
                    </m:f>
                    <m:r>
                      <a:rPr lang="en-US" b="1" i="1">
                        <a:latin typeface="Cambria Math" panose="02040503050406030204" pitchFamily="18" charset="0"/>
                      </a:rPr>
                      <m:t>=</m:t>
                    </m:r>
                    <m:f>
                      <m:fPr>
                        <m:ctrlPr>
                          <a:rPr lang="en-US" b="1" i="1">
                            <a:latin typeface="Cambria Math" panose="02040503050406030204" pitchFamily="18" charset="0"/>
                          </a:rPr>
                        </m:ctrlPr>
                      </m:fPr>
                      <m:num>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𝟔</m:t>
                            </m:r>
                          </m:sub>
                          <m:sup>
                            <m:r>
                              <a:rPr lang="en-US" b="1" i="1">
                                <a:latin typeface="Cambria Math" panose="02040503050406030204" pitchFamily="18" charset="0"/>
                              </a:rPr>
                              <m:t>𝟐</m:t>
                            </m:r>
                          </m:sup>
                        </m:sSubSup>
                      </m:num>
                      <m:den>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𝟏𝟏</m:t>
                            </m:r>
                          </m:sub>
                          <m:sup>
                            <m:r>
                              <a:rPr lang="en-US" b="1" i="1">
                                <a:latin typeface="Cambria Math" panose="02040503050406030204" pitchFamily="18" charset="0"/>
                              </a:rPr>
                              <m:t>𝟐</m:t>
                            </m:r>
                          </m:sup>
                        </m:sSubSup>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𝟑</m:t>
                        </m:r>
                      </m:num>
                      <m:den>
                        <m:r>
                          <a:rPr lang="en-US" b="1" i="1">
                            <a:latin typeface="Cambria Math" panose="02040503050406030204" pitchFamily="18" charset="0"/>
                          </a:rPr>
                          <m:t>𝟏𝟏</m:t>
                        </m:r>
                      </m:den>
                    </m:f>
                  </m:oMath>
                </a14:m>
                <a:r>
                  <a:rPr lang="en-US" b="1">
                    <a:latin typeface="Times New Roman" panose="02020603050405020304" pitchFamily="18" charset="0"/>
                    <a:cs typeface="Times New Roman" panose="02020603050405020304" pitchFamily="18" charset="0"/>
                  </a:rPr>
                  <a:t>.</a:t>
                </a:r>
              </a:p>
              <a:p>
                <a:pPr marL="0" indent="0">
                  <a:buNone/>
                </a:pPr>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72711" y="5562600"/>
                <a:ext cx="23818702" cy="7924800"/>
              </a:xfrm>
              <a:prstGeom prst="rect">
                <a:avLst/>
              </a:prstGeom>
              <a:blipFill>
                <a:blip r:embed="rId3"/>
                <a:stretch>
                  <a:fillRect l="-1049" t="-2535"/>
                </a:stretch>
              </a:blipFill>
              <a:ln>
                <a:solidFill>
                  <a:srgbClr val="00B0F0"/>
                </a:solid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18777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xEl>
                                              <p:pRg st="1" end="1"/>
                                            </p:txEl>
                                          </p:spTgt>
                                        </p:tgtEl>
                                        <p:attrNameLst>
                                          <p:attrName>style.visibility</p:attrName>
                                        </p:attrNameLst>
                                      </p:cBhvr>
                                      <p:to>
                                        <p:strVal val="visible"/>
                                      </p:to>
                                    </p:set>
                                    <p:animEffect transition="in" filter="fade">
                                      <p:cBhvr>
                                        <p:cTn id="7" dur="500"/>
                                        <p:tgtEl>
                                          <p:spTgt spid="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
                                            <p:txEl>
                                              <p:pRg st="2" end="2"/>
                                            </p:txEl>
                                          </p:spTgt>
                                        </p:tgtEl>
                                        <p:attrNameLst>
                                          <p:attrName>style.visibility</p:attrName>
                                        </p:attrNameLst>
                                      </p:cBhvr>
                                      <p:to>
                                        <p:strVal val="visible"/>
                                      </p:to>
                                    </p:set>
                                    <p:animEffect transition="in" filter="fade">
                                      <p:cBhvr>
                                        <p:cTn id="12" dur="500"/>
                                        <p:tgtEl>
                                          <p:spTgt spid="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
                                            <p:txEl>
                                              <p:pRg st="3" end="3"/>
                                            </p:txEl>
                                          </p:spTgt>
                                        </p:tgtEl>
                                        <p:attrNameLst>
                                          <p:attrName>style.visibility</p:attrName>
                                        </p:attrNameLst>
                                      </p:cBhvr>
                                      <p:to>
                                        <p:strVal val="visible"/>
                                      </p:to>
                                    </p:set>
                                    <p:animEffect transition="in" filter="fade">
                                      <p:cBhvr>
                                        <p:cTn id="17" dur="500"/>
                                        <p:tgtEl>
                                          <p:spTgt spid="9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9">
                                            <p:txEl>
                                              <p:pRg st="4" end="4"/>
                                            </p:txEl>
                                          </p:spTgt>
                                        </p:tgtEl>
                                        <p:attrNameLst>
                                          <p:attrName>style.visibility</p:attrName>
                                        </p:attrNameLst>
                                      </p:cBhvr>
                                      <p:to>
                                        <p:strVal val="visible"/>
                                      </p:to>
                                    </p:set>
                                    <p:animEffect transition="in" filter="fade">
                                      <p:cBhvr>
                                        <p:cTn id="22" dur="500"/>
                                        <p:tgtEl>
                                          <p:spTgt spid="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21818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9.8. </a:t>
            </a:r>
          </a:p>
          <a:p>
            <a:r>
              <a:rPr lang="en-US" sz="4800" b="1">
                <a:latin typeface="Times New Roman" panose="02020603050405020304" pitchFamily="18" charset="0"/>
                <a:cs typeface="Times New Roman" panose="02020603050405020304" pitchFamily="18" charset="0"/>
              </a:rPr>
              <a:t>Một chiếc hộp đựng 6 viên bỉ trắng, 4 viên bi đỏ và 2 viên bi đen. Chọn ngẫu nhiên ra 6 viên bi. Tính xác suất để trong 6 viên bi đó có 3 viên bi trắng, 2 viên bi đỏ và 1 viên bi đen. </a:t>
            </a:r>
          </a:p>
          <a:p>
            <a:endParaRPr lang="en-US" sz="4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72711" y="3962400"/>
                <a:ext cx="23818702" cy="95250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r>
                  <a:rPr lang="en-US" sz="4400" b="1">
                    <a:latin typeface="Times New Roman" panose="02020603050405020304" pitchFamily="18" charset="0"/>
                    <a:cs typeface="Times New Roman" panose="02020603050405020304" pitchFamily="18" charset="0"/>
                  </a:rPr>
                  <a:t>Trong hộp có tất cả số bi: </a:t>
                </a:r>
                <a14:m>
                  <m:oMath xmlns:m="http://schemas.openxmlformats.org/officeDocument/2006/math">
                    <m:r>
                      <a:rPr lang="en-US" sz="4400" b="1" i="1">
                        <a:latin typeface="Cambria Math" panose="02040503050406030204" pitchFamily="18" charset="0"/>
                      </a:rPr>
                      <m:t>𝟔</m:t>
                    </m:r>
                    <m:r>
                      <a:rPr lang="en-US" sz="4400" b="1" i="1">
                        <a:latin typeface="Cambria Math" panose="02040503050406030204" pitchFamily="18" charset="0"/>
                      </a:rPr>
                      <m:t>+</m:t>
                    </m:r>
                    <m:r>
                      <a:rPr lang="en-US" sz="4400" b="1" i="1">
                        <a:latin typeface="Cambria Math" panose="02040503050406030204" pitchFamily="18" charset="0"/>
                      </a:rPr>
                      <m:t>𝟒</m:t>
                    </m:r>
                    <m:r>
                      <a:rPr lang="en-US" sz="4400" b="1" i="1">
                        <a:latin typeface="Cambria Math" panose="02040503050406030204" pitchFamily="18" charset="0"/>
                      </a:rPr>
                      <m:t>+</m:t>
                    </m:r>
                    <m:r>
                      <a:rPr lang="en-US" sz="4400" b="1" i="1">
                        <a:latin typeface="Cambria Math" panose="02040503050406030204" pitchFamily="18" charset="0"/>
                      </a:rPr>
                      <m:t>𝟐</m:t>
                    </m:r>
                    <m:r>
                      <a:rPr lang="en-US" sz="4400" b="1" i="1">
                        <a:latin typeface="Cambria Math" panose="02040503050406030204" pitchFamily="18" charset="0"/>
                      </a:rPr>
                      <m:t>=</m:t>
                    </m:r>
                    <m:r>
                      <a:rPr lang="en-US" sz="4400" b="1" i="1">
                        <a:latin typeface="Cambria Math" panose="02040503050406030204" pitchFamily="18" charset="0"/>
                      </a:rPr>
                      <m:t>𝟏𝟐</m:t>
                    </m:r>
                  </m:oMath>
                </a14:m>
                <a:r>
                  <a:rPr lang="en-US" sz="4400" b="1">
                    <a:latin typeface="Times New Roman" panose="02020603050405020304" pitchFamily="18" charset="0"/>
                    <a:cs typeface="Times New Roman" panose="02020603050405020304" pitchFamily="18" charset="0"/>
                  </a:rPr>
                  <a:t>(viên bi).</a:t>
                </a:r>
              </a:p>
              <a:p>
                <a:r>
                  <a:rPr lang="en-US" sz="4400" b="1">
                    <a:latin typeface="Times New Roman" panose="02020603050405020304" pitchFamily="18" charset="0"/>
                    <a:cs typeface="Times New Roman" panose="02020603050405020304" pitchFamily="18" charset="0"/>
                  </a:rPr>
                  <a:t>Số cách chọn ngẫu nhiên ra 6 viên bi: </a:t>
                </a:r>
                <a14:m>
                  <m:oMath xmlns:m="http://schemas.openxmlformats.org/officeDocument/2006/math">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𝟏𝟐</m:t>
                        </m:r>
                      </m:sub>
                      <m:sup>
                        <m:r>
                          <a:rPr lang="en-US" sz="4400" b="1" i="1">
                            <a:latin typeface="Cambria Math" panose="02040503050406030204" pitchFamily="18" charset="0"/>
                          </a:rPr>
                          <m:t>𝟔</m:t>
                        </m:r>
                      </m:sup>
                    </m:sSubSup>
                  </m:oMath>
                </a14:m>
                <a:r>
                  <a:rPr lang="en-US" sz="4400" b="1">
                    <a:latin typeface="Times New Roman" panose="02020603050405020304" pitchFamily="18" charset="0"/>
                    <a:cs typeface="Times New Roman" panose="02020603050405020304" pitchFamily="18" charset="0"/>
                  </a:rPr>
                  <a:t>. Số phần tử không gian mẫu: </a:t>
                </a:r>
                <a14:m>
                  <m:oMath xmlns:m="http://schemas.openxmlformats.org/officeDocument/2006/math">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𝜴</m:t>
                        </m:r>
                      </m:e>
                    </m:d>
                    <m:r>
                      <a:rPr lang="en-US" sz="4400" b="1" i="1">
                        <a:latin typeface="Cambria Math" panose="02040503050406030204" pitchFamily="18" charset="0"/>
                      </a:rPr>
                      <m:t>=</m:t>
                    </m:r>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𝟏𝟐</m:t>
                        </m:r>
                      </m:sub>
                      <m:sup>
                        <m:r>
                          <a:rPr lang="en-US" sz="4400" b="1" i="1">
                            <a:latin typeface="Cambria Math" panose="02040503050406030204" pitchFamily="18" charset="0"/>
                          </a:rPr>
                          <m:t>𝟔</m:t>
                        </m:r>
                      </m:sup>
                    </m:sSubSup>
                    <m:r>
                      <a:rPr lang="en-US" sz="4400" b="1" i="1">
                        <a:latin typeface="Cambria Math" panose="02040503050406030204" pitchFamily="18" charset="0"/>
                      </a:rPr>
                      <m:t>=</m:t>
                    </m:r>
                    <m:r>
                      <a:rPr lang="en-US" sz="4400" b="1" i="1">
                        <a:latin typeface="Cambria Math" panose="02040503050406030204" pitchFamily="18" charset="0"/>
                      </a:rPr>
                      <m:t>𝟗𝟐𝟒</m:t>
                    </m:r>
                  </m:oMath>
                </a14:m>
                <a:r>
                  <a:rPr lang="en-US" sz="4400" b="1">
                    <a:latin typeface="Times New Roman" panose="02020603050405020304" pitchFamily="18" charset="0"/>
                    <a:cs typeface="Times New Roman" panose="02020603050405020304" pitchFamily="18" charset="0"/>
                  </a:rPr>
                  <a:t>.</a:t>
                </a:r>
              </a:p>
              <a:p>
                <a:r>
                  <a:rPr lang="en-US" sz="4400" b="1">
                    <a:latin typeface="Times New Roman" panose="02020603050405020304" pitchFamily="18" charset="0"/>
                    <a:cs typeface="Times New Roman" panose="02020603050405020304" pitchFamily="18" charset="0"/>
                  </a:rPr>
                  <a:t>Gọi biến cố A: “Có 3 viên bi trắng, 2 viên bi đỏ và 1 viên bi đen”.</a:t>
                </a:r>
              </a:p>
              <a:p>
                <a:pPr marL="0" indent="0">
                  <a:buNone/>
                </a:pPr>
                <a:r>
                  <a:rPr lang="en-US" sz="4400" b="1">
                    <a:latin typeface="Times New Roman" panose="02020603050405020304" pitchFamily="18" charset="0"/>
                    <a:cs typeface="Times New Roman" panose="02020603050405020304" pitchFamily="18" charset="0"/>
                  </a:rPr>
                  <a:t>   - Chọn ra 3 viên bi trắng có: </a:t>
                </a:r>
                <a14:m>
                  <m:oMath xmlns:m="http://schemas.openxmlformats.org/officeDocument/2006/math">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𝟔</m:t>
                        </m:r>
                      </m:sub>
                      <m:sup>
                        <m:r>
                          <a:rPr lang="en-US" sz="4400" b="1" i="1">
                            <a:latin typeface="Cambria Math" panose="02040503050406030204" pitchFamily="18" charset="0"/>
                          </a:rPr>
                          <m:t>𝟑</m:t>
                        </m:r>
                      </m:sup>
                    </m:sSubSup>
                  </m:oMath>
                </a14:m>
                <a:r>
                  <a:rPr lang="en-US" sz="4400" b="1">
                    <a:latin typeface="Times New Roman" panose="02020603050405020304" pitchFamily="18" charset="0"/>
                    <a:cs typeface="Times New Roman" panose="02020603050405020304" pitchFamily="18" charset="0"/>
                  </a:rPr>
                  <a:t> cách.</a:t>
                </a:r>
              </a:p>
              <a:p>
                <a:pPr marL="0" indent="0">
                  <a:buNone/>
                </a:pPr>
                <a:r>
                  <a:rPr lang="en-US" sz="4400" b="1">
                    <a:latin typeface="Times New Roman" panose="02020603050405020304" pitchFamily="18" charset="0"/>
                    <a:cs typeface="Times New Roman" panose="02020603050405020304" pitchFamily="18" charset="0"/>
                  </a:rPr>
                  <a:t>   - Chọn ra 2 viên bi đỏ có: </a:t>
                </a:r>
                <a14:m>
                  <m:oMath xmlns:m="http://schemas.openxmlformats.org/officeDocument/2006/math">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𝟒</m:t>
                        </m:r>
                      </m:sub>
                      <m:sup>
                        <m:r>
                          <a:rPr lang="en-US" sz="4400" b="1" i="1">
                            <a:latin typeface="Cambria Math" panose="02040503050406030204" pitchFamily="18" charset="0"/>
                          </a:rPr>
                          <m:t>𝟐</m:t>
                        </m:r>
                      </m:sup>
                    </m:sSubSup>
                  </m:oMath>
                </a14:m>
                <a:r>
                  <a:rPr lang="en-US" sz="4400" b="1">
                    <a:latin typeface="Times New Roman" panose="02020603050405020304" pitchFamily="18" charset="0"/>
                    <a:cs typeface="Times New Roman" panose="02020603050405020304" pitchFamily="18" charset="0"/>
                  </a:rPr>
                  <a:t> cách.</a:t>
                </a:r>
              </a:p>
              <a:p>
                <a:pPr marL="0" indent="0">
                  <a:buNone/>
                </a:pPr>
                <a:r>
                  <a:rPr lang="en-US" sz="4400" b="1">
                    <a:latin typeface="Times New Roman" panose="02020603050405020304" pitchFamily="18" charset="0"/>
                    <a:cs typeface="Times New Roman" panose="02020603050405020304" pitchFamily="18" charset="0"/>
                  </a:rPr>
                  <a:t>   - Chọn ra 1 viên bi đen có: </a:t>
                </a:r>
                <a14:m>
                  <m:oMath xmlns:m="http://schemas.openxmlformats.org/officeDocument/2006/math">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𝟐</m:t>
                        </m:r>
                      </m:sub>
                      <m:sup>
                        <m:r>
                          <a:rPr lang="en-US" sz="4400" b="1" i="1">
                            <a:latin typeface="Cambria Math" panose="02040503050406030204" pitchFamily="18" charset="0"/>
                          </a:rPr>
                          <m:t>𝟏</m:t>
                        </m:r>
                      </m:sup>
                    </m:sSubSup>
                  </m:oMath>
                </a14:m>
                <a:r>
                  <a:rPr lang="en-US" sz="4400" b="1">
                    <a:latin typeface="Times New Roman" panose="02020603050405020304" pitchFamily="18" charset="0"/>
                    <a:cs typeface="Times New Roman" panose="02020603050405020304" pitchFamily="18" charset="0"/>
                  </a:rPr>
                  <a:t> cách.</a:t>
                </a:r>
              </a:p>
              <a:p>
                <a:pPr marL="0" indent="0">
                  <a:buNone/>
                </a:pPr>
                <a:r>
                  <a:rPr lang="en-US" sz="4400" b="1">
                    <a:latin typeface="Times New Roman" panose="02020603050405020304" pitchFamily="18" charset="0"/>
                    <a:cs typeface="Times New Roman" panose="02020603050405020304" pitchFamily="18" charset="0"/>
                  </a:rPr>
                  <a:t> </a:t>
                </a:r>
                <a14:m>
                  <m:oMath xmlns:m="http://schemas.openxmlformats.org/officeDocument/2006/math">
                    <m:r>
                      <a:rPr lang="en-US" sz="4400" b="1" i="1">
                        <a:latin typeface="Cambria Math" panose="02040503050406030204" pitchFamily="18" charset="0"/>
                      </a:rPr>
                      <m:t>⇒</m:t>
                    </m:r>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𝑨</m:t>
                        </m:r>
                      </m:e>
                    </m:d>
                    <m:r>
                      <a:rPr lang="en-US" sz="4400" b="1" i="1">
                        <a:latin typeface="Cambria Math" panose="02040503050406030204" pitchFamily="18" charset="0"/>
                      </a:rPr>
                      <m:t>=</m:t>
                    </m:r>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𝟔</m:t>
                        </m:r>
                      </m:sub>
                      <m:sup>
                        <m:r>
                          <a:rPr lang="en-US" sz="4400" b="1" i="1">
                            <a:latin typeface="Cambria Math" panose="02040503050406030204" pitchFamily="18" charset="0"/>
                          </a:rPr>
                          <m:t>𝟑</m:t>
                        </m:r>
                      </m:sup>
                    </m:sSubSup>
                    <m:r>
                      <a:rPr lang="en-US" sz="4400" b="1" i="1">
                        <a:latin typeface="Cambria Math" panose="02040503050406030204" pitchFamily="18" charset="0"/>
                      </a:rPr>
                      <m:t>.</m:t>
                    </m:r>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𝟒</m:t>
                        </m:r>
                      </m:sub>
                      <m:sup>
                        <m:r>
                          <a:rPr lang="en-US" sz="4400" b="1" i="1">
                            <a:latin typeface="Cambria Math" panose="02040503050406030204" pitchFamily="18" charset="0"/>
                          </a:rPr>
                          <m:t>𝟐</m:t>
                        </m:r>
                      </m:sup>
                    </m:sSubSup>
                    <m:r>
                      <a:rPr lang="en-US" sz="4400" b="1" i="1">
                        <a:latin typeface="Cambria Math" panose="02040503050406030204" pitchFamily="18" charset="0"/>
                      </a:rPr>
                      <m:t>.</m:t>
                    </m:r>
                    <m:sSubSup>
                      <m:sSubSupPr>
                        <m:ctrlPr>
                          <a:rPr lang="en-US" sz="4400" b="1" i="1">
                            <a:latin typeface="Cambria Math" panose="02040503050406030204" pitchFamily="18" charset="0"/>
                          </a:rPr>
                        </m:ctrlPr>
                      </m:sSubSupPr>
                      <m:e>
                        <m:r>
                          <a:rPr lang="en-US" sz="4400" b="1" i="1">
                            <a:latin typeface="Cambria Math" panose="02040503050406030204" pitchFamily="18" charset="0"/>
                          </a:rPr>
                          <m:t>𝑪</m:t>
                        </m:r>
                      </m:e>
                      <m:sub>
                        <m:r>
                          <a:rPr lang="en-US" sz="4400" b="1" i="1">
                            <a:latin typeface="Cambria Math" panose="02040503050406030204" pitchFamily="18" charset="0"/>
                          </a:rPr>
                          <m:t>𝟐</m:t>
                        </m:r>
                      </m:sub>
                      <m:sup>
                        <m:r>
                          <a:rPr lang="en-US" sz="4400" b="1" i="1">
                            <a:latin typeface="Cambria Math" panose="02040503050406030204" pitchFamily="18" charset="0"/>
                          </a:rPr>
                          <m:t>𝟏</m:t>
                        </m:r>
                      </m:sup>
                    </m:sSubSup>
                    <m:r>
                      <a:rPr lang="en-US" sz="4400" b="1" i="1">
                        <a:latin typeface="Cambria Math" panose="02040503050406030204" pitchFamily="18" charset="0"/>
                      </a:rPr>
                      <m:t>=</m:t>
                    </m:r>
                    <m:r>
                      <a:rPr lang="en-US" sz="4400" b="1" i="1">
                        <a:latin typeface="Cambria Math" panose="02040503050406030204" pitchFamily="18" charset="0"/>
                      </a:rPr>
                      <m:t>𝟐𝟒𝟎</m:t>
                    </m:r>
                  </m:oMath>
                </a14:m>
                <a:r>
                  <a:rPr lang="en-US" sz="4400" b="1">
                    <a:latin typeface="Times New Roman" panose="02020603050405020304" pitchFamily="18" charset="0"/>
                    <a:cs typeface="Times New Roman" panose="02020603050405020304" pitchFamily="18" charset="0"/>
                  </a:rPr>
                  <a:t>.</a:t>
                </a:r>
              </a:p>
              <a:p>
                <a:r>
                  <a:rPr lang="en-US" sz="4400" b="1">
                    <a:latin typeface="Times New Roman" panose="02020603050405020304" pitchFamily="18" charset="0"/>
                    <a:cs typeface="Times New Roman" panose="02020603050405020304" pitchFamily="18" charset="0"/>
                  </a:rPr>
                  <a:t>Xác suất của biến cố A: “Có 3 viên bi trắng, 2 viên bi đỏ và 1 viên bi đen”</a:t>
                </a:r>
              </a:p>
              <a:p>
                <a14:m>
                  <m:oMath xmlns:m="http://schemas.openxmlformats.org/officeDocument/2006/math">
                    <m:r>
                      <a:rPr lang="en-US" sz="4400" b="1" i="1">
                        <a:latin typeface="Cambria Math" panose="02040503050406030204" pitchFamily="18" charset="0"/>
                      </a:rPr>
                      <m:t>𝑷</m:t>
                    </m:r>
                    <m:d>
                      <m:dPr>
                        <m:ctrlPr>
                          <a:rPr lang="en-US" sz="4400" b="1" i="1">
                            <a:latin typeface="Cambria Math" panose="02040503050406030204" pitchFamily="18" charset="0"/>
                          </a:rPr>
                        </m:ctrlPr>
                      </m:dPr>
                      <m:e>
                        <m:r>
                          <a:rPr lang="en-US" sz="4400" b="1" i="1">
                            <a:latin typeface="Cambria Math" panose="02040503050406030204" pitchFamily="18" charset="0"/>
                          </a:rPr>
                          <m:t>𝑨</m:t>
                        </m:r>
                      </m:e>
                    </m:d>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𝑨</m:t>
                            </m:r>
                          </m:e>
                        </m:d>
                      </m:num>
                      <m:den>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𝜴</m:t>
                            </m:r>
                          </m:e>
                        </m:d>
                      </m:den>
                    </m:f>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𝟐𝟒𝟎</m:t>
                        </m:r>
                      </m:num>
                      <m:den>
                        <m:r>
                          <a:rPr lang="en-US" sz="4400" b="1" i="1">
                            <a:latin typeface="Cambria Math" panose="02040503050406030204" pitchFamily="18" charset="0"/>
                          </a:rPr>
                          <m:t>𝟗𝟐𝟒</m:t>
                        </m:r>
                      </m:den>
                    </m:f>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𝟐𝟎</m:t>
                        </m:r>
                      </m:num>
                      <m:den>
                        <m:r>
                          <a:rPr lang="en-US" sz="4400" b="1" i="1">
                            <a:latin typeface="Cambria Math" panose="02040503050406030204" pitchFamily="18" charset="0"/>
                          </a:rPr>
                          <m:t>𝟕𝟕</m:t>
                        </m:r>
                      </m:den>
                    </m:f>
                  </m:oMath>
                </a14:m>
                <a:r>
                  <a:rPr lang="en-US" sz="4400" b="1">
                    <a:latin typeface="Times New Roman" panose="02020603050405020304" pitchFamily="18" charset="0"/>
                    <a:cs typeface="Times New Roman" panose="02020603050405020304" pitchFamily="18" charset="0"/>
                  </a:rPr>
                  <a:t>.</a:t>
                </a:r>
              </a:p>
              <a:p>
                <a:pPr marL="0" indent="0">
                  <a:buNone/>
                </a:pPr>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72711" y="3962400"/>
                <a:ext cx="23818702" cy="9525000"/>
              </a:xfrm>
              <a:prstGeom prst="rect">
                <a:avLst/>
              </a:prstGeom>
              <a:blipFill>
                <a:blip r:embed="rId3"/>
                <a:stretch>
                  <a:fillRect l="-1049" t="-2109"/>
                </a:stretch>
              </a:blipFill>
              <a:ln>
                <a:solidFill>
                  <a:srgbClr val="00B0F0"/>
                </a:solid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838894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wipe(left)">
                                      <p:cBhvr>
                                        <p:cTn id="7" dur="500"/>
                                        <p:tgtEl>
                                          <p:spTgt spid="97">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animEffect transition="in" filter="fade">
                                      <p:cBhvr>
                                        <p:cTn id="11" dur="500"/>
                                        <p:tgtEl>
                                          <p:spTgt spid="97">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9">
                                            <p:txEl>
                                              <p:pRg st="1" end="1"/>
                                            </p:txEl>
                                          </p:spTgt>
                                        </p:tgtEl>
                                        <p:attrNameLst>
                                          <p:attrName>style.visibility</p:attrName>
                                        </p:attrNameLst>
                                      </p:cBhvr>
                                      <p:to>
                                        <p:strVal val="visible"/>
                                      </p:to>
                                    </p:set>
                                    <p:animEffect transition="in" filter="fade">
                                      <p:cBhvr>
                                        <p:cTn id="20" dur="500"/>
                                        <p:tgtEl>
                                          <p:spTgt spid="9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9">
                                            <p:txEl>
                                              <p:pRg st="2" end="2"/>
                                            </p:txEl>
                                          </p:spTgt>
                                        </p:tgtEl>
                                        <p:attrNameLst>
                                          <p:attrName>style.visibility</p:attrName>
                                        </p:attrNameLst>
                                      </p:cBhvr>
                                      <p:to>
                                        <p:strVal val="visible"/>
                                      </p:to>
                                    </p:set>
                                    <p:animEffect transition="in" filter="fade">
                                      <p:cBhvr>
                                        <p:cTn id="25" dur="500"/>
                                        <p:tgtEl>
                                          <p:spTgt spid="9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9">
                                            <p:txEl>
                                              <p:pRg st="3" end="3"/>
                                            </p:txEl>
                                          </p:spTgt>
                                        </p:tgtEl>
                                        <p:attrNameLst>
                                          <p:attrName>style.visibility</p:attrName>
                                        </p:attrNameLst>
                                      </p:cBhvr>
                                      <p:to>
                                        <p:strVal val="visible"/>
                                      </p:to>
                                    </p:set>
                                    <p:animEffect transition="in" filter="fade">
                                      <p:cBhvr>
                                        <p:cTn id="30" dur="500"/>
                                        <p:tgtEl>
                                          <p:spTgt spid="9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9">
                                            <p:txEl>
                                              <p:pRg st="4" end="4"/>
                                            </p:txEl>
                                          </p:spTgt>
                                        </p:tgtEl>
                                        <p:attrNameLst>
                                          <p:attrName>style.visibility</p:attrName>
                                        </p:attrNameLst>
                                      </p:cBhvr>
                                      <p:to>
                                        <p:strVal val="visible"/>
                                      </p:to>
                                    </p:set>
                                    <p:animEffect transition="in" filter="fade">
                                      <p:cBhvr>
                                        <p:cTn id="35" dur="500"/>
                                        <p:tgtEl>
                                          <p:spTgt spid="99">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9">
                                            <p:txEl>
                                              <p:pRg st="5" end="5"/>
                                            </p:txEl>
                                          </p:spTgt>
                                        </p:tgtEl>
                                        <p:attrNameLst>
                                          <p:attrName>style.visibility</p:attrName>
                                        </p:attrNameLst>
                                      </p:cBhvr>
                                      <p:to>
                                        <p:strVal val="visible"/>
                                      </p:to>
                                    </p:set>
                                    <p:animEffect transition="in" filter="fade">
                                      <p:cBhvr>
                                        <p:cTn id="40" dur="500"/>
                                        <p:tgtEl>
                                          <p:spTgt spid="99">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9">
                                            <p:txEl>
                                              <p:pRg st="6" end="6"/>
                                            </p:txEl>
                                          </p:spTgt>
                                        </p:tgtEl>
                                        <p:attrNameLst>
                                          <p:attrName>style.visibility</p:attrName>
                                        </p:attrNameLst>
                                      </p:cBhvr>
                                      <p:to>
                                        <p:strVal val="visible"/>
                                      </p:to>
                                    </p:set>
                                    <p:animEffect transition="in" filter="fade">
                                      <p:cBhvr>
                                        <p:cTn id="45" dur="500"/>
                                        <p:tgtEl>
                                          <p:spTgt spid="9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9">
                                            <p:txEl>
                                              <p:pRg st="7" end="7"/>
                                            </p:txEl>
                                          </p:spTgt>
                                        </p:tgtEl>
                                        <p:attrNameLst>
                                          <p:attrName>style.visibility</p:attrName>
                                        </p:attrNameLst>
                                      </p:cBhvr>
                                      <p:to>
                                        <p:strVal val="visible"/>
                                      </p:to>
                                    </p:set>
                                    <p:animEffect transition="in" filter="fade">
                                      <p:cBhvr>
                                        <p:cTn id="50" dur="500"/>
                                        <p:tgtEl>
                                          <p:spTgt spid="99">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9">
                                            <p:txEl>
                                              <p:pRg st="8" end="8"/>
                                            </p:txEl>
                                          </p:spTgt>
                                        </p:tgtEl>
                                        <p:attrNameLst>
                                          <p:attrName>style.visibility</p:attrName>
                                        </p:attrNameLst>
                                      </p:cBhvr>
                                      <p:to>
                                        <p:strVal val="visible"/>
                                      </p:to>
                                    </p:set>
                                    <p:animEffect transition="in" filter="fade">
                                      <p:cBhvr>
                                        <p:cTn id="55" dur="500"/>
                                        <p:tgtEl>
                                          <p:spTgt spid="99">
                                            <p:txEl>
                                              <p:pRg st="8" end="8"/>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99">
                                            <p:txEl>
                                              <p:pRg st="9" end="9"/>
                                            </p:txEl>
                                          </p:spTgt>
                                        </p:tgtEl>
                                        <p:attrNameLst>
                                          <p:attrName>style.visibility</p:attrName>
                                        </p:attrNameLst>
                                      </p:cBhvr>
                                      <p:to>
                                        <p:strVal val="visible"/>
                                      </p:to>
                                    </p:set>
                                    <p:animEffect transition="in" filter="fade">
                                      <p:cBhvr>
                                        <p:cTn id="60" dur="500"/>
                                        <p:tgtEl>
                                          <p:spTgt spid="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43154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9.9. </a:t>
            </a:r>
          </a:p>
          <a:p>
            <a:r>
              <a:rPr lang="en-US" sz="4800" b="1">
                <a:latin typeface="Times New Roman" panose="02020603050405020304" pitchFamily="18" charset="0"/>
                <a:cs typeface="Times New Roman" panose="02020603050405020304" pitchFamily="18" charset="0"/>
              </a:rPr>
              <a:t>Gieo liên tiếp một con xúc xắc và một đồng xu. </a:t>
            </a:r>
          </a:p>
          <a:p>
            <a:r>
              <a:rPr lang="en-US" sz="4800" b="1">
                <a:latin typeface="Times New Roman" panose="02020603050405020304" pitchFamily="18" charset="0"/>
                <a:cs typeface="Times New Roman" panose="02020603050405020304" pitchFamily="18" charset="0"/>
              </a:rPr>
              <a:t>a) Vẽ sơ đồ hình cây mô tả các phần tử của không gian mẫu. </a:t>
            </a:r>
          </a:p>
          <a:p>
            <a:r>
              <a:rPr lang="en-US" sz="4800" b="1">
                <a:latin typeface="Times New Roman" panose="02020603050405020304" pitchFamily="18" charset="0"/>
                <a:cs typeface="Times New Roman" panose="02020603050405020304" pitchFamily="18" charset="0"/>
              </a:rPr>
              <a:t>b) Tính xác suất của các biến cố sau: </a:t>
            </a:r>
          </a:p>
          <a:p>
            <a:r>
              <a:rPr lang="en-US" sz="4800" b="1" i="1">
                <a:latin typeface="Times New Roman" panose="02020603050405020304" pitchFamily="18" charset="0"/>
                <a:cs typeface="Times New Roman" panose="02020603050405020304" pitchFamily="18" charset="0"/>
              </a:rPr>
              <a:t>F:</a:t>
            </a:r>
            <a:r>
              <a:rPr lang="en-US" sz="4800" b="1">
                <a:latin typeface="Times New Roman" panose="02020603050405020304" pitchFamily="18" charset="0"/>
                <a:cs typeface="Times New Roman" panose="02020603050405020304" pitchFamily="18" charset="0"/>
              </a:rPr>
              <a:t> “Đồng xu xuất hiện mặt ngửa”; </a:t>
            </a:r>
          </a:p>
          <a:p>
            <a:r>
              <a:rPr lang="en-US" sz="4800" b="1" i="1">
                <a:latin typeface="Times New Roman" panose="02020603050405020304" pitchFamily="18" charset="0"/>
                <a:cs typeface="Times New Roman" panose="02020603050405020304" pitchFamily="18" charset="0"/>
              </a:rPr>
              <a:t>G:</a:t>
            </a:r>
            <a:r>
              <a:rPr lang="en-US" sz="4800" b="1">
                <a:latin typeface="Times New Roman" panose="02020603050405020304" pitchFamily="18" charset="0"/>
                <a:cs typeface="Times New Roman" panose="02020603050405020304" pitchFamily="18" charset="0"/>
              </a:rPr>
              <a:t> “Đồng xu xuất hiện mặt sấp hoặc số chấm xuất hiện trên con xúc xắc là 5”.</a:t>
            </a:r>
          </a:p>
          <a:p>
            <a:endParaRPr lang="en-US" sz="4800" b="1" dirty="0">
              <a:latin typeface="Times New Roman" panose="02020603050405020304" pitchFamily="18" charset="0"/>
              <a:cs typeface="Times New Roman" panose="02020603050405020304" pitchFamily="18"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68993" y="6096000"/>
            <a:ext cx="23818702" cy="79248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pPr marL="0" indent="0">
              <a:buNone/>
            </a:pPr>
            <a:r>
              <a:rPr lang="en-US"/>
              <a:t>a) </a:t>
            </a:r>
          </a:p>
          <a:p>
            <a:pPr marL="0" indent="0">
              <a:buNone/>
            </a:pPr>
            <a:endParaRPr lang="en-US" b="1" dirty="0"/>
          </a:p>
        </p:txBody>
      </p:sp>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6C5C2D1C-379E-29DC-DF7F-F846EB35271D}"/>
              </a:ext>
            </a:extLst>
          </p:cNvPr>
          <p:cNvPicPr>
            <a:picLocks noChangeAspect="1"/>
          </p:cNvPicPr>
          <p:nvPr/>
        </p:nvPicPr>
        <p:blipFill>
          <a:blip r:embed="rId3"/>
          <a:stretch>
            <a:fillRect/>
          </a:stretch>
        </p:blipFill>
        <p:spPr>
          <a:xfrm>
            <a:off x="3733800" y="6629400"/>
            <a:ext cx="14935200" cy="6690484"/>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532592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wipe(left)">
                                      <p:cBhvr>
                                        <p:cTn id="7" dur="500"/>
                                        <p:tgtEl>
                                          <p:spTgt spid="97">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animEffect transition="in" filter="fade">
                                      <p:cBhvr>
                                        <p:cTn id="11" dur="500"/>
                                        <p:tgtEl>
                                          <p:spTgt spid="97">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7">
                                            <p:txEl>
                                              <p:pRg st="2" end="2"/>
                                            </p:txEl>
                                          </p:spTgt>
                                        </p:tgtEl>
                                        <p:attrNameLst>
                                          <p:attrName>style.visibility</p:attrName>
                                        </p:attrNameLst>
                                      </p:cBhvr>
                                      <p:to>
                                        <p:strVal val="visible"/>
                                      </p:to>
                                    </p:set>
                                    <p:animEffect transition="in" filter="fade">
                                      <p:cBhvr>
                                        <p:cTn id="15" dur="500"/>
                                        <p:tgtEl>
                                          <p:spTgt spid="97">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97">
                                            <p:txEl>
                                              <p:pRg st="3" end="3"/>
                                            </p:txEl>
                                          </p:spTgt>
                                        </p:tgtEl>
                                        <p:attrNameLst>
                                          <p:attrName>style.visibility</p:attrName>
                                        </p:attrNameLst>
                                      </p:cBhvr>
                                      <p:to>
                                        <p:strVal val="visible"/>
                                      </p:to>
                                    </p:set>
                                    <p:animEffect transition="in" filter="fade">
                                      <p:cBhvr>
                                        <p:cTn id="19" dur="500"/>
                                        <p:tgtEl>
                                          <p:spTgt spid="97">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97">
                                            <p:txEl>
                                              <p:pRg st="4" end="4"/>
                                            </p:txEl>
                                          </p:spTgt>
                                        </p:tgtEl>
                                        <p:attrNameLst>
                                          <p:attrName>style.visibility</p:attrName>
                                        </p:attrNameLst>
                                      </p:cBhvr>
                                      <p:to>
                                        <p:strVal val="visible"/>
                                      </p:to>
                                    </p:set>
                                    <p:animEffect transition="in" filter="fade">
                                      <p:cBhvr>
                                        <p:cTn id="23" dur="500"/>
                                        <p:tgtEl>
                                          <p:spTgt spid="97">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97">
                                            <p:txEl>
                                              <p:pRg st="5" end="5"/>
                                            </p:txEl>
                                          </p:spTgt>
                                        </p:tgtEl>
                                        <p:attrNameLst>
                                          <p:attrName>style.visibility</p:attrName>
                                        </p:attrNameLst>
                                      </p:cBhvr>
                                      <p:to>
                                        <p:strVal val="visible"/>
                                      </p:to>
                                    </p:set>
                                    <p:animEffect transition="in" filter="fade">
                                      <p:cBhvr>
                                        <p:cTn id="27" dur="500"/>
                                        <p:tgtEl>
                                          <p:spTgt spid="97">
                                            <p:txEl>
                                              <p:pRg st="5" end="5"/>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99">
                                            <p:txEl>
                                              <p:pRg st="0" end="0"/>
                                            </p:txEl>
                                          </p:spTgt>
                                        </p:tgtEl>
                                        <p:attrNameLst>
                                          <p:attrName>style.visibility</p:attrName>
                                        </p:attrNameLst>
                                      </p:cBhvr>
                                      <p:to>
                                        <p:strVal val="visible"/>
                                      </p:to>
                                    </p:set>
                                    <p:animEffect transition="in" filter="wipe(up)">
                                      <p:cBhvr>
                                        <p:cTn id="31" dur="500"/>
                                        <p:tgtEl>
                                          <p:spTgt spid="99">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9">
                                            <p:txEl>
                                              <p:pRg st="1" end="1"/>
                                            </p:txEl>
                                          </p:spTgt>
                                        </p:tgtEl>
                                        <p:attrNameLst>
                                          <p:attrName>style.visibility</p:attrName>
                                        </p:attrNameLst>
                                      </p:cBhvr>
                                      <p:to>
                                        <p:strVal val="visible"/>
                                      </p:to>
                                    </p:set>
                                    <p:animEffect transition="in" filter="wipe(up)">
                                      <p:cBhvr>
                                        <p:cTn id="36" dur="500"/>
                                        <p:tgtEl>
                                          <p:spTgt spid="99">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43154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9.9. </a:t>
            </a:r>
          </a:p>
          <a:p>
            <a:r>
              <a:rPr lang="en-US" sz="4800" b="1">
                <a:latin typeface="Times New Roman" panose="02020603050405020304" pitchFamily="18" charset="0"/>
                <a:cs typeface="Times New Roman" panose="02020603050405020304" pitchFamily="18" charset="0"/>
              </a:rPr>
              <a:t>Gieo liên tiếp một con xúc xắc và một đồng xu. </a:t>
            </a:r>
          </a:p>
          <a:p>
            <a:r>
              <a:rPr lang="en-US" sz="4800" b="1">
                <a:latin typeface="Times New Roman" panose="02020603050405020304" pitchFamily="18" charset="0"/>
                <a:cs typeface="Times New Roman" panose="02020603050405020304" pitchFamily="18" charset="0"/>
              </a:rPr>
              <a:t>a) Vẽ sơ đồ hình cây mô tả các phần tử của không gian mẫu. </a:t>
            </a:r>
          </a:p>
          <a:p>
            <a:r>
              <a:rPr lang="en-US" sz="4800" b="1">
                <a:latin typeface="Times New Roman" panose="02020603050405020304" pitchFamily="18" charset="0"/>
                <a:cs typeface="Times New Roman" panose="02020603050405020304" pitchFamily="18" charset="0"/>
              </a:rPr>
              <a:t>b) Tính xác suất của các biến cố sau: </a:t>
            </a:r>
          </a:p>
          <a:p>
            <a:r>
              <a:rPr lang="en-US" sz="4800" b="1" i="1">
                <a:latin typeface="Times New Roman" panose="02020603050405020304" pitchFamily="18" charset="0"/>
                <a:cs typeface="Times New Roman" panose="02020603050405020304" pitchFamily="18" charset="0"/>
              </a:rPr>
              <a:t>F:</a:t>
            </a:r>
            <a:r>
              <a:rPr lang="en-US" sz="4800" b="1">
                <a:latin typeface="Times New Roman" panose="02020603050405020304" pitchFamily="18" charset="0"/>
                <a:cs typeface="Times New Roman" panose="02020603050405020304" pitchFamily="18" charset="0"/>
              </a:rPr>
              <a:t> “Đồng xu xuất hiện mặt ngửa”; </a:t>
            </a:r>
          </a:p>
          <a:p>
            <a:r>
              <a:rPr lang="en-US" sz="4800" b="1" i="1">
                <a:latin typeface="Times New Roman" panose="02020603050405020304" pitchFamily="18" charset="0"/>
                <a:cs typeface="Times New Roman" panose="02020603050405020304" pitchFamily="18" charset="0"/>
              </a:rPr>
              <a:t>G:</a:t>
            </a:r>
            <a:r>
              <a:rPr lang="en-US" sz="4800" b="1">
                <a:latin typeface="Times New Roman" panose="02020603050405020304" pitchFamily="18" charset="0"/>
                <a:cs typeface="Times New Roman" panose="02020603050405020304" pitchFamily="18" charset="0"/>
              </a:rPr>
              <a:t> “Đồng xu xuất hiện mặt sấp hoặc số chấm xuất hiện trên con xúc xắc là 5”.</a:t>
            </a:r>
          </a:p>
          <a:p>
            <a:endParaRPr lang="en-US" sz="4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68993" y="6096000"/>
                <a:ext cx="23818702" cy="73914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r>
                  <a:rPr lang="en-US" sz="4400" b="1">
                    <a:latin typeface="Times New Roman" panose="02020603050405020304" pitchFamily="18" charset="0"/>
                    <a:cs typeface="Times New Roman" panose="02020603050405020304" pitchFamily="18" charset="0"/>
                  </a:rPr>
                  <a:t>b) Từ ý a) </a:t>
                </a:r>
                <a14:m>
                  <m:oMath xmlns:m="http://schemas.openxmlformats.org/officeDocument/2006/math">
                    <m:r>
                      <a:rPr lang="en-US" sz="4400" b="1" i="1">
                        <a:latin typeface="Cambria Math" panose="02040503050406030204" pitchFamily="18" charset="0"/>
                      </a:rPr>
                      <m:t>𝜴</m:t>
                    </m:r>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d>
                          <m:dPr>
                            <m:ctrlPr>
                              <a:rPr lang="en-US" sz="4400" b="1" i="1">
                                <a:latin typeface="Cambria Math" panose="02040503050406030204" pitchFamily="18" charset="0"/>
                              </a:rPr>
                            </m:ctrlPr>
                          </m:dPr>
                          <m:e>
                            <m:r>
                              <a:rPr lang="en-US" sz="4400" b="1" i="1">
                                <a:latin typeface="Cambria Math" panose="02040503050406030204" pitchFamily="18" charset="0"/>
                              </a:rPr>
                              <m:t>𝟏</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𝟏</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𝟐</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𝟐</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𝟑</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𝟑</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𝟒</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𝟒</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𝟓</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𝟓</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𝟔</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𝟔</m:t>
                            </m:r>
                            <m:r>
                              <a:rPr lang="en-US" sz="4400" b="1" i="1">
                                <a:latin typeface="Cambria Math" panose="02040503050406030204" pitchFamily="18" charset="0"/>
                              </a:rPr>
                              <m:t>,</m:t>
                            </m:r>
                            <m:r>
                              <a:rPr lang="en-US" sz="4400" b="1" i="1">
                                <a:latin typeface="Cambria Math" panose="02040503050406030204" pitchFamily="18" charset="0"/>
                              </a:rPr>
                              <m:t>𝑵</m:t>
                            </m:r>
                          </m:e>
                        </m:d>
                      </m:e>
                    </m:d>
                  </m:oMath>
                </a14:m>
                <a:r>
                  <a:rPr lang="en-US" sz="4400" b="1">
                    <a:latin typeface="Times New Roman" panose="02020603050405020304" pitchFamily="18" charset="0"/>
                    <a:cs typeface="Times New Roman" panose="02020603050405020304" pitchFamily="18" charset="0"/>
                  </a:rPr>
                  <a:t>.</a:t>
                </a:r>
              </a:p>
              <a:p>
                <a:r>
                  <a:rPr lang="en-US" sz="4400" b="1">
                    <a:latin typeface="Times New Roman" panose="02020603050405020304" pitchFamily="18" charset="0"/>
                    <a:cs typeface="Times New Roman" panose="02020603050405020304" pitchFamily="18" charset="0"/>
                  </a:rPr>
                  <a:t>Suy ra số phần tử của không gian mẫu </a:t>
                </a:r>
                <a14:m>
                  <m:oMath xmlns:m="http://schemas.openxmlformats.org/officeDocument/2006/math">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𝜴</m:t>
                        </m:r>
                      </m:e>
                    </m:d>
                    <m:r>
                      <a:rPr lang="en-US" sz="4400" b="1" i="1">
                        <a:latin typeface="Cambria Math" panose="02040503050406030204" pitchFamily="18" charset="0"/>
                      </a:rPr>
                      <m:t>=</m:t>
                    </m:r>
                    <m:r>
                      <a:rPr lang="en-US" sz="4400" b="1" i="1">
                        <a:latin typeface="Cambria Math" panose="02040503050406030204" pitchFamily="18" charset="0"/>
                      </a:rPr>
                      <m:t>𝟏𝟐</m:t>
                    </m:r>
                  </m:oMath>
                </a14:m>
                <a:r>
                  <a:rPr lang="en-US" sz="4400" b="1">
                    <a:latin typeface="Times New Roman" panose="02020603050405020304" pitchFamily="18" charset="0"/>
                    <a:cs typeface="Times New Roman" panose="02020603050405020304" pitchFamily="18" charset="0"/>
                  </a:rPr>
                  <a:t>.</a:t>
                </a:r>
              </a:p>
              <a:p>
                <a:r>
                  <a:rPr lang="en-US" sz="4400" b="1">
                    <a:latin typeface="Times New Roman" panose="02020603050405020304" pitchFamily="18" charset="0"/>
                    <a:cs typeface="Times New Roman" panose="02020603050405020304" pitchFamily="18" charset="0"/>
                  </a:rPr>
                  <a:t>+</a:t>
                </a:r>
                <a14:m>
                  <m:oMath xmlns:m="http://schemas.openxmlformats.org/officeDocument/2006/math">
                    <m:r>
                      <a:rPr lang="en-US" sz="4400" b="1" i="1">
                        <a:latin typeface="Cambria Math" panose="02040503050406030204" pitchFamily="18" charset="0"/>
                      </a:rPr>
                      <m:t>𝑭</m:t>
                    </m:r>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d>
                          <m:dPr>
                            <m:ctrlPr>
                              <a:rPr lang="en-US" sz="4400" b="1" i="1">
                                <a:latin typeface="Cambria Math" panose="02040503050406030204" pitchFamily="18" charset="0"/>
                              </a:rPr>
                            </m:ctrlPr>
                          </m:dPr>
                          <m:e>
                            <m:r>
                              <a:rPr lang="en-US" sz="4400" b="1" i="1">
                                <a:latin typeface="Cambria Math" panose="02040503050406030204" pitchFamily="18" charset="0"/>
                              </a:rPr>
                              <m:t>𝟏</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𝟐</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𝟑</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𝟒</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𝟓</m:t>
                            </m:r>
                            <m:r>
                              <a:rPr lang="en-US" sz="4400" b="1" i="1">
                                <a:latin typeface="Cambria Math" panose="02040503050406030204" pitchFamily="18" charset="0"/>
                              </a:rPr>
                              <m:t>,</m:t>
                            </m:r>
                            <m:r>
                              <a:rPr lang="en-US" sz="4400" b="1" i="1">
                                <a:latin typeface="Cambria Math" panose="02040503050406030204" pitchFamily="18" charset="0"/>
                              </a:rPr>
                              <m:t>𝑵</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𝟔</m:t>
                            </m:r>
                            <m:r>
                              <a:rPr lang="en-US" sz="4400" b="1" i="1">
                                <a:latin typeface="Cambria Math" panose="02040503050406030204" pitchFamily="18" charset="0"/>
                              </a:rPr>
                              <m:t>,</m:t>
                            </m:r>
                            <m:r>
                              <a:rPr lang="en-US" sz="4400" b="1" i="1">
                                <a:latin typeface="Cambria Math" panose="02040503050406030204" pitchFamily="18" charset="0"/>
                              </a:rPr>
                              <m:t>𝑵</m:t>
                            </m:r>
                          </m:e>
                        </m:d>
                      </m:e>
                    </m:d>
                  </m:oMath>
                </a14:m>
                <a:r>
                  <a:rPr lang="en-US" sz="4400" b="1">
                    <a:latin typeface="Times New Roman" panose="02020603050405020304" pitchFamily="18" charset="0"/>
                    <a:cs typeface="Times New Roman" panose="02020603050405020304" pitchFamily="18" charset="0"/>
                  </a:rPr>
                  <a:t>.  Số phần tử của biến cố F: </a:t>
                </a:r>
                <a14:m>
                  <m:oMath xmlns:m="http://schemas.openxmlformats.org/officeDocument/2006/math">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𝑭</m:t>
                        </m:r>
                      </m:e>
                    </m:d>
                    <m:r>
                      <a:rPr lang="en-US" sz="4400" b="1" i="1">
                        <a:latin typeface="Cambria Math" panose="02040503050406030204" pitchFamily="18" charset="0"/>
                      </a:rPr>
                      <m:t>=</m:t>
                    </m:r>
                    <m:r>
                      <a:rPr lang="en-US" sz="4400" b="1" i="1">
                        <a:latin typeface="Cambria Math" panose="02040503050406030204" pitchFamily="18" charset="0"/>
                      </a:rPr>
                      <m:t>𝟔</m:t>
                    </m:r>
                  </m:oMath>
                </a14:m>
                <a:r>
                  <a:rPr lang="en-US" sz="4400" b="1">
                    <a:latin typeface="Times New Roman" panose="02020603050405020304" pitchFamily="18" charset="0"/>
                    <a:cs typeface="Times New Roman" panose="02020603050405020304" pitchFamily="18" charset="0"/>
                  </a:rPr>
                  <a:t>.</a:t>
                </a:r>
              </a:p>
              <a:p>
                <a:r>
                  <a:rPr lang="en-US" sz="4400" b="1">
                    <a:latin typeface="Times New Roman" panose="02020603050405020304" pitchFamily="18" charset="0"/>
                    <a:cs typeface="Times New Roman" panose="02020603050405020304" pitchFamily="18" charset="0"/>
                  </a:rPr>
                  <a:t>Vậy xác suất của biến cố F: </a:t>
                </a:r>
                <a14:m>
                  <m:oMath xmlns:m="http://schemas.openxmlformats.org/officeDocument/2006/math">
                    <m:r>
                      <a:rPr lang="en-US" sz="4400" b="1" i="1">
                        <a:latin typeface="Cambria Math" panose="02040503050406030204" pitchFamily="18" charset="0"/>
                      </a:rPr>
                      <m:t>𝑷</m:t>
                    </m:r>
                    <m:d>
                      <m:dPr>
                        <m:ctrlPr>
                          <a:rPr lang="en-US" sz="4400" b="1" i="1">
                            <a:latin typeface="Cambria Math" panose="02040503050406030204" pitchFamily="18" charset="0"/>
                          </a:rPr>
                        </m:ctrlPr>
                      </m:dPr>
                      <m:e>
                        <m:r>
                          <a:rPr lang="en-US" sz="4400" b="1" i="1">
                            <a:latin typeface="Cambria Math" panose="02040503050406030204" pitchFamily="18" charset="0"/>
                          </a:rPr>
                          <m:t>𝑭</m:t>
                        </m:r>
                      </m:e>
                    </m:d>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𝑭</m:t>
                            </m:r>
                          </m:e>
                        </m:d>
                      </m:num>
                      <m:den>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𝜴</m:t>
                            </m:r>
                          </m:e>
                        </m:d>
                      </m:den>
                    </m:f>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𝟔</m:t>
                        </m:r>
                      </m:num>
                      <m:den>
                        <m:r>
                          <a:rPr lang="en-US" sz="4400" b="1" i="1">
                            <a:latin typeface="Cambria Math" panose="02040503050406030204" pitchFamily="18" charset="0"/>
                          </a:rPr>
                          <m:t>𝟏𝟐</m:t>
                        </m:r>
                      </m:den>
                    </m:f>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𝟏</m:t>
                        </m:r>
                      </m:num>
                      <m:den>
                        <m:r>
                          <a:rPr lang="en-US" sz="4400" b="1" i="1">
                            <a:latin typeface="Cambria Math" panose="02040503050406030204" pitchFamily="18" charset="0"/>
                          </a:rPr>
                          <m:t>𝟐</m:t>
                        </m:r>
                      </m:den>
                    </m:f>
                    <m:r>
                      <a:rPr lang="en-US" sz="4400" b="1" i="1">
                        <a:latin typeface="Cambria Math" panose="02040503050406030204" pitchFamily="18" charset="0"/>
                      </a:rPr>
                      <m:t>=</m:t>
                    </m:r>
                    <m:r>
                      <a:rPr lang="en-US" sz="4400" b="1" i="1">
                        <a:latin typeface="Cambria Math" panose="02040503050406030204" pitchFamily="18" charset="0"/>
                      </a:rPr>
                      <m:t>𝟎</m:t>
                    </m:r>
                    <m:r>
                      <a:rPr lang="en-US" sz="4400" b="1" i="1">
                        <a:latin typeface="Cambria Math" panose="02040503050406030204" pitchFamily="18" charset="0"/>
                      </a:rPr>
                      <m:t>,</m:t>
                    </m:r>
                    <m:r>
                      <a:rPr lang="en-US" sz="4400" b="1" i="1">
                        <a:latin typeface="Cambria Math" panose="02040503050406030204" pitchFamily="18" charset="0"/>
                      </a:rPr>
                      <m:t>𝟓</m:t>
                    </m:r>
                  </m:oMath>
                </a14:m>
                <a:r>
                  <a:rPr lang="en-US" sz="4400" b="1">
                    <a:latin typeface="Times New Roman" panose="02020603050405020304" pitchFamily="18" charset="0"/>
                    <a:cs typeface="Times New Roman" panose="02020603050405020304" pitchFamily="18" charset="0"/>
                  </a:rPr>
                  <a:t>.</a:t>
                </a:r>
              </a:p>
              <a:p>
                <a:r>
                  <a:rPr lang="en-US" sz="4400" b="1">
                    <a:latin typeface="Times New Roman" panose="02020603050405020304" pitchFamily="18" charset="0"/>
                    <a:cs typeface="Times New Roman" panose="02020603050405020304" pitchFamily="18" charset="0"/>
                  </a:rPr>
                  <a:t>+ </a:t>
                </a:r>
                <a14:m>
                  <m:oMath xmlns:m="http://schemas.openxmlformats.org/officeDocument/2006/math">
                    <m:r>
                      <a:rPr lang="en-US" sz="4400" b="1" i="1">
                        <a:latin typeface="Cambria Math" panose="02040503050406030204" pitchFamily="18" charset="0"/>
                      </a:rPr>
                      <m:t>𝑮</m:t>
                    </m:r>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d>
                          <m:dPr>
                            <m:ctrlPr>
                              <a:rPr lang="en-US" sz="4400" b="1" i="1">
                                <a:latin typeface="Cambria Math" panose="02040503050406030204" pitchFamily="18" charset="0"/>
                              </a:rPr>
                            </m:ctrlPr>
                          </m:dPr>
                          <m:e>
                            <m:r>
                              <a:rPr lang="en-US" sz="4400" b="1" i="1">
                                <a:latin typeface="Cambria Math" panose="02040503050406030204" pitchFamily="18" charset="0"/>
                              </a:rPr>
                              <m:t>𝟏</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𝟐</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𝟑</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𝟒</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𝟓</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𝟔</m:t>
                            </m:r>
                            <m:r>
                              <a:rPr lang="en-US" sz="4400" b="1" i="1">
                                <a:latin typeface="Cambria Math" panose="02040503050406030204" pitchFamily="18" charset="0"/>
                              </a:rPr>
                              <m:t>,</m:t>
                            </m:r>
                            <m:r>
                              <a:rPr lang="en-US" sz="4400" b="1" i="1">
                                <a:latin typeface="Cambria Math" panose="02040503050406030204" pitchFamily="18" charset="0"/>
                              </a:rPr>
                              <m:t>𝑺</m:t>
                            </m:r>
                          </m:e>
                        </m:d>
                        <m:r>
                          <a:rPr lang="en-US" sz="4400" b="1" i="1">
                            <a:latin typeface="Cambria Math" panose="02040503050406030204" pitchFamily="18" charset="0"/>
                          </a:rPr>
                          <m:t>;</m:t>
                        </m:r>
                        <m:d>
                          <m:dPr>
                            <m:ctrlPr>
                              <a:rPr lang="en-US" sz="4400" b="1" i="1">
                                <a:latin typeface="Cambria Math" panose="02040503050406030204" pitchFamily="18" charset="0"/>
                              </a:rPr>
                            </m:ctrlPr>
                          </m:dPr>
                          <m:e>
                            <m:r>
                              <a:rPr lang="en-US" sz="4400" b="1" i="1">
                                <a:latin typeface="Cambria Math" panose="02040503050406030204" pitchFamily="18" charset="0"/>
                              </a:rPr>
                              <m:t>𝟓</m:t>
                            </m:r>
                            <m:r>
                              <a:rPr lang="en-US" sz="4400" b="1" i="1">
                                <a:latin typeface="Cambria Math" panose="02040503050406030204" pitchFamily="18" charset="0"/>
                              </a:rPr>
                              <m:t>,</m:t>
                            </m:r>
                            <m:r>
                              <a:rPr lang="en-US" sz="4400" b="1" i="1">
                                <a:latin typeface="Cambria Math" panose="02040503050406030204" pitchFamily="18" charset="0"/>
                              </a:rPr>
                              <m:t>𝑵</m:t>
                            </m:r>
                          </m:e>
                        </m:d>
                      </m:e>
                    </m:d>
                  </m:oMath>
                </a14:m>
                <a:r>
                  <a:rPr lang="en-US" sz="4400" b="1">
                    <a:latin typeface="Times New Roman" panose="02020603050405020304" pitchFamily="18" charset="0"/>
                    <a:cs typeface="Times New Roman" panose="02020603050405020304" pitchFamily="18" charset="0"/>
                  </a:rPr>
                  <a:t>. Các phần tử của G: </a:t>
                </a:r>
                <a14:m>
                  <m:oMath xmlns:m="http://schemas.openxmlformats.org/officeDocument/2006/math">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𝑮</m:t>
                        </m:r>
                      </m:e>
                    </m:d>
                    <m:r>
                      <a:rPr lang="en-US" sz="4400" b="1" i="1">
                        <a:latin typeface="Cambria Math" panose="02040503050406030204" pitchFamily="18" charset="0"/>
                      </a:rPr>
                      <m:t>=</m:t>
                    </m:r>
                    <m:r>
                      <a:rPr lang="en-US" sz="4400" b="1" i="1">
                        <a:latin typeface="Cambria Math" panose="02040503050406030204" pitchFamily="18" charset="0"/>
                      </a:rPr>
                      <m:t>𝟕</m:t>
                    </m:r>
                  </m:oMath>
                </a14:m>
                <a:endParaRPr lang="en-US" sz="4400" b="1">
                  <a:latin typeface="Times New Roman" panose="02020603050405020304" pitchFamily="18" charset="0"/>
                  <a:cs typeface="Times New Roman" panose="02020603050405020304" pitchFamily="18" charset="0"/>
                </a:endParaRPr>
              </a:p>
              <a:p>
                <a:r>
                  <a:rPr lang="en-US" sz="4400" b="1">
                    <a:latin typeface="Times New Roman" panose="02020603050405020304" pitchFamily="18" charset="0"/>
                    <a:cs typeface="Times New Roman" panose="02020603050405020304" pitchFamily="18" charset="0"/>
                  </a:rPr>
                  <a:t>Vậy xác suất của biến cố G: </a:t>
                </a:r>
                <a14:m>
                  <m:oMath xmlns:m="http://schemas.openxmlformats.org/officeDocument/2006/math">
                    <m:r>
                      <a:rPr lang="en-US" sz="4400" b="1" i="1">
                        <a:latin typeface="Cambria Math" panose="02040503050406030204" pitchFamily="18" charset="0"/>
                      </a:rPr>
                      <m:t>𝑷</m:t>
                    </m:r>
                    <m:d>
                      <m:dPr>
                        <m:ctrlPr>
                          <a:rPr lang="en-US" sz="4400" b="1" i="1">
                            <a:latin typeface="Cambria Math" panose="02040503050406030204" pitchFamily="18" charset="0"/>
                          </a:rPr>
                        </m:ctrlPr>
                      </m:dPr>
                      <m:e>
                        <m:r>
                          <a:rPr lang="en-US" sz="4400" b="1" i="1">
                            <a:latin typeface="Cambria Math" panose="02040503050406030204" pitchFamily="18" charset="0"/>
                          </a:rPr>
                          <m:t>𝑮</m:t>
                        </m:r>
                      </m:e>
                    </m:d>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𝑮</m:t>
                            </m:r>
                          </m:e>
                        </m:d>
                      </m:num>
                      <m:den>
                        <m:r>
                          <a:rPr lang="en-US" sz="4400" b="1" i="1">
                            <a:latin typeface="Cambria Math" panose="02040503050406030204" pitchFamily="18" charset="0"/>
                          </a:rPr>
                          <m:t>𝒏</m:t>
                        </m:r>
                        <m:d>
                          <m:dPr>
                            <m:ctrlPr>
                              <a:rPr lang="en-US" sz="4400" b="1" i="1">
                                <a:latin typeface="Cambria Math" panose="02040503050406030204" pitchFamily="18" charset="0"/>
                              </a:rPr>
                            </m:ctrlPr>
                          </m:dPr>
                          <m:e>
                            <m:r>
                              <a:rPr lang="en-US" sz="4400" b="1" i="1">
                                <a:latin typeface="Cambria Math" panose="02040503050406030204" pitchFamily="18" charset="0"/>
                              </a:rPr>
                              <m:t>𝜴</m:t>
                            </m:r>
                          </m:e>
                        </m:d>
                      </m:den>
                    </m:f>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𝟕</m:t>
                        </m:r>
                      </m:num>
                      <m:den>
                        <m:r>
                          <a:rPr lang="en-US" sz="4400" b="1" i="1">
                            <a:latin typeface="Cambria Math" panose="02040503050406030204" pitchFamily="18" charset="0"/>
                          </a:rPr>
                          <m:t>𝟏𝟐</m:t>
                        </m:r>
                      </m:den>
                    </m:f>
                  </m:oMath>
                </a14:m>
                <a:r>
                  <a:rPr lang="en-US" sz="4400" b="1">
                    <a:latin typeface="Times New Roman" panose="02020603050405020304" pitchFamily="18" charset="0"/>
                    <a:cs typeface="Times New Roman" panose="02020603050405020304" pitchFamily="18" charset="0"/>
                  </a:rPr>
                  <a:t>.</a:t>
                </a:r>
              </a:p>
              <a:p>
                <a:pPr marL="0" indent="0">
                  <a:buNone/>
                </a:pPr>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68993" y="6096000"/>
                <a:ext cx="23818702" cy="7391400"/>
              </a:xfrm>
              <a:prstGeom prst="rect">
                <a:avLst/>
              </a:prstGeom>
              <a:blipFill>
                <a:blip r:embed="rId3"/>
                <a:stretch>
                  <a:fillRect l="-1023" t="-2716"/>
                </a:stretch>
              </a:blipFill>
              <a:ln>
                <a:solidFill>
                  <a:srgbClr val="00B0F0"/>
                </a:solid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753566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xEl>
                                              <p:pRg st="1" end="1"/>
                                            </p:txEl>
                                          </p:spTgt>
                                        </p:tgtEl>
                                        <p:attrNameLst>
                                          <p:attrName>style.visibility</p:attrName>
                                        </p:attrNameLst>
                                      </p:cBhvr>
                                      <p:to>
                                        <p:strVal val="visible"/>
                                      </p:to>
                                    </p:set>
                                    <p:animEffect transition="in" filter="fade">
                                      <p:cBhvr>
                                        <p:cTn id="7" dur="500"/>
                                        <p:tgtEl>
                                          <p:spTgt spid="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
                                            <p:txEl>
                                              <p:pRg st="2" end="2"/>
                                            </p:txEl>
                                          </p:spTgt>
                                        </p:tgtEl>
                                        <p:attrNameLst>
                                          <p:attrName>style.visibility</p:attrName>
                                        </p:attrNameLst>
                                      </p:cBhvr>
                                      <p:to>
                                        <p:strVal val="visible"/>
                                      </p:to>
                                    </p:set>
                                    <p:animEffect transition="in" filter="fade">
                                      <p:cBhvr>
                                        <p:cTn id="12" dur="500"/>
                                        <p:tgtEl>
                                          <p:spTgt spid="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
                                            <p:txEl>
                                              <p:pRg st="3" end="3"/>
                                            </p:txEl>
                                          </p:spTgt>
                                        </p:tgtEl>
                                        <p:attrNameLst>
                                          <p:attrName>style.visibility</p:attrName>
                                        </p:attrNameLst>
                                      </p:cBhvr>
                                      <p:to>
                                        <p:strVal val="visible"/>
                                      </p:to>
                                    </p:set>
                                    <p:animEffect transition="in" filter="fade">
                                      <p:cBhvr>
                                        <p:cTn id="17" dur="500"/>
                                        <p:tgtEl>
                                          <p:spTgt spid="9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9">
                                            <p:txEl>
                                              <p:pRg st="4" end="4"/>
                                            </p:txEl>
                                          </p:spTgt>
                                        </p:tgtEl>
                                        <p:attrNameLst>
                                          <p:attrName>style.visibility</p:attrName>
                                        </p:attrNameLst>
                                      </p:cBhvr>
                                      <p:to>
                                        <p:strVal val="visible"/>
                                      </p:to>
                                    </p:set>
                                    <p:animEffect transition="in" filter="fade">
                                      <p:cBhvr>
                                        <p:cTn id="22" dur="500"/>
                                        <p:tgtEl>
                                          <p:spTgt spid="9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9">
                                            <p:txEl>
                                              <p:pRg st="5" end="5"/>
                                            </p:txEl>
                                          </p:spTgt>
                                        </p:tgtEl>
                                        <p:attrNameLst>
                                          <p:attrName>style.visibility</p:attrName>
                                        </p:attrNameLst>
                                      </p:cBhvr>
                                      <p:to>
                                        <p:strVal val="visible"/>
                                      </p:to>
                                    </p:set>
                                    <p:animEffect transition="in" filter="fade">
                                      <p:cBhvr>
                                        <p:cTn id="27" dur="500"/>
                                        <p:tgtEl>
                                          <p:spTgt spid="9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9">
                                            <p:txEl>
                                              <p:pRg st="6" end="6"/>
                                            </p:txEl>
                                          </p:spTgt>
                                        </p:tgtEl>
                                        <p:attrNameLst>
                                          <p:attrName>style.visibility</p:attrName>
                                        </p:attrNameLst>
                                      </p:cBhvr>
                                      <p:to>
                                        <p:strVal val="visible"/>
                                      </p:to>
                                    </p:set>
                                    <p:animEffect transition="in" filter="fade">
                                      <p:cBhvr>
                                        <p:cTn id="32" dur="500"/>
                                        <p:tgtEl>
                                          <p:spTgt spid="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43154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9.10. </a:t>
            </a:r>
          </a:p>
          <a:p>
            <a:r>
              <a:rPr lang="en-US" sz="4800" b="1">
                <a:latin typeface="Times New Roman" panose="02020603050405020304" pitchFamily="18" charset="0"/>
                <a:cs typeface="Times New Roman" panose="02020603050405020304" pitchFamily="18" charset="0"/>
              </a:rPr>
              <a:t>Trên một phố có hai quán ăn </a:t>
            </a:r>
            <a:r>
              <a:rPr lang="en-US" sz="4800" b="1" i="1">
                <a:latin typeface="Times New Roman" panose="02020603050405020304" pitchFamily="18" charset="0"/>
                <a:cs typeface="Times New Roman" panose="02020603050405020304" pitchFamily="18" charset="0"/>
              </a:rPr>
              <a:t>X, Y.</a:t>
            </a:r>
            <a:r>
              <a:rPr lang="en-US" sz="4800" b="1">
                <a:latin typeface="Times New Roman" panose="02020603050405020304" pitchFamily="18" charset="0"/>
                <a:cs typeface="Times New Roman" panose="02020603050405020304" pitchFamily="18" charset="0"/>
              </a:rPr>
              <a:t> Ba bạn Sơn, Hải, Văn mỗi người chọn ngẫu nhiên một quán ăn. </a:t>
            </a:r>
          </a:p>
          <a:p>
            <a:r>
              <a:rPr lang="en-US" sz="4800" b="1">
                <a:latin typeface="Times New Roman" panose="02020603050405020304" pitchFamily="18" charset="0"/>
                <a:cs typeface="Times New Roman" panose="02020603050405020304" pitchFamily="18" charset="0"/>
              </a:rPr>
              <a:t>a) Vẽ sơ đồ hình cây mô tả các phần tử của không gian mẫu. </a:t>
            </a:r>
          </a:p>
          <a:p>
            <a:r>
              <a:rPr lang="en-US" sz="4800" b="1">
                <a:latin typeface="Times New Roman" panose="02020603050405020304" pitchFamily="18" charset="0"/>
                <a:cs typeface="Times New Roman" panose="02020603050405020304" pitchFamily="18" charset="0"/>
              </a:rPr>
              <a:t>b) Tính xác suất cùa biến cố “Hai bạn vào quán X, bạn còn lại vào quán </a:t>
            </a:r>
            <a:r>
              <a:rPr lang="en-US" sz="4800" b="1" i="1">
                <a:latin typeface="Times New Roman" panose="02020603050405020304" pitchFamily="18" charset="0"/>
                <a:cs typeface="Times New Roman" panose="02020603050405020304" pitchFamily="18" charset="0"/>
              </a:rPr>
              <a:t>Y'.</a:t>
            </a:r>
            <a:endParaRPr lang="en-US" sz="4800" b="1">
              <a:latin typeface="Times New Roman" panose="02020603050405020304" pitchFamily="18" charset="0"/>
              <a:cs typeface="Times New Roman" panose="02020603050405020304" pitchFamily="18" charset="0"/>
            </a:endParaRPr>
          </a:p>
          <a:p>
            <a:endParaRPr lang="en-US" sz="4800" b="1" dirty="0">
              <a:latin typeface="Times New Roman" panose="02020603050405020304" pitchFamily="18" charset="0"/>
              <a:cs typeface="Times New Roman" panose="02020603050405020304" pitchFamily="18"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68993" y="6096000"/>
            <a:ext cx="23818702" cy="7315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pPr marL="0" indent="0">
              <a:buNone/>
            </a:pPr>
            <a:r>
              <a:rPr lang="en-US"/>
              <a:t>a) </a:t>
            </a:r>
          </a:p>
          <a:p>
            <a:pPr marL="0" indent="0">
              <a:buNone/>
            </a:pPr>
            <a:endParaRPr lang="en-US" b="1" dirty="0"/>
          </a:p>
        </p:txBody>
      </p:sp>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DF3D8949-B785-C38F-B267-F2916415976E}"/>
              </a:ext>
            </a:extLst>
          </p:cNvPr>
          <p:cNvPicPr>
            <a:picLocks noChangeAspect="1"/>
          </p:cNvPicPr>
          <p:nvPr/>
        </p:nvPicPr>
        <p:blipFill>
          <a:blip r:embed="rId3"/>
          <a:stretch>
            <a:fillRect/>
          </a:stretch>
        </p:blipFill>
        <p:spPr>
          <a:xfrm>
            <a:off x="3042666" y="6149340"/>
            <a:ext cx="16997934" cy="703326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72645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wipe(left)">
                                      <p:cBhvr>
                                        <p:cTn id="7" dur="500"/>
                                        <p:tgtEl>
                                          <p:spTgt spid="97">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animEffect transition="in" filter="fade">
                                      <p:cBhvr>
                                        <p:cTn id="11" dur="500"/>
                                        <p:tgtEl>
                                          <p:spTgt spid="97">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7">
                                            <p:txEl>
                                              <p:pRg st="2" end="2"/>
                                            </p:txEl>
                                          </p:spTgt>
                                        </p:tgtEl>
                                        <p:attrNameLst>
                                          <p:attrName>style.visibility</p:attrName>
                                        </p:attrNameLst>
                                      </p:cBhvr>
                                      <p:to>
                                        <p:strVal val="visible"/>
                                      </p:to>
                                    </p:set>
                                    <p:animEffect transition="in" filter="fade">
                                      <p:cBhvr>
                                        <p:cTn id="15" dur="500"/>
                                        <p:tgtEl>
                                          <p:spTgt spid="97">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97">
                                            <p:txEl>
                                              <p:pRg st="3" end="3"/>
                                            </p:txEl>
                                          </p:spTgt>
                                        </p:tgtEl>
                                        <p:attrNameLst>
                                          <p:attrName>style.visibility</p:attrName>
                                        </p:attrNameLst>
                                      </p:cBhvr>
                                      <p:to>
                                        <p:strVal val="visible"/>
                                      </p:to>
                                    </p:set>
                                    <p:animEffect transition="in" filter="fade">
                                      <p:cBhvr>
                                        <p:cTn id="19" dur="500"/>
                                        <p:tgtEl>
                                          <p:spTgt spid="97">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0" end="0"/>
                                            </p:txEl>
                                          </p:spTgt>
                                        </p:tgtEl>
                                        <p:attrNameLst>
                                          <p:attrName>style.visibility</p:attrName>
                                        </p:attrNameLst>
                                      </p:cBhvr>
                                      <p:to>
                                        <p:strVal val="visible"/>
                                      </p:to>
                                    </p:set>
                                    <p:animEffect transition="in" filter="wipe(up)">
                                      <p:cBhvr>
                                        <p:cTn id="23" dur="500"/>
                                        <p:tgtEl>
                                          <p:spTgt spid="9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99">
                                            <p:txEl>
                                              <p:pRg st="1" end="1"/>
                                            </p:txEl>
                                          </p:spTgt>
                                        </p:tgtEl>
                                        <p:attrNameLst>
                                          <p:attrName>style.visibility</p:attrName>
                                        </p:attrNameLst>
                                      </p:cBhvr>
                                      <p:to>
                                        <p:strVal val="visible"/>
                                      </p:to>
                                    </p:set>
                                    <p:animEffect transition="in" filter="wipe(up)">
                                      <p:cBhvr>
                                        <p:cTn id="28" dur="500"/>
                                        <p:tgtEl>
                                          <p:spTgt spid="99">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43154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9.10. </a:t>
            </a:r>
          </a:p>
          <a:p>
            <a:r>
              <a:rPr lang="en-US" sz="4800" b="1">
                <a:latin typeface="Times New Roman" panose="02020603050405020304" pitchFamily="18" charset="0"/>
                <a:cs typeface="Times New Roman" panose="02020603050405020304" pitchFamily="18" charset="0"/>
              </a:rPr>
              <a:t>Trên một phố có hai quán ăn </a:t>
            </a:r>
            <a:r>
              <a:rPr lang="en-US" sz="4800" b="1" i="1">
                <a:latin typeface="Times New Roman" panose="02020603050405020304" pitchFamily="18" charset="0"/>
                <a:cs typeface="Times New Roman" panose="02020603050405020304" pitchFamily="18" charset="0"/>
              </a:rPr>
              <a:t>X, Y.</a:t>
            </a:r>
            <a:r>
              <a:rPr lang="en-US" sz="4800" b="1">
                <a:latin typeface="Times New Roman" panose="02020603050405020304" pitchFamily="18" charset="0"/>
                <a:cs typeface="Times New Roman" panose="02020603050405020304" pitchFamily="18" charset="0"/>
              </a:rPr>
              <a:t> Ba bạn Sơn, Hải, Văn mỗi người chọn ngẫu nhiên một quán ăn. </a:t>
            </a:r>
          </a:p>
          <a:p>
            <a:r>
              <a:rPr lang="en-US" sz="4800" b="1">
                <a:latin typeface="Times New Roman" panose="02020603050405020304" pitchFamily="18" charset="0"/>
                <a:cs typeface="Times New Roman" panose="02020603050405020304" pitchFamily="18" charset="0"/>
              </a:rPr>
              <a:t>a) Vẽ sơ đồ hình cây mô tả các phần tử của không gian mẫu. </a:t>
            </a:r>
          </a:p>
          <a:p>
            <a:r>
              <a:rPr lang="en-US" sz="4800" b="1">
                <a:latin typeface="Times New Roman" panose="02020603050405020304" pitchFamily="18" charset="0"/>
                <a:cs typeface="Times New Roman" panose="02020603050405020304" pitchFamily="18" charset="0"/>
              </a:rPr>
              <a:t>b) Tính xác suất cùa biến cố “Hai bạn vào quán X, bạn còn lại vào quán </a:t>
            </a:r>
            <a:r>
              <a:rPr lang="en-US" sz="4800" b="1" i="1">
                <a:latin typeface="Times New Roman" panose="02020603050405020304" pitchFamily="18" charset="0"/>
                <a:cs typeface="Times New Roman" panose="02020603050405020304" pitchFamily="18" charset="0"/>
              </a:rPr>
              <a:t>Y'.</a:t>
            </a:r>
            <a:endParaRPr lang="en-US" sz="4800" b="1">
              <a:latin typeface="Times New Roman" panose="02020603050405020304" pitchFamily="18" charset="0"/>
              <a:cs typeface="Times New Roman" panose="02020603050405020304" pitchFamily="18" charset="0"/>
            </a:endParaRPr>
          </a:p>
          <a:p>
            <a:endParaRPr lang="en-US" sz="4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92588" y="6096000"/>
                <a:ext cx="23818702" cy="7315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r>
                  <a:rPr lang="en-US" b="1">
                    <a:latin typeface="Times New Roman" panose="02020603050405020304" pitchFamily="18" charset="0"/>
                    <a:cs typeface="Times New Roman" panose="02020603050405020304" pitchFamily="18" charset="0"/>
                  </a:rPr>
                  <a:t>b) Không gian mẫu </a:t>
                </a:r>
                <a14:m>
                  <m:oMath xmlns:m="http://schemas.openxmlformats.org/officeDocument/2006/math">
                    <m:r>
                      <a:rPr lang="en-US" b="1" i="1">
                        <a:latin typeface="Cambria Math" panose="02040503050406030204" pitchFamily="18" charset="0"/>
                      </a:rPr>
                      <m:t>𝜴</m:t>
                    </m:r>
                    <m:r>
                      <a:rPr lang="en-US" b="1" i="1">
                        <a:latin typeface="Cambria Math" panose="02040503050406030204" pitchFamily="18" charset="0"/>
                      </a:rPr>
                      <m:t>=</m:t>
                    </m:r>
                    <m:d>
                      <m:dPr>
                        <m:begChr m:val="{"/>
                        <m:endChr m:val="}"/>
                        <m:ctrlPr>
                          <a:rPr lang="en-US" b="1" i="1">
                            <a:latin typeface="Cambria Math" panose="02040503050406030204" pitchFamily="18" charset="0"/>
                          </a:rPr>
                        </m:ctrlPr>
                      </m:dPr>
                      <m:e>
                        <m:r>
                          <a:rPr lang="en-US" b="1" i="1">
                            <a:latin typeface="Cambria Math" panose="02040503050406030204" pitchFamily="18" charset="0"/>
                          </a:rPr>
                          <m:t>𝑿𝑿𝑿</m:t>
                        </m:r>
                        <m:r>
                          <a:rPr lang="en-US" b="1" i="1">
                            <a:latin typeface="Cambria Math" panose="02040503050406030204" pitchFamily="18" charset="0"/>
                          </a:rPr>
                          <m:t>;</m:t>
                        </m:r>
                        <m:r>
                          <a:rPr lang="en-US" b="1" i="1">
                            <a:latin typeface="Cambria Math" panose="02040503050406030204" pitchFamily="18" charset="0"/>
                          </a:rPr>
                          <m:t>𝑿𝑿𝒀</m:t>
                        </m:r>
                        <m:r>
                          <a:rPr lang="en-US" b="1" i="1">
                            <a:latin typeface="Cambria Math" panose="02040503050406030204" pitchFamily="18" charset="0"/>
                          </a:rPr>
                          <m:t>;</m:t>
                        </m:r>
                        <m:r>
                          <a:rPr lang="en-US" b="1" i="1">
                            <a:latin typeface="Cambria Math" panose="02040503050406030204" pitchFamily="18" charset="0"/>
                          </a:rPr>
                          <m:t>𝑿</m:t>
                        </m:r>
                        <m:r>
                          <m:rPr>
                            <m:nor/>
                          </m:rPr>
                          <a:rPr lang="en-US" b="1">
                            <a:latin typeface="Times New Roman" panose="02020603050405020304" pitchFamily="18" charset="0"/>
                            <a:cs typeface="Times New Roman" panose="02020603050405020304" pitchFamily="18" charset="0"/>
                          </a:rPr>
                          <m:t>YX</m:t>
                        </m:r>
                        <m:r>
                          <a:rPr lang="en-US" b="1" i="1">
                            <a:latin typeface="Cambria Math" panose="02040503050406030204" pitchFamily="18" charset="0"/>
                          </a:rPr>
                          <m:t>;</m:t>
                        </m:r>
                        <m:r>
                          <a:rPr lang="en-US" b="1" i="1">
                            <a:latin typeface="Cambria Math" panose="02040503050406030204" pitchFamily="18" charset="0"/>
                          </a:rPr>
                          <m:t>𝑿𝒀𝒀</m:t>
                        </m:r>
                        <m:r>
                          <a:rPr lang="en-US" b="1" i="1">
                            <a:latin typeface="Cambria Math" panose="02040503050406030204" pitchFamily="18" charset="0"/>
                          </a:rPr>
                          <m:t>;</m:t>
                        </m:r>
                        <m:r>
                          <m:rPr>
                            <m:nor/>
                          </m:rPr>
                          <a:rPr lang="en-US" b="1">
                            <a:latin typeface="Times New Roman" panose="02020603050405020304" pitchFamily="18" charset="0"/>
                            <a:cs typeface="Times New Roman" panose="02020603050405020304" pitchFamily="18" charset="0"/>
                          </a:rPr>
                          <m:t>YX</m:t>
                        </m:r>
                        <m:r>
                          <a:rPr lang="en-US" b="1" i="1">
                            <a:latin typeface="Cambria Math" panose="02040503050406030204" pitchFamily="18" charset="0"/>
                          </a:rPr>
                          <m:t>𝑿</m:t>
                        </m:r>
                        <m:r>
                          <a:rPr lang="en-US" b="1" i="1">
                            <a:latin typeface="Cambria Math" panose="02040503050406030204" pitchFamily="18" charset="0"/>
                          </a:rPr>
                          <m:t>;</m:t>
                        </m:r>
                        <m:r>
                          <a:rPr lang="en-US" b="1" i="1">
                            <a:latin typeface="Cambria Math" panose="02040503050406030204" pitchFamily="18" charset="0"/>
                          </a:rPr>
                          <m:t>𝒀𝑿𝒀</m:t>
                        </m:r>
                        <m:r>
                          <a:rPr lang="en-US" b="1" i="1">
                            <a:latin typeface="Cambria Math" panose="02040503050406030204" pitchFamily="18" charset="0"/>
                          </a:rPr>
                          <m:t>;</m:t>
                        </m:r>
                        <m:r>
                          <a:rPr lang="en-US" b="1" i="1">
                            <a:latin typeface="Cambria Math" panose="02040503050406030204" pitchFamily="18" charset="0"/>
                          </a:rPr>
                          <m:t>𝒀𝒀𝑿</m:t>
                        </m:r>
                        <m:r>
                          <a:rPr lang="en-US" b="1" i="1">
                            <a:latin typeface="Cambria Math" panose="02040503050406030204" pitchFamily="18" charset="0"/>
                          </a:rPr>
                          <m:t>;</m:t>
                        </m:r>
                        <m:r>
                          <a:rPr lang="en-US" b="1" i="1">
                            <a:latin typeface="Cambria Math" panose="02040503050406030204" pitchFamily="18" charset="0"/>
                          </a:rPr>
                          <m:t>𝒀𝒀𝒀</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r>
                      <a:rPr lang="en-US" b="1" i="1">
                        <a:latin typeface="Cambria Math" panose="02040503050406030204" pitchFamily="18" charset="0"/>
                      </a:rPr>
                      <m:t>=</m:t>
                    </m:r>
                    <m:r>
                      <a:rPr lang="en-US" b="1" i="1">
                        <a:latin typeface="Cambria Math" panose="02040503050406030204" pitchFamily="18" charset="0"/>
                      </a:rPr>
                      <m:t>𝟖</m:t>
                    </m:r>
                  </m:oMath>
                </a14:m>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Gọi biến cố A “2 bạn vào quán X, bạn còn lại vào quán Y”</a:t>
                </a:r>
              </a:p>
              <a:p>
                <a:r>
                  <a:rPr lang="en-US" b="1">
                    <a:latin typeface="Times New Roman" panose="02020603050405020304" pitchFamily="18" charset="0"/>
                    <a:cs typeface="Times New Roman" panose="02020603050405020304" pitchFamily="18" charset="0"/>
                  </a:rPr>
                  <a:t>Hai bạn vào quán X có: </a:t>
                </a:r>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𝟑</m:t>
                        </m:r>
                      </m:sub>
                      <m:sup>
                        <m:r>
                          <a:rPr lang="en-US" b="1" i="1">
                            <a:latin typeface="Cambria Math" panose="02040503050406030204" pitchFamily="18" charset="0"/>
                          </a:rPr>
                          <m:t>𝟐</m:t>
                        </m:r>
                      </m:sup>
                    </m:sSubSup>
                  </m:oMath>
                </a14:m>
                <a:r>
                  <a:rPr lang="en-US" b="1">
                    <a:latin typeface="Times New Roman" panose="02020603050405020304" pitchFamily="18" charset="0"/>
                    <a:cs typeface="Times New Roman" panose="02020603050405020304" pitchFamily="18" charset="0"/>
                  </a:rPr>
                  <a:t>trường hợp tương ứng có một trường hợp bạn còn lại vào quán Y.</a:t>
                </a:r>
              </a:p>
              <a:p>
                <a:r>
                  <a:rPr lang="en-US" b="1">
                    <a:latin typeface="Times New Roman" panose="02020603050405020304" pitchFamily="18" charset="0"/>
                    <a:cs typeface="Times New Roman" panose="02020603050405020304" pitchFamily="18" charset="0"/>
                  </a:rPr>
                  <a:t>Số phần tử của biến cố A là: </a:t>
                </a:r>
                <a14:m>
                  <m:oMath xmlns:m="http://schemas.openxmlformats.org/officeDocument/2006/math">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𝑨</m:t>
                        </m:r>
                      </m:e>
                    </m:d>
                    <m:r>
                      <a:rPr lang="en-US" b="1" i="1">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𝑪</m:t>
                        </m:r>
                      </m:e>
                      <m:sub>
                        <m:r>
                          <a:rPr lang="en-US" b="1" i="1">
                            <a:latin typeface="Cambria Math" panose="02040503050406030204" pitchFamily="18" charset="0"/>
                          </a:rPr>
                          <m:t>𝟑</m:t>
                        </m:r>
                      </m:sub>
                      <m:sup>
                        <m:r>
                          <a:rPr lang="en-US" b="1" i="1">
                            <a:latin typeface="Cambria Math" panose="02040503050406030204" pitchFamily="18" charset="0"/>
                          </a:rPr>
                          <m:t>𝟐</m:t>
                        </m:r>
                      </m:sup>
                    </m:sSubSup>
                    <m:r>
                      <a:rPr lang="en-US" b="1" i="1">
                        <a:latin typeface="Cambria Math" panose="02040503050406030204" pitchFamily="18" charset="0"/>
                      </a:rPr>
                      <m:t>.</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𝟑</m:t>
                    </m:r>
                  </m:oMath>
                </a14:m>
                <a:r>
                  <a:rPr lang="en-US" b="1">
                    <a:latin typeface="Times New Roman" panose="02020603050405020304" pitchFamily="18" charset="0"/>
                    <a:cs typeface="Times New Roman" panose="02020603050405020304" pitchFamily="18" charset="0"/>
                  </a:rPr>
                  <a:t>.</a:t>
                </a:r>
              </a:p>
              <a:p>
                <a:r>
                  <a:rPr lang="en-US" b="1">
                    <a:latin typeface="Times New Roman" panose="02020603050405020304" pitchFamily="18" charset="0"/>
                    <a:cs typeface="Times New Roman" panose="02020603050405020304" pitchFamily="18" charset="0"/>
                  </a:rPr>
                  <a:t>Vậy xác suất của biến cố A: </a:t>
                </a:r>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𝑨</m:t>
                        </m:r>
                      </m:e>
                    </m: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𝑨</m:t>
                            </m:r>
                          </m:e>
                        </m:d>
                      </m:num>
                      <m:den>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𝟑</m:t>
                        </m:r>
                      </m:num>
                      <m:den>
                        <m:r>
                          <a:rPr lang="en-US" b="1" i="1">
                            <a:latin typeface="Cambria Math" panose="02040503050406030204" pitchFamily="18" charset="0"/>
                          </a:rPr>
                          <m:t>𝟖</m:t>
                        </m:r>
                      </m:den>
                    </m:f>
                  </m:oMath>
                </a14:m>
                <a:r>
                  <a:rPr lang="en-US" b="1">
                    <a:latin typeface="Times New Roman" panose="02020603050405020304" pitchFamily="18" charset="0"/>
                    <a:cs typeface="Times New Roman" panose="02020603050405020304" pitchFamily="18" charset="0"/>
                  </a:rPr>
                  <a:t>.</a:t>
                </a:r>
              </a:p>
              <a:p>
                <a:pPr marL="0" indent="0">
                  <a:buNone/>
                </a:pPr>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92588" y="6096000"/>
                <a:ext cx="23818702" cy="7315200"/>
              </a:xfrm>
              <a:prstGeom prst="rect">
                <a:avLst/>
              </a:prstGeom>
              <a:blipFill>
                <a:blip r:embed="rId3"/>
                <a:stretch>
                  <a:fillRect l="-1049" t="-2745"/>
                </a:stretch>
              </a:blipFill>
              <a:ln>
                <a:solidFill>
                  <a:srgbClr val="00B0F0"/>
                </a:solid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585718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xEl>
                                              <p:pRg st="1" end="1"/>
                                            </p:txEl>
                                          </p:spTgt>
                                        </p:tgtEl>
                                        <p:attrNameLst>
                                          <p:attrName>style.visibility</p:attrName>
                                        </p:attrNameLst>
                                      </p:cBhvr>
                                      <p:to>
                                        <p:strVal val="visible"/>
                                      </p:to>
                                    </p:set>
                                    <p:animEffect transition="in" filter="fade">
                                      <p:cBhvr>
                                        <p:cTn id="7" dur="500"/>
                                        <p:tgtEl>
                                          <p:spTgt spid="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
                                            <p:txEl>
                                              <p:pRg st="2" end="2"/>
                                            </p:txEl>
                                          </p:spTgt>
                                        </p:tgtEl>
                                        <p:attrNameLst>
                                          <p:attrName>style.visibility</p:attrName>
                                        </p:attrNameLst>
                                      </p:cBhvr>
                                      <p:to>
                                        <p:strVal val="visible"/>
                                      </p:to>
                                    </p:set>
                                    <p:animEffect transition="in" filter="fade">
                                      <p:cBhvr>
                                        <p:cTn id="12" dur="500"/>
                                        <p:tgtEl>
                                          <p:spTgt spid="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
                                            <p:txEl>
                                              <p:pRg st="3" end="3"/>
                                            </p:txEl>
                                          </p:spTgt>
                                        </p:tgtEl>
                                        <p:attrNameLst>
                                          <p:attrName>style.visibility</p:attrName>
                                        </p:attrNameLst>
                                      </p:cBhvr>
                                      <p:to>
                                        <p:strVal val="visible"/>
                                      </p:to>
                                    </p:set>
                                    <p:animEffect transition="in" filter="fade">
                                      <p:cBhvr>
                                        <p:cTn id="17" dur="500"/>
                                        <p:tgtEl>
                                          <p:spTgt spid="9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9">
                                            <p:txEl>
                                              <p:pRg st="4" end="4"/>
                                            </p:txEl>
                                          </p:spTgt>
                                        </p:tgtEl>
                                        <p:attrNameLst>
                                          <p:attrName>style.visibility</p:attrName>
                                        </p:attrNameLst>
                                      </p:cBhvr>
                                      <p:to>
                                        <p:strVal val="visible"/>
                                      </p:to>
                                    </p:set>
                                    <p:animEffect transition="in" filter="fade">
                                      <p:cBhvr>
                                        <p:cTn id="22" dur="500"/>
                                        <p:tgtEl>
                                          <p:spTgt spid="9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9">
                                            <p:txEl>
                                              <p:pRg st="5" end="5"/>
                                            </p:txEl>
                                          </p:spTgt>
                                        </p:tgtEl>
                                        <p:attrNameLst>
                                          <p:attrName>style.visibility</p:attrName>
                                        </p:attrNameLst>
                                      </p:cBhvr>
                                      <p:to>
                                        <p:strVal val="visible"/>
                                      </p:to>
                                    </p:set>
                                    <p:animEffect transition="in" filter="fade">
                                      <p:cBhvr>
                                        <p:cTn id="27" dur="500"/>
                                        <p:tgtEl>
                                          <p:spTgt spid="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22580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a:t>
            </a:r>
            <a:r>
              <a:rPr lang="vi-VN" b="1">
                <a:solidFill>
                  <a:srgbClr val="FF0000"/>
                </a:solidFill>
              </a:rPr>
              <a:t>11</a:t>
            </a:r>
            <a:r>
              <a:rPr lang="en-US" b="1">
                <a:solidFill>
                  <a:srgbClr val="FF0000"/>
                </a:solidFill>
              </a:rPr>
              <a:t>. </a:t>
            </a:r>
          </a:p>
          <a:p>
            <a:r>
              <a:rPr lang="en-US" sz="4800" b="1">
                <a:latin typeface="Times New Roman" panose="02020603050405020304" pitchFamily="18" charset="0"/>
                <a:cs typeface="Times New Roman" panose="02020603050405020304" pitchFamily="18" charset="0"/>
              </a:rPr>
              <a:t>Gieo lần lượt hai con xúc xắc cân đối. Tính xác suất đề ít nhất một con xúc xắc xuất hiện mặt 6 chấm.</a:t>
            </a:r>
            <a:endParaRPr lang="en-US" sz="4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68993" y="4038600"/>
                <a:ext cx="23818702" cy="9220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r>
                  <a:rPr lang="en-US" b="1">
                    <a:latin typeface="Times New Roman" panose="02020603050405020304" pitchFamily="18" charset="0"/>
                    <a:cs typeface="Times New Roman" panose="02020603050405020304" pitchFamily="18" charset="0"/>
                  </a:rPr>
                  <a:t>Gieo một con xúc xắc cân đối có 6 kết quả. Nên gieo hai con xúc xắc sẽ có: 6.6 = 36. </a:t>
                </a:r>
              </a:p>
              <a:p>
                <a:r>
                  <a:rPr lang="en-US" b="1">
                    <a:latin typeface="Times New Roman" panose="02020603050405020304" pitchFamily="18" charset="0"/>
                    <a:cs typeface="Times New Roman" panose="02020603050405020304" pitchFamily="18" charset="0"/>
                  </a:rPr>
                  <a:t>Số phần tử của không gian mẫu: </a:t>
                </a:r>
                <a14:m>
                  <m:oMath xmlns:m="http://schemas.openxmlformats.org/officeDocument/2006/math">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r>
                      <a:rPr lang="en-US" b="1" i="1">
                        <a:latin typeface="Cambria Math" panose="02040503050406030204" pitchFamily="18" charset="0"/>
                      </a:rPr>
                      <m:t>=</m:t>
                    </m:r>
                    <m:r>
                      <a:rPr lang="en-US" b="1" i="1">
                        <a:latin typeface="Cambria Math" panose="02040503050406030204" pitchFamily="18" charset="0"/>
                      </a:rPr>
                      <m:t>𝟑𝟔</m:t>
                    </m:r>
                  </m:oMath>
                </a14:m>
                <a:r>
                  <a:rPr lang="en-US" b="1">
                    <a:latin typeface="Times New Roman" panose="02020603050405020304" pitchFamily="18" charset="0"/>
                    <a:cs typeface="Times New Roman" panose="02020603050405020304" pitchFamily="18" charset="0"/>
                  </a:rPr>
                  <a:t>.</a:t>
                </a:r>
              </a:p>
              <a:p>
                <a:r>
                  <a:rPr lang="en-US" b="1">
                    <a:latin typeface="Times New Roman" panose="02020603050405020304" pitchFamily="18" charset="0"/>
                    <a:cs typeface="Times New Roman" panose="02020603050405020304" pitchFamily="18" charset="0"/>
                  </a:rPr>
                  <a:t>Gọi biến cố A: “Ít nhất một con xuất hiện mặt 6 chấm”</a:t>
                </a:r>
              </a:p>
              <a:p>
                <a:r>
                  <a:rPr lang="en-US" b="1">
                    <a:latin typeface="Times New Roman" panose="02020603050405020304" pitchFamily="18" charset="0"/>
                    <a:cs typeface="Times New Roman" panose="02020603050405020304" pitchFamily="18" charset="0"/>
                  </a:rPr>
                  <a:t>Biến cố </a:t>
                </a:r>
                <a14:m>
                  <m:oMath xmlns:m="http://schemas.openxmlformats.org/officeDocument/2006/math">
                    <m:bar>
                      <m:barPr>
                        <m:pos m:val="top"/>
                        <m:ctrlPr>
                          <a:rPr lang="en-US" b="1" i="1">
                            <a:latin typeface="Cambria Math" panose="02040503050406030204" pitchFamily="18" charset="0"/>
                          </a:rPr>
                        </m:ctrlPr>
                      </m:barPr>
                      <m:e>
                        <m:r>
                          <a:rPr lang="en-US" b="1" i="1">
                            <a:latin typeface="Cambria Math" panose="02040503050406030204" pitchFamily="18" charset="0"/>
                          </a:rPr>
                          <m:t>𝑨</m:t>
                        </m:r>
                      </m:e>
                    </m:bar>
                  </m:oMath>
                </a14:m>
                <a:r>
                  <a:rPr lang="en-US" b="1">
                    <a:latin typeface="Times New Roman" panose="02020603050405020304" pitchFamily="18" charset="0"/>
                    <a:cs typeface="Times New Roman" panose="02020603050405020304" pitchFamily="18" charset="0"/>
                  </a:rPr>
                  <a:t>: “Cả hai lần gieo đều không xuất hiện mặt 6 chấm”. Số phần tử của biến cố </a:t>
                </a:r>
                <a14:m>
                  <m:oMath xmlns:m="http://schemas.openxmlformats.org/officeDocument/2006/math">
                    <m:bar>
                      <m:barPr>
                        <m:pos m:val="top"/>
                        <m:ctrlPr>
                          <a:rPr lang="en-US" b="1" i="1">
                            <a:latin typeface="Cambria Math" panose="02040503050406030204" pitchFamily="18" charset="0"/>
                          </a:rPr>
                        </m:ctrlPr>
                      </m:barPr>
                      <m:e>
                        <m:r>
                          <a:rPr lang="en-US" b="1" i="1">
                            <a:latin typeface="Cambria Math" panose="02040503050406030204" pitchFamily="18" charset="0"/>
                          </a:rPr>
                          <m:t>𝑨</m:t>
                        </m:r>
                      </m:e>
                    </m:bar>
                  </m:oMath>
                </a14:m>
                <a:r>
                  <a:rPr lang="en-US" b="1">
                    <a:latin typeface="Times New Roman" panose="02020603050405020304" pitchFamily="18" charset="0"/>
                    <a:cs typeface="Times New Roman" panose="02020603050405020304" pitchFamily="18" charset="0"/>
                  </a:rPr>
                  <a:t>là: </a:t>
                </a:r>
                <a14:m>
                  <m:oMath xmlns:m="http://schemas.openxmlformats.org/officeDocument/2006/math">
                    <m:r>
                      <a:rPr lang="en-US" b="1" i="1">
                        <a:latin typeface="Cambria Math" panose="02040503050406030204" pitchFamily="18" charset="0"/>
                      </a:rPr>
                      <m:t>𝒏</m:t>
                    </m:r>
                    <m:d>
                      <m:dPr>
                        <m:ctrlPr>
                          <a:rPr lang="en-US" b="1" i="1">
                            <a:latin typeface="Cambria Math" panose="02040503050406030204" pitchFamily="18" charset="0"/>
                          </a:rPr>
                        </m:ctrlPr>
                      </m:dPr>
                      <m:e>
                        <m:bar>
                          <m:barPr>
                            <m:pos m:val="top"/>
                            <m:ctrlPr>
                              <a:rPr lang="en-US" b="1" i="1">
                                <a:latin typeface="Cambria Math" panose="02040503050406030204" pitchFamily="18" charset="0"/>
                              </a:rPr>
                            </m:ctrlPr>
                          </m:barPr>
                          <m:e>
                            <m:r>
                              <a:rPr lang="en-US" b="1" i="1">
                                <a:latin typeface="Cambria Math" panose="02040503050406030204" pitchFamily="18" charset="0"/>
                              </a:rPr>
                              <m:t>𝑨</m:t>
                            </m:r>
                          </m:e>
                        </m:bar>
                      </m:e>
                    </m:d>
                    <m:r>
                      <a:rPr lang="en-US" b="1" i="1">
                        <a:latin typeface="Cambria Math" panose="02040503050406030204" pitchFamily="18" charset="0"/>
                      </a:rPr>
                      <m:t>=</m:t>
                    </m:r>
                    <m:r>
                      <a:rPr lang="en-US" b="1" i="1">
                        <a:latin typeface="Cambria Math" panose="02040503050406030204" pitchFamily="18" charset="0"/>
                      </a:rPr>
                      <m:t>𝟓</m:t>
                    </m:r>
                    <m:r>
                      <a:rPr lang="en-US" b="1" i="1">
                        <a:latin typeface="Cambria Math" panose="02040503050406030204" pitchFamily="18" charset="0"/>
                      </a:rPr>
                      <m:t>.</m:t>
                    </m:r>
                    <m:r>
                      <a:rPr lang="en-US" b="1" i="1">
                        <a:latin typeface="Cambria Math" panose="02040503050406030204" pitchFamily="18" charset="0"/>
                      </a:rPr>
                      <m:t>𝟓</m:t>
                    </m:r>
                    <m:r>
                      <a:rPr lang="en-US" b="1" i="1">
                        <a:latin typeface="Cambria Math" panose="02040503050406030204" pitchFamily="18" charset="0"/>
                      </a:rPr>
                      <m:t>=</m:t>
                    </m:r>
                    <m:r>
                      <a:rPr lang="en-US" b="1" i="1">
                        <a:latin typeface="Cambria Math" panose="02040503050406030204" pitchFamily="18" charset="0"/>
                      </a:rPr>
                      <m:t>𝟐𝟓</m:t>
                    </m:r>
                  </m:oMath>
                </a14:m>
                <a:r>
                  <a:rPr lang="en-US" b="1">
                    <a:latin typeface="Times New Roman" panose="02020603050405020304" pitchFamily="18" charset="0"/>
                    <a:cs typeface="Times New Roman" panose="02020603050405020304" pitchFamily="18" charset="0"/>
                  </a:rPr>
                  <a:t>. Khi đó số phần tử của biến cố A là: </a:t>
                </a:r>
                <a14:m>
                  <m:oMath xmlns:m="http://schemas.openxmlformats.org/officeDocument/2006/math">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𝑨</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r>
                      <a:rPr lang="en-US" b="1" i="1">
                        <a:latin typeface="Cambria Math" panose="02040503050406030204" pitchFamily="18" charset="0"/>
                      </a:rPr>
                      <m:t>−</m:t>
                    </m:r>
                    <m:r>
                      <a:rPr lang="en-US" b="1" i="1">
                        <a:latin typeface="Cambria Math" panose="02040503050406030204" pitchFamily="18" charset="0"/>
                      </a:rPr>
                      <m:t>𝒏</m:t>
                    </m:r>
                    <m:d>
                      <m:dPr>
                        <m:ctrlPr>
                          <a:rPr lang="en-US" b="1" i="1">
                            <a:latin typeface="Cambria Math" panose="02040503050406030204" pitchFamily="18" charset="0"/>
                          </a:rPr>
                        </m:ctrlPr>
                      </m:dPr>
                      <m:e>
                        <m:bar>
                          <m:barPr>
                            <m:pos m:val="top"/>
                            <m:ctrlPr>
                              <a:rPr lang="en-US" b="1" i="1">
                                <a:latin typeface="Cambria Math" panose="02040503050406030204" pitchFamily="18" charset="0"/>
                              </a:rPr>
                            </m:ctrlPr>
                          </m:barPr>
                          <m:e>
                            <m:r>
                              <a:rPr lang="en-US" b="1" i="1">
                                <a:latin typeface="Cambria Math" panose="02040503050406030204" pitchFamily="18" charset="0"/>
                              </a:rPr>
                              <m:t>𝑨</m:t>
                            </m:r>
                          </m:e>
                        </m:bar>
                      </m:e>
                    </m:d>
                    <m:r>
                      <a:rPr lang="en-US" b="1" i="1">
                        <a:latin typeface="Cambria Math" panose="02040503050406030204" pitchFamily="18" charset="0"/>
                      </a:rPr>
                      <m:t>=</m:t>
                    </m:r>
                    <m:r>
                      <a:rPr lang="en-US" b="1" i="1">
                        <a:latin typeface="Cambria Math" panose="02040503050406030204" pitchFamily="18" charset="0"/>
                      </a:rPr>
                      <m:t>𝟑𝟔</m:t>
                    </m:r>
                    <m:r>
                      <a:rPr lang="en-US" b="1" i="1">
                        <a:latin typeface="Cambria Math" panose="02040503050406030204" pitchFamily="18" charset="0"/>
                      </a:rPr>
                      <m:t>−</m:t>
                    </m:r>
                    <m:r>
                      <a:rPr lang="en-US" b="1" i="1">
                        <a:latin typeface="Cambria Math" panose="02040503050406030204" pitchFamily="18" charset="0"/>
                      </a:rPr>
                      <m:t>𝟐𝟓</m:t>
                    </m:r>
                    <m:r>
                      <a:rPr lang="en-US" b="1" i="1">
                        <a:latin typeface="Cambria Math" panose="02040503050406030204" pitchFamily="18" charset="0"/>
                      </a:rPr>
                      <m:t>=</m:t>
                    </m:r>
                    <m:r>
                      <a:rPr lang="en-US" b="1" i="1">
                        <a:latin typeface="Cambria Math" panose="02040503050406030204" pitchFamily="18" charset="0"/>
                      </a:rPr>
                      <m:t>𝟏𝟏</m:t>
                    </m:r>
                  </m:oMath>
                </a14:m>
                <a:r>
                  <a:rPr lang="en-US" b="1">
                    <a:latin typeface="Times New Roman" panose="02020603050405020304" pitchFamily="18" charset="0"/>
                    <a:cs typeface="Times New Roman" panose="02020603050405020304" pitchFamily="18" charset="0"/>
                  </a:rPr>
                  <a:t>.</a:t>
                </a:r>
              </a:p>
              <a:p>
                <a:r>
                  <a:rPr lang="en-US" b="1">
                    <a:latin typeface="Times New Roman" panose="02020603050405020304" pitchFamily="18" charset="0"/>
                    <a:cs typeface="Times New Roman" panose="02020603050405020304" pitchFamily="18" charset="0"/>
                  </a:rPr>
                  <a:t>Vậy xác suất của biến cố A là: </a:t>
                </a:r>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𝑨</m:t>
                        </m:r>
                      </m:e>
                    </m: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𝑨</m:t>
                            </m:r>
                          </m:e>
                        </m:d>
                      </m:num>
                      <m:den>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𝟏𝟏</m:t>
                        </m:r>
                      </m:num>
                      <m:den>
                        <m:r>
                          <a:rPr lang="en-US" b="1" i="1">
                            <a:latin typeface="Cambria Math" panose="02040503050406030204" pitchFamily="18" charset="0"/>
                          </a:rPr>
                          <m:t>𝟑𝟔</m:t>
                        </m:r>
                      </m:den>
                    </m:f>
                  </m:oMath>
                </a14:m>
                <a:r>
                  <a:rPr lang="en-US" b="1">
                    <a:latin typeface="Times New Roman" panose="02020603050405020304" pitchFamily="18" charset="0"/>
                    <a:cs typeface="Times New Roman" panose="02020603050405020304" pitchFamily="18" charset="0"/>
                  </a:rPr>
                  <a:t>.</a:t>
                </a:r>
              </a:p>
              <a:p>
                <a:pPr marL="0" indent="0">
                  <a:buNone/>
                </a:pPr>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68993" y="4038600"/>
                <a:ext cx="23818702" cy="9220200"/>
              </a:xfrm>
              <a:prstGeom prst="rect">
                <a:avLst/>
              </a:prstGeom>
              <a:blipFill>
                <a:blip r:embed="rId3"/>
                <a:stretch>
                  <a:fillRect l="-1023" t="-2180"/>
                </a:stretch>
              </a:blipFill>
              <a:ln>
                <a:solidFill>
                  <a:srgbClr val="00B0F0"/>
                </a:solid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1972923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wipe(left)">
                                      <p:cBhvr>
                                        <p:cTn id="7" dur="500"/>
                                        <p:tgtEl>
                                          <p:spTgt spid="97">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animEffect transition="in" filter="fade">
                                      <p:cBhvr>
                                        <p:cTn id="11" dur="500"/>
                                        <p:tgtEl>
                                          <p:spTgt spid="97">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9">
                                            <p:txEl>
                                              <p:pRg st="1" end="1"/>
                                            </p:txEl>
                                          </p:spTgt>
                                        </p:tgtEl>
                                        <p:attrNameLst>
                                          <p:attrName>style.visibility</p:attrName>
                                        </p:attrNameLst>
                                      </p:cBhvr>
                                      <p:to>
                                        <p:strVal val="visible"/>
                                      </p:to>
                                    </p:set>
                                    <p:animEffect transition="in" filter="fade">
                                      <p:cBhvr>
                                        <p:cTn id="20" dur="500"/>
                                        <p:tgtEl>
                                          <p:spTgt spid="9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9">
                                            <p:txEl>
                                              <p:pRg st="2" end="2"/>
                                            </p:txEl>
                                          </p:spTgt>
                                        </p:tgtEl>
                                        <p:attrNameLst>
                                          <p:attrName>style.visibility</p:attrName>
                                        </p:attrNameLst>
                                      </p:cBhvr>
                                      <p:to>
                                        <p:strVal val="visible"/>
                                      </p:to>
                                    </p:set>
                                    <p:animEffect transition="in" filter="fade">
                                      <p:cBhvr>
                                        <p:cTn id="25" dur="500"/>
                                        <p:tgtEl>
                                          <p:spTgt spid="9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9">
                                            <p:txEl>
                                              <p:pRg st="3" end="3"/>
                                            </p:txEl>
                                          </p:spTgt>
                                        </p:tgtEl>
                                        <p:attrNameLst>
                                          <p:attrName>style.visibility</p:attrName>
                                        </p:attrNameLst>
                                      </p:cBhvr>
                                      <p:to>
                                        <p:strVal val="visible"/>
                                      </p:to>
                                    </p:set>
                                    <p:animEffect transition="in" filter="fade">
                                      <p:cBhvr>
                                        <p:cTn id="30" dur="500"/>
                                        <p:tgtEl>
                                          <p:spTgt spid="9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9">
                                            <p:txEl>
                                              <p:pRg st="4" end="4"/>
                                            </p:txEl>
                                          </p:spTgt>
                                        </p:tgtEl>
                                        <p:attrNameLst>
                                          <p:attrName>style.visibility</p:attrName>
                                        </p:attrNameLst>
                                      </p:cBhvr>
                                      <p:to>
                                        <p:strVal val="visible"/>
                                      </p:to>
                                    </p:set>
                                    <p:animEffect transition="in" filter="fade">
                                      <p:cBhvr>
                                        <p:cTn id="35" dur="500"/>
                                        <p:tgtEl>
                                          <p:spTgt spid="99">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9">
                                            <p:txEl>
                                              <p:pRg st="5" end="5"/>
                                            </p:txEl>
                                          </p:spTgt>
                                        </p:tgtEl>
                                        <p:attrNameLst>
                                          <p:attrName>style.visibility</p:attrName>
                                        </p:attrNameLst>
                                      </p:cBhvr>
                                      <p:to>
                                        <p:strVal val="visible"/>
                                      </p:to>
                                    </p:set>
                                    <p:animEffect transition="in" filter="fade">
                                      <p:cBhvr>
                                        <p:cTn id="40" dur="500"/>
                                        <p:tgtEl>
                                          <p:spTgt spid="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5458436"/>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a:t>
            </a:r>
            <a:r>
              <a:rPr lang="vi-VN" b="1">
                <a:solidFill>
                  <a:srgbClr val="FF0000"/>
                </a:solidFill>
              </a:rPr>
              <a:t>12</a:t>
            </a:r>
            <a:r>
              <a:rPr lang="en-US" b="1">
                <a:solidFill>
                  <a:srgbClr val="FF0000"/>
                </a:solidFill>
              </a:rPr>
              <a:t>. </a:t>
            </a:r>
          </a:p>
          <a:p>
            <a:r>
              <a:rPr lang="en-US" sz="4800" b="1">
                <a:latin typeface="Times New Roman" panose="02020603050405020304" pitchFamily="18" charset="0"/>
                <a:cs typeface="Times New Roman" panose="02020603050405020304" pitchFamily="18" charset="0"/>
              </a:rPr>
              <a:t>Màu hạt của đậu Hà Lan có hai kiều hình là màu vàng và màu xanh tương ứng với hai loại gen là gen trội </a:t>
            </a:r>
            <a:r>
              <a:rPr lang="en-US" sz="4800" b="1" i="1">
                <a:latin typeface="Times New Roman" panose="02020603050405020304" pitchFamily="18" charset="0"/>
                <a:cs typeface="Times New Roman" panose="02020603050405020304" pitchFamily="18" charset="0"/>
              </a:rPr>
              <a:t>A</a:t>
            </a:r>
            <a:r>
              <a:rPr lang="en-US" sz="4800" b="1">
                <a:latin typeface="Times New Roman" panose="02020603050405020304" pitchFamily="18" charset="0"/>
                <a:cs typeface="Times New Roman" panose="02020603050405020304" pitchFamily="18" charset="0"/>
              </a:rPr>
              <a:t> và gen lặn a. Hình dạng hạt của đậu Hà Lan cỏ hai kiều hình là hạt trơn và hạt nhăn tương ứng với hai loại gen là gen trội B và gen lặn </a:t>
            </a:r>
            <a:r>
              <a:rPr lang="en-US" sz="4800" b="1" i="1">
                <a:latin typeface="Times New Roman" panose="02020603050405020304" pitchFamily="18" charset="0"/>
                <a:cs typeface="Times New Roman" panose="02020603050405020304" pitchFamily="18" charset="0"/>
              </a:rPr>
              <a:t>b.</a:t>
            </a:r>
            <a:r>
              <a:rPr lang="en-US" sz="4800" b="1">
                <a:latin typeface="Times New Roman" panose="02020603050405020304" pitchFamily="18" charset="0"/>
                <a:cs typeface="Times New Roman" panose="02020603050405020304" pitchFamily="18" charset="0"/>
              </a:rPr>
              <a:t> Biết rằng, cây con lấy ngẫu nhiên một gen từ cây bố và một gen từ cây mẹ.</a:t>
            </a:r>
          </a:p>
          <a:p>
            <a:r>
              <a:rPr lang="en-US" sz="4800" b="1">
                <a:latin typeface="Times New Roman" panose="02020603050405020304" pitchFamily="18" charset="0"/>
                <a:cs typeface="Times New Roman" panose="02020603050405020304" pitchFamily="18" charset="0"/>
              </a:rPr>
              <a:t>Phép thử là cho lai hai loại đậu Hà Lan, trong đó cả cây bố và cây mẹ đều có kiểu gen là </a:t>
            </a:r>
            <a:r>
              <a:rPr lang="en-US" sz="4800" b="1" i="1">
                <a:latin typeface="Times New Roman" panose="02020603050405020304" pitchFamily="18" charset="0"/>
                <a:cs typeface="Times New Roman" panose="02020603050405020304" pitchFamily="18" charset="0"/>
              </a:rPr>
              <a:t>(Aa.Bb)</a:t>
            </a:r>
            <a:r>
              <a:rPr lang="en-US" sz="4800" b="1">
                <a:latin typeface="Times New Roman" panose="02020603050405020304" pitchFamily="18" charset="0"/>
                <a:cs typeface="Times New Roman" panose="02020603050405020304" pitchFamily="18" charset="0"/>
              </a:rPr>
              <a:t> và kiểu hình là hạt màu vàng và trơn. Giả sử các kết quả có thể là đồng khả năng.</a:t>
            </a:r>
          </a:p>
          <a:p>
            <a:r>
              <a:rPr lang="en-US" sz="4800" b="1">
                <a:latin typeface="Times New Roman" panose="02020603050405020304" pitchFamily="18" charset="0"/>
                <a:cs typeface="Times New Roman" panose="02020603050405020304" pitchFamily="18" charset="0"/>
              </a:rPr>
              <a:t>Tính xác suất đề cây con cũng cỏ kiểu hình là hạt màu vàng và trơn.</a:t>
            </a: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11173" y="7239000"/>
            <a:ext cx="23818702" cy="60198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pPr marL="0" indent="0">
              <a:buNone/>
            </a:pPr>
            <a:r>
              <a:rPr lang="en-US" b="1">
                <a:latin typeface="Times New Roman" panose="02020603050405020304" pitchFamily="18" charset="0"/>
                <a:cs typeface="Times New Roman" panose="02020603050405020304" pitchFamily="18" charset="0"/>
              </a:rPr>
              <a:t>Ta vẽ sơ đó hình cây để mô tả các kết quả có thể của kiểu gen ứng với màu hạt của cây con là</a:t>
            </a:r>
          </a:p>
          <a:p>
            <a:pPr marL="0" indent="0">
              <a:buNone/>
            </a:pPr>
            <a:endParaRPr lang="en-US" b="1" dirty="0"/>
          </a:p>
        </p:txBody>
      </p:sp>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82A7D777-AA4C-47BB-D0A3-D5495DA61BCD}"/>
              </a:ext>
            </a:extLst>
          </p:cNvPr>
          <p:cNvPicPr>
            <a:picLocks noChangeAspect="1"/>
          </p:cNvPicPr>
          <p:nvPr/>
        </p:nvPicPr>
        <p:blipFill>
          <a:blip r:embed="rId3"/>
          <a:stretch>
            <a:fillRect/>
          </a:stretch>
        </p:blipFill>
        <p:spPr>
          <a:xfrm>
            <a:off x="4495800" y="8305801"/>
            <a:ext cx="10515600" cy="49530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383873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wipe(left)">
                                      <p:cBhvr>
                                        <p:cTn id="7" dur="500"/>
                                        <p:tgtEl>
                                          <p:spTgt spid="97">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animEffect transition="in" filter="fade">
                                      <p:cBhvr>
                                        <p:cTn id="11" dur="500"/>
                                        <p:tgtEl>
                                          <p:spTgt spid="97">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7">
                                            <p:txEl>
                                              <p:pRg st="2" end="2"/>
                                            </p:txEl>
                                          </p:spTgt>
                                        </p:tgtEl>
                                        <p:attrNameLst>
                                          <p:attrName>style.visibility</p:attrName>
                                        </p:attrNameLst>
                                      </p:cBhvr>
                                      <p:to>
                                        <p:strVal val="visible"/>
                                      </p:to>
                                    </p:set>
                                    <p:animEffect transition="in" filter="fade">
                                      <p:cBhvr>
                                        <p:cTn id="15" dur="500"/>
                                        <p:tgtEl>
                                          <p:spTgt spid="97">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97">
                                            <p:txEl>
                                              <p:pRg st="3" end="3"/>
                                            </p:txEl>
                                          </p:spTgt>
                                        </p:tgtEl>
                                        <p:attrNameLst>
                                          <p:attrName>style.visibility</p:attrName>
                                        </p:attrNameLst>
                                      </p:cBhvr>
                                      <p:to>
                                        <p:strVal val="visible"/>
                                      </p:to>
                                    </p:set>
                                    <p:animEffect transition="in" filter="fade">
                                      <p:cBhvr>
                                        <p:cTn id="19" dur="500"/>
                                        <p:tgtEl>
                                          <p:spTgt spid="97">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0" end="0"/>
                                            </p:txEl>
                                          </p:spTgt>
                                        </p:tgtEl>
                                        <p:attrNameLst>
                                          <p:attrName>style.visibility</p:attrName>
                                        </p:attrNameLst>
                                      </p:cBhvr>
                                      <p:to>
                                        <p:strVal val="visible"/>
                                      </p:to>
                                    </p:set>
                                    <p:animEffect transition="in" filter="wipe(up)">
                                      <p:cBhvr>
                                        <p:cTn id="23" dur="500"/>
                                        <p:tgtEl>
                                          <p:spTgt spid="9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99">
                                            <p:txEl>
                                              <p:pRg st="1" end="1"/>
                                            </p:txEl>
                                          </p:spTgt>
                                        </p:tgtEl>
                                        <p:attrNameLst>
                                          <p:attrName>style.visibility</p:attrName>
                                        </p:attrNameLst>
                                      </p:cBhvr>
                                      <p:to>
                                        <p:strVal val="visible"/>
                                      </p:to>
                                    </p:set>
                                    <p:animEffect transition="in" filter="wipe(up)">
                                      <p:cBhvr>
                                        <p:cTn id="28" dur="500"/>
                                        <p:tgtEl>
                                          <p:spTgt spid="99">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768031"/>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a:t>
            </a:r>
            <a:r>
              <a:rPr lang="vi-VN" b="1">
                <a:solidFill>
                  <a:srgbClr val="FF0000"/>
                </a:solidFill>
              </a:rPr>
              <a:t>12</a:t>
            </a:r>
            <a:r>
              <a:rPr lang="en-US" b="1">
                <a:solidFill>
                  <a:srgbClr val="FF0000"/>
                </a:solidFill>
              </a:rPr>
              <a:t>. </a:t>
            </a: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72710" y="2548595"/>
                <a:ext cx="23857165" cy="10710205"/>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u="sng" err="1">
                    <a:solidFill>
                      <a:srgbClr val="FF0000"/>
                    </a:solidFill>
                  </a:rPr>
                  <a:t>Lời</a:t>
                </a:r>
                <a:r>
                  <a:rPr lang="en-US" b="1" u="sng">
                    <a:solidFill>
                      <a:srgbClr val="FF0000"/>
                    </a:solidFill>
                  </a:rPr>
                  <a:t> giải </a:t>
                </a:r>
              </a:p>
              <a:p>
                <a:r>
                  <a:rPr lang="en-US"/>
                  <a:t>Các kết quả có thê’ của kiểu gene ứng với màu hạt của cây con là 4 nhánh cây: </a:t>
                </a:r>
                <a14:m>
                  <m:oMath xmlns:m="http://schemas.openxmlformats.org/officeDocument/2006/math">
                    <m:r>
                      <m:rPr>
                        <m:nor/>
                      </m:rPr>
                      <a:rPr lang="en-US"/>
                      <m:t>AA</m:t>
                    </m:r>
                    <m:r>
                      <m:rPr>
                        <m:nor/>
                      </m:rPr>
                      <a:rPr lang="en-US"/>
                      <m:t>, </m:t>
                    </m:r>
                    <m:r>
                      <m:rPr>
                        <m:nor/>
                      </m:rPr>
                      <a:rPr lang="en-US"/>
                      <m:t>Aa</m:t>
                    </m:r>
                    <m:r>
                      <m:rPr>
                        <m:nor/>
                      </m:rPr>
                      <a:rPr lang="en-US"/>
                      <m:t>, </m:t>
                    </m:r>
                    <m:r>
                      <m:rPr>
                        <m:nor/>
                      </m:rPr>
                      <a:rPr lang="en-US"/>
                      <m:t>aA</m:t>
                    </m:r>
                    <m:r>
                      <m:rPr>
                        <m:nor/>
                      </m:rPr>
                      <a:rPr lang="en-US"/>
                      <m:t>, </m:t>
                    </m:r>
                    <m:r>
                      <m:rPr>
                        <m:nor/>
                      </m:rPr>
                      <a:rPr lang="en-US"/>
                      <m:t>aa</m:t>
                    </m:r>
                  </m:oMath>
                </a14:m>
                <a:r>
                  <a:rPr lang="en-US"/>
                  <a:t>.</a:t>
                </a:r>
              </a:p>
              <a:p>
                <a:r>
                  <a:rPr lang="en-US"/>
                  <a:t>Tương tự các kết quả có thể của kiểu gene ứng với dạng hạt của cây con là 4 nhánh cây: </a:t>
                </a:r>
                <a14:m>
                  <m:oMath xmlns:m="http://schemas.openxmlformats.org/officeDocument/2006/math">
                    <m:r>
                      <a:rPr lang="en-US" i="1">
                        <a:latin typeface="Cambria Math" panose="02040503050406030204" pitchFamily="18" charset="0"/>
                      </a:rPr>
                      <m:t>𝐵𝐵</m:t>
                    </m:r>
                    <m:r>
                      <a:rPr lang="en-US" i="1">
                        <a:latin typeface="Cambria Math" panose="02040503050406030204" pitchFamily="18" charset="0"/>
                      </a:rPr>
                      <m:t>,</m:t>
                    </m:r>
                    <m:r>
                      <a:rPr lang="en-US" i="1">
                        <a:latin typeface="Cambria Math" panose="02040503050406030204" pitchFamily="18" charset="0"/>
                      </a:rPr>
                      <m:t>𝐵𝑏</m:t>
                    </m:r>
                    <m:r>
                      <a:rPr lang="en-US" i="1">
                        <a:latin typeface="Cambria Math" panose="02040503050406030204" pitchFamily="18" charset="0"/>
                      </a:rPr>
                      <m:t>,</m:t>
                    </m:r>
                    <m:r>
                      <a:rPr lang="en-US" i="1">
                        <a:latin typeface="Cambria Math" panose="02040503050406030204" pitchFamily="18" charset="0"/>
                      </a:rPr>
                      <m:t>𝑏𝐵</m:t>
                    </m:r>
                    <m:r>
                      <a:rPr lang="en-US" i="1">
                        <a:latin typeface="Cambria Math" panose="02040503050406030204" pitchFamily="18" charset="0"/>
                      </a:rPr>
                      <m:t>,</m:t>
                    </m:r>
                    <m:r>
                      <a:rPr lang="en-US" i="1">
                        <a:latin typeface="Cambria Math" panose="02040503050406030204" pitchFamily="18" charset="0"/>
                      </a:rPr>
                      <m:t>𝑏𝑏</m:t>
                    </m:r>
                  </m:oMath>
                </a14:m>
                <a:r>
                  <a:rPr lang="en-US"/>
                  <a:t>.</a:t>
                </a:r>
              </a:p>
              <a:p>
                <a:r>
                  <a:rPr lang="en-US"/>
                  <a:t>Ta liệt kê được tất cả các kết quả có thể của phép thử bằng cách vẽ bảng như sau:</a:t>
                </a:r>
              </a:p>
              <a:p>
                <a:endParaRPr lang="en-US" b="1" u="sng">
                  <a:solidFill>
                    <a:srgbClr val="FF0000"/>
                  </a:solidFill>
                </a:endParaRPr>
              </a:p>
              <a:p>
                <a:pPr marL="0" indent="0">
                  <a:buNone/>
                </a:pPr>
                <a:endParaRPr lang="en-US" b="1"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72710" y="2548595"/>
                <a:ext cx="23857165" cy="10710205"/>
              </a:xfrm>
              <a:prstGeom prst="rect">
                <a:avLst/>
              </a:prstGeom>
              <a:blipFill>
                <a:blip r:embed="rId3"/>
                <a:stretch>
                  <a:fillRect l="-1047" t="-1876" r="-153"/>
                </a:stretch>
              </a:blipFill>
              <a:ln>
                <a:solidFill>
                  <a:srgbClr val="00B0F0"/>
                </a:solid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83FC4334-5DE6-C1AF-6A03-B1D4EF425B24}"/>
              </a:ext>
            </a:extLst>
          </p:cNvPr>
          <p:cNvPicPr>
            <a:picLocks noChangeAspect="1"/>
          </p:cNvPicPr>
          <p:nvPr/>
        </p:nvPicPr>
        <p:blipFill>
          <a:blip r:embed="rId4"/>
          <a:stretch>
            <a:fillRect/>
          </a:stretch>
        </p:blipFill>
        <p:spPr>
          <a:xfrm>
            <a:off x="1295401" y="7467600"/>
            <a:ext cx="20818282" cy="4302868"/>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324285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wipe(left)">
                                      <p:cBhvr>
                                        <p:cTn id="7" dur="500"/>
                                        <p:tgtEl>
                                          <p:spTgt spid="97">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99">
                                            <p:txEl>
                                              <p:pRg st="1" end="1"/>
                                            </p:txEl>
                                          </p:spTgt>
                                        </p:tgtEl>
                                        <p:attrNameLst>
                                          <p:attrName>style.visibility</p:attrName>
                                        </p:attrNameLst>
                                      </p:cBhvr>
                                      <p:to>
                                        <p:strVal val="visible"/>
                                      </p:to>
                                    </p:set>
                                    <p:animEffect transition="in" filter="wipe(up)">
                                      <p:cBhvr>
                                        <p:cTn id="16" dur="500"/>
                                        <p:tgtEl>
                                          <p:spTgt spid="9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9">
                                            <p:txEl>
                                              <p:pRg st="2" end="2"/>
                                            </p:txEl>
                                          </p:spTgt>
                                        </p:tgtEl>
                                        <p:attrNameLst>
                                          <p:attrName>style.visibility</p:attrName>
                                        </p:attrNameLst>
                                      </p:cBhvr>
                                      <p:to>
                                        <p:strVal val="visible"/>
                                      </p:to>
                                    </p:set>
                                    <p:animEffect transition="in" filter="wipe(up)">
                                      <p:cBhvr>
                                        <p:cTn id="21" dur="500"/>
                                        <p:tgtEl>
                                          <p:spTgt spid="9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99">
                                            <p:txEl>
                                              <p:pRg st="3" end="3"/>
                                            </p:txEl>
                                          </p:spTgt>
                                        </p:tgtEl>
                                        <p:attrNameLst>
                                          <p:attrName>style.visibility</p:attrName>
                                        </p:attrNameLst>
                                      </p:cBhvr>
                                      <p:to>
                                        <p:strVal val="visible"/>
                                      </p:to>
                                    </p:set>
                                    <p:animEffect transition="in" filter="wipe(up)">
                                      <p:cBhvr>
                                        <p:cTn id="26" dur="500"/>
                                        <p:tgtEl>
                                          <p:spTgt spid="9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72710" y="1780564"/>
            <a:ext cx="23818702" cy="768031"/>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b="1" dirty="0"/>
              <a:t>	</a:t>
            </a:r>
            <a:r>
              <a:rPr lang="en-US" b="1"/>
              <a:t>	</a:t>
            </a:r>
            <a:r>
              <a:rPr lang="en-US" b="1">
                <a:solidFill>
                  <a:srgbClr val="FF0000"/>
                </a:solidFill>
              </a:rPr>
              <a:t>9.</a:t>
            </a:r>
            <a:r>
              <a:rPr lang="vi-VN" b="1">
                <a:solidFill>
                  <a:srgbClr val="FF0000"/>
                </a:solidFill>
              </a:rPr>
              <a:t>12</a:t>
            </a:r>
            <a:r>
              <a:rPr lang="en-US" b="1">
                <a:solidFill>
                  <a:srgbClr val="FF0000"/>
                </a:solidFill>
              </a:rPr>
              <a:t>. </a:t>
            </a: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72710" y="2548595"/>
                <a:ext cx="23857165" cy="10710205"/>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Mỗi ô là một kết quả có thể vế kiểu gen của cây con. Không gian mẫu là tập hợp 16 ô của bảng trên. Như vậy không gian mẫu </a:t>
                </a:r>
                <a14:m>
                  <m:oMath xmlns:m="http://schemas.openxmlformats.org/officeDocument/2006/math">
                    <m:r>
                      <a:rPr lang="en-US" b="1" i="1">
                        <a:latin typeface="Cambria Math" panose="02040503050406030204" pitchFamily="18" charset="0"/>
                      </a:rPr>
                      <m:t>𝜴</m:t>
                    </m:r>
                  </m:oMath>
                </a14:m>
                <a:r>
                  <a:rPr lang="en-US" b="1">
                    <a:latin typeface="Times New Roman" panose="02020603050405020304" pitchFamily="18" charset="0"/>
                    <a:cs typeface="Times New Roman" panose="02020603050405020304" pitchFamily="18" charset="0"/>
                  </a:rPr>
                  <a:t> của phép thử là</a:t>
                </a:r>
              </a:p>
              <a:p>
                <a14:m>
                  <m:oMath xmlns:m="http://schemas.openxmlformats.org/officeDocument/2006/math">
                    <m:r>
                      <a:rPr lang="en-US" sz="4400" b="1" i="1">
                        <a:latin typeface="Cambria Math" panose="02040503050406030204" pitchFamily="18" charset="0"/>
                      </a:rPr>
                      <m:t>𝜴</m:t>
                    </m:r>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𝑩𝒃</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𝒃𝒃</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𝑩𝒃</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𝒃𝒃</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𝑩𝑩</m:t>
                            </m:r>
                          </m:e>
                        </m:d>
                        <m:r>
                          <a:rPr lang="en-US" sz="4400" b="1" i="1">
                            <a:latin typeface="Cambria Math" panose="02040503050406030204" pitchFamily="18" charset="0"/>
                          </a:rPr>
                          <m:t>;</m:t>
                        </m:r>
                      </m:e>
                    </m:d>
                  </m:oMath>
                </a14:m>
                <a:endParaRPr lang="en-US" sz="4400" b="1" i="1">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𝑩𝒃</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𝒃𝒃</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𝑩𝒃</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𝒃𝑩</m:t>
                        </m:r>
                      </m:e>
                    </m:d>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𝒃𝒃</m:t>
                            </m:r>
                          </m:e>
                        </m:d>
                      </m:e>
                    </m:d>
                    <m:r>
                      <a:rPr lang="en-US" sz="4400" b="1" i="1">
                        <a:latin typeface="Cambria Math" panose="02040503050406030204" pitchFamily="18" charset="0"/>
                      </a:rPr>
                      <m:t>.</m:t>
                    </m:r>
                  </m:oMath>
                </a14:m>
                <a:r>
                  <a:rPr lang="en-US" sz="4400" b="1">
                    <a:latin typeface="Times New Roman" panose="02020603050405020304" pitchFamily="18" charset="0"/>
                    <a:cs typeface="Times New Roman" panose="02020603050405020304" pitchFamily="18" charset="0"/>
                  </a:rPr>
                  <a:t> </a:t>
                </a:r>
              </a:p>
              <a:p>
                <a:r>
                  <a:rPr lang="en-US" b="1">
                    <a:latin typeface="Times New Roman" panose="02020603050405020304" pitchFamily="18" charset="0"/>
                    <a:cs typeface="Times New Roman" panose="02020603050405020304" pitchFamily="18" charset="0"/>
                  </a:rPr>
                  <a:t>Kí hiệu </a:t>
                </a:r>
                <a:r>
                  <a:rPr lang="en-US" b="1" i="1">
                    <a:latin typeface="Times New Roman" panose="02020603050405020304" pitchFamily="18" charset="0"/>
                    <a:cs typeface="Times New Roman" panose="02020603050405020304" pitchFamily="18" charset="0"/>
                  </a:rPr>
                  <a:t>E</a:t>
                </a:r>
                <a:r>
                  <a:rPr lang="en-US" b="1">
                    <a:latin typeface="Times New Roman" panose="02020603050405020304" pitchFamily="18" charset="0"/>
                    <a:cs typeface="Times New Roman" panose="02020603050405020304" pitchFamily="18" charset="0"/>
                  </a:rPr>
                  <a:t> là biến cố: “Cây con có hạt màu vàng và trơn”.</a:t>
                </a:r>
              </a:p>
              <a:p>
                <a:r>
                  <a:rPr lang="en-US" b="1">
                    <a:latin typeface="Times New Roman" panose="02020603050405020304" pitchFamily="18" charset="0"/>
                    <a:cs typeface="Times New Roman" panose="02020603050405020304" pitchFamily="18" charset="0"/>
                  </a:rPr>
                  <a:t>Cây con có hạt màu vàng và trơn khi và chỉ khi trong kiểu gen màu hạt có ít nhất một gen trội A và trong kiểu gen hình dạng hạt có ít nhất một gene trội B.</a:t>
                </a:r>
              </a:p>
              <a:p>
                <a:r>
                  <a:rPr lang="en-US" b="1">
                    <a:latin typeface="Times New Roman" panose="02020603050405020304" pitchFamily="18" charset="0"/>
                    <a:cs typeface="Times New Roman" panose="02020603050405020304" pitchFamily="18" charset="0"/>
                  </a:rPr>
                  <a:t>Do đó</a:t>
                </a:r>
              </a:p>
              <a:p>
                <a:pPr marL="0" indent="0">
                  <a:buNone/>
                </a:pPr>
                <a:r>
                  <a:rPr lang="en-US" b="1">
                    <a:latin typeface="Times New Roman" panose="02020603050405020304" pitchFamily="18" charset="0"/>
                    <a:cs typeface="Times New Roman" panose="02020603050405020304" pitchFamily="18" charset="0"/>
                  </a:rPr>
                  <a:t> </a:t>
                </a:r>
                <a14:m>
                  <m:oMath xmlns:m="http://schemas.openxmlformats.org/officeDocument/2006/math">
                    <m:r>
                      <a:rPr lang="en-US" sz="4400" b="1" i="1">
                        <a:latin typeface="Cambria Math" panose="02040503050406030204" pitchFamily="18" charset="0"/>
                      </a:rPr>
                      <m:t>𝑬</m:t>
                    </m:r>
                    <m:r>
                      <a:rPr lang="en-US" sz="4400" b="1" i="1" smtClean="0">
                        <a:latin typeface="Cambria Math" panose="02040503050406030204" pitchFamily="18" charset="0"/>
                      </a:rPr>
                      <m:t>=</m:t>
                    </m:r>
                    <m:d>
                      <m:dPr>
                        <m:begChr m:val="{"/>
                        <m:endChr m:val=""/>
                        <m:ctrlPr>
                          <a:rPr lang="en-US" sz="4400" b="1" i="1">
                            <a:latin typeface="Cambria Math" panose="02040503050406030204" pitchFamily="18" charset="0"/>
                          </a:rPr>
                        </m:ctrlPr>
                      </m:dPr>
                      <m:e>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𝑩𝑩</m:t>
                            </m:r>
                          </m:e>
                        </m:d>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𝑩𝒃</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𝑩𝒃</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𝑩𝑩</m:t>
                        </m:r>
                      </m:e>
                    </m:d>
                    <m:r>
                      <a:rPr lang="en-US" sz="4400" b="1" i="1">
                        <a:latin typeface="Cambria Math" panose="02040503050406030204" pitchFamily="18" charset="0"/>
                      </a:rPr>
                      <m:t>;</m:t>
                    </m:r>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𝑩𝒃</m:t>
                        </m:r>
                      </m:e>
                    </m:d>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d>
                          <m:dPr>
                            <m:ctrlPr>
                              <a:rPr lang="en-US" sz="4400" b="1" i="1">
                                <a:latin typeface="Cambria Math" panose="02040503050406030204" pitchFamily="18" charset="0"/>
                              </a:rPr>
                            </m:ctrlPr>
                          </m:dPr>
                          <m:e>
                            <m:r>
                              <m:rPr>
                                <m:nor/>
                              </m:rPr>
                              <a:rPr lang="en-US" sz="4400" b="1">
                                <a:latin typeface="Times New Roman" panose="02020603050405020304" pitchFamily="18" charset="0"/>
                                <a:cs typeface="Times New Roman" panose="02020603050405020304" pitchFamily="18" charset="0"/>
                              </a:rPr>
                              <m:t>aA</m:t>
                            </m:r>
                            <m:r>
                              <a:rPr lang="en-US" sz="4400" b="1" i="1">
                                <a:latin typeface="Cambria Math" panose="02040503050406030204" pitchFamily="18" charset="0"/>
                              </a:rPr>
                              <m:t>,</m:t>
                            </m:r>
                            <m:r>
                              <a:rPr lang="en-US" sz="4400" b="1" i="1">
                                <a:latin typeface="Cambria Math" panose="02040503050406030204" pitchFamily="18" charset="0"/>
                              </a:rPr>
                              <m:t>𝒃𝑩</m:t>
                            </m:r>
                          </m:e>
                        </m:d>
                      </m:e>
                    </m:d>
                    <m:r>
                      <a:rPr lang="en-US" sz="4400" b="1" i="1">
                        <a:latin typeface="Cambria Math" panose="02040503050406030204" pitchFamily="18" charset="0"/>
                      </a:rPr>
                      <m:t>.</m:t>
                    </m:r>
                  </m:oMath>
                </a14:m>
                <a:r>
                  <a:rPr lang="en-US" b="1">
                    <a:latin typeface="Times New Roman" panose="02020603050405020304" pitchFamily="18" charset="0"/>
                    <a:cs typeface="Times New Roman" panose="02020603050405020304" pitchFamily="18" charset="0"/>
                  </a:rPr>
                  <a:t> </a:t>
                </a:r>
              </a:p>
              <a:p>
                <a:r>
                  <a:rPr lang="en-US" b="1">
                    <a:latin typeface="Times New Roman" panose="02020603050405020304" pitchFamily="18" charset="0"/>
                    <a:cs typeface="Times New Roman" panose="02020603050405020304" pitchFamily="18" charset="0"/>
                  </a:rPr>
                  <a:t>Vậy </a:t>
                </a:r>
                <a14:m>
                  <m:oMath xmlns:m="http://schemas.openxmlformats.org/officeDocument/2006/math">
                    <m:r>
                      <a:rPr lang="en-US" b="1" i="1">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𝑬</m:t>
                        </m:r>
                      </m:e>
                    </m:d>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𝑬</m:t>
                            </m:r>
                          </m:e>
                        </m:d>
                      </m:num>
                      <m:den>
                        <m:r>
                          <a:rPr lang="en-US" b="1" i="1">
                            <a:latin typeface="Cambria Math" panose="02040503050406030204" pitchFamily="18" charset="0"/>
                          </a:rPr>
                          <m:t>𝒏</m:t>
                        </m:r>
                        <m:d>
                          <m:dPr>
                            <m:ctrlPr>
                              <a:rPr lang="en-US" b="1" i="1">
                                <a:latin typeface="Cambria Math" panose="02040503050406030204" pitchFamily="18" charset="0"/>
                              </a:rPr>
                            </m:ctrlPr>
                          </m:dPr>
                          <m:e>
                            <m:r>
                              <a:rPr lang="en-US" b="1" i="1">
                                <a:latin typeface="Cambria Math" panose="02040503050406030204" pitchFamily="18" charset="0"/>
                              </a:rPr>
                              <m:t>𝜴</m:t>
                            </m:r>
                          </m:e>
                        </m:d>
                      </m:den>
                    </m:f>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𝟗</m:t>
                        </m:r>
                      </m:num>
                      <m:den>
                        <m:r>
                          <a:rPr lang="en-US" b="1" i="1">
                            <a:latin typeface="Cambria Math" panose="02040503050406030204" pitchFamily="18" charset="0"/>
                          </a:rPr>
                          <m:t>𝟏𝟔</m:t>
                        </m:r>
                      </m:den>
                    </m:f>
                  </m:oMath>
                </a14:m>
                <a:r>
                  <a:rPr lang="en-US" b="1">
                    <a:latin typeface="Times New Roman" panose="02020603050405020304" pitchFamily="18" charset="0"/>
                    <a:cs typeface="Times New Roman" panose="02020603050405020304" pitchFamily="18"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72710" y="2548595"/>
                <a:ext cx="23857165" cy="10710205"/>
              </a:xfrm>
              <a:prstGeom prst="rect">
                <a:avLst/>
              </a:prstGeom>
              <a:blipFill>
                <a:blip r:embed="rId3"/>
                <a:stretch>
                  <a:fillRect l="-1149" r="-1098"/>
                </a:stretch>
              </a:blipFill>
              <a:ln>
                <a:solidFill>
                  <a:srgbClr val="00B0F0"/>
                </a:solid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0569D6BF-817C-C661-8590-E44321CE552F}"/>
              </a:ext>
            </a:extLst>
          </p:cNvPr>
          <p:cNvSpPr txBox="1"/>
          <p:nvPr/>
        </p:nvSpPr>
        <p:spPr>
          <a:xfrm>
            <a:off x="762001" y="1780564"/>
            <a:ext cx="4114800" cy="768031"/>
          </a:xfrm>
          <a:prstGeom prst="rect">
            <a:avLst/>
          </a:prstGeom>
          <a:noFill/>
        </p:spPr>
        <p:txBody>
          <a:bodyPr wrap="square">
            <a:spAutoFit/>
          </a:bodyPr>
          <a:lstStyle/>
          <a:p>
            <a:pPr>
              <a:lnSpc>
                <a:spcPct val="107000"/>
              </a:lnSpc>
              <a:spcAft>
                <a:spcPts val="800"/>
              </a:spcAft>
            </a:pPr>
            <a:r>
              <a:rPr lang="vi-VN" sz="4400" b="1">
                <a:solidFill>
                  <a:srgbClr val="0033CC"/>
                </a:solidFill>
                <a:latin typeface="Times New Roman" panose="02020603050405020304" pitchFamily="18" charset="0"/>
                <a:cs typeface="Times New Roman" panose="02020603050405020304" pitchFamily="18" charset="0"/>
              </a:rPr>
              <a:t>4</a:t>
            </a:r>
            <a:r>
              <a:rPr lang="en-US" sz="4400" b="1">
                <a:solidFill>
                  <a:srgbClr val="0033CC"/>
                </a:solidFill>
                <a:latin typeface="Times New Roman" panose="02020603050405020304" pitchFamily="18" charset="0"/>
                <a:cs typeface="Times New Roman" panose="02020603050405020304" pitchFamily="18" charset="0"/>
              </a:rPr>
              <a:t>. </a:t>
            </a:r>
            <a:r>
              <a:rPr lang="vi-VN" sz="4400" b="1">
                <a:solidFill>
                  <a:srgbClr val="0033CC"/>
                </a:solidFill>
                <a:effectLst/>
                <a:latin typeface="Times New Roman" panose="02020603050405020304" pitchFamily="18" charset="0"/>
                <a:ea typeface="Calibri" panose="020F0502020204030204" pitchFamily="34" charset="0"/>
              </a:rPr>
              <a:t>BÀI TẬP.</a:t>
            </a:r>
            <a:endParaRPr lang="en-US" sz="440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83FC4334-5DE6-C1AF-6A03-B1D4EF425B24}"/>
              </a:ext>
            </a:extLst>
          </p:cNvPr>
          <p:cNvPicPr>
            <a:picLocks noChangeAspect="1"/>
          </p:cNvPicPr>
          <p:nvPr/>
        </p:nvPicPr>
        <p:blipFill>
          <a:blip r:embed="rId4"/>
          <a:stretch>
            <a:fillRect/>
          </a:stretch>
        </p:blipFill>
        <p:spPr>
          <a:xfrm>
            <a:off x="5562601" y="1524000"/>
            <a:ext cx="18528812" cy="2715592"/>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299424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Box 60">
            <a:extLst>
              <a:ext uri="{FF2B5EF4-FFF2-40B4-BE49-F238E27FC236}">
                <a16:creationId xmlns:a16="http://schemas.microsoft.com/office/drawing/2014/main" id="{EF2BF89C-218D-8A99-DBE7-8EBB456844D1}"/>
              </a:ext>
            </a:extLst>
          </p:cNvPr>
          <p:cNvSpPr txBox="1"/>
          <p:nvPr/>
        </p:nvSpPr>
        <p:spPr>
          <a:xfrm>
            <a:off x="228600" y="2743200"/>
            <a:ext cx="23774400" cy="10668000"/>
          </a:xfrm>
          <a:prstGeom prst="rect">
            <a:avLst/>
          </a:prstGeom>
          <a:solidFill>
            <a:srgbClr val="D6F7FE"/>
          </a:solidFill>
          <a:ln w="28575">
            <a:solidFill>
              <a:srgbClr val="0070C0"/>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50000"/>
              </a:lnSpc>
              <a:spcAft>
                <a:spcPts val="800"/>
              </a:spcAft>
            </a:pPr>
            <a:r>
              <a:rPr lang="en-US" sz="4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Năm 1652, nhà toán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học Pascal nhận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được một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bức thư từ một nhà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quý tộc nhờ ông giải đáp câu hỏi sau:</a:t>
            </a:r>
            <a:endParaRPr lang="en-US" sz="40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“Khi tham gia một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trò chơi, người chơi được chọn một trong ba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phương án sau: </a:t>
            </a:r>
            <a:endParaRPr lang="en-US" sz="40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Phương án 1: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Được gieo con xúc xậc cân đối liên tiếp 6 lần. Người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chơi thắng nếu cỏ ít nhát một lần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xuất hiện mặt 6 chấm. </a:t>
            </a:r>
            <a:endParaRPr lang="en-US" sz="40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Phương án 2: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Được gieo con xúc xắc cân đối liên tiếp 12 lần.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Người chơi thắng nếu có ít nhất hai lần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xuất hiện mặt 6 chấm. </a:t>
            </a:r>
            <a:endParaRPr lang="en-US" sz="40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Phương án 3: Được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gieo con xúc xắc cân đối liên tiếp 18 lần.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Người chơi thắng nếu</a:t>
            </a:r>
            <a:endParaRPr lang="en-US" sz="40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 ít nhát ba lần xuất hiện mặt 6 chấm.</a:t>
            </a:r>
            <a:endParaRPr lang="en-US" sz="40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Người chơi nên chọn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phương án nào?”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Pascal đã tinh ra xác suất thắng của Phương án 1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là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0,665: Của Phương án 2 là 0,619 và của Phương án 3 là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0,597. Do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đó, </a:t>
            </a:r>
            <a:r>
              <a:rPr lang="en-US" sz="4000" b="1">
                <a:solidFill>
                  <a:srgbClr val="343333"/>
                </a:solidFill>
                <a:effectLst/>
                <a:latin typeface="Times New Roman" panose="02020603050405020304" pitchFamily="18" charset="0"/>
                <a:ea typeface="Calibri" panose="020F0502020204030204" pitchFamily="34" charset="0"/>
                <a:cs typeface="Times New Roman" panose="02020603050405020304" pitchFamily="18" charset="0"/>
              </a:rPr>
              <a:t>ông khuyên nhà quý tộc </a:t>
            </a:r>
            <a:r>
              <a:rPr lang="en-US" sz="4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nên chọn Phương án 1.</a:t>
            </a:r>
            <a:endParaRPr lang="en-US" sz="4000" b="1">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000" b="1">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8" name="Text Box 160">
            <a:extLst>
              <a:ext uri="{FF2B5EF4-FFF2-40B4-BE49-F238E27FC236}">
                <a16:creationId xmlns:a16="http://schemas.microsoft.com/office/drawing/2014/main" id="{6AC3376E-AB7E-D0B9-BD20-5C768C44A7C8}"/>
              </a:ext>
            </a:extLst>
          </p:cNvPr>
          <p:cNvSpPr txBox="1"/>
          <p:nvPr/>
        </p:nvSpPr>
        <p:spPr>
          <a:xfrm>
            <a:off x="609600" y="2109400"/>
            <a:ext cx="3443559" cy="630083"/>
          </a:xfrm>
          <a:prstGeom prst="rect">
            <a:avLst/>
          </a:prstGeom>
          <a:solidFill>
            <a:schemeClr val="lt1"/>
          </a:solidFill>
          <a:ln w="19050">
            <a:solidFill>
              <a:srgbClr val="C00000"/>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4000" b="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Em có biết?</a:t>
            </a:r>
            <a:endParaRPr lang="en-US" sz="40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9" name="Rounded Rectangle 4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IX   ·   BÀI 27</a:t>
            </a:r>
          </a:p>
        </p:txBody>
      </p:sp>
      <p:sp>
        <p:nvSpPr>
          <p:cNvPr id="53" name="TextBox 5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377074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fade">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fade">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fade">
                                      <p:cBhvr>
                                        <p:cTn id="47"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3397</TotalTime>
  <Words>1399</Words>
  <Application>Microsoft Office PowerPoint</Application>
  <PresentationFormat>Custom</PresentationFormat>
  <Paragraphs>357</Paragraphs>
  <Slides>32</Slides>
  <Notes>32</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32</vt:i4>
      </vt:variant>
    </vt:vector>
  </HeadingPairs>
  <TitlesOfParts>
    <vt:vector size="46" baseType="lpstr">
      <vt:lpstr>Yu Gothic UI Semilight</vt:lpstr>
      <vt:lpstr>Arial</vt:lpstr>
      <vt:lpstr>ArialMT</vt:lpstr>
      <vt:lpstr>Bahnschrift SemiBold SemiConden</vt:lpstr>
      <vt:lpstr>Baumans</vt:lpstr>
      <vt:lpstr>Calibri</vt:lpstr>
      <vt:lpstr>Calibri Light</vt:lpstr>
      <vt:lpstr>Cambria Math</vt:lpstr>
      <vt:lpstr>Cascadia Mono</vt:lpstr>
      <vt:lpstr>Tahoma</vt:lpstr>
      <vt:lpstr>Times New Roman</vt:lpstr>
      <vt:lpstr>Tomaho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357</cp:revision>
  <dcterms:created xsi:type="dcterms:W3CDTF">2013-08-31T11:42:51Z</dcterms:created>
  <dcterms:modified xsi:type="dcterms:W3CDTF">2022-08-30T03:12:28Z</dcterms:modified>
  <cp:category>9Slide.vn</cp:category>
</cp:coreProperties>
</file>