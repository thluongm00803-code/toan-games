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rawings/vmlDrawing1.vml" ContentType="application/vnd.openxmlformats-officedocument.vmlDrawing"/>
  <Override PartName="/ppt/embeddings/oleObject1.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54" r:id="rId2"/>
  </p:sldMasterIdLst>
  <p:notesMasterIdLst>
    <p:notesMasterId r:id="rId39"/>
  </p:notesMasterIdLst>
  <p:sldIdLst>
    <p:sldId id="313" r:id="rId3"/>
    <p:sldId id="335" r:id="rId4"/>
    <p:sldId id="351" r:id="rId5"/>
    <p:sldId id="322" r:id="rId6"/>
    <p:sldId id="336" r:id="rId7"/>
    <p:sldId id="337" r:id="rId8"/>
    <p:sldId id="338" r:id="rId9"/>
    <p:sldId id="339" r:id="rId10"/>
    <p:sldId id="340" r:id="rId11"/>
    <p:sldId id="341" r:id="rId12"/>
    <p:sldId id="342" r:id="rId13"/>
    <p:sldId id="343" r:id="rId14"/>
    <p:sldId id="344" r:id="rId15"/>
    <p:sldId id="346" r:id="rId16"/>
    <p:sldId id="347" r:id="rId17"/>
    <p:sldId id="345" r:id="rId18"/>
    <p:sldId id="348" r:id="rId19"/>
    <p:sldId id="349" r:id="rId20"/>
    <p:sldId id="350" r:id="rId21"/>
    <p:sldId id="352" r:id="rId22"/>
    <p:sldId id="353" r:id="rId23"/>
    <p:sldId id="354" r:id="rId24"/>
    <p:sldId id="355" r:id="rId25"/>
    <p:sldId id="356" r:id="rId26"/>
    <p:sldId id="357" r:id="rId27"/>
    <p:sldId id="358" r:id="rId28"/>
    <p:sldId id="359" r:id="rId29"/>
    <p:sldId id="360" r:id="rId30"/>
    <p:sldId id="361" r:id="rId31"/>
    <p:sldId id="362" r:id="rId32"/>
    <p:sldId id="363" r:id="rId33"/>
    <p:sldId id="364" r:id="rId34"/>
    <p:sldId id="365" r:id="rId35"/>
    <p:sldId id="366" r:id="rId36"/>
    <p:sldId id="367" r:id="rId37"/>
    <p:sldId id="368" r:id="rId38"/>
  </p:sldIdLst>
  <p:sldSz cx="24384000" cy="13716000"/>
  <p:notesSz cx="6858000" cy="9144000"/>
  <p:custDataLst>
    <p:tags r:id="rId40"/>
  </p:custDataLst>
  <p:defaultTextStyle>
    <a:defPPr>
      <a:defRPr lang="en-US"/>
    </a:defPPr>
    <a:lvl1pPr marL="0" algn="l" defTabSz="2177278" rtl="0" eaLnBrk="1" latinLnBrk="0" hangingPunct="1">
      <a:defRPr sz="4300" kern="1200">
        <a:solidFill>
          <a:schemeClr val="tx1"/>
        </a:solidFill>
        <a:latin typeface="+mn-lt"/>
        <a:ea typeface="+mn-ea"/>
        <a:cs typeface="+mn-cs"/>
      </a:defRPr>
    </a:lvl1pPr>
    <a:lvl2pPr marL="1088639" algn="l" defTabSz="2177278" rtl="0" eaLnBrk="1" latinLnBrk="0" hangingPunct="1">
      <a:defRPr sz="4300" kern="1200">
        <a:solidFill>
          <a:schemeClr val="tx1"/>
        </a:solidFill>
        <a:latin typeface="+mn-lt"/>
        <a:ea typeface="+mn-ea"/>
        <a:cs typeface="+mn-cs"/>
      </a:defRPr>
    </a:lvl2pPr>
    <a:lvl3pPr marL="2177278" algn="l" defTabSz="2177278" rtl="0" eaLnBrk="1" latinLnBrk="0" hangingPunct="1">
      <a:defRPr sz="4300" kern="1200">
        <a:solidFill>
          <a:schemeClr val="tx1"/>
        </a:solidFill>
        <a:latin typeface="+mn-lt"/>
        <a:ea typeface="+mn-ea"/>
        <a:cs typeface="+mn-cs"/>
      </a:defRPr>
    </a:lvl3pPr>
    <a:lvl4pPr marL="3265917" algn="l" defTabSz="2177278" rtl="0" eaLnBrk="1" latinLnBrk="0" hangingPunct="1">
      <a:defRPr sz="4300" kern="1200">
        <a:solidFill>
          <a:schemeClr val="tx1"/>
        </a:solidFill>
        <a:latin typeface="+mn-lt"/>
        <a:ea typeface="+mn-ea"/>
        <a:cs typeface="+mn-cs"/>
      </a:defRPr>
    </a:lvl4pPr>
    <a:lvl5pPr marL="4354556" algn="l" defTabSz="2177278" rtl="0" eaLnBrk="1" latinLnBrk="0" hangingPunct="1">
      <a:defRPr sz="4300" kern="1200">
        <a:solidFill>
          <a:schemeClr val="tx1"/>
        </a:solidFill>
        <a:latin typeface="+mn-lt"/>
        <a:ea typeface="+mn-ea"/>
        <a:cs typeface="+mn-cs"/>
      </a:defRPr>
    </a:lvl5pPr>
    <a:lvl6pPr marL="5443195" algn="l" defTabSz="2177278" rtl="0" eaLnBrk="1" latinLnBrk="0" hangingPunct="1">
      <a:defRPr sz="4300" kern="1200">
        <a:solidFill>
          <a:schemeClr val="tx1"/>
        </a:solidFill>
        <a:latin typeface="+mn-lt"/>
        <a:ea typeface="+mn-ea"/>
        <a:cs typeface="+mn-cs"/>
      </a:defRPr>
    </a:lvl6pPr>
    <a:lvl7pPr marL="6531834" algn="l" defTabSz="2177278" rtl="0" eaLnBrk="1" latinLnBrk="0" hangingPunct="1">
      <a:defRPr sz="4300" kern="1200">
        <a:solidFill>
          <a:schemeClr val="tx1"/>
        </a:solidFill>
        <a:latin typeface="+mn-lt"/>
        <a:ea typeface="+mn-ea"/>
        <a:cs typeface="+mn-cs"/>
      </a:defRPr>
    </a:lvl7pPr>
    <a:lvl8pPr marL="7620472" algn="l" defTabSz="2177278" rtl="0" eaLnBrk="1" latinLnBrk="0" hangingPunct="1">
      <a:defRPr sz="4300" kern="1200">
        <a:solidFill>
          <a:schemeClr val="tx1"/>
        </a:solidFill>
        <a:latin typeface="+mn-lt"/>
        <a:ea typeface="+mn-ea"/>
        <a:cs typeface="+mn-cs"/>
      </a:defRPr>
    </a:lvl8pPr>
    <a:lvl9pPr marL="8709111" algn="l" defTabSz="2177278" rtl="0" eaLnBrk="1" latinLnBrk="0" hangingPunct="1">
      <a:defRPr sz="4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99"/>
    <a:srgbClr val="FF0066"/>
    <a:srgbClr val="F2F2F2"/>
    <a:srgbClr val="FF0000"/>
    <a:srgbClr val="FF00FF"/>
    <a:srgbClr val="D33E03"/>
    <a:srgbClr val="D35C03"/>
    <a:srgbClr val="BFD303"/>
    <a:srgbClr val="CDA309"/>
    <a:srgbClr val="C707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735" autoAdjust="0"/>
    <p:restoredTop sz="94139" autoAdjust="0"/>
  </p:normalViewPr>
  <p:slideViewPr>
    <p:cSldViewPr>
      <p:cViewPr varScale="1">
        <p:scale>
          <a:sx n="32" d="100"/>
          <a:sy n="32" d="100"/>
        </p:scale>
        <p:origin x="90" y="300"/>
      </p:cViewPr>
      <p:guideLst>
        <p:guide orient="horz" pos="4320"/>
        <p:guide pos="7680"/>
      </p:guideLst>
    </p:cSldViewPr>
  </p:slideViewPr>
  <p:notesTextViewPr>
    <p:cViewPr>
      <p:scale>
        <a:sx n="100" d="100"/>
        <a:sy n="100" d="100"/>
      </p:scale>
      <p:origin x="0" y="0"/>
    </p:cViewPr>
  </p:notesTextViewPr>
  <p:notesViewPr>
    <p:cSldViewPr>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notesMaster" Target="notesMasters/notesMaster1.xml"/><Relationship Id="rId40" Type="http://schemas.openxmlformats.org/officeDocument/2006/relationships/tags" Target="tags/tag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3BB293-0719-4B19-A181-EE36FD0623AD}" type="datetimeFigureOut">
              <a:rPr lang="en-US" smtClean="0"/>
              <a:pPr/>
              <a:t>8/30/2022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EA8B73-FCCD-4D4C-BC4E-0CE5120A1B5B}" type="slidenum">
              <a:rPr lang="en-US" smtClean="0"/>
              <a:pPr/>
              <a:t>‹#›</a:t>
            </a:fld>
            <a:endParaRPr lang="en-US"/>
          </a:p>
        </p:txBody>
      </p:sp>
    </p:spTree>
    <p:extLst>
      <p:ext uri="{BB962C8B-B14F-4D97-AF65-F5344CB8AC3E}">
        <p14:creationId xmlns:p14="http://schemas.microsoft.com/office/powerpoint/2010/main" val="3059963718"/>
      </p:ext>
    </p:extLst>
  </p:cSld>
  <p:clrMap bg1="lt1" tx1="dk1" bg2="lt2" tx2="dk2" accent1="accent1" accent2="accent2" accent3="accent3" accent4="accent4" accent5="accent5" accent6="accent6" hlink="hlink" folHlink="folHlink"/>
  <p:notesStyle>
    <a:lvl1pPr marL="0" algn="l" defTabSz="2177278" rtl="0" eaLnBrk="1" latinLnBrk="0" hangingPunct="1">
      <a:defRPr sz="2900" kern="1200">
        <a:solidFill>
          <a:schemeClr val="tx1"/>
        </a:solidFill>
        <a:latin typeface="+mn-lt"/>
        <a:ea typeface="+mn-ea"/>
        <a:cs typeface="+mn-cs"/>
      </a:defRPr>
    </a:lvl1pPr>
    <a:lvl2pPr marL="1088639" algn="l" defTabSz="2177278" rtl="0" eaLnBrk="1" latinLnBrk="0" hangingPunct="1">
      <a:defRPr sz="2900" kern="1200">
        <a:solidFill>
          <a:schemeClr val="tx1"/>
        </a:solidFill>
        <a:latin typeface="+mn-lt"/>
        <a:ea typeface="+mn-ea"/>
        <a:cs typeface="+mn-cs"/>
      </a:defRPr>
    </a:lvl2pPr>
    <a:lvl3pPr marL="2177278" algn="l" defTabSz="2177278" rtl="0" eaLnBrk="1" latinLnBrk="0" hangingPunct="1">
      <a:defRPr sz="2900" kern="1200">
        <a:solidFill>
          <a:schemeClr val="tx1"/>
        </a:solidFill>
        <a:latin typeface="+mn-lt"/>
        <a:ea typeface="+mn-ea"/>
        <a:cs typeface="+mn-cs"/>
      </a:defRPr>
    </a:lvl3pPr>
    <a:lvl4pPr marL="3265917" algn="l" defTabSz="2177278" rtl="0" eaLnBrk="1" latinLnBrk="0" hangingPunct="1">
      <a:defRPr sz="2900" kern="1200">
        <a:solidFill>
          <a:schemeClr val="tx1"/>
        </a:solidFill>
        <a:latin typeface="+mn-lt"/>
        <a:ea typeface="+mn-ea"/>
        <a:cs typeface="+mn-cs"/>
      </a:defRPr>
    </a:lvl4pPr>
    <a:lvl5pPr marL="4354556" algn="l" defTabSz="2177278" rtl="0" eaLnBrk="1" latinLnBrk="0" hangingPunct="1">
      <a:defRPr sz="2900" kern="1200">
        <a:solidFill>
          <a:schemeClr val="tx1"/>
        </a:solidFill>
        <a:latin typeface="+mn-lt"/>
        <a:ea typeface="+mn-ea"/>
        <a:cs typeface="+mn-cs"/>
      </a:defRPr>
    </a:lvl5pPr>
    <a:lvl6pPr marL="5443195" algn="l" defTabSz="2177278" rtl="0" eaLnBrk="1" latinLnBrk="0" hangingPunct="1">
      <a:defRPr sz="2900" kern="1200">
        <a:solidFill>
          <a:schemeClr val="tx1"/>
        </a:solidFill>
        <a:latin typeface="+mn-lt"/>
        <a:ea typeface="+mn-ea"/>
        <a:cs typeface="+mn-cs"/>
      </a:defRPr>
    </a:lvl6pPr>
    <a:lvl7pPr marL="6531834" algn="l" defTabSz="2177278" rtl="0" eaLnBrk="1" latinLnBrk="0" hangingPunct="1">
      <a:defRPr sz="2900" kern="1200">
        <a:solidFill>
          <a:schemeClr val="tx1"/>
        </a:solidFill>
        <a:latin typeface="+mn-lt"/>
        <a:ea typeface="+mn-ea"/>
        <a:cs typeface="+mn-cs"/>
      </a:defRPr>
    </a:lvl7pPr>
    <a:lvl8pPr marL="7620472" algn="l" defTabSz="2177278" rtl="0" eaLnBrk="1" latinLnBrk="0" hangingPunct="1">
      <a:defRPr sz="2900" kern="1200">
        <a:solidFill>
          <a:schemeClr val="tx1"/>
        </a:solidFill>
        <a:latin typeface="+mn-lt"/>
        <a:ea typeface="+mn-ea"/>
        <a:cs typeface="+mn-cs"/>
      </a:defRPr>
    </a:lvl8pPr>
    <a:lvl9pPr marL="8709111" algn="l" defTabSz="2177278" rtl="0" eaLnBrk="1" latinLnBrk="0" hangingPunct="1">
      <a:defRPr sz="2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a:t>
            </a:fld>
            <a:endParaRPr lang="en-US"/>
          </a:p>
        </p:txBody>
      </p:sp>
    </p:spTree>
    <p:extLst>
      <p:ext uri="{BB962C8B-B14F-4D97-AF65-F5344CB8AC3E}">
        <p14:creationId xmlns:p14="http://schemas.microsoft.com/office/powerpoint/2010/main" val="8705615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a:t>
            </a:fld>
            <a:endParaRPr lang="en-US"/>
          </a:p>
        </p:txBody>
      </p:sp>
    </p:spTree>
    <p:extLst>
      <p:ext uri="{BB962C8B-B14F-4D97-AF65-F5344CB8AC3E}">
        <p14:creationId xmlns:p14="http://schemas.microsoft.com/office/powerpoint/2010/main" val="1787361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4</a:t>
            </a:fld>
            <a:endParaRPr lang="en-US"/>
          </a:p>
        </p:txBody>
      </p:sp>
    </p:spTree>
    <p:extLst>
      <p:ext uri="{BB962C8B-B14F-4D97-AF65-F5344CB8AC3E}">
        <p14:creationId xmlns:p14="http://schemas.microsoft.com/office/powerpoint/2010/main" val="440194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5</a:t>
            </a:fld>
            <a:endParaRPr lang="en-US"/>
          </a:p>
        </p:txBody>
      </p:sp>
    </p:spTree>
    <p:extLst>
      <p:ext uri="{BB962C8B-B14F-4D97-AF65-F5344CB8AC3E}">
        <p14:creationId xmlns:p14="http://schemas.microsoft.com/office/powerpoint/2010/main" val="1209151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6</a:t>
            </a:fld>
            <a:endParaRPr lang="en-US"/>
          </a:p>
        </p:txBody>
      </p:sp>
    </p:spTree>
    <p:extLst>
      <p:ext uri="{BB962C8B-B14F-4D97-AF65-F5344CB8AC3E}">
        <p14:creationId xmlns:p14="http://schemas.microsoft.com/office/powerpoint/2010/main" val="6972025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7</a:t>
            </a:fld>
            <a:endParaRPr lang="en-US"/>
          </a:p>
        </p:txBody>
      </p:sp>
    </p:spTree>
    <p:extLst>
      <p:ext uri="{BB962C8B-B14F-4D97-AF65-F5344CB8AC3E}">
        <p14:creationId xmlns:p14="http://schemas.microsoft.com/office/powerpoint/2010/main" val="1489953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8</a:t>
            </a:fld>
            <a:endParaRPr lang="en-US"/>
          </a:p>
        </p:txBody>
      </p:sp>
    </p:spTree>
    <p:extLst>
      <p:ext uri="{BB962C8B-B14F-4D97-AF65-F5344CB8AC3E}">
        <p14:creationId xmlns:p14="http://schemas.microsoft.com/office/powerpoint/2010/main" val="24418549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9</a:t>
            </a:fld>
            <a:endParaRPr lang="en-US"/>
          </a:p>
        </p:txBody>
      </p:sp>
    </p:spTree>
    <p:extLst>
      <p:ext uri="{BB962C8B-B14F-4D97-AF65-F5344CB8AC3E}">
        <p14:creationId xmlns:p14="http://schemas.microsoft.com/office/powerpoint/2010/main" val="18085654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10</a:t>
            </a:fld>
            <a:endParaRPr lang="en-US"/>
          </a:p>
        </p:txBody>
      </p:sp>
    </p:spTree>
    <p:extLst>
      <p:ext uri="{BB962C8B-B14F-4D97-AF65-F5344CB8AC3E}">
        <p14:creationId xmlns:p14="http://schemas.microsoft.com/office/powerpoint/2010/main" val="12320155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11</a:t>
            </a:fld>
            <a:endParaRPr lang="en-US"/>
          </a:p>
        </p:txBody>
      </p:sp>
    </p:spTree>
    <p:extLst>
      <p:ext uri="{BB962C8B-B14F-4D97-AF65-F5344CB8AC3E}">
        <p14:creationId xmlns:p14="http://schemas.microsoft.com/office/powerpoint/2010/main" val="348885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12</a:t>
            </a:fld>
            <a:endParaRPr lang="en-US"/>
          </a:p>
        </p:txBody>
      </p:sp>
    </p:spTree>
    <p:extLst>
      <p:ext uri="{BB962C8B-B14F-4D97-AF65-F5344CB8AC3E}">
        <p14:creationId xmlns:p14="http://schemas.microsoft.com/office/powerpoint/2010/main" val="3998709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13</a:t>
            </a:fld>
            <a:endParaRPr lang="en-US"/>
          </a:p>
        </p:txBody>
      </p:sp>
    </p:spTree>
    <p:extLst>
      <p:ext uri="{BB962C8B-B14F-4D97-AF65-F5344CB8AC3E}">
        <p14:creationId xmlns:p14="http://schemas.microsoft.com/office/powerpoint/2010/main" val="1118733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14</a:t>
            </a:fld>
            <a:endParaRPr lang="en-US"/>
          </a:p>
        </p:txBody>
      </p:sp>
    </p:spTree>
    <p:extLst>
      <p:ext uri="{BB962C8B-B14F-4D97-AF65-F5344CB8AC3E}">
        <p14:creationId xmlns:p14="http://schemas.microsoft.com/office/powerpoint/2010/main" val="7942659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15</a:t>
            </a:fld>
            <a:endParaRPr lang="en-US"/>
          </a:p>
        </p:txBody>
      </p:sp>
    </p:spTree>
    <p:extLst>
      <p:ext uri="{BB962C8B-B14F-4D97-AF65-F5344CB8AC3E}">
        <p14:creationId xmlns:p14="http://schemas.microsoft.com/office/powerpoint/2010/main" val="37173087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16</a:t>
            </a:fld>
            <a:endParaRPr lang="en-US"/>
          </a:p>
        </p:txBody>
      </p:sp>
    </p:spTree>
    <p:extLst>
      <p:ext uri="{BB962C8B-B14F-4D97-AF65-F5344CB8AC3E}">
        <p14:creationId xmlns:p14="http://schemas.microsoft.com/office/powerpoint/2010/main" val="2057202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17</a:t>
            </a:fld>
            <a:endParaRPr lang="en-US"/>
          </a:p>
        </p:txBody>
      </p:sp>
    </p:spTree>
    <p:extLst>
      <p:ext uri="{BB962C8B-B14F-4D97-AF65-F5344CB8AC3E}">
        <p14:creationId xmlns:p14="http://schemas.microsoft.com/office/powerpoint/2010/main" val="1869995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18</a:t>
            </a:fld>
            <a:endParaRPr lang="en-US"/>
          </a:p>
        </p:txBody>
      </p:sp>
    </p:spTree>
    <p:extLst>
      <p:ext uri="{BB962C8B-B14F-4D97-AF65-F5344CB8AC3E}">
        <p14:creationId xmlns:p14="http://schemas.microsoft.com/office/powerpoint/2010/main" val="33386174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19</a:t>
            </a:fld>
            <a:endParaRPr lang="en-US"/>
          </a:p>
        </p:txBody>
      </p:sp>
    </p:spTree>
    <p:extLst>
      <p:ext uri="{BB962C8B-B14F-4D97-AF65-F5344CB8AC3E}">
        <p14:creationId xmlns:p14="http://schemas.microsoft.com/office/powerpoint/2010/main" val="2157969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20</a:t>
            </a:fld>
            <a:endParaRPr lang="en-US"/>
          </a:p>
        </p:txBody>
      </p:sp>
    </p:spTree>
    <p:extLst>
      <p:ext uri="{BB962C8B-B14F-4D97-AF65-F5344CB8AC3E}">
        <p14:creationId xmlns:p14="http://schemas.microsoft.com/office/powerpoint/2010/main" val="26734806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21</a:t>
            </a:fld>
            <a:endParaRPr lang="en-US"/>
          </a:p>
        </p:txBody>
      </p:sp>
    </p:spTree>
    <p:extLst>
      <p:ext uri="{BB962C8B-B14F-4D97-AF65-F5344CB8AC3E}">
        <p14:creationId xmlns:p14="http://schemas.microsoft.com/office/powerpoint/2010/main" val="30231238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22</a:t>
            </a:fld>
            <a:endParaRPr lang="en-US"/>
          </a:p>
        </p:txBody>
      </p:sp>
    </p:spTree>
    <p:extLst>
      <p:ext uri="{BB962C8B-B14F-4D97-AF65-F5344CB8AC3E}">
        <p14:creationId xmlns:p14="http://schemas.microsoft.com/office/powerpoint/2010/main" val="9663164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23</a:t>
            </a:fld>
            <a:endParaRPr lang="en-US"/>
          </a:p>
        </p:txBody>
      </p:sp>
    </p:spTree>
    <p:extLst>
      <p:ext uri="{BB962C8B-B14F-4D97-AF65-F5344CB8AC3E}">
        <p14:creationId xmlns:p14="http://schemas.microsoft.com/office/powerpoint/2010/main" val="27834207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24</a:t>
            </a:fld>
            <a:endParaRPr lang="en-US"/>
          </a:p>
        </p:txBody>
      </p:sp>
    </p:spTree>
    <p:extLst>
      <p:ext uri="{BB962C8B-B14F-4D97-AF65-F5344CB8AC3E}">
        <p14:creationId xmlns:p14="http://schemas.microsoft.com/office/powerpoint/2010/main" val="4272927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25</a:t>
            </a:fld>
            <a:endParaRPr lang="en-US"/>
          </a:p>
        </p:txBody>
      </p:sp>
    </p:spTree>
    <p:extLst>
      <p:ext uri="{BB962C8B-B14F-4D97-AF65-F5344CB8AC3E}">
        <p14:creationId xmlns:p14="http://schemas.microsoft.com/office/powerpoint/2010/main" val="4985337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26</a:t>
            </a:fld>
            <a:endParaRPr lang="en-US"/>
          </a:p>
        </p:txBody>
      </p:sp>
    </p:spTree>
    <p:extLst>
      <p:ext uri="{BB962C8B-B14F-4D97-AF65-F5344CB8AC3E}">
        <p14:creationId xmlns:p14="http://schemas.microsoft.com/office/powerpoint/2010/main" val="20957601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27</a:t>
            </a:fld>
            <a:endParaRPr lang="en-US"/>
          </a:p>
        </p:txBody>
      </p:sp>
    </p:spTree>
    <p:extLst>
      <p:ext uri="{BB962C8B-B14F-4D97-AF65-F5344CB8AC3E}">
        <p14:creationId xmlns:p14="http://schemas.microsoft.com/office/powerpoint/2010/main" val="21698442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28</a:t>
            </a:fld>
            <a:endParaRPr lang="en-US"/>
          </a:p>
        </p:txBody>
      </p:sp>
    </p:spTree>
    <p:extLst>
      <p:ext uri="{BB962C8B-B14F-4D97-AF65-F5344CB8AC3E}">
        <p14:creationId xmlns:p14="http://schemas.microsoft.com/office/powerpoint/2010/main" val="10805767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29</a:t>
            </a:fld>
            <a:endParaRPr lang="en-US"/>
          </a:p>
        </p:txBody>
      </p:sp>
    </p:spTree>
    <p:extLst>
      <p:ext uri="{BB962C8B-B14F-4D97-AF65-F5344CB8AC3E}">
        <p14:creationId xmlns:p14="http://schemas.microsoft.com/office/powerpoint/2010/main" val="9373819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30</a:t>
            </a:fld>
            <a:endParaRPr lang="en-US"/>
          </a:p>
        </p:txBody>
      </p:sp>
    </p:spTree>
    <p:extLst>
      <p:ext uri="{BB962C8B-B14F-4D97-AF65-F5344CB8AC3E}">
        <p14:creationId xmlns:p14="http://schemas.microsoft.com/office/powerpoint/2010/main" val="8041888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31</a:t>
            </a:fld>
            <a:endParaRPr lang="en-US"/>
          </a:p>
        </p:txBody>
      </p:sp>
    </p:spTree>
    <p:extLst>
      <p:ext uri="{BB962C8B-B14F-4D97-AF65-F5344CB8AC3E}">
        <p14:creationId xmlns:p14="http://schemas.microsoft.com/office/powerpoint/2010/main" val="23349742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32</a:t>
            </a:fld>
            <a:endParaRPr lang="en-US"/>
          </a:p>
        </p:txBody>
      </p:sp>
    </p:spTree>
    <p:extLst>
      <p:ext uri="{BB962C8B-B14F-4D97-AF65-F5344CB8AC3E}">
        <p14:creationId xmlns:p14="http://schemas.microsoft.com/office/powerpoint/2010/main" val="37101865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33</a:t>
            </a:fld>
            <a:endParaRPr lang="en-US"/>
          </a:p>
        </p:txBody>
      </p:sp>
    </p:spTree>
    <p:extLst>
      <p:ext uri="{BB962C8B-B14F-4D97-AF65-F5344CB8AC3E}">
        <p14:creationId xmlns:p14="http://schemas.microsoft.com/office/powerpoint/2010/main" val="30957311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34</a:t>
            </a:fld>
            <a:endParaRPr lang="en-US"/>
          </a:p>
        </p:txBody>
      </p:sp>
    </p:spTree>
    <p:extLst>
      <p:ext uri="{BB962C8B-B14F-4D97-AF65-F5344CB8AC3E}">
        <p14:creationId xmlns:p14="http://schemas.microsoft.com/office/powerpoint/2010/main" val="28330386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35</a:t>
            </a:fld>
            <a:endParaRPr lang="en-US"/>
          </a:p>
        </p:txBody>
      </p:sp>
    </p:spTree>
    <p:extLst>
      <p:ext uri="{BB962C8B-B14F-4D97-AF65-F5344CB8AC3E}">
        <p14:creationId xmlns:p14="http://schemas.microsoft.com/office/powerpoint/2010/main" val="22677569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36</a:t>
            </a:fld>
            <a:endParaRPr lang="en-US"/>
          </a:p>
        </p:txBody>
      </p:sp>
    </p:spTree>
    <p:extLst>
      <p:ext uri="{BB962C8B-B14F-4D97-AF65-F5344CB8AC3E}">
        <p14:creationId xmlns:p14="http://schemas.microsoft.com/office/powerpoint/2010/main" val="2018991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99727" y="1781954"/>
            <a:ext cx="21031200" cy="2651126"/>
          </a:xfrm>
          <a:prstGeom prst="rect">
            <a:avLst/>
          </a:prstGeom>
        </p:spPr>
        <p:txBody>
          <a:bodyPr/>
          <a:lstStyle>
            <a:lvl1pPr algn="l">
              <a:defRPr sz="5400">
                <a:latin typeface="Tomaho"/>
              </a:defRPr>
            </a:lvl1pPr>
          </a:lstStyle>
          <a:p>
            <a:r>
              <a:rPr lang="en-US"/>
              <a:t>Click to edit Master title style</a:t>
            </a:r>
          </a:p>
        </p:txBody>
      </p:sp>
      <p:sp>
        <p:nvSpPr>
          <p:cNvPr id="3" name="Content Placeholder 2"/>
          <p:cNvSpPr>
            <a:spLocks noGrp="1"/>
          </p:cNvSpPr>
          <p:nvPr>
            <p:ph sz="half" idx="1"/>
          </p:nvPr>
        </p:nvSpPr>
        <p:spPr>
          <a:xfrm>
            <a:off x="1699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67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96220733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up)">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up)">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up)">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up)">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up)">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wipe(up)">
                                      <p:cBhvr>
                                        <p:cTn id="37" dur="5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wipe(up)">
                                      <p:cBhvr>
                                        <p:cTn id="42" dur="500"/>
                                        <p:tgtEl>
                                          <p:spTgt spid="4">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Effect transition="in" filter="wipe(up)">
                                      <p:cBhvr>
                                        <p:cTn id="47" dur="500"/>
                                        <p:tgtEl>
                                          <p:spTgt spid="4">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
                                            <p:txEl>
                                              <p:pRg st="3" end="3"/>
                                            </p:txEl>
                                          </p:spTgt>
                                        </p:tgtEl>
                                        <p:attrNameLst>
                                          <p:attrName>style.visibility</p:attrName>
                                        </p:attrNameLst>
                                      </p:cBhvr>
                                      <p:to>
                                        <p:strVal val="visible"/>
                                      </p:to>
                                    </p:set>
                                    <p:animEffect transition="in" filter="wipe(up)">
                                      <p:cBhvr>
                                        <p:cTn id="52" dur="500"/>
                                        <p:tgtEl>
                                          <p:spTgt spid="4">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animEffect transition="in" filter="wipe(up)">
                                      <p:cBhvr>
                                        <p:cTn id="5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Lst>
      </p:bldP>
      <p:bldP spid="4" grpId="0" build="p">
        <p:tmplLst>
          <p:tmpl lvl="1">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027508065"/>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455751046"/>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821938197"/>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71241930"/>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624589881"/>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007655814"/>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82098361"/>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21088558"/>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676400" y="730250"/>
            <a:ext cx="15468600" cy="11623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083307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5683611"/>
      </p:ext>
    </p:extLst>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6959766"/>
      </p:ext>
    </p:extLst>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0" y="2244726"/>
            <a:ext cx="18288000" cy="4775200"/>
          </a:xfrm>
          <a:prstGeom prst="rect">
            <a:avLst/>
          </a:prstGeom>
        </p:spPr>
        <p:txBody>
          <a:bodyPr anchor="b"/>
          <a:lstStyle>
            <a:lvl1pPr algn="ctr">
              <a:defRPr sz="12000"/>
            </a:lvl1pPr>
          </a:lstStyle>
          <a:p>
            <a:r>
              <a:rPr lang="en-US"/>
              <a:t>Click to edit Master title style</a:t>
            </a:r>
          </a:p>
        </p:txBody>
      </p:sp>
      <p:sp>
        <p:nvSpPr>
          <p:cNvPr id="3" name="Subtitle 2"/>
          <p:cNvSpPr>
            <a:spLocks noGrp="1"/>
          </p:cNvSpPr>
          <p:nvPr>
            <p:ph type="subTitle" idx="1"/>
          </p:nvPr>
        </p:nvSpPr>
        <p:spPr>
          <a:xfrm>
            <a:off x="3048000" y="7204076"/>
            <a:ext cx="18288000" cy="3311524"/>
          </a:xfrm>
          <a:prstGeom prst="rect">
            <a:avLst/>
          </a:prstGeo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3178770"/>
      </p:ext>
    </p:extLst>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1676400" y="3651250"/>
            <a:ext cx="21031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789615295"/>
      </p:ext>
    </p:extLst>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381594460"/>
      </p:ext>
    </p:extLst>
  </p:cSld>
  <p:clrMapOvr>
    <a:masterClrMapping/>
  </p:clrMapOvr>
  <p:transition spd="slow">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676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44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563683300"/>
      </p:ext>
    </p:extLst>
  </p:cSld>
  <p:clrMapOvr>
    <a:masterClrMapping/>
  </p:clrMapOvr>
  <p:transition spd="slow">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277778250"/>
      </p:ext>
    </p:extLst>
  </p:cSld>
  <p:clrMapOvr>
    <a:masterClrMapping/>
  </p:clrMapOvr>
  <p:transition spd="slow">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19510540"/>
      </p:ext>
    </p:extLst>
  </p:cSld>
  <p:clrMapOvr>
    <a:masterClrMapping/>
  </p:clrMapOvr>
  <p:transition spd="slow">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301246283"/>
      </p:ext>
    </p:extLst>
  </p:cSld>
  <p:clrMapOvr>
    <a:masterClrMapping/>
  </p:clrMapOvr>
  <p:transition spd="slow">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540481129"/>
      </p:ext>
    </p:extLst>
  </p:cSld>
  <p:clrMapOvr>
    <a:masterClrMapping/>
  </p:clrMapOvr>
  <p:transition spd="slow">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323707362"/>
      </p:ext>
    </p:extLst>
  </p:cSld>
  <p:clrMapOvr>
    <a:masterClrMapping/>
  </p:clrMapOvr>
  <p:transition spd="slow">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139930660"/>
      </p:ext>
    </p:extLst>
  </p:cSld>
  <p:clrMapOvr>
    <a:masterClrMapping/>
  </p:clrMapOvr>
  <p:transition spd="slow">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4048505"/>
      </p:ext>
    </p:extLst>
  </p:cSld>
  <p:clrMapOvr>
    <a:masterClrMapping/>
  </p:clrMapOvr>
  <p:transition spd="slow">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0" y="12712706"/>
            <a:ext cx="5689601" cy="730250"/>
          </a:xfrm>
          <a:prstGeom prst="rect">
            <a:avLst/>
          </a:prstGeom>
        </p:spPr>
        <p:txBody>
          <a:bodyPr lIns="91426" tIns="45713" rIns="91426" bIns="45713"/>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5" y="12712706"/>
            <a:ext cx="7721601" cy="730250"/>
          </a:xfrm>
          <a:prstGeom prst="rect">
            <a:avLst/>
          </a:prstGeom>
        </p:spPr>
        <p:txBody>
          <a:bodyPr lIns="91426" tIns="45713" rIns="91426" bIns="45713"/>
          <a:lstStyle/>
          <a:p>
            <a:endParaRPr lang="en-US"/>
          </a:p>
        </p:txBody>
      </p:sp>
      <p:sp>
        <p:nvSpPr>
          <p:cNvPr id="6" name="Slide Number Placeholder 5"/>
          <p:cNvSpPr>
            <a:spLocks noGrp="1"/>
          </p:cNvSpPr>
          <p:nvPr>
            <p:ph type="sldNum" sz="quarter" idx="12"/>
          </p:nvPr>
        </p:nvSpPr>
        <p:spPr>
          <a:xfrm>
            <a:off x="17475204" y="12712706"/>
            <a:ext cx="5689601" cy="730250"/>
          </a:xfrm>
          <a:prstGeom prst="rect">
            <a:avLst/>
          </a:prstGeom>
        </p:spPr>
        <p:txBody>
          <a:bodyPr lIns="91426" tIns="45713" rIns="91426" bIns="45713"/>
          <a:lstStyle/>
          <a:p>
            <a:fld id="{E56A0A80-8336-46B1-B89F-89FB7E7362A5}" type="slidenum">
              <a:rPr lang="en-US" smtClean="0"/>
              <a:pPr/>
              <a:t>‹#›</a:t>
            </a:fld>
            <a:endParaRPr lang="en-US"/>
          </a:p>
        </p:txBody>
      </p:sp>
    </p:spTree>
    <p:extLst>
      <p:ext uri="{BB962C8B-B14F-4D97-AF65-F5344CB8AC3E}">
        <p14:creationId xmlns:p14="http://schemas.microsoft.com/office/powerpoint/2010/main" val="2948862067"/>
      </p:ext>
    </p:extLst>
  </p:cSld>
  <p:clrMapOvr>
    <a:masterClrMapping/>
  </p:clrMapOvr>
  <p:transition spd="slow">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2" y="12712702"/>
            <a:ext cx="5689600" cy="730250"/>
          </a:xfrm>
          <a:prstGeom prst="rect">
            <a:avLst/>
          </a:prstGeom>
        </p:spPr>
        <p:txBody>
          <a:bodyPr/>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0" y="12712702"/>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1" y="12712702"/>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3423164471"/>
      </p:ext>
    </p:extLst>
  </p:cSld>
  <p:clrMapOvr>
    <a:masterClrMapping/>
  </p:clrMapOvr>
  <p:transition spd="slow">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443766085"/>
      </p:ext>
    </p:extLst>
  </p:cSld>
  <p:clrMapOvr>
    <a:masterClrMapping/>
  </p:clrMapOvr>
  <p:transition spd="slow">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1829813515"/>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slideLayout" Target="../slideLayouts/slideLayout27.xml"/><Relationship Id="rId16" Type="http://schemas.openxmlformats.org/officeDocument/2006/relationships/theme" Target="../theme/theme2.xml"/><Relationship Id="rId17"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3140210"/>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0" r:id="rId3"/>
    <p:sldLayoutId id="2147483741" r:id="rId4"/>
    <p:sldLayoutId id="2147483744" r:id="rId5"/>
    <p:sldLayoutId id="2147483745" r:id="rId6"/>
    <p:sldLayoutId id="2147483746" r:id="rId7"/>
    <p:sldLayoutId id="2147483747" r:id="rId8"/>
    <p:sldLayoutId id="2147483748" r:id="rId9"/>
    <p:sldLayoutId id="2147483749" r:id="rId10"/>
    <p:sldLayoutId id="2147483750" r:id="rId11"/>
    <p:sldLayoutId id="2147483782" r:id="rId12"/>
  </p:sldLayoutIdLst>
  <p:transition spd="slow">
    <p:fade/>
  </p:transition>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1094257"/>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Lst>
  <p:transition spd="slow">
    <p:fade/>
  </p:transition>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26.png"/><Relationship Id="rId4" Type="http://schemas.openxmlformats.org/officeDocument/2006/relationships/image" Target="../media/image16.png"/><Relationship Id="rId5"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29.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32.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4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70.png"/><Relationship Id="rId4" Type="http://schemas.openxmlformats.org/officeDocument/2006/relationships/image" Target="../media/image80.png"/><Relationship Id="rId5" Type="http://schemas.openxmlformats.org/officeDocument/2006/relationships/image" Target="../media/image90.png"/><Relationship Id="rId6" Type="http://schemas.openxmlformats.org/officeDocument/2006/relationships/image" Target="../media/image10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11.png"/><Relationship Id="rId4" Type="http://schemas.openxmlformats.org/officeDocument/2006/relationships/image" Target="../media/image121.png"/><Relationship Id="rId5" Type="http://schemas.openxmlformats.org/officeDocument/2006/relationships/image" Target="../media/image131.png"/><Relationship Id="rId6" Type="http://schemas.openxmlformats.org/officeDocument/2006/relationships/image" Target="../media/image1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11.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0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10.png"/><Relationship Id="rId4" Type="http://schemas.openxmlformats.org/officeDocument/2006/relationships/image" Target="../media/image1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130.png"/><Relationship Id="rId4" Type="http://schemas.openxmlformats.org/officeDocument/2006/relationships/image" Target="../media/image1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150.png"/><Relationship Id="rId4" Type="http://schemas.openxmlformats.org/officeDocument/2006/relationships/image" Target="../media/image16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17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180.png"/><Relationship Id="rId4" Type="http://schemas.openxmlformats.org/officeDocument/2006/relationships/image" Target="../media/image19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200.png"/><Relationship Id="rId4" Type="http://schemas.openxmlformats.org/officeDocument/2006/relationships/image" Target="../media/image19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210.png"/><Relationship Id="rId4" Type="http://schemas.openxmlformats.org/officeDocument/2006/relationships/image" Target="../media/image220.png"/><Relationship Id="rId5"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240.png"/><Relationship Id="rId4" Type="http://schemas.openxmlformats.org/officeDocument/2006/relationships/image" Target="../media/image250.png"/><Relationship Id="rId5"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260.png"/><Relationship Id="rId4" Type="http://schemas.openxmlformats.org/officeDocument/2006/relationships/image" Target="../media/image270.png"/><Relationship Id="rId5" Type="http://schemas.openxmlformats.org/officeDocument/2006/relationships/image" Target="../media/image4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29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300.png"/></Relationships>
</file>

<file path=ppt/slides/_rels/slide35.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Layout" Target="../slideLayouts/slideLayout11.xml"/><Relationship Id="rId3" Type="http://schemas.openxmlformats.org/officeDocument/2006/relationships/notesSlide" Target="../notesSlides/notesSlide34.xml"/><Relationship Id="rId4" Type="http://schemas.openxmlformats.org/officeDocument/2006/relationships/image" Target="../media/image320.png"/><Relationship Id="rId5" Type="http://schemas.openxmlformats.org/officeDocument/2006/relationships/oleObject" Target="../embeddings/oleObject1.bin"/><Relationship Id="rId6" Type="http://schemas.openxmlformats.org/officeDocument/2006/relationships/image" Target="../media/image4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3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 name="Group 5">
            <a:extLst>
              <a:ext uri="{FF2B5EF4-FFF2-40B4-BE49-F238E27FC236}">
                <a16:creationId xmlns:a16="http://schemas.microsoft.com/office/drawing/2014/main" id="{E3FF6797-9084-4088-B03C-F68BB0D6D29D}"/>
              </a:ext>
            </a:extLst>
          </p:cNvPr>
          <p:cNvGrpSpPr/>
          <p:nvPr/>
        </p:nvGrpSpPr>
        <p:grpSpPr>
          <a:xfrm>
            <a:off x="9829801" y="1677698"/>
            <a:ext cx="13944600" cy="11181523"/>
            <a:chOff x="9831592" y="2126503"/>
            <a:chExt cx="13944600" cy="10940660"/>
          </a:xfrm>
        </p:grpSpPr>
        <p:grpSp>
          <p:nvGrpSpPr>
            <p:cNvPr id="8" name="Group 7"/>
            <p:cNvGrpSpPr/>
            <p:nvPr/>
          </p:nvGrpSpPr>
          <p:grpSpPr>
            <a:xfrm>
              <a:off x="9831592" y="2126503"/>
              <a:ext cx="13944600" cy="10940660"/>
              <a:chOff x="1320104" y="3448230"/>
              <a:chExt cx="13944600" cy="10940660"/>
            </a:xfrm>
          </p:grpSpPr>
          <p:sp>
            <p:nvSpPr>
              <p:cNvPr id="10" name="Right Triangle 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p:cNvGrpSpPr/>
              <p:nvPr/>
            </p:nvGrpSpPr>
            <p:grpSpPr>
              <a:xfrm>
                <a:off x="1320104" y="3448230"/>
                <a:ext cx="13944600" cy="10940660"/>
                <a:chOff x="1320104" y="3448230"/>
                <a:chExt cx="13944600" cy="10940660"/>
              </a:xfrm>
            </p:grpSpPr>
            <p:sp>
              <p:nvSpPr>
                <p:cNvPr id="12" name="Rounded Rectangle 11"/>
                <p:cNvSpPr/>
                <p:nvPr/>
              </p:nvSpPr>
              <p:spPr>
                <a:xfrm>
                  <a:off x="1320104" y="3455209"/>
                  <a:ext cx="13944600" cy="10933681"/>
                </a:xfrm>
                <a:prstGeom prst="roundRect">
                  <a:avLst>
                    <a:gd name="adj" fmla="val 2374"/>
                  </a:avLst>
                </a:prstGeom>
                <a:solidFill>
                  <a:schemeClr val="accent6">
                    <a:lumMod val="20000"/>
                    <a:lumOff val="80000"/>
                  </a:schemeClr>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a:latin typeface="Tahoma" pitchFamily="34" charset="0"/>
                    <a:ea typeface="Tahoma" pitchFamily="34" charset="0"/>
                    <a:cs typeface="Tahoma" pitchFamily="34" charset="0"/>
                  </a:endParaRPr>
                </a:p>
              </p:txBody>
            </p:sp>
            <p:sp>
              <p:nvSpPr>
                <p:cNvPr id="14" name="TextBox 13"/>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dirty="0">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15" name="Right Triangle 14"/>
            <p:cNvSpPr/>
            <p:nvPr/>
          </p:nvSpPr>
          <p:spPr>
            <a:xfrm flipH="1">
              <a:off x="11477625" y="2164818"/>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 Same Side Corner Rectangle 15"/>
            <p:cNvSpPr/>
            <p:nvPr/>
          </p:nvSpPr>
          <p:spPr>
            <a:xfrm flipV="1">
              <a:off x="9831592" y="2164809"/>
              <a:ext cx="13944600" cy="1799400"/>
            </a:xfrm>
            <a:prstGeom prst="round2Same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6"/>
            <p:cNvSpPr>
              <a:spLocks noChangeArrowheads="1"/>
            </p:cNvSpPr>
            <p:nvPr/>
          </p:nvSpPr>
          <p:spPr bwMode="auto">
            <a:xfrm>
              <a:off x="10308387" y="4306720"/>
              <a:ext cx="12629605" cy="8407099"/>
            </a:xfrm>
            <a:prstGeom prst="rect">
              <a:avLst/>
            </a:prstGeom>
            <a:noFill/>
            <a:ln w="9525">
              <a:noFill/>
              <a:miter lim="800000"/>
              <a:headEnd/>
              <a:tailEnd/>
            </a:ln>
            <a:effectLst/>
          </p:spPr>
          <p:txBody>
            <a:bodyPr/>
            <a:lstStyle/>
            <a:p>
              <a:pPr algn="just">
                <a:lnSpc>
                  <a:spcPct val="150000"/>
                </a:lnSpc>
                <a:spcBef>
                  <a:spcPct val="20000"/>
                </a:spcBef>
                <a:defRPr/>
              </a:pPr>
              <a:r>
                <a:rPr lang="en-US" sz="4800" b="1">
                  <a:solidFill>
                    <a:srgbClr val="0000FF"/>
                  </a:solidFill>
                  <a:latin typeface="Tahoma" panose="020B0604030504040204" pitchFamily="34" charset="0"/>
                  <a:ea typeface="Tahoma" panose="020B0604030504040204" pitchFamily="34" charset="0"/>
                  <a:cs typeface="Tahoma" panose="020B0604030504040204" pitchFamily="34" charset="0"/>
                </a:rPr>
                <a:t>§19. PHƯƠNG TRÌNH ĐƯỜNG THẲNG </a:t>
              </a:r>
            </a:p>
            <a:p>
              <a:pPr algn="just">
                <a:lnSpc>
                  <a:spcPct val="150000"/>
                </a:lnSpc>
                <a:spcBef>
                  <a:spcPct val="20000"/>
                </a:spcBef>
                <a:defRPr/>
              </a:pPr>
              <a:r>
                <a:rPr lang="en-US" sz="4800" b="1">
                  <a:solidFill>
                    <a:srgbClr val="0000FF"/>
                  </a:solidFill>
                  <a:latin typeface="Tahoma" panose="020B0604030504040204" pitchFamily="34" charset="0"/>
                  <a:ea typeface="Tahoma" panose="020B0604030504040204" pitchFamily="34" charset="0"/>
                  <a:cs typeface="Tahoma" panose="020B0604030504040204" pitchFamily="34" charset="0"/>
                </a:rPr>
                <a:t>§20. VỊ TRÍ TƯƠNG ĐỐI GIỮA HAI ĐƯỜNG THẲNG. GÓC VÀ KHOẢNG CÁCH</a:t>
              </a:r>
              <a:endParaRPr lang="en-US" sz="4800" b="1" dirty="0">
                <a:solidFill>
                  <a:srgbClr val="0000FF"/>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spcBef>
                  <a:spcPct val="20000"/>
                </a:spcBef>
                <a:defRPr/>
              </a:pPr>
              <a:r>
                <a:rPr lang="en-US" sz="4800" b="1">
                  <a:solidFill>
                    <a:srgbClr val="0000FF"/>
                  </a:solidFill>
                  <a:latin typeface="Tahoma" panose="020B0604030504040204" pitchFamily="34" charset="0"/>
                  <a:ea typeface="Tahoma" panose="020B0604030504040204" pitchFamily="34" charset="0"/>
                  <a:cs typeface="Tahoma" panose="020B0604030504040204" pitchFamily="34" charset="0"/>
                </a:rPr>
                <a:t>§21. ĐƯỜNG TRÒN TRONG MẶT PHẲNG TỌA ĐỘ</a:t>
              </a:r>
            </a:p>
            <a:p>
              <a:pPr algn="just">
                <a:lnSpc>
                  <a:spcPct val="150000"/>
                </a:lnSpc>
                <a:spcBef>
                  <a:spcPct val="20000"/>
                </a:spcBef>
                <a:defRPr/>
              </a:pPr>
              <a:r>
                <a:rPr lang="en-US" sz="4800" b="1">
                  <a:solidFill>
                    <a:srgbClr val="0000FF"/>
                  </a:solidFill>
                  <a:latin typeface="Tahoma" panose="020B0604030504040204" pitchFamily="34" charset="0"/>
                  <a:ea typeface="Tahoma" panose="020B0604030504040204" pitchFamily="34" charset="0"/>
                  <a:cs typeface="Tahoma" panose="020B0604030504040204" pitchFamily="34" charset="0"/>
                </a:rPr>
                <a:t>§22. BA ĐƯỜNG CONIC</a:t>
              </a:r>
            </a:p>
            <a:p>
              <a:pPr algn="just">
                <a:lnSpc>
                  <a:spcPct val="150000"/>
                </a:lnSpc>
                <a:spcBef>
                  <a:spcPct val="20000"/>
                </a:spcBef>
                <a:defRPr/>
              </a:pPr>
              <a:r>
                <a:rPr lang="en-US" sz="4800" b="1">
                  <a:solidFill>
                    <a:srgbClr val="0000FF"/>
                  </a:solidFill>
                  <a:latin typeface="Tahoma" panose="020B0604030504040204" pitchFamily="34" charset="0"/>
                  <a:ea typeface="Tahoma" panose="020B0604030504040204" pitchFamily="34" charset="0"/>
                  <a:cs typeface="Tahoma" panose="020B0604030504040204" pitchFamily="34" charset="0"/>
                </a:rPr>
                <a:t>BÀI TẬP CUỐI CHƯƠNG VII</a:t>
              </a:r>
            </a:p>
            <a:p>
              <a:pPr algn="just">
                <a:lnSpc>
                  <a:spcPct val="150000"/>
                </a:lnSpc>
                <a:spcBef>
                  <a:spcPct val="20000"/>
                </a:spcBef>
                <a:defRPr/>
              </a:pPr>
              <a:endParaRPr lang="en-US" sz="4800" b="1" dirty="0">
                <a:solidFill>
                  <a:srgbClr val="0000FF"/>
                </a:solidFill>
                <a:latin typeface="Tahoma" panose="020B0604030504040204" pitchFamily="34" charset="0"/>
                <a:ea typeface="Tahoma" panose="020B0604030504040204" pitchFamily="34" charset="0"/>
                <a:cs typeface="Tahoma" panose="020B0604030504040204" pitchFamily="34" charset="0"/>
              </a:endParaRPr>
            </a:p>
          </p:txBody>
        </p:sp>
        <p:sp>
          <p:nvSpPr>
            <p:cNvPr id="2" name="TextBox 1"/>
            <p:cNvSpPr txBox="1"/>
            <p:nvPr/>
          </p:nvSpPr>
          <p:spPr>
            <a:xfrm>
              <a:off x="11912449" y="2428363"/>
              <a:ext cx="11578537" cy="1535848"/>
            </a:xfrm>
            <a:prstGeom prst="rect">
              <a:avLst/>
            </a:prstGeom>
            <a:noFill/>
          </p:spPr>
          <p:txBody>
            <a:bodyPr wrap="square" rtlCol="0">
              <a:spAutoFit/>
            </a:bodyPr>
            <a:lstStyle/>
            <a:p>
              <a:pPr algn="ctr"/>
              <a:r>
                <a:rPr lang="vi-VN" sz="4800" b="1">
                  <a:solidFill>
                    <a:schemeClr val="bg1"/>
                  </a:solidFill>
                  <a:latin typeface="Tahoma" panose="020B0604030504040204" pitchFamily="34" charset="0"/>
                  <a:ea typeface="Tahoma" panose="020B0604030504040204" pitchFamily="34" charset="0"/>
                  <a:cs typeface="Tahoma" panose="020B0604030504040204" pitchFamily="34" charset="0"/>
                </a:rPr>
                <a:t>CHƯƠNG </a:t>
              </a:r>
              <a:r>
                <a:rPr lang="en-US" sz="4800" b="1">
                  <a:solidFill>
                    <a:schemeClr val="bg1"/>
                  </a:solidFill>
                  <a:latin typeface="Tahoma" panose="020B0604030504040204" pitchFamily="34" charset="0"/>
                  <a:ea typeface="Tahoma" panose="020B0604030504040204" pitchFamily="34" charset="0"/>
                  <a:cs typeface="Tahoma" panose="020B0604030504040204" pitchFamily="34" charset="0"/>
                </a:rPr>
                <a:t>VI</a:t>
              </a:r>
              <a:r>
                <a:rPr lang="vi-VN" sz="4800" b="1">
                  <a:solidFill>
                    <a:schemeClr val="bg1"/>
                  </a:solidFill>
                  <a:latin typeface="Tahoma" panose="020B0604030504040204" pitchFamily="34" charset="0"/>
                  <a:ea typeface="Tahoma" panose="020B0604030504040204" pitchFamily="34" charset="0"/>
                  <a:cs typeface="Tahoma" panose="020B0604030504040204" pitchFamily="34" charset="0"/>
                </a:rPr>
                <a:t>I.</a:t>
              </a:r>
              <a:r>
                <a:rPr lang="en-US" sz="4800" b="1">
                  <a:solidFill>
                    <a:srgbClr val="ED7D31"/>
                  </a:solidFill>
                  <a:latin typeface="Tahoma" panose="020B0604030504040204" pitchFamily="34" charset="0"/>
                  <a:ea typeface="Tahoma" panose="020B0604030504040204" pitchFamily="34" charset="0"/>
                  <a:cs typeface="Tahoma" panose="020B0604030504040204" pitchFamily="34" charset="0"/>
                </a:rPr>
                <a:t> </a:t>
              </a:r>
              <a:r>
                <a:rPr lang="en-US" sz="4800" b="1">
                  <a:solidFill>
                    <a:schemeClr val="bg1"/>
                  </a:solidFill>
                  <a:latin typeface="Tahoma" panose="020B0604030504040204" pitchFamily="34" charset="0"/>
                  <a:ea typeface="Tahoma" panose="020B0604030504040204" pitchFamily="34" charset="0"/>
                  <a:cs typeface="Tahoma" panose="020B0604030504040204" pitchFamily="34" charset="0"/>
                </a:rPr>
                <a:t>PHƯƠNG PHÁP TỌA ĐỘ TRONG MẶT PHẲNG</a:t>
              </a:r>
              <a:r>
                <a:rPr lang="vi-VN" sz="4800" b="1">
                  <a:solidFill>
                    <a:schemeClr val="bg1"/>
                  </a:solidFill>
                  <a:latin typeface="Tahoma" panose="020B0604030504040204" pitchFamily="34" charset="0"/>
                  <a:ea typeface="Tahoma" panose="020B0604030504040204" pitchFamily="34" charset="0"/>
                  <a:cs typeface="Tahoma" panose="020B0604030504040204" pitchFamily="34" charset="0"/>
                </a:rPr>
                <a:t> </a:t>
              </a:r>
              <a:endParaRPr lang="vi-VN" sz="48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782988"/>
            <a:ext cx="9360377" cy="11628212"/>
          </a:xfrm>
          <a:prstGeom prst="rect">
            <a:avLst/>
          </a:prstGeom>
        </p:spPr>
      </p:pic>
      <p:sp>
        <p:nvSpPr>
          <p:cNvPr id="18" name="Rounded Rectangle 1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22" name="TextBox 2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51405188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 name="Group 2">
            <a:extLst>
              <a:ext uri="{FF2B5EF4-FFF2-40B4-BE49-F238E27FC236}">
                <a16:creationId xmlns:a16="http://schemas.microsoft.com/office/drawing/2014/main" id="{708C62C3-3138-4092-86C2-85A1567C6E78}"/>
              </a:ext>
            </a:extLst>
          </p:cNvPr>
          <p:cNvGrpSpPr/>
          <p:nvPr/>
        </p:nvGrpSpPr>
        <p:grpSpPr>
          <a:xfrm>
            <a:off x="587985" y="1420367"/>
            <a:ext cx="22699886" cy="11891477"/>
            <a:chOff x="1771230" y="1641544"/>
            <a:chExt cx="22699886" cy="11891477"/>
          </a:xfrm>
        </p:grpSpPr>
        <p:grpSp>
          <p:nvGrpSpPr>
            <p:cNvPr id="2" name="Group 1">
              <a:extLst>
                <a:ext uri="{FF2B5EF4-FFF2-40B4-BE49-F238E27FC236}">
                  <a16:creationId xmlns:a16="http://schemas.microsoft.com/office/drawing/2014/main" id="{E17C9077-2F0E-4830-9CBB-2CF87E745444}"/>
                </a:ext>
              </a:extLst>
            </p:cNvPr>
            <p:cNvGrpSpPr/>
            <p:nvPr/>
          </p:nvGrpSpPr>
          <p:grpSpPr>
            <a:xfrm>
              <a:off x="1771230" y="1641544"/>
              <a:ext cx="22699886" cy="11891477"/>
              <a:chOff x="1771230" y="1641544"/>
              <a:chExt cx="22699886" cy="11891477"/>
            </a:xfrm>
          </p:grpSpPr>
          <p:grpSp>
            <p:nvGrpSpPr>
              <p:cNvPr id="69" name="Group 68"/>
              <p:cNvGrpSpPr/>
              <p:nvPr/>
            </p:nvGrpSpPr>
            <p:grpSpPr>
              <a:xfrm>
                <a:off x="1798482" y="1797127"/>
                <a:ext cx="22672634" cy="11735894"/>
                <a:chOff x="-3316346" y="3448230"/>
                <a:chExt cx="22672634" cy="11735894"/>
              </a:xfrm>
            </p:grpSpPr>
            <p:sp>
              <p:nvSpPr>
                <p:cNvPr id="70" name="Right Triangle 6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p:cNvGrpSpPr/>
                <p:nvPr/>
              </p:nvGrpSpPr>
              <p:grpSpPr>
                <a:xfrm>
                  <a:off x="-3316346" y="3448230"/>
                  <a:ext cx="22672634" cy="11735894"/>
                  <a:chOff x="-3316346" y="3448230"/>
                  <a:chExt cx="22672634" cy="11735894"/>
                </a:xfrm>
              </p:grpSpPr>
              <p:sp>
                <p:nvSpPr>
                  <p:cNvPr id="72" name="Rounded Rectangle 71"/>
                  <p:cNvSpPr/>
                  <p:nvPr/>
                </p:nvSpPr>
                <p:spPr>
                  <a:xfrm>
                    <a:off x="-3316346" y="3654338"/>
                    <a:ext cx="2267263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sp>
                <p:nvSpPr>
                  <p:cNvPr id="73" name="TextBox 72"/>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dirty="0">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74" name="Right Triangle 73"/>
              <p:cNvSpPr/>
              <p:nvPr/>
            </p:nvSpPr>
            <p:spPr>
              <a:xfrm flipH="1">
                <a:off x="7921388" y="1793819"/>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ound Same Side Corner Rectangle 95"/>
              <p:cNvSpPr/>
              <p:nvPr/>
            </p:nvSpPr>
            <p:spPr>
              <a:xfrm flipV="1">
                <a:off x="4112612" y="1641544"/>
                <a:ext cx="18367703" cy="1181261"/>
              </a:xfrm>
              <a:prstGeom prst="round2SameRect">
                <a:avLst>
                  <a:gd name="adj1" fmla="val 6458"/>
                  <a:gd name="adj2" fmla="val 0"/>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4" name="Picture 5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1230" y="2975075"/>
                <a:ext cx="1495424" cy="1495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7467544" y="4114018"/>
                <a:ext cx="13632086" cy="833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0" tIns="45705" rIns="91410" bIns="45705"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62" name="TextBox 61"/>
              <p:cNvSpPr txBox="1"/>
              <p:nvPr/>
            </p:nvSpPr>
            <p:spPr>
              <a:xfrm>
                <a:off x="1798482" y="6628125"/>
                <a:ext cx="511679" cy="707886"/>
              </a:xfrm>
              <a:prstGeom prst="rect">
                <a:avLst/>
              </a:prstGeom>
              <a:noFill/>
            </p:spPr>
            <p:txBody>
              <a:bodyPr wrap="non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1</a:t>
                </a:r>
              </a:p>
            </p:txBody>
          </p:sp>
          <p:sp>
            <p:nvSpPr>
              <p:cNvPr id="80" name="TextBox 79"/>
              <p:cNvSpPr txBox="1"/>
              <p:nvPr/>
            </p:nvSpPr>
            <p:spPr>
              <a:xfrm>
                <a:off x="2059571" y="9368832"/>
                <a:ext cx="184730" cy="707887"/>
              </a:xfrm>
              <a:prstGeom prst="rect">
                <a:avLst/>
              </a:prstGeom>
              <a:noFill/>
            </p:spPr>
            <p:txBody>
              <a:bodyPr wrap="none" rtlCol="0">
                <a:spAutoFit/>
              </a:bodyPr>
              <a:lstStyle/>
              <a:p>
                <a:pPr algn="ct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87" name="TextBox 86"/>
              <p:cNvSpPr txBox="1"/>
              <p:nvPr/>
            </p:nvSpPr>
            <p:spPr>
              <a:xfrm>
                <a:off x="1951043" y="11270142"/>
                <a:ext cx="511679" cy="707886"/>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4</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91" name="TextBox 90"/>
              <p:cNvSpPr txBox="1"/>
              <p:nvPr/>
            </p:nvSpPr>
            <p:spPr>
              <a:xfrm>
                <a:off x="3844753" y="6486123"/>
                <a:ext cx="543740" cy="769441"/>
              </a:xfrm>
              <a:prstGeom prst="rect">
                <a:avLst/>
              </a:prstGeom>
              <a:noFill/>
            </p:spPr>
            <p:txBody>
              <a:bodyPr wrap="none" rtlCol="0">
                <a:spAutoFit/>
              </a:bodyPr>
              <a:lstStyle/>
              <a:p>
                <a:pPr algn="ctr"/>
                <a:r>
                  <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rPr>
                  <a:t>1</a:t>
                </a:r>
              </a:p>
            </p:txBody>
          </p:sp>
        </p:grpSp>
        <p:sp>
          <p:nvSpPr>
            <p:cNvPr id="103" name="Google Shape;122;p14">
              <a:extLst>
                <a:ext uri="{FF2B5EF4-FFF2-40B4-BE49-F238E27FC236}">
                  <a16:creationId xmlns:a16="http://schemas.microsoft.com/office/drawing/2014/main" id="{FAF7E6E7-D68E-4774-9801-54F6529B128E}"/>
                </a:ext>
              </a:extLst>
            </p:cNvPr>
            <p:cNvSpPr/>
            <p:nvPr/>
          </p:nvSpPr>
          <p:spPr>
            <a:xfrm>
              <a:off x="2958848" y="3050092"/>
              <a:ext cx="5111480" cy="882637"/>
            </a:xfrm>
            <a:prstGeom prst="rect">
              <a:avLst/>
            </a:prstGeom>
            <a:noFill/>
            <a:ln>
              <a:noFill/>
            </a:ln>
            <a:effectLst>
              <a:outerShdw blurRad="152400" dist="317500" dir="5400000" sx="90000" sy="-19000" rotWithShape="0">
                <a:srgbClr val="000000">
                  <a:alpha val="14901"/>
                </a:srgbClr>
              </a:outerShdw>
            </a:effectLst>
          </p:spPr>
          <p:txBody>
            <a:bodyPr spcFirstLastPara="1" wrap="square" lIns="91425" tIns="45700" rIns="91425" bIns="45700" anchor="t" anchorCtr="0">
              <a:noAutofit/>
              <a:scene3d>
                <a:camera prst="orthographicFront"/>
                <a:lightRig rig="threePt" dir="t"/>
              </a:scene3d>
              <a:sp3d prstMaterial="metal"/>
            </a:bodyPr>
            <a:lstStyle/>
            <a:p>
              <a:pPr marL="0" marR="0" lvl="0" indent="0" algn="ctr" rtl="0">
                <a:spcBef>
                  <a:spcPts val="0"/>
                </a:spcBef>
                <a:spcAft>
                  <a:spcPts val="0"/>
                </a:spcAft>
                <a:buNone/>
              </a:pPr>
              <a:r>
                <a:rPr lang="en-US" sz="4400" dirty="0">
                  <a:solidFill>
                    <a:srgbClr val="FF0000"/>
                  </a:solidFill>
                  <a:effectLst>
                    <a:glow rad="76200">
                      <a:srgbClr val="FFFF00">
                        <a:alpha val="47000"/>
                      </a:srgbClr>
                    </a:glow>
                    <a:outerShdw blurRad="50800" dist="38100" dir="18900000" algn="bl" rotWithShape="0">
                      <a:srgbClr val="0000CC">
                        <a:alpha val="40000"/>
                      </a:srgbClr>
                    </a:outerShdw>
                  </a:effectLst>
                  <a:latin typeface="Tahoma" panose="020B0604030504040204" pitchFamily="34" charset="0"/>
                  <a:ea typeface="Tahoma" panose="020B0604030504040204" pitchFamily="34" charset="0"/>
                  <a:cs typeface="Tahoma" panose="020B0604030504040204" pitchFamily="34" charset="0"/>
                  <a:sym typeface="Baumans"/>
                </a:rPr>
                <a:t>TOÁN HÌNH HỌC  </a:t>
              </a:r>
              <a:endParaRPr sz="4400" dirty="0">
                <a:solidFill>
                  <a:srgbClr val="FF0000"/>
                </a:solidFill>
                <a:effectLst>
                  <a:glow rad="76200">
                    <a:srgbClr val="FFFF00">
                      <a:alpha val="47000"/>
                    </a:srgbClr>
                  </a:glow>
                  <a:outerShdw blurRad="50800" dist="38100" dir="18900000" algn="bl" rotWithShape="0">
                    <a:srgbClr val="0000CC">
                      <a:alpha val="40000"/>
                    </a:srgbClr>
                  </a:outerShdw>
                </a:effectLst>
                <a:latin typeface="Tahoma" panose="020B0604030504040204" pitchFamily="34" charset="0"/>
                <a:ea typeface="Tahoma" panose="020B0604030504040204" pitchFamily="34" charset="0"/>
                <a:cs typeface="Tahoma" panose="020B0604030504040204" pitchFamily="34" charset="0"/>
              </a:endParaRPr>
            </a:p>
          </p:txBody>
        </p:sp>
        <p:grpSp>
          <p:nvGrpSpPr>
            <p:cNvPr id="105" name="Group 104">
              <a:extLst>
                <a:ext uri="{FF2B5EF4-FFF2-40B4-BE49-F238E27FC236}">
                  <a16:creationId xmlns:a16="http://schemas.microsoft.com/office/drawing/2014/main" id="{7EC462C3-097E-478F-9154-33220765427C}"/>
                </a:ext>
              </a:extLst>
            </p:cNvPr>
            <p:cNvGrpSpPr/>
            <p:nvPr/>
          </p:nvGrpSpPr>
          <p:grpSpPr>
            <a:xfrm>
              <a:off x="7887873" y="2812039"/>
              <a:ext cx="1316269" cy="1323399"/>
              <a:chOff x="8348849" y="1834068"/>
              <a:chExt cx="1316269" cy="1323399"/>
            </a:xfrm>
          </p:grpSpPr>
          <p:grpSp>
            <p:nvGrpSpPr>
              <p:cNvPr id="106" name="Group 105">
                <a:extLst>
                  <a:ext uri="{FF2B5EF4-FFF2-40B4-BE49-F238E27FC236}">
                    <a16:creationId xmlns:a16="http://schemas.microsoft.com/office/drawing/2014/main" id="{392A2278-170A-49E8-B48D-301797CCDF5E}"/>
                  </a:ext>
                </a:extLst>
              </p:cNvPr>
              <p:cNvGrpSpPr/>
              <p:nvPr/>
            </p:nvGrpSpPr>
            <p:grpSpPr>
              <a:xfrm>
                <a:off x="8412157" y="1885883"/>
                <a:ext cx="1175009" cy="1143519"/>
                <a:chOff x="8412157" y="1885882"/>
                <a:chExt cx="1175009" cy="1143520"/>
              </a:xfrm>
            </p:grpSpPr>
            <p:sp>
              <p:nvSpPr>
                <p:cNvPr id="108" name="Oval 107">
                  <a:extLst>
                    <a:ext uri="{FF2B5EF4-FFF2-40B4-BE49-F238E27FC236}">
                      <a16:creationId xmlns:a16="http://schemas.microsoft.com/office/drawing/2014/main" id="{4E1041DC-D475-450B-91E9-794165D6DE77}"/>
                    </a:ext>
                  </a:extLst>
                </p:cNvPr>
                <p:cNvSpPr/>
                <p:nvPr/>
              </p:nvSpPr>
              <p:spPr>
                <a:xfrm>
                  <a:off x="8412157" y="1885882"/>
                  <a:ext cx="1175009" cy="1143520"/>
                </a:xfrm>
                <a:prstGeom prst="ellipse">
                  <a:avLst/>
                </a:prstGeom>
                <a:solidFill>
                  <a:srgbClr val="FFFF00"/>
                </a:solidFill>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1BBB2B80-ECD5-421E-A4F7-BBA59D5C9CDF}"/>
                    </a:ext>
                  </a:extLst>
                </p:cNvPr>
                <p:cNvSpPr/>
                <p:nvPr/>
              </p:nvSpPr>
              <p:spPr>
                <a:xfrm>
                  <a:off x="8479052" y="1929674"/>
                  <a:ext cx="1091111" cy="1068078"/>
                </a:xfrm>
                <a:prstGeom prst="ellipse">
                  <a:avLst/>
                </a:prstGeom>
                <a:solidFill>
                  <a:srgbClr val="3333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7" name="Google Shape;123;p14">
                <a:extLst>
                  <a:ext uri="{FF2B5EF4-FFF2-40B4-BE49-F238E27FC236}">
                    <a16:creationId xmlns:a16="http://schemas.microsoft.com/office/drawing/2014/main" id="{F38EB064-8955-4FC1-9AF5-C49985002268}"/>
                  </a:ext>
                </a:extLst>
              </p:cNvPr>
              <p:cNvSpPr txBox="1"/>
              <p:nvPr/>
            </p:nvSpPr>
            <p:spPr>
              <a:xfrm>
                <a:off x="8348849" y="1834068"/>
                <a:ext cx="1316269" cy="1323399"/>
              </a:xfrm>
              <a:prstGeom prst="rect">
                <a:avLst/>
              </a:prstGeom>
              <a:noFill/>
              <a:ln>
                <a:noFill/>
              </a:ln>
              <a:effectLst>
                <a:innerShdw blurRad="63500" dist="50800">
                  <a:prstClr val="black">
                    <a:alpha val="50000"/>
                  </a:prstClr>
                </a:inn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dirty="0">
                    <a:solidFill>
                      <a:schemeClr val="bg1"/>
                    </a:solidFill>
                    <a:latin typeface="Yu Gothic UI Semilight" panose="020B0400000000000000" pitchFamily="34" charset="-128"/>
                    <a:ea typeface="Yu Gothic UI Semilight" panose="020B0400000000000000" pitchFamily="34" charset="-128"/>
                  </a:rPr>
                  <a:t>➉</a:t>
                </a:r>
                <a:endParaRPr sz="8000" dirty="0">
                  <a:solidFill>
                    <a:schemeClr val="bg1"/>
                  </a:solidFill>
                </a:endParaRPr>
              </a:p>
            </p:txBody>
          </p:sp>
        </p:grpSp>
      </p:grpSp>
      <p:grpSp>
        <p:nvGrpSpPr>
          <p:cNvPr id="112" name="Group 111">
            <a:extLst>
              <a:ext uri="{FF2B5EF4-FFF2-40B4-BE49-F238E27FC236}">
                <a16:creationId xmlns:a16="http://schemas.microsoft.com/office/drawing/2014/main" id="{1F6311BF-A4CF-4E55-85D0-0A86514BB33B}"/>
              </a:ext>
            </a:extLst>
          </p:cNvPr>
          <p:cNvGrpSpPr/>
          <p:nvPr/>
        </p:nvGrpSpPr>
        <p:grpSpPr>
          <a:xfrm>
            <a:off x="4069993" y="3946296"/>
            <a:ext cx="16410941" cy="1407307"/>
            <a:chOff x="71819" y="148683"/>
            <a:chExt cx="6395438" cy="82409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4"/>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906944" y="245792"/>
              <a:ext cx="5040506" cy="595896"/>
            </a:xfrm>
            <a:prstGeom prst="rect">
              <a:avLst/>
            </a:prstGeom>
            <a:noFill/>
          </p:spPr>
          <p:txBody>
            <a:bodyPr wrap="square" rtlCol="0">
              <a:noAutofit/>
            </a:bodyPr>
            <a:lstStyle/>
            <a:p>
              <a:pPr marL="0" marR="0" algn="ctr">
                <a:lnSpc>
                  <a:spcPct val="106000"/>
                </a:lnSpc>
                <a:spcBef>
                  <a:spcPts val="0"/>
                </a:spcBef>
                <a:spcAft>
                  <a:spcPts val="800"/>
                </a:spcAft>
              </a:pPr>
              <a:r>
                <a:rPr lang="en-US" sz="4800" b="1">
                  <a:solidFill>
                    <a:srgbClr val="FCFFEF"/>
                  </a:solidFill>
                  <a:latin typeface="Tahoma" panose="020B0604030504040204" pitchFamily="34" charset="0"/>
                  <a:ea typeface="Tahoma" panose="020B0604030504040204" pitchFamily="34" charset="0"/>
                  <a:cs typeface="Tahoma" panose="020B0604030504040204" pitchFamily="34" charset="0"/>
                </a:rPr>
                <a:t>PHƯƠNG TRÌNH ĐƯỜNG THẲNG</a:t>
              </a:r>
              <a:endParaRPr lang="en-US" sz="4800" dirty="0">
                <a:effectLst/>
                <a:latin typeface="Tahoma" panose="020B0604030504040204" pitchFamily="34" charset="0"/>
                <a:ea typeface="Tahoma" panose="020B0604030504040204" pitchFamily="34" charset="0"/>
                <a:cs typeface="Tahoma" panose="020B0604030504040204" pitchFamily="34"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44885" y="191948"/>
              <a:ext cx="666790" cy="214594"/>
            </a:xfrm>
            <a:prstGeom prst="rect">
              <a:avLst/>
            </a:prstGeom>
            <a:noFill/>
          </p:spPr>
          <p:txBody>
            <a:bodyPr wrap="square" rtlCol="0">
              <a:noAutofit/>
            </a:bodyPr>
            <a:lstStyle/>
            <a:p>
              <a:pPr marL="0" marR="0" algn="ctr">
                <a:lnSpc>
                  <a:spcPct val="106000"/>
                </a:lnSpc>
                <a:spcBef>
                  <a:spcPts val="0"/>
                </a:spcBef>
                <a:spcAft>
                  <a:spcPts val="800"/>
                </a:spcAft>
              </a:pPr>
              <a:r>
                <a:rPr lang="en-US" sz="4800" b="1">
                  <a:solidFill>
                    <a:srgbClr val="FFFFFF"/>
                  </a:solidFill>
                  <a:latin typeface="Calibri" panose="020F0502020204030204" pitchFamily="34" charset="0"/>
                  <a:ea typeface="Calibri" panose="020F0502020204030204" pitchFamily="34" charset="0"/>
                  <a:cs typeface="Times New Roman" panose="02020603050405020304" pitchFamily="18" charset="0"/>
                </a:rPr>
                <a:t>19</a:t>
              </a:r>
              <a:endParaRPr lang="en-US" sz="48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97" name="TextBox 96"/>
          <p:cNvSpPr txBox="1"/>
          <p:nvPr/>
        </p:nvSpPr>
        <p:spPr>
          <a:xfrm>
            <a:off x="960442" y="6545680"/>
            <a:ext cx="511680" cy="707886"/>
          </a:xfrm>
          <a:prstGeom prst="rect">
            <a:avLst/>
          </a:prstGeom>
          <a:noFill/>
        </p:spPr>
        <p:txBody>
          <a:bodyPr wrap="non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1</a:t>
            </a:r>
          </a:p>
        </p:txBody>
      </p:sp>
      <p:sp>
        <p:nvSpPr>
          <p:cNvPr id="54" name="TextBox 53"/>
          <p:cNvSpPr txBox="1"/>
          <p:nvPr/>
        </p:nvSpPr>
        <p:spPr>
          <a:xfrm>
            <a:off x="3397893" y="1730809"/>
            <a:ext cx="19293577" cy="830997"/>
          </a:xfrm>
          <a:prstGeom prst="rect">
            <a:avLst/>
          </a:prstGeom>
          <a:noFill/>
        </p:spPr>
        <p:txBody>
          <a:bodyPr wrap="square" rtlCol="0">
            <a:spAutoFit/>
          </a:bodyPr>
          <a:lstStyle/>
          <a:p>
            <a:r>
              <a:rPr lang="vi-VN" sz="4800" b="1" dirty="0">
                <a:solidFill>
                  <a:srgbClr val="FF0000"/>
                </a:solidFill>
                <a:latin typeface="Tahoma" panose="020B0604030504040204" pitchFamily="34" charset="0"/>
                <a:ea typeface="Tahoma" panose="020B0604030504040204" pitchFamily="34" charset="0"/>
                <a:cs typeface="Tahoma" panose="020B0604030504040204" pitchFamily="34" charset="0"/>
              </a:rPr>
              <a:t>CHƯƠNG </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VI</a:t>
            </a:r>
            <a:r>
              <a:rPr lang="vi-VN" sz="4800" b="1" dirty="0">
                <a:solidFill>
                  <a:srgbClr val="FF0000"/>
                </a:solidFill>
                <a:latin typeface="Tahoma" panose="020B0604030504040204" pitchFamily="34" charset="0"/>
                <a:ea typeface="Tahoma" panose="020B0604030504040204" pitchFamily="34" charset="0"/>
                <a:cs typeface="Tahoma" panose="020B0604030504040204" pitchFamily="34" charset="0"/>
              </a:rPr>
              <a:t>I. </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PHƯƠNG PHÁP TỌA ĐỘ TRONG MẶT PHẲNG</a:t>
            </a:r>
            <a:endParaRPr lang="vi-VN" sz="4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55" name="Rounded Rectangle 54"/>
          <p:cNvSpPr/>
          <p:nvPr/>
        </p:nvSpPr>
        <p:spPr>
          <a:xfrm>
            <a:off x="1601178" y="6114283"/>
            <a:ext cx="21348573" cy="5648175"/>
          </a:xfrm>
          <a:prstGeom prst="roundRect">
            <a:avLst>
              <a:gd name="adj" fmla="val 0"/>
            </a:avLst>
          </a:prstGeom>
          <a:noFill/>
          <a:ln>
            <a:solidFill>
              <a:srgbClr val="135F82"/>
            </a:solidFill>
          </a:ln>
        </p:spPr>
        <p:style>
          <a:lnRef idx="2">
            <a:schemeClr val="accent1">
              <a:shade val="50000"/>
            </a:schemeClr>
          </a:lnRef>
          <a:fillRef idx="1">
            <a:schemeClr val="accent1"/>
          </a:fillRef>
          <a:effectRef idx="0">
            <a:schemeClr val="accent1"/>
          </a:effectRef>
          <a:fontRef idx="minor">
            <a:schemeClr val="lt1"/>
          </a:fontRef>
        </p:style>
        <p:txBody>
          <a:bodyPr lIns="91410" tIns="45705" rIns="91410" bIns="45705" rtlCol="0" anchor="ctr"/>
          <a:lstStyle/>
          <a:p>
            <a:pPr algn="ctr"/>
            <a:endParaRPr lang="en-US" dirty="0">
              <a:latin typeface="Tahoma" panose="020B0604030504040204" pitchFamily="34" charset="0"/>
              <a:ea typeface="Tahoma" panose="020B0604030504040204" pitchFamily="34" charset="0"/>
              <a:cs typeface="Tahoma" panose="020B0604030504040204" pitchFamily="34" charset="0"/>
            </a:endParaRPr>
          </a:p>
        </p:txBody>
      </p:sp>
      <p:grpSp>
        <p:nvGrpSpPr>
          <p:cNvPr id="64" name="Group 60"/>
          <p:cNvGrpSpPr/>
          <p:nvPr/>
        </p:nvGrpSpPr>
        <p:grpSpPr>
          <a:xfrm>
            <a:off x="1624686" y="6694122"/>
            <a:ext cx="17190061" cy="922573"/>
            <a:chOff x="7459670" y="7086600"/>
            <a:chExt cx="17192053" cy="922680"/>
          </a:xfrm>
        </p:grpSpPr>
        <p:sp>
          <p:nvSpPr>
            <p:cNvPr id="65" name="Rectangle 64"/>
            <p:cNvSpPr/>
            <p:nvPr/>
          </p:nvSpPr>
          <p:spPr>
            <a:xfrm>
              <a:off x="9092456" y="7178187"/>
              <a:ext cx="15559267" cy="831093"/>
            </a:xfrm>
            <a:prstGeom prst="rect">
              <a:avLst/>
            </a:prstGeom>
          </p:spPr>
          <p:txBody>
            <a:bodyPr wrap="none">
              <a:spAutoFit/>
            </a:bodyPr>
            <a:lstStyle/>
            <a:p>
              <a:pPr>
                <a:lnSpc>
                  <a:spcPct val="100000"/>
                </a:lnSpc>
                <a:spcBef>
                  <a:spcPct val="0"/>
                </a:spcBef>
                <a:buFontTx/>
                <a:buNone/>
                <a:defRPr/>
              </a:pPr>
              <a:r>
                <a:rPr lang="en-US" sz="4800" b="1">
                  <a:solidFill>
                    <a:srgbClr val="242452"/>
                  </a:solidFill>
                  <a:latin typeface="Tahoma" panose="020B0604030504040204" pitchFamily="34" charset="0"/>
                  <a:ea typeface="Tahoma" panose="020B0604030504040204" pitchFamily="34" charset="0"/>
                  <a:cs typeface="Tahoma" panose="020B0604030504040204" pitchFamily="34" charset="0"/>
                </a:rPr>
                <a:t>PHƯƠNG TRÌNH TỔNG QUÁT CỦA ĐƯỜNG THẲNG</a:t>
              </a:r>
              <a:endPar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grpSp>
          <p:nvGrpSpPr>
            <p:cNvPr id="66" name="Group 26"/>
            <p:cNvGrpSpPr/>
            <p:nvPr/>
          </p:nvGrpSpPr>
          <p:grpSpPr>
            <a:xfrm>
              <a:off x="7459670" y="7086600"/>
              <a:ext cx="1392615" cy="872846"/>
              <a:chOff x="7459669" y="7543800"/>
              <a:chExt cx="1381118" cy="872846"/>
            </a:xfrm>
          </p:grpSpPr>
          <p:sp>
            <p:nvSpPr>
              <p:cNvPr id="67"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68" name="Group 28"/>
              <p:cNvGrpSpPr/>
              <p:nvPr/>
            </p:nvGrpSpPr>
            <p:grpSpPr>
              <a:xfrm>
                <a:off x="7469187" y="7685126"/>
                <a:ext cx="1371600" cy="731520"/>
                <a:chOff x="7469187" y="7685126"/>
                <a:chExt cx="1371600" cy="731520"/>
              </a:xfrm>
            </p:grpSpPr>
            <p:sp>
              <p:nvSpPr>
                <p:cNvPr id="81" name="Round Same Side Corner Rectangle 80"/>
                <p:cNvSpPr/>
                <p:nvPr/>
              </p:nvSpPr>
              <p:spPr>
                <a:xfrm rot="5400000">
                  <a:off x="7789227" y="7365086"/>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82" name="TextBox 81"/>
                <p:cNvSpPr txBox="1"/>
                <p:nvPr/>
              </p:nvSpPr>
              <p:spPr>
                <a:xfrm>
                  <a:off x="7958808" y="7688759"/>
                  <a:ext cx="507514" cy="707968"/>
                </a:xfrm>
                <a:prstGeom prst="rect">
                  <a:avLst/>
                </a:prstGeom>
                <a:noFill/>
              </p:spPr>
              <p:txBody>
                <a:bodyPr wrap="non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1</a:t>
                  </a:r>
                </a:p>
              </p:txBody>
            </p:sp>
          </p:grpSp>
        </p:grpSp>
      </p:grpSp>
      <p:grpSp>
        <p:nvGrpSpPr>
          <p:cNvPr id="83" name="Group 60"/>
          <p:cNvGrpSpPr/>
          <p:nvPr/>
        </p:nvGrpSpPr>
        <p:grpSpPr>
          <a:xfrm>
            <a:off x="1624686" y="8678587"/>
            <a:ext cx="16332454" cy="922573"/>
            <a:chOff x="7459670" y="7086600"/>
            <a:chExt cx="16334347" cy="922680"/>
          </a:xfrm>
        </p:grpSpPr>
        <p:sp>
          <p:nvSpPr>
            <p:cNvPr id="84" name="Rectangle 83"/>
            <p:cNvSpPr/>
            <p:nvPr/>
          </p:nvSpPr>
          <p:spPr>
            <a:xfrm>
              <a:off x="9092456" y="7178187"/>
              <a:ext cx="14701561" cy="831093"/>
            </a:xfrm>
            <a:prstGeom prst="rect">
              <a:avLst/>
            </a:prstGeom>
          </p:spPr>
          <p:txBody>
            <a:bodyPr wrap="none">
              <a:spAutoFit/>
            </a:bodyPr>
            <a:lstStyle/>
            <a:p>
              <a:pPr>
                <a:lnSpc>
                  <a:spcPct val="100000"/>
                </a:lnSpc>
                <a:spcBef>
                  <a:spcPct val="0"/>
                </a:spcBef>
                <a:buNone/>
                <a:defRPr/>
              </a:pPr>
              <a:r>
                <a:rPr lang="en-US" sz="4800" b="1">
                  <a:solidFill>
                    <a:srgbClr val="242452"/>
                  </a:solidFill>
                  <a:latin typeface="Tahoma" panose="020B0604030504040204" pitchFamily="34" charset="0"/>
                  <a:ea typeface="Tahoma" panose="020B0604030504040204" pitchFamily="34" charset="0"/>
                  <a:cs typeface="Tahoma" panose="020B0604030504040204" pitchFamily="34" charset="0"/>
                </a:rPr>
                <a:t>PHƯƠNG</a:t>
              </a:r>
              <a:r>
                <a:rPr lang="en-US" sz="4800" b="1">
                  <a:solidFill>
                    <a:srgbClr val="385623"/>
                  </a:solidFill>
                  <a:latin typeface="Tahoma" panose="020B0604030504040204" pitchFamily="34" charset="0"/>
                  <a:ea typeface="Tahoma" panose="020B0604030504040204" pitchFamily="34" charset="0"/>
                  <a:cs typeface="Tahoma" panose="020B0604030504040204" pitchFamily="34" charset="0"/>
                </a:rPr>
                <a:t> </a:t>
              </a:r>
              <a:r>
                <a:rPr lang="en-US" sz="4800" b="1">
                  <a:solidFill>
                    <a:srgbClr val="242452"/>
                  </a:solidFill>
                  <a:latin typeface="Tahoma" panose="020B0604030504040204" pitchFamily="34" charset="0"/>
                  <a:ea typeface="Tahoma" panose="020B0604030504040204" pitchFamily="34" charset="0"/>
                  <a:cs typeface="Tahoma" panose="020B0604030504040204" pitchFamily="34" charset="0"/>
                </a:rPr>
                <a:t>TRÌNH THAM SỐ CỦA ĐƯỜNG THẲNG</a:t>
              </a:r>
              <a:endPar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grpSp>
          <p:nvGrpSpPr>
            <p:cNvPr id="85" name="Group 26"/>
            <p:cNvGrpSpPr/>
            <p:nvPr/>
          </p:nvGrpSpPr>
          <p:grpSpPr>
            <a:xfrm>
              <a:off x="7459670" y="7086600"/>
              <a:ext cx="1392615" cy="872846"/>
              <a:chOff x="7459669" y="7543800"/>
              <a:chExt cx="1381118" cy="872846"/>
            </a:xfrm>
          </p:grpSpPr>
          <p:sp>
            <p:nvSpPr>
              <p:cNvPr id="86"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88" name="Group 28"/>
              <p:cNvGrpSpPr/>
              <p:nvPr/>
            </p:nvGrpSpPr>
            <p:grpSpPr>
              <a:xfrm>
                <a:off x="7469187" y="7685126"/>
                <a:ext cx="1371600" cy="731520"/>
                <a:chOff x="7469187" y="7685126"/>
                <a:chExt cx="1371600" cy="731520"/>
              </a:xfrm>
            </p:grpSpPr>
            <p:sp>
              <p:nvSpPr>
                <p:cNvPr id="89" name="Round Same Side Corner Rectangle 88"/>
                <p:cNvSpPr/>
                <p:nvPr/>
              </p:nvSpPr>
              <p:spPr>
                <a:xfrm rot="5400000">
                  <a:off x="7789227" y="7365086"/>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90" name="TextBox 89"/>
                <p:cNvSpPr txBox="1"/>
                <p:nvPr/>
              </p:nvSpPr>
              <p:spPr>
                <a:xfrm>
                  <a:off x="7958808" y="7688759"/>
                  <a:ext cx="507514" cy="707968"/>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2</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grpSp>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63047441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circle(in)">
                                      <p:cBhvr>
                                        <p:cTn id="7" dur="2000"/>
                                        <p:tgtEl>
                                          <p:spTgt spid="1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wipe(left)">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4"/>
                                        </p:tgtEl>
                                        <p:attrNameLst>
                                          <p:attrName>style.visibility</p:attrName>
                                        </p:attrNameLst>
                                      </p:cBhvr>
                                      <p:to>
                                        <p:strVal val="visible"/>
                                      </p:to>
                                    </p:set>
                                    <p:animEffect transition="in" filter="wipe(left)">
                                      <p:cBhvr>
                                        <p:cTn id="17" dur="500"/>
                                        <p:tgtEl>
                                          <p:spTgt spid="6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3"/>
                                        </p:tgtEl>
                                        <p:attrNameLst>
                                          <p:attrName>style.visibility</p:attrName>
                                        </p:attrNameLst>
                                      </p:cBhvr>
                                      <p:to>
                                        <p:strVal val="visible"/>
                                      </p:to>
                                    </p:set>
                                    <p:animEffect transition="in" filter="wipe(left)">
                                      <p:cBhvr>
                                        <p:cTn id="22"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623047" y="10210800"/>
            <a:ext cx="23164800" cy="32003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gn="just">
              <a:lnSpc>
                <a:spcPct val="107000"/>
              </a:lnSpc>
              <a:spcAft>
                <a:spcPts val="800"/>
              </a:spcAft>
            </a:pPr>
            <a:r>
              <a:rPr lang="en-US" sz="4600" b="1">
                <a:solidFill>
                  <a:srgbClr val="C00000"/>
                </a:solidFill>
                <a:latin typeface="Tahoma" panose="020B0604030504040204" pitchFamily="34" charset="0"/>
                <a:ea typeface="Tahoma" panose="020B0604030504040204" pitchFamily="34" charset="0"/>
                <a:cs typeface="Tahoma" panose="020B0604030504040204" pitchFamily="34" charset="0"/>
              </a:rPr>
              <a:t>Đường thẳng </a:t>
            </a:r>
            <a:r>
              <a:rPr lang="en-US" sz="4600" b="1">
                <a:latin typeface="Tahoma" panose="020B0604030504040204" pitchFamily="34" charset="0"/>
                <a:ea typeface="Tahoma" panose="020B0604030504040204" pitchFamily="34" charset="0"/>
                <a:cs typeface="Tahoma" panose="020B0604030504040204" pitchFamily="34" charset="0"/>
              </a:rPr>
              <a:t>là một tập hợp điểm, được xác định bởi tính chất đặc trưng của các điểm thuộc đường thẳng đó. Do vậy, ta có thể đại số hóa đường thẳng bằng cách thể hiện tính chất đặc trưng đó bởi điều kiện đại số đối với tọa độ của các điểm tương ứng.</a:t>
            </a:r>
            <a:endParaRPr lang="en-US" sz="4600" b="1">
              <a:effectLst/>
              <a:latin typeface="Tahoma" panose="020B0604030504040204" pitchFamily="34" charset="0"/>
              <a:ea typeface="Tahoma" panose="020B0604030504040204" pitchFamily="34" charset="0"/>
              <a:cs typeface="Tahoma" panose="020B0604030504040204" pitchFamily="34" charset="0"/>
            </a:endParaRPr>
          </a:p>
        </p:txBody>
      </p:sp>
      <p:sp>
        <p:nvSpPr>
          <p:cNvPr id="24" name="Content Placeholder 2">
            <a:extLst>
              <a:ext uri="{FF2B5EF4-FFF2-40B4-BE49-F238E27FC236}">
                <a16:creationId xmlns:a16="http://schemas.microsoft.com/office/drawing/2014/main" id="{14822BB7-DB89-4357-87F0-6E511FC44A6A}"/>
              </a:ext>
            </a:extLst>
          </p:cNvPr>
          <p:cNvSpPr txBox="1">
            <a:spLocks/>
          </p:cNvSpPr>
          <p:nvPr/>
        </p:nvSpPr>
        <p:spPr>
          <a:xfrm>
            <a:off x="609600" y="1752601"/>
            <a:ext cx="8458200" cy="84582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lnSpc>
                <a:spcPct val="107000"/>
              </a:lnSpc>
              <a:spcAft>
                <a:spcPts val="800"/>
              </a:spcAft>
              <a:buNone/>
            </a:pPr>
            <a:r>
              <a:rPr lang="en-US" sz="4600" b="1">
                <a:solidFill>
                  <a:srgbClr val="C00000"/>
                </a:solidFill>
                <a:latin typeface="Tahoma" panose="020B0604030504040204" pitchFamily="34" charset="0"/>
                <a:ea typeface="Tahoma" panose="020B0604030504040204" pitchFamily="34" charset="0"/>
                <a:cs typeface="Tahoma" panose="020B0604030504040204" pitchFamily="34" charset="0"/>
              </a:rPr>
              <a:t>THUẬT NGỮ</a:t>
            </a:r>
          </a:p>
          <a:p>
            <a:pPr marL="342900" lvl="0" indent="-342900" algn="just">
              <a:lnSpc>
                <a:spcPct val="150000"/>
              </a:lnSpc>
              <a:spcAft>
                <a:spcPts val="0"/>
              </a:spcAft>
              <a:buFont typeface="Symbol" panose="05050102010706020507" pitchFamily="18" charset="2"/>
              <a:buChar char=""/>
            </a:pPr>
            <a:r>
              <a:rPr lang="en-US" sz="4600" b="1">
                <a:latin typeface="Tahoma" panose="020B0604030504040204" pitchFamily="34" charset="0"/>
                <a:ea typeface="Tahoma" panose="020B0604030504040204" pitchFamily="34" charset="0"/>
                <a:cs typeface="Tahoma" panose="020B0604030504040204" pitchFamily="34" charset="0"/>
              </a:rPr>
              <a:t> Vectơ chỉ phương </a:t>
            </a:r>
          </a:p>
          <a:p>
            <a:pPr marL="342900" lvl="0" indent="-342900" algn="just">
              <a:lnSpc>
                <a:spcPct val="150000"/>
              </a:lnSpc>
              <a:spcAft>
                <a:spcPts val="0"/>
              </a:spcAft>
              <a:buFont typeface="Symbol" panose="05050102010706020507" pitchFamily="18" charset="2"/>
              <a:buChar char=""/>
            </a:pPr>
            <a:r>
              <a:rPr lang="en-US" sz="4600" b="1">
                <a:latin typeface="Tahoma" panose="020B0604030504040204" pitchFamily="34" charset="0"/>
                <a:ea typeface="Tahoma" panose="020B0604030504040204" pitchFamily="34" charset="0"/>
                <a:cs typeface="Tahoma" panose="020B0604030504040204" pitchFamily="34" charset="0"/>
              </a:rPr>
              <a:t>Vectơ pháp tuyến</a:t>
            </a:r>
          </a:p>
          <a:p>
            <a:pPr marL="342900" lvl="0" indent="-342900" algn="just">
              <a:lnSpc>
                <a:spcPct val="150000"/>
              </a:lnSpc>
              <a:spcAft>
                <a:spcPts val="0"/>
              </a:spcAft>
              <a:buFont typeface="Symbol" panose="05050102010706020507" pitchFamily="18" charset="2"/>
              <a:buChar char=""/>
            </a:pPr>
            <a:r>
              <a:rPr lang="en-US" sz="4600" b="1">
                <a:latin typeface="Tahoma" panose="020B0604030504040204" pitchFamily="34" charset="0"/>
                <a:ea typeface="Tahoma" panose="020B0604030504040204" pitchFamily="34" charset="0"/>
                <a:cs typeface="Tahoma" panose="020B0604030504040204" pitchFamily="34" charset="0"/>
              </a:rPr>
              <a:t>Phương trình tổng quát</a:t>
            </a:r>
          </a:p>
          <a:p>
            <a:pPr marL="342900" lvl="0" indent="-342900" algn="just">
              <a:lnSpc>
                <a:spcPct val="150000"/>
              </a:lnSpc>
              <a:spcAft>
                <a:spcPts val="0"/>
              </a:spcAft>
              <a:buFont typeface="Symbol" panose="05050102010706020507" pitchFamily="18" charset="2"/>
              <a:buChar char=""/>
            </a:pPr>
            <a:r>
              <a:rPr lang="en-US" sz="4600" b="1">
                <a:latin typeface="Tahoma" panose="020B0604030504040204" pitchFamily="34" charset="0"/>
                <a:ea typeface="Tahoma" panose="020B0604030504040204" pitchFamily="34" charset="0"/>
                <a:cs typeface="Tahoma" panose="020B0604030504040204" pitchFamily="34" charset="0"/>
              </a:rPr>
              <a:t>Phương trình tham số</a:t>
            </a:r>
          </a:p>
        </p:txBody>
      </p:sp>
      <p:sp>
        <p:nvSpPr>
          <p:cNvPr id="12" name="Content Placeholder 2">
            <a:extLst>
              <a:ext uri="{FF2B5EF4-FFF2-40B4-BE49-F238E27FC236}">
                <a16:creationId xmlns:a16="http://schemas.microsoft.com/office/drawing/2014/main" id="{14822BB7-DB89-4357-87F0-6E511FC44A6A}"/>
              </a:ext>
            </a:extLst>
          </p:cNvPr>
          <p:cNvSpPr txBox="1">
            <a:spLocks/>
          </p:cNvSpPr>
          <p:nvPr/>
        </p:nvSpPr>
        <p:spPr>
          <a:xfrm>
            <a:off x="9099176" y="1748119"/>
            <a:ext cx="14706599" cy="846268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lnSpc>
                <a:spcPct val="100000"/>
              </a:lnSpc>
              <a:spcBef>
                <a:spcPts val="0"/>
              </a:spcBef>
              <a:buNone/>
            </a:pPr>
            <a:r>
              <a:rPr lang="en-US" sz="4600" b="1">
                <a:solidFill>
                  <a:srgbClr val="C00000"/>
                </a:solidFill>
                <a:latin typeface="Tahoma" panose="020B0604030504040204" pitchFamily="34" charset="0"/>
                <a:ea typeface="Tahoma" panose="020B0604030504040204" pitchFamily="34" charset="0"/>
                <a:cs typeface="Tahoma" panose="020B0604030504040204" pitchFamily="34" charset="0"/>
              </a:rPr>
              <a:t>KIẾN THỨC, KĨ NĂNG</a:t>
            </a:r>
          </a:p>
          <a:p>
            <a:pPr marL="342900" lvl="0" indent="-342900" algn="just">
              <a:lnSpc>
                <a:spcPct val="100000"/>
              </a:lnSpc>
              <a:spcBef>
                <a:spcPts val="0"/>
              </a:spcBef>
              <a:buFont typeface="Symbol" panose="05050102010706020507" pitchFamily="18" charset="2"/>
              <a:buChar char=""/>
            </a:pPr>
            <a:r>
              <a:rPr lang="en-US" sz="4600" b="1">
                <a:latin typeface="Tahoma" panose="020B0604030504040204" pitchFamily="34" charset="0"/>
                <a:ea typeface="Tahoma" panose="020B0604030504040204" pitchFamily="34" charset="0"/>
                <a:cs typeface="Tahoma" panose="020B0604030504040204" pitchFamily="34" charset="0"/>
              </a:rPr>
              <a:t>Mô tả được phương trình tổng quát và phương trình tham số của đường thẳng.</a:t>
            </a:r>
          </a:p>
          <a:p>
            <a:pPr marL="342900" lvl="0" indent="-342900" algn="just">
              <a:lnSpc>
                <a:spcPct val="100000"/>
              </a:lnSpc>
              <a:spcBef>
                <a:spcPts val="0"/>
              </a:spcBef>
              <a:buFont typeface="Symbol" panose="05050102010706020507" pitchFamily="18" charset="2"/>
              <a:buChar char=""/>
            </a:pPr>
            <a:r>
              <a:rPr lang="en-US" sz="4600" b="1">
                <a:latin typeface="Tahoma" panose="020B0604030504040204" pitchFamily="34" charset="0"/>
                <a:ea typeface="Tahoma" panose="020B0604030504040204" pitchFamily="34" charset="0"/>
                <a:cs typeface="Tahoma" panose="020B0604030504040204" pitchFamily="34" charset="0"/>
              </a:rPr>
              <a:t>Lập phương trình của đường thẳng khi biết một điểm và một</a:t>
            </a:r>
          </a:p>
          <a:p>
            <a:pPr algn="just">
              <a:lnSpc>
                <a:spcPct val="100000"/>
              </a:lnSpc>
              <a:spcBef>
                <a:spcPts val="0"/>
              </a:spcBef>
            </a:pPr>
            <a:r>
              <a:rPr lang="en-US" sz="4600" b="1">
                <a:latin typeface="Tahoma" panose="020B0604030504040204" pitchFamily="34" charset="0"/>
                <a:ea typeface="Tahoma" panose="020B0604030504040204" pitchFamily="34" charset="0"/>
                <a:cs typeface="Tahoma" panose="020B0604030504040204" pitchFamily="34" charset="0"/>
              </a:rPr>
              <a:t>vectơ pháp tuyến hoặc một điểm và một vectơ chỉ phương hoặc hai điểm.</a:t>
            </a:r>
          </a:p>
          <a:p>
            <a:pPr marL="342900" lvl="0" indent="-342900" algn="just">
              <a:lnSpc>
                <a:spcPct val="100000"/>
              </a:lnSpc>
              <a:spcBef>
                <a:spcPts val="0"/>
              </a:spcBef>
              <a:buFont typeface="Symbol" panose="05050102010706020507" pitchFamily="18" charset="2"/>
              <a:buChar char=""/>
            </a:pPr>
            <a:r>
              <a:rPr lang="en-US" sz="4600" b="1">
                <a:latin typeface="Tahoma" panose="020B0604030504040204" pitchFamily="34" charset="0"/>
                <a:ea typeface="Tahoma" panose="020B0604030504040204" pitchFamily="34" charset="0"/>
                <a:cs typeface="Tahoma" panose="020B0604030504040204" pitchFamily="34" charset="0"/>
              </a:rPr>
              <a:t>Giải thích mối liên hệ giữa đồ thị hàm bậc nhất và đường thẳng.</a:t>
            </a:r>
          </a:p>
          <a:p>
            <a:pPr marL="342900" lvl="0" indent="-342900" algn="just">
              <a:lnSpc>
                <a:spcPct val="100000"/>
              </a:lnSpc>
              <a:spcBef>
                <a:spcPts val="0"/>
              </a:spcBef>
              <a:buFont typeface="Symbol" panose="05050102010706020507" pitchFamily="18" charset="2"/>
              <a:buChar char=""/>
            </a:pPr>
            <a:r>
              <a:rPr lang="en-US" sz="4600" b="1">
                <a:latin typeface="Tahoma" panose="020B0604030504040204" pitchFamily="34" charset="0"/>
                <a:ea typeface="Tahoma" panose="020B0604030504040204" pitchFamily="34" charset="0"/>
                <a:cs typeface="Tahoma" panose="020B0604030504040204" pitchFamily="34" charset="0"/>
              </a:rPr>
              <a:t>Vận dụng kiến thức về phương trình đường thẳng để giải một số bài toán có liên quan đến thực tế.</a:t>
            </a:r>
          </a:p>
          <a:p>
            <a:pPr algn="just">
              <a:lnSpc>
                <a:spcPct val="150000"/>
              </a:lnSpc>
            </a:pPr>
            <a:endParaRPr lang="en-US" sz="4600" b="1">
              <a:latin typeface="Tahoma" panose="020B0604030504040204" pitchFamily="34" charset="0"/>
              <a:ea typeface="Tahoma" panose="020B0604030504040204" pitchFamily="34" charset="0"/>
              <a:cs typeface="Tahoma" panose="020B0604030504040204" pitchFamily="34" charset="0"/>
            </a:endParaRPr>
          </a:p>
        </p:txBody>
      </p:sp>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90841227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xEl>
                                              <p:pRg st="0" end="0"/>
                                            </p:txEl>
                                          </p:spTgt>
                                        </p:tgtEl>
                                        <p:attrNameLst>
                                          <p:attrName>style.visibility</p:attrName>
                                        </p:attrNameLst>
                                      </p:cBhvr>
                                      <p:to>
                                        <p:strVal val="visible"/>
                                      </p:to>
                                    </p:set>
                                    <p:animEffect transition="in" filter="fade">
                                      <p:cBhvr>
                                        <p:cTn id="17" dur="500"/>
                                        <p:tgtEl>
                                          <p:spTgt spid="2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xEl>
                                              <p:pRg st="1" end="1"/>
                                            </p:txEl>
                                          </p:spTgt>
                                        </p:tgtEl>
                                        <p:attrNameLst>
                                          <p:attrName>style.visibility</p:attrName>
                                        </p:attrNameLst>
                                      </p:cBhvr>
                                      <p:to>
                                        <p:strVal val="visible"/>
                                      </p:to>
                                    </p:set>
                                    <p:animEffect transition="in" filter="fade">
                                      <p:cBhvr>
                                        <p:cTn id="22" dur="500"/>
                                        <p:tgtEl>
                                          <p:spTgt spid="2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
                                            <p:txEl>
                                              <p:pRg st="2" end="2"/>
                                            </p:txEl>
                                          </p:spTgt>
                                        </p:tgtEl>
                                        <p:attrNameLst>
                                          <p:attrName>style.visibility</p:attrName>
                                        </p:attrNameLst>
                                      </p:cBhvr>
                                      <p:to>
                                        <p:strVal val="visible"/>
                                      </p:to>
                                    </p:set>
                                    <p:animEffect transition="in" filter="fade">
                                      <p:cBhvr>
                                        <p:cTn id="27" dur="500"/>
                                        <p:tgtEl>
                                          <p:spTgt spid="24">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xEl>
                                              <p:pRg st="3" end="3"/>
                                            </p:txEl>
                                          </p:spTgt>
                                        </p:tgtEl>
                                        <p:attrNameLst>
                                          <p:attrName>style.visibility</p:attrName>
                                        </p:attrNameLst>
                                      </p:cBhvr>
                                      <p:to>
                                        <p:strVal val="visible"/>
                                      </p:to>
                                    </p:set>
                                    <p:animEffect transition="in" filter="fade">
                                      <p:cBhvr>
                                        <p:cTn id="32" dur="500"/>
                                        <p:tgtEl>
                                          <p:spTgt spid="24">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
                                            <p:txEl>
                                              <p:pRg st="4" end="4"/>
                                            </p:txEl>
                                          </p:spTgt>
                                        </p:tgtEl>
                                        <p:attrNameLst>
                                          <p:attrName>style.visibility</p:attrName>
                                        </p:attrNameLst>
                                      </p:cBhvr>
                                      <p:to>
                                        <p:strVal val="visible"/>
                                      </p:to>
                                    </p:set>
                                    <p:animEffect transition="in" filter="fade">
                                      <p:cBhvr>
                                        <p:cTn id="37" dur="500"/>
                                        <p:tgtEl>
                                          <p:spTgt spid="24">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
                                            <p:txEl>
                                              <p:pRg st="0" end="0"/>
                                            </p:txEl>
                                          </p:spTgt>
                                        </p:tgtEl>
                                        <p:attrNameLst>
                                          <p:attrName>style.visibility</p:attrName>
                                        </p:attrNameLst>
                                      </p:cBhvr>
                                      <p:to>
                                        <p:strVal val="visible"/>
                                      </p:to>
                                    </p:set>
                                    <p:animEffect transition="in" filter="fade">
                                      <p:cBhvr>
                                        <p:cTn id="42" dur="500"/>
                                        <p:tgtEl>
                                          <p:spTgt spid="12">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
                                            <p:txEl>
                                              <p:pRg st="1" end="1"/>
                                            </p:txEl>
                                          </p:spTgt>
                                        </p:tgtEl>
                                        <p:attrNameLst>
                                          <p:attrName>style.visibility</p:attrName>
                                        </p:attrNameLst>
                                      </p:cBhvr>
                                      <p:to>
                                        <p:strVal val="visible"/>
                                      </p:to>
                                    </p:set>
                                    <p:animEffect transition="in" filter="fade">
                                      <p:cBhvr>
                                        <p:cTn id="47" dur="500"/>
                                        <p:tgtEl>
                                          <p:spTgt spid="12">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2">
                                            <p:txEl>
                                              <p:pRg st="2" end="2"/>
                                            </p:txEl>
                                          </p:spTgt>
                                        </p:tgtEl>
                                        <p:attrNameLst>
                                          <p:attrName>style.visibility</p:attrName>
                                        </p:attrNameLst>
                                      </p:cBhvr>
                                      <p:to>
                                        <p:strVal val="visible"/>
                                      </p:to>
                                    </p:set>
                                    <p:animEffect transition="in" filter="fade">
                                      <p:cBhvr>
                                        <p:cTn id="52" dur="500"/>
                                        <p:tgtEl>
                                          <p:spTgt spid="12">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2">
                                            <p:txEl>
                                              <p:pRg st="3" end="3"/>
                                            </p:txEl>
                                          </p:spTgt>
                                        </p:tgtEl>
                                        <p:attrNameLst>
                                          <p:attrName>style.visibility</p:attrName>
                                        </p:attrNameLst>
                                      </p:cBhvr>
                                      <p:to>
                                        <p:strVal val="visible"/>
                                      </p:to>
                                    </p:set>
                                    <p:animEffect transition="in" filter="fade">
                                      <p:cBhvr>
                                        <p:cTn id="57" dur="500"/>
                                        <p:tgtEl>
                                          <p:spTgt spid="12">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2">
                                            <p:txEl>
                                              <p:pRg st="4" end="4"/>
                                            </p:txEl>
                                          </p:spTgt>
                                        </p:tgtEl>
                                        <p:attrNameLst>
                                          <p:attrName>style.visibility</p:attrName>
                                        </p:attrNameLst>
                                      </p:cBhvr>
                                      <p:to>
                                        <p:strVal val="visible"/>
                                      </p:to>
                                    </p:set>
                                    <p:animEffect transition="in" filter="fade">
                                      <p:cBhvr>
                                        <p:cTn id="62" dur="500"/>
                                        <p:tgtEl>
                                          <p:spTgt spid="12">
                                            <p:txEl>
                                              <p:pRg st="4" end="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2">
                                            <p:txEl>
                                              <p:pRg st="5" end="5"/>
                                            </p:txEl>
                                          </p:spTgt>
                                        </p:tgtEl>
                                        <p:attrNameLst>
                                          <p:attrName>style.visibility</p:attrName>
                                        </p:attrNameLst>
                                      </p:cBhvr>
                                      <p:to>
                                        <p:strVal val="visible"/>
                                      </p:to>
                                    </p:set>
                                    <p:animEffect transition="in" filter="fade">
                                      <p:cBhvr>
                                        <p:cTn id="67" dur="500"/>
                                        <p:tgtEl>
                                          <p:spTgt spid="12">
                                            <p:txEl>
                                              <p:pRg st="5" end="5"/>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97"/>
                                        </p:tgtEl>
                                        <p:attrNameLst>
                                          <p:attrName>style.visibility</p:attrName>
                                        </p:attrNameLst>
                                      </p:cBhvr>
                                      <p:to>
                                        <p:strVal val="visible"/>
                                      </p:to>
                                    </p:set>
                                    <p:animEffect transition="in" filter="wipe(up)">
                                      <p:cBhvr>
                                        <p:cTn id="72" dur="10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24"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12446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7000"/>
              </a:lnSpc>
              <a:spcAft>
                <a:spcPts val="800"/>
              </a:spcAft>
            </a:pPr>
            <a:r>
              <a:rPr lang="en-US" sz="4800" b="1">
                <a:solidFill>
                  <a:srgbClr val="FF0000"/>
                </a:solidFill>
                <a:latin typeface="Tahoma" panose="020B0604030504040204" pitchFamily="34" charset="0"/>
                <a:ea typeface="Tahoma" panose="020B0604030504040204" pitchFamily="34" charset="0"/>
                <a:cs typeface="Tahoma" panose="020B0604030504040204" pitchFamily="34" charset="0"/>
              </a:rPr>
              <a:t>1. PHƯƠNG TRÌNH TỔNG QUÁT CỦA ĐƯỜNG THẲNG</a:t>
            </a: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53440" y="3154681"/>
                <a:ext cx="23180040" cy="4145280"/>
              </a:xfrm>
              <a:prstGeom prst="rect">
                <a:avLst/>
              </a:prstGeom>
              <a:solidFill>
                <a:schemeClr val="bg1">
                  <a:lumMod val="95000"/>
                </a:schemeClr>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7000"/>
                  </a:lnSpc>
                  <a:spcAft>
                    <a:spcPts val="800"/>
                  </a:spcAft>
                  <a:buNone/>
                </a:pPr>
                <a:r>
                  <a:rPr lang="en-US" b="1">
                    <a:latin typeface="Tahoma" panose="020B0604030504040204" pitchFamily="34" charset="0"/>
                    <a:ea typeface="Tahoma" panose="020B0604030504040204" pitchFamily="34" charset="0"/>
                    <a:cs typeface="Tahoma" panose="020B0604030504040204" pitchFamily="34" charset="0"/>
                  </a:rPr>
                  <a:t>               Cho vectơ </a:t>
                </a:r>
                <a14:m>
                  <m:oMath xmlns:m="http://schemas.openxmlformats.org/officeDocument/2006/math">
                    <m:acc>
                      <m:accPr>
                        <m:chr m:val="⃗"/>
                        <m:ctrlPr>
                          <a:rPr lang="en-US" b="1" i="1">
                            <a:latin typeface="Cambria Math" panose="02040503050406030204" pitchFamily="18" charset="0"/>
                            <a:ea typeface="Cascadia Mono"/>
                            <a:cs typeface="Times New Roman" panose="02020603050405020304" pitchFamily="18" charset="0"/>
                          </a:rPr>
                        </m:ctrlPr>
                      </m:accPr>
                      <m:e>
                        <m:r>
                          <a:rPr lang="en-US" b="1" i="1">
                            <a:latin typeface="Cambria Math" panose="02040503050406030204" pitchFamily="18" charset="0"/>
                            <a:ea typeface="Cascadia Mono"/>
                            <a:cs typeface="Times New Roman" panose="02020603050405020304" pitchFamily="18" charset="0"/>
                          </a:rPr>
                          <m:t>𝒏</m:t>
                        </m:r>
                      </m:e>
                    </m:acc>
                    <m:r>
                      <a:rPr lang="en-US" b="1" i="1">
                        <a:latin typeface="Cambria Math" panose="02040503050406030204" pitchFamily="18" charset="0"/>
                        <a:ea typeface="Cascadia Mono"/>
                        <a:cs typeface="Times New Roman" panose="02020603050405020304" pitchFamily="18" charset="0"/>
                      </a:rPr>
                      <m:t>≠</m:t>
                    </m:r>
                    <m:acc>
                      <m:accPr>
                        <m:chr m:val="⃗"/>
                        <m:ctrlPr>
                          <a:rPr lang="en-US" b="1" i="1">
                            <a:latin typeface="Cambria Math" panose="02040503050406030204" pitchFamily="18" charset="0"/>
                            <a:ea typeface="Cascadia Mono"/>
                            <a:cs typeface="Times New Roman" panose="02020603050405020304" pitchFamily="18" charset="0"/>
                          </a:rPr>
                        </m:ctrlPr>
                      </m:accPr>
                      <m:e>
                        <m:r>
                          <a:rPr lang="en-US" b="1" i="1">
                            <a:latin typeface="Cambria Math" panose="02040503050406030204" pitchFamily="18" charset="0"/>
                            <a:ea typeface="Cascadia Mono"/>
                            <a:cs typeface="Times New Roman" panose="02020603050405020304" pitchFamily="18" charset="0"/>
                          </a:rPr>
                          <m:t>𝟎</m:t>
                        </m:r>
                      </m:e>
                    </m:acc>
                  </m:oMath>
                </a14:m>
                <a:r>
                  <a:rPr lang="en-US" b="1">
                    <a:latin typeface="Tahoma" panose="020B0604030504040204" pitchFamily="34" charset="0"/>
                    <a:ea typeface="Tahoma" panose="020B0604030504040204" pitchFamily="34" charset="0"/>
                    <a:cs typeface="Tahoma" panose="020B0604030504040204" pitchFamily="34" charset="0"/>
                  </a:rPr>
                  <a:t> và điểm </a:t>
                </a:r>
                <a14:m>
                  <m:oMath xmlns:m="http://schemas.openxmlformats.org/officeDocument/2006/math">
                    <m:r>
                      <a:rPr lang="en-US" b="1" i="1">
                        <a:latin typeface="Cambria Math" panose="02040503050406030204" pitchFamily="18" charset="0"/>
                        <a:ea typeface="Cascadia Mono"/>
                        <a:cs typeface="Times New Roman" panose="02020603050405020304" pitchFamily="18" charset="0"/>
                      </a:rPr>
                      <m:t>𝑨</m:t>
                    </m:r>
                  </m:oMath>
                </a14:m>
                <a:r>
                  <a:rPr lang="en-US" b="1">
                    <a:latin typeface="Tahoma" panose="020B0604030504040204" pitchFamily="34" charset="0"/>
                    <a:ea typeface="Tahoma" panose="020B0604030504040204" pitchFamily="34" charset="0"/>
                    <a:cs typeface="Tahoma" panose="020B0604030504040204" pitchFamily="34" charset="0"/>
                  </a:rPr>
                  <a:t>. Tìm tập hợp những </a:t>
                </a:r>
              </a:p>
              <a:p>
                <a:pPr marL="0" indent="0">
                  <a:lnSpc>
                    <a:spcPct val="107000"/>
                  </a:lnSpc>
                  <a:spcAft>
                    <a:spcPts val="800"/>
                  </a:spcAft>
                  <a:buNone/>
                </a:pPr>
                <a:r>
                  <a:rPr lang="en-US" b="1">
                    <a:latin typeface="Tahoma" panose="020B0604030504040204" pitchFamily="34" charset="0"/>
                    <a:ea typeface="Tahoma" panose="020B0604030504040204" pitchFamily="34" charset="0"/>
                    <a:cs typeface="Tahoma" panose="020B0604030504040204" pitchFamily="34" charset="0"/>
                  </a:rPr>
                  <a:t>điểm </a:t>
                </a:r>
                <a14:m>
                  <m:oMath xmlns:m="http://schemas.openxmlformats.org/officeDocument/2006/math">
                    <m:r>
                      <a:rPr lang="en-US" b="1" i="1">
                        <a:latin typeface="Cambria Math" panose="02040503050406030204" pitchFamily="18" charset="0"/>
                        <a:ea typeface="Cascadia Mono"/>
                        <a:cs typeface="Times New Roman" panose="02020603050405020304" pitchFamily="18" charset="0"/>
                      </a:rPr>
                      <m:t>𝑴</m:t>
                    </m:r>
                  </m:oMath>
                </a14:m>
                <a:r>
                  <a:rPr lang="en-US" b="1">
                    <a:latin typeface="Tahoma" panose="020B0604030504040204" pitchFamily="34" charset="0"/>
                    <a:ea typeface="Tahoma" panose="020B0604030504040204" pitchFamily="34" charset="0"/>
                    <a:cs typeface="Tahoma" panose="020B0604030504040204" pitchFamily="34" charset="0"/>
                  </a:rPr>
                  <a:t> sao cho </a:t>
                </a:r>
                <a14:m>
                  <m:oMath xmlns:m="http://schemas.openxmlformats.org/officeDocument/2006/math">
                    <m:acc>
                      <m:accPr>
                        <m:chr m:val="⃗"/>
                        <m:ctrlPr>
                          <a:rPr lang="en-US" b="1" i="1">
                            <a:latin typeface="Cambria Math" panose="02040503050406030204" pitchFamily="18" charset="0"/>
                            <a:ea typeface="Cascadia Mono"/>
                            <a:cs typeface="Times New Roman" panose="02020603050405020304" pitchFamily="18" charset="0"/>
                          </a:rPr>
                        </m:ctrlPr>
                      </m:accPr>
                      <m:e>
                        <m:r>
                          <a:rPr lang="en-US" b="1" i="1">
                            <a:latin typeface="Cambria Math" panose="02040503050406030204" pitchFamily="18" charset="0"/>
                            <a:ea typeface="Cascadia Mono"/>
                            <a:cs typeface="Times New Roman" panose="02020603050405020304" pitchFamily="18" charset="0"/>
                          </a:rPr>
                          <m:t>𝑨𝑴</m:t>
                        </m:r>
                      </m:e>
                    </m:acc>
                  </m:oMath>
                </a14:m>
                <a:r>
                  <a:rPr lang="en-US" b="1">
                    <a:latin typeface="Tahoma" panose="020B0604030504040204" pitchFamily="34" charset="0"/>
                    <a:ea typeface="Tahoma" panose="020B0604030504040204" pitchFamily="34" charset="0"/>
                    <a:cs typeface="Tahoma" panose="020B0604030504040204" pitchFamily="34" charset="0"/>
                  </a:rPr>
                  <a:t> vuông góc với  </a:t>
                </a:r>
                <a14:m>
                  <m:oMath xmlns:m="http://schemas.openxmlformats.org/officeDocument/2006/math">
                    <m:acc>
                      <m:accPr>
                        <m:chr m:val="⃗"/>
                        <m:ctrlPr>
                          <a:rPr lang="en-US" b="1" i="1">
                            <a:latin typeface="Cambria Math" panose="02040503050406030204" pitchFamily="18" charset="0"/>
                            <a:ea typeface="Cascadia Mono"/>
                            <a:cs typeface="Times New Roman" panose="02020603050405020304" pitchFamily="18" charset="0"/>
                          </a:rPr>
                        </m:ctrlPr>
                      </m:accPr>
                      <m:e>
                        <m:r>
                          <a:rPr lang="en-US" b="1" i="1">
                            <a:latin typeface="Cambria Math" panose="02040503050406030204" pitchFamily="18" charset="0"/>
                            <a:ea typeface="Cascadia Mono"/>
                            <a:cs typeface="Times New Roman" panose="02020603050405020304" pitchFamily="18" charset="0"/>
                          </a:rPr>
                          <m:t>𝒏</m:t>
                        </m:r>
                      </m:e>
                    </m:acc>
                  </m:oMath>
                </a14:m>
                <a:r>
                  <a:rPr lang="en-US" b="1">
                    <a:latin typeface="Tahoma" panose="020B0604030504040204" pitchFamily="34" charset="0"/>
                    <a:ea typeface="Tahoma" panose="020B0604030504040204" pitchFamily="34" charset="0"/>
                    <a:cs typeface="Tahoma" panose="020B0604030504040204" pitchFamily="34" charset="0"/>
                  </a:rPr>
                  <a:t>  </a:t>
                </a:r>
              </a:p>
              <a:p>
                <a:pPr marL="0" indent="0">
                  <a:lnSpc>
                    <a:spcPct val="107000"/>
                  </a:lnSpc>
                  <a:spcAft>
                    <a:spcPts val="800"/>
                  </a:spcAft>
                  <a:buNone/>
                </a:pPr>
                <a:endParaRPr lang="en-US" b="1">
                  <a:latin typeface="Tahoma" panose="020B0604030504040204" pitchFamily="34" charset="0"/>
                  <a:ea typeface="Tahoma" panose="020B0604030504040204" pitchFamily="34" charset="0"/>
                  <a:cs typeface="Tahoma" panose="020B0604030504040204" pitchFamily="34" charset="0"/>
                </a:endParaRPr>
              </a:p>
              <a:p>
                <a:pPr marL="0" indent="0">
                  <a:lnSpc>
                    <a:spcPct val="107000"/>
                  </a:lnSpc>
                  <a:spcAft>
                    <a:spcPts val="800"/>
                  </a:spcAft>
                  <a:buNone/>
                </a:pPr>
                <a:endParaRPr lang="en-US" b="1">
                  <a:solidFill>
                    <a:prstClr val="black"/>
                  </a:solidFill>
                  <a:latin typeface="Tahoma" panose="020B0604030504040204" pitchFamily="34" charset="0"/>
                  <a:ea typeface="Tahoma" panose="020B0604030504040204" pitchFamily="34" charset="0"/>
                  <a:cs typeface="Tahoma" panose="020B0604030504040204" pitchFamily="34" charset="0"/>
                </a:endParaRPr>
              </a:p>
              <a:p>
                <a:pPr marL="0" indent="0">
                  <a:lnSpc>
                    <a:spcPct val="107000"/>
                  </a:lnSpc>
                  <a:spcAft>
                    <a:spcPts val="800"/>
                  </a:spcAft>
                  <a:buNone/>
                </a:pPr>
                <a:endParaRPr lang="en-US"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53440" y="3154681"/>
                <a:ext cx="23180040" cy="4145280"/>
              </a:xfrm>
              <a:prstGeom prst="rect">
                <a:avLst/>
              </a:prstGeom>
              <a:blipFill>
                <a:blip r:embed="rId3"/>
                <a:stretch>
                  <a:fillRect l="-1156" t="-1760"/>
                </a:stretch>
              </a:blipFill>
              <a:ln>
                <a:solidFill>
                  <a:srgbClr val="00B0F0"/>
                </a:solidFill>
              </a:ln>
            </p:spPr>
            <p:txBody>
              <a:bodyPr/>
              <a:lstStyle/>
              <a:p>
                <a:r>
                  <a:rPr lang="en-US">
                    <a:noFill/>
                  </a:rPr>
                  <a:t> </a:t>
                </a:r>
              </a:p>
            </p:txBody>
          </p:sp>
        </mc:Fallback>
      </mc:AlternateContent>
      <p:grpSp>
        <p:nvGrpSpPr>
          <p:cNvPr id="5" name="Group 4"/>
          <p:cNvGrpSpPr/>
          <p:nvPr/>
        </p:nvGrpSpPr>
        <p:grpSpPr>
          <a:xfrm>
            <a:off x="1066800" y="3208225"/>
            <a:ext cx="2792159" cy="838199"/>
            <a:chOff x="853445" y="3032647"/>
            <a:chExt cx="2792159" cy="838199"/>
          </a:xfrm>
        </p:grpSpPr>
        <p:grpSp>
          <p:nvGrpSpPr>
            <p:cNvPr id="15" name="Group 14"/>
            <p:cNvGrpSpPr/>
            <p:nvPr/>
          </p:nvGrpSpPr>
          <p:grpSpPr>
            <a:xfrm>
              <a:off x="853445" y="3032647"/>
              <a:ext cx="2792159" cy="838199"/>
              <a:chOff x="-3796694" y="945148"/>
              <a:chExt cx="5297364" cy="1862095"/>
            </a:xfrm>
          </p:grpSpPr>
          <p:sp>
            <p:nvSpPr>
              <p:cNvPr id="16" name="TextBox 321"/>
              <p:cNvSpPr txBox="1"/>
              <p:nvPr/>
            </p:nvSpPr>
            <p:spPr>
              <a:xfrm>
                <a:off x="-1984442" y="945148"/>
                <a:ext cx="3485112" cy="1862095"/>
              </a:xfrm>
              <a:prstGeom prst="rect">
                <a:avLst/>
              </a:prstGeom>
              <a:noFill/>
            </p:spPr>
            <p:txBody>
              <a:bodyPr wrap="square" rtlCol="0">
                <a:noAutofit/>
              </a:bodyPr>
              <a:lstStyle/>
              <a:p>
                <a:pPr>
                  <a:lnSpc>
                    <a:spcPct val="107000"/>
                  </a:lnSpc>
                  <a:spcAft>
                    <a:spcPts val="800"/>
                  </a:spcAft>
                </a:pPr>
                <a:r>
                  <a:rPr lang="en-US" sz="4800" b="1" kern="1200">
                    <a:solidFill>
                      <a:srgbClr val="D33E03"/>
                    </a:solidFill>
                    <a:effectLst/>
                    <a:latin typeface="Tahoma" panose="020B0604030504040204" pitchFamily="34" charset="0"/>
                    <a:ea typeface="Tahoma" panose="020B0604030504040204" pitchFamily="34" charset="0"/>
                    <a:cs typeface="Tahoma" panose="020B0604030504040204" pitchFamily="34" charset="0"/>
                  </a:rPr>
                  <a:t>HĐ1:</a:t>
                </a:r>
                <a:endParaRPr lang="en-US" sz="4800" b="1">
                  <a:solidFill>
                    <a:srgbClr val="D33E03"/>
                  </a:solidFill>
                  <a:effectLst/>
                  <a:latin typeface="Tahoma" panose="020B0604030504040204" pitchFamily="34" charset="0"/>
                  <a:ea typeface="Tahoma" panose="020B0604030504040204" pitchFamily="34" charset="0"/>
                  <a:cs typeface="Tahoma" panose="020B0604030504040204" pitchFamily="34" charset="0"/>
                </a:endParaRPr>
              </a:p>
            </p:txBody>
          </p:sp>
          <p:grpSp>
            <p:nvGrpSpPr>
              <p:cNvPr id="17" name="Group 16"/>
              <p:cNvGrpSpPr/>
              <p:nvPr/>
            </p:nvGrpSpPr>
            <p:grpSpPr>
              <a:xfrm>
                <a:off x="-3796694" y="1332427"/>
                <a:ext cx="1945947" cy="1087543"/>
                <a:chOff x="-3484263" y="1332427"/>
                <a:chExt cx="1785816" cy="1087543"/>
              </a:xfrm>
            </p:grpSpPr>
            <p:grpSp>
              <p:nvGrpSpPr>
                <p:cNvPr id="18" name="Group 17"/>
                <p:cNvGrpSpPr/>
                <p:nvPr/>
              </p:nvGrpSpPr>
              <p:grpSpPr>
                <a:xfrm>
                  <a:off x="-3484263" y="1332427"/>
                  <a:ext cx="1785816" cy="1087543"/>
                  <a:chOff x="-3902278" y="1992271"/>
                  <a:chExt cx="2000062" cy="1666211"/>
                </a:xfrm>
              </p:grpSpPr>
              <p:sp>
                <p:nvSpPr>
                  <p:cNvPr id="21" name="Arrow: Pentagon 6"/>
                  <p:cNvSpPr/>
                  <p:nvPr/>
                </p:nvSpPr>
                <p:spPr>
                  <a:xfrm>
                    <a:off x="-3902278" y="1992274"/>
                    <a:ext cx="1599070" cy="1666208"/>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sp>
                <p:nvSpPr>
                  <p:cNvPr id="22" name="Arrow: Chevron 11"/>
                  <p:cNvSpPr/>
                  <p:nvPr/>
                </p:nvSpPr>
                <p:spPr>
                  <a:xfrm>
                    <a:off x="-2759185" y="1992271"/>
                    <a:ext cx="856969" cy="1666208"/>
                  </a:xfrm>
                  <a:prstGeom prst="chevron">
                    <a:avLst>
                      <a:gd name="adj" fmla="val 66014"/>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grpSp>
            <p:sp>
              <p:nvSpPr>
                <p:cNvPr id="19" name="Flowchart: Terminator 18"/>
                <p:cNvSpPr/>
                <p:nvPr/>
              </p:nvSpPr>
              <p:spPr>
                <a:xfrm>
                  <a:off x="-3367925" y="1476518"/>
                  <a:ext cx="995711" cy="799363"/>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sp>
              <p:nvSpPr>
                <p:cNvPr id="20" name="Oval 19"/>
                <p:cNvSpPr/>
                <p:nvPr/>
              </p:nvSpPr>
              <p:spPr>
                <a:xfrm>
                  <a:off x="-3028523" y="1518566"/>
                  <a:ext cx="611269" cy="737968"/>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800" b="1"/>
                </a:p>
              </p:txBody>
            </p:sp>
          </p:grpSp>
        </p:grpSp>
        <p:sp>
          <p:nvSpPr>
            <p:cNvPr id="23" name="Arrow: Chevron 12"/>
            <p:cNvSpPr/>
            <p:nvPr/>
          </p:nvSpPr>
          <p:spPr>
            <a:xfrm flipV="1">
              <a:off x="1457568" y="3206977"/>
              <a:ext cx="287623" cy="489543"/>
            </a:xfrm>
            <a:prstGeom prst="chevron">
              <a:avLst>
                <a:gd name="adj" fmla="val 83506"/>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grpSp>
      <p:pic>
        <p:nvPicPr>
          <p:cNvPr id="25" name="Picture 24"/>
          <p:cNvPicPr/>
          <p:nvPr/>
        </p:nvPicPr>
        <p:blipFill>
          <a:blip r:embed="rId4">
            <a:extLst>
              <a:ext uri="{28A0092B-C50C-407E-A947-70E740481C1C}">
                <a14:useLocalDpi xmlns:a14="http://schemas.microsoft.com/office/drawing/2010/main" val="0"/>
              </a:ext>
            </a:extLst>
          </a:blip>
          <a:stretch>
            <a:fillRect/>
          </a:stretch>
        </p:blipFill>
        <p:spPr>
          <a:xfrm>
            <a:off x="18288000" y="3144417"/>
            <a:ext cx="4572000" cy="4114800"/>
          </a:xfrm>
          <a:prstGeom prst="rect">
            <a:avLst/>
          </a:prstGeom>
        </p:spPr>
      </p:pic>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14822BB7-DB89-4357-87F0-6E511FC44A6A}"/>
                  </a:ext>
                </a:extLst>
              </p:cNvPr>
              <p:cNvSpPr txBox="1">
                <a:spLocks/>
              </p:cNvSpPr>
              <p:nvPr/>
            </p:nvSpPr>
            <p:spPr>
              <a:xfrm>
                <a:off x="838200" y="7303861"/>
                <a:ext cx="23164800" cy="618353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7000"/>
                  </a:lnSpc>
                  <a:spcAft>
                    <a:spcPts val="800"/>
                  </a:spcAft>
                  <a:buNone/>
                </a:pPr>
                <a:r>
                  <a:rPr lang="en-US" b="1">
                    <a:latin typeface="Tahoma" panose="020B0604030504040204" pitchFamily="34" charset="0"/>
                    <a:ea typeface="Tahoma" panose="020B0604030504040204" pitchFamily="34" charset="0"/>
                    <a:cs typeface="Tahoma" panose="020B0604030504040204" pitchFamily="34" charset="0"/>
                  </a:rPr>
                  <a:t>Giải:</a:t>
                </a:r>
              </a:p>
              <a:p>
                <a:pPr marL="0" indent="0">
                  <a:lnSpc>
                    <a:spcPct val="107000"/>
                  </a:lnSpc>
                  <a:spcAft>
                    <a:spcPts val="800"/>
                  </a:spcAft>
                  <a:buNone/>
                </a:pPr>
                <a:r>
                  <a:rPr lang="en-US" b="1">
                    <a:latin typeface="Tahoma" panose="020B0604030504040204" pitchFamily="34" charset="0"/>
                    <a:ea typeface="Tahoma" panose="020B0604030504040204" pitchFamily="34" charset="0"/>
                    <a:cs typeface="Tahoma" panose="020B0604030504040204" pitchFamily="34" charset="0"/>
                  </a:rPr>
                  <a:t>Từ hình vẽ 7.1a, ta thấy tập hợp những điểm </a:t>
                </a:r>
                <a14:m>
                  <m:oMath xmlns:m="http://schemas.openxmlformats.org/officeDocument/2006/math">
                    <m:r>
                      <a:rPr lang="en-US" b="1" i="1">
                        <a:latin typeface="Cambria Math" panose="02040503050406030204" pitchFamily="18" charset="0"/>
                        <a:ea typeface="Cascadia Mono" panose="020B0609020000020004"/>
                        <a:cs typeface="Times New Roman" panose="02020603050405020304" pitchFamily="18" charset="0"/>
                      </a:rPr>
                      <m:t>𝑴</m:t>
                    </m:r>
                  </m:oMath>
                </a14:m>
                <a:r>
                  <a:rPr lang="en-US" b="1">
                    <a:latin typeface="Tahoma" panose="020B0604030504040204" pitchFamily="34" charset="0"/>
                    <a:ea typeface="Tahoma" panose="020B0604030504040204" pitchFamily="34" charset="0"/>
                    <a:cs typeface="Tahoma" panose="020B0604030504040204" pitchFamily="34" charset="0"/>
                  </a:rPr>
                  <a:t> sao cho </a:t>
                </a:r>
                <a14:m>
                  <m:oMath xmlns:m="http://schemas.openxmlformats.org/officeDocument/2006/math">
                    <m:acc>
                      <m:accPr>
                        <m:chr m:val="⃗"/>
                        <m:ctrlPr>
                          <a:rPr lang="en-US" b="1" i="1">
                            <a:latin typeface="Cambria Math" panose="02040503050406030204" pitchFamily="18" charset="0"/>
                            <a:ea typeface="Cascadia Mono" panose="020B0609020000020004"/>
                            <a:cs typeface="Times New Roman" panose="02020603050405020304" pitchFamily="18" charset="0"/>
                          </a:rPr>
                        </m:ctrlPr>
                      </m:accPr>
                      <m:e>
                        <m:r>
                          <a:rPr lang="en-US" b="1" i="1">
                            <a:latin typeface="Cambria Math" panose="02040503050406030204" pitchFamily="18" charset="0"/>
                            <a:ea typeface="Cascadia Mono" panose="020B0609020000020004"/>
                            <a:cs typeface="Times New Roman" panose="02020603050405020304" pitchFamily="18" charset="0"/>
                          </a:rPr>
                          <m:t>𝑨𝑴</m:t>
                        </m:r>
                      </m:e>
                    </m:acc>
                  </m:oMath>
                </a14:m>
                <a:r>
                  <a:rPr lang="en-US" b="1">
                    <a:latin typeface="Tahoma" panose="020B0604030504040204" pitchFamily="34" charset="0"/>
                    <a:ea typeface="Tahoma" panose="020B0604030504040204" pitchFamily="34" charset="0"/>
                    <a:cs typeface="Tahoma" panose="020B0604030504040204" pitchFamily="34" charset="0"/>
                  </a:rPr>
                  <a:t> vuông góc với  </a:t>
                </a:r>
                <a14:m>
                  <m:oMath xmlns:m="http://schemas.openxmlformats.org/officeDocument/2006/math">
                    <m:acc>
                      <m:accPr>
                        <m:chr m:val="⃗"/>
                        <m:ctrlPr>
                          <a:rPr lang="en-US" b="1" i="1">
                            <a:latin typeface="Cambria Math" panose="02040503050406030204" pitchFamily="18" charset="0"/>
                            <a:ea typeface="Cascadia Mono" panose="020B0609020000020004"/>
                            <a:cs typeface="Times New Roman" panose="02020603050405020304" pitchFamily="18" charset="0"/>
                          </a:rPr>
                        </m:ctrlPr>
                      </m:accPr>
                      <m:e>
                        <m:r>
                          <a:rPr lang="en-US" b="1" i="1">
                            <a:latin typeface="Cambria Math" panose="02040503050406030204" pitchFamily="18" charset="0"/>
                            <a:ea typeface="Cascadia Mono" panose="020B0609020000020004"/>
                            <a:cs typeface="Times New Roman" panose="02020603050405020304" pitchFamily="18" charset="0"/>
                          </a:rPr>
                          <m:t>𝒏</m:t>
                        </m:r>
                      </m:e>
                    </m:acc>
                  </m:oMath>
                </a14:m>
                <a:r>
                  <a:rPr lang="en-US" b="1">
                    <a:latin typeface="Tahoma" panose="020B0604030504040204" pitchFamily="34" charset="0"/>
                    <a:ea typeface="Tahoma" panose="020B0604030504040204" pitchFamily="34" charset="0"/>
                    <a:cs typeface="Tahoma" panose="020B0604030504040204" pitchFamily="34" charset="0"/>
                  </a:rPr>
                  <a:t>  thuộc đường thẳng đi qua điểm </a:t>
                </a:r>
                <a14:m>
                  <m:oMath xmlns:m="http://schemas.openxmlformats.org/officeDocument/2006/math">
                    <m:r>
                      <a:rPr lang="en-US" b="1" i="1">
                        <a:latin typeface="Cambria Math" panose="02040503050406030204" pitchFamily="18" charset="0"/>
                        <a:ea typeface="Cascadia Mono" panose="020B0609020000020004"/>
                        <a:cs typeface="Times New Roman" panose="02020603050405020304" pitchFamily="18" charset="0"/>
                      </a:rPr>
                      <m:t>𝑨</m:t>
                    </m:r>
                  </m:oMath>
                </a14:m>
                <a:r>
                  <a:rPr lang="en-US" b="1">
                    <a:latin typeface="Tahoma" panose="020B0604030504040204" pitchFamily="34" charset="0"/>
                    <a:ea typeface="Tahoma" panose="020B0604030504040204" pitchFamily="34" charset="0"/>
                    <a:cs typeface="Tahoma" panose="020B0604030504040204" pitchFamily="34" charset="0"/>
                  </a:rPr>
                  <a:t> và vuông góc với giá của vectơ </a:t>
                </a:r>
                <a14:m>
                  <m:oMath xmlns:m="http://schemas.openxmlformats.org/officeDocument/2006/math">
                    <m:acc>
                      <m:accPr>
                        <m:chr m:val="⃗"/>
                        <m:ctrlPr>
                          <a:rPr lang="en-US" b="1" i="1">
                            <a:latin typeface="Cambria Math" panose="02040503050406030204" pitchFamily="18" charset="0"/>
                            <a:ea typeface="Cascadia Mono" panose="020B0609020000020004"/>
                            <a:cs typeface="Times New Roman" panose="02020603050405020304" pitchFamily="18" charset="0"/>
                          </a:rPr>
                        </m:ctrlPr>
                      </m:accPr>
                      <m:e>
                        <m:r>
                          <a:rPr lang="en-US" b="1" i="1">
                            <a:latin typeface="Cambria Math" panose="02040503050406030204" pitchFamily="18" charset="0"/>
                            <a:ea typeface="Cascadia Mono" panose="020B0609020000020004"/>
                            <a:cs typeface="Times New Roman" panose="02020603050405020304" pitchFamily="18" charset="0"/>
                          </a:rPr>
                          <m:t>𝒏</m:t>
                        </m:r>
                      </m:e>
                    </m:acc>
                  </m:oMath>
                </a14:m>
                <a:r>
                  <a:rPr lang="en-US" b="1">
                    <a:latin typeface="Tahoma" panose="020B0604030504040204" pitchFamily="34" charset="0"/>
                    <a:ea typeface="Tahoma" panose="020B0604030504040204" pitchFamily="34" charset="0"/>
                    <a:cs typeface="Tahoma" panose="020B0604030504040204" pitchFamily="34" charset="0"/>
                  </a:rPr>
                  <a:t>.    </a:t>
                </a:r>
              </a:p>
              <a:p>
                <a:pPr marL="0" indent="0">
                  <a:lnSpc>
                    <a:spcPct val="107000"/>
                  </a:lnSpc>
                  <a:spcAft>
                    <a:spcPts val="800"/>
                  </a:spcAft>
                  <a:buNone/>
                </a:pPr>
                <a:endParaRPr lang="en-US"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4"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7303861"/>
                <a:ext cx="23164800" cy="6183539"/>
              </a:xfrm>
              <a:prstGeom prst="rect">
                <a:avLst/>
              </a:prstGeom>
              <a:blipFill>
                <a:blip r:embed="rId5"/>
                <a:stretch>
                  <a:fillRect l="-1184" t="-2458" r="-500"/>
                </a:stretch>
              </a:blipFill>
              <a:ln>
                <a:solidFill>
                  <a:srgbClr val="00B0F0"/>
                </a:solidFill>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15126552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9"/>
                                        </p:tgtEl>
                                        <p:attrNameLst>
                                          <p:attrName>style.visibility</p:attrName>
                                        </p:attrNameLst>
                                      </p:cBhvr>
                                      <p:to>
                                        <p:strVal val="visible"/>
                                      </p:to>
                                    </p:set>
                                    <p:animEffect transition="in" filter="fade">
                                      <p:cBhvr>
                                        <p:cTn id="17" dur="500"/>
                                        <p:tgtEl>
                                          <p:spTgt spid="9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59689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7000"/>
              </a:lnSpc>
              <a:spcAft>
                <a:spcPts val="800"/>
              </a:spcAft>
            </a:pPr>
            <a:r>
              <a:rPr lang="en-US" sz="4800" b="1">
                <a:solidFill>
                  <a:srgbClr val="FF0000"/>
                </a:solidFill>
                <a:latin typeface="Tahoma" panose="020B0604030504040204" pitchFamily="34" charset="0"/>
                <a:ea typeface="Tahoma" panose="020B0604030504040204" pitchFamily="34" charset="0"/>
                <a:cs typeface="Tahoma" panose="020B0604030504040204" pitchFamily="34" charset="0"/>
              </a:rPr>
              <a:t>1. PHƯƠNG TRÌNH TỔNG QUÁT CỦA ĐƯỜNG THẲNG</a:t>
            </a:r>
          </a:p>
        </p:txBody>
      </p:sp>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14822BB7-DB89-4357-87F0-6E511FC44A6A}"/>
                  </a:ext>
                </a:extLst>
              </p:cNvPr>
              <p:cNvSpPr txBox="1">
                <a:spLocks/>
              </p:cNvSpPr>
              <p:nvPr/>
            </p:nvSpPr>
            <p:spPr>
              <a:xfrm>
                <a:off x="838200" y="7848599"/>
                <a:ext cx="23164800" cy="5638801"/>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7000"/>
                  </a:lnSpc>
                  <a:spcAft>
                    <a:spcPts val="800"/>
                  </a:spcAft>
                  <a:buNone/>
                </a:pPr>
                <a:r>
                  <a:rPr lang="en-US" b="1">
                    <a:solidFill>
                      <a:srgbClr val="ED7D31"/>
                    </a:solidFill>
                    <a:latin typeface="Tahoma" panose="020B0604030504040204" pitchFamily="34" charset="0"/>
                    <a:ea typeface="Tahoma" panose="020B0604030504040204" pitchFamily="34" charset="0"/>
                    <a:cs typeface="Tahoma" panose="020B0604030504040204" pitchFamily="34" charset="0"/>
                  </a:rPr>
                  <a:t>Nhận xét </a:t>
                </a:r>
                <a:endParaRPr lang="en-US" b="1">
                  <a:latin typeface="Tahoma" panose="020B0604030504040204" pitchFamily="34" charset="0"/>
                  <a:ea typeface="Tahoma" panose="020B0604030504040204" pitchFamily="34" charset="0"/>
                  <a:cs typeface="Tahoma" panose="020B0604030504040204" pitchFamily="34" charset="0"/>
                </a:endParaRPr>
              </a:p>
              <a:p>
                <a:pPr marL="342900" lvl="0" indent="-342900" algn="just">
                  <a:lnSpc>
                    <a:spcPct val="150000"/>
                  </a:lnSpc>
                  <a:spcAft>
                    <a:spcPts val="0"/>
                  </a:spcAft>
                  <a:buFont typeface="Symbol" panose="05050102010706020507" pitchFamily="18" charset="2"/>
                  <a:buChar char=""/>
                </a:pPr>
                <a:r>
                  <a:rPr lang="en-US" b="1">
                    <a:latin typeface="Tahoma" panose="020B0604030504040204" pitchFamily="34" charset="0"/>
                    <a:ea typeface="Tahoma" panose="020B0604030504040204" pitchFamily="34" charset="0"/>
                    <a:cs typeface="Tahoma" panose="020B0604030504040204" pitchFamily="34" charset="0"/>
                  </a:rPr>
                  <a:t>Nếu </a:t>
                </a:r>
                <a14:m>
                  <m:oMath xmlns:m="http://schemas.openxmlformats.org/officeDocument/2006/math">
                    <m:acc>
                      <m:accPr>
                        <m:chr m:val="⃗"/>
                        <m:ctrlPr>
                          <a:rPr lang="en-US" b="1" i="1">
                            <a:latin typeface="Cambria Math" panose="02040503050406030204" pitchFamily="18" charset="0"/>
                            <a:ea typeface="Calibri" panose="020F0502020204030204" pitchFamily="34" charset="0"/>
                          </a:rPr>
                        </m:ctrlPr>
                      </m:accPr>
                      <m:e>
                        <m:r>
                          <a:rPr lang="en-US" b="1" i="1">
                            <a:latin typeface="Cambria Math" panose="02040503050406030204" pitchFamily="18" charset="0"/>
                            <a:ea typeface="Calibri" panose="020F0502020204030204" pitchFamily="34" charset="0"/>
                          </a:rPr>
                          <m:t>𝒏</m:t>
                        </m:r>
                      </m:e>
                    </m:acc>
                  </m:oMath>
                </a14:m>
                <a:r>
                  <a:rPr lang="en-US" b="1">
                    <a:latin typeface="Tahoma" panose="020B0604030504040204" pitchFamily="34" charset="0"/>
                    <a:ea typeface="Tahoma" panose="020B0604030504040204" pitchFamily="34" charset="0"/>
                    <a:cs typeface="Tahoma" panose="020B0604030504040204" pitchFamily="34" charset="0"/>
                  </a:rPr>
                  <a:t> là vectơ pháp tuyến của đường thẳng </a:t>
                </a:r>
                <a14:m>
                  <m:oMath xmlns:m="http://schemas.openxmlformats.org/officeDocument/2006/math">
                    <m:r>
                      <a:rPr lang="en-US" b="1" i="1">
                        <a:latin typeface="Cambria Math" panose="02040503050406030204" pitchFamily="18" charset="0"/>
                        <a:ea typeface="Calibri" panose="020F0502020204030204" pitchFamily="34" charset="0"/>
                      </a:rPr>
                      <m:t>𝜟</m:t>
                    </m:r>
                  </m:oMath>
                </a14:m>
                <a:r>
                  <a:rPr lang="en-US" b="1">
                    <a:latin typeface="Tahoma" panose="020B0604030504040204" pitchFamily="34" charset="0"/>
                    <a:ea typeface="Tahoma" panose="020B0604030504040204" pitchFamily="34" charset="0"/>
                    <a:cs typeface="Tahoma" panose="020B0604030504040204" pitchFamily="34" charset="0"/>
                  </a:rPr>
                  <a:t> thì </a:t>
                </a:r>
                <a14:m>
                  <m:oMath xmlns:m="http://schemas.openxmlformats.org/officeDocument/2006/math">
                    <m:r>
                      <a:rPr lang="en-US" b="1" i="1">
                        <a:latin typeface="Cambria Math" panose="02040503050406030204" pitchFamily="18" charset="0"/>
                        <a:ea typeface="Calibri" panose="020F0502020204030204" pitchFamily="34" charset="0"/>
                      </a:rPr>
                      <m:t>𝒌</m:t>
                    </m:r>
                    <m:acc>
                      <m:accPr>
                        <m:chr m:val="⃗"/>
                        <m:ctrlPr>
                          <a:rPr lang="en-US" b="1" i="1">
                            <a:latin typeface="Cambria Math" panose="02040503050406030204" pitchFamily="18" charset="0"/>
                            <a:ea typeface="Calibri" panose="020F0502020204030204" pitchFamily="34" charset="0"/>
                          </a:rPr>
                        </m:ctrlPr>
                      </m:accPr>
                      <m:e>
                        <m:r>
                          <a:rPr lang="en-US" b="1" i="1">
                            <a:latin typeface="Cambria Math" panose="02040503050406030204" pitchFamily="18" charset="0"/>
                            <a:ea typeface="Calibri" panose="020F0502020204030204" pitchFamily="34" charset="0"/>
                          </a:rPr>
                          <m:t>𝒏</m:t>
                        </m:r>
                      </m:e>
                    </m:acc>
                    <m:r>
                      <a:rPr lang="en-US" b="1" i="1" smtClean="0">
                        <a:latin typeface="Cambria Math" panose="02040503050406030204" pitchFamily="18" charset="0"/>
                        <a:ea typeface="Calibri" panose="020F0502020204030204" pitchFamily="34" charset="0"/>
                      </a:rPr>
                      <m:t> </m:t>
                    </m:r>
                    <m:d>
                      <m:dPr>
                        <m:ctrlPr>
                          <a:rPr lang="en-US" b="1" i="1">
                            <a:latin typeface="Cambria Math" panose="02040503050406030204" pitchFamily="18" charset="0"/>
                            <a:ea typeface="Calibri" panose="020F0502020204030204" pitchFamily="34" charset="0"/>
                          </a:rPr>
                        </m:ctrlPr>
                      </m:dPr>
                      <m:e>
                        <m:r>
                          <a:rPr lang="en-US" b="1" i="1">
                            <a:latin typeface="Cambria Math" panose="02040503050406030204" pitchFamily="18" charset="0"/>
                            <a:ea typeface="Calibri" panose="020F0502020204030204" pitchFamily="34" charset="0"/>
                          </a:rPr>
                          <m:t>𝒌</m:t>
                        </m:r>
                        <m:r>
                          <a:rPr lang="en-US" b="1" i="1">
                            <a:latin typeface="Cambria Math" panose="02040503050406030204" pitchFamily="18" charset="0"/>
                            <a:ea typeface="Calibri" panose="020F0502020204030204" pitchFamily="34" charset="0"/>
                          </a:rPr>
                          <m:t>≠</m:t>
                        </m:r>
                        <m:r>
                          <a:rPr lang="en-US" b="1" i="1">
                            <a:latin typeface="Cambria Math" panose="02040503050406030204" pitchFamily="18" charset="0"/>
                            <a:ea typeface="Calibri" panose="020F0502020204030204" pitchFamily="34" charset="0"/>
                          </a:rPr>
                          <m:t>𝟎</m:t>
                        </m:r>
                      </m:e>
                    </m:d>
                  </m:oMath>
                </a14:m>
                <a:r>
                  <a:rPr lang="en-US" b="1">
                    <a:latin typeface="Tahoma" panose="020B0604030504040204" pitchFamily="34" charset="0"/>
                    <a:ea typeface="Tahoma" panose="020B0604030504040204" pitchFamily="34" charset="0"/>
                    <a:cs typeface="Tahoma" panose="020B0604030504040204" pitchFamily="34" charset="0"/>
                  </a:rPr>
                  <a:t> cũng là vectơ pháp tuyến của </a:t>
                </a:r>
                <a14:m>
                  <m:oMath xmlns:m="http://schemas.openxmlformats.org/officeDocument/2006/math">
                    <m:r>
                      <a:rPr lang="en-US" b="1" i="1">
                        <a:latin typeface="Cambria Math" panose="02040503050406030204" pitchFamily="18" charset="0"/>
                        <a:ea typeface="Calibri" panose="020F0502020204030204" pitchFamily="34" charset="0"/>
                      </a:rPr>
                      <m:t>𝜟</m:t>
                    </m:r>
                  </m:oMath>
                </a14:m>
                <a:endParaRPr lang="en-US" b="1">
                  <a:latin typeface="Tahoma" panose="020B0604030504040204" pitchFamily="34" charset="0"/>
                  <a:ea typeface="Tahoma" panose="020B0604030504040204" pitchFamily="34" charset="0"/>
                  <a:cs typeface="Tahoma" panose="020B0604030504040204" pitchFamily="34" charset="0"/>
                </a:endParaRPr>
              </a:p>
              <a:p>
                <a:pPr marL="342900" lvl="0" indent="-342900" algn="just">
                  <a:lnSpc>
                    <a:spcPct val="150000"/>
                  </a:lnSpc>
                  <a:spcAft>
                    <a:spcPts val="0"/>
                  </a:spcAft>
                  <a:buFont typeface="Symbol" panose="05050102010706020507" pitchFamily="18" charset="2"/>
                  <a:buChar char=""/>
                </a:pPr>
                <a:r>
                  <a:rPr lang="en-US" b="1">
                    <a:latin typeface="Tahoma" panose="020B0604030504040204" pitchFamily="34" charset="0"/>
                    <a:ea typeface="Tahoma" panose="020B0604030504040204" pitchFamily="34" charset="0"/>
                    <a:cs typeface="Tahoma" panose="020B0604030504040204" pitchFamily="34" charset="0"/>
                  </a:rPr>
                  <a:t>Đường thẳng hoàn toàn xác định nếu biết một điểm và một vectơ pháp tuyến của nó.</a:t>
                </a:r>
              </a:p>
              <a:p>
                <a:pPr marL="0" indent="0">
                  <a:lnSpc>
                    <a:spcPct val="107000"/>
                  </a:lnSpc>
                  <a:spcAft>
                    <a:spcPts val="800"/>
                  </a:spcAft>
                  <a:buNone/>
                </a:pPr>
                <a:endParaRPr lang="en-US"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4"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7848599"/>
                <a:ext cx="23164800" cy="5638801"/>
              </a:xfrm>
              <a:prstGeom prst="rect">
                <a:avLst/>
              </a:prstGeom>
              <a:blipFill>
                <a:blip r:embed="rId3"/>
                <a:stretch>
                  <a:fillRect l="-1210" t="-2586" r="-1157" b="-7004"/>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ounded Rectangle 1"/>
              <p:cNvSpPr/>
              <p:nvPr/>
            </p:nvSpPr>
            <p:spPr>
              <a:xfrm>
                <a:off x="868680" y="3200400"/>
                <a:ext cx="16123920" cy="320040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4800" b="1">
                    <a:solidFill>
                      <a:schemeClr val="tx1"/>
                    </a:solidFill>
                    <a:latin typeface="Tahoma" panose="020B0604030504040204" pitchFamily="34" charset="0"/>
                    <a:ea typeface="Tahoma" panose="020B0604030504040204" pitchFamily="34" charset="0"/>
                    <a:cs typeface="Tahoma" panose="020B0604030504040204" pitchFamily="34" charset="0"/>
                  </a:rPr>
                  <a:t>Vectơ </a:t>
                </a:r>
                <a14:m>
                  <m:oMath xmlns:m="http://schemas.openxmlformats.org/officeDocument/2006/math">
                    <m:acc>
                      <m:accPr>
                        <m:chr m:val="⃗"/>
                        <m:ctrlPr>
                          <a:rPr lang="en-US" sz="4800" b="1" i="1">
                            <a:solidFill>
                              <a:schemeClr val="tx1"/>
                            </a:solidFill>
                            <a:effectLst/>
                            <a:latin typeface="Cambria Math" panose="02040503050406030204" pitchFamily="18" charset="0"/>
                            <a:cs typeface="Times New Roman" panose="02020603050405020304" pitchFamily="18" charset="0"/>
                          </a:rPr>
                        </m:ctrlPr>
                      </m:accPr>
                      <m:e>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𝒏</m:t>
                        </m:r>
                      </m:e>
                    </m:acc>
                  </m:oMath>
                </a14:m>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 khác </a:t>
                </a:r>
                <a14:m>
                  <m:oMath xmlns:m="http://schemas.openxmlformats.org/officeDocument/2006/math">
                    <m:acc>
                      <m:accPr>
                        <m:chr m:val="⃗"/>
                        <m:ctrlPr>
                          <a:rPr lang="en-US" sz="4800" b="1" i="1">
                            <a:solidFill>
                              <a:schemeClr val="tx1"/>
                            </a:solidFill>
                            <a:effectLst/>
                            <a:latin typeface="Cambria Math" panose="02040503050406030204" pitchFamily="18" charset="0"/>
                            <a:cs typeface="Times New Roman" panose="02020603050405020304" pitchFamily="18" charset="0"/>
                          </a:rPr>
                        </m:ctrlPr>
                      </m:accPr>
                      <m:e>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𝟎</m:t>
                        </m:r>
                      </m:e>
                    </m:acc>
                  </m:oMath>
                </a14:m>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 được gọi là </a:t>
                </a:r>
                <a:r>
                  <a:rPr lang="en-US" sz="4800" b="1">
                    <a:solidFill>
                      <a:srgbClr val="C00000"/>
                    </a:solidFill>
                    <a:effectLst/>
                    <a:latin typeface="Tahoma" panose="020B0604030504040204" pitchFamily="34" charset="0"/>
                    <a:ea typeface="Tahoma" panose="020B0604030504040204" pitchFamily="34" charset="0"/>
                    <a:cs typeface="Tahoma" panose="020B0604030504040204" pitchFamily="34" charset="0"/>
                  </a:rPr>
                  <a:t>vectơ pháp tuyến </a:t>
                </a: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của đường thẳng </a:t>
                </a:r>
                <a14:m>
                  <m:oMath xmlns:m="http://schemas.openxmlformats.org/officeDocument/2006/math">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𝜟</m:t>
                    </m:r>
                  </m:oMath>
                </a14:m>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 nếu giá của nó vuông góc với  </a:t>
                </a:r>
                <a14:m>
                  <m:oMath xmlns:m="http://schemas.openxmlformats.org/officeDocument/2006/math">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𝜟</m:t>
                    </m:r>
                  </m:oMath>
                </a14:m>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a:t>
                </a:r>
                <a:endParaRPr lang="en-US" sz="4800" b="1">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 name="Rounded Rectangle 1"/>
              <p:cNvSpPr>
                <a:spLocks noRot="1" noChangeAspect="1" noMove="1" noResize="1" noEditPoints="1" noAdjustHandles="1" noChangeArrowheads="1" noChangeShapeType="1" noTextEdit="1"/>
              </p:cNvSpPr>
              <p:nvPr/>
            </p:nvSpPr>
            <p:spPr>
              <a:xfrm>
                <a:off x="868680" y="3200400"/>
                <a:ext cx="16123920" cy="3200400"/>
              </a:xfrm>
              <a:prstGeom prst="roundRect">
                <a:avLst/>
              </a:prstGeom>
              <a:blipFill>
                <a:blip r:embed="rId4"/>
                <a:stretch>
                  <a:fillRect l="-718" r="-718"/>
                </a:stretch>
              </a:blipFill>
            </p:spPr>
            <p:txBody>
              <a:bodyPr/>
              <a:lstStyle/>
              <a:p>
                <a:r>
                  <a:rPr lang="en-US">
                    <a:noFill/>
                  </a:rPr>
                  <a:t> </a:t>
                </a:r>
              </a:p>
            </p:txBody>
          </p:sp>
        </mc:Fallback>
      </mc:AlternateContent>
      <p:pic>
        <p:nvPicPr>
          <p:cNvPr id="26" name="Picture 25"/>
          <p:cNvPicPr/>
          <p:nvPr/>
        </p:nvPicPr>
        <p:blipFill>
          <a:blip r:embed="rId5">
            <a:extLst>
              <a:ext uri="{28A0092B-C50C-407E-A947-70E740481C1C}">
                <a14:useLocalDpi xmlns:a14="http://schemas.microsoft.com/office/drawing/2010/main" val="0"/>
              </a:ext>
            </a:extLst>
          </a:blip>
          <a:stretch>
            <a:fillRect/>
          </a:stretch>
        </p:blipFill>
        <p:spPr>
          <a:xfrm>
            <a:off x="17297400" y="2057400"/>
            <a:ext cx="6477000" cy="5791199"/>
          </a:xfrm>
          <a:prstGeom prst="rect">
            <a:avLst/>
          </a:prstGeom>
        </p:spPr>
      </p:pic>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03451251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4">
                                            <p:txEl>
                                              <p:pRg st="0" end="0"/>
                                            </p:txEl>
                                          </p:spTgt>
                                        </p:tgtEl>
                                        <p:attrNameLst>
                                          <p:attrName>style.visibility</p:attrName>
                                        </p:attrNameLst>
                                      </p:cBhvr>
                                      <p:to>
                                        <p:strVal val="visible"/>
                                      </p:to>
                                    </p:set>
                                    <p:animEffect transition="in" filter="fade">
                                      <p:cBhvr>
                                        <p:cTn id="24" dur="500"/>
                                        <p:tgtEl>
                                          <p:spTgt spid="24">
                                            <p:txEl>
                                              <p:pRg st="0" end="0"/>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24">
                                            <p:txEl>
                                              <p:pRg st="1" end="1"/>
                                            </p:txEl>
                                          </p:spTgt>
                                        </p:tgtEl>
                                        <p:attrNameLst>
                                          <p:attrName>style.visibility</p:attrName>
                                        </p:attrNameLst>
                                      </p:cBhvr>
                                      <p:to>
                                        <p:strVal val="visible"/>
                                      </p:to>
                                    </p:set>
                                    <p:animEffect transition="in" filter="fade">
                                      <p:cBhvr>
                                        <p:cTn id="27" dur="500"/>
                                        <p:tgtEl>
                                          <p:spTgt spid="2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xEl>
                                              <p:pRg st="2" end="2"/>
                                            </p:txEl>
                                          </p:spTgt>
                                        </p:tgtEl>
                                        <p:attrNameLst>
                                          <p:attrName>style.visibility</p:attrName>
                                        </p:attrNameLst>
                                      </p:cBhvr>
                                      <p:to>
                                        <p:strVal val="visible"/>
                                      </p:to>
                                    </p:set>
                                    <p:animEffect transition="in" filter="fade">
                                      <p:cBhvr>
                                        <p:cTn id="32" dur="500"/>
                                        <p:tgtEl>
                                          <p:spTgt spid="2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24" grpId="0" animBg="1"/>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11684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7000"/>
              </a:lnSpc>
              <a:spcAft>
                <a:spcPts val="800"/>
              </a:spcAft>
            </a:pPr>
            <a:r>
              <a:rPr lang="en-US" sz="4800" b="1">
                <a:solidFill>
                  <a:srgbClr val="FF0000"/>
                </a:solidFill>
                <a:latin typeface="Tahoma" panose="020B0604030504040204" pitchFamily="34" charset="0"/>
                <a:ea typeface="Tahoma" panose="020B0604030504040204" pitchFamily="34" charset="0"/>
                <a:cs typeface="Tahoma" panose="020B0604030504040204" pitchFamily="34" charset="0"/>
              </a:rPr>
              <a:t>1. PHƯƠNG TRÌNH TỔNG QUÁT CỦA ĐƯỜNG THẲNG</a:t>
            </a:r>
          </a:p>
        </p:txBody>
      </p:sp>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14822BB7-DB89-4357-87F0-6E511FC44A6A}"/>
                  </a:ext>
                </a:extLst>
              </p:cNvPr>
              <p:cNvSpPr txBox="1">
                <a:spLocks/>
              </p:cNvSpPr>
              <p:nvPr/>
            </p:nvSpPr>
            <p:spPr>
              <a:xfrm>
                <a:off x="838200" y="3048001"/>
                <a:ext cx="11582400" cy="103631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just">
                  <a:lnSpc>
                    <a:spcPct val="150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Trong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mặt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phẳng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tọa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độ</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cho</a:t>
                </a:r>
                <a:r>
                  <a:rPr lang="en-US" b="1" dirty="0">
                    <a:latin typeface="Tahoma" panose="020B0604030504040204" pitchFamily="34" charset="0"/>
                    <a:ea typeface="Tahoma" panose="020B0604030504040204" pitchFamily="34" charset="0"/>
                    <a:cs typeface="Tahoma" panose="020B0604030504040204" pitchFamily="34" charset="0"/>
                  </a:rPr>
                  <a:t> tam </a:t>
                </a:r>
                <a:r>
                  <a:rPr lang="en-US" b="1" dirty="0" err="1">
                    <a:latin typeface="Tahoma" panose="020B0604030504040204" pitchFamily="34" charset="0"/>
                    <a:ea typeface="Tahoma" panose="020B0604030504040204" pitchFamily="34" charset="0"/>
                    <a:cs typeface="Tahoma" panose="020B0604030504040204" pitchFamily="34" charset="0"/>
                  </a:rPr>
                  <a:t>giác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đỉnh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0" smtClean="0">
                        <a:latin typeface="Cambria Math" panose="02040503050406030204" pitchFamily="18" charset="0"/>
                        <a:ea typeface="Calibri" panose="020F0502020204030204" pitchFamily="34" charset="0"/>
                        <a:cs typeface="Times New Roman" panose="02020603050405020304" pitchFamily="18" charset="0"/>
                      </a:rPr>
                      <m:t>   </m:t>
                    </m:r>
                    <m:r>
                      <a:rPr lang="en-US" b="1" i="1">
                        <a:latin typeface="Cambria Math" panose="02040503050406030204" pitchFamily="18" charset="0"/>
                        <a:ea typeface="Calibri" panose="020F0502020204030204" pitchFamily="34" charset="0"/>
                        <a:cs typeface="Times New Roman" panose="02020603050405020304" pitchFamily="18" charset="0"/>
                      </a:rPr>
                      <m:t>𝑨</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a:latin typeface="Cambria Math" panose="02040503050406030204" pitchFamily="18" charset="0"/>
                            <a:ea typeface="Calibri" panose="020F0502020204030204" pitchFamily="34" charset="0"/>
                            <a:cs typeface="Times New Roman" panose="02020603050405020304" pitchFamily="18" charset="0"/>
                          </a:rPr>
                          <m:t>𝟑</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𝟏</m:t>
                        </m:r>
                      </m:e>
                    </m:d>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𝑩</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a:latin typeface="Cambria Math" panose="02040503050406030204" pitchFamily="18" charset="0"/>
                            <a:ea typeface="Calibri" panose="020F0502020204030204" pitchFamily="34" charset="0"/>
                            <a:cs typeface="Times New Roman" panose="02020603050405020304" pitchFamily="18" charset="0"/>
                          </a:rPr>
                          <m:t>𝟒</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𝟎</m:t>
                        </m:r>
                      </m:e>
                    </m:d>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𝑪</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a:latin typeface="Cambria Math" panose="02040503050406030204" pitchFamily="18" charset="0"/>
                            <a:ea typeface="Calibri" panose="020F0502020204030204" pitchFamily="34" charset="0"/>
                            <a:cs typeface="Times New Roman" panose="02020603050405020304" pitchFamily="18" charset="0"/>
                          </a:rPr>
                          <m:t>𝟓</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𝟑</m:t>
                        </m:r>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Hãy</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ra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một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pháp</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tuyến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trung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trực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đoạn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scadia Mono"/>
                        <a:cs typeface="Times New Roman" panose="02020603050405020304" pitchFamily="18" charset="0"/>
                      </a:rPr>
                      <m:t>𝑨𝑩</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một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pháp</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tuyến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cao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kẻ</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từ</a:t>
                </a:r>
                <a:r>
                  <a:rPr lang="en-US" b="1" dirty="0">
                    <a:latin typeface="Tahoma" panose="020B0604030504040204" pitchFamily="34" charset="0"/>
                    <a:ea typeface="Tahoma" panose="020B0604030504040204" pitchFamily="34" charset="0"/>
                    <a:cs typeface="Tahoma" panose="020B0604030504040204" pitchFamily="34" charset="0"/>
                  </a:rPr>
                  <a:t> A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tam </a:t>
                </a:r>
                <a:r>
                  <a:rPr lang="en-US" b="1" dirty="0" err="1">
                    <a:latin typeface="Tahoma" panose="020B0604030504040204" pitchFamily="34" charset="0"/>
                    <a:ea typeface="Tahoma" panose="020B0604030504040204" pitchFamily="34" charset="0"/>
                    <a:cs typeface="Tahoma" panose="020B0604030504040204" pitchFamily="34" charset="0"/>
                  </a:rPr>
                  <a:t>giác</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scadia Mono"/>
                        <a:cs typeface="Times New Roman" panose="02020603050405020304" pitchFamily="18" charset="0"/>
                      </a:rPr>
                      <m:t>𝑨𝑩𝑪</m:t>
                    </m:r>
                  </m:oMath>
                </a14:m>
                <a:r>
                  <a:rPr lang="en-US"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24"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3048001"/>
                <a:ext cx="11582400" cy="10363199"/>
              </a:xfrm>
              <a:prstGeom prst="rect">
                <a:avLst/>
              </a:prstGeom>
              <a:blipFill>
                <a:blip r:embed="rId3"/>
                <a:stretch>
                  <a:fillRect l="-2366" r="-2313"/>
                </a:stretch>
              </a:blipFill>
              <a:ln>
                <a:solidFill>
                  <a:srgbClr val="00B0F0"/>
                </a:solidFill>
              </a:ln>
            </p:spPr>
            <p:txBody>
              <a:bodyPr/>
              <a:lstStyle/>
              <a:p>
                <a:r>
                  <a:rPr lang="en-US">
                    <a:noFill/>
                  </a:rPr>
                  <a:t> </a:t>
                </a:r>
              </a:p>
            </p:txBody>
          </p:sp>
        </mc:Fallback>
      </mc:AlternateContent>
      <p:grpSp>
        <p:nvGrpSpPr>
          <p:cNvPr id="6" name="Group 5"/>
          <p:cNvGrpSpPr/>
          <p:nvPr/>
        </p:nvGrpSpPr>
        <p:grpSpPr>
          <a:xfrm>
            <a:off x="838200" y="3193644"/>
            <a:ext cx="3657600" cy="846967"/>
            <a:chOff x="27395" y="60714"/>
            <a:chExt cx="1260580" cy="157054"/>
          </a:xfrm>
        </p:grpSpPr>
        <p:grpSp>
          <p:nvGrpSpPr>
            <p:cNvPr id="7" name="Group 6"/>
            <p:cNvGrpSpPr/>
            <p:nvPr/>
          </p:nvGrpSpPr>
          <p:grpSpPr>
            <a:xfrm>
              <a:off x="27395" y="60714"/>
              <a:ext cx="1260580" cy="157054"/>
              <a:chOff x="38544" y="62041"/>
              <a:chExt cx="1773659" cy="194361"/>
            </a:xfrm>
          </p:grpSpPr>
          <p:sp>
            <p:nvSpPr>
              <p:cNvPr id="9" name="Arrow: Pentagon 25"/>
              <p:cNvSpPr/>
              <p:nvPr/>
            </p:nvSpPr>
            <p:spPr>
              <a:xfrm>
                <a:off x="204585" y="62041"/>
                <a:ext cx="1607618" cy="194296"/>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6000"/>
                  </a:lnSpc>
                  <a:spcAft>
                    <a:spcPts val="800"/>
                  </a:spcAft>
                </a:pPr>
                <a:r>
                  <a:rPr lang="en-US" sz="1000" b="1" kern="1200">
                    <a:solidFill>
                      <a:srgbClr val="0000CC"/>
                    </a:solidFill>
                    <a:effectLst/>
                    <a:ea typeface="Calibri" panose="020F0502020204030204" pitchFamily="34" charset="0"/>
                    <a:cs typeface="Times New Roman" panose="02020603050405020304" pitchFamily="18" charset="0"/>
                  </a:rPr>
                  <a:t> </a:t>
                </a:r>
                <a:endParaRPr lang="en-US" sz="1200" b="1">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Arrow: Chevron 26"/>
              <p:cNvSpPr/>
              <p:nvPr/>
            </p:nvSpPr>
            <p:spPr>
              <a:xfrm>
                <a:off x="38544" y="62041"/>
                <a:ext cx="155658" cy="194361"/>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sp>
            <p:nvSpPr>
              <p:cNvPr id="11" name="Arrow: Chevron 27"/>
              <p:cNvSpPr/>
              <p:nvPr/>
            </p:nvSpPr>
            <p:spPr>
              <a:xfrm>
                <a:off x="115330" y="62041"/>
                <a:ext cx="177710" cy="194296"/>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grpSp>
        <p:sp>
          <p:nvSpPr>
            <p:cNvPr id="8" name="TextBox 56"/>
            <p:cNvSpPr txBox="1"/>
            <p:nvPr/>
          </p:nvSpPr>
          <p:spPr>
            <a:xfrm>
              <a:off x="250984" y="68068"/>
              <a:ext cx="884516" cy="139535"/>
            </a:xfrm>
            <a:prstGeom prst="rect">
              <a:avLst/>
            </a:prstGeom>
            <a:noFill/>
          </p:spPr>
          <p:txBody>
            <a:bodyPr wrap="square">
              <a:noAutofit/>
            </a:bodyPr>
            <a:lstStyle/>
            <a:p>
              <a:pPr>
                <a:lnSpc>
                  <a:spcPct val="107000"/>
                </a:lnSpc>
                <a:spcAft>
                  <a:spcPts val="800"/>
                </a:spcAft>
              </a:pPr>
              <a:r>
                <a:rPr lang="en-US" sz="4800" b="1" kern="1200">
                  <a:solidFill>
                    <a:srgbClr val="0000CC"/>
                  </a:solidFill>
                  <a:effectLst/>
                  <a:latin typeface="Tomaho"/>
                  <a:ea typeface="Calibri" panose="020F0502020204030204" pitchFamily="34" charset="0"/>
                  <a:cs typeface="Times New Roman" panose="02020603050405020304" pitchFamily="18" charset="0"/>
                </a:rPr>
                <a:t>Ví dụ 1.</a:t>
              </a:r>
              <a:endParaRPr lang="en-US" sz="4800" b="1">
                <a:effectLst/>
                <a:latin typeface="Tomaho"/>
                <a:ea typeface="Calibri" panose="020F0502020204030204" pitchFamily="34"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14822BB7-DB89-4357-87F0-6E511FC44A6A}"/>
                  </a:ext>
                </a:extLst>
              </p:cNvPr>
              <p:cNvSpPr txBox="1">
                <a:spLocks/>
              </p:cNvSpPr>
              <p:nvPr/>
            </p:nvSpPr>
            <p:spPr>
              <a:xfrm>
                <a:off x="12559152" y="3063241"/>
                <a:ext cx="11443847" cy="1034795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7000"/>
                  </a:lnSpc>
                  <a:spcAft>
                    <a:spcPts val="800"/>
                  </a:spcAft>
                  <a:buNone/>
                </a:pPr>
                <a:r>
                  <a:rPr lang="en-US" b="1">
                    <a:latin typeface="Tahoma" panose="020B0604030504040204" pitchFamily="34" charset="0"/>
                    <a:ea typeface="Tahoma" panose="020B0604030504040204" pitchFamily="34" charset="0"/>
                    <a:cs typeface="Tahoma" panose="020B0604030504040204" pitchFamily="34" charset="0"/>
                  </a:rPr>
                  <a:t>Giải:</a:t>
                </a:r>
              </a:p>
              <a:p>
                <a:pPr marL="0" indent="0" algn="just">
                  <a:lnSpc>
                    <a:spcPct val="150000"/>
                  </a:lnSpc>
                  <a:spcAft>
                    <a:spcPts val="800"/>
                  </a:spcAft>
                  <a:buNone/>
                </a:pPr>
                <a:r>
                  <a:rPr lang="en-US" b="1">
                    <a:latin typeface="Tahoma" panose="020B0604030504040204" pitchFamily="34" charset="0"/>
                    <a:ea typeface="Tahoma" panose="020B0604030504040204" pitchFamily="34" charset="0"/>
                    <a:cs typeface="Tahoma" panose="020B0604030504040204" pitchFamily="34" charset="0"/>
                  </a:rPr>
                  <a:t>Đường trung trực của đoạn thẳng </a:t>
                </a:r>
                <a14:m>
                  <m:oMath xmlns:m="http://schemas.openxmlformats.org/officeDocument/2006/math">
                    <m:r>
                      <a:rPr lang="en-US" b="1" i="1">
                        <a:latin typeface="Cambria Math" panose="02040503050406030204" pitchFamily="18" charset="0"/>
                        <a:ea typeface="Cascadia Mono"/>
                        <a:cs typeface="Times New Roman" panose="02020603050405020304" pitchFamily="18" charset="0"/>
                      </a:rPr>
                      <m:t>𝑨𝑩</m:t>
                    </m:r>
                  </m:oMath>
                </a14:m>
                <a:r>
                  <a:rPr lang="en-US" b="1">
                    <a:latin typeface="Tahoma" panose="020B0604030504040204" pitchFamily="34" charset="0"/>
                    <a:ea typeface="Tahoma" panose="020B0604030504040204" pitchFamily="34" charset="0"/>
                    <a:cs typeface="Tahoma" panose="020B0604030504040204" pitchFamily="34" charset="0"/>
                  </a:rPr>
                  <a:t> vuông góc với </a:t>
                </a:r>
                <a14:m>
                  <m:oMath xmlns:m="http://schemas.openxmlformats.org/officeDocument/2006/math">
                    <m:r>
                      <a:rPr lang="en-US" b="1" i="1">
                        <a:latin typeface="Cambria Math" panose="02040503050406030204" pitchFamily="18" charset="0"/>
                        <a:ea typeface="Cascadia Mono"/>
                        <a:cs typeface="Times New Roman" panose="02020603050405020304" pitchFamily="18" charset="0"/>
                      </a:rPr>
                      <m:t>𝑨𝑩</m:t>
                    </m:r>
                  </m:oMath>
                </a14:m>
                <a:r>
                  <a:rPr lang="en-US" b="1">
                    <a:latin typeface="Tahoma" panose="020B0604030504040204" pitchFamily="34" charset="0"/>
                    <a:ea typeface="Tahoma" panose="020B0604030504040204" pitchFamily="34" charset="0"/>
                    <a:cs typeface="Tahoma" panose="020B0604030504040204" pitchFamily="34" charset="0"/>
                  </a:rPr>
                  <a:t> nên có một vectơ pháp tuyến là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a:latin typeface="Cambria Math" panose="02040503050406030204" pitchFamily="18" charset="0"/>
                            <a:ea typeface="Calibri" panose="020F0502020204030204" pitchFamily="34" charset="0"/>
                            <a:cs typeface="Times New Roman" panose="02020603050405020304" pitchFamily="18" charset="0"/>
                          </a:rPr>
                          <m:t>𝑨𝑩</m:t>
                        </m:r>
                      </m:e>
                    </m:acc>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a:latin typeface="Cambria Math" panose="02040503050406030204" pitchFamily="18" charset="0"/>
                            <a:ea typeface="Calibri" panose="020F0502020204030204" pitchFamily="34" charset="0"/>
                            <a:cs typeface="Times New Roman" panose="02020603050405020304" pitchFamily="18" charset="0"/>
                          </a:rPr>
                          <m:t>𝟏</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𝟏</m:t>
                        </m:r>
                      </m:e>
                    </m:d>
                  </m:oMath>
                </a14:m>
                <a:endParaRPr lang="en-US" b="1">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Aft>
                    <a:spcPts val="800"/>
                  </a:spcAft>
                  <a:buNone/>
                </a:pPr>
                <a:r>
                  <a:rPr lang="en-US" b="1">
                    <a:latin typeface="Tahoma" panose="020B0604030504040204" pitchFamily="34" charset="0"/>
                    <a:ea typeface="Tahoma" panose="020B0604030504040204" pitchFamily="34" charset="0"/>
                    <a:cs typeface="Tahoma" panose="020B0604030504040204" pitchFamily="34" charset="0"/>
                  </a:rPr>
                  <a:t>Đường cao kẻ từ </a:t>
                </a:r>
                <a14:m>
                  <m:oMath xmlns:m="http://schemas.openxmlformats.org/officeDocument/2006/math">
                    <m:r>
                      <a:rPr lang="en-US" b="1" i="1">
                        <a:latin typeface="Cambria Math" panose="02040503050406030204" pitchFamily="18" charset="0"/>
                        <a:ea typeface="Cascadia Mono"/>
                        <a:cs typeface="Times New Roman" panose="02020603050405020304" pitchFamily="18" charset="0"/>
                      </a:rPr>
                      <m:t>𝑨</m:t>
                    </m:r>
                  </m:oMath>
                </a14:m>
                <a:r>
                  <a:rPr lang="en-US" b="1">
                    <a:latin typeface="Tahoma" panose="020B0604030504040204" pitchFamily="34" charset="0"/>
                    <a:ea typeface="Tahoma" panose="020B0604030504040204" pitchFamily="34" charset="0"/>
                    <a:cs typeface="Tahoma" panose="020B0604030504040204" pitchFamily="34" charset="0"/>
                  </a:rPr>
                  <a:t> của tam giác </a:t>
                </a:r>
                <a14:m>
                  <m:oMath xmlns:m="http://schemas.openxmlformats.org/officeDocument/2006/math">
                    <m:r>
                      <a:rPr lang="en-US" b="1" i="1">
                        <a:latin typeface="Cambria Math" panose="02040503050406030204" pitchFamily="18" charset="0"/>
                        <a:ea typeface="Cascadia Mono"/>
                        <a:cs typeface="Times New Roman" panose="02020603050405020304" pitchFamily="18" charset="0"/>
                      </a:rPr>
                      <m:t>𝑨𝑩𝑪</m:t>
                    </m:r>
                  </m:oMath>
                </a14:m>
                <a:r>
                  <a:rPr lang="en-US" b="1">
                    <a:latin typeface="Tahoma" panose="020B0604030504040204" pitchFamily="34" charset="0"/>
                    <a:ea typeface="Tahoma" panose="020B0604030504040204" pitchFamily="34" charset="0"/>
                    <a:cs typeface="Tahoma" panose="020B0604030504040204" pitchFamily="34" charset="0"/>
                  </a:rPr>
                  <a:t> vuông góc với </a:t>
                </a:r>
                <a14:m>
                  <m:oMath xmlns:m="http://schemas.openxmlformats.org/officeDocument/2006/math">
                    <m:r>
                      <a:rPr lang="en-US" b="1" i="1">
                        <a:latin typeface="Cambria Math" panose="02040503050406030204" pitchFamily="18" charset="0"/>
                        <a:ea typeface="Cascadia Mono"/>
                        <a:cs typeface="Times New Roman" panose="02020603050405020304" pitchFamily="18" charset="0"/>
                      </a:rPr>
                      <m:t>𝑩𝑪</m:t>
                    </m:r>
                  </m:oMath>
                </a14:m>
                <a:r>
                  <a:rPr lang="en-US" b="1">
                    <a:latin typeface="Tahoma" panose="020B0604030504040204" pitchFamily="34" charset="0"/>
                    <a:ea typeface="Tahoma" panose="020B0604030504040204" pitchFamily="34" charset="0"/>
                    <a:cs typeface="Tahoma" panose="020B0604030504040204" pitchFamily="34" charset="0"/>
                  </a:rPr>
                  <a:t> nên có một vectơ pháp tuyến là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a:latin typeface="Cambria Math" panose="02040503050406030204" pitchFamily="18" charset="0"/>
                            <a:ea typeface="Calibri" panose="020F0502020204030204" pitchFamily="34" charset="0"/>
                            <a:cs typeface="Times New Roman" panose="02020603050405020304" pitchFamily="18" charset="0"/>
                          </a:rPr>
                          <m:t>𝑩𝑪</m:t>
                        </m:r>
                      </m:e>
                    </m:acc>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a:latin typeface="Cambria Math" panose="02040503050406030204" pitchFamily="18" charset="0"/>
                            <a:ea typeface="Calibri" panose="020F0502020204030204" pitchFamily="34" charset="0"/>
                            <a:cs typeface="Times New Roman" panose="02020603050405020304" pitchFamily="18" charset="0"/>
                          </a:rPr>
                          <m:t>𝟏</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𝟑</m:t>
                        </m:r>
                      </m:e>
                    </m:d>
                  </m:oMath>
                </a14:m>
                <a:endParaRPr lang="en-US"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2"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12559152" y="3063241"/>
                <a:ext cx="11443847" cy="10347959"/>
              </a:xfrm>
              <a:prstGeom prst="rect">
                <a:avLst/>
              </a:prstGeom>
              <a:blipFill>
                <a:blip r:embed="rId4"/>
                <a:stretch>
                  <a:fillRect l="-2342" t="-1471" r="-2395"/>
                </a:stretch>
              </a:blipFill>
              <a:ln>
                <a:solidFill>
                  <a:srgbClr val="00B0F0"/>
                </a:solidFill>
              </a:ln>
            </p:spPr>
            <p:txBody>
              <a:bodyPr/>
              <a:lstStyle/>
              <a:p>
                <a:r>
                  <a:rPr lang="en-US">
                    <a:noFill/>
                  </a:rPr>
                  <a:t> </a:t>
                </a:r>
              </a:p>
            </p:txBody>
          </p:sp>
        </mc:Fallback>
      </mc:AlternateContent>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61924631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4">
                                            <p:txEl>
                                              <p:pRg st="0" end="0"/>
                                            </p:txEl>
                                          </p:spTgt>
                                        </p:tgtEl>
                                        <p:attrNameLst>
                                          <p:attrName>style.visibility</p:attrName>
                                        </p:attrNameLst>
                                      </p:cBhvr>
                                      <p:to>
                                        <p:strVal val="visible"/>
                                      </p:to>
                                    </p:set>
                                    <p:animEffect transition="in" filter="fade">
                                      <p:cBhvr>
                                        <p:cTn id="26" dur="500"/>
                                        <p:tgtEl>
                                          <p:spTgt spid="24">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animEffect transition="in" filter="fade">
                                      <p:cBhvr>
                                        <p:cTn id="31" dur="500"/>
                                        <p:tgtEl>
                                          <p:spTgt spid="12">
                                            <p:txEl>
                                              <p:pRg st="0" end="0"/>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2">
                                            <p:txEl>
                                              <p:pRg st="1" end="1"/>
                                            </p:txEl>
                                          </p:spTgt>
                                        </p:tgtEl>
                                        <p:attrNameLst>
                                          <p:attrName>style.visibility</p:attrName>
                                        </p:attrNameLst>
                                      </p:cBhvr>
                                      <p:to>
                                        <p:strVal val="visible"/>
                                      </p:to>
                                    </p:set>
                                    <p:animEffect transition="in" filter="fade">
                                      <p:cBhvr>
                                        <p:cTn id="34" dur="500"/>
                                        <p:tgtEl>
                                          <p:spTgt spid="12">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2">
                                            <p:txEl>
                                              <p:pRg st="2" end="2"/>
                                            </p:txEl>
                                          </p:spTgt>
                                        </p:tgtEl>
                                        <p:attrNameLst>
                                          <p:attrName>style.visibility</p:attrName>
                                        </p:attrNameLst>
                                      </p:cBhvr>
                                      <p:to>
                                        <p:strVal val="visible"/>
                                      </p:to>
                                    </p:set>
                                    <p:animEffect transition="in" filter="fade">
                                      <p:cBhvr>
                                        <p:cTn id="39"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24"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04800" y="1833881"/>
            <a:ext cx="23774400" cy="11684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7000"/>
              </a:lnSpc>
              <a:spcAft>
                <a:spcPts val="800"/>
              </a:spcAft>
            </a:pPr>
            <a:r>
              <a:rPr lang="en-US" sz="4800" b="1">
                <a:solidFill>
                  <a:srgbClr val="FF0000"/>
                </a:solidFill>
                <a:latin typeface="Tahoma" panose="020B0604030504040204" pitchFamily="34" charset="0"/>
                <a:ea typeface="Tahoma" panose="020B0604030504040204" pitchFamily="34" charset="0"/>
                <a:cs typeface="Tahoma" panose="020B0604030504040204" pitchFamily="34" charset="0"/>
              </a:rPr>
              <a:t>1. PHƯƠNG TRÌNH TỔNG QUÁT CỦA ĐƯỜNG THẲNG</a:t>
            </a:r>
          </a:p>
        </p:txBody>
      </p:sp>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14822BB7-DB89-4357-87F0-6E511FC44A6A}"/>
                  </a:ext>
                </a:extLst>
              </p:cNvPr>
              <p:cNvSpPr txBox="1">
                <a:spLocks/>
              </p:cNvSpPr>
              <p:nvPr/>
            </p:nvSpPr>
            <p:spPr>
              <a:xfrm>
                <a:off x="304800" y="3002281"/>
                <a:ext cx="23774400" cy="103631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Trong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mặt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phẳng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tọa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độ</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𝜟</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đi</a:t>
                </a:r>
                <a:r>
                  <a:rPr lang="en-US" b="1" dirty="0">
                    <a:latin typeface="Tahoma" panose="020B0604030504040204" pitchFamily="34" charset="0"/>
                    <a:ea typeface="Tahoma" panose="020B0604030504040204" pitchFamily="34" charset="0"/>
                    <a:cs typeface="Tahoma" panose="020B0604030504040204" pitchFamily="34" charset="0"/>
                  </a:rPr>
                  <a:t> qua </a:t>
                </a:r>
                <a:r>
                  <a:rPr lang="en-US" b="1" dirty="0" err="1">
                    <a:latin typeface="Tahoma" panose="020B0604030504040204" pitchFamily="34" charset="0"/>
                    <a:ea typeface="Tahoma" panose="020B0604030504040204" pitchFamily="34" charset="0"/>
                    <a:cs typeface="Tahoma" panose="020B0604030504040204" pitchFamily="34" charset="0"/>
                  </a:rPr>
                  <a:t>điểm</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𝑨</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𝒐</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𝒐</m:t>
                            </m:r>
                          </m:sub>
                        </m:sSub>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pháp</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tuyến</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𝒏</m:t>
                        </m:r>
                      </m:e>
                    </m:acc>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𝒂</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𝒃</m:t>
                        </m:r>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Chứng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minh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rằng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điểm</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𝑴</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d>
                  </m:oMath>
                </a14:m>
                <a:r>
                  <a:rPr lang="en-US" b="1" dirty="0" err="1">
                    <a:latin typeface="Tahoma" panose="020B0604030504040204" pitchFamily="34" charset="0"/>
                    <a:ea typeface="Tahoma" panose="020B0604030504040204" pitchFamily="34" charset="0"/>
                    <a:cs typeface="Tahoma" panose="020B0604030504040204" pitchFamily="34" charset="0"/>
                  </a:rPr>
                  <a:t>thuộc</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𝜟</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khi</a:t>
                </a:r>
                <a:r>
                  <a:rPr lang="en-US" b="1" dirty="0">
                    <a:latin typeface="Tahoma" panose="020B0604030504040204" pitchFamily="34" charset="0"/>
                    <a:ea typeface="Tahoma" panose="020B0604030504040204" pitchFamily="34" charset="0"/>
                    <a:cs typeface="Tahoma" panose="020B0604030504040204" pitchFamily="34" charset="0"/>
                  </a:rPr>
                  <a:t> </a:t>
                </a:r>
              </a:p>
              <a:p>
                <a:pPr marL="0" indent="0" algn="ctr">
                  <a:lnSpc>
                    <a:spcPct val="100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𝒂</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𝒐</m:t>
                            </m:r>
                          </m:sub>
                        </m:sSub>
                      </m:e>
                    </m:d>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𝒃</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𝟎</m:t>
                            </m:r>
                          </m:sub>
                        </m:sSub>
                      </m:e>
                    </m:d>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𝟎</m:t>
                    </m:r>
                  </m:oMath>
                </a14:m>
                <a:r>
                  <a:rPr lang="en-US" b="1" dirty="0">
                    <a:latin typeface="Tahoma" panose="020B0604030504040204" pitchFamily="34" charset="0"/>
                    <a:ea typeface="Tahoma" panose="020B0604030504040204" pitchFamily="34" charset="0"/>
                    <a:cs typeface="Tahoma" panose="020B0604030504040204" pitchFamily="34" charset="0"/>
                  </a:rPr>
                  <a:t>     (1)</a:t>
                </a:r>
              </a:p>
              <a:p>
                <a:pPr marL="0" indent="0">
                  <a:lnSpc>
                    <a:spcPct val="107000"/>
                  </a:lnSpc>
                  <a:spcAft>
                    <a:spcPts val="800"/>
                  </a:spcAft>
                  <a:buNone/>
                </a:pPr>
                <a:r>
                  <a:rPr lang="en-US" b="1" u="sng"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endParaRPr lang="en-US" b="1" u="sng"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nSpc>
                    <a:spcPct val="107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Ta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𝑨𝑴</m:t>
                        </m:r>
                      </m:e>
                    </m:acc>
                    <m:r>
                      <a:rPr lang="en-US" b="1" i="1" smtClean="0">
                        <a:latin typeface="Cambria Math" panose="02040503050406030204" pitchFamily="18" charset="0"/>
                        <a:ea typeface="Calibri" panose="020F0502020204030204" pitchFamily="34" charset="0"/>
                        <a:cs typeface="Times New Roman" panose="02020603050405020304" pitchFamily="18" charset="0"/>
                      </a:rPr>
                      <m:t>=</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𝒐</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𝒚</m:t>
                        </m:r>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𝒐</m:t>
                            </m:r>
                          </m:sub>
                        </m:sSub>
                      </m:e>
                    </m:d>
                  </m:oMath>
                </a14:m>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lnSpc>
                    <a:spcPct val="107000"/>
                  </a:lnSpc>
                  <a:spcAft>
                    <a:spcPts val="800"/>
                  </a:spcAft>
                  <a:buNone/>
                </a:pPr>
                <a:r>
                  <a:rPr lang="en-US" b="1" dirty="0" err="1">
                    <a:latin typeface="Tahoma" panose="020B0604030504040204" pitchFamily="34" charset="0"/>
                    <a:ea typeface="Tahoma" panose="020B0604030504040204" pitchFamily="34" charset="0"/>
                    <a:cs typeface="Tahoma" panose="020B0604030504040204" pitchFamily="34" charset="0"/>
                  </a:rPr>
                  <a:t>Từ</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vẽ</a:t>
                </a:r>
                <a:r>
                  <a:rPr lang="en-US" b="1" dirty="0">
                    <a:latin typeface="Tahoma" panose="020B0604030504040204" pitchFamily="34" charset="0"/>
                    <a:ea typeface="Tahoma" panose="020B0604030504040204" pitchFamily="34" charset="0"/>
                    <a:cs typeface="Tahoma" panose="020B0604030504040204" pitchFamily="34" charset="0"/>
                  </a:rPr>
                  <a:t> ta </a:t>
                </a:r>
                <a:r>
                  <a:rPr lang="en-US" b="1" dirty="0" err="1">
                    <a:latin typeface="Tahoma" panose="020B0604030504040204" pitchFamily="34" charset="0"/>
                    <a:ea typeface="Tahoma" panose="020B0604030504040204" pitchFamily="34" charset="0"/>
                    <a:cs typeface="Tahoma" panose="020B0604030504040204" pitchFamily="34" charset="0"/>
                  </a:rPr>
                  <a:t>thấy</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rằng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điểm</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𝑴</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thuộc</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𝜟</m:t>
                    </m:r>
                  </m:oMath>
                </a14:m>
                <a:r>
                  <a:rPr lang="en-US" b="1" dirty="0">
                    <a:latin typeface="Tahoma" panose="020B0604030504040204" pitchFamily="34" charset="0"/>
                    <a:ea typeface="Tahoma" panose="020B0604030504040204" pitchFamily="34" charset="0"/>
                    <a:cs typeface="Tahoma" panose="020B0604030504040204" pitchFamily="34" charset="0"/>
                  </a:rPr>
                  <a:t> </a:t>
                </a:r>
              </a:p>
              <a:p>
                <a:pPr marL="0" indent="0">
                  <a:lnSpc>
                    <a:spcPct val="107000"/>
                  </a:lnSpc>
                  <a:spcAft>
                    <a:spcPts val="800"/>
                  </a:spcAft>
                  <a:buNone/>
                </a:pPr>
                <a:r>
                  <a:rPr lang="en-US" b="1" dirty="0" err="1">
                    <a:latin typeface="Tahoma" panose="020B0604030504040204" pitchFamily="34" charset="0"/>
                    <a:ea typeface="Tahoma" panose="020B0604030504040204" pitchFamily="34" charset="0"/>
                    <a:cs typeface="Tahoma" panose="020B0604030504040204" pitchFamily="34" charset="0"/>
                  </a:rPr>
                  <a:t>khi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𝑨𝑴</m:t>
                        </m:r>
                      </m:e>
                    </m:acc>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vuông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góc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với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𝒏</m:t>
                        </m:r>
                      </m:e>
                    </m:acc>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𝒂</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𝒃</m:t>
                        </m:r>
                      </m:e>
                    </m:d>
                  </m:oMath>
                </a14:m>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lnSpc>
                    <a:spcPct val="107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Cambria Math" panose="02040503050406030204" pitchFamily="18" charset="0"/>
                      </a:rPr>
                      <m:t>⇔</m:t>
                    </m:r>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𝑨𝑴</m:t>
                        </m:r>
                      </m:e>
                    </m:acc>
                    <m:r>
                      <a:rPr lang="en-US" b="1" i="1" smtClean="0">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𝒏</m:t>
                        </m:r>
                      </m:e>
                    </m:acc>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𝟎</m:t>
                    </m:r>
                    <m:r>
                      <a:rPr lang="en-US" b="1" i="1" smtClean="0">
                        <a:latin typeface="Cambria Math" panose="02040503050406030204" pitchFamily="18" charset="0"/>
                        <a:ea typeface="Calibri" panose="020F0502020204030204" pitchFamily="34" charset="0"/>
                        <a:cs typeface="Cambria Math" panose="020405030504060302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𝒂</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𝒐</m:t>
                            </m:r>
                          </m:sub>
                        </m:sSub>
                      </m:e>
                    </m:d>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𝒃</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𝒐</m:t>
                            </m:r>
                          </m:sub>
                        </m:sSub>
                      </m:e>
                    </m:d>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𝟎</m:t>
                    </m:r>
                  </m:oMath>
                </a14:m>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lnSpc>
                    <a:spcPct val="107000"/>
                  </a:lnSpc>
                  <a:spcAft>
                    <a:spcPts val="800"/>
                  </a:spcAft>
                  <a:buNone/>
                </a:pPr>
                <a:r>
                  <a:rPr lang="en-US" b="1" dirty="0" err="1">
                    <a:latin typeface="Tahoma" panose="020B0604030504040204" pitchFamily="34" charset="0"/>
                    <a:ea typeface="Tahoma" panose="020B0604030504040204" pitchFamily="34" charset="0"/>
                    <a:cs typeface="Tahoma" panose="020B0604030504040204" pitchFamily="34" charset="0"/>
                  </a:rPr>
                  <a:t>Vậy</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điểm</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𝑴</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thuộc</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𝜟</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khi</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𝒂</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𝒐</m:t>
                            </m:r>
                          </m:sub>
                        </m:sSub>
                      </m:e>
                    </m:d>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𝒃</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𝟎</m:t>
                            </m:r>
                          </m:sub>
                        </m:sSub>
                      </m:e>
                    </m:d>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𝟎</m:t>
                    </m:r>
                  </m:oMath>
                </a14:m>
                <a:r>
                  <a:rPr lang="en-US" b="1" dirty="0">
                    <a:latin typeface="Tahoma" panose="020B0604030504040204" pitchFamily="34" charset="0"/>
                    <a:ea typeface="Tahoma" panose="020B0604030504040204" pitchFamily="34" charset="0"/>
                    <a:cs typeface="Tahoma" panose="020B0604030504040204" pitchFamily="34" charset="0"/>
                  </a:rPr>
                  <a:t>                                                                       </a:t>
                </a:r>
              </a:p>
              <a:p>
                <a:pPr marL="0" indent="0" algn="ctr">
                  <a:lnSpc>
                    <a:spcPct val="100000"/>
                  </a:lnSpc>
                  <a:spcAft>
                    <a:spcPts val="800"/>
                  </a:spcAft>
                  <a:buNone/>
                </a:pPr>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4"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04800" y="3002281"/>
                <a:ext cx="23774400" cy="10363199"/>
              </a:xfrm>
              <a:prstGeom prst="rect">
                <a:avLst/>
              </a:prstGeom>
              <a:blipFill>
                <a:blip r:embed="rId3"/>
                <a:stretch>
                  <a:fillRect l="-1128" t="-1351" b="-3584"/>
                </a:stretch>
              </a:blipFill>
              <a:ln>
                <a:solidFill>
                  <a:srgbClr val="00B0F0"/>
                </a:solidFill>
              </a:ln>
            </p:spPr>
            <p:txBody>
              <a:bodyPr/>
              <a:lstStyle/>
              <a:p>
                <a:r>
                  <a:rPr lang="en-US">
                    <a:noFill/>
                  </a:rPr>
                  <a:t> </a:t>
                </a:r>
              </a:p>
            </p:txBody>
          </p:sp>
        </mc:Fallback>
      </mc:AlternateContent>
      <p:grpSp>
        <p:nvGrpSpPr>
          <p:cNvPr id="13" name="Group 12"/>
          <p:cNvGrpSpPr/>
          <p:nvPr/>
        </p:nvGrpSpPr>
        <p:grpSpPr>
          <a:xfrm>
            <a:off x="533400" y="3040585"/>
            <a:ext cx="2792159" cy="838199"/>
            <a:chOff x="853445" y="3032647"/>
            <a:chExt cx="2792159" cy="838199"/>
          </a:xfrm>
        </p:grpSpPr>
        <p:grpSp>
          <p:nvGrpSpPr>
            <p:cNvPr id="14" name="Group 13"/>
            <p:cNvGrpSpPr/>
            <p:nvPr/>
          </p:nvGrpSpPr>
          <p:grpSpPr>
            <a:xfrm>
              <a:off x="853445" y="3032647"/>
              <a:ext cx="2792159" cy="838199"/>
              <a:chOff x="-3796694" y="945148"/>
              <a:chExt cx="5297364" cy="1862095"/>
            </a:xfrm>
          </p:grpSpPr>
          <p:sp>
            <p:nvSpPr>
              <p:cNvPr id="16" name="TextBox 321"/>
              <p:cNvSpPr txBox="1"/>
              <p:nvPr/>
            </p:nvSpPr>
            <p:spPr>
              <a:xfrm>
                <a:off x="-1984442" y="945148"/>
                <a:ext cx="3485112" cy="1862095"/>
              </a:xfrm>
              <a:prstGeom prst="rect">
                <a:avLst/>
              </a:prstGeom>
              <a:noFill/>
            </p:spPr>
            <p:txBody>
              <a:bodyPr wrap="square" rtlCol="0">
                <a:noAutofit/>
              </a:bodyPr>
              <a:lstStyle/>
              <a:p>
                <a:pPr>
                  <a:lnSpc>
                    <a:spcPct val="107000"/>
                  </a:lnSpc>
                  <a:spcAft>
                    <a:spcPts val="800"/>
                  </a:spcAft>
                </a:pPr>
                <a:r>
                  <a:rPr lang="en-US" sz="4800" b="1" kern="1200">
                    <a:solidFill>
                      <a:srgbClr val="D33E03"/>
                    </a:solidFill>
                    <a:effectLst/>
                    <a:latin typeface="Tahoma" panose="020B0604030504040204" pitchFamily="34" charset="0"/>
                    <a:ea typeface="Tahoma" panose="020B0604030504040204" pitchFamily="34" charset="0"/>
                    <a:cs typeface="Tahoma" panose="020B0604030504040204" pitchFamily="34" charset="0"/>
                  </a:rPr>
                  <a:t>HĐ2:</a:t>
                </a:r>
                <a:endParaRPr lang="en-US" sz="4800" b="1">
                  <a:solidFill>
                    <a:srgbClr val="D33E03"/>
                  </a:solidFill>
                  <a:effectLst/>
                  <a:latin typeface="Tahoma" panose="020B0604030504040204" pitchFamily="34" charset="0"/>
                  <a:ea typeface="Tahoma" panose="020B0604030504040204" pitchFamily="34" charset="0"/>
                  <a:cs typeface="Tahoma" panose="020B0604030504040204" pitchFamily="34" charset="0"/>
                </a:endParaRPr>
              </a:p>
            </p:txBody>
          </p:sp>
          <p:grpSp>
            <p:nvGrpSpPr>
              <p:cNvPr id="17" name="Group 16"/>
              <p:cNvGrpSpPr/>
              <p:nvPr/>
            </p:nvGrpSpPr>
            <p:grpSpPr>
              <a:xfrm>
                <a:off x="-3796694" y="1332427"/>
                <a:ext cx="1945947" cy="1087543"/>
                <a:chOff x="-3484263" y="1332427"/>
                <a:chExt cx="1785816" cy="1087543"/>
              </a:xfrm>
            </p:grpSpPr>
            <p:grpSp>
              <p:nvGrpSpPr>
                <p:cNvPr id="18" name="Group 17"/>
                <p:cNvGrpSpPr/>
                <p:nvPr/>
              </p:nvGrpSpPr>
              <p:grpSpPr>
                <a:xfrm>
                  <a:off x="-3484263" y="1332427"/>
                  <a:ext cx="1785816" cy="1087543"/>
                  <a:chOff x="-3902278" y="1992271"/>
                  <a:chExt cx="2000062" cy="1666211"/>
                </a:xfrm>
              </p:grpSpPr>
              <p:sp>
                <p:nvSpPr>
                  <p:cNvPr id="21" name="Arrow: Pentagon 6"/>
                  <p:cNvSpPr/>
                  <p:nvPr/>
                </p:nvSpPr>
                <p:spPr>
                  <a:xfrm>
                    <a:off x="-3902278" y="1992274"/>
                    <a:ext cx="1599070" cy="1666208"/>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sp>
                <p:nvSpPr>
                  <p:cNvPr id="22" name="Arrow: Chevron 11"/>
                  <p:cNvSpPr/>
                  <p:nvPr/>
                </p:nvSpPr>
                <p:spPr>
                  <a:xfrm>
                    <a:off x="-2759185" y="1992271"/>
                    <a:ext cx="856969" cy="1666208"/>
                  </a:xfrm>
                  <a:prstGeom prst="chevron">
                    <a:avLst>
                      <a:gd name="adj" fmla="val 66014"/>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grpSp>
            <p:sp>
              <p:nvSpPr>
                <p:cNvPr id="19" name="Flowchart: Terminator 18"/>
                <p:cNvSpPr/>
                <p:nvPr/>
              </p:nvSpPr>
              <p:spPr>
                <a:xfrm>
                  <a:off x="-3367925" y="1476518"/>
                  <a:ext cx="995711" cy="799363"/>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sp>
              <p:nvSpPr>
                <p:cNvPr id="20" name="Oval 19"/>
                <p:cNvSpPr/>
                <p:nvPr/>
              </p:nvSpPr>
              <p:spPr>
                <a:xfrm>
                  <a:off x="-3028523" y="1518566"/>
                  <a:ext cx="611269" cy="737968"/>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800" b="1"/>
                </a:p>
              </p:txBody>
            </p:sp>
          </p:grpSp>
        </p:grpSp>
        <p:sp>
          <p:nvSpPr>
            <p:cNvPr id="15" name="Arrow: Chevron 12"/>
            <p:cNvSpPr/>
            <p:nvPr/>
          </p:nvSpPr>
          <p:spPr>
            <a:xfrm flipV="1">
              <a:off x="1457568" y="3206977"/>
              <a:ext cx="287623" cy="489543"/>
            </a:xfrm>
            <a:prstGeom prst="chevron">
              <a:avLst>
                <a:gd name="adj" fmla="val 83506"/>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grpSp>
      <p:pic>
        <p:nvPicPr>
          <p:cNvPr id="23" name="Picture 22"/>
          <p:cNvPicPr/>
          <p:nvPr/>
        </p:nvPicPr>
        <p:blipFill>
          <a:blip r:embed="rId4"/>
          <a:stretch>
            <a:fillRect/>
          </a:stretch>
        </p:blipFill>
        <p:spPr>
          <a:xfrm>
            <a:off x="17145000" y="4823770"/>
            <a:ext cx="6781800" cy="7215830"/>
          </a:xfrm>
          <a:prstGeom prst="rect">
            <a:avLst/>
          </a:prstGeom>
        </p:spPr>
      </p:pic>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52509104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4">
                                            <p:txEl>
                                              <p:pRg st="0" end="0"/>
                                            </p:txEl>
                                          </p:spTgt>
                                        </p:tgtEl>
                                        <p:attrNameLst>
                                          <p:attrName>style.visibility</p:attrName>
                                        </p:attrNameLst>
                                      </p:cBhvr>
                                      <p:to>
                                        <p:strVal val="visible"/>
                                      </p:to>
                                    </p:set>
                                    <p:animEffect transition="in" filter="fade">
                                      <p:cBhvr>
                                        <p:cTn id="21" dur="500"/>
                                        <p:tgtEl>
                                          <p:spTgt spid="24">
                                            <p:txEl>
                                              <p:pRg st="0" end="0"/>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4">
                                            <p:txEl>
                                              <p:pRg st="1" end="1"/>
                                            </p:txEl>
                                          </p:spTgt>
                                        </p:tgtEl>
                                        <p:attrNameLst>
                                          <p:attrName>style.visibility</p:attrName>
                                        </p:attrNameLst>
                                      </p:cBhvr>
                                      <p:to>
                                        <p:strVal val="visible"/>
                                      </p:to>
                                    </p:set>
                                    <p:animEffect transition="in" filter="fade">
                                      <p:cBhvr>
                                        <p:cTn id="24" dur="500"/>
                                        <p:tgtEl>
                                          <p:spTgt spid="24">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4">
                                            <p:txEl>
                                              <p:pRg st="2" end="2"/>
                                            </p:txEl>
                                          </p:spTgt>
                                        </p:tgtEl>
                                        <p:attrNameLst>
                                          <p:attrName>style.visibility</p:attrName>
                                        </p:attrNameLst>
                                      </p:cBhvr>
                                      <p:to>
                                        <p:strVal val="visible"/>
                                      </p:to>
                                    </p:set>
                                    <p:animEffect transition="in" filter="fade">
                                      <p:cBhvr>
                                        <p:cTn id="34" dur="500"/>
                                        <p:tgtEl>
                                          <p:spTgt spid="24">
                                            <p:txEl>
                                              <p:pRg st="2" end="2"/>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4">
                                            <p:txEl>
                                              <p:pRg st="3" end="3"/>
                                            </p:txEl>
                                          </p:spTgt>
                                        </p:tgtEl>
                                        <p:attrNameLst>
                                          <p:attrName>style.visibility</p:attrName>
                                        </p:attrNameLst>
                                      </p:cBhvr>
                                      <p:to>
                                        <p:strVal val="visible"/>
                                      </p:to>
                                    </p:set>
                                    <p:animEffect transition="in" filter="fade">
                                      <p:cBhvr>
                                        <p:cTn id="37" dur="500"/>
                                        <p:tgtEl>
                                          <p:spTgt spid="24">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
                                            <p:txEl>
                                              <p:pRg st="4" end="4"/>
                                            </p:txEl>
                                          </p:spTgt>
                                        </p:tgtEl>
                                        <p:attrNameLst>
                                          <p:attrName>style.visibility</p:attrName>
                                        </p:attrNameLst>
                                      </p:cBhvr>
                                      <p:to>
                                        <p:strVal val="visible"/>
                                      </p:to>
                                    </p:set>
                                    <p:animEffect transition="in" filter="fade">
                                      <p:cBhvr>
                                        <p:cTn id="42" dur="500"/>
                                        <p:tgtEl>
                                          <p:spTgt spid="24">
                                            <p:txEl>
                                              <p:pRg st="4" end="4"/>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24">
                                            <p:txEl>
                                              <p:pRg st="5" end="5"/>
                                            </p:txEl>
                                          </p:spTgt>
                                        </p:tgtEl>
                                        <p:attrNameLst>
                                          <p:attrName>style.visibility</p:attrName>
                                        </p:attrNameLst>
                                      </p:cBhvr>
                                      <p:to>
                                        <p:strVal val="visible"/>
                                      </p:to>
                                    </p:set>
                                    <p:animEffect transition="in" filter="fade">
                                      <p:cBhvr>
                                        <p:cTn id="45" dur="500"/>
                                        <p:tgtEl>
                                          <p:spTgt spid="24">
                                            <p:txEl>
                                              <p:pRg st="5" end="5"/>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4">
                                            <p:txEl>
                                              <p:pRg st="6" end="6"/>
                                            </p:txEl>
                                          </p:spTgt>
                                        </p:tgtEl>
                                        <p:attrNameLst>
                                          <p:attrName>style.visibility</p:attrName>
                                        </p:attrNameLst>
                                      </p:cBhvr>
                                      <p:to>
                                        <p:strVal val="visible"/>
                                      </p:to>
                                    </p:set>
                                    <p:animEffect transition="in" filter="fade">
                                      <p:cBhvr>
                                        <p:cTn id="50" dur="500"/>
                                        <p:tgtEl>
                                          <p:spTgt spid="24">
                                            <p:txEl>
                                              <p:pRg st="6" end="6"/>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4">
                                            <p:txEl>
                                              <p:pRg st="7" end="7"/>
                                            </p:txEl>
                                          </p:spTgt>
                                        </p:tgtEl>
                                        <p:attrNameLst>
                                          <p:attrName>style.visibility</p:attrName>
                                        </p:attrNameLst>
                                      </p:cBhvr>
                                      <p:to>
                                        <p:strVal val="visible"/>
                                      </p:to>
                                    </p:set>
                                    <p:animEffect transition="in" filter="fade">
                                      <p:cBhvr>
                                        <p:cTn id="55" dur="500"/>
                                        <p:tgtEl>
                                          <p:spTgt spid="2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81000" y="1879601"/>
            <a:ext cx="23622000" cy="11684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7000"/>
              </a:lnSpc>
              <a:spcAft>
                <a:spcPts val="800"/>
              </a:spcAft>
            </a:pPr>
            <a:r>
              <a:rPr lang="en-US" sz="4800" b="1">
                <a:solidFill>
                  <a:srgbClr val="FF0000"/>
                </a:solidFill>
                <a:latin typeface="Tahoma" panose="020B0604030504040204" pitchFamily="34" charset="0"/>
                <a:ea typeface="Tahoma" panose="020B0604030504040204" pitchFamily="34" charset="0"/>
                <a:cs typeface="Tahoma" panose="020B0604030504040204" pitchFamily="34" charset="0"/>
              </a:rPr>
              <a:t>1. PHƯƠNG TRÌNH TỔNG QUÁT CỦA ĐƯỜNG THẲNG</a:t>
            </a:r>
          </a:p>
        </p:txBody>
      </p:sp>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14822BB7-DB89-4357-87F0-6E511FC44A6A}"/>
                  </a:ext>
                </a:extLst>
              </p:cNvPr>
              <p:cNvSpPr txBox="1">
                <a:spLocks/>
              </p:cNvSpPr>
              <p:nvPr/>
            </p:nvSpPr>
            <p:spPr>
              <a:xfrm>
                <a:off x="381000" y="3048001"/>
                <a:ext cx="23622000" cy="103631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7000"/>
                  </a:lnSpc>
                  <a:spcAft>
                    <a:spcPts val="800"/>
                  </a:spcAft>
                  <a:buNone/>
                </a:pPr>
                <a:r>
                  <a:rPr lang="en-US" b="1" dirty="0" err="1">
                    <a:solidFill>
                      <a:srgbClr val="ED7D31"/>
                    </a:solidFill>
                    <a:latin typeface="Tahoma" panose="020B0604030504040204" pitchFamily="34" charset="0"/>
                    <a:ea typeface="Tahoma" panose="020B0604030504040204" pitchFamily="34" charset="0"/>
                    <a:cs typeface="Tahoma" panose="020B0604030504040204" pitchFamily="34" charset="0"/>
                  </a:rPr>
                  <a:t>Nhận</a:t>
                </a:r>
                <a:r>
                  <a:rPr lang="en-US" b="1" dirty="0">
                    <a:solidFill>
                      <a:srgbClr val="ED7D31"/>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srgbClr val="ED7D31"/>
                    </a:solidFill>
                    <a:latin typeface="Tahoma" panose="020B0604030504040204" pitchFamily="34" charset="0"/>
                    <a:ea typeface="Tahoma" panose="020B0604030504040204" pitchFamily="34" charset="0"/>
                    <a:cs typeface="Tahoma" panose="020B0604030504040204" pitchFamily="34" charset="0"/>
                  </a:rPr>
                  <a:t>xét</a:t>
                </a:r>
                <a:r>
                  <a:rPr lang="en-US" b="1" dirty="0">
                    <a:solidFill>
                      <a:srgbClr val="ED7D31"/>
                    </a:solidFill>
                    <a:latin typeface="Tahoma" panose="020B0604030504040204" pitchFamily="34" charset="0"/>
                    <a:ea typeface="Tahoma" panose="020B0604030504040204" pitchFamily="34" charset="0"/>
                    <a:cs typeface="Tahoma" panose="020B0604030504040204" pitchFamily="34" charset="0"/>
                  </a:rPr>
                  <a:t>:</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lnSpc>
                    <a:spcPct val="107000"/>
                  </a:lnSpc>
                  <a:spcAft>
                    <a:spcPts val="800"/>
                  </a:spcAft>
                  <a:buNone/>
                </a:pPr>
                <a:r>
                  <a:rPr lang="en-US" b="1" dirty="0" err="1">
                    <a:latin typeface="Tahoma" panose="020B0604030504040204" pitchFamily="34" charset="0"/>
                    <a:ea typeface="Tahoma" panose="020B0604030504040204" pitchFamily="34" charset="0"/>
                    <a:cs typeface="Tahoma" panose="020B0604030504040204" pitchFamily="34" charset="0"/>
                  </a:rPr>
                  <a:t>Trong</a:t>
                </a:r>
                <a:r>
                  <a:rPr lang="en-US" b="1" dirty="0">
                    <a:latin typeface="Tahoma" panose="020B0604030504040204" pitchFamily="34" charset="0"/>
                    <a:ea typeface="Tahoma" panose="020B0604030504040204" pitchFamily="34" charset="0"/>
                    <a:cs typeface="Tahoma" panose="020B0604030504040204" pitchFamily="34" charset="0"/>
                  </a:rPr>
                  <a:t> HĐ2, </a:t>
                </a:r>
                <a:r>
                  <a:rPr lang="en-US" b="1" dirty="0" err="1">
                    <a:latin typeface="Tahoma" panose="020B0604030504040204" pitchFamily="34" charset="0"/>
                    <a:ea typeface="Tahoma" panose="020B0604030504040204" pitchFamily="34" charset="0"/>
                    <a:cs typeface="Tahoma" panose="020B0604030504040204" pitchFamily="34" charset="0"/>
                  </a:rPr>
                  <a:t>nếu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đặt</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libri" panose="020F0502020204030204" pitchFamily="34" charset="0"/>
                        <a:cs typeface="Times New Roman" panose="02020603050405020304" pitchFamily="18" charset="0"/>
                      </a:rPr>
                      <m:t>𝒄</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𝒂</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a:latin typeface="Cambria Math" panose="02040503050406030204" pitchFamily="18" charset="0"/>
                            <a:ea typeface="Calibri" panose="020F0502020204030204" pitchFamily="34" charset="0"/>
                            <a:cs typeface="Times New Roman" panose="02020603050405020304" pitchFamily="18" charset="0"/>
                          </a:rPr>
                          <m:t>𝒙</m:t>
                        </m:r>
                      </m:e>
                      <m:sub>
                        <m:r>
                          <a:rPr lang="en-US" b="1" i="1">
                            <a:latin typeface="Cambria Math" panose="02040503050406030204" pitchFamily="18" charset="0"/>
                            <a:ea typeface="Calibri" panose="020F0502020204030204" pitchFamily="34" charset="0"/>
                            <a:cs typeface="Times New Roman" panose="02020603050405020304" pitchFamily="18" charset="0"/>
                          </a:rPr>
                          <m:t>𝒐</m:t>
                        </m:r>
                      </m:sub>
                    </m:sSub>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𝒃</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a:latin typeface="Cambria Math" panose="02040503050406030204" pitchFamily="18" charset="0"/>
                            <a:ea typeface="Calibri" panose="020F0502020204030204" pitchFamily="34" charset="0"/>
                            <a:cs typeface="Times New Roman" panose="02020603050405020304" pitchFamily="18" charset="0"/>
                          </a:rPr>
                          <m:t>𝒚</m:t>
                        </m:r>
                      </m:e>
                      <m:sub>
                        <m:r>
                          <a:rPr lang="en-US" b="1" i="1">
                            <a:latin typeface="Cambria Math" panose="02040503050406030204" pitchFamily="18" charset="0"/>
                            <a:ea typeface="Calibri" panose="020F0502020204030204" pitchFamily="34" charset="0"/>
                            <a:cs typeface="Times New Roman" panose="02020603050405020304" pitchFamily="18" charset="0"/>
                          </a:rPr>
                          <m:t>𝒐</m:t>
                        </m:r>
                      </m:sub>
                    </m:sSub>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thì</a:t>
                </a:r>
                <a:r>
                  <a:rPr lang="en-US" b="1" dirty="0">
                    <a:latin typeface="Tahoma" panose="020B0604030504040204" pitchFamily="34" charset="0"/>
                    <a:ea typeface="Tahoma" panose="020B0604030504040204" pitchFamily="34" charset="0"/>
                    <a:cs typeface="Tahoma" panose="020B0604030504040204" pitchFamily="34" charset="0"/>
                  </a:rPr>
                  <a:t> (1) </a:t>
                </a:r>
                <a:r>
                  <a:rPr lang="en-US" b="1" dirty="0" err="1">
                    <a:latin typeface="Tahoma" panose="020B0604030504040204" pitchFamily="34" charset="0"/>
                    <a:ea typeface="Tahoma" panose="020B0604030504040204" pitchFamily="34" charset="0"/>
                    <a:cs typeface="Tahoma" panose="020B0604030504040204" pitchFamily="34" charset="0"/>
                  </a:rPr>
                  <a:t>còn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được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viết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dưới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dạng</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lnSpc>
                    <a:spcPct val="107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libri" panose="020F0502020204030204" pitchFamily="34" charset="0"/>
                        <a:cs typeface="Times New Roman" panose="02020603050405020304" pitchFamily="18" charset="0"/>
                      </a:rPr>
                      <m:t>𝒂𝒙</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𝒃𝒚</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𝒄</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𝟎</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được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gọi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i="1" dirty="0" err="1">
                    <a:solidFill>
                      <a:srgbClr val="FF0000"/>
                    </a:solidFill>
                    <a:latin typeface="Tahoma" panose="020B0604030504040204" pitchFamily="34" charset="0"/>
                    <a:ea typeface="Tahoma" panose="020B0604030504040204" pitchFamily="34" charset="0"/>
                    <a:cs typeface="Tahoma" panose="020B0604030504040204" pitchFamily="34" charset="0"/>
                  </a:rPr>
                  <a:t>phương</a:t>
                </a:r>
                <a:r>
                  <a:rPr lang="en-US" b="1" i="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i="1" dirty="0" err="1">
                    <a:solidFill>
                      <a:srgbClr val="FF0000"/>
                    </a:solidFill>
                    <a:latin typeface="Tahoma" panose="020B0604030504040204" pitchFamily="34" charset="0"/>
                    <a:ea typeface="Tahoma" panose="020B0604030504040204" pitchFamily="34" charset="0"/>
                    <a:cs typeface="Tahoma" panose="020B0604030504040204" pitchFamily="34" charset="0"/>
                  </a:rPr>
                  <a:t>trình</a:t>
                </a:r>
                <a:r>
                  <a:rPr lang="en-US" b="1" i="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i="1" dirty="0" err="1">
                    <a:solidFill>
                      <a:srgbClr val="FF0000"/>
                    </a:solidFill>
                    <a:latin typeface="Tahoma" panose="020B0604030504040204" pitchFamily="34" charset="0"/>
                    <a:ea typeface="Tahoma" panose="020B0604030504040204" pitchFamily="34" charset="0"/>
                    <a:cs typeface="Tahoma" panose="020B0604030504040204" pitchFamily="34" charset="0"/>
                  </a:rPr>
                  <a:t>tổng</a:t>
                </a:r>
                <a:r>
                  <a:rPr lang="en-US" b="1" i="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i="1" dirty="0" err="1">
                    <a:solidFill>
                      <a:srgbClr val="FF0000"/>
                    </a:solidFill>
                    <a:latin typeface="Tahoma" panose="020B0604030504040204" pitchFamily="34" charset="0"/>
                    <a:ea typeface="Tahoma" panose="020B0604030504040204" pitchFamily="34" charset="0"/>
                    <a:cs typeface="Tahoma" panose="020B0604030504040204" pitchFamily="34" charset="0"/>
                  </a:rPr>
                  <a:t>quát</a:t>
                </a:r>
                <a:r>
                  <a:rPr lang="en-US" b="1" i="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libri" panose="020F0502020204030204" pitchFamily="34" charset="0"/>
                        <a:cs typeface="Times New Roman" panose="02020603050405020304" pitchFamily="18" charset="0"/>
                      </a:rPr>
                      <m:t>𝜟</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Như</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vậy</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điểm</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libri" panose="020F0502020204030204" pitchFamily="34" charset="0"/>
                        <a:cs typeface="Times New Roman" panose="02020603050405020304" pitchFamily="18" charset="0"/>
                      </a:rPr>
                      <m:t>𝑴</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a:latin typeface="Cambria Math" panose="02040503050406030204" pitchFamily="18" charset="0"/>
                            <a:ea typeface="Calibri" panose="020F0502020204030204" pitchFamily="34" charset="0"/>
                            <a:cs typeface="Times New Roman" panose="02020603050405020304" pitchFamily="18" charset="0"/>
                          </a:rPr>
                          <m:t>𝒙</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𝒚</m:t>
                        </m:r>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thuộc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libri" panose="020F0502020204030204" pitchFamily="34" charset="0"/>
                        <a:cs typeface="Times New Roman" panose="02020603050405020304" pitchFamily="18" charset="0"/>
                      </a:rPr>
                      <m:t>𝜟</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tọa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độ</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thỏa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mãn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tổng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quát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libri" panose="020F0502020204030204" pitchFamily="34" charset="0"/>
                        <a:cs typeface="Times New Roman" panose="02020603050405020304" pitchFamily="18" charset="0"/>
                      </a:rPr>
                      <m:t>𝜟</m:t>
                    </m:r>
                  </m:oMath>
                </a14:m>
                <a:r>
                  <a:rPr lang="en-US"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24"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81000" y="3048001"/>
                <a:ext cx="23622000" cy="10363199"/>
              </a:xfrm>
              <a:prstGeom prst="rect">
                <a:avLst/>
              </a:prstGeom>
              <a:blipFill>
                <a:blip r:embed="rId3"/>
                <a:stretch>
                  <a:fillRect l="-1161" t="-1469" r="-129"/>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ounded Rectangle 1"/>
              <p:cNvSpPr/>
              <p:nvPr/>
            </p:nvSpPr>
            <p:spPr>
              <a:xfrm>
                <a:off x="533400" y="7848600"/>
                <a:ext cx="23241000" cy="518160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4800" b="1" dirty="0" err="1">
                    <a:solidFill>
                      <a:schemeClr val="tx1"/>
                    </a:solidFill>
                    <a:latin typeface="Tahoma" panose="020B0604030504040204" pitchFamily="34" charset="0"/>
                    <a:ea typeface="Tahoma" panose="020B0604030504040204" pitchFamily="34" charset="0"/>
                    <a:cs typeface="Tahoma" panose="020B0604030504040204" pitchFamily="34" charset="0"/>
                  </a:rPr>
                  <a:t>Trong</a:t>
                </a:r>
                <a:r>
                  <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latin typeface="Tahoma" panose="020B0604030504040204" pitchFamily="34" charset="0"/>
                    <a:ea typeface="Tahoma" panose="020B0604030504040204" pitchFamily="34" charset="0"/>
                    <a:cs typeface="Tahoma" panose="020B0604030504040204" pitchFamily="34" charset="0"/>
                  </a:rPr>
                  <a:t>mặt</a:t>
                </a:r>
                <a:r>
                  <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latin typeface="Tahoma" panose="020B0604030504040204" pitchFamily="34" charset="0"/>
                    <a:ea typeface="Tahoma" panose="020B0604030504040204" pitchFamily="34" charset="0"/>
                    <a:cs typeface="Tahoma" panose="020B0604030504040204" pitchFamily="34" charset="0"/>
                  </a:rPr>
                  <a:t>phẳng</a:t>
                </a:r>
                <a:r>
                  <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latin typeface="Tahoma" panose="020B0604030504040204" pitchFamily="34" charset="0"/>
                    <a:ea typeface="Tahoma" panose="020B0604030504040204" pitchFamily="34" charset="0"/>
                    <a:cs typeface="Tahoma" panose="020B0604030504040204" pitchFamily="34" charset="0"/>
                  </a:rPr>
                  <a:t>tọa</a:t>
                </a:r>
                <a:r>
                  <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latin typeface="Tahoma" panose="020B0604030504040204" pitchFamily="34" charset="0"/>
                    <a:ea typeface="Tahoma" panose="020B0604030504040204" pitchFamily="34" charset="0"/>
                    <a:cs typeface="Tahoma" panose="020B0604030504040204" pitchFamily="34" charset="0"/>
                  </a:rPr>
                  <a:t>độ</a:t>
                </a:r>
                <a:r>
                  <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latin typeface="Tahoma" panose="020B0604030504040204" pitchFamily="34" charset="0"/>
                    <a:ea typeface="Tahoma" panose="020B0604030504040204" pitchFamily="34" charset="0"/>
                    <a:cs typeface="Tahoma" panose="020B0604030504040204" pitchFamily="34" charset="0"/>
                  </a:rPr>
                  <a:t>mọi</a:t>
                </a:r>
                <a:r>
                  <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latin typeface="Tahoma" panose="020B0604030504040204" pitchFamily="34" charset="0"/>
                    <a:ea typeface="Tahoma" panose="020B0604030504040204" pitchFamily="34" charset="0"/>
                    <a:cs typeface="Tahoma" panose="020B0604030504040204" pitchFamily="34" charset="0"/>
                  </a:rPr>
                  <a:t>đường</a:t>
                </a:r>
                <a:r>
                  <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latin typeface="Tahoma" panose="020B0604030504040204" pitchFamily="34" charset="0"/>
                    <a:ea typeface="Tahoma" panose="020B0604030504040204" pitchFamily="34" charset="0"/>
                    <a:cs typeface="Tahoma" panose="020B0604030504040204" pitchFamily="34" charset="0"/>
                  </a:rPr>
                  <a:t>thẳng</a:t>
                </a:r>
                <a:r>
                  <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latin typeface="Tahoma" panose="020B0604030504040204" pitchFamily="34" charset="0"/>
                    <a:ea typeface="Tahoma" panose="020B0604030504040204" pitchFamily="34" charset="0"/>
                    <a:cs typeface="Tahoma" panose="020B0604030504040204" pitchFamily="34" charset="0"/>
                  </a:rPr>
                  <a:t>đều</a:t>
                </a:r>
                <a:r>
                  <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latin typeface="Tahoma" panose="020B0604030504040204" pitchFamily="34" charset="0"/>
                    <a:ea typeface="Tahoma" panose="020B0604030504040204" pitchFamily="34" charset="0"/>
                    <a:cs typeface="Tahoma" panose="020B0604030504040204" pitchFamily="34" charset="0"/>
                  </a:rPr>
                  <a:t>có</a:t>
                </a:r>
                <a:r>
                  <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phương</a:t>
                </a:r>
                <a:r>
                  <a:rPr lang="en-US" sz="48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trình</a:t>
                </a:r>
                <a:r>
                  <a:rPr lang="en-US" sz="48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tổng</a:t>
                </a:r>
                <a:r>
                  <a:rPr lang="en-US" sz="48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quát</a:t>
                </a:r>
                <a:r>
                  <a:rPr lang="en-US" sz="4800" b="1" dirty="0">
                    <a:solidFill>
                      <a:srgbClr val="C00000"/>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dạng</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𝒂𝒙</m:t>
                    </m:r>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𝒃𝒚</m:t>
                    </m:r>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𝒄</m:t>
                    </m:r>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𝟎</m:t>
                    </m:r>
                  </m:oMath>
                </a14:m>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với</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chemeClr val="tx1"/>
                        </a:solidFill>
                        <a:latin typeface="Cambria Math" panose="02040503050406030204" pitchFamily="18" charset="0"/>
                        <a:ea typeface="Cascadia Mono"/>
                        <a:cs typeface="Times New Roman" panose="02020603050405020304" pitchFamily="18" charset="0"/>
                      </a:rPr>
                      <m:t>𝒂</m:t>
                    </m:r>
                  </m:oMath>
                </a14:m>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và</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chemeClr val="tx1"/>
                        </a:solidFill>
                        <a:latin typeface="Cambria Math" panose="02040503050406030204" pitchFamily="18" charset="0"/>
                        <a:ea typeface="Cascadia Mono"/>
                        <a:cs typeface="Times New Roman" panose="02020603050405020304" pitchFamily="18" charset="0"/>
                      </a:rPr>
                      <m:t>𝒃</m:t>
                    </m:r>
                  </m:oMath>
                </a14:m>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không</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đồng</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thời</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bằng</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chemeClr val="tx1"/>
                        </a:solidFill>
                        <a:latin typeface="Cambria Math" panose="02040503050406030204" pitchFamily="18" charset="0"/>
                        <a:ea typeface="Cascadia Mono"/>
                        <a:cs typeface="Times New Roman" panose="02020603050405020304" pitchFamily="18" charset="0"/>
                      </a:rPr>
                      <m:t>𝟎</m:t>
                    </m:r>
                  </m:oMath>
                </a14:m>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Ngược</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lại</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mỗi</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phương</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trình</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dạng</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𝒂𝒙</m:t>
                    </m:r>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𝒃𝒚</m:t>
                    </m:r>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𝒄</m:t>
                    </m:r>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𝟎</m:t>
                    </m:r>
                  </m:oMath>
                </a14:m>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với</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chemeClr val="tx1"/>
                        </a:solidFill>
                        <a:latin typeface="Cambria Math" panose="02040503050406030204" pitchFamily="18" charset="0"/>
                        <a:ea typeface="Cascadia Mono"/>
                        <a:cs typeface="Times New Roman" panose="02020603050405020304" pitchFamily="18" charset="0"/>
                      </a:rPr>
                      <m:t>𝒂</m:t>
                    </m:r>
                  </m:oMath>
                </a14:m>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và</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chemeClr val="tx1"/>
                        </a:solidFill>
                        <a:latin typeface="Cambria Math" panose="02040503050406030204" pitchFamily="18" charset="0"/>
                        <a:ea typeface="Cascadia Mono"/>
                        <a:cs typeface="Times New Roman" panose="02020603050405020304" pitchFamily="18" charset="0"/>
                      </a:rPr>
                      <m:t>𝒃</m:t>
                    </m:r>
                  </m:oMath>
                </a14:m>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không</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đồng</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thời</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bằng</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chemeClr val="tx1"/>
                        </a:solidFill>
                        <a:latin typeface="Cambria Math" panose="02040503050406030204" pitchFamily="18" charset="0"/>
                        <a:ea typeface="Cascadia Mono"/>
                        <a:cs typeface="Times New Roman" panose="02020603050405020304" pitchFamily="18" charset="0"/>
                      </a:rPr>
                      <m:t>𝟎</m:t>
                    </m:r>
                  </m:oMath>
                </a14:m>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đều</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là</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phương</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trình</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của</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một</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đường</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thẳng</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nhận</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solidFill>
                              <a:schemeClr val="tx1"/>
                            </a:solidFill>
                            <a:effectLst/>
                            <a:latin typeface="Cambria Math" panose="02040503050406030204" pitchFamily="18" charset="0"/>
                            <a:cs typeface="Times New Roman" panose="02020603050405020304" pitchFamily="18" charset="0"/>
                          </a:rPr>
                        </m:ctrlPr>
                      </m:accPr>
                      <m:e>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𝒏</m:t>
                        </m:r>
                      </m:e>
                    </m:acc>
                    <m:d>
                      <m:dPr>
                        <m:ctrlPr>
                          <a:rPr lang="en-US" sz="4800" b="1" i="1">
                            <a:solidFill>
                              <a:schemeClr val="tx1"/>
                            </a:solidFill>
                            <a:effectLst/>
                            <a:latin typeface="Cambria Math" panose="02040503050406030204" pitchFamily="18" charset="0"/>
                            <a:cs typeface="Times New Roman" panose="02020603050405020304" pitchFamily="18" charset="0"/>
                          </a:rPr>
                        </m:ctrlPr>
                      </m:dPr>
                      <m:e>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𝒂</m:t>
                        </m:r>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𝒃</m:t>
                        </m:r>
                      </m:e>
                    </m:d>
                  </m:oMath>
                </a14:m>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là</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một</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vectơ</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pháp</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tuyến</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a:t>
                </a:r>
                <a:endPar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 name="Rounded Rectangle 1"/>
              <p:cNvSpPr>
                <a:spLocks noRot="1" noChangeAspect="1" noMove="1" noResize="1" noEditPoints="1" noAdjustHandles="1" noChangeArrowheads="1" noChangeShapeType="1" noTextEdit="1"/>
              </p:cNvSpPr>
              <p:nvPr/>
            </p:nvSpPr>
            <p:spPr>
              <a:xfrm>
                <a:off x="533400" y="7848600"/>
                <a:ext cx="23241000" cy="5181600"/>
              </a:xfrm>
              <a:prstGeom prst="roundRect">
                <a:avLst/>
              </a:prstGeom>
              <a:blipFill>
                <a:blip r:embed="rId4"/>
                <a:stretch>
                  <a:fillRect l="-105" r="-52"/>
                </a:stretch>
              </a:blipFill>
            </p:spPr>
            <p:txBody>
              <a:bodyPr/>
              <a:lstStyle/>
              <a:p>
                <a:r>
                  <a:rPr lang="en-US">
                    <a:noFill/>
                  </a:rPr>
                  <a:t> </a:t>
                </a:r>
              </a:p>
            </p:txBody>
          </p:sp>
        </mc:Fallback>
      </mc:AlternateContent>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52954847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4">
                                            <p:txEl>
                                              <p:pRg st="0" end="0"/>
                                            </p:txEl>
                                          </p:spTgt>
                                        </p:tgtEl>
                                        <p:attrNameLst>
                                          <p:attrName>style.visibility</p:attrName>
                                        </p:attrNameLst>
                                      </p:cBhvr>
                                      <p:to>
                                        <p:strVal val="visible"/>
                                      </p:to>
                                    </p:set>
                                    <p:animEffect transition="in" filter="fade">
                                      <p:cBhvr>
                                        <p:cTn id="16" dur="500"/>
                                        <p:tgtEl>
                                          <p:spTgt spid="24">
                                            <p:txEl>
                                              <p:pRg st="0" end="0"/>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xEl>
                                              <p:pRg st="1" end="1"/>
                                            </p:txEl>
                                          </p:spTgt>
                                        </p:tgtEl>
                                        <p:attrNameLst>
                                          <p:attrName>style.visibility</p:attrName>
                                        </p:attrNameLst>
                                      </p:cBhvr>
                                      <p:to>
                                        <p:strVal val="visible"/>
                                      </p:to>
                                    </p:set>
                                    <p:animEffect transition="in" filter="fade">
                                      <p:cBhvr>
                                        <p:cTn id="19" dur="500"/>
                                        <p:tgtEl>
                                          <p:spTgt spid="24">
                                            <p:txEl>
                                              <p:p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4">
                                            <p:txEl>
                                              <p:pRg st="2" end="2"/>
                                            </p:txEl>
                                          </p:spTgt>
                                        </p:tgtEl>
                                        <p:attrNameLst>
                                          <p:attrName>style.visibility</p:attrName>
                                        </p:attrNameLst>
                                      </p:cBhvr>
                                      <p:to>
                                        <p:strVal val="visible"/>
                                      </p:to>
                                    </p:set>
                                    <p:animEffect transition="in" filter="fade">
                                      <p:cBhvr>
                                        <p:cTn id="22" dur="500"/>
                                        <p:tgtEl>
                                          <p:spTgt spid="2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24" grpId="0" animBg="1"/>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457200" y="1879601"/>
            <a:ext cx="23545800" cy="11684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7000"/>
              </a:lnSpc>
              <a:spcAft>
                <a:spcPts val="800"/>
              </a:spcAft>
            </a:pP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1. </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PHƯƠNG</a:t>
            </a: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 TRÌNH TỔNG QUÁT CỦA ĐƯỜNG THẲNG</a:t>
            </a:r>
            <a:endParaRPr lang="en-US"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14822BB7-DB89-4357-87F0-6E511FC44A6A}"/>
                  </a:ext>
                </a:extLst>
              </p:cNvPr>
              <p:cNvSpPr txBox="1">
                <a:spLocks/>
              </p:cNvSpPr>
              <p:nvPr/>
            </p:nvSpPr>
            <p:spPr>
              <a:xfrm>
                <a:off x="457200" y="3048001"/>
                <a:ext cx="11624065" cy="103631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just">
                  <a:lnSpc>
                    <a:spcPct val="150000"/>
                  </a:lnSpc>
                  <a:spcAft>
                    <a:spcPts val="800"/>
                  </a:spcAft>
                </a:pP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Trong</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mặt</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phẳng</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tọa</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độ</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lập</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phương</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trình</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tổng</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quát</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của</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đường</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thẳng</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700"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𝜟</m:t>
                    </m:r>
                  </m:oMath>
                </a14:m>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đi</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qua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điểm</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700"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𝑨</m:t>
                    </m:r>
                    <m:d>
                      <m:dPr>
                        <m:ctrlPr>
                          <a:rPr lang="en-US" sz="4700" b="1" i="1">
                            <a:solidFill>
                              <a:prstClr val="black"/>
                            </a:solidFill>
                            <a:latin typeface="Cambria Math" panose="02040503050406030204" pitchFamily="18" charset="0"/>
                            <a:ea typeface="Calibri" panose="020F0502020204030204" pitchFamily="34" charset="0"/>
                            <a:cs typeface="Times New Roman" panose="02020603050405020304" pitchFamily="18" charset="0"/>
                          </a:rPr>
                        </m:ctrlPr>
                      </m:dPr>
                      <m:e>
                        <m:r>
                          <a:rPr lang="en-US" sz="4700"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𝟐</m:t>
                        </m:r>
                        <m:r>
                          <a:rPr lang="en-US" sz="4700"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m:t>
                        </m:r>
                        <m:r>
                          <a:rPr lang="en-US" sz="4700"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𝟏</m:t>
                        </m:r>
                      </m:e>
                    </m:d>
                  </m:oMath>
                </a14:m>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và</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nhận</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700" b="1" i="1">
                            <a:solidFill>
                              <a:prstClr val="black"/>
                            </a:solidFill>
                            <a:latin typeface="Cambria Math" panose="02040503050406030204" pitchFamily="18" charset="0"/>
                            <a:ea typeface="Calibri" panose="020F0502020204030204" pitchFamily="34" charset="0"/>
                            <a:cs typeface="Times New Roman" panose="02020603050405020304" pitchFamily="18" charset="0"/>
                          </a:rPr>
                        </m:ctrlPr>
                      </m:accPr>
                      <m:e>
                        <m:r>
                          <a:rPr lang="en-US" sz="4700"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𝒏</m:t>
                        </m:r>
                      </m:e>
                    </m:acc>
                    <m:d>
                      <m:dPr>
                        <m:ctrlPr>
                          <a:rPr lang="en-US" sz="4700" b="1" i="1">
                            <a:solidFill>
                              <a:prstClr val="black"/>
                            </a:solidFill>
                            <a:latin typeface="Cambria Math" panose="02040503050406030204" pitchFamily="18" charset="0"/>
                            <a:ea typeface="Calibri" panose="020F0502020204030204" pitchFamily="34" charset="0"/>
                            <a:cs typeface="Times New Roman" panose="02020603050405020304" pitchFamily="18" charset="0"/>
                          </a:rPr>
                        </m:ctrlPr>
                      </m:dPr>
                      <m:e>
                        <m:r>
                          <a:rPr lang="en-US" sz="4700"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𝟑</m:t>
                        </m:r>
                        <m:r>
                          <a:rPr lang="en-US" sz="4700"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m:t>
                        </m:r>
                        <m:r>
                          <a:rPr lang="en-US" sz="4700"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𝟒</m:t>
                        </m:r>
                      </m:e>
                    </m:d>
                  </m:oMath>
                </a14:m>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là</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một</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vectơ</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pháp</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700" b="1" dirty="0" err="1">
                    <a:solidFill>
                      <a:prstClr val="black"/>
                    </a:solidFill>
                    <a:latin typeface="Tahoma" panose="020B0604030504040204" pitchFamily="34" charset="0"/>
                    <a:ea typeface="Tahoma" panose="020B0604030504040204" pitchFamily="34" charset="0"/>
                    <a:cs typeface="Tahoma" panose="020B0604030504040204" pitchFamily="34" charset="0"/>
                  </a:rPr>
                  <a:t>tuyến</a:t>
                </a:r>
                <a:r>
                  <a:rPr lang="en-US" sz="4700" b="1" dirty="0">
                    <a:solidFill>
                      <a:prstClr val="black"/>
                    </a:solidFill>
                    <a:latin typeface="Tahoma" panose="020B0604030504040204" pitchFamily="34" charset="0"/>
                    <a:ea typeface="Tahoma" panose="020B0604030504040204" pitchFamily="34" charset="0"/>
                    <a:cs typeface="Tahoma" panose="020B0604030504040204" pitchFamily="34" charset="0"/>
                  </a:rPr>
                  <a:t>.</a:t>
                </a:r>
                <a:r>
                  <a:rPr lang="en-US" sz="4700" b="1" dirty="0">
                    <a:latin typeface="Tahoma" panose="020B0604030504040204" pitchFamily="34" charset="0"/>
                    <a:ea typeface="Tahoma" panose="020B0604030504040204" pitchFamily="34" charset="0"/>
                    <a:cs typeface="Tahoma" panose="020B0604030504040204" pitchFamily="34" charset="0"/>
                  </a:rPr>
                  <a:t> </a:t>
                </a:r>
              </a:p>
              <a:p>
                <a:pPr marL="0" indent="0">
                  <a:lnSpc>
                    <a:spcPct val="107000"/>
                  </a:lnSpc>
                  <a:spcAft>
                    <a:spcPts val="800"/>
                  </a:spcAft>
                  <a:buNone/>
                </a:pPr>
                <a:r>
                  <a:rPr lang="en-US" b="1" u="sng"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endParaRPr lang="en-US" b="1" u="sng"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nSpc>
                    <a:spcPct val="107000"/>
                  </a:lnSpc>
                  <a:spcAft>
                    <a:spcPts val="800"/>
                  </a:spcAft>
                  <a:buNone/>
                </a:pP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𝜟</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lnSpc>
                    <a:spcPct val="107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𝟑</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𝟐</m:t>
                        </m:r>
                      </m:e>
                    </m:d>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𝟒</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𝟏</m:t>
                        </m:r>
                      </m:e>
                    </m:d>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𝟎</m:t>
                    </m:r>
                  </m:oMath>
                </a14:m>
                <a:r>
                  <a:rPr lang="en-US" b="1" dirty="0">
                    <a:latin typeface="Tahoma" panose="020B0604030504040204" pitchFamily="34" charset="0"/>
                    <a:ea typeface="Tahoma" panose="020B0604030504040204" pitchFamily="34" charset="0"/>
                    <a:cs typeface="Tahoma" panose="020B0604030504040204" pitchFamily="34" charset="0"/>
                  </a:rPr>
                  <a:t> </a:t>
                </a:r>
              </a:p>
              <a:p>
                <a:pPr marL="0" indent="0">
                  <a:lnSpc>
                    <a:spcPct val="107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hay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𝟑</m:t>
                    </m:r>
                    <m:r>
                      <a:rPr lang="en-US" b="1" i="1" smtClean="0">
                        <a:latin typeface="Cambria Math" panose="02040503050406030204" pitchFamily="18" charset="0"/>
                        <a:ea typeface="Calibri" panose="020F0502020204030204" pitchFamily="34" charset="0"/>
                        <a:cs typeface="Times New Roman" panose="02020603050405020304" pitchFamily="18" charset="0"/>
                      </a:rPr>
                      <m:t>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𝟒</m:t>
                    </m:r>
                    <m:r>
                      <a:rPr lang="en-US" b="1" i="1" smtClean="0">
                        <a:latin typeface="Cambria Math" panose="02040503050406030204" pitchFamily="18" charset="0"/>
                        <a:ea typeface="Calibri" panose="020F0502020204030204" pitchFamily="34" charset="0"/>
                        <a:cs typeface="Times New Roman" panose="02020603050405020304" pitchFamily="18" charset="0"/>
                      </a:rPr>
                      <m:t>𝒚</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𝟏𝟎</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𝟎</m:t>
                    </m:r>
                  </m:oMath>
                </a14:m>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Aft>
                    <a:spcPts val="800"/>
                  </a:spcAft>
                  <a:buNone/>
                </a:pPr>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2"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457200" y="3048001"/>
                <a:ext cx="11624065" cy="10363199"/>
              </a:xfrm>
              <a:prstGeom prst="rect">
                <a:avLst/>
              </a:prstGeom>
              <a:blipFill>
                <a:blip r:embed="rId3"/>
                <a:stretch>
                  <a:fillRect l="-2305" r="-2252"/>
                </a:stretch>
              </a:blipFill>
              <a:ln>
                <a:solidFill>
                  <a:srgbClr val="00B0F0"/>
                </a:solidFill>
              </a:ln>
            </p:spPr>
            <p:txBody>
              <a:bodyPr/>
              <a:lstStyle/>
              <a:p>
                <a:r>
                  <a:rPr lang="en-US">
                    <a:noFill/>
                  </a:rPr>
                  <a:t> </a:t>
                </a:r>
              </a:p>
            </p:txBody>
          </p:sp>
        </mc:Fallback>
      </mc:AlternateContent>
      <p:grpSp>
        <p:nvGrpSpPr>
          <p:cNvPr id="13" name="Group 12"/>
          <p:cNvGrpSpPr/>
          <p:nvPr/>
        </p:nvGrpSpPr>
        <p:grpSpPr>
          <a:xfrm>
            <a:off x="721162" y="3132684"/>
            <a:ext cx="3165038" cy="846967"/>
            <a:chOff x="27395" y="60714"/>
            <a:chExt cx="1260580" cy="157054"/>
          </a:xfrm>
        </p:grpSpPr>
        <p:grpSp>
          <p:nvGrpSpPr>
            <p:cNvPr id="14" name="Group 13"/>
            <p:cNvGrpSpPr/>
            <p:nvPr/>
          </p:nvGrpSpPr>
          <p:grpSpPr>
            <a:xfrm>
              <a:off x="27395" y="60714"/>
              <a:ext cx="1260580" cy="157054"/>
              <a:chOff x="38544" y="62041"/>
              <a:chExt cx="1773659" cy="194361"/>
            </a:xfrm>
          </p:grpSpPr>
          <p:sp>
            <p:nvSpPr>
              <p:cNvPr id="16" name="Arrow: Pentagon 25"/>
              <p:cNvSpPr/>
              <p:nvPr/>
            </p:nvSpPr>
            <p:spPr>
              <a:xfrm>
                <a:off x="204585" y="62041"/>
                <a:ext cx="1607618" cy="194296"/>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6000"/>
                  </a:lnSpc>
                  <a:spcAft>
                    <a:spcPts val="800"/>
                  </a:spcAft>
                </a:pPr>
                <a:r>
                  <a:rPr lang="en-US" sz="1000" b="1" kern="1200">
                    <a:solidFill>
                      <a:srgbClr val="0000CC"/>
                    </a:solidFill>
                    <a:effectLst/>
                    <a:ea typeface="Calibri" panose="020F0502020204030204" pitchFamily="34" charset="0"/>
                    <a:cs typeface="Times New Roman" panose="02020603050405020304" pitchFamily="18" charset="0"/>
                  </a:rPr>
                  <a:t> </a:t>
                </a:r>
                <a:endParaRPr lang="en-US" sz="1200" b="1">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7" name="Arrow: Chevron 26"/>
              <p:cNvSpPr/>
              <p:nvPr/>
            </p:nvSpPr>
            <p:spPr>
              <a:xfrm>
                <a:off x="38544" y="62041"/>
                <a:ext cx="155658" cy="194361"/>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sp>
            <p:nvSpPr>
              <p:cNvPr id="18" name="Arrow: Chevron 27"/>
              <p:cNvSpPr/>
              <p:nvPr/>
            </p:nvSpPr>
            <p:spPr>
              <a:xfrm>
                <a:off x="115330" y="62041"/>
                <a:ext cx="177710" cy="194296"/>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grpSp>
        <p:sp>
          <p:nvSpPr>
            <p:cNvPr id="15" name="TextBox 56"/>
            <p:cNvSpPr txBox="1"/>
            <p:nvPr/>
          </p:nvSpPr>
          <p:spPr>
            <a:xfrm>
              <a:off x="250984" y="68068"/>
              <a:ext cx="884516" cy="139535"/>
            </a:xfrm>
            <a:prstGeom prst="rect">
              <a:avLst/>
            </a:prstGeom>
            <a:noFill/>
          </p:spPr>
          <p:txBody>
            <a:bodyPr wrap="square">
              <a:noAutofit/>
            </a:bodyPr>
            <a:lstStyle/>
            <a:p>
              <a:pPr>
                <a:lnSpc>
                  <a:spcPct val="107000"/>
                </a:lnSpc>
                <a:spcAft>
                  <a:spcPts val="800"/>
                </a:spcAft>
              </a:pPr>
              <a:r>
                <a:rPr lang="en-US" sz="4800" b="1" kern="1200">
                  <a:solidFill>
                    <a:srgbClr val="0000CC"/>
                  </a:solidFill>
                  <a:effectLst/>
                  <a:latin typeface="Tomaho"/>
                  <a:ea typeface="Calibri" panose="020F0502020204030204" pitchFamily="34" charset="0"/>
                  <a:cs typeface="Times New Roman" panose="02020603050405020304" pitchFamily="18" charset="0"/>
                </a:rPr>
                <a:t>Ví dụ 2.</a:t>
              </a:r>
              <a:endParaRPr lang="en-US" sz="4800" b="1">
                <a:effectLst/>
                <a:latin typeface="Tomaho"/>
                <a:ea typeface="Calibri" panose="020F0502020204030204" pitchFamily="34"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14822BB7-DB89-4357-87F0-6E511FC44A6A}"/>
                  </a:ext>
                </a:extLst>
              </p:cNvPr>
              <p:cNvSpPr txBox="1">
                <a:spLocks/>
              </p:cNvSpPr>
              <p:nvPr/>
            </p:nvSpPr>
            <p:spPr>
              <a:xfrm>
                <a:off x="12263861" y="3086964"/>
                <a:ext cx="11739139" cy="103631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just">
                  <a:lnSpc>
                    <a:spcPct val="100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Trong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mặt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phẳng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tọa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độ</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cho</a:t>
                </a:r>
                <a:r>
                  <a:rPr lang="en-US" b="1" dirty="0">
                    <a:latin typeface="Tahoma" panose="020B0604030504040204" pitchFamily="34" charset="0"/>
                    <a:ea typeface="Tahoma" panose="020B0604030504040204" pitchFamily="34" charset="0"/>
                    <a:cs typeface="Tahoma" panose="020B0604030504040204" pitchFamily="34" charset="0"/>
                  </a:rPr>
                  <a:t> tam </a:t>
                </a:r>
                <a:r>
                  <a:rPr lang="en-US" b="1" dirty="0" err="1">
                    <a:latin typeface="Tahoma" panose="020B0604030504040204" pitchFamily="34" charset="0"/>
                    <a:ea typeface="Tahoma" panose="020B0604030504040204" pitchFamily="34" charset="0"/>
                    <a:cs typeface="Tahoma" panose="020B0604030504040204" pitchFamily="34" charset="0"/>
                  </a:rPr>
                  <a:t>giác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đỉnh</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𝑨</m:t>
                    </m:r>
                    <m:d>
                      <m:dPr>
                        <m:ctrlPr>
                          <a:rPr lang="en-US"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𝟏</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𝟓</m:t>
                        </m:r>
                      </m:e>
                    </m:d>
                    <m:r>
                      <a:rPr lang="en-US"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𝑩</m:t>
                    </m:r>
                    <m:d>
                      <m:dPr>
                        <m:ctrlPr>
                          <a:rPr lang="en-US"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𝟐</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𝟑</m:t>
                        </m:r>
                      </m:e>
                    </m:d>
                    <m:r>
                      <a:rPr lang="en-US"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𝑪</m:t>
                    </m:r>
                    <m:d>
                      <m:dPr>
                        <m:ctrlPr>
                          <a:rPr lang="en-US"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𝟔</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𝟏</m:t>
                        </m:r>
                      </m:e>
                    </m:d>
                  </m:oMath>
                </a14:m>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Lập</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phương</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trình</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tổng</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quát</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của</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đường</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cao</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kẻ</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từ</a:t>
                </a:r>
                <a:r>
                  <a:rPr lang="en-US"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𝑨</m:t>
                    </m:r>
                  </m:oMath>
                </a14:m>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của</a:t>
                </a:r>
                <a:r>
                  <a:rPr lang="en-US" b="1" dirty="0">
                    <a:effectLst/>
                    <a:latin typeface="Tahoma" panose="020B0604030504040204" pitchFamily="34" charset="0"/>
                    <a:ea typeface="Tahoma" panose="020B0604030504040204" pitchFamily="34" charset="0"/>
                    <a:cs typeface="Tahoma" panose="020B0604030504040204" pitchFamily="34" charset="0"/>
                  </a:rPr>
                  <a:t> tam </a:t>
                </a:r>
                <a:r>
                  <a:rPr lang="en-US" b="1" dirty="0" err="1">
                    <a:effectLst/>
                    <a:latin typeface="Tahoma" panose="020B0604030504040204" pitchFamily="34" charset="0"/>
                    <a:ea typeface="Tahoma" panose="020B0604030504040204" pitchFamily="34" charset="0"/>
                    <a:cs typeface="Tahoma" panose="020B0604030504040204" pitchFamily="34" charset="0"/>
                  </a:rPr>
                  <a:t>giác</a:t>
                </a:r>
                <a14:m>
                  <m:oMath xmlns:m="http://schemas.openxmlformats.org/officeDocument/2006/math">
                    <m:r>
                      <a:rPr lang="en-US" b="1" i="0" smtClean="0">
                        <a:effectLst/>
                        <a:latin typeface="Cambria Math" panose="02040503050406030204" pitchFamily="18" charset="0"/>
                        <a:ea typeface="Calibri" panose="020F0502020204030204" pitchFamily="34" charset="0"/>
                        <a:cs typeface="Times New Roman" panose="02020603050405020304" pitchFamily="18" charset="0"/>
                      </a:rPr>
                      <m:t> </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𝑨𝑩𝑪</m:t>
                    </m:r>
                  </m:oMath>
                </a14:m>
                <a:r>
                  <a:rPr lang="en-US" b="1" dirty="0">
                    <a:effectLst/>
                    <a:latin typeface="Tahoma" panose="020B0604030504040204" pitchFamily="34" charset="0"/>
                    <a:ea typeface="Tahoma" panose="020B0604030504040204" pitchFamily="34" charset="0"/>
                    <a:cs typeface="Tahoma" panose="020B0604030504040204" pitchFamily="34" charset="0"/>
                  </a:rPr>
                  <a:t>.</a:t>
                </a:r>
              </a:p>
              <a:p>
                <a:pPr marL="0" indent="0" algn="just">
                  <a:lnSpc>
                    <a:spcPct val="100000"/>
                  </a:lnSpc>
                  <a:spcBef>
                    <a:spcPts val="0"/>
                  </a:spcBef>
                  <a:buNone/>
                </a:pPr>
                <a:r>
                  <a:rPr lang="en-US" b="1" u="sng"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endParaRPr lang="en-US" b="1" u="sng"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gn="just">
                  <a:lnSpc>
                    <a:spcPct val="100000"/>
                  </a:lnSpc>
                  <a:spcBef>
                    <a:spcPts val="0"/>
                  </a:spcBef>
                  <a:buNone/>
                </a:pP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cao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kẻ</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từ</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0" smtClean="0">
                        <a:effectLst/>
                        <a:latin typeface="Cambria Math" panose="02040503050406030204" pitchFamily="18" charset="0"/>
                        <a:ea typeface="Calibri" panose="020F0502020204030204" pitchFamily="34" charset="0"/>
                        <a:cs typeface="Times New Roman" panose="02020603050405020304" pitchFamily="18" charset="0"/>
                      </a:rPr>
                      <m:t> </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𝑨</m:t>
                    </m:r>
                  </m:oMath>
                </a14:m>
                <a:r>
                  <a:rPr lang="en-US" b="1" dirty="0">
                    <a:effectLst/>
                    <a:latin typeface="Tahoma" panose="020B0604030504040204" pitchFamily="34" charset="0"/>
                    <a:ea typeface="Tahoma" panose="020B0604030504040204" pitchFamily="34" charset="0"/>
                    <a:cs typeface="Tahoma" panose="020B0604030504040204" pitchFamily="34" charset="0"/>
                  </a:rPr>
                  <a:t> 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a:effectLst/>
                    <a:latin typeface="Tahoma" panose="020B0604030504040204" pitchFamily="34" charset="0"/>
                    <a:ea typeface="Tahoma" panose="020B0604030504040204" pitchFamily="34" charset="0"/>
                    <a:cs typeface="Tahoma" panose="020B0604030504040204" pitchFamily="34" charset="0"/>
                  </a:rPr>
                  <a:t>tam </a:t>
                </a:r>
                <a:r>
                  <a:rPr lang="en-US" b="1" dirty="0" err="1">
                    <a:effectLst/>
                    <a:latin typeface="Tahoma" panose="020B0604030504040204" pitchFamily="34" charset="0"/>
                    <a:ea typeface="Tahoma" panose="020B0604030504040204" pitchFamily="34" charset="0"/>
                    <a:cs typeface="Tahoma" panose="020B0604030504040204" pitchFamily="34" charset="0"/>
                  </a:rPr>
                  <a:t>giác</a:t>
                </a:r>
                <a14:m>
                  <m:oMath xmlns:m="http://schemas.openxmlformats.org/officeDocument/2006/math">
                    <m:r>
                      <a:rPr lang="en-US" b="1" i="0" smtClean="0">
                        <a:effectLst/>
                        <a:latin typeface="Cambria Math" panose="02040503050406030204" pitchFamily="18" charset="0"/>
                        <a:ea typeface="Calibri" panose="020F0502020204030204" pitchFamily="34" charset="0"/>
                        <a:cs typeface="Times New Roman" panose="02020603050405020304" pitchFamily="18" charset="0"/>
                      </a:rPr>
                      <m:t> </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𝑨𝑩𝑪</m:t>
                    </m:r>
                  </m:oMath>
                </a14:m>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vuông</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góc</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với</a:t>
                </a:r>
                <a:r>
                  <a:rPr lang="en-US"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𝑩𝑪</m:t>
                    </m:r>
                  </m:oMath>
                </a14:m>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nên</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có</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một</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vectơ</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pháp</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tuyến</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là</a:t>
                </a:r>
                <a:r>
                  <a:rPr lang="en-US"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𝑩𝑪</m:t>
                        </m:r>
                      </m:e>
                    </m:acc>
                    <m:d>
                      <m:dPr>
                        <m:ctrlPr>
                          <a:rPr lang="en-US"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𝟒</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𝟐</m:t>
                        </m:r>
                      </m:e>
                    </m:d>
                  </m:oMath>
                </a14:m>
                <a:r>
                  <a:rPr lang="en-US" b="1" dirty="0">
                    <a:effectLst/>
                    <a:latin typeface="Tahoma" panose="020B0604030504040204" pitchFamily="34" charset="0"/>
                    <a:ea typeface="Tahoma" panose="020B0604030504040204" pitchFamily="34" charset="0"/>
                    <a:cs typeface="Tahoma" panose="020B0604030504040204" pitchFamily="34" charset="0"/>
                  </a:rPr>
                  <a:t>.</a:t>
                </a:r>
              </a:p>
              <a:p>
                <a:pPr marL="0" indent="0" algn="just">
                  <a:lnSpc>
                    <a:spcPct val="100000"/>
                  </a:lnSpc>
                  <a:spcBef>
                    <a:spcPts val="0"/>
                  </a:spcBef>
                  <a:buNone/>
                </a:pPr>
                <a:r>
                  <a:rPr lang="en-US" b="1" dirty="0" err="1">
                    <a:effectLst/>
                    <a:latin typeface="Tahoma" panose="020B0604030504040204" pitchFamily="34" charset="0"/>
                    <a:ea typeface="Tahoma" panose="020B0604030504040204" pitchFamily="34" charset="0"/>
                    <a:cs typeface="Tahoma" panose="020B0604030504040204" pitchFamily="34" charset="0"/>
                  </a:rPr>
                  <a:t>Đường</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cao</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kẻ</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từ</a:t>
                </a:r>
                <a14:m>
                  <m:oMath xmlns:m="http://schemas.openxmlformats.org/officeDocument/2006/math">
                    <m:r>
                      <a:rPr lang="en-US" b="1" i="0" smtClean="0">
                        <a:effectLst/>
                        <a:latin typeface="Cambria Math" panose="02040503050406030204" pitchFamily="18" charset="0"/>
                        <a:ea typeface="Calibri" panose="020F0502020204030204" pitchFamily="34" charset="0"/>
                        <a:cs typeface="Times New Roman" panose="02020603050405020304" pitchFamily="18" charset="0"/>
                      </a:rPr>
                      <m:t> </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𝑨</m:t>
                    </m:r>
                  </m:oMath>
                </a14:m>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của</a:t>
                </a:r>
                <a:r>
                  <a:rPr lang="en-US" b="1" dirty="0">
                    <a:effectLst/>
                    <a:latin typeface="Tahoma" panose="020B0604030504040204" pitchFamily="34" charset="0"/>
                    <a:ea typeface="Tahoma" panose="020B0604030504040204" pitchFamily="34" charset="0"/>
                    <a:cs typeface="Tahoma" panose="020B0604030504040204" pitchFamily="34" charset="0"/>
                  </a:rPr>
                  <a:t> tam </a:t>
                </a:r>
                <a:r>
                  <a:rPr lang="en-US" b="1" dirty="0" err="1">
                    <a:effectLst/>
                    <a:latin typeface="Tahoma" panose="020B0604030504040204" pitchFamily="34" charset="0"/>
                    <a:ea typeface="Tahoma" panose="020B0604030504040204" pitchFamily="34" charset="0"/>
                    <a:cs typeface="Tahoma" panose="020B0604030504040204" pitchFamily="34" charset="0"/>
                  </a:rPr>
                  <a:t>giác</a:t>
                </a:r>
                <a14:m>
                  <m:oMath xmlns:m="http://schemas.openxmlformats.org/officeDocument/2006/math">
                    <m:r>
                      <a:rPr lang="en-US" b="1" i="0" smtClean="0">
                        <a:effectLst/>
                        <a:latin typeface="Cambria Math" panose="02040503050406030204" pitchFamily="18" charset="0"/>
                        <a:ea typeface="Calibri" panose="020F0502020204030204" pitchFamily="34" charset="0"/>
                        <a:cs typeface="Times New Roman" panose="02020603050405020304" pitchFamily="18" charset="0"/>
                      </a:rPr>
                      <m:t> </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𝑨𝑩𝑪</m:t>
                    </m:r>
                  </m:oMath>
                </a14:m>
                <a:r>
                  <a:rPr lang="en-US" b="1" dirty="0" err="1">
                    <a:effectLst/>
                    <a:latin typeface="Tahoma" panose="020B0604030504040204" pitchFamily="34" charset="0"/>
                    <a:ea typeface="Tahoma" panose="020B0604030504040204" pitchFamily="34" charset="0"/>
                    <a:cs typeface="Tahoma" panose="020B0604030504040204" pitchFamily="34" charset="0"/>
                  </a:rPr>
                  <a:t>có</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phương</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trình</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tổng</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quát</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là</a:t>
                </a:r>
                <a:endParaRPr lang="en-US" b="1" dirty="0">
                  <a:effectLst/>
                  <a:latin typeface="Tahoma" panose="020B0604030504040204" pitchFamily="34" charset="0"/>
                  <a:ea typeface="Tahoma" panose="020B0604030504040204" pitchFamily="34" charset="0"/>
                  <a:cs typeface="Tahoma" panose="020B0604030504040204" pitchFamily="34" charset="0"/>
                </a:endParaRPr>
              </a:p>
              <a:p>
                <a:pPr marL="0" indent="0" algn="just">
                  <a:lnSpc>
                    <a:spcPct val="100000"/>
                  </a:lnSpc>
                  <a:spcBef>
                    <a:spcPts val="0"/>
                  </a:spcBef>
                  <a:buNone/>
                </a:pPr>
                <a:r>
                  <a:rPr lang="en-US"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𝟒</m:t>
                    </m:r>
                    <m:d>
                      <m:dPr>
                        <m:ctrlPr>
                          <a:rPr lang="en-US"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𝒙</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𝟏</m:t>
                        </m:r>
                      </m:e>
                    </m:d>
                    <m:r>
                      <a:rPr lang="en-US"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𝟐</m:t>
                    </m:r>
                    <m:d>
                      <m:dPr>
                        <m:ctrlPr>
                          <a:rPr lang="en-US"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𝒚</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𝟓</m:t>
                        </m:r>
                      </m:e>
                    </m:d>
                    <m:r>
                      <a:rPr lang="en-US"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𝟎</m:t>
                    </m:r>
                  </m:oMath>
                </a14:m>
                <a:r>
                  <a:rPr lang="en-US" b="1" dirty="0">
                    <a:effectLst/>
                    <a:latin typeface="Tahoma" panose="020B0604030504040204" pitchFamily="34" charset="0"/>
                    <a:ea typeface="Tahoma" panose="020B0604030504040204" pitchFamily="34" charset="0"/>
                    <a:cs typeface="Tahoma" panose="020B0604030504040204" pitchFamily="34" charset="0"/>
                  </a:rPr>
                  <a:t> </a:t>
                </a:r>
              </a:p>
              <a:p>
                <a:pPr marL="0" indent="0" algn="just">
                  <a:lnSpc>
                    <a:spcPct val="100000"/>
                  </a:lnSpc>
                  <a:spcBef>
                    <a:spcPts val="0"/>
                  </a:spcBef>
                  <a:buNone/>
                </a:pPr>
                <a:r>
                  <a:rPr lang="en-US" b="1" dirty="0">
                    <a:effectLst/>
                    <a:latin typeface="Tahoma" panose="020B0604030504040204" pitchFamily="34" charset="0"/>
                    <a:ea typeface="Tahoma" panose="020B0604030504040204" pitchFamily="34" charset="0"/>
                    <a:cs typeface="Tahoma" panose="020B0604030504040204" pitchFamily="34" charset="0"/>
                  </a:rPr>
                  <a:t>hay </a:t>
                </a:r>
                <a14:m>
                  <m:oMath xmlns:m="http://schemas.openxmlformats.org/officeDocument/2006/math">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𝟒</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𝒙</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𝟐</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𝒚</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𝟏𝟒</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𝟎</m:t>
                    </m:r>
                  </m:oMath>
                </a14:m>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12263861" y="3086964"/>
                <a:ext cx="11739139" cy="10363199"/>
              </a:xfrm>
              <a:prstGeom prst="rect">
                <a:avLst/>
              </a:prstGeom>
              <a:blipFill>
                <a:blip r:embed="rId4"/>
                <a:stretch>
                  <a:fillRect l="-2334" t="-1293" r="-2282"/>
                </a:stretch>
              </a:blipFill>
              <a:ln>
                <a:solidFill>
                  <a:srgbClr val="00B0F0"/>
                </a:solidFill>
              </a:ln>
            </p:spPr>
            <p:txBody>
              <a:bodyPr/>
              <a:lstStyle/>
              <a:p>
                <a:r>
                  <a:rPr lang="en-US">
                    <a:noFill/>
                  </a:rPr>
                  <a:t> </a:t>
                </a:r>
              </a:p>
            </p:txBody>
          </p:sp>
        </mc:Fallback>
      </mc:AlternateContent>
      <p:grpSp>
        <p:nvGrpSpPr>
          <p:cNvPr id="20" name="Group 19"/>
          <p:cNvGrpSpPr/>
          <p:nvPr/>
        </p:nvGrpSpPr>
        <p:grpSpPr>
          <a:xfrm>
            <a:off x="12475528" y="3059710"/>
            <a:ext cx="3983672" cy="865123"/>
            <a:chOff x="1219200" y="1883409"/>
            <a:chExt cx="4234636" cy="865123"/>
          </a:xfrm>
        </p:grpSpPr>
        <p:grpSp>
          <p:nvGrpSpPr>
            <p:cNvPr id="21" name="Group 20"/>
            <p:cNvGrpSpPr/>
            <p:nvPr/>
          </p:nvGrpSpPr>
          <p:grpSpPr>
            <a:xfrm>
              <a:off x="1219200" y="1883409"/>
              <a:ext cx="4234636" cy="865123"/>
              <a:chOff x="10025696" y="6718934"/>
              <a:chExt cx="4234636" cy="865123"/>
            </a:xfrm>
          </p:grpSpPr>
          <p:sp>
            <p:nvSpPr>
              <p:cNvPr id="23" name="Arrow: Pentagon 33"/>
              <p:cNvSpPr/>
              <p:nvPr/>
            </p:nvSpPr>
            <p:spPr>
              <a:xfrm>
                <a:off x="10429865" y="6752717"/>
                <a:ext cx="3810953" cy="80670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a:lnSpc>
                    <a:spcPct val="106000"/>
                  </a:lnSpc>
                  <a:spcAft>
                    <a:spcPts val="800"/>
                  </a:spcAft>
                </a:pPr>
                <a:r>
                  <a:rPr lang="en-US" sz="10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b="1">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5" name="Arrow: Chevron 34"/>
              <p:cNvSpPr/>
              <p:nvPr/>
            </p:nvSpPr>
            <p:spPr>
              <a:xfrm>
                <a:off x="10025696" y="6773546"/>
                <a:ext cx="273620" cy="806702"/>
              </a:xfrm>
              <a:prstGeom prst="chevron">
                <a:avLst/>
              </a:prstGeom>
              <a:solidFill>
                <a:srgbClr val="4472C4"/>
              </a:solidFill>
              <a:ln w="12700" cap="flat" cmpd="sng" algn="ctr">
                <a:noFill/>
                <a:prstDash val="solid"/>
                <a:miter lim="800000"/>
              </a:ln>
              <a:effectLst/>
            </p:spPr>
            <p:txBody>
              <a:bodyPr rtlCol="0" anchor="ctr"/>
              <a:lstStyle/>
              <a:p>
                <a:endParaRPr lang="en-US" b="1"/>
              </a:p>
            </p:txBody>
          </p:sp>
          <p:sp>
            <p:nvSpPr>
              <p:cNvPr id="26" name="TextBox 56"/>
              <p:cNvSpPr txBox="1"/>
              <p:nvPr/>
            </p:nvSpPr>
            <p:spPr>
              <a:xfrm>
                <a:off x="10582965" y="6718934"/>
                <a:ext cx="3677367" cy="865123"/>
              </a:xfrm>
              <a:prstGeom prst="rect">
                <a:avLst/>
              </a:prstGeom>
              <a:noFill/>
            </p:spPr>
            <p:txBody>
              <a:bodyPr wrap="square">
                <a:noAutofit/>
              </a:bodyPr>
              <a:lstStyle/>
              <a:p>
                <a:pPr>
                  <a:lnSpc>
                    <a:spcPct val="107000"/>
                  </a:lnSpc>
                  <a:spcAft>
                    <a:spcPts val="800"/>
                  </a:spcAft>
                </a:pPr>
                <a:r>
                  <a:rPr lang="en-US" sz="4800" b="1" kern="1200">
                    <a:solidFill>
                      <a:srgbClr val="0000CC"/>
                    </a:solidFill>
                    <a:effectLst/>
                    <a:latin typeface="Tomaho"/>
                    <a:ea typeface="Calibri" panose="020F0502020204030204" pitchFamily="34" charset="0"/>
                    <a:cs typeface="Times New Roman" panose="02020603050405020304" pitchFamily="18" charset="0"/>
                  </a:rPr>
                  <a:t>Luyện tập 1.</a:t>
                </a:r>
                <a:endParaRPr lang="en-US" sz="4800" b="1">
                  <a:effectLst/>
                  <a:latin typeface="Tomaho"/>
                  <a:ea typeface="Calibri" panose="020F0502020204030204" pitchFamily="34" charset="0"/>
                  <a:cs typeface="Times New Roman" panose="02020603050405020304" pitchFamily="18" charset="0"/>
                </a:endParaRPr>
              </a:p>
            </p:txBody>
          </p:sp>
        </p:grpSp>
        <p:sp>
          <p:nvSpPr>
            <p:cNvPr id="22" name="Arrow: Chevron 35"/>
            <p:cNvSpPr/>
            <p:nvPr/>
          </p:nvSpPr>
          <p:spPr>
            <a:xfrm>
              <a:off x="1349749" y="1935480"/>
              <a:ext cx="296171" cy="806702"/>
            </a:xfrm>
            <a:prstGeom prst="chevron">
              <a:avLst/>
            </a:prstGeom>
            <a:solidFill>
              <a:srgbClr val="FFC000"/>
            </a:solidFill>
            <a:ln w="12700" cap="flat" cmpd="sng" algn="ctr">
              <a:noFill/>
              <a:prstDash val="solid"/>
              <a:miter lim="800000"/>
            </a:ln>
            <a:effectLst/>
          </p:spPr>
          <p:txBody>
            <a:bodyPr rtlCol="0" anchor="ctr"/>
            <a:lstStyle/>
            <a:p>
              <a:endParaRPr lang="en-US" b="1"/>
            </a:p>
          </p:txBody>
        </p:sp>
      </p:grpSp>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03806981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2">
                                            <p:txEl>
                                              <p:pRg st="0" end="0"/>
                                            </p:txEl>
                                          </p:spTgt>
                                        </p:tgtEl>
                                        <p:attrNameLst>
                                          <p:attrName>style.visibility</p:attrName>
                                        </p:attrNameLst>
                                      </p:cBhvr>
                                      <p:to>
                                        <p:strVal val="visible"/>
                                      </p:to>
                                    </p:set>
                                    <p:animEffect transition="in" filter="fade">
                                      <p:cBhvr>
                                        <p:cTn id="26" dur="500"/>
                                        <p:tgtEl>
                                          <p:spTgt spid="12">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2">
                                            <p:txEl>
                                              <p:pRg st="1" end="1"/>
                                            </p:txEl>
                                          </p:spTgt>
                                        </p:tgtEl>
                                        <p:attrNameLst>
                                          <p:attrName>style.visibility</p:attrName>
                                        </p:attrNameLst>
                                      </p:cBhvr>
                                      <p:to>
                                        <p:strVal val="visible"/>
                                      </p:to>
                                    </p:set>
                                    <p:animEffect transition="in" filter="fade">
                                      <p:cBhvr>
                                        <p:cTn id="31" dur="500"/>
                                        <p:tgtEl>
                                          <p:spTgt spid="12">
                                            <p:txEl>
                                              <p:pRg st="1" end="1"/>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2">
                                            <p:txEl>
                                              <p:pRg st="2" end="2"/>
                                            </p:txEl>
                                          </p:spTgt>
                                        </p:tgtEl>
                                        <p:attrNameLst>
                                          <p:attrName>style.visibility</p:attrName>
                                        </p:attrNameLst>
                                      </p:cBhvr>
                                      <p:to>
                                        <p:strVal val="visible"/>
                                      </p:to>
                                    </p:set>
                                    <p:animEffect transition="in" filter="fade">
                                      <p:cBhvr>
                                        <p:cTn id="34" dur="500"/>
                                        <p:tgtEl>
                                          <p:spTgt spid="12">
                                            <p:txEl>
                                              <p:pRg st="2" end="2"/>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12">
                                            <p:txEl>
                                              <p:pRg st="3" end="3"/>
                                            </p:txEl>
                                          </p:spTgt>
                                        </p:tgtEl>
                                        <p:attrNameLst>
                                          <p:attrName>style.visibility</p:attrName>
                                        </p:attrNameLst>
                                      </p:cBhvr>
                                      <p:to>
                                        <p:strVal val="visible"/>
                                      </p:to>
                                    </p:set>
                                    <p:animEffect transition="in" filter="fade">
                                      <p:cBhvr>
                                        <p:cTn id="37" dur="500"/>
                                        <p:tgtEl>
                                          <p:spTgt spid="12">
                                            <p:txEl>
                                              <p:pRg st="3" end="3"/>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12">
                                            <p:txEl>
                                              <p:pRg st="4" end="4"/>
                                            </p:txEl>
                                          </p:spTgt>
                                        </p:tgtEl>
                                        <p:attrNameLst>
                                          <p:attrName>style.visibility</p:attrName>
                                        </p:attrNameLst>
                                      </p:cBhvr>
                                      <p:to>
                                        <p:strVal val="visible"/>
                                      </p:to>
                                    </p:set>
                                    <p:animEffect transition="in" filter="fade">
                                      <p:cBhvr>
                                        <p:cTn id="40" dur="500"/>
                                        <p:tgtEl>
                                          <p:spTgt spid="12">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9">
                                            <p:txEl>
                                              <p:pRg st="0" end="0"/>
                                            </p:txEl>
                                          </p:spTgt>
                                        </p:tgtEl>
                                        <p:attrNameLst>
                                          <p:attrName>style.visibility</p:attrName>
                                        </p:attrNameLst>
                                      </p:cBhvr>
                                      <p:to>
                                        <p:strVal val="visible"/>
                                      </p:to>
                                    </p:set>
                                    <p:animEffect transition="in" filter="fade">
                                      <p:cBhvr>
                                        <p:cTn id="50" dur="500"/>
                                        <p:tgtEl>
                                          <p:spTgt spid="19">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9">
                                            <p:txEl>
                                              <p:pRg st="1" end="1"/>
                                            </p:txEl>
                                          </p:spTgt>
                                        </p:tgtEl>
                                        <p:attrNameLst>
                                          <p:attrName>style.visibility</p:attrName>
                                        </p:attrNameLst>
                                      </p:cBhvr>
                                      <p:to>
                                        <p:strVal val="visible"/>
                                      </p:to>
                                    </p:set>
                                    <p:animEffect transition="in" filter="fade">
                                      <p:cBhvr>
                                        <p:cTn id="55" dur="500"/>
                                        <p:tgtEl>
                                          <p:spTgt spid="19">
                                            <p:txEl>
                                              <p:pRg st="1" end="1"/>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9">
                                            <p:txEl>
                                              <p:pRg st="2" end="2"/>
                                            </p:txEl>
                                          </p:spTgt>
                                        </p:tgtEl>
                                        <p:attrNameLst>
                                          <p:attrName>style.visibility</p:attrName>
                                        </p:attrNameLst>
                                      </p:cBhvr>
                                      <p:to>
                                        <p:strVal val="visible"/>
                                      </p:to>
                                    </p:set>
                                    <p:animEffect transition="in" filter="fade">
                                      <p:cBhvr>
                                        <p:cTn id="60" dur="500"/>
                                        <p:tgtEl>
                                          <p:spTgt spid="19">
                                            <p:txEl>
                                              <p:pRg st="2" end="2"/>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9">
                                            <p:txEl>
                                              <p:pRg st="3" end="3"/>
                                            </p:txEl>
                                          </p:spTgt>
                                        </p:tgtEl>
                                        <p:attrNameLst>
                                          <p:attrName>style.visibility</p:attrName>
                                        </p:attrNameLst>
                                      </p:cBhvr>
                                      <p:to>
                                        <p:strVal val="visible"/>
                                      </p:to>
                                    </p:set>
                                    <p:animEffect transition="in" filter="fade">
                                      <p:cBhvr>
                                        <p:cTn id="65" dur="500"/>
                                        <p:tgtEl>
                                          <p:spTgt spid="19">
                                            <p:txEl>
                                              <p:pRg st="3" end="3"/>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9">
                                            <p:txEl>
                                              <p:pRg st="4" end="4"/>
                                            </p:txEl>
                                          </p:spTgt>
                                        </p:tgtEl>
                                        <p:attrNameLst>
                                          <p:attrName>style.visibility</p:attrName>
                                        </p:attrNameLst>
                                      </p:cBhvr>
                                      <p:to>
                                        <p:strVal val="visible"/>
                                      </p:to>
                                    </p:set>
                                    <p:animEffect transition="in" filter="fade">
                                      <p:cBhvr>
                                        <p:cTn id="70" dur="500"/>
                                        <p:tgtEl>
                                          <p:spTgt spid="19">
                                            <p:txEl>
                                              <p:pRg st="4" end="4"/>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9">
                                            <p:txEl>
                                              <p:pRg st="5" end="5"/>
                                            </p:txEl>
                                          </p:spTgt>
                                        </p:tgtEl>
                                        <p:attrNameLst>
                                          <p:attrName>style.visibility</p:attrName>
                                        </p:attrNameLst>
                                      </p:cBhvr>
                                      <p:to>
                                        <p:strVal val="visible"/>
                                      </p:to>
                                    </p:set>
                                    <p:animEffect transition="in" filter="fade">
                                      <p:cBhvr>
                                        <p:cTn id="75" dur="500"/>
                                        <p:tgtEl>
                                          <p:spTgt spid="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12" grpId="0" animBg="1"/>
      <p:bldP spid="1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04800" y="1879601"/>
            <a:ext cx="23698200" cy="11684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7000"/>
              </a:lnSpc>
              <a:spcAft>
                <a:spcPts val="800"/>
              </a:spcAft>
            </a:pPr>
            <a:r>
              <a:rPr lang="en-US" sz="4800" b="1">
                <a:solidFill>
                  <a:srgbClr val="FF0000"/>
                </a:solidFill>
                <a:latin typeface="Tahoma" panose="020B0604030504040204" pitchFamily="34" charset="0"/>
                <a:ea typeface="Tahoma" panose="020B0604030504040204" pitchFamily="34" charset="0"/>
                <a:cs typeface="Tahoma" panose="020B0604030504040204" pitchFamily="34" charset="0"/>
              </a:rPr>
              <a:t>1. PHƯƠNG TRÌNH TỔNG QUÁT CỦA ĐƯỜNG THẲNG</a:t>
            </a:r>
          </a:p>
        </p:txBody>
      </p:sp>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14822BB7-DB89-4357-87F0-6E511FC44A6A}"/>
                  </a:ext>
                </a:extLst>
              </p:cNvPr>
              <p:cNvSpPr txBox="1">
                <a:spLocks/>
              </p:cNvSpPr>
              <p:nvPr/>
            </p:nvSpPr>
            <p:spPr>
              <a:xfrm>
                <a:off x="304800" y="3139441"/>
                <a:ext cx="23698200" cy="1027176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lvl="0" indent="0" algn="just" defTabSz="2177278">
                  <a:lnSpc>
                    <a:spcPct val="107000"/>
                  </a:lnSpc>
                  <a:spcBef>
                    <a:spcPts val="0"/>
                  </a:spcBef>
                  <a:spcAft>
                    <a:spcPts val="800"/>
                  </a:spcAft>
                  <a:buNone/>
                </a:pP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Trong</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mặt</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phẳng</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tọa</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độ</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lập</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phương</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trình</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đường</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thẳng</a:t>
                </a:r>
                <a:r>
                  <a:rPr lang="en-US" b="1" dirty="0">
                    <a:solidFill>
                      <a:prstClr val="black"/>
                    </a:solidFill>
                    <a:ea typeface="Tahoma" panose="020B0604030504040204" pitchFamily="34" charset="0"/>
                    <a:cs typeface="Tahoma" panose="020B0604030504040204" pitchFamily="34" charset="0"/>
                  </a:rPr>
                  <a:t> </a:t>
                </a:r>
                <a14:m>
                  <m:oMath xmlns:m="http://schemas.openxmlformats.org/officeDocument/2006/math">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𝜟</m:t>
                    </m:r>
                  </m:oMath>
                </a14:m>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đi</a:t>
                </a:r>
                <a:r>
                  <a:rPr lang="en-US" b="1" dirty="0">
                    <a:solidFill>
                      <a:prstClr val="black"/>
                    </a:solidFill>
                    <a:ea typeface="Tahoma" panose="020B0604030504040204" pitchFamily="34" charset="0"/>
                    <a:cs typeface="Tahoma" panose="020B0604030504040204" pitchFamily="34" charset="0"/>
                  </a:rPr>
                  <a:t> qua </a:t>
                </a:r>
                <a14:m>
                  <m:oMath xmlns:m="http://schemas.openxmlformats.org/officeDocument/2006/math">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𝑨</m:t>
                    </m:r>
                    <m:d>
                      <m:dPr>
                        <m:ctrlP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𝟎</m:t>
                        </m:r>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m:t>
                        </m:r>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𝒃</m:t>
                        </m:r>
                      </m:e>
                    </m:d>
                  </m:oMath>
                </a14:m>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và</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có</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vectơ</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pháp</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tuyến</a:t>
                </a:r>
                <a:r>
                  <a:rPr lang="en-US" b="1" dirty="0">
                    <a:solidFill>
                      <a:prstClr val="black"/>
                    </a:solidFill>
                    <a:ea typeface="Tahoma" panose="020B0604030504040204" pitchFamily="34" charset="0"/>
                    <a:cs typeface="Tahoma" panose="020B0604030504040204" pitchFamily="34" charset="0"/>
                  </a:rPr>
                  <a:t> </a:t>
                </a:r>
                <a14:m>
                  <m:oMath xmlns:m="http://schemas.openxmlformats.org/officeDocument/2006/math">
                    <m:acc>
                      <m:accPr>
                        <m:chr m:val="⃗"/>
                        <m:ctrlP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𝒏</m:t>
                        </m:r>
                      </m:e>
                    </m:acc>
                    <m:d>
                      <m:dPr>
                        <m:ctrlP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𝒂</m:t>
                        </m:r>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m:t>
                        </m:r>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𝟏</m:t>
                        </m:r>
                      </m:e>
                    </m:d>
                  </m:oMath>
                </a14:m>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với</a:t>
                </a:r>
                <a:r>
                  <a:rPr lang="en-US" b="1" dirty="0">
                    <a:solidFill>
                      <a:prstClr val="black"/>
                    </a:solidFill>
                    <a:ea typeface="Tahoma" panose="020B0604030504040204" pitchFamily="34" charset="0"/>
                    <a:cs typeface="Tahoma" panose="020B0604030504040204" pitchFamily="34" charset="0"/>
                  </a:rPr>
                  <a:t> </a:t>
                </a:r>
                <a14:m>
                  <m:oMath xmlns:m="http://schemas.openxmlformats.org/officeDocument/2006/math">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𝒂</m:t>
                    </m:r>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m:t>
                    </m:r>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𝒃</m:t>
                    </m:r>
                  </m:oMath>
                </a14:m>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là</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các</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số</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thực</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cho</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trước</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Hãy</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chỉ</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ra</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mối</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liên</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hệ</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giữa</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đường</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thẳng</a:t>
                </a:r>
                <a:r>
                  <a:rPr lang="en-US" b="1" dirty="0">
                    <a:solidFill>
                      <a:prstClr val="black"/>
                    </a:solidFill>
                    <a:ea typeface="Tahoma" panose="020B0604030504040204" pitchFamily="34" charset="0"/>
                    <a:cs typeface="Tahoma" panose="020B0604030504040204" pitchFamily="34" charset="0"/>
                  </a:rPr>
                  <a:t> </a:t>
                </a:r>
                <a14:m>
                  <m:oMath xmlns:m="http://schemas.openxmlformats.org/officeDocument/2006/math">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𝜟</m:t>
                    </m:r>
                  </m:oMath>
                </a14:m>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với</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đồ</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thị</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hàm</a:t>
                </a:r>
                <a:r>
                  <a:rPr lang="en-US" b="1" dirty="0">
                    <a:solidFill>
                      <a:prstClr val="black"/>
                    </a:solidFill>
                    <a:ea typeface="Tahoma" panose="020B0604030504040204" pitchFamily="34" charset="0"/>
                    <a:cs typeface="Tahoma" panose="020B0604030504040204" pitchFamily="34" charset="0"/>
                  </a:rPr>
                  <a:t> </a:t>
                </a:r>
                <a:r>
                  <a:rPr lang="en-US" b="1" dirty="0" err="1">
                    <a:solidFill>
                      <a:prstClr val="black"/>
                    </a:solidFill>
                    <a:ea typeface="Tahoma" panose="020B0604030504040204" pitchFamily="34" charset="0"/>
                    <a:cs typeface="Tahoma" panose="020B0604030504040204" pitchFamily="34" charset="0"/>
                  </a:rPr>
                  <a:t>số</a:t>
                </a:r>
                <a:r>
                  <a:rPr lang="en-US" b="1" dirty="0">
                    <a:solidFill>
                      <a:prstClr val="black"/>
                    </a:solidFill>
                    <a:ea typeface="Tahoma" panose="020B0604030504040204" pitchFamily="34" charset="0"/>
                    <a:cs typeface="Tahoma" panose="020B0604030504040204" pitchFamily="34" charset="0"/>
                  </a:rPr>
                  <a:t> </a:t>
                </a:r>
                <a14:m>
                  <m:oMath xmlns:m="http://schemas.openxmlformats.org/officeDocument/2006/math">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𝒚</m:t>
                    </m:r>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m:t>
                    </m:r>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𝒂𝒙</m:t>
                    </m:r>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m:t>
                    </m:r>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𝒃</m:t>
                    </m:r>
                  </m:oMath>
                </a14:m>
                <a:r>
                  <a:rPr lang="en-US" b="1" dirty="0">
                    <a:solidFill>
                      <a:prstClr val="black"/>
                    </a:solidFill>
                    <a:ea typeface="Tahoma" panose="020B0604030504040204" pitchFamily="34" charset="0"/>
                    <a:cs typeface="Tahoma" panose="020B0604030504040204" pitchFamily="34" charset="0"/>
                  </a:rPr>
                  <a:t>.</a:t>
                </a:r>
              </a:p>
              <a:p>
                <a:pPr marL="0" indent="0">
                  <a:lnSpc>
                    <a:spcPct val="107000"/>
                  </a:lnSpc>
                  <a:spcAft>
                    <a:spcPts val="800"/>
                  </a:spcAft>
                  <a:buNone/>
                </a:pPr>
                <a:r>
                  <a:rPr lang="en-US" b="1" u="sng" dirty="0" err="1">
                    <a:solidFill>
                      <a:srgbClr val="FF0000"/>
                    </a:solidFill>
                    <a:ea typeface="Tahoma" panose="020B0604030504040204" pitchFamily="34" charset="0"/>
                    <a:cs typeface="Tahoma" panose="020B0604030504040204" pitchFamily="34" charset="0"/>
                  </a:rPr>
                  <a:t>Giải</a:t>
                </a:r>
                <a:endParaRPr lang="en-US" b="1" u="sng" dirty="0">
                  <a:solidFill>
                    <a:srgbClr val="FF0000"/>
                  </a:solidFill>
                  <a:ea typeface="Tahoma" panose="020B0604030504040204" pitchFamily="34" charset="0"/>
                  <a:cs typeface="Tahoma" panose="020B0604030504040204" pitchFamily="34" charset="0"/>
                </a:endParaRPr>
              </a:p>
              <a:p>
                <a:pPr marL="0" indent="0">
                  <a:lnSpc>
                    <a:spcPct val="107000"/>
                  </a:lnSpc>
                  <a:spcAft>
                    <a:spcPts val="800"/>
                  </a:spcAft>
                  <a:buNone/>
                </a:pPr>
                <a:r>
                  <a:rPr lang="en-US" b="1" dirty="0" err="1">
                    <a:ea typeface="Tahoma" panose="020B0604030504040204" pitchFamily="34" charset="0"/>
                    <a:cs typeface="Tahoma" panose="020B0604030504040204" pitchFamily="34" charset="0"/>
                  </a:rPr>
                  <a:t>Đường</a:t>
                </a:r>
                <a:r>
                  <a:rPr lang="en-US" b="1" dirty="0">
                    <a:ea typeface="Tahoma" panose="020B0604030504040204" pitchFamily="34" charset="0"/>
                    <a:cs typeface="Tahoma" panose="020B0604030504040204" pitchFamily="34" charset="0"/>
                  </a:rPr>
                  <a:t> </a:t>
                </a:r>
                <a:r>
                  <a:rPr lang="en-US" b="1" dirty="0" err="1">
                    <a:ea typeface="Tahoma" panose="020B0604030504040204" pitchFamily="34" charset="0"/>
                    <a:cs typeface="Tahoma" panose="020B0604030504040204" pitchFamily="34" charset="0"/>
                  </a:rPr>
                  <a:t>thẳng</a:t>
                </a:r>
                <a:r>
                  <a:rPr lang="en-US" b="1" dirty="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𝜟</m:t>
                    </m:r>
                  </m:oMath>
                </a14:m>
                <a:r>
                  <a:rPr lang="en-US" b="1" dirty="0">
                    <a:ea typeface="Tahoma" panose="020B0604030504040204" pitchFamily="34" charset="0"/>
                    <a:cs typeface="Tahoma" panose="020B0604030504040204" pitchFamily="34" charset="0"/>
                  </a:rPr>
                  <a:t> </a:t>
                </a:r>
                <a:r>
                  <a:rPr lang="en-US" b="1" dirty="0" err="1">
                    <a:ea typeface="Tahoma" panose="020B0604030504040204" pitchFamily="34" charset="0"/>
                    <a:cs typeface="Tahoma" panose="020B0604030504040204" pitchFamily="34" charset="0"/>
                  </a:rPr>
                  <a:t>phương</a:t>
                </a:r>
                <a:r>
                  <a:rPr lang="en-US" b="1" dirty="0">
                    <a:ea typeface="Tahoma" panose="020B0604030504040204" pitchFamily="34" charset="0"/>
                    <a:cs typeface="Tahoma" panose="020B0604030504040204" pitchFamily="34" charset="0"/>
                  </a:rPr>
                  <a:t> </a:t>
                </a:r>
                <a:r>
                  <a:rPr lang="en-US" b="1" dirty="0" err="1">
                    <a:ea typeface="Tahoma" panose="020B0604030504040204" pitchFamily="34" charset="0"/>
                    <a:cs typeface="Tahoma" panose="020B0604030504040204" pitchFamily="34" charset="0"/>
                  </a:rPr>
                  <a:t>trình</a:t>
                </a:r>
                <a:r>
                  <a:rPr lang="en-US" b="1" dirty="0">
                    <a:ea typeface="Tahoma" panose="020B0604030504040204" pitchFamily="34" charset="0"/>
                    <a:cs typeface="Tahoma" panose="020B0604030504040204" pitchFamily="34" charset="0"/>
                  </a:rPr>
                  <a:t> </a:t>
                </a:r>
                <a:r>
                  <a:rPr lang="en-US" b="1" dirty="0" err="1">
                    <a:ea typeface="Tahoma" panose="020B0604030504040204" pitchFamily="34" charset="0"/>
                    <a:cs typeface="Tahoma" panose="020B0604030504040204" pitchFamily="34" charset="0"/>
                  </a:rPr>
                  <a:t>là</a:t>
                </a:r>
                <a:r>
                  <a:rPr lang="en-US" b="1" dirty="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𝒂</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𝟎</m:t>
                        </m:r>
                      </m:e>
                    </m:d>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𝟏</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𝒃</m:t>
                        </m:r>
                      </m:e>
                    </m:d>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𝟎</m:t>
                    </m:r>
                  </m:oMath>
                </a14:m>
                <a:r>
                  <a:rPr lang="en-US" b="1" dirty="0">
                    <a:ea typeface="Tahoma" panose="020B0604030504040204" pitchFamily="34" charset="0"/>
                    <a:cs typeface="Tahoma" panose="020B0604030504040204" pitchFamily="34" charset="0"/>
                  </a:rPr>
                  <a:t> hay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𝒂𝒙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𝒚</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𝒃</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𝟎</m:t>
                    </m:r>
                  </m:oMath>
                </a14:m>
                <a:r>
                  <a:rPr lang="en-US" b="1" dirty="0">
                    <a:ea typeface="Tahoma" panose="020B0604030504040204" pitchFamily="34" charset="0"/>
                    <a:cs typeface="Tahoma" panose="020B0604030504040204" pitchFamily="34" charset="0"/>
                  </a:rPr>
                  <a:t>.</a:t>
                </a:r>
              </a:p>
              <a:p>
                <a:pPr marL="0" indent="0">
                  <a:lnSpc>
                    <a:spcPct val="107000"/>
                  </a:lnSpc>
                  <a:spcAft>
                    <a:spcPts val="800"/>
                  </a:spcAft>
                  <a:buNone/>
                </a:pPr>
                <a:r>
                  <a:rPr lang="en-US" b="1" dirty="0" err="1">
                    <a:ea typeface="Tahoma" panose="020B0604030504040204" pitchFamily="34" charset="0"/>
                    <a:cs typeface="Tahoma" panose="020B0604030504040204" pitchFamily="34" charset="0"/>
                  </a:rPr>
                  <a:t>Đường</a:t>
                </a:r>
                <a:r>
                  <a:rPr lang="en-US" b="1" dirty="0">
                    <a:ea typeface="Tahoma" panose="020B0604030504040204" pitchFamily="34" charset="0"/>
                    <a:cs typeface="Tahoma" panose="020B0604030504040204" pitchFamily="34" charset="0"/>
                  </a:rPr>
                  <a:t> </a:t>
                </a:r>
                <a:r>
                  <a:rPr lang="en-US" b="1" dirty="0" err="1">
                    <a:ea typeface="Tahoma" panose="020B0604030504040204" pitchFamily="34" charset="0"/>
                    <a:cs typeface="Tahoma" panose="020B0604030504040204" pitchFamily="34" charset="0"/>
                  </a:rPr>
                  <a:t>thẳng</a:t>
                </a:r>
                <a:r>
                  <a:rPr lang="en-US" b="1" dirty="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𝜟</m:t>
                    </m:r>
                  </m:oMath>
                </a14:m>
                <a:r>
                  <a:rPr lang="en-US" b="1" dirty="0">
                    <a:ea typeface="Tahoma" panose="020B0604030504040204" pitchFamily="34" charset="0"/>
                    <a:cs typeface="Tahoma" panose="020B0604030504040204" pitchFamily="34" charset="0"/>
                  </a:rPr>
                  <a:t> </a:t>
                </a:r>
                <a:r>
                  <a:rPr lang="en-US" b="1" dirty="0" err="1">
                    <a:ea typeface="Tahoma" panose="020B0604030504040204" pitchFamily="34" charset="0"/>
                    <a:cs typeface="Tahoma" panose="020B0604030504040204" pitchFamily="34" charset="0"/>
                  </a:rPr>
                  <a:t>là</a:t>
                </a:r>
                <a:r>
                  <a:rPr lang="en-US" b="1" dirty="0">
                    <a:ea typeface="Tahoma" panose="020B0604030504040204" pitchFamily="34" charset="0"/>
                    <a:cs typeface="Tahoma" panose="020B0604030504040204" pitchFamily="34" charset="0"/>
                  </a:rPr>
                  <a:t> </a:t>
                </a:r>
                <a:r>
                  <a:rPr lang="en-US" b="1" dirty="0" err="1">
                    <a:ea typeface="Tahoma" panose="020B0604030504040204" pitchFamily="34" charset="0"/>
                    <a:cs typeface="Tahoma" panose="020B0604030504040204" pitchFamily="34" charset="0"/>
                  </a:rPr>
                  <a:t>tập</a:t>
                </a:r>
                <a:r>
                  <a:rPr lang="en-US" b="1" dirty="0">
                    <a:ea typeface="Tahoma" panose="020B0604030504040204" pitchFamily="34" charset="0"/>
                    <a:cs typeface="Tahoma" panose="020B0604030504040204" pitchFamily="34" charset="0"/>
                  </a:rPr>
                  <a:t> </a:t>
                </a:r>
                <a:r>
                  <a:rPr lang="en-US" b="1" dirty="0" err="1">
                    <a:ea typeface="Tahoma" panose="020B0604030504040204" pitchFamily="34" charset="0"/>
                    <a:cs typeface="Tahoma" panose="020B0604030504040204" pitchFamily="34" charset="0"/>
                  </a:rPr>
                  <a:t>hợp</a:t>
                </a:r>
                <a:r>
                  <a:rPr lang="en-US" b="1" dirty="0">
                    <a:ea typeface="Tahoma" panose="020B0604030504040204" pitchFamily="34" charset="0"/>
                    <a:cs typeface="Tahoma" panose="020B0604030504040204" pitchFamily="34" charset="0"/>
                  </a:rPr>
                  <a:t> </a:t>
                </a:r>
                <a:r>
                  <a:rPr lang="en-US" b="1" dirty="0" err="1">
                    <a:ea typeface="Tahoma" panose="020B0604030504040204" pitchFamily="34" charset="0"/>
                    <a:cs typeface="Tahoma" panose="020B0604030504040204" pitchFamily="34" charset="0"/>
                  </a:rPr>
                  <a:t>những</a:t>
                </a:r>
                <a:r>
                  <a:rPr lang="en-US" b="1" dirty="0">
                    <a:ea typeface="Tahoma" panose="020B0604030504040204" pitchFamily="34" charset="0"/>
                    <a:cs typeface="Tahoma" panose="020B0604030504040204" pitchFamily="34" charset="0"/>
                  </a:rPr>
                  <a:t> </a:t>
                </a:r>
                <a:r>
                  <a:rPr lang="en-US" b="1" dirty="0" err="1">
                    <a:ea typeface="Tahoma" panose="020B0604030504040204" pitchFamily="34" charset="0"/>
                    <a:cs typeface="Tahoma" panose="020B0604030504040204" pitchFamily="34" charset="0"/>
                  </a:rPr>
                  <a:t>điểm</a:t>
                </a:r>
                <a:r>
                  <a:rPr lang="en-US" b="1" dirty="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𝑴</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d>
                  </m:oMath>
                </a14:m>
                <a:r>
                  <a:rPr lang="en-US" b="1" dirty="0">
                    <a:ea typeface="Tahoma" panose="020B0604030504040204" pitchFamily="34" charset="0"/>
                    <a:cs typeface="Tahoma" panose="020B0604030504040204" pitchFamily="34" charset="0"/>
                  </a:rPr>
                  <a:t> </a:t>
                </a:r>
                <a:r>
                  <a:rPr lang="en-US" b="1" dirty="0" err="1">
                    <a:ea typeface="Tahoma" panose="020B0604030504040204" pitchFamily="34" charset="0"/>
                    <a:cs typeface="Tahoma" panose="020B0604030504040204" pitchFamily="34" charset="0"/>
                  </a:rPr>
                  <a:t>thỏa</a:t>
                </a:r>
                <a:r>
                  <a:rPr lang="en-US" b="1" dirty="0">
                    <a:ea typeface="Tahoma" panose="020B0604030504040204" pitchFamily="34" charset="0"/>
                    <a:cs typeface="Tahoma" panose="020B0604030504040204" pitchFamily="34" charset="0"/>
                  </a:rPr>
                  <a:t> </a:t>
                </a:r>
                <a:r>
                  <a:rPr lang="en-US" b="1" dirty="0" err="1">
                    <a:ea typeface="Tahoma" panose="020B0604030504040204" pitchFamily="34" charset="0"/>
                    <a:cs typeface="Tahoma" panose="020B0604030504040204" pitchFamily="34" charset="0"/>
                  </a:rPr>
                  <a:t>mãn</a:t>
                </a:r>
                <a:r>
                  <a:rPr lang="en-US" b="1" dirty="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𝒂𝒙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𝒚</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𝒃</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𝟎</m:t>
                    </m:r>
                  </m:oMath>
                </a14:m>
                <a:r>
                  <a:rPr lang="en-US" b="1" dirty="0">
                    <a:ea typeface="Tahoma" panose="020B0604030504040204" pitchFamily="34" charset="0"/>
                    <a:cs typeface="Tahoma" panose="020B0604030504040204" pitchFamily="34" charset="0"/>
                  </a:rPr>
                  <a:t>, </a:t>
                </a:r>
              </a:p>
              <a:p>
                <a:pPr marL="0" indent="0">
                  <a:lnSpc>
                    <a:spcPct val="107000"/>
                  </a:lnSpc>
                  <a:spcAft>
                    <a:spcPts val="800"/>
                  </a:spcAft>
                  <a:buNone/>
                </a:pPr>
                <a:r>
                  <a:rPr lang="en-US" b="1" dirty="0">
                    <a:ea typeface="Tahoma" panose="020B0604030504040204" pitchFamily="34" charset="0"/>
                    <a:cs typeface="Tahoma" panose="020B0604030504040204" pitchFamily="34" charset="0"/>
                  </a:rPr>
                  <a:t>hay </a:t>
                </a:r>
                <a:r>
                  <a:rPr lang="en-US" b="1" dirty="0" err="1">
                    <a:ea typeface="Tahoma" panose="020B0604030504040204" pitchFamily="34" charset="0"/>
                    <a:cs typeface="Tahoma" panose="020B0604030504040204" pitchFamily="34" charset="0"/>
                  </a:rPr>
                  <a:t>là</a:t>
                </a:r>
                <a:r>
                  <a:rPr lang="en-US" b="1" dirty="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𝒚</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𝒂𝒙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𝒃</m:t>
                    </m:r>
                  </m:oMath>
                </a14:m>
                <a:r>
                  <a:rPr lang="en-US" b="1" dirty="0">
                    <a:ea typeface="Tahoma" panose="020B0604030504040204" pitchFamily="34" charset="0"/>
                    <a:cs typeface="Tahoma" panose="020B0604030504040204" pitchFamily="34" charset="0"/>
                  </a:rPr>
                  <a:t>.</a:t>
                </a:r>
              </a:p>
              <a:p>
                <a:pPr marL="0" indent="0">
                  <a:lnSpc>
                    <a:spcPct val="107000"/>
                  </a:lnSpc>
                  <a:spcAft>
                    <a:spcPts val="800"/>
                  </a:spcAft>
                  <a:buNone/>
                </a:pPr>
                <a:r>
                  <a:rPr lang="en-US" b="1" dirty="0">
                    <a:ea typeface="Tahoma" panose="020B0604030504040204" pitchFamily="34" charset="0"/>
                    <a:cs typeface="Tahoma" panose="020B0604030504040204" pitchFamily="34" charset="0"/>
                  </a:rPr>
                  <a:t>Do </a:t>
                </a:r>
                <a:r>
                  <a:rPr lang="en-US" b="1" dirty="0" err="1">
                    <a:ea typeface="Tahoma" panose="020B0604030504040204" pitchFamily="34" charset="0"/>
                    <a:cs typeface="Tahoma" panose="020B0604030504040204" pitchFamily="34" charset="0"/>
                  </a:rPr>
                  <a:t>đó</a:t>
                </a:r>
                <a:r>
                  <a:rPr lang="en-US" b="1" dirty="0">
                    <a:ea typeface="Tahoma" panose="020B0604030504040204" pitchFamily="34" charset="0"/>
                    <a:cs typeface="Tahoma" panose="020B0604030504040204" pitchFamily="34" charset="0"/>
                  </a:rPr>
                  <a:t>, </a:t>
                </a:r>
                <a:r>
                  <a:rPr lang="en-US" b="1" dirty="0" err="1">
                    <a:ea typeface="Tahoma" panose="020B0604030504040204" pitchFamily="34" charset="0"/>
                    <a:cs typeface="Tahoma" panose="020B0604030504040204" pitchFamily="34" charset="0"/>
                  </a:rPr>
                  <a:t>đường</a:t>
                </a:r>
                <a:r>
                  <a:rPr lang="en-US" b="1" dirty="0">
                    <a:ea typeface="Tahoma" panose="020B0604030504040204" pitchFamily="34" charset="0"/>
                    <a:cs typeface="Tahoma" panose="020B0604030504040204" pitchFamily="34" charset="0"/>
                  </a:rPr>
                  <a:t> </a:t>
                </a:r>
                <a:r>
                  <a:rPr lang="en-US" b="1" dirty="0" err="1">
                    <a:ea typeface="Tahoma" panose="020B0604030504040204" pitchFamily="34" charset="0"/>
                    <a:cs typeface="Tahoma" panose="020B0604030504040204" pitchFamily="34" charset="0"/>
                  </a:rPr>
                  <a:t>thẳng</a:t>
                </a:r>
                <a:r>
                  <a:rPr lang="en-US" b="1" dirty="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𝜟</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𝒂𝒙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𝒚</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𝒃</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𝟎</m:t>
                    </m:r>
                  </m:oMath>
                </a14:m>
                <a:r>
                  <a:rPr lang="en-US" b="1" dirty="0">
                    <a:ea typeface="Tahoma" panose="020B0604030504040204" pitchFamily="34" charset="0"/>
                    <a:cs typeface="Tahoma" panose="020B0604030504040204" pitchFamily="34" charset="0"/>
                  </a:rPr>
                  <a:t> </a:t>
                </a:r>
                <a:r>
                  <a:rPr lang="en-US" b="1" dirty="0" err="1">
                    <a:ea typeface="Tahoma" panose="020B0604030504040204" pitchFamily="34" charset="0"/>
                    <a:cs typeface="Tahoma" panose="020B0604030504040204" pitchFamily="34" charset="0"/>
                  </a:rPr>
                  <a:t>chính</a:t>
                </a:r>
                <a:r>
                  <a:rPr lang="en-US" b="1" dirty="0">
                    <a:ea typeface="Tahoma" panose="020B0604030504040204" pitchFamily="34" charset="0"/>
                    <a:cs typeface="Tahoma" panose="020B0604030504040204" pitchFamily="34" charset="0"/>
                  </a:rPr>
                  <a:t> </a:t>
                </a:r>
                <a:r>
                  <a:rPr lang="en-US" b="1" dirty="0" err="1">
                    <a:ea typeface="Tahoma" panose="020B0604030504040204" pitchFamily="34" charset="0"/>
                    <a:cs typeface="Tahoma" panose="020B0604030504040204" pitchFamily="34" charset="0"/>
                  </a:rPr>
                  <a:t>là</a:t>
                </a:r>
                <a:r>
                  <a:rPr lang="en-US" b="1" dirty="0">
                    <a:ea typeface="Tahoma" panose="020B0604030504040204" pitchFamily="34" charset="0"/>
                    <a:cs typeface="Tahoma" panose="020B0604030504040204" pitchFamily="34" charset="0"/>
                  </a:rPr>
                  <a:t> </a:t>
                </a:r>
                <a:r>
                  <a:rPr lang="en-US" b="1" dirty="0" err="1">
                    <a:ea typeface="Tahoma" panose="020B0604030504040204" pitchFamily="34" charset="0"/>
                    <a:cs typeface="Tahoma" panose="020B0604030504040204" pitchFamily="34" charset="0"/>
                  </a:rPr>
                  <a:t>đồ</a:t>
                </a:r>
                <a:r>
                  <a:rPr lang="en-US" b="1" dirty="0">
                    <a:ea typeface="Tahoma" panose="020B0604030504040204" pitchFamily="34" charset="0"/>
                    <a:cs typeface="Tahoma" panose="020B0604030504040204" pitchFamily="34" charset="0"/>
                  </a:rPr>
                  <a:t> </a:t>
                </a:r>
                <a:r>
                  <a:rPr lang="en-US" b="1" dirty="0" err="1">
                    <a:ea typeface="Tahoma" panose="020B0604030504040204" pitchFamily="34" charset="0"/>
                    <a:cs typeface="Tahoma" panose="020B0604030504040204" pitchFamily="34" charset="0"/>
                  </a:rPr>
                  <a:t>thị</a:t>
                </a:r>
                <a:r>
                  <a:rPr lang="en-US" b="1" dirty="0">
                    <a:ea typeface="Tahoma" panose="020B0604030504040204" pitchFamily="34" charset="0"/>
                    <a:cs typeface="Tahoma" panose="020B0604030504040204" pitchFamily="34" charset="0"/>
                  </a:rPr>
                  <a:t> </a:t>
                </a:r>
                <a:r>
                  <a:rPr lang="en-US" b="1" dirty="0" err="1">
                    <a:ea typeface="Tahoma" panose="020B0604030504040204" pitchFamily="34" charset="0"/>
                    <a:cs typeface="Tahoma" panose="020B0604030504040204" pitchFamily="34" charset="0"/>
                  </a:rPr>
                  <a:t>của</a:t>
                </a:r>
                <a:r>
                  <a:rPr lang="en-US" b="1" dirty="0">
                    <a:ea typeface="Tahoma" panose="020B0604030504040204" pitchFamily="34" charset="0"/>
                    <a:cs typeface="Tahoma" panose="020B0604030504040204" pitchFamily="34" charset="0"/>
                  </a:rPr>
                  <a:t> </a:t>
                </a:r>
                <a:r>
                  <a:rPr lang="en-US" b="1" dirty="0" err="1">
                    <a:ea typeface="Tahoma" panose="020B0604030504040204" pitchFamily="34" charset="0"/>
                    <a:cs typeface="Tahoma" panose="020B0604030504040204" pitchFamily="34" charset="0"/>
                  </a:rPr>
                  <a:t>hàm</a:t>
                </a:r>
                <a:r>
                  <a:rPr lang="en-US" b="1" dirty="0">
                    <a:ea typeface="Tahoma" panose="020B0604030504040204" pitchFamily="34" charset="0"/>
                    <a:cs typeface="Tahoma" panose="020B0604030504040204" pitchFamily="34" charset="0"/>
                  </a:rPr>
                  <a:t> </a:t>
                </a:r>
                <a:r>
                  <a:rPr lang="en-US" b="1" dirty="0" err="1">
                    <a:ea typeface="Tahoma" panose="020B0604030504040204" pitchFamily="34" charset="0"/>
                    <a:cs typeface="Tahoma" panose="020B0604030504040204" pitchFamily="34" charset="0"/>
                  </a:rPr>
                  <a:t>số</a:t>
                </a:r>
                <a14:m>
                  <m:oMath xmlns:m="http://schemas.openxmlformats.org/officeDocument/2006/math">
                    <m:r>
                      <a:rPr lang="en-US" b="1" i="0" smtClean="0">
                        <a:latin typeface="Cambria Math" panose="02040503050406030204" pitchFamily="18" charset="0"/>
                        <a:ea typeface="Calibri" panose="020F0502020204030204" pitchFamily="34" charset="0"/>
                        <a:cs typeface="Times New Roman" panose="02020603050405020304" pitchFamily="18" charset="0"/>
                      </a:rPr>
                      <m:t> </m:t>
                    </m:r>
                    <m:r>
                      <a:rPr lang="en-US" b="1" i="1" smtClean="0">
                        <a:latin typeface="Cambria Math" panose="02040503050406030204" pitchFamily="18" charset="0"/>
                        <a:ea typeface="Calibri" panose="020F0502020204030204" pitchFamily="34" charset="0"/>
                        <a:cs typeface="Times New Roman" panose="02020603050405020304" pitchFamily="18" charset="0"/>
                      </a:rPr>
                      <m:t>𝒚</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𝒂𝒙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𝒃</m:t>
                    </m:r>
                  </m:oMath>
                </a14:m>
                <a:r>
                  <a:rPr lang="en-US" b="1" dirty="0">
                    <a:ea typeface="Tahoma" panose="020B0604030504040204" pitchFamily="34" charset="0"/>
                    <a:cs typeface="Tahoma" panose="020B0604030504040204" pitchFamily="34" charset="0"/>
                  </a:rPr>
                  <a:t>.</a:t>
                </a:r>
              </a:p>
            </p:txBody>
          </p:sp>
        </mc:Choice>
        <mc:Fallback xmlns="">
          <p:sp>
            <p:nvSpPr>
              <p:cNvPr id="24"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04800" y="3139441"/>
                <a:ext cx="23698200" cy="10271760"/>
              </a:xfrm>
              <a:prstGeom prst="rect">
                <a:avLst/>
              </a:prstGeom>
              <a:blipFill>
                <a:blip r:embed="rId3"/>
                <a:stretch>
                  <a:fillRect l="-1131" t="-1126" r="-1105"/>
                </a:stretch>
              </a:blipFill>
              <a:ln>
                <a:solidFill>
                  <a:srgbClr val="00B0F0"/>
                </a:solidFill>
              </a:ln>
            </p:spPr>
            <p:txBody>
              <a:bodyPr/>
              <a:lstStyle/>
              <a:p>
                <a:r>
                  <a:rPr lang="en-US">
                    <a:noFill/>
                  </a:rPr>
                  <a:t> </a:t>
                </a:r>
              </a:p>
            </p:txBody>
          </p:sp>
        </mc:Fallback>
      </mc:AlternateContent>
      <p:grpSp>
        <p:nvGrpSpPr>
          <p:cNvPr id="12" name="Group 11"/>
          <p:cNvGrpSpPr/>
          <p:nvPr/>
        </p:nvGrpSpPr>
        <p:grpSpPr>
          <a:xfrm>
            <a:off x="309465" y="3079103"/>
            <a:ext cx="3805335" cy="846967"/>
            <a:chOff x="27395" y="60714"/>
            <a:chExt cx="1260580" cy="157054"/>
          </a:xfrm>
        </p:grpSpPr>
        <p:grpSp>
          <p:nvGrpSpPr>
            <p:cNvPr id="13" name="Group 12"/>
            <p:cNvGrpSpPr/>
            <p:nvPr/>
          </p:nvGrpSpPr>
          <p:grpSpPr>
            <a:xfrm>
              <a:off x="27395" y="60714"/>
              <a:ext cx="1260580" cy="157054"/>
              <a:chOff x="38544" y="62041"/>
              <a:chExt cx="1773659" cy="194361"/>
            </a:xfrm>
          </p:grpSpPr>
          <p:sp>
            <p:nvSpPr>
              <p:cNvPr id="15" name="Arrow: Pentagon 25"/>
              <p:cNvSpPr/>
              <p:nvPr/>
            </p:nvSpPr>
            <p:spPr>
              <a:xfrm>
                <a:off x="204585" y="62041"/>
                <a:ext cx="1607618" cy="194296"/>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6000"/>
                  </a:lnSpc>
                  <a:spcAft>
                    <a:spcPts val="800"/>
                  </a:spcAft>
                </a:pPr>
                <a:r>
                  <a:rPr lang="en-US" sz="1000" b="1" kern="1200">
                    <a:solidFill>
                      <a:srgbClr val="0000CC"/>
                    </a:solidFill>
                    <a:effectLst/>
                    <a:ea typeface="Calibri" panose="020F0502020204030204" pitchFamily="34" charset="0"/>
                    <a:cs typeface="Times New Roman" panose="02020603050405020304" pitchFamily="18" charset="0"/>
                  </a:rPr>
                  <a:t> </a:t>
                </a:r>
                <a:endParaRPr lang="en-US" sz="1200" b="1">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6" name="Arrow: Chevron 26"/>
              <p:cNvSpPr/>
              <p:nvPr/>
            </p:nvSpPr>
            <p:spPr>
              <a:xfrm>
                <a:off x="38544" y="62041"/>
                <a:ext cx="155658" cy="194361"/>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sp>
            <p:nvSpPr>
              <p:cNvPr id="17" name="Arrow: Chevron 27"/>
              <p:cNvSpPr/>
              <p:nvPr/>
            </p:nvSpPr>
            <p:spPr>
              <a:xfrm>
                <a:off x="115330" y="62041"/>
                <a:ext cx="177710" cy="194296"/>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grpSp>
        <p:sp>
          <p:nvSpPr>
            <p:cNvPr id="14" name="TextBox 56"/>
            <p:cNvSpPr txBox="1"/>
            <p:nvPr/>
          </p:nvSpPr>
          <p:spPr>
            <a:xfrm>
              <a:off x="250984" y="68068"/>
              <a:ext cx="884516" cy="139535"/>
            </a:xfrm>
            <a:prstGeom prst="rect">
              <a:avLst/>
            </a:prstGeom>
            <a:noFill/>
          </p:spPr>
          <p:txBody>
            <a:bodyPr wrap="square">
              <a:noAutofit/>
            </a:bodyPr>
            <a:lstStyle/>
            <a:p>
              <a:pPr>
                <a:lnSpc>
                  <a:spcPct val="107000"/>
                </a:lnSpc>
                <a:spcAft>
                  <a:spcPts val="800"/>
                </a:spcAft>
              </a:pPr>
              <a:r>
                <a:rPr lang="en-US" sz="4800" b="1" kern="1200" dirty="0" err="1">
                  <a:solidFill>
                    <a:srgbClr val="0000CC"/>
                  </a:solidFill>
                  <a:effectLst/>
                  <a:latin typeface="Tomaho"/>
                  <a:ea typeface="Calibri" panose="020F0502020204030204" pitchFamily="34" charset="0"/>
                  <a:cs typeface="Times New Roman" panose="02020603050405020304" pitchFamily="18" charset="0"/>
                </a:rPr>
                <a:t>Ví</a:t>
              </a:r>
              <a:r>
                <a:rPr lang="en-US" sz="4800" b="1" kern="1200" dirty="0">
                  <a:solidFill>
                    <a:srgbClr val="0000CC"/>
                  </a:solidFill>
                  <a:effectLst/>
                  <a:latin typeface="Tomaho"/>
                  <a:ea typeface="Calibri" panose="020F0502020204030204" pitchFamily="34" charset="0"/>
                  <a:cs typeface="Times New Roman" panose="02020603050405020304" pitchFamily="18" charset="0"/>
                </a:rPr>
                <a:t> </a:t>
              </a:r>
              <a:r>
                <a:rPr lang="en-US" sz="4800" b="1" kern="1200" dirty="0" err="1">
                  <a:solidFill>
                    <a:srgbClr val="0000CC"/>
                  </a:solidFill>
                  <a:effectLst/>
                  <a:latin typeface="Tomaho"/>
                  <a:ea typeface="Calibri" panose="020F0502020204030204" pitchFamily="34" charset="0"/>
                  <a:cs typeface="Times New Roman" panose="02020603050405020304" pitchFamily="18" charset="0"/>
                </a:rPr>
                <a:t>dụ</a:t>
              </a:r>
              <a:r>
                <a:rPr lang="en-US" sz="4800" b="1" kern="1200" dirty="0">
                  <a:solidFill>
                    <a:srgbClr val="0000CC"/>
                  </a:solidFill>
                  <a:effectLst/>
                  <a:latin typeface="Tomaho"/>
                  <a:ea typeface="Calibri" panose="020F0502020204030204" pitchFamily="34" charset="0"/>
                  <a:cs typeface="Times New Roman" panose="02020603050405020304" pitchFamily="18" charset="0"/>
                </a:rPr>
                <a:t> </a:t>
              </a:r>
              <a:r>
                <a:rPr lang="en-US" sz="4800" b="1" dirty="0">
                  <a:solidFill>
                    <a:srgbClr val="0000CC"/>
                  </a:solidFill>
                  <a:latin typeface="Tomaho"/>
                  <a:ea typeface="Calibri" panose="020F0502020204030204" pitchFamily="34" charset="0"/>
                  <a:cs typeface="Times New Roman" panose="02020603050405020304" pitchFamily="18" charset="0"/>
                </a:rPr>
                <a:t>3</a:t>
              </a:r>
              <a:r>
                <a:rPr lang="en-US" sz="4800" b="1" kern="1200" dirty="0">
                  <a:solidFill>
                    <a:srgbClr val="0000CC"/>
                  </a:solidFill>
                  <a:effectLst/>
                  <a:latin typeface="Tomaho"/>
                  <a:ea typeface="Calibri" panose="020F0502020204030204" pitchFamily="34" charset="0"/>
                  <a:cs typeface="Times New Roman" panose="02020603050405020304" pitchFamily="18" charset="0"/>
                </a:rPr>
                <a:t>.</a:t>
              </a:r>
              <a:endParaRPr lang="en-US" sz="4800" b="1" dirty="0">
                <a:effectLst/>
                <a:latin typeface="Tomaho"/>
                <a:ea typeface="Calibri" panose="020F0502020204030204" pitchFamily="34" charset="0"/>
                <a:cs typeface="Times New Roman" panose="02020603050405020304" pitchFamily="18" charset="0"/>
              </a:endParaRPr>
            </a:p>
          </p:txBody>
        </p:sp>
      </p:grpSp>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79960247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500"/>
                            </p:stCondLst>
                            <p:childTnLst>
                              <p:par>
                                <p:cTn id="13" presetID="10" presetClass="entr" presetSubtype="0" fill="hold" nodeType="afterEffect">
                                  <p:stCondLst>
                                    <p:cond delay="0"/>
                                  </p:stCondLst>
                                  <p:childTnLst>
                                    <p:set>
                                      <p:cBhvr>
                                        <p:cTn id="14" dur="1" fill="hold">
                                          <p:stCondLst>
                                            <p:cond delay="0"/>
                                          </p:stCondLst>
                                        </p:cTn>
                                        <p:tgtEl>
                                          <p:spTgt spid="24">
                                            <p:txEl>
                                              <p:pRg st="0" end="0"/>
                                            </p:txEl>
                                          </p:spTgt>
                                        </p:tgtEl>
                                        <p:attrNameLst>
                                          <p:attrName>style.visibility</p:attrName>
                                        </p:attrNameLst>
                                      </p:cBhvr>
                                      <p:to>
                                        <p:strVal val="visible"/>
                                      </p:to>
                                    </p:set>
                                    <p:animEffect transition="in" filter="fade">
                                      <p:cBhvr>
                                        <p:cTn id="15" dur="500"/>
                                        <p:tgtEl>
                                          <p:spTgt spid="24">
                                            <p:txEl>
                                              <p:pRg st="0" end="0"/>
                                            </p:txEl>
                                          </p:spTgt>
                                        </p:tgtEl>
                                      </p:cBhvr>
                                    </p:animEffect>
                                  </p:childTnLst>
                                </p:cTn>
                              </p:par>
                            </p:childTnLst>
                          </p:cTn>
                        </p:par>
                        <p:par>
                          <p:cTn id="16" fill="hold">
                            <p:stCondLst>
                              <p:cond delay="2000"/>
                            </p:stCondLst>
                            <p:childTnLst>
                              <p:par>
                                <p:cTn id="17" presetID="10" presetClass="entr" presetSubtype="0" fill="hold" nodeType="afterEffect">
                                  <p:stCondLst>
                                    <p:cond delay="0"/>
                                  </p:stCondLst>
                                  <p:childTnLst>
                                    <p:set>
                                      <p:cBhvr>
                                        <p:cTn id="18" dur="1" fill="hold">
                                          <p:stCondLst>
                                            <p:cond delay="0"/>
                                          </p:stCondLst>
                                        </p:cTn>
                                        <p:tgtEl>
                                          <p:spTgt spid="24">
                                            <p:txEl>
                                              <p:pRg st="1" end="1"/>
                                            </p:txEl>
                                          </p:spTgt>
                                        </p:tgtEl>
                                        <p:attrNameLst>
                                          <p:attrName>style.visibility</p:attrName>
                                        </p:attrNameLst>
                                      </p:cBhvr>
                                      <p:to>
                                        <p:strVal val="visible"/>
                                      </p:to>
                                    </p:set>
                                    <p:animEffect transition="in" filter="fade">
                                      <p:cBhvr>
                                        <p:cTn id="19" dur="500"/>
                                        <p:tgtEl>
                                          <p:spTgt spid="2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4">
                                            <p:txEl>
                                              <p:pRg st="2" end="2"/>
                                            </p:txEl>
                                          </p:spTgt>
                                        </p:tgtEl>
                                        <p:attrNameLst>
                                          <p:attrName>style.visibility</p:attrName>
                                        </p:attrNameLst>
                                      </p:cBhvr>
                                      <p:to>
                                        <p:strVal val="visible"/>
                                      </p:to>
                                    </p:set>
                                    <p:animEffect transition="in" filter="fade">
                                      <p:cBhvr>
                                        <p:cTn id="24" dur="500"/>
                                        <p:tgtEl>
                                          <p:spTgt spid="2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xEl>
                                              <p:pRg st="3" end="3"/>
                                            </p:txEl>
                                          </p:spTgt>
                                        </p:tgtEl>
                                        <p:attrNameLst>
                                          <p:attrName>style.visibility</p:attrName>
                                        </p:attrNameLst>
                                      </p:cBhvr>
                                      <p:to>
                                        <p:strVal val="visible"/>
                                      </p:to>
                                    </p:set>
                                    <p:animEffect transition="in" filter="fade">
                                      <p:cBhvr>
                                        <p:cTn id="29" dur="500"/>
                                        <p:tgtEl>
                                          <p:spTgt spid="24">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4">
                                            <p:txEl>
                                              <p:pRg st="4" end="4"/>
                                            </p:txEl>
                                          </p:spTgt>
                                        </p:tgtEl>
                                        <p:attrNameLst>
                                          <p:attrName>style.visibility</p:attrName>
                                        </p:attrNameLst>
                                      </p:cBhvr>
                                      <p:to>
                                        <p:strVal val="visible"/>
                                      </p:to>
                                    </p:set>
                                    <p:animEffect transition="in" filter="fade">
                                      <p:cBhvr>
                                        <p:cTn id="34" dur="500"/>
                                        <p:tgtEl>
                                          <p:spTgt spid="24">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4">
                                            <p:txEl>
                                              <p:pRg st="5" end="5"/>
                                            </p:txEl>
                                          </p:spTgt>
                                        </p:tgtEl>
                                        <p:attrNameLst>
                                          <p:attrName>style.visibility</p:attrName>
                                        </p:attrNameLst>
                                      </p:cBhvr>
                                      <p:to>
                                        <p:strVal val="visible"/>
                                      </p:to>
                                    </p:set>
                                    <p:animEffect transition="in" filter="fade">
                                      <p:cBhvr>
                                        <p:cTn id="39" dur="500"/>
                                        <p:tgtEl>
                                          <p:spTgt spid="2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81000" y="1879601"/>
            <a:ext cx="23622000" cy="11684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7000"/>
              </a:lnSpc>
              <a:spcAft>
                <a:spcPts val="800"/>
              </a:spcAft>
            </a:pP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1. PHƯƠNG TRÌNH TỔNG QUÁT CỦA ĐƯỜNG THẲNG</a:t>
            </a:r>
            <a:endParaRPr lang="en-US" sz="48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14822BB7-DB89-4357-87F0-6E511FC44A6A}"/>
                  </a:ext>
                </a:extLst>
              </p:cNvPr>
              <p:cNvSpPr txBox="1">
                <a:spLocks/>
              </p:cNvSpPr>
              <p:nvPr/>
            </p:nvSpPr>
            <p:spPr>
              <a:xfrm>
                <a:off x="381000" y="3048001"/>
                <a:ext cx="23622000" cy="103631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7000"/>
                  </a:lnSpc>
                  <a:spcAft>
                    <a:spcPts val="800"/>
                  </a:spcAft>
                  <a:buNone/>
                </a:pP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Hãy</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chỉ</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ra</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một</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vectơ</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pháp</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tuyến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của</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đường</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thẳng</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𝜟</m:t>
                    </m:r>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m:t>
                    </m:r>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𝒚</m:t>
                    </m:r>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m:t>
                    </m:r>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𝟑</m:t>
                    </m:r>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𝒙</m:t>
                    </m:r>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m:t>
                    </m:r>
                    <m:r>
                      <a:rPr lang="en-US" b="1" i="1" smtClean="0">
                        <a:solidFill>
                          <a:prstClr val="black"/>
                        </a:solidFill>
                        <a:latin typeface="Cambria Math" panose="02040503050406030204" pitchFamily="18" charset="0"/>
                        <a:ea typeface="Calibri" panose="020F0502020204030204" pitchFamily="34" charset="0"/>
                        <a:cs typeface="Times New Roman" panose="02020603050405020304" pitchFamily="18" charset="0"/>
                      </a:rPr>
                      <m:t>𝟒</m:t>
                    </m:r>
                  </m:oMath>
                </a14:m>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a:t>
                </a:r>
              </a:p>
              <a:p>
                <a:pPr marL="0" indent="0">
                  <a:lnSpc>
                    <a:spcPct val="107000"/>
                  </a:lnSpc>
                  <a:spcAft>
                    <a:spcPts val="800"/>
                  </a:spcAft>
                  <a:buNone/>
                </a:pPr>
                <a:r>
                  <a:rPr lang="en-US" b="1" u="sng"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endParaRPr lang="en-US" b="1" u="sng"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nSpc>
                    <a:spcPct val="107000"/>
                  </a:lnSpc>
                  <a:spcAft>
                    <a:spcPts val="800"/>
                  </a:spcAft>
                  <a:buNone/>
                </a:pPr>
                <a:r>
                  <a:rPr lang="en-US" b="1" dirty="0" err="1">
                    <a:latin typeface="Tahoma" panose="020B0604030504040204" pitchFamily="34" charset="0"/>
                    <a:ea typeface="Tahoma" panose="020B0604030504040204" pitchFamily="34" charset="0"/>
                    <a:cs typeface="Tahoma" panose="020B0604030504040204" pitchFamily="34" charset="0"/>
                  </a:rPr>
                  <a:t>Vậy</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một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pháp</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tuyến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𝜟</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𝒚</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𝟑</m:t>
                    </m:r>
                    <m:r>
                      <a:rPr lang="en-US" b="1" i="1" smtClean="0">
                        <a:latin typeface="Cambria Math" panose="02040503050406030204" pitchFamily="18" charset="0"/>
                        <a:ea typeface="Calibri" panose="020F0502020204030204" pitchFamily="34" charset="0"/>
                        <a:cs typeface="Times New Roman" panose="02020603050405020304" pitchFamily="18" charset="0"/>
                      </a:rPr>
                      <m:t>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𝟒</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𝒏</m:t>
                        </m:r>
                      </m:e>
                    </m:acc>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𝟑</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𝟏</m:t>
                        </m:r>
                      </m:e>
                    </m:d>
                  </m:oMath>
                </a14:m>
                <a:r>
                  <a:rPr lang="en-US" b="1" dirty="0">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spcAft>
                    <a:spcPts val="800"/>
                  </a:spcAft>
                  <a:buNone/>
                </a:pPr>
                <a:r>
                  <a:rPr lang="en-US" b="1" u="sng" dirty="0" err="1">
                    <a:solidFill>
                      <a:srgbClr val="FF0000"/>
                    </a:solidFill>
                    <a:latin typeface="Tahoma" panose="020B0604030504040204" pitchFamily="34" charset="0"/>
                    <a:ea typeface="Tahoma" panose="020B0604030504040204" pitchFamily="34" charset="0"/>
                    <a:cs typeface="Tahoma" panose="020B0604030504040204" pitchFamily="34" charset="0"/>
                  </a:rPr>
                  <a:t>Nhận</a:t>
                </a:r>
                <a:r>
                  <a:rPr lang="en-US" b="1" u="sng"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u="sng" dirty="0" err="1">
                    <a:solidFill>
                      <a:srgbClr val="FF0000"/>
                    </a:solidFill>
                    <a:latin typeface="Tahoma" panose="020B0604030504040204" pitchFamily="34" charset="0"/>
                    <a:ea typeface="Tahoma" panose="020B0604030504040204" pitchFamily="34" charset="0"/>
                    <a:cs typeface="Tahoma" panose="020B0604030504040204" pitchFamily="34" charset="0"/>
                  </a:rPr>
                  <a:t>xét</a:t>
                </a:r>
                <a:r>
                  <a:rPr lang="en-US" b="1" u="sng"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Trong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mặt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phẳng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tọa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độ</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𝜟</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𝒂𝒙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𝒃𝒚</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𝒄</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𝟎</m:t>
                    </m:r>
                  </m:oMath>
                </a14:m>
                <a:r>
                  <a:rPr lang="en-US" b="1" dirty="0">
                    <a:latin typeface="Tahoma" panose="020B0604030504040204" pitchFamily="34" charset="0"/>
                    <a:ea typeface="Tahoma" panose="020B0604030504040204" pitchFamily="34" charset="0"/>
                    <a:cs typeface="Tahoma" panose="020B0604030504040204" pitchFamily="34" charset="0"/>
                  </a:rPr>
                  <a:t>.</a:t>
                </a:r>
              </a:p>
              <a:p>
                <a:pPr marL="0" lvl="0" indent="0" algn="just">
                  <a:lnSpc>
                    <a:spcPct val="100000"/>
                  </a:lnSpc>
                  <a:spcAft>
                    <a:spcPts val="0"/>
                  </a:spcAft>
                  <a:buNone/>
                </a:pPr>
                <a:r>
                  <a:rPr lang="en-US" b="1" dirty="0" err="1">
                    <a:latin typeface="Tahoma" panose="020B0604030504040204" pitchFamily="34" charset="0"/>
                    <a:ea typeface="Tahoma" panose="020B0604030504040204" pitchFamily="34" charset="0"/>
                    <a:cs typeface="Tahoma" panose="020B0604030504040204" pitchFamily="34" charset="0"/>
                  </a:rPr>
                  <a:t>Nếu</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rPr>
                      <m:t>𝒃</m:t>
                    </m:r>
                    <m:r>
                      <a:rPr lang="en-US" b="1" i="1" smtClean="0">
                        <a:latin typeface="Cambria Math" panose="02040503050406030204" pitchFamily="18" charset="0"/>
                        <a:ea typeface="Calibri" panose="020F0502020204030204" pitchFamily="34" charset="0"/>
                      </a:rPr>
                      <m:t>=</m:t>
                    </m:r>
                    <m:r>
                      <a:rPr lang="en-US" b="1" i="1" smtClean="0">
                        <a:latin typeface="Cambria Math" panose="02040503050406030204" pitchFamily="18" charset="0"/>
                        <a:ea typeface="Calibri" panose="020F0502020204030204" pitchFamily="34" charset="0"/>
                      </a:rPr>
                      <m:t>𝟎</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thì</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thể</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về</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dạng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rPr>
                      <m:t>𝒙</m:t>
                    </m:r>
                    <m:r>
                      <a:rPr lang="en-US" b="1" i="1" smtClean="0">
                        <a:latin typeface="Cambria Math" panose="02040503050406030204" pitchFamily="18" charset="0"/>
                        <a:ea typeface="Calibri" panose="020F0502020204030204" pitchFamily="34" charset="0"/>
                      </a:rPr>
                      <m:t>=</m:t>
                    </m:r>
                    <m:r>
                      <a:rPr lang="en-US" b="1" i="1" smtClean="0">
                        <a:latin typeface="Cambria Math" panose="02040503050406030204" pitchFamily="18" charset="0"/>
                        <a:ea typeface="Calibri" panose="020F0502020204030204" pitchFamily="34" charset="0"/>
                      </a:rPr>
                      <m:t>𝒎</m:t>
                    </m:r>
                  </m:oMath>
                </a14:m>
                <a:r>
                  <a:rPr lang="en-US" b="1" dirty="0">
                    <a:latin typeface="Tahoma" panose="020B0604030504040204" pitchFamily="34" charset="0"/>
                    <a:ea typeface="Tahoma" panose="020B0604030504040204" pitchFamily="34" charset="0"/>
                    <a:cs typeface="Tahoma" panose="020B0604030504040204" pitchFamily="34" charset="0"/>
                  </a:rPr>
                  <a:t>(</a:t>
                </a:r>
                <a:r>
                  <a:rPr lang="en-US" b="1" dirty="0" err="1">
                    <a:latin typeface="Tahoma" panose="020B0604030504040204" pitchFamily="34" charset="0"/>
                    <a:ea typeface="Tahoma" panose="020B0604030504040204" pitchFamily="34" charset="0"/>
                    <a:cs typeface="Tahoma" panose="020B0604030504040204" pitchFamily="34" charset="0"/>
                  </a:rPr>
                  <a:t>với</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rPr>
                      <m:t>𝒎</m:t>
                    </m:r>
                    <m:r>
                      <a:rPr lang="en-US" b="1" i="1" smtClean="0">
                        <a:latin typeface="Cambria Math" panose="02040503050406030204" pitchFamily="18" charset="0"/>
                        <a:ea typeface="Calibri" panose="020F0502020204030204" pitchFamily="34" charset="0"/>
                      </a:rPr>
                      <m:t>=−</m:t>
                    </m:r>
                    <m:f>
                      <m:fPr>
                        <m:ctrlPr>
                          <a:rPr lang="en-US" b="1" i="1">
                            <a:latin typeface="Cambria Math" panose="02040503050406030204" pitchFamily="18" charset="0"/>
                            <a:ea typeface="Calibri" panose="020F0502020204030204" pitchFamily="34" charset="0"/>
                          </a:rPr>
                        </m:ctrlPr>
                      </m:fPr>
                      <m:num>
                        <m:r>
                          <a:rPr lang="en-US" b="1" i="1" smtClean="0">
                            <a:latin typeface="Cambria Math" panose="02040503050406030204" pitchFamily="18" charset="0"/>
                            <a:ea typeface="Calibri" panose="020F0502020204030204" pitchFamily="34" charset="0"/>
                          </a:rPr>
                          <m:t>𝒄</m:t>
                        </m:r>
                      </m:num>
                      <m:den>
                        <m:r>
                          <a:rPr lang="en-US" b="1" i="1" smtClean="0">
                            <a:latin typeface="Cambria Math" panose="02040503050406030204" pitchFamily="18" charset="0"/>
                            <a:ea typeface="Calibri" panose="020F0502020204030204" pitchFamily="34" charset="0"/>
                          </a:rPr>
                          <m:t>𝒂</m:t>
                        </m:r>
                      </m:den>
                    </m:f>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endParaRPr lang="en-US" b="1" dirty="0">
                  <a:latin typeface="Tahoma" panose="020B0604030504040204" pitchFamily="34" charset="0"/>
                  <a:ea typeface="Tahoma" panose="020B0604030504040204" pitchFamily="34" charset="0"/>
                  <a:cs typeface="Tahoma" panose="020B0604030504040204" pitchFamily="34" charset="0"/>
                </a:endParaRPr>
              </a:p>
              <a:p>
                <a:pPr marL="0" lvl="0" indent="0" algn="just">
                  <a:lnSpc>
                    <a:spcPct val="100000"/>
                  </a:lnSpc>
                  <a:spcAft>
                    <a:spcPts val="0"/>
                  </a:spcAft>
                  <a:buNone/>
                </a:pP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rPr>
                      <m:t>𝜟</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vuông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góc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với</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rPr>
                      <m:t>𝑶𝒙</m:t>
                    </m:r>
                  </m:oMath>
                </a14:m>
                <a:r>
                  <a:rPr lang="en-US" b="1" dirty="0">
                    <a:latin typeface="Tahoma" panose="020B0604030504040204" pitchFamily="34" charset="0"/>
                    <a:ea typeface="Tahoma" panose="020B0604030504040204" pitchFamily="34" charset="0"/>
                    <a:cs typeface="Tahoma" panose="020B0604030504040204" pitchFamily="34" charset="0"/>
                  </a:rPr>
                  <a:t>.</a:t>
                </a:r>
              </a:p>
              <a:p>
                <a:pPr marL="0" lvl="0" indent="0" algn="just">
                  <a:lnSpc>
                    <a:spcPct val="100000"/>
                  </a:lnSpc>
                  <a:spcAft>
                    <a:spcPts val="0"/>
                  </a:spcAft>
                  <a:buNone/>
                </a:pPr>
                <a:r>
                  <a:rPr lang="en-US" b="1" dirty="0" err="1">
                    <a:latin typeface="Tahoma" panose="020B0604030504040204" pitchFamily="34" charset="0"/>
                    <a:ea typeface="Tahoma" panose="020B0604030504040204" pitchFamily="34" charset="0"/>
                    <a:cs typeface="Tahoma" panose="020B0604030504040204" pitchFamily="34" charset="0"/>
                  </a:rPr>
                  <a:t>Nếu</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rPr>
                      <m:t>𝒃</m:t>
                    </m:r>
                    <m:r>
                      <a:rPr lang="en-US" b="1" i="1" smtClean="0">
                        <a:latin typeface="Cambria Math" panose="02040503050406030204" pitchFamily="18" charset="0"/>
                        <a:ea typeface="Calibri" panose="020F0502020204030204" pitchFamily="34" charset="0"/>
                      </a:rPr>
                      <m:t>≠</m:t>
                    </m:r>
                    <m:r>
                      <a:rPr lang="en-US" b="1" i="1" smtClean="0">
                        <a:latin typeface="Cambria Math" panose="02040503050406030204" pitchFamily="18" charset="0"/>
                        <a:ea typeface="Calibri" panose="020F0502020204030204" pitchFamily="34" charset="0"/>
                      </a:rPr>
                      <m:t>𝟎</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thì</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thể</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về</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dạng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rPr>
                      <m:t>𝒚</m:t>
                    </m:r>
                    <m:r>
                      <a:rPr lang="en-US" b="1" i="1" smtClean="0">
                        <a:latin typeface="Cambria Math" panose="02040503050406030204" pitchFamily="18" charset="0"/>
                        <a:ea typeface="Calibri" panose="020F0502020204030204" pitchFamily="34" charset="0"/>
                      </a:rPr>
                      <m:t>=</m:t>
                    </m:r>
                    <m:r>
                      <a:rPr lang="en-US" b="1" i="1" smtClean="0">
                        <a:latin typeface="Cambria Math" panose="02040503050406030204" pitchFamily="18" charset="0"/>
                        <a:ea typeface="Calibri" panose="020F0502020204030204" pitchFamily="34" charset="0"/>
                      </a:rPr>
                      <m:t>𝒏𝒙</m:t>
                    </m:r>
                    <m:r>
                      <a:rPr lang="en-US" b="1" i="1" smtClean="0">
                        <a:latin typeface="Cambria Math" panose="02040503050406030204" pitchFamily="18" charset="0"/>
                        <a:ea typeface="Calibri" panose="020F0502020204030204" pitchFamily="34" charset="0"/>
                      </a:rPr>
                      <m:t>+</m:t>
                    </m:r>
                    <m:r>
                      <a:rPr lang="en-US" b="1" i="1" smtClean="0">
                        <a:latin typeface="Cambria Math" panose="02040503050406030204" pitchFamily="18" charset="0"/>
                        <a:ea typeface="Calibri" panose="020F0502020204030204" pitchFamily="34" charset="0"/>
                      </a:rPr>
                      <m:t>𝒑</m:t>
                    </m:r>
                  </m:oMath>
                </a14:m>
                <a:r>
                  <a:rPr lang="en-US" b="1" dirty="0">
                    <a:latin typeface="Tahoma" panose="020B0604030504040204" pitchFamily="34" charset="0"/>
                    <a:ea typeface="Tahoma" panose="020B0604030504040204" pitchFamily="34" charset="0"/>
                    <a:cs typeface="Tahoma" panose="020B0604030504040204" pitchFamily="34" charset="0"/>
                  </a:rPr>
                  <a:t> </a:t>
                </a:r>
              </a:p>
              <a:p>
                <a:pPr marL="0" lvl="0" indent="0" algn="just">
                  <a:lnSpc>
                    <a:spcPct val="100000"/>
                  </a:lnSpc>
                  <a:spcAft>
                    <a:spcPts val="0"/>
                  </a:spcAft>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với</a:t>
                </a:r>
                <a14:m>
                  <m:oMath xmlns:m="http://schemas.openxmlformats.org/officeDocument/2006/math">
                    <m:r>
                      <a:rPr lang="en-US" b="1" i="0" smtClean="0">
                        <a:latin typeface="Cambria Math" panose="02040503050406030204" pitchFamily="18" charset="0"/>
                        <a:ea typeface="Calibri" panose="020F0502020204030204" pitchFamily="34" charset="0"/>
                      </a:rPr>
                      <m:t> </m:t>
                    </m:r>
                    <m:r>
                      <a:rPr lang="en-US" b="1" i="1" smtClean="0">
                        <a:latin typeface="Cambria Math" panose="02040503050406030204" pitchFamily="18" charset="0"/>
                        <a:ea typeface="Calibri" panose="020F0502020204030204" pitchFamily="34" charset="0"/>
                      </a:rPr>
                      <m:t>𝒏</m:t>
                    </m:r>
                    <m:r>
                      <a:rPr lang="en-US" b="1" i="1" smtClean="0">
                        <a:latin typeface="Cambria Math" panose="02040503050406030204" pitchFamily="18" charset="0"/>
                        <a:ea typeface="Calibri" panose="020F0502020204030204" pitchFamily="34" charset="0"/>
                      </a:rPr>
                      <m:t>=−</m:t>
                    </m:r>
                    <m:f>
                      <m:fPr>
                        <m:ctrlPr>
                          <a:rPr lang="en-US" b="1" i="1">
                            <a:latin typeface="Cambria Math" panose="02040503050406030204" pitchFamily="18" charset="0"/>
                            <a:ea typeface="Calibri" panose="020F0502020204030204" pitchFamily="34" charset="0"/>
                          </a:rPr>
                        </m:ctrlPr>
                      </m:fPr>
                      <m:num>
                        <m:r>
                          <a:rPr lang="en-US" b="1" i="1" smtClean="0">
                            <a:latin typeface="Cambria Math" panose="02040503050406030204" pitchFamily="18" charset="0"/>
                            <a:ea typeface="Calibri" panose="020F0502020204030204" pitchFamily="34" charset="0"/>
                          </a:rPr>
                          <m:t>𝒂</m:t>
                        </m:r>
                      </m:num>
                      <m:den>
                        <m:r>
                          <a:rPr lang="en-US" b="1" i="1" smtClean="0">
                            <a:latin typeface="Cambria Math" panose="02040503050406030204" pitchFamily="18" charset="0"/>
                            <a:ea typeface="Calibri" panose="020F0502020204030204" pitchFamily="34" charset="0"/>
                          </a:rPr>
                          <m:t>𝒃</m:t>
                        </m:r>
                      </m:den>
                    </m:f>
                    <m:r>
                      <a:rPr lang="en-US" b="1" i="1" smtClean="0">
                        <a:latin typeface="Cambria Math" panose="02040503050406030204" pitchFamily="18" charset="0"/>
                        <a:ea typeface="Calibri" panose="020F0502020204030204" pitchFamily="34" charset="0"/>
                      </a:rPr>
                      <m:t>,</m:t>
                    </m:r>
                    <m:r>
                      <a:rPr lang="en-US" b="1" i="1" smtClean="0">
                        <a:latin typeface="Cambria Math" panose="02040503050406030204" pitchFamily="18" charset="0"/>
                        <a:ea typeface="Calibri" panose="020F0502020204030204" pitchFamily="34" charset="0"/>
                      </a:rPr>
                      <m:t>𝒑</m:t>
                    </m:r>
                    <m:r>
                      <a:rPr lang="en-US" b="1" i="1" smtClean="0">
                        <a:latin typeface="Cambria Math" panose="02040503050406030204" pitchFamily="18" charset="0"/>
                        <a:ea typeface="Calibri" panose="020F0502020204030204" pitchFamily="34" charset="0"/>
                      </a:rPr>
                      <m:t>=−</m:t>
                    </m:r>
                    <m:f>
                      <m:fPr>
                        <m:ctrlPr>
                          <a:rPr lang="en-US" b="1" i="1">
                            <a:latin typeface="Cambria Math" panose="02040503050406030204" pitchFamily="18" charset="0"/>
                            <a:ea typeface="Calibri" panose="020F0502020204030204" pitchFamily="34" charset="0"/>
                          </a:rPr>
                        </m:ctrlPr>
                      </m:fPr>
                      <m:num>
                        <m:r>
                          <a:rPr lang="en-US" b="1" i="1" smtClean="0">
                            <a:latin typeface="Cambria Math" panose="02040503050406030204" pitchFamily="18" charset="0"/>
                            <a:ea typeface="Calibri" panose="020F0502020204030204" pitchFamily="34" charset="0"/>
                          </a:rPr>
                          <m:t>𝒄</m:t>
                        </m:r>
                      </m:num>
                      <m:den>
                        <m:r>
                          <a:rPr lang="en-US" b="1" i="1" smtClean="0">
                            <a:latin typeface="Cambria Math" panose="02040503050406030204" pitchFamily="18" charset="0"/>
                            <a:ea typeface="Calibri" panose="020F0502020204030204" pitchFamily="34" charset="0"/>
                          </a:rPr>
                          <m:t>𝒃</m:t>
                        </m:r>
                      </m:den>
                    </m:f>
                  </m:oMath>
                </a14:m>
                <a:r>
                  <a:rPr lang="en-US" b="1" dirty="0">
                    <a:latin typeface="Tahoma" panose="020B0604030504040204" pitchFamily="34" charset="0"/>
                    <a:ea typeface="Tahoma" panose="020B0604030504040204" pitchFamily="34" charset="0"/>
                    <a:cs typeface="Tahoma" panose="020B0604030504040204" pitchFamily="34" charset="0"/>
                  </a:rPr>
                  <a:t>).</a:t>
                </a:r>
                <a:endParaRPr lang="en-US" b="1" dirty="0">
                  <a:solidFill>
                    <a:prstClr val="black"/>
                  </a:solidFill>
                  <a:latin typeface="Tahoma" panose="020B0604030504040204" pitchFamily="34" charset="0"/>
                  <a:ea typeface="Tahoma" panose="020B0604030504040204" pitchFamily="34" charset="0"/>
                  <a:cs typeface="Tahoma" panose="020B0604030504040204" pitchFamily="34" charset="0"/>
                </a:endParaRPr>
              </a:p>
              <a:p>
                <a:pPr marL="0" indent="0">
                  <a:lnSpc>
                    <a:spcPct val="107000"/>
                  </a:lnSpc>
                  <a:spcAft>
                    <a:spcPts val="800"/>
                  </a:spcAft>
                  <a:buNone/>
                </a:pPr>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4"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81000" y="3048001"/>
                <a:ext cx="23622000" cy="10363199"/>
              </a:xfrm>
              <a:prstGeom prst="rect">
                <a:avLst/>
              </a:prstGeom>
              <a:blipFill>
                <a:blip r:embed="rId3"/>
                <a:stretch>
                  <a:fillRect l="-1161" t="-1469" r="-413"/>
                </a:stretch>
              </a:blipFill>
              <a:ln>
                <a:solidFill>
                  <a:srgbClr val="00B0F0"/>
                </a:solidFill>
              </a:ln>
            </p:spPr>
            <p:txBody>
              <a:bodyPr/>
              <a:lstStyle/>
              <a:p>
                <a:r>
                  <a:rPr lang="en-US">
                    <a:noFill/>
                  </a:rPr>
                  <a:t> </a:t>
                </a:r>
              </a:p>
            </p:txBody>
          </p:sp>
        </mc:Fallback>
      </mc:AlternateContent>
      <p:grpSp>
        <p:nvGrpSpPr>
          <p:cNvPr id="13" name="Group 12"/>
          <p:cNvGrpSpPr/>
          <p:nvPr/>
        </p:nvGrpSpPr>
        <p:grpSpPr>
          <a:xfrm>
            <a:off x="-152400" y="3048001"/>
            <a:ext cx="4876799" cy="865123"/>
            <a:chOff x="1219200" y="1883409"/>
            <a:chExt cx="4234636" cy="865123"/>
          </a:xfrm>
        </p:grpSpPr>
        <p:grpSp>
          <p:nvGrpSpPr>
            <p:cNvPr id="14" name="Group 13"/>
            <p:cNvGrpSpPr/>
            <p:nvPr/>
          </p:nvGrpSpPr>
          <p:grpSpPr>
            <a:xfrm>
              <a:off x="1219200" y="1883409"/>
              <a:ext cx="4234636" cy="865123"/>
              <a:chOff x="10025696" y="6718934"/>
              <a:chExt cx="4234636" cy="865123"/>
            </a:xfrm>
          </p:grpSpPr>
          <p:sp>
            <p:nvSpPr>
              <p:cNvPr id="16" name="Arrow: Pentagon 33"/>
              <p:cNvSpPr/>
              <p:nvPr/>
            </p:nvSpPr>
            <p:spPr>
              <a:xfrm>
                <a:off x="10429865" y="6752717"/>
                <a:ext cx="3810953" cy="80670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a:lnSpc>
                    <a:spcPct val="106000"/>
                  </a:lnSpc>
                  <a:spcAft>
                    <a:spcPts val="800"/>
                  </a:spcAft>
                </a:pPr>
                <a:r>
                  <a:rPr lang="en-US" sz="10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b="1">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7" name="Arrow: Chevron 34"/>
              <p:cNvSpPr/>
              <p:nvPr/>
            </p:nvSpPr>
            <p:spPr>
              <a:xfrm>
                <a:off x="10025696" y="6773546"/>
                <a:ext cx="273620" cy="806702"/>
              </a:xfrm>
              <a:prstGeom prst="chevron">
                <a:avLst/>
              </a:prstGeom>
              <a:solidFill>
                <a:srgbClr val="4472C4"/>
              </a:solidFill>
              <a:ln w="12700" cap="flat" cmpd="sng" algn="ctr">
                <a:noFill/>
                <a:prstDash val="solid"/>
                <a:miter lim="800000"/>
              </a:ln>
              <a:effectLst/>
            </p:spPr>
            <p:txBody>
              <a:bodyPr rtlCol="0" anchor="ctr"/>
              <a:lstStyle/>
              <a:p>
                <a:endParaRPr lang="en-US" b="1"/>
              </a:p>
            </p:txBody>
          </p:sp>
          <p:sp>
            <p:nvSpPr>
              <p:cNvPr id="18" name="TextBox 56"/>
              <p:cNvSpPr txBox="1"/>
              <p:nvPr/>
            </p:nvSpPr>
            <p:spPr>
              <a:xfrm>
                <a:off x="10582965" y="6718934"/>
                <a:ext cx="3677367" cy="865123"/>
              </a:xfrm>
              <a:prstGeom prst="rect">
                <a:avLst/>
              </a:prstGeom>
              <a:noFill/>
            </p:spPr>
            <p:txBody>
              <a:bodyPr wrap="square">
                <a:noAutofit/>
              </a:bodyPr>
              <a:lstStyle/>
              <a:p>
                <a:pPr>
                  <a:lnSpc>
                    <a:spcPct val="107000"/>
                  </a:lnSpc>
                  <a:spcAft>
                    <a:spcPts val="800"/>
                  </a:spcAft>
                </a:pPr>
                <a:r>
                  <a:rPr lang="en-US" sz="4800" b="1" kern="1200" dirty="0" err="1">
                    <a:solidFill>
                      <a:srgbClr val="0000CC"/>
                    </a:solidFill>
                    <a:effectLst/>
                    <a:latin typeface="Tomaho"/>
                    <a:ea typeface="Calibri" panose="020F0502020204030204" pitchFamily="34" charset="0"/>
                    <a:cs typeface="Times New Roman" panose="02020603050405020304" pitchFamily="18" charset="0"/>
                  </a:rPr>
                  <a:t>Luyện</a:t>
                </a:r>
                <a:r>
                  <a:rPr lang="en-US" sz="4800" b="1" kern="1200" dirty="0">
                    <a:solidFill>
                      <a:srgbClr val="0000CC"/>
                    </a:solidFill>
                    <a:effectLst/>
                    <a:latin typeface="Tomaho"/>
                    <a:ea typeface="Calibri" panose="020F0502020204030204" pitchFamily="34" charset="0"/>
                    <a:cs typeface="Times New Roman" panose="02020603050405020304" pitchFamily="18" charset="0"/>
                  </a:rPr>
                  <a:t> </a:t>
                </a:r>
                <a:r>
                  <a:rPr lang="en-US" sz="4800" b="1" kern="1200" dirty="0" err="1">
                    <a:solidFill>
                      <a:srgbClr val="0000CC"/>
                    </a:solidFill>
                    <a:effectLst/>
                    <a:latin typeface="Tomaho"/>
                    <a:ea typeface="Calibri" panose="020F0502020204030204" pitchFamily="34" charset="0"/>
                    <a:cs typeface="Times New Roman" panose="02020603050405020304" pitchFamily="18" charset="0"/>
                  </a:rPr>
                  <a:t>tập</a:t>
                </a:r>
                <a:r>
                  <a:rPr lang="en-US" sz="4800" b="1" kern="1200" dirty="0">
                    <a:solidFill>
                      <a:srgbClr val="0000CC"/>
                    </a:solidFill>
                    <a:effectLst/>
                    <a:latin typeface="Tomaho"/>
                    <a:ea typeface="Calibri" panose="020F0502020204030204" pitchFamily="34" charset="0"/>
                    <a:cs typeface="Times New Roman" panose="02020603050405020304" pitchFamily="18" charset="0"/>
                  </a:rPr>
                  <a:t> 2.</a:t>
                </a:r>
                <a:endParaRPr lang="en-US" sz="4800" b="1" dirty="0">
                  <a:effectLst/>
                  <a:latin typeface="Tomaho"/>
                  <a:ea typeface="Calibri" panose="020F0502020204030204" pitchFamily="34" charset="0"/>
                  <a:cs typeface="Times New Roman" panose="02020603050405020304" pitchFamily="18" charset="0"/>
                </a:endParaRPr>
              </a:p>
            </p:txBody>
          </p:sp>
        </p:grpSp>
        <p:sp>
          <p:nvSpPr>
            <p:cNvPr id="15" name="Arrow: Chevron 35"/>
            <p:cNvSpPr/>
            <p:nvPr/>
          </p:nvSpPr>
          <p:spPr>
            <a:xfrm>
              <a:off x="1349749" y="1935480"/>
              <a:ext cx="296171" cy="806702"/>
            </a:xfrm>
            <a:prstGeom prst="chevron">
              <a:avLst/>
            </a:prstGeom>
            <a:solidFill>
              <a:srgbClr val="FFC000"/>
            </a:solidFill>
            <a:ln w="12700" cap="flat" cmpd="sng" algn="ctr">
              <a:noFill/>
              <a:prstDash val="solid"/>
              <a:miter lim="800000"/>
            </a:ln>
            <a:effectLst/>
          </p:spPr>
          <p:txBody>
            <a:bodyPr rtlCol="0" anchor="ctr"/>
            <a:lstStyle/>
            <a:p>
              <a:endParaRPr lang="en-US" b="1"/>
            </a:p>
          </p:txBody>
        </p:sp>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E11AB10-AEF3-8E01-24EC-00E868706558}"/>
                  </a:ext>
                </a:extLst>
              </p:cNvPr>
              <p:cNvSpPr txBox="1"/>
              <p:nvPr/>
            </p:nvSpPr>
            <p:spPr>
              <a:xfrm>
                <a:off x="2133600" y="4197740"/>
                <a:ext cx="12195110" cy="819968"/>
              </a:xfrm>
              <a:prstGeom prst="rect">
                <a:avLst/>
              </a:prstGeom>
              <a:noFill/>
            </p:spPr>
            <p:txBody>
              <a:bodyPr wrap="square">
                <a:spAutoFit/>
              </a:bodyPr>
              <a:lstStyle/>
              <a:p>
                <a:pPr marL="0" marR="0" lvl="0" indent="0" algn="l" defTabSz="2177278" rtl="0" eaLnBrk="1" fontAlgn="auto" latinLnBrk="0" hangingPunct="1">
                  <a:lnSpc>
                    <a:spcPct val="107000"/>
                  </a:lnSpc>
                  <a:spcBef>
                    <a:spcPts val="0"/>
                  </a:spcBef>
                  <a:spcAft>
                    <a:spcPts val="800"/>
                  </a:spcAft>
                  <a:buClrTx/>
                  <a:buSzTx/>
                  <a:buFontTx/>
                  <a:buNone/>
                  <a:tabLst/>
                  <a:defRPr/>
                </a:pPr>
                <a:r>
                  <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Ta </a:t>
                </a:r>
                <a:r>
                  <a:rPr kumimoji="0" lang="en-US" sz="4800" b="1" i="0" u="none" strike="noStrike" kern="1200" cap="none" spc="0" normalizeH="0" baseline="0" noProof="0" dirty="0" err="1">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có</a:t>
                </a:r>
                <a:r>
                  <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en-US" sz="48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𝒚</m:t>
                    </m:r>
                    <m:r>
                      <a:rPr kumimoji="0" lang="en-US" sz="48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en-US" sz="48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𝟑</m:t>
                    </m:r>
                    <m:r>
                      <a:rPr kumimoji="0" lang="en-US" sz="48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𝒙</m:t>
                    </m:r>
                    <m:r>
                      <a:rPr kumimoji="0" lang="en-US" sz="48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en-US" sz="48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𝟒</m:t>
                    </m:r>
                    <m:r>
                      <a:rPr kumimoji="0" lang="en-US" sz="48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en-US" sz="48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𝟑</m:t>
                    </m:r>
                    <m:r>
                      <a:rPr kumimoji="0" lang="en-US" sz="48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𝒙</m:t>
                    </m:r>
                    <m:r>
                      <a:rPr kumimoji="0" lang="en-US" sz="48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en-US" sz="48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𝒚</m:t>
                    </m:r>
                    <m:r>
                      <a:rPr kumimoji="0" lang="en-US" sz="48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en-US" sz="48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𝟒</m:t>
                    </m:r>
                    <m:r>
                      <a:rPr kumimoji="0" lang="en-US" sz="48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en-US" sz="48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𝟎</m:t>
                    </m:r>
                  </m:oMath>
                </a14:m>
                <a:endPar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1" name="TextBox 10">
                <a:extLst>
                  <a:ext uri="{FF2B5EF4-FFF2-40B4-BE49-F238E27FC236}">
                    <a16:creationId xmlns:a16="http://schemas.microsoft.com/office/drawing/2014/main" id="{0E11AB10-AEF3-8E01-24EC-00E868706558}"/>
                  </a:ext>
                </a:extLst>
              </p:cNvPr>
              <p:cNvSpPr txBox="1">
                <a:spLocks noRot="1" noChangeAspect="1" noMove="1" noResize="1" noEditPoints="1" noAdjustHandles="1" noChangeArrowheads="1" noChangeShapeType="1" noTextEdit="1"/>
              </p:cNvSpPr>
              <p:nvPr/>
            </p:nvSpPr>
            <p:spPr>
              <a:xfrm>
                <a:off x="2133600" y="4197740"/>
                <a:ext cx="12195110" cy="819968"/>
              </a:xfrm>
              <a:prstGeom prst="rect">
                <a:avLst/>
              </a:prstGeom>
              <a:blipFill>
                <a:blip r:embed="rId4"/>
                <a:stretch>
                  <a:fillRect l="-2249" t="-19403" b="-38060"/>
                </a:stretch>
              </a:blipFill>
            </p:spPr>
            <p:txBody>
              <a:bodyPr/>
              <a:lstStyle/>
              <a:p>
                <a:r>
                  <a:rPr lang="en-US">
                    <a:noFill/>
                  </a:rPr>
                  <a:t> </a:t>
                </a:r>
              </a:p>
            </p:txBody>
          </p:sp>
        </mc:Fallback>
      </mc:AlternateContent>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9904100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4">
                                            <p:txEl>
                                              <p:pRg st="0" end="0"/>
                                            </p:txEl>
                                          </p:spTgt>
                                        </p:tgtEl>
                                        <p:attrNameLst>
                                          <p:attrName>style.visibility</p:attrName>
                                        </p:attrNameLst>
                                      </p:cBhvr>
                                      <p:to>
                                        <p:strVal val="visible"/>
                                      </p:to>
                                    </p:set>
                                    <p:animEffect transition="in" filter="fade">
                                      <p:cBhvr>
                                        <p:cTn id="21" dur="500"/>
                                        <p:tgtEl>
                                          <p:spTgt spid="24">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4">
                                            <p:txEl>
                                              <p:pRg st="1" end="1"/>
                                            </p:txEl>
                                          </p:spTgt>
                                        </p:tgtEl>
                                        <p:attrNameLst>
                                          <p:attrName>style.visibility</p:attrName>
                                        </p:attrNameLst>
                                      </p:cBhvr>
                                      <p:to>
                                        <p:strVal val="visible"/>
                                      </p:to>
                                    </p:set>
                                    <p:animEffect transition="in" filter="fade">
                                      <p:cBhvr>
                                        <p:cTn id="26" dur="500"/>
                                        <p:tgtEl>
                                          <p:spTgt spid="24">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4">
                                            <p:txEl>
                                              <p:pRg st="2" end="2"/>
                                            </p:txEl>
                                          </p:spTgt>
                                        </p:tgtEl>
                                        <p:attrNameLst>
                                          <p:attrName>style.visibility</p:attrName>
                                        </p:attrNameLst>
                                      </p:cBhvr>
                                      <p:to>
                                        <p:strVal val="visible"/>
                                      </p:to>
                                    </p:set>
                                    <p:animEffect transition="in" filter="fade">
                                      <p:cBhvr>
                                        <p:cTn id="36" dur="500"/>
                                        <p:tgtEl>
                                          <p:spTgt spid="24">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4">
                                            <p:txEl>
                                              <p:pRg st="3" end="3"/>
                                            </p:txEl>
                                          </p:spTgt>
                                        </p:tgtEl>
                                        <p:attrNameLst>
                                          <p:attrName>style.visibility</p:attrName>
                                        </p:attrNameLst>
                                      </p:cBhvr>
                                      <p:to>
                                        <p:strVal val="visible"/>
                                      </p:to>
                                    </p:set>
                                    <p:animEffect transition="in" filter="fade">
                                      <p:cBhvr>
                                        <p:cTn id="41" dur="500"/>
                                        <p:tgtEl>
                                          <p:spTgt spid="24">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4">
                                            <p:txEl>
                                              <p:pRg st="4" end="4"/>
                                            </p:txEl>
                                          </p:spTgt>
                                        </p:tgtEl>
                                        <p:attrNameLst>
                                          <p:attrName>style.visibility</p:attrName>
                                        </p:attrNameLst>
                                      </p:cBhvr>
                                      <p:to>
                                        <p:strVal val="visible"/>
                                      </p:to>
                                    </p:set>
                                    <p:animEffect transition="in" filter="fade">
                                      <p:cBhvr>
                                        <p:cTn id="46" dur="500"/>
                                        <p:tgtEl>
                                          <p:spTgt spid="24">
                                            <p:txEl>
                                              <p:pRg st="4" end="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4">
                                            <p:txEl>
                                              <p:pRg st="5" end="5"/>
                                            </p:txEl>
                                          </p:spTgt>
                                        </p:tgtEl>
                                        <p:attrNameLst>
                                          <p:attrName>style.visibility</p:attrName>
                                        </p:attrNameLst>
                                      </p:cBhvr>
                                      <p:to>
                                        <p:strVal val="visible"/>
                                      </p:to>
                                    </p:set>
                                    <p:animEffect transition="in" filter="fade">
                                      <p:cBhvr>
                                        <p:cTn id="51" dur="500"/>
                                        <p:tgtEl>
                                          <p:spTgt spid="24">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4">
                                            <p:txEl>
                                              <p:pRg st="6" end="6"/>
                                            </p:txEl>
                                          </p:spTgt>
                                        </p:tgtEl>
                                        <p:attrNameLst>
                                          <p:attrName>style.visibility</p:attrName>
                                        </p:attrNameLst>
                                      </p:cBhvr>
                                      <p:to>
                                        <p:strVal val="visible"/>
                                      </p:to>
                                    </p:set>
                                    <p:animEffect transition="in" filter="fade">
                                      <p:cBhvr>
                                        <p:cTn id="56" dur="500"/>
                                        <p:tgtEl>
                                          <p:spTgt spid="24">
                                            <p:txEl>
                                              <p:pRg st="6" end="6"/>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xEl>
                                              <p:pRg st="7" end="7"/>
                                            </p:txEl>
                                          </p:spTgt>
                                        </p:tgtEl>
                                        <p:attrNameLst>
                                          <p:attrName>style.visibility</p:attrName>
                                        </p:attrNameLst>
                                      </p:cBhvr>
                                      <p:to>
                                        <p:strVal val="visible"/>
                                      </p:to>
                                    </p:set>
                                    <p:animEffect transition="in" filter="fade">
                                      <p:cBhvr>
                                        <p:cTn id="61" dur="500"/>
                                        <p:tgtEl>
                                          <p:spTgt spid="2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24" grpId="0" animBg="1"/>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81000" y="1879601"/>
            <a:ext cx="23622000" cy="11684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7000"/>
              </a:lnSpc>
              <a:spcAft>
                <a:spcPts val="800"/>
              </a:spcAft>
            </a:pP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2. PHƯƠNG TRÌNH THAM SỐ CỦA ĐƯỜNG THẲNG</a:t>
            </a:r>
          </a:p>
        </p:txBody>
      </p:sp>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14822BB7-DB89-4357-87F0-6E511FC44A6A}"/>
                  </a:ext>
                </a:extLst>
              </p:cNvPr>
              <p:cNvSpPr txBox="1">
                <a:spLocks/>
              </p:cNvSpPr>
              <p:nvPr/>
            </p:nvSpPr>
            <p:spPr>
              <a:xfrm>
                <a:off x="381000" y="3048001"/>
                <a:ext cx="23622000" cy="103631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50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Trong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Hình</a:t>
                </a:r>
                <a:r>
                  <a:rPr lang="en-US" b="1" dirty="0">
                    <a:latin typeface="Tahoma" panose="020B0604030504040204" pitchFamily="34" charset="0"/>
                    <a:ea typeface="Tahoma" panose="020B0604030504040204" pitchFamily="34" charset="0"/>
                    <a:cs typeface="Tahoma" panose="020B0604030504040204" pitchFamily="34" charset="0"/>
                  </a:rPr>
                  <a:t> 7.2a, </a:t>
                </a:r>
                <a:r>
                  <a:rPr lang="en-US" b="1" dirty="0" err="1">
                    <a:latin typeface="Tahoma" panose="020B0604030504040204" pitchFamily="34" charset="0"/>
                    <a:ea typeface="Tahoma" panose="020B0604030504040204" pitchFamily="34" charset="0"/>
                    <a:cs typeface="Tahoma" panose="020B0604030504040204" pitchFamily="34" charset="0"/>
                  </a:rPr>
                  <a:t>nếu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một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vật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thể</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chuyển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động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với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vận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tốc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bằng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𝒗</m:t>
                        </m:r>
                      </m:e>
                    </m:acc>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đi</a:t>
                </a:r>
                <a:r>
                  <a:rPr lang="en-US" b="1" dirty="0">
                    <a:latin typeface="Tahoma" panose="020B0604030504040204" pitchFamily="34" charset="0"/>
                    <a:ea typeface="Tahoma" panose="020B0604030504040204" pitchFamily="34" charset="0"/>
                    <a:cs typeface="Tahoma" panose="020B0604030504040204" pitchFamily="34" charset="0"/>
                  </a:rPr>
                  <a:t> qua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𝑨</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thì</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nó</a:t>
                </a:r>
                <a:r>
                  <a:rPr lang="en-US" b="1" dirty="0">
                    <a:latin typeface="Tahoma" panose="020B0604030504040204" pitchFamily="34" charset="0"/>
                    <a:ea typeface="Tahoma" panose="020B0604030504040204" pitchFamily="34" charset="0"/>
                    <a:cs typeface="Tahoma" panose="020B0604030504040204" pitchFamily="34" charset="0"/>
                  </a:rPr>
                  <a:t> di </a:t>
                </a:r>
                <a:r>
                  <a:rPr lang="en-US" b="1" dirty="0" err="1">
                    <a:latin typeface="Tahoma" panose="020B0604030504040204" pitchFamily="34" charset="0"/>
                    <a:ea typeface="Tahoma" panose="020B0604030504040204" pitchFamily="34" charset="0"/>
                    <a:cs typeface="Tahoma" panose="020B0604030504040204" pitchFamily="34" charset="0"/>
                  </a:rPr>
                  <a:t>chuyển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trên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nào</a:t>
                </a:r>
                <a:r>
                  <a:rPr lang="en-US" b="1" dirty="0">
                    <a:latin typeface="Tahoma" panose="020B0604030504040204" pitchFamily="34" charset="0"/>
                    <a:ea typeface="Tahoma" panose="020B0604030504040204" pitchFamily="34" charset="0"/>
                    <a:cs typeface="Tahoma" panose="020B0604030504040204" pitchFamily="34" charset="0"/>
                  </a:rPr>
                  <a:t>?</a:t>
                </a:r>
              </a:p>
              <a:p>
                <a:pPr marL="0" indent="0">
                  <a:lnSpc>
                    <a:spcPct val="107000"/>
                  </a:lnSpc>
                  <a:spcAft>
                    <a:spcPts val="800"/>
                  </a:spcAft>
                  <a:buNone/>
                </a:pPr>
                <a:r>
                  <a:rPr lang="en-US" b="1" u="sng"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endParaRPr lang="en-US" b="1" u="sng"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nSpc>
                    <a:spcPct val="107000"/>
                  </a:lnSpc>
                  <a:spcAft>
                    <a:spcPts val="800"/>
                  </a:spcAft>
                  <a:buNone/>
                </a:pPr>
                <a:r>
                  <a:rPr lang="en-US" b="1" dirty="0" err="1">
                    <a:latin typeface="Tahoma" panose="020B0604030504040204" pitchFamily="34" charset="0"/>
                    <a:ea typeface="Tahoma" panose="020B0604030504040204" pitchFamily="34" charset="0"/>
                    <a:cs typeface="Tahoma" panose="020B0604030504040204" pitchFamily="34" charset="0"/>
                  </a:rPr>
                  <a:t>Một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vật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thể</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chuyển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động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với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vận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tốc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bằng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𝒗</m:t>
                        </m:r>
                      </m:e>
                    </m:acc>
                  </m:oMath>
                </a14:m>
                <a:r>
                  <a:rPr lang="en-US" b="1" dirty="0">
                    <a:latin typeface="Tahoma" panose="020B0604030504040204" pitchFamily="34" charset="0"/>
                    <a:ea typeface="Tahoma" panose="020B0604030504040204" pitchFamily="34" charset="0"/>
                    <a:cs typeface="Tahoma" panose="020B0604030504040204" pitchFamily="34" charset="0"/>
                  </a:rPr>
                  <a:t> </a:t>
                </a:r>
              </a:p>
              <a:p>
                <a:pPr marL="0" indent="0">
                  <a:lnSpc>
                    <a:spcPct val="107000"/>
                  </a:lnSpc>
                  <a:spcAft>
                    <a:spcPts val="800"/>
                  </a:spcAft>
                  <a:buNone/>
                </a:pPr>
                <a:r>
                  <a:rPr lang="en-US" b="1" dirty="0" err="1">
                    <a:latin typeface="Tahoma" panose="020B0604030504040204" pitchFamily="34" charset="0"/>
                    <a:ea typeface="Tahoma" panose="020B0604030504040204" pitchFamily="34" charset="0"/>
                    <a:cs typeface="Tahoma" panose="020B0604030504040204" pitchFamily="34" charset="0"/>
                  </a:rPr>
                  <a:t>đi</a:t>
                </a:r>
                <a:r>
                  <a:rPr lang="en-US" b="1" dirty="0">
                    <a:latin typeface="Tahoma" panose="020B0604030504040204" pitchFamily="34" charset="0"/>
                    <a:ea typeface="Tahoma" panose="020B0604030504040204" pitchFamily="34" charset="0"/>
                    <a:cs typeface="Tahoma" panose="020B0604030504040204" pitchFamily="34" charset="0"/>
                  </a:rPr>
                  <a:t> qua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𝑨</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thì</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nó</a:t>
                </a:r>
                <a:r>
                  <a:rPr lang="en-US" b="1" dirty="0">
                    <a:latin typeface="Tahoma" panose="020B0604030504040204" pitchFamily="34" charset="0"/>
                    <a:ea typeface="Tahoma" panose="020B0604030504040204" pitchFamily="34" charset="0"/>
                    <a:cs typeface="Tahoma" panose="020B0604030504040204" pitchFamily="34" charset="0"/>
                  </a:rPr>
                  <a:t> di </a:t>
                </a:r>
                <a:r>
                  <a:rPr lang="en-US" b="1" dirty="0" err="1">
                    <a:latin typeface="Tahoma" panose="020B0604030504040204" pitchFamily="34" charset="0"/>
                    <a:ea typeface="Tahoma" panose="020B0604030504040204" pitchFamily="34" charset="0"/>
                    <a:cs typeface="Tahoma" panose="020B0604030504040204" pitchFamily="34" charset="0"/>
                  </a:rPr>
                  <a:t>chuyển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trên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𝜟</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𝟐</m:t>
                        </m:r>
                      </m:sub>
                    </m:sSub>
                  </m:oMath>
                </a14:m>
                <a:r>
                  <a:rPr lang="en-US" b="1" dirty="0">
                    <a:latin typeface="Tahoma" panose="020B0604030504040204" pitchFamily="34" charset="0"/>
                    <a:ea typeface="Tahoma" panose="020B0604030504040204" pitchFamily="34" charset="0"/>
                    <a:cs typeface="Tahoma" panose="020B0604030504040204" pitchFamily="34" charset="0"/>
                  </a:rPr>
                  <a:t>.</a:t>
                </a:r>
              </a:p>
              <a:p>
                <a:pPr marL="0" indent="0">
                  <a:lnSpc>
                    <a:spcPct val="150000"/>
                  </a:lnSpc>
                  <a:spcAft>
                    <a:spcPts val="800"/>
                  </a:spcAft>
                  <a:buNone/>
                </a:pPr>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4"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81000" y="3048001"/>
                <a:ext cx="23622000" cy="10363199"/>
              </a:xfrm>
              <a:prstGeom prst="rect">
                <a:avLst/>
              </a:prstGeom>
              <a:blipFill>
                <a:blip r:embed="rId3"/>
                <a:stretch>
                  <a:fillRect l="-1161"/>
                </a:stretch>
              </a:blipFill>
              <a:ln>
                <a:solidFill>
                  <a:srgbClr val="00B0F0"/>
                </a:solidFill>
              </a:ln>
            </p:spPr>
            <p:txBody>
              <a:bodyPr/>
              <a:lstStyle/>
              <a:p>
                <a:r>
                  <a:rPr lang="en-US">
                    <a:noFill/>
                  </a:rPr>
                  <a:t> </a:t>
                </a:r>
              </a:p>
            </p:txBody>
          </p:sp>
        </mc:Fallback>
      </mc:AlternateContent>
      <p:grpSp>
        <p:nvGrpSpPr>
          <p:cNvPr id="11" name="Group 10"/>
          <p:cNvGrpSpPr/>
          <p:nvPr/>
        </p:nvGrpSpPr>
        <p:grpSpPr>
          <a:xfrm>
            <a:off x="1066800" y="3299665"/>
            <a:ext cx="2792159" cy="838199"/>
            <a:chOff x="853445" y="3032647"/>
            <a:chExt cx="2792159" cy="838199"/>
          </a:xfrm>
        </p:grpSpPr>
        <p:grpSp>
          <p:nvGrpSpPr>
            <p:cNvPr id="12" name="Group 11"/>
            <p:cNvGrpSpPr/>
            <p:nvPr/>
          </p:nvGrpSpPr>
          <p:grpSpPr>
            <a:xfrm>
              <a:off x="853445" y="3032647"/>
              <a:ext cx="2792159" cy="838199"/>
              <a:chOff x="-3796694" y="945148"/>
              <a:chExt cx="5297364" cy="1862095"/>
            </a:xfrm>
          </p:grpSpPr>
          <p:sp>
            <p:nvSpPr>
              <p:cNvPr id="20" name="TextBox 321"/>
              <p:cNvSpPr txBox="1"/>
              <p:nvPr/>
            </p:nvSpPr>
            <p:spPr>
              <a:xfrm>
                <a:off x="-1984442" y="945148"/>
                <a:ext cx="3485112" cy="1862095"/>
              </a:xfrm>
              <a:prstGeom prst="rect">
                <a:avLst/>
              </a:prstGeom>
              <a:noFill/>
            </p:spPr>
            <p:txBody>
              <a:bodyPr wrap="square" rtlCol="0">
                <a:noAutofit/>
              </a:bodyPr>
              <a:lstStyle/>
              <a:p>
                <a:pPr>
                  <a:lnSpc>
                    <a:spcPct val="107000"/>
                  </a:lnSpc>
                  <a:spcAft>
                    <a:spcPts val="800"/>
                  </a:spcAft>
                </a:pPr>
                <a:r>
                  <a:rPr lang="en-US" sz="4800" b="1" kern="1200">
                    <a:solidFill>
                      <a:srgbClr val="D33E03"/>
                    </a:solidFill>
                    <a:effectLst/>
                    <a:latin typeface="Tomaho"/>
                    <a:ea typeface="Tahoma" panose="020B0604030504040204" pitchFamily="34" charset="0"/>
                    <a:cs typeface="Tahoma" panose="020B0604030504040204" pitchFamily="34" charset="0"/>
                  </a:rPr>
                  <a:t>HĐ3: </a:t>
                </a:r>
                <a:endParaRPr lang="en-US" sz="4800" b="1">
                  <a:solidFill>
                    <a:srgbClr val="D33E03"/>
                  </a:solidFill>
                  <a:effectLst/>
                  <a:latin typeface="Tomaho"/>
                  <a:ea typeface="Tahoma" panose="020B0604030504040204" pitchFamily="34" charset="0"/>
                  <a:cs typeface="Tahoma" panose="020B0604030504040204" pitchFamily="34" charset="0"/>
                </a:endParaRPr>
              </a:p>
            </p:txBody>
          </p:sp>
          <p:grpSp>
            <p:nvGrpSpPr>
              <p:cNvPr id="21" name="Group 20"/>
              <p:cNvGrpSpPr/>
              <p:nvPr/>
            </p:nvGrpSpPr>
            <p:grpSpPr>
              <a:xfrm>
                <a:off x="-3796694" y="1332427"/>
                <a:ext cx="1945947" cy="1087543"/>
                <a:chOff x="-3484263" y="1332427"/>
                <a:chExt cx="1785816" cy="1087543"/>
              </a:xfrm>
            </p:grpSpPr>
            <p:grpSp>
              <p:nvGrpSpPr>
                <p:cNvPr id="22" name="Group 21"/>
                <p:cNvGrpSpPr/>
                <p:nvPr/>
              </p:nvGrpSpPr>
              <p:grpSpPr>
                <a:xfrm>
                  <a:off x="-3484263" y="1332427"/>
                  <a:ext cx="1785816" cy="1087543"/>
                  <a:chOff x="-3902278" y="1992271"/>
                  <a:chExt cx="2000062" cy="1666211"/>
                </a:xfrm>
              </p:grpSpPr>
              <p:sp>
                <p:nvSpPr>
                  <p:cNvPr id="26" name="Arrow: Pentagon 6"/>
                  <p:cNvSpPr/>
                  <p:nvPr/>
                </p:nvSpPr>
                <p:spPr>
                  <a:xfrm>
                    <a:off x="-3902278" y="1992274"/>
                    <a:ext cx="1599070" cy="1666208"/>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sp>
                <p:nvSpPr>
                  <p:cNvPr id="27" name="Arrow: Chevron 11"/>
                  <p:cNvSpPr/>
                  <p:nvPr/>
                </p:nvSpPr>
                <p:spPr>
                  <a:xfrm>
                    <a:off x="-2759185" y="1992271"/>
                    <a:ext cx="856969" cy="1666208"/>
                  </a:xfrm>
                  <a:prstGeom prst="chevron">
                    <a:avLst>
                      <a:gd name="adj" fmla="val 66014"/>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grpSp>
            <p:sp>
              <p:nvSpPr>
                <p:cNvPr id="23" name="Flowchart: Terminator 22"/>
                <p:cNvSpPr/>
                <p:nvPr/>
              </p:nvSpPr>
              <p:spPr>
                <a:xfrm>
                  <a:off x="-3367925" y="1476518"/>
                  <a:ext cx="995711" cy="799363"/>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sp>
              <p:nvSpPr>
                <p:cNvPr id="25" name="Oval 24"/>
                <p:cNvSpPr/>
                <p:nvPr/>
              </p:nvSpPr>
              <p:spPr>
                <a:xfrm>
                  <a:off x="-3028523" y="1518566"/>
                  <a:ext cx="611269" cy="737968"/>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800" b="1"/>
                </a:p>
              </p:txBody>
            </p:sp>
          </p:grpSp>
        </p:grpSp>
        <p:sp>
          <p:nvSpPr>
            <p:cNvPr id="19" name="Arrow: Chevron 12"/>
            <p:cNvSpPr/>
            <p:nvPr/>
          </p:nvSpPr>
          <p:spPr>
            <a:xfrm flipV="1">
              <a:off x="1457568" y="3206977"/>
              <a:ext cx="287623" cy="489543"/>
            </a:xfrm>
            <a:prstGeom prst="chevron">
              <a:avLst>
                <a:gd name="adj" fmla="val 83506"/>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grpSp>
      <p:pic>
        <p:nvPicPr>
          <p:cNvPr id="29" name="Picture 28"/>
          <p:cNvPicPr/>
          <p:nvPr/>
        </p:nvPicPr>
        <p:blipFill>
          <a:blip r:embed="rId4"/>
          <a:stretch>
            <a:fillRect/>
          </a:stretch>
        </p:blipFill>
        <p:spPr>
          <a:xfrm>
            <a:off x="16459200" y="5323608"/>
            <a:ext cx="7391400" cy="7858991"/>
          </a:xfrm>
          <a:prstGeom prst="rect">
            <a:avLst/>
          </a:prstGeom>
        </p:spPr>
      </p:pic>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19764090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4">
                                            <p:txEl>
                                              <p:pRg st="0" end="0"/>
                                            </p:txEl>
                                          </p:spTgt>
                                        </p:tgtEl>
                                        <p:attrNameLst>
                                          <p:attrName>style.visibility</p:attrName>
                                        </p:attrNameLst>
                                      </p:cBhvr>
                                      <p:to>
                                        <p:strVal val="visible"/>
                                      </p:to>
                                    </p:set>
                                    <p:animEffect transition="in" filter="fade">
                                      <p:cBhvr>
                                        <p:cTn id="21" dur="500"/>
                                        <p:tgtEl>
                                          <p:spTgt spid="24">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xEl>
                                              <p:pRg st="1" end="1"/>
                                            </p:txEl>
                                          </p:spTgt>
                                        </p:tgtEl>
                                        <p:attrNameLst>
                                          <p:attrName>style.visibility</p:attrName>
                                        </p:attrNameLst>
                                      </p:cBhvr>
                                      <p:to>
                                        <p:strVal val="visible"/>
                                      </p:to>
                                    </p:set>
                                    <p:animEffect transition="in" filter="fade">
                                      <p:cBhvr>
                                        <p:cTn id="31" dur="500"/>
                                        <p:tgtEl>
                                          <p:spTgt spid="24">
                                            <p:txEl>
                                              <p:pRg st="1" end="1"/>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24">
                                            <p:txEl>
                                              <p:pRg st="2" end="2"/>
                                            </p:txEl>
                                          </p:spTgt>
                                        </p:tgtEl>
                                        <p:attrNameLst>
                                          <p:attrName>style.visibility</p:attrName>
                                        </p:attrNameLst>
                                      </p:cBhvr>
                                      <p:to>
                                        <p:strVal val="visible"/>
                                      </p:to>
                                    </p:set>
                                    <p:animEffect transition="in" filter="fade">
                                      <p:cBhvr>
                                        <p:cTn id="34" dur="500"/>
                                        <p:tgtEl>
                                          <p:spTgt spid="24">
                                            <p:txEl>
                                              <p:pRg st="2" end="2"/>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4">
                                            <p:txEl>
                                              <p:pRg st="3" end="3"/>
                                            </p:txEl>
                                          </p:spTgt>
                                        </p:tgtEl>
                                        <p:attrNameLst>
                                          <p:attrName>style.visibility</p:attrName>
                                        </p:attrNameLst>
                                      </p:cBhvr>
                                      <p:to>
                                        <p:strVal val="visible"/>
                                      </p:to>
                                    </p:set>
                                    <p:animEffect transition="in" filter="fade">
                                      <p:cBhvr>
                                        <p:cTn id="37" dur="500"/>
                                        <p:tgtEl>
                                          <p:spTgt spid="2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2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81000" y="1879601"/>
            <a:ext cx="23622000" cy="11684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7000"/>
              </a:lnSpc>
              <a:spcAft>
                <a:spcPts val="800"/>
              </a:spcAft>
            </a:pPr>
            <a:r>
              <a:rPr lang="en-US" sz="4800" b="1">
                <a:solidFill>
                  <a:srgbClr val="FF0000"/>
                </a:solidFill>
                <a:latin typeface="Tahoma" panose="020B0604030504040204" pitchFamily="34" charset="0"/>
                <a:ea typeface="Tahoma" panose="020B0604030504040204" pitchFamily="34" charset="0"/>
                <a:cs typeface="Tahoma" panose="020B0604030504040204" pitchFamily="34" charset="0"/>
              </a:rPr>
              <a:t>2. PHƯƠNG TRÌNH THAM SỐ CỦA ĐƯỜNG THẲNG</a:t>
            </a:r>
            <a:endParaRPr lang="en-US" sz="480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14822BB7-DB89-4357-87F0-6E511FC44A6A}"/>
                  </a:ext>
                </a:extLst>
              </p:cNvPr>
              <p:cNvSpPr txBox="1">
                <a:spLocks/>
              </p:cNvSpPr>
              <p:nvPr/>
            </p:nvSpPr>
            <p:spPr>
              <a:xfrm>
                <a:off x="381000" y="3048001"/>
                <a:ext cx="23622000" cy="103631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342900" lvl="0" indent="-342900" algn="just">
                  <a:lnSpc>
                    <a:spcPct val="150000"/>
                  </a:lnSpc>
                  <a:spcAft>
                    <a:spcPts val="0"/>
                  </a:spcAft>
                  <a:buFont typeface="Symbol" panose="05050102010706020507" pitchFamily="18" charset="2"/>
                  <a:buChar char=""/>
                </a:pPr>
                <a:endParaRPr lang="en-US" b="1" dirty="0">
                  <a:latin typeface="Tahoma" panose="020B0604030504040204" pitchFamily="34" charset="0"/>
                  <a:ea typeface="Tahoma" panose="020B0604030504040204" pitchFamily="34" charset="0"/>
                  <a:cs typeface="Tahoma" panose="020B0604030504040204" pitchFamily="34" charset="0"/>
                </a:endParaRPr>
              </a:p>
              <a:p>
                <a:pPr marL="342900" lvl="0" indent="-342900" algn="just">
                  <a:lnSpc>
                    <a:spcPct val="150000"/>
                  </a:lnSpc>
                  <a:spcAft>
                    <a:spcPts val="0"/>
                  </a:spcAft>
                  <a:buFont typeface="Symbol" panose="05050102010706020507" pitchFamily="18" charset="2"/>
                  <a:buChar char=""/>
                </a:pP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00000"/>
                  </a:lnSpc>
                  <a:spcBef>
                    <a:spcPts val="600"/>
                  </a:spcBef>
                  <a:spcAft>
                    <a:spcPts val="600"/>
                  </a:spcAft>
                  <a:buNone/>
                </a:pPr>
                <a:endParaRPr lang="en-US" b="1" dirty="0">
                  <a:solidFill>
                    <a:srgbClr val="ED7D31"/>
                  </a:solidFill>
                  <a:latin typeface="Tahoma" panose="020B0604030504040204" pitchFamily="34" charset="0"/>
                  <a:ea typeface="Tahoma" panose="020B0604030504040204" pitchFamily="34" charset="0"/>
                  <a:cs typeface="Tahoma" panose="020B0604030504040204" pitchFamily="34" charset="0"/>
                </a:endParaRPr>
              </a:p>
              <a:p>
                <a:pPr marL="0" indent="0" algn="just">
                  <a:lnSpc>
                    <a:spcPct val="100000"/>
                  </a:lnSpc>
                  <a:spcBef>
                    <a:spcPts val="600"/>
                  </a:spcBef>
                  <a:spcAft>
                    <a:spcPts val="600"/>
                  </a:spcAft>
                  <a:buNone/>
                </a:pPr>
                <a:r>
                  <a:rPr lang="en-US" b="1" u="sng" dirty="0" err="1">
                    <a:solidFill>
                      <a:srgbClr val="FF0000"/>
                    </a:solidFill>
                    <a:latin typeface="Tahoma" panose="020B0604030504040204" pitchFamily="34" charset="0"/>
                    <a:ea typeface="Tahoma" panose="020B0604030504040204" pitchFamily="34" charset="0"/>
                    <a:cs typeface="Tahoma" panose="020B0604030504040204" pitchFamily="34" charset="0"/>
                  </a:rPr>
                  <a:t>Nhận</a:t>
                </a:r>
                <a:r>
                  <a:rPr lang="en-US" b="1" u="sng"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u="sng" dirty="0" err="1">
                    <a:solidFill>
                      <a:srgbClr val="FF0000"/>
                    </a:solidFill>
                    <a:latin typeface="Tahoma" panose="020B0604030504040204" pitchFamily="34" charset="0"/>
                    <a:ea typeface="Tahoma" panose="020B0604030504040204" pitchFamily="34" charset="0"/>
                    <a:cs typeface="Tahoma" panose="020B0604030504040204" pitchFamily="34" charset="0"/>
                  </a:rPr>
                  <a:t>xét</a:t>
                </a:r>
                <a:r>
                  <a:rPr lang="en-US" b="1" u="sng" dirty="0">
                    <a:solidFill>
                      <a:srgbClr val="FF0000"/>
                    </a:solidFill>
                    <a:latin typeface="Tahoma" panose="020B0604030504040204" pitchFamily="34" charset="0"/>
                    <a:ea typeface="Tahoma" panose="020B0604030504040204" pitchFamily="34" charset="0"/>
                    <a:cs typeface="Tahoma" panose="020B0604030504040204" pitchFamily="34" charset="0"/>
                  </a:rPr>
                  <a:t>:</a:t>
                </a:r>
              </a:p>
              <a:p>
                <a:pPr lvl="0" algn="just">
                  <a:lnSpc>
                    <a:spcPct val="100000"/>
                  </a:lnSpc>
                  <a:spcBef>
                    <a:spcPts val="600"/>
                  </a:spcBef>
                  <a:spcAft>
                    <a:spcPts val="600"/>
                  </a:spcAft>
                  <a:buFont typeface="Wingdings" panose="05000000000000000000" pitchFamily="2" charset="2"/>
                  <a:buChar char="§"/>
                </a:pPr>
                <a:r>
                  <a:rPr lang="en-US" b="1" dirty="0" err="1">
                    <a:latin typeface="Tahoma" panose="020B0604030504040204" pitchFamily="34" charset="0"/>
                    <a:ea typeface="Tahoma" panose="020B0604030504040204" pitchFamily="34" charset="0"/>
                    <a:cs typeface="Tahoma" panose="020B0604030504040204" pitchFamily="34" charset="0"/>
                  </a:rPr>
                  <a:t>Nếu</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rPr>
                        </m:ctrlPr>
                      </m:accPr>
                      <m:e>
                        <m:r>
                          <a:rPr lang="en-US" b="1" i="1">
                            <a:latin typeface="Cambria Math" panose="02040503050406030204" pitchFamily="18" charset="0"/>
                            <a:ea typeface="Calibri" panose="020F0502020204030204" pitchFamily="34" charset="0"/>
                          </a:rPr>
                          <m:t>𝒖</m:t>
                        </m:r>
                      </m:e>
                    </m:acc>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libri" panose="020F0502020204030204" pitchFamily="34" charset="0"/>
                      </a:rPr>
                      <m:t>𝜟</m:t>
                    </m:r>
                  </m:oMath>
                </a14:m>
                <a:r>
                  <a:rPr lang="en-US" b="1" dirty="0">
                    <a:latin typeface="Tahoma" panose="020B0604030504040204" pitchFamily="34" charset="0"/>
                    <a:ea typeface="Tahoma" panose="020B0604030504040204" pitchFamily="34" charset="0"/>
                    <a:cs typeface="Tahoma" panose="020B0604030504040204" pitchFamily="34" charset="0"/>
                  </a:rPr>
                  <a:t> </a:t>
                </a:r>
              </a:p>
              <a:p>
                <a:pPr marL="0" lvl="0" indent="0" algn="just">
                  <a:lnSpc>
                    <a:spcPct val="100000"/>
                  </a:lnSpc>
                  <a:spcBef>
                    <a:spcPts val="600"/>
                  </a:spcBef>
                  <a:spcAft>
                    <a:spcPts val="600"/>
                  </a:spcAft>
                  <a:buNone/>
                </a:pPr>
                <a:r>
                  <a:rPr lang="en-US" b="1" dirty="0">
                    <a:latin typeface="Tahoma" panose="020B0604030504040204" pitchFamily="34" charset="0"/>
                    <a:ea typeface="Tahoma" panose="020B0604030504040204" pitchFamily="34" charset="0"/>
                    <a:cs typeface="Tahoma" panose="020B0604030504040204" pitchFamily="34" charset="0"/>
                  </a:rPr>
                  <a:t>thì </a:t>
                </a:r>
                <a14:m>
                  <m:oMath xmlns:m="http://schemas.openxmlformats.org/officeDocument/2006/math">
                    <m:r>
                      <a:rPr lang="en-US" b="1" i="1">
                        <a:latin typeface="Cambria Math" panose="02040503050406030204" pitchFamily="18" charset="0"/>
                        <a:ea typeface="Calibri" panose="020F0502020204030204" pitchFamily="34" charset="0"/>
                      </a:rPr>
                      <m:t>𝒌</m:t>
                    </m:r>
                    <m:acc>
                      <m:accPr>
                        <m:chr m:val="⃗"/>
                        <m:ctrlPr>
                          <a:rPr lang="en-US" b="1" i="1">
                            <a:latin typeface="Cambria Math" panose="02040503050406030204" pitchFamily="18" charset="0"/>
                            <a:ea typeface="Calibri" panose="020F0502020204030204" pitchFamily="34" charset="0"/>
                          </a:rPr>
                        </m:ctrlPr>
                      </m:accPr>
                      <m:e>
                        <m:r>
                          <a:rPr lang="en-US" b="1" i="1">
                            <a:latin typeface="Cambria Math" panose="02040503050406030204" pitchFamily="18" charset="0"/>
                            <a:ea typeface="Calibri" panose="020F0502020204030204" pitchFamily="34" charset="0"/>
                          </a:rPr>
                          <m:t>𝒖</m:t>
                        </m:r>
                      </m:e>
                    </m:acc>
                    <m:d>
                      <m:dPr>
                        <m:ctrlPr>
                          <a:rPr lang="en-US" b="1" i="1">
                            <a:latin typeface="Cambria Math" panose="02040503050406030204" pitchFamily="18" charset="0"/>
                            <a:ea typeface="Calibri" panose="020F0502020204030204" pitchFamily="34" charset="0"/>
                          </a:rPr>
                        </m:ctrlPr>
                      </m:dPr>
                      <m:e>
                        <m:r>
                          <a:rPr lang="en-US" b="1" i="1">
                            <a:latin typeface="Cambria Math" panose="02040503050406030204" pitchFamily="18" charset="0"/>
                            <a:ea typeface="Calibri" panose="020F0502020204030204" pitchFamily="34" charset="0"/>
                          </a:rPr>
                          <m:t>𝒌</m:t>
                        </m:r>
                        <m:r>
                          <a:rPr lang="en-US" b="1" i="1">
                            <a:latin typeface="Cambria Math" panose="02040503050406030204" pitchFamily="18" charset="0"/>
                            <a:ea typeface="Calibri" panose="020F0502020204030204" pitchFamily="34" charset="0"/>
                          </a:rPr>
                          <m:t>≠</m:t>
                        </m:r>
                        <m:r>
                          <a:rPr lang="en-US" b="1" i="1">
                            <a:latin typeface="Cambria Math" panose="02040503050406030204" pitchFamily="18" charset="0"/>
                            <a:ea typeface="Calibri" panose="020F0502020204030204" pitchFamily="34" charset="0"/>
                          </a:rPr>
                          <m:t>𝟎</m:t>
                        </m:r>
                      </m:e>
                    </m:d>
                  </m:oMath>
                </a14:m>
                <a:r>
                  <a:rPr lang="en-US" b="1" dirty="0">
                    <a:latin typeface="Tahoma" panose="020B0604030504040204" pitchFamily="34" charset="0"/>
                    <a:ea typeface="Tahoma" panose="020B0604030504040204" pitchFamily="34" charset="0"/>
                    <a:cs typeface="Tahoma" panose="020B0604030504040204" pitchFamily="34" charset="0"/>
                  </a:rPr>
                  <a:t> cũng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libri" panose="020F0502020204030204" pitchFamily="34" charset="0"/>
                      </a:rPr>
                      <m:t>𝜟</m:t>
                    </m:r>
                  </m:oMath>
                </a14:m>
                <a:r>
                  <a:rPr lang="en-US" b="1" dirty="0">
                    <a:latin typeface="Tahoma" panose="020B0604030504040204" pitchFamily="34" charset="0"/>
                    <a:ea typeface="Tahoma" panose="020B0604030504040204" pitchFamily="34" charset="0"/>
                    <a:cs typeface="Tahoma" panose="020B0604030504040204" pitchFamily="34" charset="0"/>
                  </a:rPr>
                  <a:t>.</a:t>
                </a:r>
              </a:p>
              <a:p>
                <a:pPr lvl="0" algn="just">
                  <a:lnSpc>
                    <a:spcPct val="100000"/>
                  </a:lnSpc>
                  <a:spcBef>
                    <a:spcPts val="600"/>
                  </a:spcBef>
                  <a:spcAft>
                    <a:spcPts val="600"/>
                  </a:spcAft>
                  <a:buFont typeface="Wingdings" panose="05000000000000000000" pitchFamily="2" charset="2"/>
                  <a:buChar char="§"/>
                </a:pP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hoàn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toàn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xác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định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nếu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biết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một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điểm</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một</a:t>
                </a:r>
                <a:r>
                  <a:rPr lang="en-US" b="1" dirty="0">
                    <a:latin typeface="Tahoma" panose="020B0604030504040204" pitchFamily="34" charset="0"/>
                    <a:ea typeface="Tahoma" panose="020B0604030504040204" pitchFamily="34" charset="0"/>
                    <a:cs typeface="Tahoma" panose="020B0604030504040204" pitchFamily="34" charset="0"/>
                  </a:rPr>
                  <a:t> </a:t>
                </a:r>
              </a:p>
              <a:p>
                <a:pPr marL="0" lvl="0" indent="0" algn="just">
                  <a:lnSpc>
                    <a:spcPct val="100000"/>
                  </a:lnSpc>
                  <a:spcBef>
                    <a:spcPts val="600"/>
                  </a:spcBef>
                  <a:spcAft>
                    <a:spcPts val="600"/>
                  </a:spcAft>
                  <a:buNone/>
                </a:pP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nó</a:t>
                </a:r>
                <a:r>
                  <a:rPr lang="en-US" b="1" dirty="0">
                    <a:latin typeface="Tahoma" panose="020B0604030504040204" pitchFamily="34" charset="0"/>
                    <a:ea typeface="Tahoma" panose="020B0604030504040204" pitchFamily="34" charset="0"/>
                    <a:cs typeface="Tahoma" panose="020B0604030504040204" pitchFamily="34" charset="0"/>
                  </a:rPr>
                  <a:t>.</a:t>
                </a:r>
              </a:p>
              <a:p>
                <a:pPr algn="just">
                  <a:lnSpc>
                    <a:spcPct val="100000"/>
                  </a:lnSpc>
                  <a:spcBef>
                    <a:spcPts val="600"/>
                  </a:spcBef>
                  <a:spcAft>
                    <a:spcPts val="600"/>
                  </a:spcAft>
                  <a:buFont typeface="Wingdings" panose="05000000000000000000" pitchFamily="2" charset="2"/>
                  <a:buChar char="§"/>
                </a:pPr>
                <a:r>
                  <a:rPr lang="en-US" b="1" dirty="0" err="1">
                    <a:latin typeface="Tahoma" panose="020B0604030504040204" pitchFamily="34" charset="0"/>
                    <a:ea typeface="Tahoma" panose="020B0604030504040204" pitchFamily="34" charset="0"/>
                    <a:cs typeface="Tahoma" panose="020B0604030504040204" pitchFamily="34" charset="0"/>
                  </a:rPr>
                  <a:t>Vec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tơ</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effectLst/>
                            <a:latin typeface="Cambria Math" panose="02040503050406030204" pitchFamily="18" charset="0"/>
                          </a:rPr>
                        </m:ctrlPr>
                      </m:accPr>
                      <m:e>
                        <m:r>
                          <a:rPr lang="en-US" b="1" i="1">
                            <a:latin typeface="Cambria Math" panose="02040503050406030204" pitchFamily="18" charset="0"/>
                            <a:ea typeface="Calibri" panose="020F0502020204030204" pitchFamily="34" charset="0"/>
                            <a:cs typeface="Times New Roman" panose="02020603050405020304" pitchFamily="18" charset="0"/>
                          </a:rPr>
                          <m:t>𝒏</m:t>
                        </m:r>
                      </m:e>
                    </m:acc>
                    <m:d>
                      <m:dPr>
                        <m:ctrlPr>
                          <a:rPr lang="en-US" b="1" i="1">
                            <a:effectLst/>
                            <a:latin typeface="Cambria Math" panose="02040503050406030204" pitchFamily="18" charset="0"/>
                          </a:rPr>
                        </m:ctrlPr>
                      </m:dPr>
                      <m:e>
                        <m:r>
                          <a:rPr lang="en-US" b="1" i="1">
                            <a:latin typeface="Cambria Math" panose="02040503050406030204" pitchFamily="18" charset="0"/>
                            <a:ea typeface="Calibri" panose="020F0502020204030204" pitchFamily="34" charset="0"/>
                            <a:cs typeface="Times New Roman" panose="02020603050405020304" pitchFamily="18" charset="0"/>
                          </a:rPr>
                          <m:t>𝒂</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𝒃</m:t>
                        </m:r>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vuông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góc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với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tơ</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effectLst/>
                            <a:latin typeface="Cambria Math" panose="02040503050406030204" pitchFamily="18" charset="0"/>
                          </a:rPr>
                        </m:ctrlPr>
                      </m:accPr>
                      <m:e>
                        <m:r>
                          <a:rPr lang="en-US" b="1" i="1">
                            <a:latin typeface="Cambria Math" panose="02040503050406030204" pitchFamily="18" charset="0"/>
                            <a:ea typeface="Calibri" panose="020F0502020204030204" pitchFamily="34" charset="0"/>
                            <a:cs typeface="Times New Roman" panose="02020603050405020304" pitchFamily="18" charset="0"/>
                          </a:rPr>
                          <m:t>𝒖</m:t>
                        </m:r>
                      </m:e>
                    </m:acc>
                    <m:d>
                      <m:dPr>
                        <m:ctrlPr>
                          <a:rPr lang="en-US" b="1" i="1">
                            <a:effectLst/>
                            <a:latin typeface="Cambria Math" panose="02040503050406030204" pitchFamily="18" charset="0"/>
                          </a:rPr>
                        </m:ctrlPr>
                      </m:dPr>
                      <m:e>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𝒃</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𝒂</m:t>
                        </m:r>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effectLst/>
                            <a:latin typeface="Cambria Math" panose="02040503050406030204" pitchFamily="18" charset="0"/>
                          </a:rPr>
                        </m:ctrlPr>
                      </m:accPr>
                      <m:e>
                        <m:r>
                          <a:rPr lang="en-US" b="1" i="1">
                            <a:latin typeface="Cambria Math" panose="02040503050406030204" pitchFamily="18" charset="0"/>
                            <a:ea typeface="Calibri" panose="020F0502020204030204" pitchFamily="34" charset="0"/>
                            <a:cs typeface="Times New Roman" panose="02020603050405020304" pitchFamily="18" charset="0"/>
                          </a:rPr>
                          <m:t>𝒗</m:t>
                        </m:r>
                      </m:e>
                    </m:acc>
                    <m:d>
                      <m:dPr>
                        <m:ctrlPr>
                          <a:rPr lang="en-US" b="1" i="1">
                            <a:effectLst/>
                            <a:latin typeface="Cambria Math" panose="02040503050406030204" pitchFamily="18" charset="0"/>
                          </a:rPr>
                        </m:ctrlPr>
                      </m:dPr>
                      <m:e>
                        <m:r>
                          <a:rPr lang="en-US" b="1" i="1">
                            <a:latin typeface="Cambria Math" panose="02040503050406030204" pitchFamily="18" charset="0"/>
                            <a:ea typeface="Calibri" panose="020F0502020204030204" pitchFamily="34" charset="0"/>
                            <a:cs typeface="Times New Roman" panose="02020603050405020304" pitchFamily="18" charset="0"/>
                          </a:rPr>
                          <m:t>𝒃</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𝒂</m:t>
                        </m:r>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nên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nếu</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effectLst/>
                            <a:latin typeface="Cambria Math" panose="02040503050406030204" pitchFamily="18" charset="0"/>
                          </a:rPr>
                        </m:ctrlPr>
                      </m:accPr>
                      <m:e>
                        <m:r>
                          <a:rPr lang="en-US" b="1" i="1">
                            <a:latin typeface="Cambria Math" panose="02040503050406030204" pitchFamily="18" charset="0"/>
                            <a:ea typeface="Calibri" panose="020F0502020204030204" pitchFamily="34" charset="0"/>
                            <a:cs typeface="Times New Roman" panose="02020603050405020304" pitchFamily="18" charset="0"/>
                          </a:rPr>
                          <m:t>𝒏</m:t>
                        </m:r>
                      </m:e>
                    </m:acc>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pháp</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tuyến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libri" panose="020F0502020204030204" pitchFamily="34" charset="0"/>
                        <a:cs typeface="Times New Roman" panose="02020603050405020304" pitchFamily="18" charset="0"/>
                      </a:rPr>
                      <m:t>𝜟</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thì</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effectLst/>
                            <a:latin typeface="Cambria Math" panose="02040503050406030204" pitchFamily="18" charset="0"/>
                          </a:rPr>
                        </m:ctrlPr>
                      </m:accPr>
                      <m:e>
                        <m:r>
                          <a:rPr lang="en-US" b="1" i="1">
                            <a:latin typeface="Cambria Math" panose="02040503050406030204" pitchFamily="18" charset="0"/>
                            <a:ea typeface="Calibri" panose="020F0502020204030204" pitchFamily="34" charset="0"/>
                            <a:cs typeface="Times New Roman" panose="02020603050405020304" pitchFamily="18" charset="0"/>
                          </a:rPr>
                          <m:t>𝒖</m:t>
                        </m:r>
                      </m:e>
                    </m:acc>
                    <m:r>
                      <a:rPr lang="en-US" b="1" i="1">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b="1" i="1">
                            <a:effectLst/>
                            <a:latin typeface="Cambria Math" panose="02040503050406030204" pitchFamily="18" charset="0"/>
                          </a:rPr>
                        </m:ctrlPr>
                      </m:accPr>
                      <m:e>
                        <m:r>
                          <a:rPr lang="en-US" b="1" i="1">
                            <a:latin typeface="Cambria Math" panose="02040503050406030204" pitchFamily="18" charset="0"/>
                            <a:ea typeface="Calibri" panose="020F0502020204030204" pitchFamily="34" charset="0"/>
                            <a:cs typeface="Times New Roman" panose="02020603050405020304" pitchFamily="18" charset="0"/>
                          </a:rPr>
                          <m:t>𝒗</m:t>
                        </m:r>
                      </m:e>
                    </m:acc>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hai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ngược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lại</a:t>
                </a:r>
                <a:r>
                  <a:rPr lang="en-US"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24"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81000" y="3048001"/>
                <a:ext cx="23622000" cy="10363199"/>
              </a:xfrm>
              <a:prstGeom prst="rect">
                <a:avLst/>
              </a:prstGeom>
              <a:blipFill>
                <a:blip r:embed="rId3"/>
                <a:stretch>
                  <a:fillRect l="-1161" r="-1135" b="-705"/>
                </a:stretch>
              </a:blipFill>
              <a:ln>
                <a:solidFill>
                  <a:srgbClr val="00B0F0"/>
                </a:solidFill>
              </a:ln>
            </p:spPr>
            <p:txBody>
              <a:bodyPr/>
              <a:lstStyle/>
              <a:p>
                <a:r>
                  <a:rPr lang="en-US">
                    <a:noFill/>
                  </a:rPr>
                  <a:t> </a:t>
                </a:r>
              </a:p>
            </p:txBody>
          </p:sp>
        </mc:Fallback>
      </mc:AlternateContent>
      <p:pic>
        <p:nvPicPr>
          <p:cNvPr id="30" name="Picture 29"/>
          <p:cNvPicPr/>
          <p:nvPr/>
        </p:nvPicPr>
        <p:blipFill>
          <a:blip r:embed="rId4"/>
          <a:stretch>
            <a:fillRect/>
          </a:stretch>
        </p:blipFill>
        <p:spPr>
          <a:xfrm>
            <a:off x="17207692" y="3276600"/>
            <a:ext cx="6795308" cy="5867400"/>
          </a:xfrm>
          <a:prstGeom prst="rect">
            <a:avLst/>
          </a:prstGeom>
        </p:spPr>
      </p:pic>
      <mc:AlternateContent xmlns:mc="http://schemas.openxmlformats.org/markup-compatibility/2006" xmlns:a14="http://schemas.microsoft.com/office/drawing/2010/main">
        <mc:Choice Requires="a14">
          <p:sp>
            <p:nvSpPr>
              <p:cNvPr id="4" name="Rounded Rectangle 3"/>
              <p:cNvSpPr/>
              <p:nvPr/>
            </p:nvSpPr>
            <p:spPr>
              <a:xfrm>
                <a:off x="609600" y="3276600"/>
                <a:ext cx="16383000" cy="297180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4800" b="1">
                    <a:solidFill>
                      <a:schemeClr val="tx1"/>
                    </a:solidFill>
                    <a:latin typeface="Tahoma" panose="020B0604030504040204" pitchFamily="34" charset="0"/>
                    <a:ea typeface="Tahoma" panose="020B0604030504040204" pitchFamily="34" charset="0"/>
                    <a:cs typeface="Tahoma" panose="020B0604030504040204" pitchFamily="34" charset="0"/>
                  </a:rPr>
                  <a:t>Vectơ </a:t>
                </a:r>
                <a14:m>
                  <m:oMath xmlns:m="http://schemas.openxmlformats.org/officeDocument/2006/math">
                    <m:acc>
                      <m:accPr>
                        <m:chr m:val="⃗"/>
                        <m:ctrlPr>
                          <a:rPr lang="en-US" sz="4800" b="1" i="1">
                            <a:solidFill>
                              <a:schemeClr val="tx1"/>
                            </a:solidFill>
                            <a:effectLst/>
                            <a:latin typeface="Cambria Math" panose="02040503050406030204" pitchFamily="18" charset="0"/>
                            <a:cs typeface="Times New Roman" panose="02020603050405020304" pitchFamily="18" charset="0"/>
                          </a:rPr>
                        </m:ctrlPr>
                      </m:accPr>
                      <m:e>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𝒖</m:t>
                        </m:r>
                      </m:e>
                    </m:acc>
                  </m:oMath>
                </a14:m>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 khác </a:t>
                </a:r>
                <a14:m>
                  <m:oMath xmlns:m="http://schemas.openxmlformats.org/officeDocument/2006/math">
                    <m:acc>
                      <m:accPr>
                        <m:chr m:val="⃗"/>
                        <m:ctrlPr>
                          <a:rPr lang="en-US" sz="4800" b="1" i="1">
                            <a:solidFill>
                              <a:schemeClr val="tx1"/>
                            </a:solidFill>
                            <a:effectLst/>
                            <a:latin typeface="Cambria Math" panose="02040503050406030204" pitchFamily="18" charset="0"/>
                            <a:cs typeface="Times New Roman" panose="02020603050405020304" pitchFamily="18" charset="0"/>
                          </a:rPr>
                        </m:ctrlPr>
                      </m:accPr>
                      <m:e>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𝟎</m:t>
                        </m:r>
                      </m:e>
                    </m:acc>
                  </m:oMath>
                </a14:m>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 được gọi là </a:t>
                </a:r>
                <a:r>
                  <a:rPr lang="en-US" sz="4800" b="1">
                    <a:solidFill>
                      <a:srgbClr val="C00000"/>
                    </a:solidFill>
                    <a:effectLst/>
                    <a:latin typeface="Tahoma" panose="020B0604030504040204" pitchFamily="34" charset="0"/>
                    <a:ea typeface="Tahoma" panose="020B0604030504040204" pitchFamily="34" charset="0"/>
                    <a:cs typeface="Tahoma" panose="020B0604030504040204" pitchFamily="34" charset="0"/>
                  </a:rPr>
                  <a:t>vectơ chỉ phương </a:t>
                </a: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của đường thẳng </a:t>
                </a:r>
                <a14:m>
                  <m:oMath xmlns:m="http://schemas.openxmlformats.org/officeDocument/2006/math">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𝜟</m:t>
                    </m:r>
                  </m:oMath>
                </a14:m>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 nếu giá của nó song song hoặc trùng với </a:t>
                </a:r>
                <a14:m>
                  <m:oMath xmlns:m="http://schemas.openxmlformats.org/officeDocument/2006/math">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𝜟</m:t>
                    </m:r>
                  </m:oMath>
                </a14:m>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a:t>
                </a:r>
                <a:endParaRPr lang="en-US" sz="4800" b="1">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 name="Rounded Rectangle 3"/>
              <p:cNvSpPr>
                <a:spLocks noRot="1" noChangeAspect="1" noMove="1" noResize="1" noEditPoints="1" noAdjustHandles="1" noChangeArrowheads="1" noChangeShapeType="1" noTextEdit="1"/>
              </p:cNvSpPr>
              <p:nvPr/>
            </p:nvSpPr>
            <p:spPr>
              <a:xfrm>
                <a:off x="609600" y="3276600"/>
                <a:ext cx="16383000" cy="2971800"/>
              </a:xfrm>
              <a:prstGeom prst="roundRect">
                <a:avLst/>
              </a:prstGeom>
              <a:blipFill>
                <a:blip r:embed="rId5"/>
                <a:stretch>
                  <a:fillRect l="-781" r="-743" b="-409"/>
                </a:stretch>
              </a:blipFill>
            </p:spPr>
            <p:txBody>
              <a:bodyPr/>
              <a:lstStyle/>
              <a:p>
                <a:r>
                  <a:rPr lang="en-US">
                    <a:noFill/>
                  </a:rPr>
                  <a:t> </a:t>
                </a:r>
              </a:p>
            </p:txBody>
          </p:sp>
        </mc:Fallback>
      </mc:AlternateContent>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58950082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4">
                                            <p:txEl>
                                              <p:pRg st="3" end="3"/>
                                            </p:txEl>
                                          </p:spTgt>
                                        </p:tgtEl>
                                        <p:attrNameLst>
                                          <p:attrName>style.visibility</p:attrName>
                                        </p:attrNameLst>
                                      </p:cBhvr>
                                      <p:to>
                                        <p:strVal val="visible"/>
                                      </p:to>
                                    </p:set>
                                    <p:animEffect transition="in" filter="fade">
                                      <p:cBhvr>
                                        <p:cTn id="26" dur="500"/>
                                        <p:tgtEl>
                                          <p:spTgt spid="24">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xEl>
                                              <p:pRg st="4" end="4"/>
                                            </p:txEl>
                                          </p:spTgt>
                                        </p:tgtEl>
                                        <p:attrNameLst>
                                          <p:attrName>style.visibility</p:attrName>
                                        </p:attrNameLst>
                                      </p:cBhvr>
                                      <p:to>
                                        <p:strVal val="visible"/>
                                      </p:to>
                                    </p:set>
                                    <p:animEffect transition="in" filter="fade">
                                      <p:cBhvr>
                                        <p:cTn id="29" dur="500"/>
                                        <p:tgtEl>
                                          <p:spTgt spid="24">
                                            <p:txEl>
                                              <p:pRg st="4" end="4"/>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24">
                                            <p:txEl>
                                              <p:pRg st="5" end="5"/>
                                            </p:txEl>
                                          </p:spTgt>
                                        </p:tgtEl>
                                        <p:attrNameLst>
                                          <p:attrName>style.visibility</p:attrName>
                                        </p:attrNameLst>
                                      </p:cBhvr>
                                      <p:to>
                                        <p:strVal val="visible"/>
                                      </p:to>
                                    </p:set>
                                    <p:animEffect transition="in" filter="fade">
                                      <p:cBhvr>
                                        <p:cTn id="32" dur="500"/>
                                        <p:tgtEl>
                                          <p:spTgt spid="2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
                                            <p:txEl>
                                              <p:pRg st="6" end="6"/>
                                            </p:txEl>
                                          </p:spTgt>
                                        </p:tgtEl>
                                        <p:attrNameLst>
                                          <p:attrName>style.visibility</p:attrName>
                                        </p:attrNameLst>
                                      </p:cBhvr>
                                      <p:to>
                                        <p:strVal val="visible"/>
                                      </p:to>
                                    </p:set>
                                    <p:animEffect transition="in" filter="fade">
                                      <p:cBhvr>
                                        <p:cTn id="37" dur="500"/>
                                        <p:tgtEl>
                                          <p:spTgt spid="2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
                                            <p:txEl>
                                              <p:pRg st="7" end="7"/>
                                            </p:txEl>
                                          </p:spTgt>
                                        </p:tgtEl>
                                        <p:attrNameLst>
                                          <p:attrName>style.visibility</p:attrName>
                                        </p:attrNameLst>
                                      </p:cBhvr>
                                      <p:to>
                                        <p:strVal val="visible"/>
                                      </p:to>
                                    </p:set>
                                    <p:animEffect transition="in" filter="fade">
                                      <p:cBhvr>
                                        <p:cTn id="42" dur="500"/>
                                        <p:tgtEl>
                                          <p:spTgt spid="2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
                                            <p:txEl>
                                              <p:pRg st="8" end="8"/>
                                            </p:txEl>
                                          </p:spTgt>
                                        </p:tgtEl>
                                        <p:attrNameLst>
                                          <p:attrName>style.visibility</p:attrName>
                                        </p:attrNameLst>
                                      </p:cBhvr>
                                      <p:to>
                                        <p:strVal val="visible"/>
                                      </p:to>
                                    </p:set>
                                    <p:animEffect transition="in" filter="fade">
                                      <p:cBhvr>
                                        <p:cTn id="47" dur="500"/>
                                        <p:tgtEl>
                                          <p:spTgt spid="2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24" grpId="0" animBg="1"/>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457200" y="1879601"/>
            <a:ext cx="23545800" cy="11684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lvl="0" defTabSz="2177278">
              <a:lnSpc>
                <a:spcPct val="107000"/>
              </a:lnSpc>
              <a:spcBef>
                <a:spcPts val="0"/>
              </a:spcBef>
              <a:spcAft>
                <a:spcPts val="800"/>
              </a:spcAft>
            </a:pPr>
            <a:r>
              <a:rPr lang="en-US" sz="4800" b="1">
                <a:solidFill>
                  <a:srgbClr val="FF0000"/>
                </a:solidFill>
                <a:latin typeface="Tahoma" panose="020B0604030504040204" pitchFamily="34" charset="0"/>
                <a:ea typeface="Tahoma" panose="020B0604030504040204" pitchFamily="34" charset="0"/>
                <a:cs typeface="Tahoma" panose="020B0604030504040204" pitchFamily="34" charset="0"/>
              </a:rPr>
              <a:t>2. PHƯƠNG TRÌNH THAM SỐ CỦA ĐƯỜNG THẲNG</a:t>
            </a:r>
            <a:endParaRPr lang="en-US" sz="480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14822BB7-DB89-4357-87F0-6E511FC44A6A}"/>
                  </a:ext>
                </a:extLst>
              </p:cNvPr>
              <p:cNvSpPr txBox="1">
                <a:spLocks/>
              </p:cNvSpPr>
              <p:nvPr/>
            </p:nvSpPr>
            <p:spPr>
              <a:xfrm>
                <a:off x="457200" y="3048001"/>
                <a:ext cx="11582400" cy="103631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just">
                  <a:lnSpc>
                    <a:spcPct val="107000"/>
                  </a:lnSpc>
                  <a:spcAft>
                    <a:spcPts val="800"/>
                  </a:spcAft>
                </a:pP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Trong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mặt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phẳng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tọa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độ</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cho</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𝑨</m:t>
                    </m:r>
                    <m:d>
                      <m:dPr>
                        <m:ctrlPr>
                          <a:rPr lang="en-US"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𝟑</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𝟐</m:t>
                        </m:r>
                      </m:e>
                    </m:d>
                    <m:r>
                      <a:rPr lang="en-US"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𝑩</m:t>
                    </m:r>
                    <m:d>
                      <m:dPr>
                        <m:ctrlPr>
                          <a:rPr lang="en-US"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𝟏</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𝟒</m:t>
                        </m:r>
                      </m:e>
                    </m:d>
                  </m:oMath>
                </a14:m>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Hãy</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chỉ</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ra</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hai</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vectơ</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chỉ</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phương</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của</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đường</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thẳng</a:t>
                </a:r>
                <a:r>
                  <a:rPr lang="en-US"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𝑨𝑩</m:t>
                    </m:r>
                  </m:oMath>
                </a14:m>
                <a:r>
                  <a:rPr lang="en-US" b="1" dirty="0">
                    <a:effectLst/>
                    <a:latin typeface="Tahoma" panose="020B0604030504040204" pitchFamily="34" charset="0"/>
                    <a:ea typeface="Tahoma" panose="020B0604030504040204" pitchFamily="34" charset="0"/>
                    <a:cs typeface="Tahoma" panose="020B0604030504040204" pitchFamily="34" charset="0"/>
                  </a:rPr>
                  <a:t>.</a:t>
                </a:r>
              </a:p>
              <a:p>
                <a:pPr marL="0" indent="0" algn="just">
                  <a:lnSpc>
                    <a:spcPct val="107000"/>
                  </a:lnSpc>
                  <a:spcAft>
                    <a:spcPts val="800"/>
                  </a:spcAft>
                  <a:buNone/>
                </a:pPr>
                <a:r>
                  <a:rPr lang="en-US" b="1" u="sng"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endParaRPr lang="en-US" b="1" u="sng"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gn="just">
                  <a:lnSpc>
                    <a:spcPct val="107000"/>
                  </a:lnSpc>
                  <a:spcAft>
                    <a:spcPts val="800"/>
                  </a:spcAft>
                  <a:buNone/>
                </a:pP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𝑨𝑩</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nhận</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𝑨𝑩</m:t>
                        </m:r>
                      </m:e>
                    </m:acc>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𝟐</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𝟔</m:t>
                        </m:r>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một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a:t>
                </a:r>
              </a:p>
              <a:p>
                <a:pPr marL="0" indent="0" algn="just">
                  <a:lnSpc>
                    <a:spcPct val="107000"/>
                  </a:lnSpc>
                  <a:spcAft>
                    <a:spcPts val="800"/>
                  </a:spcAft>
                  <a:buNone/>
                </a:pPr>
                <a:r>
                  <a:rPr lang="en-US" b="1" dirty="0" err="1">
                    <a:latin typeface="Tahoma" panose="020B0604030504040204" pitchFamily="34" charset="0"/>
                    <a:ea typeface="Tahoma" panose="020B0604030504040204" pitchFamily="34" charset="0"/>
                    <a:cs typeface="Tahoma" panose="020B0604030504040204" pitchFamily="34" charset="0"/>
                  </a:rPr>
                  <a:t>Lấy</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𝒖</m:t>
                        </m:r>
                      </m:e>
                    </m:acc>
                    <m:r>
                      <a:rPr lang="en-US" b="1" i="1" smtClean="0">
                        <a:latin typeface="Cambria Math" panose="02040503050406030204" pitchFamily="18" charset="0"/>
                        <a:ea typeface="Calibri" panose="020F0502020204030204" pitchFamily="34" charset="0"/>
                        <a:cs typeface="Times New Roman" panose="02020603050405020304" pitchFamily="18" charset="0"/>
                      </a:rPr>
                      <m:t>=−</m:t>
                    </m:r>
                    <m:f>
                      <m:fPr>
                        <m:ctrlPr>
                          <a:rPr lang="en-US" b="1" i="1">
                            <a:latin typeface="Cambria Math" panose="02040503050406030204" pitchFamily="18" charset="0"/>
                            <a:ea typeface="Calibri" panose="020F0502020204030204" pitchFamily="34" charset="0"/>
                            <a:cs typeface="Times New Roman" panose="02020603050405020304" pitchFamily="18" charset="0"/>
                          </a:rPr>
                        </m:ctrlPr>
                      </m:fPr>
                      <m:num>
                        <m:r>
                          <a:rPr lang="en-US" b="1" i="1" smtClean="0">
                            <a:latin typeface="Cambria Math" panose="02040503050406030204" pitchFamily="18" charset="0"/>
                            <a:ea typeface="Calibri" panose="020F0502020204030204" pitchFamily="34" charset="0"/>
                            <a:cs typeface="Times New Roman" panose="02020603050405020304" pitchFamily="18" charset="0"/>
                          </a:rPr>
                          <m:t>𝟏</m:t>
                        </m:r>
                      </m:num>
                      <m:den>
                        <m:r>
                          <a:rPr lang="en-US" b="1" i="1" smtClean="0">
                            <a:latin typeface="Cambria Math" panose="02040503050406030204" pitchFamily="18" charset="0"/>
                            <a:ea typeface="Calibri" panose="020F0502020204030204" pitchFamily="34" charset="0"/>
                            <a:cs typeface="Times New Roman" panose="02020603050405020304" pitchFamily="18" charset="0"/>
                          </a:rPr>
                          <m:t>𝟐</m:t>
                        </m:r>
                      </m:den>
                    </m:f>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𝑨𝑩</m:t>
                        </m:r>
                      </m:e>
                    </m:acc>
                    <m:r>
                      <a:rPr lang="en-US" b="1" i="1" smtClean="0">
                        <a:latin typeface="Cambria Math" panose="02040503050406030204" pitchFamily="18" charset="0"/>
                        <a:ea typeface="Calibri" panose="020F0502020204030204" pitchFamily="34" charset="0"/>
                        <a:cs typeface="Times New Roman" panose="02020603050405020304" pitchFamily="18" charset="0"/>
                      </a:rPr>
                      <m:t>=</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𝟏</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𝟑</m:t>
                        </m:r>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đó</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𝒖</m:t>
                        </m:r>
                      </m:e>
                    </m:acc>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cũng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một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𝑨𝑩</m:t>
                    </m:r>
                  </m:oMath>
                </a14:m>
                <a:r>
                  <a:rPr lang="en-US" b="1" dirty="0">
                    <a:latin typeface="Tahoma" panose="020B0604030504040204" pitchFamily="34" charset="0"/>
                    <a:ea typeface="Tahoma" panose="020B0604030504040204" pitchFamily="34" charset="0"/>
                    <a:cs typeface="Tahoma" panose="020B0604030504040204" pitchFamily="34" charset="0"/>
                  </a:rPr>
                  <a:t>.</a:t>
                </a:r>
              </a:p>
              <a:p>
                <a:pPr marL="0" indent="0" algn="just">
                  <a:lnSpc>
                    <a:spcPct val="150000"/>
                  </a:lnSpc>
                  <a:spcAft>
                    <a:spcPts val="800"/>
                  </a:spcAft>
                  <a:buNone/>
                </a:pPr>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2"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457200" y="3048001"/>
                <a:ext cx="11582400" cy="10363199"/>
              </a:xfrm>
              <a:prstGeom prst="rect">
                <a:avLst/>
              </a:prstGeom>
              <a:blipFill>
                <a:blip r:embed="rId3"/>
                <a:stretch>
                  <a:fillRect l="-2313" t="-1469" r="-2313"/>
                </a:stretch>
              </a:blipFill>
              <a:ln>
                <a:solidFill>
                  <a:srgbClr val="00B0F0"/>
                </a:solidFill>
              </a:ln>
            </p:spPr>
            <p:txBody>
              <a:bodyPr/>
              <a:lstStyle/>
              <a:p>
                <a:r>
                  <a:rPr lang="en-US">
                    <a:noFill/>
                  </a:rPr>
                  <a:t> </a:t>
                </a:r>
              </a:p>
            </p:txBody>
          </p:sp>
        </mc:Fallback>
      </mc:AlternateContent>
      <p:grpSp>
        <p:nvGrpSpPr>
          <p:cNvPr id="13" name="Group 12"/>
          <p:cNvGrpSpPr/>
          <p:nvPr/>
        </p:nvGrpSpPr>
        <p:grpSpPr>
          <a:xfrm>
            <a:off x="718458" y="3041244"/>
            <a:ext cx="3640182" cy="846967"/>
            <a:chOff x="27395" y="60714"/>
            <a:chExt cx="1260580" cy="157054"/>
          </a:xfrm>
        </p:grpSpPr>
        <p:grpSp>
          <p:nvGrpSpPr>
            <p:cNvPr id="14" name="Group 13"/>
            <p:cNvGrpSpPr/>
            <p:nvPr/>
          </p:nvGrpSpPr>
          <p:grpSpPr>
            <a:xfrm>
              <a:off x="27395" y="60714"/>
              <a:ext cx="1260580" cy="157054"/>
              <a:chOff x="38544" y="62041"/>
              <a:chExt cx="1773659" cy="194361"/>
            </a:xfrm>
          </p:grpSpPr>
          <p:sp>
            <p:nvSpPr>
              <p:cNvPr id="16" name="Arrow: Pentagon 25"/>
              <p:cNvSpPr/>
              <p:nvPr/>
            </p:nvSpPr>
            <p:spPr>
              <a:xfrm>
                <a:off x="204585" y="62041"/>
                <a:ext cx="1607618" cy="194296"/>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6000"/>
                  </a:lnSpc>
                  <a:spcAft>
                    <a:spcPts val="800"/>
                  </a:spcAft>
                </a:pPr>
                <a:r>
                  <a:rPr lang="en-US" sz="1000" b="1" kern="1200">
                    <a:solidFill>
                      <a:srgbClr val="0000CC"/>
                    </a:solidFill>
                    <a:effectLst/>
                    <a:ea typeface="Calibri" panose="020F0502020204030204" pitchFamily="34" charset="0"/>
                    <a:cs typeface="Times New Roman" panose="02020603050405020304" pitchFamily="18" charset="0"/>
                  </a:rPr>
                  <a:t> </a:t>
                </a:r>
                <a:endParaRPr lang="en-US" sz="1200" b="1">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7" name="Arrow: Chevron 26"/>
              <p:cNvSpPr/>
              <p:nvPr/>
            </p:nvSpPr>
            <p:spPr>
              <a:xfrm>
                <a:off x="38544" y="62041"/>
                <a:ext cx="155658" cy="194361"/>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sp>
            <p:nvSpPr>
              <p:cNvPr id="18" name="Arrow: Chevron 27"/>
              <p:cNvSpPr/>
              <p:nvPr/>
            </p:nvSpPr>
            <p:spPr>
              <a:xfrm>
                <a:off x="115330" y="62041"/>
                <a:ext cx="177710" cy="194296"/>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grpSp>
        <p:sp>
          <p:nvSpPr>
            <p:cNvPr id="15" name="TextBox 56"/>
            <p:cNvSpPr txBox="1"/>
            <p:nvPr/>
          </p:nvSpPr>
          <p:spPr>
            <a:xfrm>
              <a:off x="250984" y="68068"/>
              <a:ext cx="884516" cy="139535"/>
            </a:xfrm>
            <a:prstGeom prst="rect">
              <a:avLst/>
            </a:prstGeom>
            <a:noFill/>
          </p:spPr>
          <p:txBody>
            <a:bodyPr wrap="square">
              <a:noAutofit/>
            </a:bodyPr>
            <a:lstStyle/>
            <a:p>
              <a:pPr>
                <a:lnSpc>
                  <a:spcPct val="107000"/>
                </a:lnSpc>
                <a:spcAft>
                  <a:spcPts val="800"/>
                </a:spcAft>
              </a:pPr>
              <a:r>
                <a:rPr lang="en-US" sz="4800" b="1" kern="1200">
                  <a:solidFill>
                    <a:srgbClr val="0000CC"/>
                  </a:solidFill>
                  <a:effectLst/>
                  <a:latin typeface="Tomaho"/>
                  <a:ea typeface="Calibri" panose="020F0502020204030204" pitchFamily="34" charset="0"/>
                  <a:cs typeface="Times New Roman" panose="02020603050405020304" pitchFamily="18" charset="0"/>
                </a:rPr>
                <a:t>Ví dụ </a:t>
              </a:r>
              <a:r>
                <a:rPr lang="en-US" sz="4800" b="1">
                  <a:solidFill>
                    <a:srgbClr val="0000CC"/>
                  </a:solidFill>
                  <a:latin typeface="Tomaho"/>
                  <a:ea typeface="Calibri" panose="020F0502020204030204" pitchFamily="34" charset="0"/>
                  <a:cs typeface="Times New Roman" panose="02020603050405020304" pitchFamily="18" charset="0"/>
                </a:rPr>
                <a:t>4</a:t>
              </a:r>
              <a:r>
                <a:rPr lang="en-US" sz="4800" b="1" kern="1200">
                  <a:solidFill>
                    <a:srgbClr val="0000CC"/>
                  </a:solidFill>
                  <a:effectLst/>
                  <a:latin typeface="Tomaho"/>
                  <a:ea typeface="Calibri" panose="020F0502020204030204" pitchFamily="34" charset="0"/>
                  <a:cs typeface="Times New Roman" panose="02020603050405020304" pitchFamily="18" charset="0"/>
                </a:rPr>
                <a:t>.</a:t>
              </a:r>
              <a:endParaRPr lang="en-US" sz="4800" b="1">
                <a:effectLst/>
                <a:latin typeface="Tomaho"/>
                <a:ea typeface="Calibri" panose="020F0502020204030204" pitchFamily="34"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14822BB7-DB89-4357-87F0-6E511FC44A6A}"/>
                  </a:ext>
                </a:extLst>
              </p:cNvPr>
              <p:cNvSpPr txBox="1">
                <a:spLocks/>
              </p:cNvSpPr>
              <p:nvPr/>
            </p:nvSpPr>
            <p:spPr>
              <a:xfrm>
                <a:off x="12192000" y="3086964"/>
                <a:ext cx="11811000" cy="103631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just">
                  <a:lnSpc>
                    <a:spcPct val="107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Hãy</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ra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một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07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𝜟</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𝟐</m:t>
                    </m:r>
                    <m:r>
                      <a:rPr lang="en-US" b="1" i="1" smtClean="0">
                        <a:latin typeface="Cambria Math" panose="02040503050406030204" pitchFamily="18" charset="0"/>
                        <a:ea typeface="Calibri" panose="020F0502020204030204" pitchFamily="34" charset="0"/>
                        <a:cs typeface="Times New Roman" panose="02020603050405020304" pitchFamily="18" charset="0"/>
                      </a:rPr>
                      <m:t>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𝒚</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𝟏</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𝟎</m:t>
                    </m:r>
                  </m:oMath>
                </a14:m>
                <a:r>
                  <a:rPr lang="en-US" b="1" dirty="0">
                    <a:latin typeface="Tahoma" panose="020B0604030504040204" pitchFamily="34" charset="0"/>
                    <a:ea typeface="Tahoma" panose="020B0604030504040204" pitchFamily="34" charset="0"/>
                    <a:cs typeface="Tahoma" panose="020B0604030504040204" pitchFamily="34" charset="0"/>
                  </a:rPr>
                  <a:t>.</a:t>
                </a:r>
              </a:p>
              <a:p>
                <a:pPr marL="0" indent="0" algn="just">
                  <a:lnSpc>
                    <a:spcPct val="100000"/>
                  </a:lnSpc>
                  <a:spcBef>
                    <a:spcPts val="0"/>
                  </a:spcBef>
                  <a:buNone/>
                </a:pPr>
                <a:r>
                  <a:rPr lang="en-US" b="1" u="sng"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endParaRPr lang="en-US" b="1" u="sng"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gn="just">
                  <a:lnSpc>
                    <a:spcPct val="107000"/>
                  </a:lnSpc>
                  <a:spcAft>
                    <a:spcPts val="800"/>
                  </a:spcAft>
                  <a:buNone/>
                </a:pP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𝜟</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pháp</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tuyến</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𝒏</m:t>
                        </m:r>
                      </m:e>
                    </m:acc>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𝟐</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𝟏</m:t>
                        </m:r>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nên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một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𝒖</m:t>
                        </m:r>
                      </m:e>
                    </m:acc>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𝟏</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𝟐</m:t>
                        </m:r>
                      </m:e>
                    </m:d>
                  </m:oMath>
                </a14:m>
                <a:r>
                  <a:rPr lang="en-US" b="1" dirty="0">
                    <a:latin typeface="Tahoma" panose="020B0604030504040204" pitchFamily="34" charset="0"/>
                    <a:ea typeface="Tahoma" panose="020B0604030504040204" pitchFamily="34" charset="0"/>
                    <a:cs typeface="Tahoma" panose="020B0604030504040204" pitchFamily="34" charset="0"/>
                  </a:rPr>
                  <a:t>.</a:t>
                </a:r>
              </a:p>
              <a:p>
                <a:pPr marL="0" indent="0" algn="just">
                  <a:lnSpc>
                    <a:spcPct val="150000"/>
                  </a:lnSpc>
                  <a:spcAft>
                    <a:spcPts val="800"/>
                  </a:spcAft>
                  <a:buNone/>
                </a:pPr>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12192000" y="3086964"/>
                <a:ext cx="11811000" cy="10363199"/>
              </a:xfrm>
              <a:prstGeom prst="rect">
                <a:avLst/>
              </a:prstGeom>
              <a:blipFill>
                <a:blip r:embed="rId4"/>
                <a:stretch>
                  <a:fillRect l="-2268" t="-1469" r="-2216"/>
                </a:stretch>
              </a:blipFill>
              <a:ln>
                <a:solidFill>
                  <a:srgbClr val="00B0F0"/>
                </a:solidFill>
              </a:ln>
            </p:spPr>
            <p:txBody>
              <a:bodyPr/>
              <a:lstStyle/>
              <a:p>
                <a:r>
                  <a:rPr lang="en-US">
                    <a:noFill/>
                  </a:rPr>
                  <a:t> </a:t>
                </a:r>
              </a:p>
            </p:txBody>
          </p:sp>
        </mc:Fallback>
      </mc:AlternateContent>
      <p:grpSp>
        <p:nvGrpSpPr>
          <p:cNvPr id="20" name="Group 19"/>
          <p:cNvGrpSpPr/>
          <p:nvPr/>
        </p:nvGrpSpPr>
        <p:grpSpPr>
          <a:xfrm>
            <a:off x="12073190" y="3048001"/>
            <a:ext cx="4538410" cy="865123"/>
            <a:chOff x="1219200" y="1883409"/>
            <a:chExt cx="4234636" cy="865123"/>
          </a:xfrm>
        </p:grpSpPr>
        <p:grpSp>
          <p:nvGrpSpPr>
            <p:cNvPr id="21" name="Group 20"/>
            <p:cNvGrpSpPr/>
            <p:nvPr/>
          </p:nvGrpSpPr>
          <p:grpSpPr>
            <a:xfrm>
              <a:off x="1219200" y="1883409"/>
              <a:ext cx="4234636" cy="865123"/>
              <a:chOff x="10025696" y="6718934"/>
              <a:chExt cx="4234636" cy="865123"/>
            </a:xfrm>
          </p:grpSpPr>
          <p:sp>
            <p:nvSpPr>
              <p:cNvPr id="23" name="Arrow: Pentagon 33"/>
              <p:cNvSpPr/>
              <p:nvPr/>
            </p:nvSpPr>
            <p:spPr>
              <a:xfrm>
                <a:off x="10429865" y="6752717"/>
                <a:ext cx="3810953" cy="80670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a:lnSpc>
                    <a:spcPct val="106000"/>
                  </a:lnSpc>
                  <a:spcAft>
                    <a:spcPts val="800"/>
                  </a:spcAft>
                </a:pPr>
                <a:r>
                  <a:rPr lang="en-US" sz="10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b="1">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5" name="Arrow: Chevron 34"/>
              <p:cNvSpPr/>
              <p:nvPr/>
            </p:nvSpPr>
            <p:spPr>
              <a:xfrm>
                <a:off x="10025696" y="6773546"/>
                <a:ext cx="273620" cy="806702"/>
              </a:xfrm>
              <a:prstGeom prst="chevron">
                <a:avLst/>
              </a:prstGeom>
              <a:solidFill>
                <a:srgbClr val="4472C4"/>
              </a:solidFill>
              <a:ln w="12700" cap="flat" cmpd="sng" algn="ctr">
                <a:noFill/>
                <a:prstDash val="solid"/>
                <a:miter lim="800000"/>
              </a:ln>
              <a:effectLst/>
            </p:spPr>
            <p:txBody>
              <a:bodyPr rtlCol="0" anchor="ctr"/>
              <a:lstStyle/>
              <a:p>
                <a:endParaRPr lang="en-US" b="1"/>
              </a:p>
            </p:txBody>
          </p:sp>
          <p:sp>
            <p:nvSpPr>
              <p:cNvPr id="26" name="TextBox 56"/>
              <p:cNvSpPr txBox="1"/>
              <p:nvPr/>
            </p:nvSpPr>
            <p:spPr>
              <a:xfrm>
                <a:off x="10582965" y="6718934"/>
                <a:ext cx="3677367" cy="865123"/>
              </a:xfrm>
              <a:prstGeom prst="rect">
                <a:avLst/>
              </a:prstGeom>
              <a:noFill/>
            </p:spPr>
            <p:txBody>
              <a:bodyPr wrap="square">
                <a:noAutofit/>
              </a:bodyPr>
              <a:lstStyle/>
              <a:p>
                <a:pPr>
                  <a:lnSpc>
                    <a:spcPct val="107000"/>
                  </a:lnSpc>
                  <a:spcAft>
                    <a:spcPts val="800"/>
                  </a:spcAft>
                </a:pPr>
                <a:r>
                  <a:rPr lang="en-US" sz="4800" b="1" kern="1200">
                    <a:solidFill>
                      <a:srgbClr val="0000CC"/>
                    </a:solidFill>
                    <a:effectLst/>
                    <a:latin typeface="Tomaho"/>
                    <a:ea typeface="Calibri" panose="020F0502020204030204" pitchFamily="34" charset="0"/>
                    <a:cs typeface="Times New Roman" panose="02020603050405020304" pitchFamily="18" charset="0"/>
                  </a:rPr>
                  <a:t>Luyện tập </a:t>
                </a:r>
                <a:r>
                  <a:rPr lang="en-US" sz="4800" b="1">
                    <a:solidFill>
                      <a:srgbClr val="0000CC"/>
                    </a:solidFill>
                    <a:latin typeface="Tomaho"/>
                    <a:ea typeface="Calibri" panose="020F0502020204030204" pitchFamily="34" charset="0"/>
                    <a:cs typeface="Times New Roman" panose="02020603050405020304" pitchFamily="18" charset="0"/>
                  </a:rPr>
                  <a:t>3</a:t>
                </a:r>
                <a:r>
                  <a:rPr lang="en-US" sz="4800" b="1" kern="1200">
                    <a:solidFill>
                      <a:srgbClr val="0000CC"/>
                    </a:solidFill>
                    <a:effectLst/>
                    <a:latin typeface="Tomaho"/>
                    <a:ea typeface="Calibri" panose="020F0502020204030204" pitchFamily="34" charset="0"/>
                    <a:cs typeface="Times New Roman" panose="02020603050405020304" pitchFamily="18" charset="0"/>
                  </a:rPr>
                  <a:t>.</a:t>
                </a:r>
                <a:endParaRPr lang="en-US" sz="4800" b="1">
                  <a:effectLst/>
                  <a:latin typeface="Tomaho"/>
                  <a:ea typeface="Calibri" panose="020F0502020204030204" pitchFamily="34" charset="0"/>
                  <a:cs typeface="Times New Roman" panose="02020603050405020304" pitchFamily="18" charset="0"/>
                </a:endParaRPr>
              </a:p>
            </p:txBody>
          </p:sp>
        </p:grpSp>
        <p:sp>
          <p:nvSpPr>
            <p:cNvPr id="22" name="Arrow: Chevron 35"/>
            <p:cNvSpPr/>
            <p:nvPr/>
          </p:nvSpPr>
          <p:spPr>
            <a:xfrm>
              <a:off x="1349749" y="1935480"/>
              <a:ext cx="296171" cy="806702"/>
            </a:xfrm>
            <a:prstGeom prst="chevron">
              <a:avLst/>
            </a:prstGeom>
            <a:solidFill>
              <a:srgbClr val="FFC000"/>
            </a:solidFill>
            <a:ln w="12700" cap="flat" cmpd="sng" algn="ctr">
              <a:noFill/>
              <a:prstDash val="solid"/>
              <a:miter lim="800000"/>
            </a:ln>
            <a:effectLst/>
          </p:spPr>
          <p:txBody>
            <a:bodyPr rtlCol="0" anchor="ctr"/>
            <a:lstStyle/>
            <a:p>
              <a:endParaRPr lang="en-US" b="1"/>
            </a:p>
          </p:txBody>
        </p:sp>
      </p:grpSp>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10924655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2">
                                            <p:txEl>
                                              <p:pRg st="0" end="0"/>
                                            </p:txEl>
                                          </p:spTgt>
                                        </p:tgtEl>
                                        <p:attrNameLst>
                                          <p:attrName>style.visibility</p:attrName>
                                        </p:attrNameLst>
                                      </p:cBhvr>
                                      <p:to>
                                        <p:strVal val="visible"/>
                                      </p:to>
                                    </p:set>
                                    <p:animEffect transition="in" filter="fade">
                                      <p:cBhvr>
                                        <p:cTn id="26" dur="500"/>
                                        <p:tgtEl>
                                          <p:spTgt spid="12">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2">
                                            <p:txEl>
                                              <p:pRg st="1" end="1"/>
                                            </p:txEl>
                                          </p:spTgt>
                                        </p:tgtEl>
                                        <p:attrNameLst>
                                          <p:attrName>style.visibility</p:attrName>
                                        </p:attrNameLst>
                                      </p:cBhvr>
                                      <p:to>
                                        <p:strVal val="visible"/>
                                      </p:to>
                                    </p:set>
                                    <p:animEffect transition="in" filter="fade">
                                      <p:cBhvr>
                                        <p:cTn id="31" dur="500"/>
                                        <p:tgtEl>
                                          <p:spTgt spid="12">
                                            <p:txEl>
                                              <p:pRg st="1" end="1"/>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2">
                                            <p:txEl>
                                              <p:pRg st="2" end="2"/>
                                            </p:txEl>
                                          </p:spTgt>
                                        </p:tgtEl>
                                        <p:attrNameLst>
                                          <p:attrName>style.visibility</p:attrName>
                                        </p:attrNameLst>
                                      </p:cBhvr>
                                      <p:to>
                                        <p:strVal val="visible"/>
                                      </p:to>
                                    </p:set>
                                    <p:animEffect transition="in" filter="fade">
                                      <p:cBhvr>
                                        <p:cTn id="34" dur="500"/>
                                        <p:tgtEl>
                                          <p:spTgt spid="12">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2">
                                            <p:txEl>
                                              <p:pRg st="3" end="3"/>
                                            </p:txEl>
                                          </p:spTgt>
                                        </p:tgtEl>
                                        <p:attrNameLst>
                                          <p:attrName>style.visibility</p:attrName>
                                        </p:attrNameLst>
                                      </p:cBhvr>
                                      <p:to>
                                        <p:strVal val="visible"/>
                                      </p:to>
                                    </p:set>
                                    <p:animEffect transition="in" filter="fade">
                                      <p:cBhvr>
                                        <p:cTn id="39" dur="500"/>
                                        <p:tgtEl>
                                          <p:spTgt spid="12">
                                            <p:txEl>
                                              <p:pRg st="3" end="3"/>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9">
                                            <p:txEl>
                                              <p:pRg st="0" end="0"/>
                                            </p:txEl>
                                          </p:spTgt>
                                        </p:tgtEl>
                                        <p:attrNameLst>
                                          <p:attrName>style.visibility</p:attrName>
                                        </p:attrNameLst>
                                      </p:cBhvr>
                                      <p:to>
                                        <p:strVal val="visible"/>
                                      </p:to>
                                    </p:set>
                                    <p:animEffect transition="in" filter="fade">
                                      <p:cBhvr>
                                        <p:cTn id="49" dur="500"/>
                                        <p:tgtEl>
                                          <p:spTgt spid="19">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9">
                                            <p:txEl>
                                              <p:pRg st="1" end="1"/>
                                            </p:txEl>
                                          </p:spTgt>
                                        </p:tgtEl>
                                        <p:attrNameLst>
                                          <p:attrName>style.visibility</p:attrName>
                                        </p:attrNameLst>
                                      </p:cBhvr>
                                      <p:to>
                                        <p:strVal val="visible"/>
                                      </p:to>
                                    </p:set>
                                    <p:animEffect transition="in" filter="fade">
                                      <p:cBhvr>
                                        <p:cTn id="54" dur="500"/>
                                        <p:tgtEl>
                                          <p:spTgt spid="19">
                                            <p:txEl>
                                              <p:pRg st="1" end="1"/>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9">
                                            <p:txEl>
                                              <p:pRg st="2" end="2"/>
                                            </p:txEl>
                                          </p:spTgt>
                                        </p:tgtEl>
                                        <p:attrNameLst>
                                          <p:attrName>style.visibility</p:attrName>
                                        </p:attrNameLst>
                                      </p:cBhvr>
                                      <p:to>
                                        <p:strVal val="visible"/>
                                      </p:to>
                                    </p:set>
                                    <p:animEffect transition="in" filter="fade">
                                      <p:cBhvr>
                                        <p:cTn id="59" dur="500"/>
                                        <p:tgtEl>
                                          <p:spTgt spid="19">
                                            <p:txEl>
                                              <p:pRg st="2" end="2"/>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19">
                                            <p:txEl>
                                              <p:pRg st="3" end="3"/>
                                            </p:txEl>
                                          </p:spTgt>
                                        </p:tgtEl>
                                        <p:attrNameLst>
                                          <p:attrName>style.visibility</p:attrName>
                                        </p:attrNameLst>
                                      </p:cBhvr>
                                      <p:to>
                                        <p:strVal val="visible"/>
                                      </p:to>
                                    </p:set>
                                    <p:animEffect transition="in" filter="fade">
                                      <p:cBhvr>
                                        <p:cTn id="62" dur="500"/>
                                        <p:tgtEl>
                                          <p:spTgt spid="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12" grpId="0" animBg="1"/>
      <p:bldP spid="1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04800" y="1879601"/>
            <a:ext cx="23698200" cy="11684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7000"/>
              </a:lnSpc>
              <a:spcAft>
                <a:spcPts val="800"/>
              </a:spcAft>
            </a:pPr>
            <a:r>
              <a:rPr lang="en-US" sz="4800" b="1">
                <a:solidFill>
                  <a:srgbClr val="FF0000"/>
                </a:solidFill>
                <a:latin typeface="Tahoma" panose="020B0604030504040204" pitchFamily="34" charset="0"/>
                <a:ea typeface="Tahoma" panose="020B0604030504040204" pitchFamily="34" charset="0"/>
                <a:cs typeface="Tahoma" panose="020B0604030504040204" pitchFamily="34" charset="0"/>
              </a:rPr>
              <a:t>2. PHƯƠNG TRÌNH THAM SỐ CỦA ĐƯỜNG THẲNG</a:t>
            </a:r>
          </a:p>
        </p:txBody>
      </p:sp>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14822BB7-DB89-4357-87F0-6E511FC44A6A}"/>
                  </a:ext>
                </a:extLst>
              </p:cNvPr>
              <p:cNvSpPr txBox="1">
                <a:spLocks/>
              </p:cNvSpPr>
              <p:nvPr/>
            </p:nvSpPr>
            <p:spPr>
              <a:xfrm>
                <a:off x="304800" y="3048001"/>
                <a:ext cx="23698200" cy="103631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Chuyển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động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một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vật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thể</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được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thể</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hiện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trong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mặt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phẳng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𝑶𝒙𝒚</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Vật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thể</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khởi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hành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từ</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𝑨</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𝟐</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𝟏</m:t>
                        </m:r>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chuyển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động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với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vận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tốc</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𝒗</m:t>
                        </m:r>
                      </m:e>
                    </m:acc>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𝟑</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𝟒</m:t>
                        </m:r>
                      </m:e>
                    </m:d>
                  </m:oMath>
                </a14:m>
                <a:r>
                  <a:rPr lang="en-US" b="1" dirty="0">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a) </a:t>
                </a:r>
                <a:r>
                  <a:rPr lang="en-US" b="1" dirty="0" err="1">
                    <a:latin typeface="Tahoma" panose="020B0604030504040204" pitchFamily="34" charset="0"/>
                    <a:ea typeface="Tahoma" panose="020B0604030504040204" pitchFamily="34" charset="0"/>
                    <a:cs typeface="Tahoma" panose="020B0604030504040204" pitchFamily="34" charset="0"/>
                  </a:rPr>
                  <a:t>Hỏi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vật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thể</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chuyển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động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trên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nào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ra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điểm</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đi</a:t>
                </a:r>
                <a:r>
                  <a:rPr lang="en-US" b="1" dirty="0">
                    <a:latin typeface="Tahoma" panose="020B0604030504040204" pitchFamily="34" charset="0"/>
                    <a:ea typeface="Tahoma" panose="020B0604030504040204" pitchFamily="34" charset="0"/>
                    <a:cs typeface="Tahoma" panose="020B0604030504040204" pitchFamily="34" charset="0"/>
                  </a:rPr>
                  <a:t> qua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đó</a:t>
                </a:r>
                <a:r>
                  <a:rPr lang="en-US" b="1" dirty="0">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b) </a:t>
                </a:r>
                <a:r>
                  <a:rPr lang="en-US" b="1" dirty="0" err="1">
                    <a:latin typeface="Tahoma" panose="020B0604030504040204" pitchFamily="34" charset="0"/>
                    <a:ea typeface="Tahoma" panose="020B0604030504040204" pitchFamily="34" charset="0"/>
                    <a:cs typeface="Tahoma" panose="020B0604030504040204" pitchFamily="34" charset="0"/>
                  </a:rPr>
                  <a:t>Chứng</a:t>
                </a:r>
                <a:r>
                  <a:rPr lang="en-US" b="1" dirty="0">
                    <a:latin typeface="Tahoma" panose="020B0604030504040204" pitchFamily="34" charset="0"/>
                    <a:ea typeface="Tahoma" panose="020B0604030504040204" pitchFamily="34" charset="0"/>
                    <a:cs typeface="Tahoma" panose="020B0604030504040204" pitchFamily="34" charset="0"/>
                  </a:rPr>
                  <a:t> minh </a:t>
                </a:r>
                <a:r>
                  <a:rPr lang="en-US" b="1" dirty="0" err="1">
                    <a:latin typeface="Tahoma" panose="020B0604030504040204" pitchFamily="34" charset="0"/>
                    <a:ea typeface="Tahoma" panose="020B0604030504040204" pitchFamily="34" charset="0"/>
                    <a:cs typeface="Tahoma" panose="020B0604030504040204" pitchFamily="34" charset="0"/>
                  </a:rPr>
                  <a:t>rằng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tại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thời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điểm</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𝒕</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𝒕</m:t>
                    </m:r>
                    <m:r>
                      <a:rPr lang="en-US" b="1" i="1" smtClean="0">
                        <a:latin typeface="Cambria Math" panose="02040503050406030204" pitchFamily="18" charset="0"/>
                        <a:ea typeface="Calibri" panose="020F0502020204030204" pitchFamily="34" charset="0"/>
                        <a:cs typeface="Times New Roman" panose="02020603050405020304" pitchFamily="18" charset="0"/>
                      </a:rPr>
                      <m:t>&gt;</m:t>
                    </m:r>
                    <m:r>
                      <a:rPr lang="en-US" b="1" i="1" smtClean="0">
                        <a:latin typeface="Cambria Math" panose="02040503050406030204" pitchFamily="18" charset="0"/>
                        <a:ea typeface="Calibri" panose="020F0502020204030204" pitchFamily="34" charset="0"/>
                        <a:cs typeface="Times New Roman" panose="02020603050405020304" pitchFamily="18" charset="0"/>
                      </a:rPr>
                      <m:t>𝟎</m:t>
                    </m:r>
                    <m:r>
                      <a:rPr lang="en-US" b="1" i="1" smtClean="0">
                        <a:latin typeface="Cambria Math" panose="02040503050406030204" pitchFamily="18" charset="0"/>
                        <a:ea typeface="Calibri" panose="020F0502020204030204" pitchFamily="34" charset="0"/>
                        <a:cs typeface="Times New Roman" panose="02020603050405020304" pitchFamily="18" charset="0"/>
                      </a:rPr>
                      <m:t>)</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tính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từ</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khởi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hành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vật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thể</a:t>
                </a:r>
                <a:r>
                  <a:rPr lang="en-US" b="1" dirty="0">
                    <a:latin typeface="Tahoma" panose="020B0604030504040204" pitchFamily="34" charset="0"/>
                    <a:ea typeface="Tahoma" panose="020B0604030504040204" pitchFamily="34" charset="0"/>
                    <a:cs typeface="Tahoma" panose="020B0604030504040204" pitchFamily="34" charset="0"/>
                  </a:rPr>
                  <a:t> ở </a:t>
                </a:r>
                <a:r>
                  <a:rPr lang="en-US" b="1" dirty="0" err="1">
                    <a:latin typeface="Tahoma" panose="020B0604030504040204" pitchFamily="34" charset="0"/>
                    <a:ea typeface="Tahoma" panose="020B0604030504040204" pitchFamily="34" charset="0"/>
                    <a:cs typeface="Tahoma" panose="020B0604030504040204" pitchFamily="34" charset="0"/>
                  </a:rPr>
                  <a:t>vị</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trí</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tọa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độ</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𝟐</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𝟑</m:t>
                        </m:r>
                        <m:r>
                          <a:rPr lang="en-US" b="1" i="1" smtClean="0">
                            <a:latin typeface="Cambria Math" panose="02040503050406030204" pitchFamily="18" charset="0"/>
                            <a:ea typeface="Calibri" panose="020F0502020204030204" pitchFamily="34" charset="0"/>
                            <a:cs typeface="Times New Roman" panose="02020603050405020304" pitchFamily="18" charset="0"/>
                          </a:rPr>
                          <m:t>𝒕</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𝟏</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𝟒</m:t>
                        </m:r>
                        <m:r>
                          <a:rPr lang="en-US" b="1" i="1" smtClean="0">
                            <a:latin typeface="Cambria Math" panose="02040503050406030204" pitchFamily="18" charset="0"/>
                            <a:ea typeface="Calibri" panose="020F0502020204030204" pitchFamily="34" charset="0"/>
                            <a:cs typeface="Times New Roman" panose="02020603050405020304" pitchFamily="18" charset="0"/>
                          </a:rPr>
                          <m:t>𝒕</m:t>
                        </m:r>
                      </m:e>
                    </m:d>
                  </m:oMath>
                </a14:m>
                <a:r>
                  <a:rPr lang="en-US" b="1" dirty="0">
                    <a:latin typeface="Tahoma" panose="020B0604030504040204" pitchFamily="34" charset="0"/>
                    <a:ea typeface="Tahoma" panose="020B0604030504040204" pitchFamily="34" charset="0"/>
                    <a:cs typeface="Tahoma" panose="020B0604030504040204" pitchFamily="34" charset="0"/>
                  </a:rPr>
                  <a:t>.</a:t>
                </a:r>
              </a:p>
              <a:p>
                <a:pPr marL="0" indent="0">
                  <a:lnSpc>
                    <a:spcPct val="107000"/>
                  </a:lnSpc>
                  <a:spcAft>
                    <a:spcPts val="800"/>
                  </a:spcAft>
                  <a:buNone/>
                </a:pPr>
                <a:r>
                  <a:rPr lang="en-US" b="1" u="sng"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endParaRPr lang="en-US" b="1" u="sng"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nSpc>
                    <a:spcPct val="107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a) </a:t>
                </a:r>
                <a:r>
                  <a:rPr lang="en-US" b="1" dirty="0" err="1">
                    <a:latin typeface="Tahoma" panose="020B0604030504040204" pitchFamily="34" charset="0"/>
                    <a:ea typeface="Tahoma" panose="020B0604030504040204" pitchFamily="34" charset="0"/>
                    <a:cs typeface="Tahoma" panose="020B0604030504040204" pitchFamily="34" charset="0"/>
                  </a:rPr>
                  <a:t>Vật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thể</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chuyển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động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trên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đi</a:t>
                </a:r>
                <a:r>
                  <a:rPr lang="en-US" b="1" dirty="0">
                    <a:latin typeface="Tahoma" panose="020B0604030504040204" pitchFamily="34" charset="0"/>
                    <a:ea typeface="Tahoma" panose="020B0604030504040204" pitchFamily="34" charset="0"/>
                    <a:cs typeface="Tahoma" panose="020B0604030504040204" pitchFamily="34" charset="0"/>
                  </a:rPr>
                  <a:t> qua </a:t>
                </a:r>
                <a:r>
                  <a:rPr lang="en-US" b="1" dirty="0" err="1">
                    <a:latin typeface="Tahoma" panose="020B0604030504040204" pitchFamily="34" charset="0"/>
                    <a:ea typeface="Tahoma" panose="020B0604030504040204" pitchFamily="34" charset="0"/>
                    <a:cs typeface="Tahoma" panose="020B0604030504040204" pitchFamily="34" charset="0"/>
                  </a:rPr>
                  <a:t>điểm</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𝑨</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𝟐</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𝟏</m:t>
                        </m:r>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nhận</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𝒗</m:t>
                        </m:r>
                      </m:e>
                    </m:acc>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𝟑</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𝟒</m:t>
                        </m:r>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làm</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a:t>
                </a:r>
              </a:p>
              <a:p>
                <a:pPr marL="0" indent="0">
                  <a:lnSpc>
                    <a:spcPct val="107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b) </a:t>
                </a:r>
                <a:r>
                  <a:rPr lang="en-US" b="1" dirty="0" err="1">
                    <a:latin typeface="Tahoma" panose="020B0604030504040204" pitchFamily="34" charset="0"/>
                    <a:ea typeface="Tahoma" panose="020B0604030504040204" pitchFamily="34" charset="0"/>
                    <a:cs typeface="Tahoma" panose="020B0604030504040204" pitchFamily="34" charset="0"/>
                  </a:rPr>
                  <a:t>Giả</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sử</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tại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thời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điểm</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𝒕</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𝒕</m:t>
                    </m:r>
                    <m:r>
                      <a:rPr lang="en-US" b="1" i="1" smtClean="0">
                        <a:latin typeface="Cambria Math" panose="02040503050406030204" pitchFamily="18" charset="0"/>
                        <a:ea typeface="Calibri" panose="020F0502020204030204" pitchFamily="34" charset="0"/>
                        <a:cs typeface="Times New Roman" panose="02020603050405020304" pitchFamily="18" charset="0"/>
                      </a:rPr>
                      <m:t>&gt;</m:t>
                    </m:r>
                    <m:r>
                      <a:rPr lang="en-US" b="1" i="1" smtClean="0">
                        <a:latin typeface="Cambria Math" panose="02040503050406030204" pitchFamily="18" charset="0"/>
                        <a:ea typeface="Calibri" panose="020F0502020204030204" pitchFamily="34" charset="0"/>
                        <a:cs typeface="Times New Roman" panose="02020603050405020304" pitchFamily="18" charset="0"/>
                      </a:rPr>
                      <m:t>𝟎</m:t>
                    </m:r>
                    <m:r>
                      <a:rPr lang="en-US" b="1" i="1" smtClean="0">
                        <a:latin typeface="Cambria Math" panose="02040503050406030204" pitchFamily="18" charset="0"/>
                        <a:ea typeface="Calibri" panose="020F0502020204030204" pitchFamily="34" charset="0"/>
                        <a:cs typeface="Times New Roman" panose="02020603050405020304" pitchFamily="18" charset="0"/>
                      </a:rPr>
                      <m:t>)</m:t>
                    </m:r>
                  </m:oMath>
                </a14:m>
                <a:r>
                  <a:rPr lang="en-US" b="1" dirty="0" err="1">
                    <a:latin typeface="Tahoma" panose="020B0604030504040204" pitchFamily="34" charset="0"/>
                    <a:ea typeface="Tahoma" panose="020B0604030504040204" pitchFamily="34" charset="0"/>
                    <a:cs typeface="Tahoma" panose="020B0604030504040204" pitchFamily="34" charset="0"/>
                  </a:rPr>
                  <a:t>tính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từ</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khởi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hành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vật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thể</a:t>
                </a:r>
                <a:r>
                  <a:rPr lang="en-US" b="1" dirty="0">
                    <a:latin typeface="Tahoma" panose="020B0604030504040204" pitchFamily="34" charset="0"/>
                    <a:ea typeface="Tahoma" panose="020B0604030504040204" pitchFamily="34" charset="0"/>
                    <a:cs typeface="Tahoma" panose="020B0604030504040204" pitchFamily="34" charset="0"/>
                  </a:rPr>
                  <a:t> ở </a:t>
                </a:r>
                <a:r>
                  <a:rPr lang="en-US" b="1" dirty="0" err="1">
                    <a:latin typeface="Tahoma" panose="020B0604030504040204" pitchFamily="34" charset="0"/>
                    <a:ea typeface="Tahoma" panose="020B0604030504040204" pitchFamily="34" charset="0"/>
                    <a:cs typeface="Tahoma" panose="020B0604030504040204" pitchFamily="34" charset="0"/>
                  </a:rPr>
                  <a:t>vị</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trí</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𝑴</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thuộc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đi</a:t>
                </a:r>
                <a:r>
                  <a:rPr lang="en-US" b="1" dirty="0">
                    <a:latin typeface="Tahoma" panose="020B0604030504040204" pitchFamily="34" charset="0"/>
                    <a:ea typeface="Tahoma" panose="020B0604030504040204" pitchFamily="34" charset="0"/>
                    <a:cs typeface="Tahoma" panose="020B0604030504040204" pitchFamily="34" charset="0"/>
                  </a:rPr>
                  <a:t> qua </a:t>
                </a:r>
                <a:r>
                  <a:rPr lang="en-US" b="1" dirty="0" err="1">
                    <a:latin typeface="Tahoma" panose="020B0604030504040204" pitchFamily="34" charset="0"/>
                    <a:ea typeface="Tahoma" panose="020B0604030504040204" pitchFamily="34" charset="0"/>
                    <a:cs typeface="Tahoma" panose="020B0604030504040204" pitchFamily="34" charset="0"/>
                  </a:rPr>
                  <a:t>điểm</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𝑨</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𝟐</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𝟏</m:t>
                        </m:r>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nhận</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𝒗</m:t>
                        </m:r>
                      </m:e>
                    </m:acc>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𝟑</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𝟒</m:t>
                        </m:r>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làm</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hai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𝑨𝑴</m:t>
                        </m:r>
                      </m:e>
                    </m:acc>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𝒖</m:t>
                        </m:r>
                      </m:e>
                    </m:acc>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cùng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nên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tồn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tại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thực</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𝒕</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sao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cho</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𝑨𝑴</m:t>
                        </m:r>
                      </m:e>
                    </m:acc>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𝒕</m:t>
                    </m:r>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𝒖</m:t>
                        </m:r>
                      </m:e>
                    </m:acc>
                  </m:oMath>
                </a14:m>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4"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04800" y="3048001"/>
                <a:ext cx="23698200" cy="10363199"/>
              </a:xfrm>
              <a:prstGeom prst="rect">
                <a:avLst/>
              </a:prstGeom>
              <a:blipFill>
                <a:blip r:embed="rId3"/>
                <a:stretch>
                  <a:fillRect l="-1131" t="-1351" r="-720" b="-999"/>
                </a:stretch>
              </a:blipFill>
              <a:ln>
                <a:solidFill>
                  <a:srgbClr val="00B0F0"/>
                </a:solidFill>
              </a:ln>
            </p:spPr>
            <p:txBody>
              <a:bodyPr/>
              <a:lstStyle/>
              <a:p>
                <a:r>
                  <a:rPr lang="en-US">
                    <a:noFill/>
                  </a:rPr>
                  <a:t> </a:t>
                </a:r>
              </a:p>
            </p:txBody>
          </p:sp>
        </mc:Fallback>
      </mc:AlternateContent>
      <p:grpSp>
        <p:nvGrpSpPr>
          <p:cNvPr id="6" name="Group 5"/>
          <p:cNvGrpSpPr/>
          <p:nvPr/>
        </p:nvGrpSpPr>
        <p:grpSpPr>
          <a:xfrm>
            <a:off x="381000" y="3048001"/>
            <a:ext cx="2856452" cy="838199"/>
            <a:chOff x="853445" y="3032647"/>
            <a:chExt cx="2792159" cy="838199"/>
          </a:xfrm>
        </p:grpSpPr>
        <p:grpSp>
          <p:nvGrpSpPr>
            <p:cNvPr id="7" name="Group 6"/>
            <p:cNvGrpSpPr/>
            <p:nvPr/>
          </p:nvGrpSpPr>
          <p:grpSpPr>
            <a:xfrm>
              <a:off x="853445" y="3032647"/>
              <a:ext cx="2792159" cy="838199"/>
              <a:chOff x="-3796694" y="945148"/>
              <a:chExt cx="5297364" cy="1862095"/>
            </a:xfrm>
          </p:grpSpPr>
          <p:sp>
            <p:nvSpPr>
              <p:cNvPr id="9" name="TextBox 321"/>
              <p:cNvSpPr txBox="1"/>
              <p:nvPr/>
            </p:nvSpPr>
            <p:spPr>
              <a:xfrm>
                <a:off x="-1984442" y="945148"/>
                <a:ext cx="3485112" cy="1862095"/>
              </a:xfrm>
              <a:prstGeom prst="rect">
                <a:avLst/>
              </a:prstGeom>
              <a:noFill/>
            </p:spPr>
            <p:txBody>
              <a:bodyPr wrap="square" rtlCol="0">
                <a:noAutofit/>
              </a:bodyPr>
              <a:lstStyle/>
              <a:p>
                <a:pPr>
                  <a:lnSpc>
                    <a:spcPct val="107000"/>
                  </a:lnSpc>
                  <a:spcAft>
                    <a:spcPts val="800"/>
                  </a:spcAft>
                </a:pPr>
                <a:r>
                  <a:rPr lang="en-US" sz="4800" b="1" kern="1200">
                    <a:solidFill>
                      <a:srgbClr val="D33E03"/>
                    </a:solidFill>
                    <a:effectLst/>
                    <a:latin typeface="Tomaho"/>
                    <a:ea typeface="Tahoma" panose="020B0604030504040204" pitchFamily="34" charset="0"/>
                    <a:cs typeface="Tahoma" panose="020B0604030504040204" pitchFamily="34" charset="0"/>
                  </a:rPr>
                  <a:t>HĐ4:</a:t>
                </a:r>
                <a:endParaRPr lang="en-US" sz="4800" b="1">
                  <a:solidFill>
                    <a:srgbClr val="D33E03"/>
                  </a:solidFill>
                  <a:effectLst/>
                  <a:latin typeface="Tomaho"/>
                  <a:ea typeface="Tahoma" panose="020B0604030504040204" pitchFamily="34" charset="0"/>
                  <a:cs typeface="Tahoma" panose="020B0604030504040204" pitchFamily="34" charset="0"/>
                </a:endParaRPr>
              </a:p>
            </p:txBody>
          </p:sp>
          <p:grpSp>
            <p:nvGrpSpPr>
              <p:cNvPr id="10" name="Group 9"/>
              <p:cNvGrpSpPr/>
              <p:nvPr/>
            </p:nvGrpSpPr>
            <p:grpSpPr>
              <a:xfrm>
                <a:off x="-3796694" y="1332427"/>
                <a:ext cx="1945947" cy="1087543"/>
                <a:chOff x="-3484263" y="1332427"/>
                <a:chExt cx="1785816" cy="1087543"/>
              </a:xfrm>
            </p:grpSpPr>
            <p:grpSp>
              <p:nvGrpSpPr>
                <p:cNvPr id="11" name="Group 10"/>
                <p:cNvGrpSpPr/>
                <p:nvPr/>
              </p:nvGrpSpPr>
              <p:grpSpPr>
                <a:xfrm>
                  <a:off x="-3484263" y="1332427"/>
                  <a:ext cx="1785816" cy="1087543"/>
                  <a:chOff x="-3902278" y="1992271"/>
                  <a:chExt cx="2000062" cy="1666211"/>
                </a:xfrm>
              </p:grpSpPr>
              <p:sp>
                <p:nvSpPr>
                  <p:cNvPr id="14" name="Arrow: Pentagon 6"/>
                  <p:cNvSpPr/>
                  <p:nvPr/>
                </p:nvSpPr>
                <p:spPr>
                  <a:xfrm>
                    <a:off x="-3902278" y="1992274"/>
                    <a:ext cx="1599070" cy="1666208"/>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sp>
                <p:nvSpPr>
                  <p:cNvPr id="15" name="Arrow: Chevron 11"/>
                  <p:cNvSpPr/>
                  <p:nvPr/>
                </p:nvSpPr>
                <p:spPr>
                  <a:xfrm>
                    <a:off x="-2759185" y="1992271"/>
                    <a:ext cx="856969" cy="1666208"/>
                  </a:xfrm>
                  <a:prstGeom prst="chevron">
                    <a:avLst>
                      <a:gd name="adj" fmla="val 66014"/>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grpSp>
            <p:sp>
              <p:nvSpPr>
                <p:cNvPr id="12" name="Flowchart: Terminator 11"/>
                <p:cNvSpPr/>
                <p:nvPr/>
              </p:nvSpPr>
              <p:spPr>
                <a:xfrm>
                  <a:off x="-3367925" y="1476518"/>
                  <a:ext cx="995711" cy="799363"/>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sp>
              <p:nvSpPr>
                <p:cNvPr id="13" name="Oval 12"/>
                <p:cNvSpPr/>
                <p:nvPr/>
              </p:nvSpPr>
              <p:spPr>
                <a:xfrm>
                  <a:off x="-3028523" y="1518566"/>
                  <a:ext cx="611269" cy="737968"/>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800" b="1"/>
                </a:p>
              </p:txBody>
            </p:sp>
          </p:grpSp>
        </p:grpSp>
        <p:sp>
          <p:nvSpPr>
            <p:cNvPr id="8" name="Arrow: Chevron 12"/>
            <p:cNvSpPr/>
            <p:nvPr/>
          </p:nvSpPr>
          <p:spPr>
            <a:xfrm flipV="1">
              <a:off x="1457568" y="3206977"/>
              <a:ext cx="287623" cy="489543"/>
            </a:xfrm>
            <a:prstGeom prst="chevron">
              <a:avLst>
                <a:gd name="adj" fmla="val 83506"/>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grpSp>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26401255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4">
                                            <p:txEl>
                                              <p:pRg st="0" end="0"/>
                                            </p:txEl>
                                          </p:spTgt>
                                        </p:tgtEl>
                                        <p:attrNameLst>
                                          <p:attrName>style.visibility</p:attrName>
                                        </p:attrNameLst>
                                      </p:cBhvr>
                                      <p:to>
                                        <p:strVal val="visible"/>
                                      </p:to>
                                    </p:set>
                                    <p:animEffect transition="in" filter="fade">
                                      <p:cBhvr>
                                        <p:cTn id="21" dur="500"/>
                                        <p:tgtEl>
                                          <p:spTgt spid="24">
                                            <p:txEl>
                                              <p:pRg st="0" end="0"/>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4">
                                            <p:txEl>
                                              <p:pRg st="1" end="1"/>
                                            </p:txEl>
                                          </p:spTgt>
                                        </p:tgtEl>
                                        <p:attrNameLst>
                                          <p:attrName>style.visibility</p:attrName>
                                        </p:attrNameLst>
                                      </p:cBhvr>
                                      <p:to>
                                        <p:strVal val="visible"/>
                                      </p:to>
                                    </p:set>
                                    <p:animEffect transition="in" filter="fade">
                                      <p:cBhvr>
                                        <p:cTn id="24" dur="500"/>
                                        <p:tgtEl>
                                          <p:spTgt spid="24">
                                            <p:txEl>
                                              <p:pRg st="1" end="1"/>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24">
                                            <p:txEl>
                                              <p:pRg st="2" end="2"/>
                                            </p:txEl>
                                          </p:spTgt>
                                        </p:tgtEl>
                                        <p:attrNameLst>
                                          <p:attrName>style.visibility</p:attrName>
                                        </p:attrNameLst>
                                      </p:cBhvr>
                                      <p:to>
                                        <p:strVal val="visible"/>
                                      </p:to>
                                    </p:set>
                                    <p:animEffect transition="in" filter="fade">
                                      <p:cBhvr>
                                        <p:cTn id="27" dur="500"/>
                                        <p:tgtEl>
                                          <p:spTgt spid="24">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xEl>
                                              <p:pRg st="3" end="3"/>
                                            </p:txEl>
                                          </p:spTgt>
                                        </p:tgtEl>
                                        <p:attrNameLst>
                                          <p:attrName>style.visibility</p:attrName>
                                        </p:attrNameLst>
                                      </p:cBhvr>
                                      <p:to>
                                        <p:strVal val="visible"/>
                                      </p:to>
                                    </p:set>
                                    <p:animEffect transition="in" filter="fade">
                                      <p:cBhvr>
                                        <p:cTn id="32" dur="500"/>
                                        <p:tgtEl>
                                          <p:spTgt spid="24">
                                            <p:txEl>
                                              <p:pRg st="3" end="3"/>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24">
                                            <p:txEl>
                                              <p:pRg st="4" end="4"/>
                                            </p:txEl>
                                          </p:spTgt>
                                        </p:tgtEl>
                                        <p:attrNameLst>
                                          <p:attrName>style.visibility</p:attrName>
                                        </p:attrNameLst>
                                      </p:cBhvr>
                                      <p:to>
                                        <p:strVal val="visible"/>
                                      </p:to>
                                    </p:set>
                                    <p:animEffect transition="in" filter="fade">
                                      <p:cBhvr>
                                        <p:cTn id="35" dur="500"/>
                                        <p:tgtEl>
                                          <p:spTgt spid="24">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4">
                                            <p:txEl>
                                              <p:pRg st="5" end="5"/>
                                            </p:txEl>
                                          </p:spTgt>
                                        </p:tgtEl>
                                        <p:attrNameLst>
                                          <p:attrName>style.visibility</p:attrName>
                                        </p:attrNameLst>
                                      </p:cBhvr>
                                      <p:to>
                                        <p:strVal val="visible"/>
                                      </p:to>
                                    </p:set>
                                    <p:animEffect transition="in" filter="fade">
                                      <p:cBhvr>
                                        <p:cTn id="40" dur="500"/>
                                        <p:tgtEl>
                                          <p:spTgt spid="2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2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04800" y="1879601"/>
            <a:ext cx="23698200" cy="9397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7000"/>
              </a:lnSpc>
              <a:spcAft>
                <a:spcPts val="800"/>
              </a:spcAft>
            </a:pPr>
            <a:r>
              <a:rPr lang="en-US" sz="4800" b="1">
                <a:solidFill>
                  <a:srgbClr val="FF0000"/>
                </a:solidFill>
                <a:latin typeface="Tahoma" panose="020B0604030504040204" pitchFamily="34" charset="0"/>
                <a:ea typeface="Tahoma" panose="020B0604030504040204" pitchFamily="34" charset="0"/>
                <a:cs typeface="Tahoma" panose="020B0604030504040204" pitchFamily="34" charset="0"/>
              </a:rPr>
              <a:t>2. PHƯƠNG TRÌNH THAM SỐ CỦA ĐƯỜNG THẲNG</a:t>
            </a:r>
          </a:p>
        </p:txBody>
      </p:sp>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14822BB7-DB89-4357-87F0-6E511FC44A6A}"/>
                  </a:ext>
                </a:extLst>
              </p:cNvPr>
              <p:cNvSpPr txBox="1">
                <a:spLocks/>
              </p:cNvSpPr>
              <p:nvPr/>
            </p:nvSpPr>
            <p:spPr>
              <a:xfrm>
                <a:off x="304800" y="3048001"/>
                <a:ext cx="23698200" cy="103631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 Ta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a:latin typeface="Cambria Math" panose="02040503050406030204" pitchFamily="18" charset="0"/>
                            <a:ea typeface="Calibri" panose="020F0502020204030204" pitchFamily="34" charset="0"/>
                            <a:cs typeface="Times New Roman" panose="02020603050405020304" pitchFamily="18" charset="0"/>
                          </a:rPr>
                          <m:t>𝑨𝑴</m:t>
                        </m:r>
                      </m:e>
                    </m:acc>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a:latin typeface="Cambria Math" panose="02040503050406030204" pitchFamily="18" charset="0"/>
                            <a:ea typeface="Calibri" panose="020F0502020204030204" pitchFamily="34" charset="0"/>
                            <a:cs typeface="Times New Roman" panose="02020603050405020304" pitchFamily="18" charset="0"/>
                          </a:rPr>
                          <m:t>𝒙</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𝟐</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𝒚</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𝟏</m:t>
                        </m:r>
                      </m:e>
                    </m:d>
                  </m:oMath>
                </a14:m>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lnSpc>
                    <a:spcPct val="107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	Do </a:t>
                </a:r>
                <a:r>
                  <a:rPr lang="en-US" b="1" dirty="0" err="1">
                    <a:latin typeface="Tahoma" panose="020B0604030504040204" pitchFamily="34" charset="0"/>
                    <a:ea typeface="Tahoma" panose="020B0604030504040204" pitchFamily="34" charset="0"/>
                    <a:cs typeface="Tahoma" panose="020B0604030504040204" pitchFamily="34" charset="0"/>
                  </a:rPr>
                  <a:t>đó</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a:latin typeface="Cambria Math" panose="02040503050406030204" pitchFamily="18" charset="0"/>
                            <a:ea typeface="Calibri" panose="020F0502020204030204" pitchFamily="34" charset="0"/>
                            <a:cs typeface="Times New Roman" panose="02020603050405020304" pitchFamily="18" charset="0"/>
                          </a:rPr>
                          <m:t>𝑨𝑴</m:t>
                        </m:r>
                      </m:e>
                    </m:acc>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𝒕</m:t>
                    </m:r>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a:latin typeface="Cambria Math" panose="02040503050406030204" pitchFamily="18" charset="0"/>
                            <a:ea typeface="Calibri" panose="020F0502020204030204" pitchFamily="34" charset="0"/>
                            <a:cs typeface="Times New Roman" panose="02020603050405020304" pitchFamily="18" charset="0"/>
                          </a:rPr>
                          <m:t>𝒖</m:t>
                        </m:r>
                      </m:e>
                    </m:acc>
                    <m:r>
                      <a:rPr lang="en-US" b="1" i="1">
                        <a:latin typeface="Cambria Math" panose="02040503050406030204" pitchFamily="18" charset="0"/>
                        <a:ea typeface="Calibri" panose="020F0502020204030204" pitchFamily="34" charset="0"/>
                        <a:cs typeface="Cambria Math" panose="02040503050406030204" pitchFamily="18" charset="0"/>
                      </a:rPr>
                      <m:t>⇔</m:t>
                    </m:r>
                    <m:d>
                      <m:dPr>
                        <m:begChr m:val="{"/>
                        <m:endChr m:val=""/>
                        <m:ctrlPr>
                          <a:rPr lang="en-US" b="1" i="1">
                            <a:latin typeface="Cambria Math" panose="02040503050406030204" pitchFamily="18" charset="0"/>
                            <a:ea typeface="Calibri" panose="020F0502020204030204" pitchFamily="34" charset="0"/>
                            <a:cs typeface="Times New Roman" panose="02020603050405020304" pitchFamily="18" charset="0"/>
                          </a:rPr>
                        </m:ctrlPr>
                      </m:dPr>
                      <m:e>
                        <m:eqArr>
                          <m:eqArrPr>
                            <m:ctrlPr>
                              <a:rPr lang="en-US" b="1" i="1">
                                <a:latin typeface="Cambria Math" panose="02040503050406030204" pitchFamily="18" charset="0"/>
                                <a:ea typeface="Calibri" panose="020F0502020204030204" pitchFamily="34" charset="0"/>
                                <a:cs typeface="Times New Roman" panose="02020603050405020304" pitchFamily="18" charset="0"/>
                              </a:rPr>
                            </m:ctrlPr>
                          </m:eqArrPr>
                          <m:e>
                            <m:r>
                              <a:rPr lang="en-US" b="1" i="1">
                                <a:latin typeface="Cambria Math" panose="02040503050406030204" pitchFamily="18" charset="0"/>
                                <a:ea typeface="Calibri" panose="020F0502020204030204" pitchFamily="34" charset="0"/>
                                <a:cs typeface="Times New Roman" panose="02020603050405020304" pitchFamily="18" charset="0"/>
                              </a:rPr>
                              <m:t>&amp;</m:t>
                            </m:r>
                            <m:r>
                              <a:rPr lang="en-US" b="1" i="1">
                                <a:latin typeface="Cambria Math" panose="02040503050406030204" pitchFamily="18" charset="0"/>
                                <a:ea typeface="Calibri" panose="020F0502020204030204" pitchFamily="34" charset="0"/>
                                <a:cs typeface="Times New Roman" panose="02020603050405020304" pitchFamily="18" charset="0"/>
                              </a:rPr>
                              <m:t>𝒙</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𝟐</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𝟑</m:t>
                            </m:r>
                            <m:r>
                              <a:rPr lang="en-US" b="1" i="1">
                                <a:latin typeface="Cambria Math" panose="02040503050406030204" pitchFamily="18" charset="0"/>
                                <a:ea typeface="Calibri" panose="020F0502020204030204" pitchFamily="34" charset="0"/>
                                <a:cs typeface="Times New Roman" panose="02020603050405020304" pitchFamily="18" charset="0"/>
                              </a:rPr>
                              <m:t>𝒕</m:t>
                            </m:r>
                          </m:e>
                          <m:e>
                            <m:r>
                              <a:rPr lang="en-US" b="1" i="1">
                                <a:latin typeface="Cambria Math" panose="02040503050406030204" pitchFamily="18" charset="0"/>
                                <a:ea typeface="Calibri" panose="020F0502020204030204" pitchFamily="34" charset="0"/>
                                <a:cs typeface="Times New Roman" panose="02020603050405020304" pitchFamily="18" charset="0"/>
                              </a:rPr>
                              <m:t>&amp;</m:t>
                            </m:r>
                            <m:r>
                              <a:rPr lang="en-US" b="1" i="1">
                                <a:latin typeface="Cambria Math" panose="02040503050406030204" pitchFamily="18" charset="0"/>
                                <a:ea typeface="Calibri" panose="020F0502020204030204" pitchFamily="34" charset="0"/>
                                <a:cs typeface="Times New Roman" panose="02020603050405020304" pitchFamily="18" charset="0"/>
                              </a:rPr>
                              <m:t>𝒚</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𝟏</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𝟒</m:t>
                            </m:r>
                            <m:r>
                              <a:rPr lang="en-US" b="1" i="1">
                                <a:latin typeface="Cambria Math" panose="02040503050406030204" pitchFamily="18" charset="0"/>
                                <a:ea typeface="Calibri" panose="020F0502020204030204" pitchFamily="34" charset="0"/>
                                <a:cs typeface="Times New Roman" panose="02020603050405020304" pitchFamily="18" charset="0"/>
                              </a:rPr>
                              <m:t>𝒕</m:t>
                            </m:r>
                          </m:e>
                        </m:eqArr>
                      </m:e>
                    </m:d>
                    <m:r>
                      <a:rPr lang="en-US" b="1" i="1">
                        <a:latin typeface="Cambria Math" panose="02040503050406030204" pitchFamily="18" charset="0"/>
                        <a:ea typeface="Calibri" panose="020F0502020204030204" pitchFamily="34" charset="0"/>
                        <a:cs typeface="Cambria Math" panose="02040503050406030204" pitchFamily="18" charset="0"/>
                      </a:rPr>
                      <m:t>⇔</m:t>
                    </m:r>
                    <m:d>
                      <m:dPr>
                        <m:begChr m:val="{"/>
                        <m:endChr m:val=""/>
                        <m:ctrlPr>
                          <a:rPr lang="en-US" b="1" i="1">
                            <a:latin typeface="Cambria Math" panose="02040503050406030204" pitchFamily="18" charset="0"/>
                            <a:ea typeface="Calibri" panose="020F0502020204030204" pitchFamily="34" charset="0"/>
                            <a:cs typeface="Times New Roman" panose="02020603050405020304" pitchFamily="18" charset="0"/>
                          </a:rPr>
                        </m:ctrlPr>
                      </m:dPr>
                      <m:e>
                        <m:eqArr>
                          <m:eqArrPr>
                            <m:ctrlPr>
                              <a:rPr lang="en-US" b="1" i="1">
                                <a:latin typeface="Cambria Math" panose="02040503050406030204" pitchFamily="18" charset="0"/>
                                <a:ea typeface="Calibri" panose="020F0502020204030204" pitchFamily="34" charset="0"/>
                                <a:cs typeface="Times New Roman" panose="02020603050405020304" pitchFamily="18" charset="0"/>
                              </a:rPr>
                            </m:ctrlPr>
                          </m:eqArrPr>
                          <m:e>
                            <m:r>
                              <a:rPr lang="en-US" b="1" i="1">
                                <a:latin typeface="Cambria Math" panose="02040503050406030204" pitchFamily="18" charset="0"/>
                                <a:ea typeface="Calibri" panose="020F0502020204030204" pitchFamily="34" charset="0"/>
                                <a:cs typeface="Times New Roman" panose="02020603050405020304" pitchFamily="18" charset="0"/>
                              </a:rPr>
                              <m:t>&amp;</m:t>
                            </m:r>
                            <m:r>
                              <a:rPr lang="en-US" b="1" i="1">
                                <a:latin typeface="Cambria Math" panose="02040503050406030204" pitchFamily="18" charset="0"/>
                                <a:ea typeface="Calibri" panose="020F0502020204030204" pitchFamily="34" charset="0"/>
                                <a:cs typeface="Times New Roman" panose="02020603050405020304" pitchFamily="18" charset="0"/>
                              </a:rPr>
                              <m:t>𝒙</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𝟐</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𝟑</m:t>
                            </m:r>
                            <m:r>
                              <a:rPr lang="en-US" b="1" i="1">
                                <a:latin typeface="Cambria Math" panose="02040503050406030204" pitchFamily="18" charset="0"/>
                                <a:ea typeface="Calibri" panose="020F0502020204030204" pitchFamily="34" charset="0"/>
                                <a:cs typeface="Times New Roman" panose="02020603050405020304" pitchFamily="18" charset="0"/>
                              </a:rPr>
                              <m:t>𝒕</m:t>
                            </m:r>
                          </m:e>
                          <m:e>
                            <m:r>
                              <a:rPr lang="en-US" b="1" i="1">
                                <a:latin typeface="Cambria Math" panose="02040503050406030204" pitchFamily="18" charset="0"/>
                                <a:ea typeface="Calibri" panose="020F0502020204030204" pitchFamily="34" charset="0"/>
                                <a:cs typeface="Times New Roman" panose="02020603050405020304" pitchFamily="18" charset="0"/>
                              </a:rPr>
                              <m:t>&amp;</m:t>
                            </m:r>
                            <m:r>
                              <a:rPr lang="en-US" b="1" i="1">
                                <a:latin typeface="Cambria Math" panose="02040503050406030204" pitchFamily="18" charset="0"/>
                                <a:ea typeface="Calibri" panose="020F0502020204030204" pitchFamily="34" charset="0"/>
                                <a:cs typeface="Times New Roman" panose="02020603050405020304" pitchFamily="18" charset="0"/>
                              </a:rPr>
                              <m:t>𝒚</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𝟏</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𝟒</m:t>
                            </m:r>
                            <m:r>
                              <a:rPr lang="en-US" b="1" i="1">
                                <a:latin typeface="Cambria Math" panose="02040503050406030204" pitchFamily="18" charset="0"/>
                                <a:ea typeface="Calibri" panose="020F0502020204030204" pitchFamily="34" charset="0"/>
                                <a:cs typeface="Times New Roman" panose="02020603050405020304" pitchFamily="18" charset="0"/>
                              </a:rPr>
                              <m:t>𝒕</m:t>
                            </m:r>
                          </m:e>
                        </m:eqArr>
                      </m:e>
                    </m:d>
                  </m:oMath>
                </a14:m>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Vậy</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libri" panose="020F0502020204030204" pitchFamily="34" charset="0"/>
                        <a:cs typeface="Times New Roman" panose="02020603050405020304" pitchFamily="18" charset="0"/>
                      </a:rPr>
                      <m:t>𝑴</m:t>
                    </m:r>
                    <m:d>
                      <m:dPr>
                        <m:ctrlPr>
                          <a:rPr lang="en-US" b="1" i="1">
                            <a:effectLst/>
                            <a:latin typeface="Cambria Math" panose="02040503050406030204" pitchFamily="18" charset="0"/>
                            <a:cs typeface="Times New Roman" panose="02020603050405020304" pitchFamily="18" charset="0"/>
                          </a:rPr>
                        </m:ctrlPr>
                      </m:dPr>
                      <m:e>
                        <m:r>
                          <a:rPr lang="en-US" b="1" i="1">
                            <a:latin typeface="Cambria Math" panose="02040503050406030204" pitchFamily="18" charset="0"/>
                            <a:ea typeface="Calibri" panose="020F0502020204030204" pitchFamily="34" charset="0"/>
                            <a:cs typeface="Times New Roman" panose="02020603050405020304" pitchFamily="18" charset="0"/>
                          </a:rPr>
                          <m:t>𝟐</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𝟑</m:t>
                        </m:r>
                        <m:r>
                          <a:rPr lang="en-US" b="1" i="1">
                            <a:latin typeface="Cambria Math" panose="02040503050406030204" pitchFamily="18" charset="0"/>
                            <a:ea typeface="Calibri" panose="020F0502020204030204" pitchFamily="34" charset="0"/>
                            <a:cs typeface="Times New Roman" panose="02020603050405020304" pitchFamily="18" charset="0"/>
                          </a:rPr>
                          <m:t>𝒕</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𝟏</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𝟒</m:t>
                        </m:r>
                        <m:r>
                          <a:rPr lang="en-US" b="1" i="1">
                            <a:latin typeface="Cambria Math" panose="02040503050406030204" pitchFamily="18" charset="0"/>
                            <a:ea typeface="Calibri" panose="020F0502020204030204" pitchFamily="34" charset="0"/>
                            <a:cs typeface="Times New Roman" panose="02020603050405020304" pitchFamily="18" charset="0"/>
                          </a:rPr>
                          <m:t>𝒕</m:t>
                        </m:r>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với</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ea typeface="Calibri" panose="020F0502020204030204" pitchFamily="34" charset="0"/>
                        <a:cs typeface="Times New Roman" panose="02020603050405020304" pitchFamily="18" charset="0"/>
                      </a:rPr>
                      <m:t>𝒕</m:t>
                    </m:r>
                    <m:r>
                      <a:rPr lang="en-US" b="1" i="1">
                        <a:latin typeface="Cambria Math" panose="02040503050406030204" pitchFamily="18" charset="0"/>
                        <a:ea typeface="Calibri" panose="020F0502020204030204" pitchFamily="34" charset="0"/>
                        <a:cs typeface="Cambria Math" panose="020405030504060302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ℝ</m:t>
                    </m:r>
                  </m:oMath>
                </a14:m>
                <a:r>
                  <a:rPr lang="en-US"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24"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04800" y="3048001"/>
                <a:ext cx="23698200" cy="10363199"/>
              </a:xfrm>
              <a:prstGeom prst="rect">
                <a:avLst/>
              </a:prstGeom>
              <a:blipFill>
                <a:blip r:embed="rId3"/>
                <a:stretch>
                  <a:fillRect l="-386" t="-470"/>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ounded Rectangle 1"/>
              <p:cNvSpPr/>
              <p:nvPr/>
            </p:nvSpPr>
            <p:spPr>
              <a:xfrm>
                <a:off x="304800" y="7162800"/>
                <a:ext cx="23698200" cy="624840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06000"/>
                  </a:lnSpc>
                  <a:spcAft>
                    <a:spcPts val="0"/>
                  </a:spcAft>
                </a:pPr>
                <a:r>
                  <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rPr>
                  <a:t>Cho </a:t>
                </a:r>
                <a:r>
                  <a:rPr lang="en-US" sz="4800" b="1" dirty="0" err="1">
                    <a:solidFill>
                      <a:schemeClr val="tx1"/>
                    </a:solidFill>
                    <a:latin typeface="Tahoma" panose="020B0604030504040204" pitchFamily="34" charset="0"/>
                    <a:ea typeface="Tahoma" panose="020B0604030504040204" pitchFamily="34" charset="0"/>
                    <a:cs typeface="Tahoma" panose="020B0604030504040204" pitchFamily="34" charset="0"/>
                  </a:rPr>
                  <a:t>đường</a:t>
                </a:r>
                <a:r>
                  <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latin typeface="Tahoma" panose="020B0604030504040204" pitchFamily="34" charset="0"/>
                    <a:ea typeface="Tahoma" panose="020B0604030504040204" pitchFamily="34" charset="0"/>
                    <a:cs typeface="Tahoma" panose="020B0604030504040204" pitchFamily="34" charset="0"/>
                  </a:rPr>
                  <a:t>thẳng</a:t>
                </a:r>
                <a:r>
                  <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chemeClr val="tx1"/>
                        </a:solidFill>
                        <a:effectLst/>
                        <a:latin typeface="Cambria Math" panose="02040503050406030204" pitchFamily="18" charset="0"/>
                        <a:cs typeface="Times New Roman" panose="02020603050405020304" pitchFamily="18" charset="0"/>
                      </a:rPr>
                      <m:t>𝜟</m:t>
                    </m:r>
                  </m:oMath>
                </a14:m>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đi</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qaua</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điểm</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chemeClr val="tx1"/>
                        </a:solidFill>
                        <a:effectLst/>
                        <a:latin typeface="Cambria Math" panose="02040503050406030204" pitchFamily="18" charset="0"/>
                        <a:cs typeface="Times New Roman" panose="02020603050405020304" pitchFamily="18" charset="0"/>
                      </a:rPr>
                      <m:t>𝑨</m:t>
                    </m:r>
                    <m:d>
                      <m:dPr>
                        <m:ctrlPr>
                          <a:rPr lang="en-US" sz="4800" b="1" i="1">
                            <a:solidFill>
                              <a:schemeClr val="tx1"/>
                            </a:solidFill>
                            <a:effectLst/>
                            <a:latin typeface="Cambria Math" panose="02040503050406030204" pitchFamily="18" charset="0"/>
                            <a:cs typeface="Times New Roman" panose="02020603050405020304" pitchFamily="18" charset="0"/>
                          </a:rPr>
                        </m:ctrlPr>
                      </m:dPr>
                      <m:e>
                        <m:sSub>
                          <m:sSubPr>
                            <m:ctrlPr>
                              <a:rPr lang="en-US" sz="4800" b="1" i="1">
                                <a:solidFill>
                                  <a:schemeClr val="tx1"/>
                                </a:solidFill>
                                <a:effectLst/>
                                <a:latin typeface="Cambria Math" panose="02040503050406030204" pitchFamily="18" charset="0"/>
                                <a:cs typeface="Times New Roman" panose="02020603050405020304" pitchFamily="18" charset="0"/>
                              </a:rPr>
                            </m:ctrlPr>
                          </m:sSubPr>
                          <m:e>
                            <m:r>
                              <a:rPr lang="en-US" sz="4800" b="1" i="1">
                                <a:solidFill>
                                  <a:schemeClr val="tx1"/>
                                </a:solidFill>
                                <a:effectLst/>
                                <a:latin typeface="Cambria Math" panose="02040503050406030204" pitchFamily="18" charset="0"/>
                                <a:cs typeface="Times New Roman" panose="02020603050405020304" pitchFamily="18" charset="0"/>
                              </a:rPr>
                              <m:t>𝒙</m:t>
                            </m:r>
                          </m:e>
                          <m:sub>
                            <m:r>
                              <a:rPr lang="en-US" sz="4800" b="1" i="1">
                                <a:solidFill>
                                  <a:schemeClr val="tx1"/>
                                </a:solidFill>
                                <a:effectLst/>
                                <a:latin typeface="Cambria Math" panose="02040503050406030204" pitchFamily="18" charset="0"/>
                                <a:cs typeface="Times New Roman" panose="02020603050405020304" pitchFamily="18" charset="0"/>
                              </a:rPr>
                              <m:t>𝟎</m:t>
                            </m:r>
                          </m:sub>
                        </m:sSub>
                        <m:r>
                          <a:rPr lang="en-US" sz="4800" b="1" i="1">
                            <a:solidFill>
                              <a:schemeClr val="tx1"/>
                            </a:solidFill>
                            <a:effectLst/>
                            <a:latin typeface="Cambria Math" panose="02040503050406030204" pitchFamily="18" charset="0"/>
                            <a:cs typeface="Times New Roman" panose="02020603050405020304" pitchFamily="18" charset="0"/>
                          </a:rPr>
                          <m:t>;</m:t>
                        </m:r>
                        <m:sSub>
                          <m:sSubPr>
                            <m:ctrlPr>
                              <a:rPr lang="en-US" sz="4800" b="1" i="1">
                                <a:solidFill>
                                  <a:schemeClr val="tx1"/>
                                </a:solidFill>
                                <a:effectLst/>
                                <a:latin typeface="Cambria Math" panose="02040503050406030204" pitchFamily="18" charset="0"/>
                                <a:cs typeface="Times New Roman" panose="02020603050405020304" pitchFamily="18" charset="0"/>
                              </a:rPr>
                            </m:ctrlPr>
                          </m:sSubPr>
                          <m:e>
                            <m:r>
                              <a:rPr lang="en-US" sz="4800" b="1" i="1">
                                <a:solidFill>
                                  <a:schemeClr val="tx1"/>
                                </a:solidFill>
                                <a:effectLst/>
                                <a:latin typeface="Cambria Math" panose="02040503050406030204" pitchFamily="18" charset="0"/>
                                <a:cs typeface="Times New Roman" panose="02020603050405020304" pitchFamily="18" charset="0"/>
                              </a:rPr>
                              <m:t>𝒚</m:t>
                            </m:r>
                          </m:e>
                          <m:sub>
                            <m:r>
                              <a:rPr lang="en-US" sz="4800" b="1" i="1">
                                <a:solidFill>
                                  <a:schemeClr val="tx1"/>
                                </a:solidFill>
                                <a:effectLst/>
                                <a:latin typeface="Cambria Math" panose="02040503050406030204" pitchFamily="18" charset="0"/>
                                <a:cs typeface="Times New Roman" panose="02020603050405020304" pitchFamily="18" charset="0"/>
                              </a:rPr>
                              <m:t>𝟎</m:t>
                            </m:r>
                          </m:sub>
                        </m:sSub>
                      </m:e>
                    </m:d>
                  </m:oMath>
                </a14:m>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và</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có</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vectơ</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chỉ</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phương</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solidFill>
                              <a:schemeClr val="tx1"/>
                            </a:solidFill>
                            <a:effectLst/>
                            <a:latin typeface="Cambria Math" panose="02040503050406030204" pitchFamily="18" charset="0"/>
                            <a:cs typeface="Times New Roman" panose="02020603050405020304" pitchFamily="18" charset="0"/>
                          </a:rPr>
                        </m:ctrlPr>
                      </m:accPr>
                      <m:e>
                        <m:r>
                          <a:rPr lang="en-US" sz="4800" b="1" i="1">
                            <a:solidFill>
                              <a:schemeClr val="tx1"/>
                            </a:solidFill>
                            <a:effectLst/>
                            <a:latin typeface="Cambria Math" panose="02040503050406030204" pitchFamily="18" charset="0"/>
                            <a:cs typeface="Times New Roman" panose="02020603050405020304" pitchFamily="18" charset="0"/>
                          </a:rPr>
                          <m:t>𝒖</m:t>
                        </m:r>
                      </m:e>
                    </m:acc>
                    <m:d>
                      <m:dPr>
                        <m:ctrlPr>
                          <a:rPr lang="en-US" sz="4800" b="1" i="1">
                            <a:solidFill>
                              <a:schemeClr val="tx1"/>
                            </a:solidFill>
                            <a:effectLst/>
                            <a:latin typeface="Cambria Math" panose="02040503050406030204" pitchFamily="18" charset="0"/>
                            <a:cs typeface="Times New Roman" panose="02020603050405020304" pitchFamily="18" charset="0"/>
                          </a:rPr>
                        </m:ctrlPr>
                      </m:dPr>
                      <m:e>
                        <m:r>
                          <a:rPr lang="en-US" sz="4800" b="1" i="1">
                            <a:solidFill>
                              <a:schemeClr val="tx1"/>
                            </a:solidFill>
                            <a:effectLst/>
                            <a:latin typeface="Cambria Math" panose="02040503050406030204" pitchFamily="18" charset="0"/>
                            <a:cs typeface="Times New Roman" panose="02020603050405020304" pitchFamily="18" charset="0"/>
                          </a:rPr>
                          <m:t>𝒂</m:t>
                        </m:r>
                        <m:r>
                          <a:rPr lang="en-US" sz="4800" b="1" i="1">
                            <a:solidFill>
                              <a:schemeClr val="tx1"/>
                            </a:solidFill>
                            <a:effectLst/>
                            <a:latin typeface="Cambria Math" panose="02040503050406030204" pitchFamily="18" charset="0"/>
                            <a:cs typeface="Times New Roman" panose="02020603050405020304" pitchFamily="18" charset="0"/>
                          </a:rPr>
                          <m:t>;</m:t>
                        </m:r>
                        <m:r>
                          <a:rPr lang="en-US" sz="4800" b="1" i="1">
                            <a:solidFill>
                              <a:schemeClr val="tx1"/>
                            </a:solidFill>
                            <a:effectLst/>
                            <a:latin typeface="Cambria Math" panose="02040503050406030204" pitchFamily="18" charset="0"/>
                            <a:cs typeface="Times New Roman" panose="02020603050405020304" pitchFamily="18" charset="0"/>
                          </a:rPr>
                          <m:t>𝒃</m:t>
                        </m:r>
                      </m:e>
                    </m:d>
                  </m:oMath>
                </a14:m>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Khi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đó</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điểm</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chemeClr val="tx1"/>
                        </a:solidFill>
                        <a:effectLst/>
                        <a:latin typeface="Cambria Math" panose="02040503050406030204" pitchFamily="18" charset="0"/>
                        <a:cs typeface="Times New Roman" panose="02020603050405020304" pitchFamily="18" charset="0"/>
                      </a:rPr>
                      <m:t>𝑴</m:t>
                    </m:r>
                    <m:d>
                      <m:dPr>
                        <m:ctrlPr>
                          <a:rPr lang="en-US" sz="4800" b="1" i="1">
                            <a:solidFill>
                              <a:schemeClr val="tx1"/>
                            </a:solidFill>
                            <a:effectLst/>
                            <a:latin typeface="Cambria Math" panose="02040503050406030204" pitchFamily="18" charset="0"/>
                            <a:cs typeface="Times New Roman" panose="02020603050405020304" pitchFamily="18" charset="0"/>
                          </a:rPr>
                        </m:ctrlPr>
                      </m:dPr>
                      <m:e>
                        <m:r>
                          <a:rPr lang="en-US" sz="4800" b="1" i="1">
                            <a:solidFill>
                              <a:schemeClr val="tx1"/>
                            </a:solidFill>
                            <a:effectLst/>
                            <a:latin typeface="Cambria Math" panose="02040503050406030204" pitchFamily="18" charset="0"/>
                            <a:cs typeface="Times New Roman" panose="02020603050405020304" pitchFamily="18" charset="0"/>
                          </a:rPr>
                          <m:t>𝒙</m:t>
                        </m:r>
                        <m:r>
                          <a:rPr lang="en-US" sz="4800" b="1" i="1">
                            <a:solidFill>
                              <a:schemeClr val="tx1"/>
                            </a:solidFill>
                            <a:effectLst/>
                            <a:latin typeface="Cambria Math" panose="02040503050406030204" pitchFamily="18" charset="0"/>
                            <a:cs typeface="Times New Roman" panose="02020603050405020304" pitchFamily="18" charset="0"/>
                          </a:rPr>
                          <m:t>;</m:t>
                        </m:r>
                        <m:r>
                          <a:rPr lang="en-US" sz="4800" b="1" i="1">
                            <a:solidFill>
                              <a:schemeClr val="tx1"/>
                            </a:solidFill>
                            <a:effectLst/>
                            <a:latin typeface="Cambria Math" panose="02040503050406030204" pitchFamily="18" charset="0"/>
                            <a:cs typeface="Times New Roman" panose="02020603050405020304" pitchFamily="18" charset="0"/>
                          </a:rPr>
                          <m:t>𝒚</m:t>
                        </m:r>
                      </m:e>
                    </m:d>
                  </m:oMath>
                </a14:m>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thuộc</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đường</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thẳng</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chemeClr val="tx1"/>
                        </a:solidFill>
                        <a:effectLst/>
                        <a:latin typeface="Cambria Math" panose="02040503050406030204" pitchFamily="18" charset="0"/>
                        <a:cs typeface="Times New Roman" panose="02020603050405020304" pitchFamily="18" charset="0"/>
                      </a:rPr>
                      <m:t>𝜟</m:t>
                    </m:r>
                  </m:oMath>
                </a14:m>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khi</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và</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chỉ</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khi</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tồn</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tại</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số</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thực</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chemeClr val="tx1"/>
                        </a:solidFill>
                        <a:effectLst/>
                        <a:latin typeface="Cambria Math" panose="02040503050406030204" pitchFamily="18" charset="0"/>
                        <a:cs typeface="Times New Roman" panose="02020603050405020304" pitchFamily="18" charset="0"/>
                      </a:rPr>
                      <m:t>𝒕</m:t>
                    </m:r>
                  </m:oMath>
                </a14:m>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sao</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cho</a:t>
                </a:r>
                <a:endPar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06000"/>
                  </a:lnSpc>
                  <a:spcAft>
                    <a:spcPts val="0"/>
                  </a:spcAft>
                </a:pP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solidFill>
                              <a:schemeClr val="tx1"/>
                            </a:solidFill>
                            <a:effectLst/>
                            <a:latin typeface="Cambria Math" panose="02040503050406030204" pitchFamily="18" charset="0"/>
                            <a:cs typeface="Times New Roman" panose="02020603050405020304" pitchFamily="18" charset="0"/>
                          </a:rPr>
                        </m:ctrlPr>
                      </m:accPr>
                      <m:e>
                        <m:r>
                          <a:rPr lang="en-US" sz="4800" b="1" i="1">
                            <a:solidFill>
                              <a:schemeClr val="tx1"/>
                            </a:solidFill>
                            <a:effectLst/>
                            <a:latin typeface="Cambria Math" panose="02040503050406030204" pitchFamily="18" charset="0"/>
                            <a:cs typeface="Times New Roman" panose="02020603050405020304" pitchFamily="18" charset="0"/>
                          </a:rPr>
                          <m:t>𝑨𝑴</m:t>
                        </m:r>
                      </m:e>
                    </m:acc>
                    <m:r>
                      <a:rPr lang="en-US" sz="4800" b="1" i="1">
                        <a:solidFill>
                          <a:schemeClr val="tx1"/>
                        </a:solidFill>
                        <a:effectLst/>
                        <a:latin typeface="Cambria Math" panose="02040503050406030204" pitchFamily="18" charset="0"/>
                        <a:cs typeface="Times New Roman" panose="02020603050405020304" pitchFamily="18" charset="0"/>
                      </a:rPr>
                      <m:t>=</m:t>
                    </m:r>
                    <m:r>
                      <a:rPr lang="en-US" sz="4800" b="1" i="1">
                        <a:solidFill>
                          <a:schemeClr val="tx1"/>
                        </a:solidFill>
                        <a:effectLst/>
                        <a:latin typeface="Cambria Math" panose="02040503050406030204" pitchFamily="18" charset="0"/>
                        <a:cs typeface="Times New Roman" panose="02020603050405020304" pitchFamily="18" charset="0"/>
                      </a:rPr>
                      <m:t>𝒕</m:t>
                    </m:r>
                    <m:acc>
                      <m:accPr>
                        <m:chr m:val="⃗"/>
                        <m:ctrlPr>
                          <a:rPr lang="en-US" sz="4800" b="1" i="1">
                            <a:solidFill>
                              <a:schemeClr val="tx1"/>
                            </a:solidFill>
                            <a:effectLst/>
                            <a:latin typeface="Cambria Math" panose="02040503050406030204" pitchFamily="18" charset="0"/>
                            <a:cs typeface="Times New Roman" panose="02020603050405020304" pitchFamily="18" charset="0"/>
                          </a:rPr>
                        </m:ctrlPr>
                      </m:accPr>
                      <m:e>
                        <m:r>
                          <a:rPr lang="en-US" sz="4800" b="1" i="1">
                            <a:solidFill>
                              <a:schemeClr val="tx1"/>
                            </a:solidFill>
                            <a:effectLst/>
                            <a:latin typeface="Cambria Math" panose="02040503050406030204" pitchFamily="18" charset="0"/>
                            <a:cs typeface="Times New Roman" panose="02020603050405020304" pitchFamily="18" charset="0"/>
                          </a:rPr>
                          <m:t>𝒖</m:t>
                        </m:r>
                      </m:e>
                    </m:acc>
                  </m:oMath>
                </a14:m>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hay </a:t>
                </a:r>
              </a:p>
              <a:p>
                <a:pPr algn="just">
                  <a:lnSpc>
                    <a:spcPct val="106000"/>
                  </a:lnSpc>
                  <a:spcAft>
                    <a:spcPts val="0"/>
                  </a:spcAft>
                </a:pP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800" b="1" i="1">
                            <a:solidFill>
                              <a:schemeClr val="tx1"/>
                            </a:solidFill>
                            <a:effectLst/>
                            <a:latin typeface="Cambria Math" panose="02040503050406030204" pitchFamily="18" charset="0"/>
                            <a:cs typeface="Times New Roman" panose="02020603050405020304" pitchFamily="18" charset="0"/>
                          </a:rPr>
                        </m:ctrlPr>
                      </m:dPr>
                      <m:e>
                        <m:eqArr>
                          <m:eqArrPr>
                            <m:ctrlPr>
                              <a:rPr lang="en-US" sz="4800" b="1" i="1">
                                <a:solidFill>
                                  <a:schemeClr val="tx1"/>
                                </a:solidFill>
                                <a:effectLst/>
                                <a:latin typeface="Cambria Math" panose="02040503050406030204" pitchFamily="18" charset="0"/>
                                <a:cs typeface="Times New Roman" panose="02020603050405020304" pitchFamily="18" charset="0"/>
                              </a:rPr>
                            </m:ctrlPr>
                          </m:eqArrPr>
                          <m:e>
                            <m:r>
                              <a:rPr lang="en-US" sz="4800" b="1" i="1">
                                <a:solidFill>
                                  <a:schemeClr val="tx1"/>
                                </a:solidFill>
                                <a:effectLst/>
                                <a:latin typeface="Cambria Math" panose="02040503050406030204" pitchFamily="18" charset="0"/>
                                <a:cs typeface="Times New Roman" panose="02020603050405020304" pitchFamily="18" charset="0"/>
                              </a:rPr>
                              <m:t>𝒙</m:t>
                            </m:r>
                            <m:r>
                              <a:rPr lang="en-US" sz="4800" b="1" i="1">
                                <a:solidFill>
                                  <a:schemeClr val="tx1"/>
                                </a:solidFill>
                                <a:effectLst/>
                                <a:latin typeface="Cambria Math" panose="02040503050406030204" pitchFamily="18" charset="0"/>
                                <a:cs typeface="Times New Roman" panose="02020603050405020304" pitchFamily="18" charset="0"/>
                              </a:rPr>
                              <m:t>=</m:t>
                            </m:r>
                            <m:sSub>
                              <m:sSubPr>
                                <m:ctrlPr>
                                  <a:rPr lang="en-US" sz="4800" b="1" i="1">
                                    <a:solidFill>
                                      <a:schemeClr val="tx1"/>
                                    </a:solidFill>
                                    <a:effectLst/>
                                    <a:latin typeface="Cambria Math" panose="02040503050406030204" pitchFamily="18" charset="0"/>
                                    <a:cs typeface="Times New Roman" panose="02020603050405020304" pitchFamily="18" charset="0"/>
                                  </a:rPr>
                                </m:ctrlPr>
                              </m:sSubPr>
                              <m:e>
                                <m:r>
                                  <a:rPr lang="en-US" sz="4800" b="1" i="1">
                                    <a:solidFill>
                                      <a:schemeClr val="tx1"/>
                                    </a:solidFill>
                                    <a:effectLst/>
                                    <a:latin typeface="Cambria Math" panose="02040503050406030204" pitchFamily="18" charset="0"/>
                                    <a:cs typeface="Times New Roman" panose="02020603050405020304" pitchFamily="18" charset="0"/>
                                  </a:rPr>
                                  <m:t>𝒙</m:t>
                                </m:r>
                              </m:e>
                              <m:sub>
                                <m:r>
                                  <a:rPr lang="en-US" sz="4800" b="1" i="1">
                                    <a:solidFill>
                                      <a:schemeClr val="tx1"/>
                                    </a:solidFill>
                                    <a:effectLst/>
                                    <a:latin typeface="Cambria Math" panose="02040503050406030204" pitchFamily="18" charset="0"/>
                                    <a:cs typeface="Times New Roman" panose="02020603050405020304" pitchFamily="18" charset="0"/>
                                  </a:rPr>
                                  <m:t>𝟎</m:t>
                                </m:r>
                              </m:sub>
                            </m:sSub>
                            <m:r>
                              <a:rPr lang="en-US" sz="4800" b="1" i="1">
                                <a:solidFill>
                                  <a:schemeClr val="tx1"/>
                                </a:solidFill>
                                <a:effectLst/>
                                <a:latin typeface="Cambria Math" panose="02040503050406030204" pitchFamily="18" charset="0"/>
                                <a:cs typeface="Times New Roman" panose="02020603050405020304" pitchFamily="18" charset="0"/>
                              </a:rPr>
                              <m:t>+</m:t>
                            </m:r>
                            <m:r>
                              <a:rPr lang="en-US" sz="4800" b="1" i="1">
                                <a:solidFill>
                                  <a:schemeClr val="tx1"/>
                                </a:solidFill>
                                <a:effectLst/>
                                <a:latin typeface="Cambria Math" panose="02040503050406030204" pitchFamily="18" charset="0"/>
                                <a:cs typeface="Times New Roman" panose="02020603050405020304" pitchFamily="18" charset="0"/>
                              </a:rPr>
                              <m:t>𝒂𝒕</m:t>
                            </m:r>
                          </m:e>
                          <m:e>
                            <m:r>
                              <a:rPr lang="en-US" sz="4800" b="1" i="1">
                                <a:solidFill>
                                  <a:schemeClr val="tx1"/>
                                </a:solidFill>
                                <a:effectLst/>
                                <a:latin typeface="Cambria Math" panose="02040503050406030204" pitchFamily="18" charset="0"/>
                                <a:cs typeface="Times New Roman" panose="02020603050405020304" pitchFamily="18" charset="0"/>
                              </a:rPr>
                              <m:t>𝒚</m:t>
                            </m:r>
                            <m:r>
                              <a:rPr lang="en-US" sz="4800" b="1" i="1">
                                <a:solidFill>
                                  <a:schemeClr val="tx1"/>
                                </a:solidFill>
                                <a:effectLst/>
                                <a:latin typeface="Cambria Math" panose="02040503050406030204" pitchFamily="18" charset="0"/>
                                <a:cs typeface="Times New Roman" panose="02020603050405020304" pitchFamily="18" charset="0"/>
                              </a:rPr>
                              <m:t>=</m:t>
                            </m:r>
                            <m:sSub>
                              <m:sSubPr>
                                <m:ctrlPr>
                                  <a:rPr lang="en-US" sz="4800" b="1" i="1">
                                    <a:solidFill>
                                      <a:schemeClr val="tx1"/>
                                    </a:solidFill>
                                    <a:effectLst/>
                                    <a:latin typeface="Cambria Math" panose="02040503050406030204" pitchFamily="18" charset="0"/>
                                    <a:cs typeface="Times New Roman" panose="02020603050405020304" pitchFamily="18" charset="0"/>
                                  </a:rPr>
                                </m:ctrlPr>
                              </m:sSubPr>
                              <m:e>
                                <m:r>
                                  <a:rPr lang="en-US" sz="4800" b="1" i="1">
                                    <a:solidFill>
                                      <a:schemeClr val="tx1"/>
                                    </a:solidFill>
                                    <a:effectLst/>
                                    <a:latin typeface="Cambria Math" panose="02040503050406030204" pitchFamily="18" charset="0"/>
                                    <a:cs typeface="Times New Roman" panose="02020603050405020304" pitchFamily="18" charset="0"/>
                                  </a:rPr>
                                  <m:t>𝒚</m:t>
                                </m:r>
                              </m:e>
                              <m:sub>
                                <m:r>
                                  <a:rPr lang="en-US" sz="4800" b="1" i="1">
                                    <a:solidFill>
                                      <a:schemeClr val="tx1"/>
                                    </a:solidFill>
                                    <a:effectLst/>
                                    <a:latin typeface="Cambria Math" panose="02040503050406030204" pitchFamily="18" charset="0"/>
                                    <a:cs typeface="Times New Roman" panose="02020603050405020304" pitchFamily="18" charset="0"/>
                                  </a:rPr>
                                  <m:t>𝟎</m:t>
                                </m:r>
                              </m:sub>
                            </m:sSub>
                            <m:r>
                              <a:rPr lang="en-US" sz="4800" b="1" i="1">
                                <a:solidFill>
                                  <a:schemeClr val="tx1"/>
                                </a:solidFill>
                                <a:effectLst/>
                                <a:latin typeface="Cambria Math" panose="02040503050406030204" pitchFamily="18" charset="0"/>
                                <a:cs typeface="Times New Roman" panose="02020603050405020304" pitchFamily="18" charset="0"/>
                              </a:rPr>
                              <m:t>+</m:t>
                            </m:r>
                            <m:r>
                              <a:rPr lang="en-US" sz="4800" b="1" i="1">
                                <a:solidFill>
                                  <a:schemeClr val="tx1"/>
                                </a:solidFill>
                                <a:effectLst/>
                                <a:latin typeface="Cambria Math" panose="02040503050406030204" pitchFamily="18" charset="0"/>
                                <a:cs typeface="Times New Roman" panose="02020603050405020304" pitchFamily="18" charset="0"/>
                              </a:rPr>
                              <m:t>𝒃𝒕</m:t>
                            </m:r>
                          </m:e>
                        </m:eqArr>
                      </m:e>
                    </m:d>
                  </m:oMath>
                </a14:m>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(2)</a:t>
                </a:r>
              </a:p>
              <a:p>
                <a:pPr algn="just"/>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Hệ</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(2)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được</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gọi</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là</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phương</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trình</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tham</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số</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của</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đường</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thẳng</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𝜟</m:t>
                    </m:r>
                  </m:oMath>
                </a14:m>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là</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tham</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số</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a:t>
                </a:r>
                <a:endPar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 name="Rounded Rectangle 1"/>
              <p:cNvSpPr>
                <a:spLocks noRot="1" noChangeAspect="1" noMove="1" noResize="1" noEditPoints="1" noAdjustHandles="1" noChangeArrowheads="1" noChangeShapeType="1" noTextEdit="1"/>
              </p:cNvSpPr>
              <p:nvPr/>
            </p:nvSpPr>
            <p:spPr>
              <a:xfrm>
                <a:off x="304800" y="7162800"/>
                <a:ext cx="23698200" cy="6248400"/>
              </a:xfrm>
              <a:prstGeom prst="roundRect">
                <a:avLst/>
              </a:prstGeom>
              <a:blipFill>
                <a:blip r:embed="rId4"/>
                <a:stretch>
                  <a:fillRect b="-974"/>
                </a:stretch>
              </a:blipFill>
            </p:spPr>
            <p:txBody>
              <a:bodyPr/>
              <a:lstStyle/>
              <a:p>
                <a:r>
                  <a:rPr lang="en-US">
                    <a:noFill/>
                  </a:rPr>
                  <a:t> </a:t>
                </a:r>
              </a:p>
            </p:txBody>
          </p:sp>
        </mc:Fallback>
      </mc:AlternateContent>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27897769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4">
                                            <p:txEl>
                                              <p:pRg st="0" end="0"/>
                                            </p:txEl>
                                          </p:spTgt>
                                        </p:tgtEl>
                                        <p:attrNameLst>
                                          <p:attrName>style.visibility</p:attrName>
                                        </p:attrNameLst>
                                      </p:cBhvr>
                                      <p:to>
                                        <p:strVal val="visible"/>
                                      </p:to>
                                    </p:set>
                                    <p:animEffect transition="in" filter="fade">
                                      <p:cBhvr>
                                        <p:cTn id="16" dur="500"/>
                                        <p:tgtEl>
                                          <p:spTgt spid="24">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4">
                                            <p:txEl>
                                              <p:pRg st="1" end="1"/>
                                            </p:txEl>
                                          </p:spTgt>
                                        </p:tgtEl>
                                        <p:attrNameLst>
                                          <p:attrName>style.visibility</p:attrName>
                                        </p:attrNameLst>
                                      </p:cBhvr>
                                      <p:to>
                                        <p:strVal val="visible"/>
                                      </p:to>
                                    </p:set>
                                    <p:animEffect transition="in" filter="fade">
                                      <p:cBhvr>
                                        <p:cTn id="21" dur="500"/>
                                        <p:tgtEl>
                                          <p:spTgt spid="24">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4">
                                            <p:txEl>
                                              <p:pRg st="2" end="2"/>
                                            </p:txEl>
                                          </p:spTgt>
                                        </p:tgtEl>
                                        <p:attrNameLst>
                                          <p:attrName>style.visibility</p:attrName>
                                        </p:attrNameLst>
                                      </p:cBhvr>
                                      <p:to>
                                        <p:strVal val="visible"/>
                                      </p:to>
                                    </p:set>
                                    <p:animEffect transition="in" filter="fade">
                                      <p:cBhvr>
                                        <p:cTn id="26" dur="500"/>
                                        <p:tgtEl>
                                          <p:spTgt spid="24">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24" grpId="0" animBg="1"/>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81000" y="1879601"/>
            <a:ext cx="23622000" cy="11684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lvl="0" defTabSz="2177278">
              <a:lnSpc>
                <a:spcPct val="107000"/>
              </a:lnSpc>
              <a:spcBef>
                <a:spcPts val="0"/>
              </a:spcBef>
              <a:spcAft>
                <a:spcPts val="800"/>
              </a:spcAft>
            </a:pP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2. PHƯƠNG TRÌNH THAM SỐ CỦA ĐƯỜNG THẲNG</a:t>
            </a:r>
            <a:endParaRPr lang="en-US" sz="48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14822BB7-DB89-4357-87F0-6E511FC44A6A}"/>
                  </a:ext>
                </a:extLst>
              </p:cNvPr>
              <p:cNvSpPr txBox="1">
                <a:spLocks/>
              </p:cNvSpPr>
              <p:nvPr/>
            </p:nvSpPr>
            <p:spPr>
              <a:xfrm>
                <a:off x="381000" y="3048001"/>
                <a:ext cx="10996920" cy="103631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07000"/>
                  </a:lnSpc>
                  <a:spcAft>
                    <a:spcPts val="800"/>
                  </a:spcAft>
                </a:pP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Lập</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tham</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𝜟</m:t>
                    </m:r>
                  </m:oMath>
                </a14:m>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đi</a:t>
                </a:r>
                <a:r>
                  <a:rPr lang="en-US" b="1" dirty="0">
                    <a:effectLst/>
                    <a:latin typeface="Tahoma" panose="020B0604030504040204" pitchFamily="34" charset="0"/>
                    <a:ea typeface="Tahoma" panose="020B0604030504040204" pitchFamily="34" charset="0"/>
                    <a:cs typeface="Tahoma" panose="020B0604030504040204" pitchFamily="34" charset="0"/>
                  </a:rPr>
                  <a:t> qua </a:t>
                </a:r>
                <a:r>
                  <a:rPr lang="en-US" b="1" dirty="0" err="1">
                    <a:effectLst/>
                    <a:latin typeface="Tahoma" panose="020B0604030504040204" pitchFamily="34" charset="0"/>
                    <a:ea typeface="Tahoma" panose="020B0604030504040204" pitchFamily="34" charset="0"/>
                    <a:cs typeface="Tahoma" panose="020B0604030504040204" pitchFamily="34" charset="0"/>
                  </a:rPr>
                  <a:t>điểm</a:t>
                </a:r>
                <a:r>
                  <a:rPr lang="en-US"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𝑨</m:t>
                    </m:r>
                    <m:d>
                      <m:dPr>
                        <m:ctrlPr>
                          <a:rPr lang="en-US"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𝟐</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𝟑</m:t>
                        </m:r>
                      </m:e>
                    </m:d>
                  </m:oMath>
                </a14:m>
                <a:r>
                  <a:rPr lang="en-US" b="1" dirty="0" err="1">
                    <a:effectLst/>
                    <a:latin typeface="Tahoma" panose="020B0604030504040204" pitchFamily="34" charset="0"/>
                    <a:ea typeface="Tahoma" panose="020B0604030504040204" pitchFamily="34" charset="0"/>
                    <a:cs typeface="Tahoma" panose="020B0604030504040204" pitchFamily="34" charset="0"/>
                  </a:rPr>
                  <a:t>và</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có</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vectơ</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chỉ</a:t>
                </a:r>
                <a:r>
                  <a:rPr lang="en-US" b="1" dirty="0">
                    <a:effectLst/>
                    <a:latin typeface="Tahoma" panose="020B0604030504040204" pitchFamily="34" charset="0"/>
                    <a:ea typeface="Tahoma" panose="020B0604030504040204" pitchFamily="34" charset="0"/>
                    <a:cs typeface="Tahoma" panose="020B0604030504040204" pitchFamily="34" charset="0"/>
                  </a:rPr>
                  <a:t> </a:t>
                </a:r>
                <a:r>
                  <a:rPr lang="en-US" b="1" dirty="0" err="1">
                    <a:effectLst/>
                    <a:latin typeface="Tahoma" panose="020B0604030504040204" pitchFamily="34" charset="0"/>
                    <a:ea typeface="Tahoma" panose="020B0604030504040204" pitchFamily="34" charset="0"/>
                    <a:cs typeface="Tahoma" panose="020B0604030504040204" pitchFamily="34" charset="0"/>
                  </a:rPr>
                  <a:t>phương</a:t>
                </a:r>
                <a:r>
                  <a:rPr lang="en-US"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𝒖</m:t>
                        </m:r>
                      </m:e>
                    </m:acc>
                    <m:d>
                      <m:dPr>
                        <m:ctrlPr>
                          <a:rPr lang="en-US"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𝟒</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b="1" i="1" smtClean="0">
                            <a:effectLst/>
                            <a:latin typeface="Cambria Math" panose="02040503050406030204" pitchFamily="18" charset="0"/>
                            <a:ea typeface="Calibri" panose="020F0502020204030204" pitchFamily="34" charset="0"/>
                            <a:cs typeface="Times New Roman" panose="02020603050405020304" pitchFamily="18" charset="0"/>
                          </a:rPr>
                          <m:t>𝟏</m:t>
                        </m:r>
                      </m:e>
                    </m:d>
                  </m:oMath>
                </a14:m>
                <a:r>
                  <a:rPr lang="en-US" b="1" dirty="0">
                    <a:effectLst/>
                    <a:latin typeface="Tahoma" panose="020B0604030504040204" pitchFamily="34" charset="0"/>
                    <a:ea typeface="Tahoma" panose="020B0604030504040204" pitchFamily="34" charset="0"/>
                    <a:cs typeface="Tahoma" panose="020B0604030504040204" pitchFamily="34" charset="0"/>
                  </a:rPr>
                  <a:t>.</a:t>
                </a:r>
              </a:p>
              <a:p>
                <a:pPr marL="0" indent="0">
                  <a:lnSpc>
                    <a:spcPct val="107000"/>
                  </a:lnSpc>
                  <a:spcAft>
                    <a:spcPts val="800"/>
                  </a:spcAft>
                  <a:buNone/>
                </a:pPr>
                <a:r>
                  <a:rPr lang="en-US" b="1" u="sng"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endParaRPr lang="en-US" b="1" u="sng"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nSpc>
                    <a:spcPct val="107000"/>
                  </a:lnSpc>
                  <a:spcAft>
                    <a:spcPts val="800"/>
                  </a:spcAft>
                  <a:buNone/>
                </a:pP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tham</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𝜟</m:t>
                    </m:r>
                  </m:oMath>
                </a14:m>
                <a:r>
                  <a:rPr lang="en-US" b="1" dirty="0">
                    <a:latin typeface="Tahoma" panose="020B0604030504040204" pitchFamily="34" charset="0"/>
                    <a:ea typeface="Tahoma" panose="020B0604030504040204" pitchFamily="34" charset="0"/>
                    <a:cs typeface="Tahoma" panose="020B0604030504040204" pitchFamily="34" charset="0"/>
                  </a:rPr>
                  <a:t> là</a:t>
                </a:r>
              </a:p>
              <a:p>
                <a:pPr marL="0" indent="0">
                  <a:lnSpc>
                    <a:spcPct val="107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 </a:t>
                </a:r>
              </a:p>
              <a:p>
                <a:pPr marL="0" indent="0">
                  <a:lnSpc>
                    <a:spcPct val="107000"/>
                  </a:lnSpc>
                  <a:spcAft>
                    <a:spcPts val="800"/>
                  </a:spcAft>
                  <a:buNone/>
                </a:pPr>
                <a:r>
                  <a:rPr lang="en-US" b="1" dirty="0">
                    <a:ea typeface="Calibri" panose="020F0502020204030204" pitchFamily="34" charset="0"/>
                    <a:cs typeface="Cambria Math" panose="02040503050406030204" pitchFamily="18" charset="0"/>
                  </a:rPr>
                  <a:t>	   </a:t>
                </a:r>
                <a14:m>
                  <m:oMath xmlns:m="http://schemas.openxmlformats.org/officeDocument/2006/math">
                    <m:r>
                      <a:rPr lang="en-US" b="1" i="1">
                        <a:latin typeface="Cambria Math" panose="02040503050406030204" pitchFamily="18" charset="0"/>
                        <a:ea typeface="Calibri" panose="020F0502020204030204" pitchFamily="34" charset="0"/>
                        <a:cs typeface="Cambria Math" panose="02040503050406030204" pitchFamily="18" charset="0"/>
                      </a:rPr>
                      <m:t>⇔ </m:t>
                    </m:r>
                    <m:d>
                      <m:dPr>
                        <m:begChr m:val="{"/>
                        <m:endChr m:val=""/>
                        <m:ctrlPr>
                          <a:rPr lang="en-US" b="1" i="1">
                            <a:latin typeface="Cambria Math" panose="02040503050406030204" pitchFamily="18" charset="0"/>
                            <a:ea typeface="Calibri" panose="020F0502020204030204" pitchFamily="34" charset="0"/>
                            <a:cs typeface="Times New Roman" panose="02020603050405020304" pitchFamily="18" charset="0"/>
                          </a:rPr>
                        </m:ctrlPr>
                      </m:dPr>
                      <m:e>
                        <m:eqArr>
                          <m:eqArrPr>
                            <m:ctrlPr>
                              <a:rPr lang="en-US" b="1" i="1">
                                <a:latin typeface="Cambria Math" panose="02040503050406030204" pitchFamily="18" charset="0"/>
                                <a:ea typeface="Calibri" panose="020F0502020204030204" pitchFamily="34" charset="0"/>
                                <a:cs typeface="Times New Roman" panose="02020603050405020304" pitchFamily="18" charset="0"/>
                              </a:rPr>
                            </m:ctrlPr>
                          </m:eqArrPr>
                          <m:e>
                            <m:r>
                              <a:rPr lang="en-US" b="1" i="1" smtClean="0">
                                <a:latin typeface="Cambria Math" panose="02040503050406030204" pitchFamily="18" charset="0"/>
                                <a:ea typeface="Calibri" panose="020F0502020204030204" pitchFamily="34" charset="0"/>
                                <a:cs typeface="Times New Roman" panose="02020603050405020304" pitchFamily="18" charset="0"/>
                              </a:rPr>
                              <m:t>&amp;</m:t>
                            </m:r>
                            <m:r>
                              <a:rPr lang="en-US" b="1" i="1" smtClean="0">
                                <a:latin typeface="Cambria Math" panose="02040503050406030204" pitchFamily="18" charset="0"/>
                                <a:ea typeface="Calibri" panose="020F0502020204030204" pitchFamily="34" charset="0"/>
                                <a:cs typeface="Times New Roman" panose="02020603050405020304" pitchFamily="18" charset="0"/>
                              </a:rPr>
                              <m:t>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𝟐</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𝟒</m:t>
                            </m:r>
                            <m:r>
                              <a:rPr lang="en-US" b="1" i="1" smtClean="0">
                                <a:latin typeface="Cambria Math" panose="02040503050406030204" pitchFamily="18" charset="0"/>
                                <a:ea typeface="Calibri" panose="020F0502020204030204" pitchFamily="34" charset="0"/>
                                <a:cs typeface="Times New Roman" panose="02020603050405020304" pitchFamily="18" charset="0"/>
                              </a:rPr>
                              <m:t>𝒕</m:t>
                            </m:r>
                          </m:e>
                          <m:e>
                            <m:r>
                              <a:rPr lang="en-US" b="1" i="1" smtClean="0">
                                <a:latin typeface="Cambria Math" panose="02040503050406030204" pitchFamily="18" charset="0"/>
                                <a:ea typeface="Calibri" panose="020F0502020204030204" pitchFamily="34" charset="0"/>
                                <a:cs typeface="Times New Roman" panose="02020603050405020304" pitchFamily="18" charset="0"/>
                              </a:rPr>
                              <m:t>&amp;</m:t>
                            </m:r>
                            <m:r>
                              <a:rPr lang="en-US" b="1" i="1" smtClean="0">
                                <a:latin typeface="Cambria Math" panose="02040503050406030204" pitchFamily="18" charset="0"/>
                                <a:ea typeface="Calibri" panose="020F0502020204030204" pitchFamily="34" charset="0"/>
                                <a:cs typeface="Times New Roman" panose="02020603050405020304" pitchFamily="18" charset="0"/>
                              </a:rPr>
                              <m:t>𝒚</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𝟑</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𝒕</m:t>
                            </m:r>
                          </m:e>
                        </m:eqArr>
                      </m:e>
                    </m:d>
                  </m:oMath>
                </a14:m>
                <a:r>
                  <a:rPr lang="en-US" b="1" dirty="0">
                    <a:latin typeface="Tahoma" panose="020B0604030504040204" pitchFamily="34" charset="0"/>
                    <a:ea typeface="Tahoma" panose="020B0604030504040204" pitchFamily="34" charset="0"/>
                    <a:cs typeface="Tahoma" panose="020B0604030504040204" pitchFamily="34" charset="0"/>
                  </a:rPr>
                  <a:t>.</a:t>
                </a:r>
              </a:p>
              <a:p>
                <a:pPr marL="0" indent="0" algn="just">
                  <a:lnSpc>
                    <a:spcPct val="150000"/>
                  </a:lnSpc>
                  <a:spcAft>
                    <a:spcPts val="800"/>
                  </a:spcAft>
                  <a:buNone/>
                </a:pPr>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2"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81000" y="3048001"/>
                <a:ext cx="10996920" cy="10363199"/>
              </a:xfrm>
              <a:prstGeom prst="rect">
                <a:avLst/>
              </a:prstGeom>
              <a:blipFill>
                <a:blip r:embed="rId3"/>
                <a:stretch>
                  <a:fillRect l="-2493" t="-1469"/>
                </a:stretch>
              </a:blipFill>
              <a:ln>
                <a:solidFill>
                  <a:srgbClr val="00B0F0"/>
                </a:solidFill>
              </a:ln>
            </p:spPr>
            <p:txBody>
              <a:bodyPr/>
              <a:lstStyle/>
              <a:p>
                <a:r>
                  <a:rPr lang="en-US">
                    <a:noFill/>
                  </a:rPr>
                  <a:t> </a:t>
                </a:r>
              </a:p>
            </p:txBody>
          </p:sp>
        </mc:Fallback>
      </mc:AlternateContent>
      <p:grpSp>
        <p:nvGrpSpPr>
          <p:cNvPr id="13" name="Group 12"/>
          <p:cNvGrpSpPr/>
          <p:nvPr/>
        </p:nvGrpSpPr>
        <p:grpSpPr>
          <a:xfrm>
            <a:off x="692021" y="3015118"/>
            <a:ext cx="3346580" cy="846967"/>
            <a:chOff x="27395" y="60714"/>
            <a:chExt cx="1260580" cy="157054"/>
          </a:xfrm>
        </p:grpSpPr>
        <p:grpSp>
          <p:nvGrpSpPr>
            <p:cNvPr id="14" name="Group 13"/>
            <p:cNvGrpSpPr/>
            <p:nvPr/>
          </p:nvGrpSpPr>
          <p:grpSpPr>
            <a:xfrm>
              <a:off x="27395" y="60714"/>
              <a:ext cx="1260580" cy="157054"/>
              <a:chOff x="38544" y="62041"/>
              <a:chExt cx="1773659" cy="194361"/>
            </a:xfrm>
          </p:grpSpPr>
          <p:sp>
            <p:nvSpPr>
              <p:cNvPr id="16" name="Arrow: Pentagon 25"/>
              <p:cNvSpPr/>
              <p:nvPr/>
            </p:nvSpPr>
            <p:spPr>
              <a:xfrm>
                <a:off x="204585" y="62041"/>
                <a:ext cx="1607618" cy="194296"/>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6000"/>
                  </a:lnSpc>
                  <a:spcAft>
                    <a:spcPts val="800"/>
                  </a:spcAft>
                </a:pPr>
                <a:r>
                  <a:rPr lang="en-US" sz="1000" b="1" kern="1200">
                    <a:solidFill>
                      <a:srgbClr val="0000CC"/>
                    </a:solidFill>
                    <a:effectLst/>
                    <a:ea typeface="Calibri" panose="020F0502020204030204" pitchFamily="34" charset="0"/>
                    <a:cs typeface="Times New Roman" panose="02020603050405020304" pitchFamily="18" charset="0"/>
                  </a:rPr>
                  <a:t> </a:t>
                </a:r>
                <a:endParaRPr lang="en-US" sz="1200" b="1">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7" name="Arrow: Chevron 26"/>
              <p:cNvSpPr/>
              <p:nvPr/>
            </p:nvSpPr>
            <p:spPr>
              <a:xfrm>
                <a:off x="38544" y="62041"/>
                <a:ext cx="155658" cy="194361"/>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sp>
            <p:nvSpPr>
              <p:cNvPr id="18" name="Arrow: Chevron 27"/>
              <p:cNvSpPr/>
              <p:nvPr/>
            </p:nvSpPr>
            <p:spPr>
              <a:xfrm>
                <a:off x="115330" y="62041"/>
                <a:ext cx="177710" cy="194296"/>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grpSp>
        <p:sp>
          <p:nvSpPr>
            <p:cNvPr id="15" name="TextBox 56"/>
            <p:cNvSpPr txBox="1"/>
            <p:nvPr/>
          </p:nvSpPr>
          <p:spPr>
            <a:xfrm>
              <a:off x="250984" y="68068"/>
              <a:ext cx="884516" cy="139535"/>
            </a:xfrm>
            <a:prstGeom prst="rect">
              <a:avLst/>
            </a:prstGeom>
            <a:noFill/>
          </p:spPr>
          <p:txBody>
            <a:bodyPr wrap="square">
              <a:noAutofit/>
            </a:bodyPr>
            <a:lstStyle/>
            <a:p>
              <a:pPr>
                <a:lnSpc>
                  <a:spcPct val="107000"/>
                </a:lnSpc>
                <a:spcAft>
                  <a:spcPts val="800"/>
                </a:spcAft>
              </a:pPr>
              <a:r>
                <a:rPr lang="en-US" sz="4800" b="1" kern="1200">
                  <a:solidFill>
                    <a:srgbClr val="0000CC"/>
                  </a:solidFill>
                  <a:effectLst/>
                  <a:latin typeface="Tomaho"/>
                  <a:ea typeface="Calibri" panose="020F0502020204030204" pitchFamily="34" charset="0"/>
                  <a:cs typeface="Times New Roman" panose="02020603050405020304" pitchFamily="18" charset="0"/>
                </a:rPr>
                <a:t>Ví dụ </a:t>
              </a:r>
              <a:r>
                <a:rPr lang="en-US" sz="4800" b="1">
                  <a:solidFill>
                    <a:srgbClr val="0000CC"/>
                  </a:solidFill>
                  <a:latin typeface="Tomaho"/>
                  <a:ea typeface="Calibri" panose="020F0502020204030204" pitchFamily="34" charset="0"/>
                  <a:cs typeface="Times New Roman" panose="02020603050405020304" pitchFamily="18" charset="0"/>
                </a:rPr>
                <a:t>5</a:t>
              </a:r>
              <a:r>
                <a:rPr lang="en-US" sz="4800" b="1" kern="1200">
                  <a:solidFill>
                    <a:srgbClr val="0000CC"/>
                  </a:solidFill>
                  <a:effectLst/>
                  <a:latin typeface="Tomaho"/>
                  <a:ea typeface="Calibri" panose="020F0502020204030204" pitchFamily="34" charset="0"/>
                  <a:cs typeface="Times New Roman" panose="02020603050405020304" pitchFamily="18" charset="0"/>
                </a:rPr>
                <a:t>.</a:t>
              </a:r>
              <a:endParaRPr lang="en-US" sz="4800" b="1">
                <a:effectLst/>
                <a:latin typeface="Tomaho"/>
                <a:ea typeface="Calibri" panose="020F0502020204030204" pitchFamily="34"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14822BB7-DB89-4357-87F0-6E511FC44A6A}"/>
                  </a:ext>
                </a:extLst>
              </p:cNvPr>
              <p:cNvSpPr txBox="1">
                <a:spLocks/>
              </p:cNvSpPr>
              <p:nvPr/>
            </p:nvSpPr>
            <p:spPr>
              <a:xfrm>
                <a:off x="11539296" y="3086964"/>
                <a:ext cx="12463705" cy="103631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just">
                  <a:lnSpc>
                    <a:spcPct val="107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Lập</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tham</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𝜟</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đi</a:t>
                </a:r>
                <a:r>
                  <a:rPr lang="en-US" b="1" dirty="0">
                    <a:latin typeface="Tahoma" panose="020B0604030504040204" pitchFamily="34" charset="0"/>
                    <a:ea typeface="Tahoma" panose="020B0604030504040204" pitchFamily="34" charset="0"/>
                    <a:cs typeface="Tahoma" panose="020B0604030504040204" pitchFamily="34" charset="0"/>
                  </a:rPr>
                  <a:t> qua </a:t>
                </a:r>
                <a:r>
                  <a:rPr lang="en-US" b="1" dirty="0" err="1">
                    <a:latin typeface="Tahoma" panose="020B0604030504040204" pitchFamily="34" charset="0"/>
                    <a:ea typeface="Tahoma" panose="020B0604030504040204" pitchFamily="34" charset="0"/>
                    <a:cs typeface="Tahoma" panose="020B0604030504040204" pitchFamily="34" charset="0"/>
                  </a:rPr>
                  <a:t>điểm</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𝑴</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𝟏</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𝟐</m:t>
                        </m:r>
                      </m:e>
                    </m:d>
                  </m:oMath>
                </a14:m>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song </a:t>
                </a:r>
                <a:r>
                  <a:rPr lang="en-US" b="1" dirty="0" err="1">
                    <a:latin typeface="Tahoma" panose="020B0604030504040204" pitchFamily="34" charset="0"/>
                    <a:ea typeface="Tahoma" panose="020B0604030504040204" pitchFamily="34" charset="0"/>
                    <a:cs typeface="Tahoma" panose="020B0604030504040204" pitchFamily="34" charset="0"/>
                  </a:rPr>
                  <a:t>song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với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𝒅</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𝟑</m:t>
                    </m:r>
                    <m:r>
                      <a:rPr lang="en-US" b="1" i="1" smtClean="0">
                        <a:latin typeface="Cambria Math" panose="02040503050406030204" pitchFamily="18" charset="0"/>
                        <a:ea typeface="Calibri" panose="020F0502020204030204" pitchFamily="34" charset="0"/>
                        <a:cs typeface="Times New Roman" panose="02020603050405020304" pitchFamily="18" charset="0"/>
                      </a:rPr>
                      <m:t>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𝟒</m:t>
                    </m:r>
                    <m:r>
                      <a:rPr lang="en-US" b="1" i="1" smtClean="0">
                        <a:latin typeface="Cambria Math" panose="02040503050406030204" pitchFamily="18" charset="0"/>
                        <a:ea typeface="Calibri" panose="020F0502020204030204" pitchFamily="34" charset="0"/>
                        <a:cs typeface="Times New Roman" panose="02020603050405020304" pitchFamily="18" charset="0"/>
                      </a:rPr>
                      <m:t>𝒚</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𝟏</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𝟎</m:t>
                    </m:r>
                  </m:oMath>
                </a14:m>
                <a:r>
                  <a:rPr lang="en-US" b="1" dirty="0">
                    <a:latin typeface="Tahoma" panose="020B0604030504040204" pitchFamily="34" charset="0"/>
                    <a:ea typeface="Tahoma" panose="020B0604030504040204" pitchFamily="34" charset="0"/>
                    <a:cs typeface="Tahoma" panose="020B0604030504040204" pitchFamily="34" charset="0"/>
                  </a:rPr>
                  <a:t>.</a:t>
                </a:r>
              </a:p>
              <a:p>
                <a:pPr marL="0" indent="0" algn="just">
                  <a:lnSpc>
                    <a:spcPct val="100000"/>
                  </a:lnSpc>
                  <a:spcBef>
                    <a:spcPts val="0"/>
                  </a:spcBef>
                  <a:buNone/>
                </a:pPr>
                <a:r>
                  <a:rPr lang="en-US" b="1" u="sng"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endParaRPr lang="en-US" b="1" u="sng"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gn="just">
                  <a:lnSpc>
                    <a:spcPct val="100000"/>
                  </a:lnSpc>
                  <a:spcBef>
                    <a:spcPts val="0"/>
                  </a:spcBef>
                  <a:buNone/>
                </a:pPr>
                <a:r>
                  <a:rPr lang="en-US" sz="4600" b="1" dirty="0" err="1">
                    <a:latin typeface="Tahoma" panose="020B0604030504040204" pitchFamily="34" charset="0"/>
                    <a:ea typeface="Tahoma" panose="020B0604030504040204" pitchFamily="34" charset="0"/>
                    <a:cs typeface="Tahoma" panose="020B0604030504040204" pitchFamily="34" charset="0"/>
                  </a:rPr>
                  <a:t>Đường</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thẳng</a:t>
                </a:r>
                <a:r>
                  <a:rPr lang="en-US"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600" b="1" i="1" smtClean="0">
                        <a:latin typeface="Cambria Math" panose="02040503050406030204" pitchFamily="18" charset="0"/>
                        <a:ea typeface="Calibri" panose="020F0502020204030204" pitchFamily="34" charset="0"/>
                        <a:cs typeface="Times New Roman" panose="02020603050405020304" pitchFamily="18" charset="0"/>
                      </a:rPr>
                      <m:t>𝒅</m:t>
                    </m:r>
                  </m:oMath>
                </a14:m>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có</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một</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vectơ</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pháp</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tuyến</a:t>
                </a:r>
                <a:r>
                  <a:rPr lang="en-US"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600" b="1" i="1">
                            <a:latin typeface="Cambria Math" panose="02040503050406030204" pitchFamily="18" charset="0"/>
                            <a:ea typeface="Calibri" panose="020F0502020204030204" pitchFamily="34" charset="0"/>
                            <a:cs typeface="Times New Roman" panose="02020603050405020304" pitchFamily="18" charset="0"/>
                          </a:rPr>
                        </m:ctrlPr>
                      </m:accPr>
                      <m:e>
                        <m:r>
                          <a:rPr lang="en-US" sz="4600" b="1" i="1" smtClean="0">
                            <a:latin typeface="Cambria Math" panose="02040503050406030204" pitchFamily="18" charset="0"/>
                            <a:ea typeface="Calibri" panose="020F0502020204030204" pitchFamily="34" charset="0"/>
                            <a:cs typeface="Times New Roman" panose="02020603050405020304" pitchFamily="18" charset="0"/>
                          </a:rPr>
                          <m:t>𝒏</m:t>
                        </m:r>
                      </m:e>
                    </m:acc>
                    <m:d>
                      <m:dPr>
                        <m:ctrlPr>
                          <a:rPr lang="en-US" sz="4600" b="1" i="1">
                            <a:latin typeface="Cambria Math" panose="02040503050406030204" pitchFamily="18" charset="0"/>
                            <a:ea typeface="Calibri" panose="020F0502020204030204" pitchFamily="34" charset="0"/>
                            <a:cs typeface="Times New Roman" panose="02020603050405020304" pitchFamily="18" charset="0"/>
                          </a:rPr>
                        </m:ctrlPr>
                      </m:dPr>
                      <m:e>
                        <m:r>
                          <a:rPr lang="en-US" sz="4600" b="1" i="1" smtClean="0">
                            <a:latin typeface="Cambria Math" panose="02040503050406030204" pitchFamily="18" charset="0"/>
                            <a:ea typeface="Calibri" panose="020F0502020204030204" pitchFamily="34" charset="0"/>
                            <a:cs typeface="Times New Roman" panose="02020603050405020304" pitchFamily="18" charset="0"/>
                          </a:rPr>
                          <m:t>𝟑</m:t>
                        </m:r>
                        <m:r>
                          <a:rPr lang="en-US" sz="4600" b="1" i="1" smtClean="0">
                            <a:latin typeface="Cambria Math" panose="02040503050406030204" pitchFamily="18" charset="0"/>
                            <a:ea typeface="Calibri" panose="020F0502020204030204" pitchFamily="34" charset="0"/>
                            <a:cs typeface="Times New Roman" panose="02020603050405020304" pitchFamily="18" charset="0"/>
                          </a:rPr>
                          <m:t>;−</m:t>
                        </m:r>
                        <m:r>
                          <a:rPr lang="en-US" sz="4600" b="1" i="1" smtClean="0">
                            <a:latin typeface="Cambria Math" panose="02040503050406030204" pitchFamily="18" charset="0"/>
                            <a:ea typeface="Calibri" panose="020F0502020204030204" pitchFamily="34" charset="0"/>
                            <a:cs typeface="Times New Roman" panose="02020603050405020304" pitchFamily="18" charset="0"/>
                          </a:rPr>
                          <m:t>𝟒</m:t>
                        </m:r>
                      </m:e>
                    </m:d>
                  </m:oMath>
                </a14:m>
                <a:r>
                  <a:rPr lang="en-US" sz="4600" b="1" dirty="0">
                    <a:latin typeface="Tahoma" panose="020B0604030504040204" pitchFamily="34" charset="0"/>
                    <a:ea typeface="Tahoma" panose="020B0604030504040204" pitchFamily="34" charset="0"/>
                    <a:cs typeface="Tahoma" panose="020B0604030504040204" pitchFamily="34" charset="0"/>
                  </a:rPr>
                  <a:t>.</a:t>
                </a:r>
              </a:p>
              <a:p>
                <a:pPr marL="0" indent="0" algn="just">
                  <a:lnSpc>
                    <a:spcPct val="100000"/>
                  </a:lnSpc>
                  <a:spcBef>
                    <a:spcPts val="0"/>
                  </a:spcBef>
                  <a:buNone/>
                </a:pPr>
                <a:r>
                  <a:rPr lang="en-US" sz="4600" b="1" dirty="0" err="1">
                    <a:latin typeface="Tahoma" panose="020B0604030504040204" pitchFamily="34" charset="0"/>
                    <a:ea typeface="Tahoma" panose="020B0604030504040204" pitchFamily="34" charset="0"/>
                    <a:cs typeface="Tahoma" panose="020B0604030504040204" pitchFamily="34" charset="0"/>
                  </a:rPr>
                  <a:t>Đường</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thẳng</a:t>
                </a:r>
                <a:r>
                  <a:rPr lang="en-US"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600" b="1" i="1" smtClean="0">
                        <a:latin typeface="Cambria Math" panose="02040503050406030204" pitchFamily="18" charset="0"/>
                        <a:ea typeface="Calibri" panose="020F0502020204030204" pitchFamily="34" charset="0"/>
                        <a:cs typeface="Times New Roman" panose="02020603050405020304" pitchFamily="18" charset="0"/>
                      </a:rPr>
                      <m:t>𝜟</m:t>
                    </m:r>
                  </m:oMath>
                </a14:m>
                <a:r>
                  <a:rPr lang="en-US" sz="4600" b="1" dirty="0">
                    <a:latin typeface="Tahoma" panose="020B0604030504040204" pitchFamily="34" charset="0"/>
                    <a:ea typeface="Tahoma" panose="020B0604030504040204" pitchFamily="34" charset="0"/>
                    <a:cs typeface="Tahoma" panose="020B0604030504040204" pitchFamily="34" charset="0"/>
                  </a:rPr>
                  <a:t> song </a:t>
                </a:r>
                <a:r>
                  <a:rPr lang="en-US" sz="4600" b="1" dirty="0" err="1">
                    <a:latin typeface="Tahoma" panose="020B0604030504040204" pitchFamily="34" charset="0"/>
                    <a:ea typeface="Tahoma" panose="020B0604030504040204" pitchFamily="34" charset="0"/>
                    <a:cs typeface="Tahoma" panose="020B0604030504040204" pitchFamily="34" charset="0"/>
                  </a:rPr>
                  <a:t>song</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với</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đường</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thẳng</a:t>
                </a:r>
                <a:r>
                  <a:rPr lang="en-US"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600" b="1" i="1" smtClean="0">
                        <a:latin typeface="Cambria Math" panose="02040503050406030204" pitchFamily="18" charset="0"/>
                        <a:ea typeface="Calibri" panose="020F0502020204030204" pitchFamily="34" charset="0"/>
                        <a:cs typeface="Times New Roman" panose="02020603050405020304" pitchFamily="18" charset="0"/>
                      </a:rPr>
                      <m:t>𝒅</m:t>
                    </m:r>
                  </m:oMath>
                </a14:m>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nên</a:t>
                </a:r>
                <a:r>
                  <a:rPr lang="en-US"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600" b="1" i="1" smtClean="0">
                        <a:latin typeface="Cambria Math" panose="02040503050406030204" pitchFamily="18" charset="0"/>
                        <a:ea typeface="Calibri" panose="020F0502020204030204" pitchFamily="34" charset="0"/>
                        <a:cs typeface="Times New Roman" panose="02020603050405020304" pitchFamily="18" charset="0"/>
                      </a:rPr>
                      <m:t>𝒅</m:t>
                    </m:r>
                  </m:oMath>
                </a14:m>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nhận</a:t>
                </a:r>
                <a:r>
                  <a:rPr lang="en-US"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600" b="1" i="1">
                            <a:latin typeface="Cambria Math" panose="02040503050406030204" pitchFamily="18" charset="0"/>
                            <a:ea typeface="Calibri" panose="020F0502020204030204" pitchFamily="34" charset="0"/>
                            <a:cs typeface="Times New Roman" panose="02020603050405020304" pitchFamily="18" charset="0"/>
                          </a:rPr>
                        </m:ctrlPr>
                      </m:accPr>
                      <m:e>
                        <m:r>
                          <a:rPr lang="en-US" sz="4600" b="1" i="1" smtClean="0">
                            <a:latin typeface="Cambria Math" panose="02040503050406030204" pitchFamily="18" charset="0"/>
                            <a:ea typeface="Calibri" panose="020F0502020204030204" pitchFamily="34" charset="0"/>
                            <a:cs typeface="Times New Roman" panose="02020603050405020304" pitchFamily="18" charset="0"/>
                          </a:rPr>
                          <m:t>𝒏</m:t>
                        </m:r>
                      </m:e>
                    </m:acc>
                    <m:d>
                      <m:dPr>
                        <m:ctrlPr>
                          <a:rPr lang="en-US" sz="4600" b="1" i="1">
                            <a:latin typeface="Cambria Math" panose="02040503050406030204" pitchFamily="18" charset="0"/>
                            <a:ea typeface="Calibri" panose="020F0502020204030204" pitchFamily="34" charset="0"/>
                            <a:cs typeface="Times New Roman" panose="02020603050405020304" pitchFamily="18" charset="0"/>
                          </a:rPr>
                        </m:ctrlPr>
                      </m:dPr>
                      <m:e>
                        <m:r>
                          <a:rPr lang="en-US" sz="4600" b="1" i="1" smtClean="0">
                            <a:latin typeface="Cambria Math" panose="02040503050406030204" pitchFamily="18" charset="0"/>
                            <a:ea typeface="Calibri" panose="020F0502020204030204" pitchFamily="34" charset="0"/>
                            <a:cs typeface="Times New Roman" panose="02020603050405020304" pitchFamily="18" charset="0"/>
                          </a:rPr>
                          <m:t>𝟑</m:t>
                        </m:r>
                        <m:r>
                          <a:rPr lang="en-US" sz="4600" b="1" i="1" smtClean="0">
                            <a:latin typeface="Cambria Math" panose="02040503050406030204" pitchFamily="18" charset="0"/>
                            <a:ea typeface="Calibri" panose="020F0502020204030204" pitchFamily="34" charset="0"/>
                            <a:cs typeface="Times New Roman" panose="02020603050405020304" pitchFamily="18" charset="0"/>
                          </a:rPr>
                          <m:t>;−</m:t>
                        </m:r>
                        <m:r>
                          <a:rPr lang="en-US" sz="4600" b="1" i="1" smtClean="0">
                            <a:latin typeface="Cambria Math" panose="02040503050406030204" pitchFamily="18" charset="0"/>
                            <a:ea typeface="Calibri" panose="020F0502020204030204" pitchFamily="34" charset="0"/>
                            <a:cs typeface="Times New Roman" panose="02020603050405020304" pitchFamily="18" charset="0"/>
                          </a:rPr>
                          <m:t>𝟒</m:t>
                        </m:r>
                      </m:e>
                    </m:d>
                  </m:oMath>
                </a14:m>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làm</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vectơ</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pháp</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tuyến</a:t>
                </a:r>
                <a:r>
                  <a:rPr lang="en-US" sz="4600" b="1" dirty="0">
                    <a:latin typeface="Tahoma" panose="020B0604030504040204" pitchFamily="34" charset="0"/>
                    <a:ea typeface="Tahoma" panose="020B0604030504040204" pitchFamily="34" charset="0"/>
                    <a:cs typeface="Tahoma" panose="020B0604030504040204" pitchFamily="34" charset="0"/>
                  </a:rPr>
                  <a:t>, do </a:t>
                </a:r>
                <a:r>
                  <a:rPr lang="en-US" sz="4600" b="1" dirty="0" err="1">
                    <a:latin typeface="Tahoma" panose="020B0604030504040204" pitchFamily="34" charset="0"/>
                    <a:ea typeface="Tahoma" panose="020B0604030504040204" pitchFamily="34" charset="0"/>
                    <a:cs typeface="Tahoma" panose="020B0604030504040204" pitchFamily="34" charset="0"/>
                  </a:rPr>
                  <a:t>đó</a:t>
                </a:r>
                <a:r>
                  <a:rPr lang="en-US"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600" b="1" i="1" smtClean="0">
                        <a:latin typeface="Cambria Math" panose="02040503050406030204" pitchFamily="18" charset="0"/>
                        <a:ea typeface="Calibri" panose="020F0502020204030204" pitchFamily="34" charset="0"/>
                        <a:cs typeface="Times New Roman" panose="02020603050405020304" pitchFamily="18" charset="0"/>
                      </a:rPr>
                      <m:t>𝒅</m:t>
                    </m:r>
                  </m:oMath>
                </a14:m>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có</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vectơ</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chỉ</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phương</a:t>
                </a:r>
                <a:r>
                  <a:rPr lang="en-US"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600" b="1" i="1">
                            <a:latin typeface="Cambria Math" panose="02040503050406030204" pitchFamily="18" charset="0"/>
                            <a:ea typeface="Calibri" panose="020F0502020204030204" pitchFamily="34" charset="0"/>
                            <a:cs typeface="Times New Roman" panose="02020603050405020304" pitchFamily="18" charset="0"/>
                          </a:rPr>
                        </m:ctrlPr>
                      </m:accPr>
                      <m:e>
                        <m:r>
                          <a:rPr lang="en-US" sz="4600" b="1" i="1" smtClean="0">
                            <a:latin typeface="Cambria Math" panose="02040503050406030204" pitchFamily="18" charset="0"/>
                            <a:ea typeface="Calibri" panose="020F0502020204030204" pitchFamily="34" charset="0"/>
                            <a:cs typeface="Times New Roman" panose="02020603050405020304" pitchFamily="18" charset="0"/>
                          </a:rPr>
                          <m:t>𝒖</m:t>
                        </m:r>
                      </m:e>
                    </m:acc>
                    <m:d>
                      <m:dPr>
                        <m:ctrlPr>
                          <a:rPr lang="en-US" sz="4600" b="1" i="1">
                            <a:latin typeface="Cambria Math" panose="02040503050406030204" pitchFamily="18" charset="0"/>
                            <a:ea typeface="Calibri" panose="020F0502020204030204" pitchFamily="34" charset="0"/>
                            <a:cs typeface="Times New Roman" panose="02020603050405020304" pitchFamily="18" charset="0"/>
                          </a:rPr>
                        </m:ctrlPr>
                      </m:dPr>
                      <m:e>
                        <m:r>
                          <a:rPr lang="en-US" sz="4600" b="1" i="1" smtClean="0">
                            <a:latin typeface="Cambria Math" panose="02040503050406030204" pitchFamily="18" charset="0"/>
                            <a:ea typeface="Calibri" panose="020F0502020204030204" pitchFamily="34" charset="0"/>
                            <a:cs typeface="Times New Roman" panose="02020603050405020304" pitchFamily="18" charset="0"/>
                          </a:rPr>
                          <m:t>𝟒</m:t>
                        </m:r>
                        <m:r>
                          <a:rPr lang="en-US" sz="4600" b="1" i="1" smtClean="0">
                            <a:latin typeface="Cambria Math" panose="02040503050406030204" pitchFamily="18" charset="0"/>
                            <a:ea typeface="Calibri" panose="020F0502020204030204" pitchFamily="34" charset="0"/>
                            <a:cs typeface="Times New Roman" panose="02020603050405020304" pitchFamily="18" charset="0"/>
                          </a:rPr>
                          <m:t>;</m:t>
                        </m:r>
                        <m:r>
                          <a:rPr lang="en-US" sz="4600" b="1" i="1" smtClean="0">
                            <a:latin typeface="Cambria Math" panose="02040503050406030204" pitchFamily="18" charset="0"/>
                            <a:ea typeface="Calibri" panose="020F0502020204030204" pitchFamily="34" charset="0"/>
                            <a:cs typeface="Times New Roman" panose="02020603050405020304" pitchFamily="18" charset="0"/>
                          </a:rPr>
                          <m:t>𝟑</m:t>
                        </m:r>
                      </m:e>
                    </m:d>
                  </m:oMath>
                </a14:m>
                <a:r>
                  <a:rPr lang="en-US" sz="4600" b="1" dirty="0">
                    <a:latin typeface="Tahoma" panose="020B0604030504040204" pitchFamily="34" charset="0"/>
                    <a:ea typeface="Tahoma" panose="020B0604030504040204" pitchFamily="34" charset="0"/>
                    <a:cs typeface="Tahoma" panose="020B0604030504040204" pitchFamily="34" charset="0"/>
                  </a:rPr>
                  <a:t>.</a:t>
                </a:r>
              </a:p>
              <a:p>
                <a:pPr marL="0" indent="0" algn="just">
                  <a:lnSpc>
                    <a:spcPct val="100000"/>
                  </a:lnSpc>
                  <a:spcBef>
                    <a:spcPts val="0"/>
                  </a:spcBef>
                  <a:buNone/>
                </a:pPr>
                <a:r>
                  <a:rPr lang="en-US" sz="4600" b="1" dirty="0" err="1">
                    <a:latin typeface="Tahoma" panose="020B0604030504040204" pitchFamily="34" charset="0"/>
                    <a:ea typeface="Tahoma" panose="020B0604030504040204" pitchFamily="34" charset="0"/>
                    <a:cs typeface="Tahoma" panose="020B0604030504040204" pitchFamily="34" charset="0"/>
                  </a:rPr>
                  <a:t>Phương</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trình</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tham</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số</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của</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đường</a:t>
                </a:r>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thẳng</a:t>
                </a:r>
                <a:r>
                  <a:rPr lang="en-US"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600" b="1" i="1" smtClean="0">
                        <a:latin typeface="Cambria Math" panose="02040503050406030204" pitchFamily="18" charset="0"/>
                        <a:ea typeface="Calibri" panose="020F0502020204030204" pitchFamily="34" charset="0"/>
                        <a:cs typeface="Times New Roman" panose="02020603050405020304" pitchFamily="18" charset="0"/>
                      </a:rPr>
                      <m:t>𝜟</m:t>
                    </m:r>
                  </m:oMath>
                </a14:m>
                <a:r>
                  <a:rPr lang="en-US" sz="4600" b="1" dirty="0">
                    <a:latin typeface="Tahoma" panose="020B0604030504040204" pitchFamily="34" charset="0"/>
                    <a:ea typeface="Tahoma" panose="020B0604030504040204" pitchFamily="34" charset="0"/>
                    <a:cs typeface="Tahoma" panose="020B0604030504040204" pitchFamily="34" charset="0"/>
                  </a:rPr>
                  <a:t> </a:t>
                </a:r>
                <a:r>
                  <a:rPr lang="en-US" sz="4600" b="1" dirty="0" err="1">
                    <a:latin typeface="Tahoma" panose="020B0604030504040204" pitchFamily="34" charset="0"/>
                    <a:ea typeface="Tahoma" panose="020B0604030504040204" pitchFamily="34" charset="0"/>
                    <a:cs typeface="Tahoma" panose="020B0604030504040204" pitchFamily="34" charset="0"/>
                  </a:rPr>
                  <a:t>là</a:t>
                </a:r>
                <a:r>
                  <a:rPr lang="en-US"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600" b="1" i="1">
                            <a:latin typeface="Cambria Math" panose="02040503050406030204" pitchFamily="18" charset="0"/>
                            <a:ea typeface="Calibri" panose="020F0502020204030204" pitchFamily="34" charset="0"/>
                            <a:cs typeface="Times New Roman" panose="02020603050405020304" pitchFamily="18" charset="0"/>
                          </a:rPr>
                        </m:ctrlPr>
                      </m:dPr>
                      <m:e>
                        <m:eqArr>
                          <m:eqArrPr>
                            <m:ctrlPr>
                              <a:rPr lang="en-US" sz="4600" b="1" i="1">
                                <a:latin typeface="Cambria Math" panose="02040503050406030204" pitchFamily="18" charset="0"/>
                                <a:ea typeface="Calibri" panose="020F0502020204030204" pitchFamily="34" charset="0"/>
                                <a:cs typeface="Times New Roman" panose="02020603050405020304" pitchFamily="18" charset="0"/>
                              </a:rPr>
                            </m:ctrlPr>
                          </m:eqArrPr>
                          <m:e>
                            <m:r>
                              <a:rPr lang="en-US" sz="4600" b="1" i="1" smtClean="0">
                                <a:latin typeface="Cambria Math" panose="02040503050406030204" pitchFamily="18" charset="0"/>
                                <a:ea typeface="Calibri" panose="020F0502020204030204" pitchFamily="34" charset="0"/>
                                <a:cs typeface="Times New Roman" panose="02020603050405020304" pitchFamily="18" charset="0"/>
                              </a:rPr>
                              <m:t>&amp;</m:t>
                            </m:r>
                            <m:r>
                              <a:rPr lang="en-US" sz="4600" b="1" i="1" smtClean="0">
                                <a:latin typeface="Cambria Math" panose="02040503050406030204" pitchFamily="18" charset="0"/>
                                <a:ea typeface="Calibri" panose="020F0502020204030204" pitchFamily="34" charset="0"/>
                                <a:cs typeface="Times New Roman" panose="02020603050405020304" pitchFamily="18" charset="0"/>
                              </a:rPr>
                              <m:t>𝒙</m:t>
                            </m:r>
                            <m:r>
                              <a:rPr lang="en-US" sz="4600" b="1" i="1" smtClean="0">
                                <a:latin typeface="Cambria Math" panose="02040503050406030204" pitchFamily="18" charset="0"/>
                                <a:ea typeface="Calibri" panose="020F0502020204030204" pitchFamily="34" charset="0"/>
                                <a:cs typeface="Times New Roman" panose="02020603050405020304" pitchFamily="18" charset="0"/>
                              </a:rPr>
                              <m:t>=−</m:t>
                            </m:r>
                            <m:r>
                              <a:rPr lang="en-US" sz="4600" b="1" i="1" smtClean="0">
                                <a:latin typeface="Cambria Math" panose="02040503050406030204" pitchFamily="18" charset="0"/>
                                <a:ea typeface="Calibri" panose="020F0502020204030204" pitchFamily="34" charset="0"/>
                                <a:cs typeface="Times New Roman" panose="02020603050405020304" pitchFamily="18" charset="0"/>
                              </a:rPr>
                              <m:t>𝟏</m:t>
                            </m:r>
                            <m:r>
                              <a:rPr lang="en-US" sz="4600" b="1" i="1" smtClean="0">
                                <a:latin typeface="Cambria Math" panose="02040503050406030204" pitchFamily="18" charset="0"/>
                                <a:ea typeface="Calibri" panose="020F0502020204030204" pitchFamily="34" charset="0"/>
                                <a:cs typeface="Times New Roman" panose="02020603050405020304" pitchFamily="18" charset="0"/>
                              </a:rPr>
                              <m:t>+</m:t>
                            </m:r>
                            <m:r>
                              <a:rPr lang="en-US" sz="4600" b="1" i="1" smtClean="0">
                                <a:latin typeface="Cambria Math" panose="02040503050406030204" pitchFamily="18" charset="0"/>
                                <a:ea typeface="Calibri" panose="020F0502020204030204" pitchFamily="34" charset="0"/>
                                <a:cs typeface="Times New Roman" panose="02020603050405020304" pitchFamily="18" charset="0"/>
                              </a:rPr>
                              <m:t>𝟒</m:t>
                            </m:r>
                            <m:r>
                              <a:rPr lang="en-US" sz="4600" b="1" i="1" smtClean="0">
                                <a:latin typeface="Cambria Math" panose="02040503050406030204" pitchFamily="18" charset="0"/>
                                <a:ea typeface="Calibri" panose="020F0502020204030204" pitchFamily="34" charset="0"/>
                                <a:cs typeface="Times New Roman" panose="02020603050405020304" pitchFamily="18" charset="0"/>
                              </a:rPr>
                              <m:t>𝒕</m:t>
                            </m:r>
                          </m:e>
                          <m:e>
                            <m:r>
                              <a:rPr lang="en-US" sz="4600" b="1" i="1" smtClean="0">
                                <a:latin typeface="Cambria Math" panose="02040503050406030204" pitchFamily="18" charset="0"/>
                                <a:ea typeface="Calibri" panose="020F0502020204030204" pitchFamily="34" charset="0"/>
                                <a:cs typeface="Times New Roman" panose="02020603050405020304" pitchFamily="18" charset="0"/>
                              </a:rPr>
                              <m:t>&amp;</m:t>
                            </m:r>
                            <m:r>
                              <a:rPr lang="en-US" sz="4600" b="1" i="1" smtClean="0">
                                <a:latin typeface="Cambria Math" panose="02040503050406030204" pitchFamily="18" charset="0"/>
                                <a:ea typeface="Calibri" panose="020F0502020204030204" pitchFamily="34" charset="0"/>
                                <a:cs typeface="Times New Roman" panose="02020603050405020304" pitchFamily="18" charset="0"/>
                              </a:rPr>
                              <m:t>𝒚</m:t>
                            </m:r>
                            <m:r>
                              <a:rPr lang="en-US" sz="4600" b="1" i="1" smtClean="0">
                                <a:latin typeface="Cambria Math" panose="02040503050406030204" pitchFamily="18" charset="0"/>
                                <a:ea typeface="Calibri" panose="020F0502020204030204" pitchFamily="34" charset="0"/>
                                <a:cs typeface="Times New Roman" panose="02020603050405020304" pitchFamily="18" charset="0"/>
                              </a:rPr>
                              <m:t>=</m:t>
                            </m:r>
                            <m:r>
                              <a:rPr lang="en-US" sz="4600" b="1" i="1" smtClean="0">
                                <a:latin typeface="Cambria Math" panose="02040503050406030204" pitchFamily="18" charset="0"/>
                                <a:ea typeface="Calibri" panose="020F0502020204030204" pitchFamily="34" charset="0"/>
                                <a:cs typeface="Times New Roman" panose="02020603050405020304" pitchFamily="18" charset="0"/>
                              </a:rPr>
                              <m:t>𝟐</m:t>
                            </m:r>
                            <m:r>
                              <a:rPr lang="en-US" sz="4600" b="1" i="1" smtClean="0">
                                <a:latin typeface="Cambria Math" panose="02040503050406030204" pitchFamily="18" charset="0"/>
                                <a:ea typeface="Calibri" panose="020F0502020204030204" pitchFamily="34" charset="0"/>
                                <a:cs typeface="Times New Roman" panose="02020603050405020304" pitchFamily="18" charset="0"/>
                              </a:rPr>
                              <m:t>+</m:t>
                            </m:r>
                            <m:r>
                              <a:rPr lang="en-US" sz="4600" b="1" i="1" smtClean="0">
                                <a:latin typeface="Cambria Math" panose="02040503050406030204" pitchFamily="18" charset="0"/>
                                <a:ea typeface="Calibri" panose="020F0502020204030204" pitchFamily="34" charset="0"/>
                                <a:cs typeface="Times New Roman" panose="02020603050405020304" pitchFamily="18" charset="0"/>
                              </a:rPr>
                              <m:t>𝟑</m:t>
                            </m:r>
                            <m:r>
                              <a:rPr lang="en-US" sz="4600" b="1" i="1" smtClean="0">
                                <a:latin typeface="Cambria Math" panose="02040503050406030204" pitchFamily="18" charset="0"/>
                                <a:ea typeface="Calibri" panose="020F0502020204030204" pitchFamily="34" charset="0"/>
                                <a:cs typeface="Times New Roman" panose="02020603050405020304" pitchFamily="18" charset="0"/>
                              </a:rPr>
                              <m:t>𝒕</m:t>
                            </m:r>
                          </m:e>
                        </m:eqArr>
                      </m:e>
                    </m:d>
                  </m:oMath>
                </a14:m>
                <a:r>
                  <a:rPr lang="en-US" sz="4600" b="1" dirty="0">
                    <a:latin typeface="Tahoma" panose="020B0604030504040204" pitchFamily="34" charset="0"/>
                    <a:ea typeface="Tahoma" panose="020B0604030504040204" pitchFamily="34" charset="0"/>
                    <a:cs typeface="Tahoma" panose="020B0604030504040204" pitchFamily="34" charset="0"/>
                  </a:rPr>
                  <a:t>.</a:t>
                </a:r>
              </a:p>
              <a:p>
                <a:pPr marL="0" indent="0" algn="just">
                  <a:lnSpc>
                    <a:spcPct val="107000"/>
                  </a:lnSpc>
                  <a:spcAft>
                    <a:spcPts val="800"/>
                  </a:spcAft>
                  <a:buNone/>
                </a:pP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Aft>
                    <a:spcPts val="800"/>
                  </a:spcAft>
                  <a:buNone/>
                </a:pPr>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11539296" y="3086964"/>
                <a:ext cx="12463705" cy="10363199"/>
              </a:xfrm>
              <a:prstGeom prst="rect">
                <a:avLst/>
              </a:prstGeom>
              <a:blipFill>
                <a:blip r:embed="rId4"/>
                <a:stretch>
                  <a:fillRect l="-2198" t="-1469" r="-2101" b="-1175"/>
                </a:stretch>
              </a:blipFill>
              <a:ln>
                <a:solidFill>
                  <a:srgbClr val="00B0F0"/>
                </a:solidFill>
              </a:ln>
            </p:spPr>
            <p:txBody>
              <a:bodyPr/>
              <a:lstStyle/>
              <a:p>
                <a:r>
                  <a:rPr lang="en-US">
                    <a:noFill/>
                  </a:rPr>
                  <a:t> </a:t>
                </a:r>
              </a:p>
            </p:txBody>
          </p:sp>
        </mc:Fallback>
      </mc:AlternateContent>
      <p:grpSp>
        <p:nvGrpSpPr>
          <p:cNvPr id="20" name="Group 19"/>
          <p:cNvGrpSpPr/>
          <p:nvPr/>
        </p:nvGrpSpPr>
        <p:grpSpPr>
          <a:xfrm>
            <a:off x="11573932" y="3054777"/>
            <a:ext cx="3970868" cy="865123"/>
            <a:chOff x="1219200" y="1883409"/>
            <a:chExt cx="4234636" cy="865123"/>
          </a:xfrm>
        </p:grpSpPr>
        <p:grpSp>
          <p:nvGrpSpPr>
            <p:cNvPr id="21" name="Group 20"/>
            <p:cNvGrpSpPr/>
            <p:nvPr/>
          </p:nvGrpSpPr>
          <p:grpSpPr>
            <a:xfrm>
              <a:off x="1219200" y="1883409"/>
              <a:ext cx="4234636" cy="865123"/>
              <a:chOff x="10025696" y="6718934"/>
              <a:chExt cx="4234636" cy="865123"/>
            </a:xfrm>
          </p:grpSpPr>
          <p:sp>
            <p:nvSpPr>
              <p:cNvPr id="23" name="Arrow: Pentagon 33"/>
              <p:cNvSpPr/>
              <p:nvPr/>
            </p:nvSpPr>
            <p:spPr>
              <a:xfrm>
                <a:off x="10429865" y="6752717"/>
                <a:ext cx="3810953" cy="80670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a:lnSpc>
                    <a:spcPct val="106000"/>
                  </a:lnSpc>
                  <a:spcAft>
                    <a:spcPts val="800"/>
                  </a:spcAft>
                </a:pPr>
                <a:r>
                  <a:rPr lang="en-US" sz="10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b="1">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5" name="Arrow: Chevron 34"/>
              <p:cNvSpPr/>
              <p:nvPr/>
            </p:nvSpPr>
            <p:spPr>
              <a:xfrm>
                <a:off x="10025696" y="6773546"/>
                <a:ext cx="273620" cy="806702"/>
              </a:xfrm>
              <a:prstGeom prst="chevron">
                <a:avLst/>
              </a:prstGeom>
              <a:solidFill>
                <a:srgbClr val="4472C4"/>
              </a:solidFill>
              <a:ln w="12700" cap="flat" cmpd="sng" algn="ctr">
                <a:noFill/>
                <a:prstDash val="solid"/>
                <a:miter lim="800000"/>
              </a:ln>
              <a:effectLst/>
            </p:spPr>
            <p:txBody>
              <a:bodyPr rtlCol="0" anchor="ctr"/>
              <a:lstStyle/>
              <a:p>
                <a:endParaRPr lang="en-US" b="1"/>
              </a:p>
            </p:txBody>
          </p:sp>
          <p:sp>
            <p:nvSpPr>
              <p:cNvPr id="26" name="TextBox 56"/>
              <p:cNvSpPr txBox="1"/>
              <p:nvPr/>
            </p:nvSpPr>
            <p:spPr>
              <a:xfrm>
                <a:off x="10582965" y="6718934"/>
                <a:ext cx="3677367" cy="865123"/>
              </a:xfrm>
              <a:prstGeom prst="rect">
                <a:avLst/>
              </a:prstGeom>
              <a:noFill/>
            </p:spPr>
            <p:txBody>
              <a:bodyPr wrap="square">
                <a:noAutofit/>
              </a:bodyPr>
              <a:lstStyle/>
              <a:p>
                <a:pPr>
                  <a:lnSpc>
                    <a:spcPct val="107000"/>
                  </a:lnSpc>
                  <a:spcAft>
                    <a:spcPts val="800"/>
                  </a:spcAft>
                </a:pPr>
                <a:r>
                  <a:rPr lang="en-US" sz="4800" b="1" kern="1200">
                    <a:solidFill>
                      <a:srgbClr val="0000CC"/>
                    </a:solidFill>
                    <a:effectLst/>
                    <a:latin typeface="Tomaho"/>
                    <a:ea typeface="Calibri" panose="020F0502020204030204" pitchFamily="34" charset="0"/>
                    <a:cs typeface="Times New Roman" panose="02020603050405020304" pitchFamily="18" charset="0"/>
                  </a:rPr>
                  <a:t>Luyện tập </a:t>
                </a:r>
                <a:r>
                  <a:rPr lang="en-US" sz="4800" b="1">
                    <a:solidFill>
                      <a:srgbClr val="0000CC"/>
                    </a:solidFill>
                    <a:latin typeface="Tomaho"/>
                    <a:ea typeface="Calibri" panose="020F0502020204030204" pitchFamily="34" charset="0"/>
                    <a:cs typeface="Times New Roman" panose="02020603050405020304" pitchFamily="18" charset="0"/>
                  </a:rPr>
                  <a:t>4</a:t>
                </a:r>
                <a:r>
                  <a:rPr lang="en-US" sz="4800" b="1" kern="1200">
                    <a:solidFill>
                      <a:srgbClr val="0000CC"/>
                    </a:solidFill>
                    <a:effectLst/>
                    <a:latin typeface="Tomaho"/>
                    <a:ea typeface="Calibri" panose="020F0502020204030204" pitchFamily="34" charset="0"/>
                    <a:cs typeface="Times New Roman" panose="02020603050405020304" pitchFamily="18" charset="0"/>
                  </a:rPr>
                  <a:t>.</a:t>
                </a:r>
                <a:endParaRPr lang="en-US" sz="4800" b="1">
                  <a:effectLst/>
                  <a:latin typeface="Tomaho"/>
                  <a:ea typeface="Calibri" panose="020F0502020204030204" pitchFamily="34" charset="0"/>
                  <a:cs typeface="Times New Roman" panose="02020603050405020304" pitchFamily="18" charset="0"/>
                </a:endParaRPr>
              </a:p>
            </p:txBody>
          </p:sp>
        </p:grpSp>
        <p:sp>
          <p:nvSpPr>
            <p:cNvPr id="22" name="Arrow: Chevron 35"/>
            <p:cNvSpPr/>
            <p:nvPr/>
          </p:nvSpPr>
          <p:spPr>
            <a:xfrm>
              <a:off x="1349749" y="1935480"/>
              <a:ext cx="296171" cy="806702"/>
            </a:xfrm>
            <a:prstGeom prst="chevron">
              <a:avLst/>
            </a:prstGeom>
            <a:solidFill>
              <a:srgbClr val="FFC000"/>
            </a:solidFill>
            <a:ln w="12700" cap="flat" cmpd="sng" algn="ctr">
              <a:noFill/>
              <a:prstDash val="solid"/>
              <a:miter lim="800000"/>
            </a:ln>
            <a:effectLst/>
          </p:spPr>
          <p:txBody>
            <a:bodyPr rtlCol="0" anchor="ctr"/>
            <a:lstStyle/>
            <a:p>
              <a:endParaRPr lang="en-US" b="1"/>
            </a:p>
          </p:txBody>
        </p: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FC1A061-5BCE-CA81-3273-A0879B9F6D9F}"/>
                  </a:ext>
                </a:extLst>
              </p:cNvPr>
              <p:cNvSpPr txBox="1"/>
              <p:nvPr/>
            </p:nvSpPr>
            <p:spPr>
              <a:xfrm>
                <a:off x="3505200" y="8839200"/>
                <a:ext cx="6019800" cy="1568378"/>
              </a:xfrm>
              <a:prstGeom prst="rect">
                <a:avLst/>
              </a:prstGeom>
              <a:noFill/>
            </p:spPr>
            <p:txBody>
              <a:bodyPr wrap="square">
                <a:spAutoFit/>
              </a:bodyPr>
              <a:lstStyle/>
              <a:p>
                <a14:m>
                  <m:oMath xmlns:m="http://schemas.openxmlformats.org/officeDocument/2006/math">
                    <m:d>
                      <m:dPr>
                        <m:begChr m:val="{"/>
                        <m:endChr m:val=""/>
                        <m:ctrlPr>
                          <a:rPr kumimoji="0" lang="en-US" sz="43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eqArr>
                          <m:eqArrPr>
                            <m:ctrlP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eqArrPr>
                          <m:e>
                            <m:r>
                              <m:rPr>
                                <m:nor/>
                              </m:rPr>
                              <a:rPr lang="en-US" b="1">
                                <a:latin typeface="Cambria Math" panose="02040503050406030204" pitchFamily="18" charset="0"/>
                                <a:ea typeface="Calibri" panose="020F0502020204030204" pitchFamily="34" charset="0"/>
                                <a:cs typeface="Times New Roman" panose="02020603050405020304" pitchFamily="18" charset="0"/>
                              </a:rPr>
                              <m:t>𝒒𝒖𝒂</m:t>
                            </m:r>
                            <m:r>
                              <m:rPr>
                                <m:nor/>
                              </m:rPr>
                              <a:rPr lang="en-US" b="1">
                                <a:latin typeface="Cambria Math" panose="02040503050406030204" pitchFamily="18" charset="0"/>
                                <a:ea typeface="Calibri" panose="020F0502020204030204" pitchFamily="34" charset="0"/>
                                <a:cs typeface="Times New Roman" panose="02020603050405020304" pitchFamily="18" charset="0"/>
                              </a:rPr>
                              <m:t> </m:t>
                            </m:r>
                            <m:r>
                              <m:rPr>
                                <m:nor/>
                              </m:rPr>
                              <a:rPr lang="en-US" b="1">
                                <a:latin typeface="Cambria Math" panose="02040503050406030204" pitchFamily="18" charset="0"/>
                                <a:ea typeface="Calibri" panose="020F0502020204030204" pitchFamily="34" charset="0"/>
                                <a:cs typeface="Times New Roman" panose="02020603050405020304" pitchFamily="18" charset="0"/>
                              </a:rPr>
                              <m:t>𝑨</m:t>
                            </m:r>
                            <m:r>
                              <m:rPr>
                                <m:nor/>
                              </m:rPr>
                              <a:rPr lang="en-US" b="1">
                                <a:latin typeface="Cambria Math" panose="02040503050406030204" pitchFamily="18" charset="0"/>
                                <a:cs typeface="Times New Roman" panose="02020603050405020304" pitchFamily="18" charset="0"/>
                              </a:rPr>
                              <m:t>(</m:t>
                            </m:r>
                            <m:r>
                              <m:rPr>
                                <m:nor/>
                              </m:rPr>
                              <a:rPr lang="en-US" b="1">
                                <a:latin typeface="Cambria Math" panose="02040503050406030204" pitchFamily="18" charset="0"/>
                                <a:ea typeface="Calibri" panose="020F0502020204030204" pitchFamily="34" charset="0"/>
                                <a:cs typeface="Times New Roman" panose="02020603050405020304" pitchFamily="18" charset="0"/>
                              </a:rPr>
                              <m:t>𝟐</m:t>
                            </m:r>
                            <m:r>
                              <m:rPr>
                                <m:nor/>
                              </m:rPr>
                              <a:rPr lang="en-US" b="1">
                                <a:latin typeface="Cambria Math" panose="02040503050406030204" pitchFamily="18" charset="0"/>
                                <a:ea typeface="Calibri" panose="020F0502020204030204" pitchFamily="34" charset="0"/>
                                <a:cs typeface="Times New Roman" panose="02020603050405020304" pitchFamily="18" charset="0"/>
                              </a:rPr>
                              <m:t>; − </m:t>
                            </m:r>
                            <m:r>
                              <m:rPr>
                                <m:nor/>
                              </m:rPr>
                              <a:rPr lang="en-US" b="1">
                                <a:latin typeface="Cambria Math" panose="02040503050406030204" pitchFamily="18" charset="0"/>
                                <a:ea typeface="Calibri" panose="020F0502020204030204" pitchFamily="34" charset="0"/>
                                <a:cs typeface="Times New Roman" panose="02020603050405020304" pitchFamily="18" charset="0"/>
                              </a:rPr>
                              <m:t>𝟑</m:t>
                            </m:r>
                            <m:r>
                              <m:rPr>
                                <m:nor/>
                              </m:rPr>
                              <a:rPr lang="en-US" b="1">
                                <a:latin typeface="Cambria Math" panose="02040503050406030204" pitchFamily="18" charset="0"/>
                                <a:ea typeface="Calibri" panose="020F0502020204030204" pitchFamily="34" charset="0"/>
                                <a:cs typeface="Times New Roman" panose="02020603050405020304" pitchFamily="18" charset="0"/>
                              </a:rPr>
                              <m:t>)</m:t>
                            </m:r>
                          </m:e>
                          <m:e>
                            <m:r>
                              <m:rPr>
                                <m:nor/>
                              </m:rPr>
                              <a:rPr lang="en-US" b="1" i="0" dirty="0" smtClean="0">
                                <a:latin typeface="Tahoma" panose="020B0604030504040204" pitchFamily="34" charset="0"/>
                                <a:ea typeface="Tahoma" panose="020B0604030504040204" pitchFamily="34" charset="0"/>
                                <a:cs typeface="Tahoma" panose="020B0604030504040204" pitchFamily="34" charset="0"/>
                              </a:rPr>
                              <m:t>vtcp</m:t>
                            </m:r>
                            <m:r>
                              <m:rPr>
                                <m:nor/>
                              </m:rPr>
                              <a:rPr lang="en-US" b="1" i="0" dirty="0" smtClean="0">
                                <a:latin typeface="Tahoma" panose="020B0604030504040204" pitchFamily="34" charset="0"/>
                                <a:ea typeface="Tahoma" panose="020B0604030504040204" pitchFamily="34" charset="0"/>
                                <a:cs typeface="Tahoma" panose="020B0604030504040204" pitchFamily="34" charset="0"/>
                              </a:rPr>
                              <m:t> </m:t>
                            </m:r>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𝒖</m:t>
                                </m:r>
                              </m:e>
                            </m:acc>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𝟒</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𝟏</m:t>
                                </m:r>
                              </m:e>
                            </m:d>
                          </m:e>
                        </m:eqArr>
                      </m:e>
                    </m:d>
                  </m:oMath>
                </a14:m>
                <a:r>
                  <a:rPr kumimoji="0" lang="en-US" sz="43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t>
                </a:r>
                <a:endParaRPr lang="en-US" dirty="0"/>
              </a:p>
            </p:txBody>
          </p:sp>
        </mc:Choice>
        <mc:Fallback xmlns="">
          <p:sp>
            <p:nvSpPr>
              <p:cNvPr id="24" name="TextBox 23">
                <a:extLst>
                  <a:ext uri="{FF2B5EF4-FFF2-40B4-BE49-F238E27FC236}">
                    <a16:creationId xmlns:a16="http://schemas.microsoft.com/office/drawing/2014/main" id="{4FC1A061-5BCE-CA81-3273-A0879B9F6D9F}"/>
                  </a:ext>
                </a:extLst>
              </p:cNvPr>
              <p:cNvSpPr txBox="1">
                <a:spLocks noRot="1" noChangeAspect="1" noMove="1" noResize="1" noEditPoints="1" noAdjustHandles="1" noChangeArrowheads="1" noChangeShapeType="1" noTextEdit="1"/>
              </p:cNvSpPr>
              <p:nvPr/>
            </p:nvSpPr>
            <p:spPr>
              <a:xfrm>
                <a:off x="3505200" y="8839200"/>
                <a:ext cx="6019800" cy="1568378"/>
              </a:xfrm>
              <a:prstGeom prst="rect">
                <a:avLst/>
              </a:prstGeom>
              <a:blipFill>
                <a:blip r:embed="rId5"/>
                <a:stretch>
                  <a:fillRect/>
                </a:stretch>
              </a:blipFill>
            </p:spPr>
            <p:txBody>
              <a:bodyPr/>
              <a:lstStyle/>
              <a:p>
                <a:r>
                  <a:rPr lang="en-US">
                    <a:noFill/>
                  </a:rPr>
                  <a:t> </a:t>
                </a:r>
              </a:p>
            </p:txBody>
          </p:sp>
        </mc:Fallback>
      </mc:AlternateContent>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71570020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
                                            <p:txEl>
                                              <p:pRg st="0" end="0"/>
                                            </p:txEl>
                                          </p:spTgt>
                                        </p:tgtEl>
                                        <p:attrNameLst>
                                          <p:attrName>style.visibility</p:attrName>
                                        </p:attrNameLst>
                                      </p:cBhvr>
                                      <p:to>
                                        <p:strVal val="visible"/>
                                      </p:to>
                                    </p:set>
                                    <p:animEffect transition="in" filter="fade">
                                      <p:cBhvr>
                                        <p:cTn id="25" dur="500"/>
                                        <p:tgtEl>
                                          <p:spTgt spid="12">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2">
                                            <p:txEl>
                                              <p:pRg st="1" end="1"/>
                                            </p:txEl>
                                          </p:spTgt>
                                        </p:tgtEl>
                                        <p:attrNameLst>
                                          <p:attrName>style.visibility</p:attrName>
                                        </p:attrNameLst>
                                      </p:cBhvr>
                                      <p:to>
                                        <p:strVal val="visible"/>
                                      </p:to>
                                    </p:set>
                                    <p:animEffect transition="in" filter="fade">
                                      <p:cBhvr>
                                        <p:cTn id="30" dur="500"/>
                                        <p:tgtEl>
                                          <p:spTgt spid="12">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2">
                                            <p:txEl>
                                              <p:pRg st="2" end="2"/>
                                            </p:txEl>
                                          </p:spTgt>
                                        </p:tgtEl>
                                        <p:attrNameLst>
                                          <p:attrName>style.visibility</p:attrName>
                                        </p:attrNameLst>
                                      </p:cBhvr>
                                      <p:to>
                                        <p:strVal val="visible"/>
                                      </p:to>
                                    </p:set>
                                    <p:animEffect transition="in" filter="fade">
                                      <p:cBhvr>
                                        <p:cTn id="35" dur="500"/>
                                        <p:tgtEl>
                                          <p:spTgt spid="12">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wipe(left)">
                                      <p:cBhvr>
                                        <p:cTn id="40" dur="500"/>
                                        <p:tgtEl>
                                          <p:spTgt spid="2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2">
                                            <p:txEl>
                                              <p:pRg st="4" end="4"/>
                                            </p:txEl>
                                          </p:spTgt>
                                        </p:tgtEl>
                                        <p:attrNameLst>
                                          <p:attrName>style.visibility</p:attrName>
                                        </p:attrNameLst>
                                      </p:cBhvr>
                                      <p:to>
                                        <p:strVal val="visible"/>
                                      </p:to>
                                    </p:set>
                                    <p:animEffect transition="in" filter="fade">
                                      <p:cBhvr>
                                        <p:cTn id="45" dur="500"/>
                                        <p:tgtEl>
                                          <p:spTgt spid="12">
                                            <p:txEl>
                                              <p:pRg st="4" end="4"/>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9">
                                            <p:txEl>
                                              <p:pRg st="0" end="0"/>
                                            </p:txEl>
                                          </p:spTgt>
                                        </p:tgtEl>
                                        <p:attrNameLst>
                                          <p:attrName>style.visibility</p:attrName>
                                        </p:attrNameLst>
                                      </p:cBhvr>
                                      <p:to>
                                        <p:strVal val="visible"/>
                                      </p:to>
                                    </p:set>
                                    <p:animEffect transition="in" filter="fade">
                                      <p:cBhvr>
                                        <p:cTn id="55" dur="500"/>
                                        <p:tgtEl>
                                          <p:spTgt spid="19">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9">
                                            <p:txEl>
                                              <p:pRg st="1" end="1"/>
                                            </p:txEl>
                                          </p:spTgt>
                                        </p:tgtEl>
                                        <p:attrNameLst>
                                          <p:attrName>style.visibility</p:attrName>
                                        </p:attrNameLst>
                                      </p:cBhvr>
                                      <p:to>
                                        <p:strVal val="visible"/>
                                      </p:to>
                                    </p:set>
                                    <p:animEffect transition="in" filter="fade">
                                      <p:cBhvr>
                                        <p:cTn id="60" dur="500"/>
                                        <p:tgtEl>
                                          <p:spTgt spid="19">
                                            <p:txEl>
                                              <p:pRg st="1" end="1"/>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19">
                                            <p:txEl>
                                              <p:pRg st="2" end="2"/>
                                            </p:txEl>
                                          </p:spTgt>
                                        </p:tgtEl>
                                        <p:attrNameLst>
                                          <p:attrName>style.visibility</p:attrName>
                                        </p:attrNameLst>
                                      </p:cBhvr>
                                      <p:to>
                                        <p:strVal val="visible"/>
                                      </p:to>
                                    </p:set>
                                    <p:animEffect transition="in" filter="fade">
                                      <p:cBhvr>
                                        <p:cTn id="63" dur="500"/>
                                        <p:tgtEl>
                                          <p:spTgt spid="19">
                                            <p:txEl>
                                              <p:pRg st="2" end="2"/>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9">
                                            <p:txEl>
                                              <p:pRg st="3" end="3"/>
                                            </p:txEl>
                                          </p:spTgt>
                                        </p:tgtEl>
                                        <p:attrNameLst>
                                          <p:attrName>style.visibility</p:attrName>
                                        </p:attrNameLst>
                                      </p:cBhvr>
                                      <p:to>
                                        <p:strVal val="visible"/>
                                      </p:to>
                                    </p:set>
                                    <p:animEffect transition="in" filter="fade">
                                      <p:cBhvr>
                                        <p:cTn id="68" dur="500"/>
                                        <p:tgtEl>
                                          <p:spTgt spid="19">
                                            <p:txEl>
                                              <p:pRg st="3" end="3"/>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19">
                                            <p:txEl>
                                              <p:pRg st="4" end="4"/>
                                            </p:txEl>
                                          </p:spTgt>
                                        </p:tgtEl>
                                        <p:attrNameLst>
                                          <p:attrName>style.visibility</p:attrName>
                                        </p:attrNameLst>
                                      </p:cBhvr>
                                      <p:to>
                                        <p:strVal val="visible"/>
                                      </p:to>
                                    </p:set>
                                    <p:animEffect transition="in" filter="fade">
                                      <p:cBhvr>
                                        <p:cTn id="73" dur="500"/>
                                        <p:tgtEl>
                                          <p:spTgt spid="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12" grpId="0" animBg="1"/>
      <p:bldP spid="19" grpId="0" animBg="1"/>
      <p:bldP spid="2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81000" y="1879601"/>
            <a:ext cx="23622000" cy="11684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7000"/>
              </a:lnSpc>
              <a:spcAft>
                <a:spcPts val="800"/>
              </a:spcAft>
            </a:pPr>
            <a:r>
              <a:rPr lang="en-US" b="1">
                <a:solidFill>
                  <a:srgbClr val="FF0000"/>
                </a:solidFill>
                <a:latin typeface="Tahoma" panose="020B0604030504040204" pitchFamily="34" charset="0"/>
                <a:ea typeface="Tahoma" panose="020B0604030504040204" pitchFamily="34" charset="0"/>
                <a:cs typeface="Tahoma" panose="020B0604030504040204" pitchFamily="34" charset="0"/>
              </a:rPr>
              <a:t>2. PHƯƠNG TRÌNH THAM SỐ CỦA ĐƯỜNG THẲNG</a:t>
            </a:r>
            <a:endParaRPr lang="en-US">
              <a:solidFill>
                <a:srgbClr val="FF0000"/>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14822BB7-DB89-4357-87F0-6E511FC44A6A}"/>
                  </a:ext>
                </a:extLst>
              </p:cNvPr>
              <p:cNvSpPr txBox="1">
                <a:spLocks/>
              </p:cNvSpPr>
              <p:nvPr/>
            </p:nvSpPr>
            <p:spPr>
              <a:xfrm>
                <a:off x="381000" y="3048001"/>
                <a:ext cx="23622000" cy="103631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7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Lập</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tham</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đi</a:t>
                </a:r>
                <a:r>
                  <a:rPr lang="en-US" b="1" dirty="0">
                    <a:latin typeface="Tahoma" panose="020B0604030504040204" pitchFamily="34" charset="0"/>
                    <a:ea typeface="Tahoma" panose="020B0604030504040204" pitchFamily="34" charset="0"/>
                    <a:cs typeface="Tahoma" panose="020B0604030504040204" pitchFamily="34" charset="0"/>
                  </a:rPr>
                  <a:t> qua </a:t>
                </a:r>
                <a:r>
                  <a:rPr lang="en-US" b="1" dirty="0" err="1">
                    <a:latin typeface="Tahoma" panose="020B0604030504040204" pitchFamily="34" charset="0"/>
                    <a:ea typeface="Tahoma" panose="020B0604030504040204" pitchFamily="34" charset="0"/>
                    <a:cs typeface="Tahoma" panose="020B0604030504040204" pitchFamily="34" charset="0"/>
                  </a:rPr>
                  <a:t>hai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điểm</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𝑨</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𝟐</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𝟑</m:t>
                        </m:r>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𝑩</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𝟏</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𝟓</m:t>
                        </m:r>
                      </m:e>
                    </m:d>
                  </m:oMath>
                </a14:m>
                <a:r>
                  <a:rPr lang="en-US" b="1" dirty="0">
                    <a:latin typeface="Tahoma" panose="020B0604030504040204" pitchFamily="34" charset="0"/>
                    <a:ea typeface="Tahoma" panose="020B0604030504040204" pitchFamily="34" charset="0"/>
                    <a:cs typeface="Tahoma" panose="020B0604030504040204" pitchFamily="34" charset="0"/>
                  </a:rPr>
                  <a:t>.</a:t>
                </a:r>
              </a:p>
              <a:p>
                <a:pPr marL="0" indent="0">
                  <a:lnSpc>
                    <a:spcPct val="107000"/>
                  </a:lnSpc>
                  <a:spcAft>
                    <a:spcPts val="800"/>
                  </a:spcAft>
                  <a:buNone/>
                </a:pPr>
                <a:r>
                  <a:rPr lang="en-US" b="1" u="sng"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endParaRPr lang="en-US" b="1" u="sng"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nSpc>
                    <a:spcPct val="107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	</a:t>
                </a:r>
              </a:p>
              <a:p>
                <a:pPr marL="0" indent="0">
                  <a:lnSpc>
                    <a:spcPct val="107000"/>
                  </a:lnSpc>
                  <a:spcAft>
                    <a:spcPts val="800"/>
                  </a:spcAft>
                  <a:buNone/>
                </a:pP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lnSpc>
                    <a:spcPct val="107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 				</a:t>
                </a:r>
              </a:p>
              <a:p>
                <a:pPr marL="0" indent="0">
                  <a:lnSpc>
                    <a:spcPct val="107000"/>
                  </a:lnSpc>
                  <a:spcAft>
                    <a:spcPts val="800"/>
                  </a:spcAft>
                  <a:buNone/>
                </a:pP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lnSpc>
                    <a:spcPct val="107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	do </a:t>
                </a:r>
                <a:r>
                  <a:rPr lang="en-US" b="1" dirty="0" err="1">
                    <a:latin typeface="Tahoma" panose="020B0604030504040204" pitchFamily="34" charset="0"/>
                    <a:ea typeface="Tahoma" panose="020B0604030504040204" pitchFamily="34" charset="0"/>
                    <a:cs typeface="Tahoma" panose="020B0604030504040204" pitchFamily="34" charset="0"/>
                  </a:rPr>
                  <a:t>đó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tham</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b="1" i="1">
                            <a:latin typeface="Cambria Math" panose="02040503050406030204" pitchFamily="18" charset="0"/>
                            <a:ea typeface="Calibri" panose="020F0502020204030204" pitchFamily="34" charset="0"/>
                            <a:cs typeface="Times New Roman" panose="02020603050405020304" pitchFamily="18" charset="0"/>
                          </a:rPr>
                        </m:ctrlPr>
                      </m:dPr>
                      <m:e>
                        <m:eqArr>
                          <m:eqArrPr>
                            <m:ctrlPr>
                              <a:rPr lang="en-US" b="1" i="1">
                                <a:latin typeface="Cambria Math" panose="02040503050406030204" pitchFamily="18" charset="0"/>
                                <a:ea typeface="Calibri" panose="020F0502020204030204" pitchFamily="34" charset="0"/>
                                <a:cs typeface="Times New Roman" panose="02020603050405020304" pitchFamily="18" charset="0"/>
                              </a:rPr>
                            </m:ctrlPr>
                          </m:eqArr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𝟐</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𝒕</m:t>
                            </m:r>
                          </m:e>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𝟑</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𝟐</m:t>
                            </m:r>
                            <m:r>
                              <a:rPr lang="en-US" b="1" i="1" smtClean="0">
                                <a:latin typeface="Cambria Math" panose="02040503050406030204" pitchFamily="18" charset="0"/>
                                <a:ea typeface="Calibri" panose="020F0502020204030204" pitchFamily="34" charset="0"/>
                                <a:cs typeface="Times New Roman" panose="02020603050405020304" pitchFamily="18" charset="0"/>
                              </a:rPr>
                              <m:t>𝒕</m:t>
                            </m:r>
                          </m:e>
                        </m:eqArr>
                      </m:e>
                    </m:d>
                  </m:oMath>
                </a14:m>
                <a:r>
                  <a:rPr lang="en-US"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24"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81000" y="3048001"/>
                <a:ext cx="23622000" cy="10363199"/>
              </a:xfrm>
              <a:prstGeom prst="rect">
                <a:avLst/>
              </a:prstGeom>
              <a:blipFill>
                <a:blip r:embed="rId3"/>
                <a:stretch>
                  <a:fillRect l="-1161" t="-1469"/>
                </a:stretch>
              </a:blipFill>
              <a:ln>
                <a:solidFill>
                  <a:srgbClr val="00B0F0"/>
                </a:solidFill>
              </a:ln>
            </p:spPr>
            <p:txBody>
              <a:bodyPr/>
              <a:lstStyle/>
              <a:p>
                <a:r>
                  <a:rPr lang="en-US">
                    <a:noFill/>
                  </a:rPr>
                  <a:t> </a:t>
                </a:r>
              </a:p>
            </p:txBody>
          </p:sp>
        </mc:Fallback>
      </mc:AlternateContent>
      <p:grpSp>
        <p:nvGrpSpPr>
          <p:cNvPr id="5" name="Group 4"/>
          <p:cNvGrpSpPr/>
          <p:nvPr/>
        </p:nvGrpSpPr>
        <p:grpSpPr>
          <a:xfrm>
            <a:off x="768117" y="3019472"/>
            <a:ext cx="3118084" cy="846967"/>
            <a:chOff x="27395" y="60714"/>
            <a:chExt cx="1260580" cy="157054"/>
          </a:xfrm>
        </p:grpSpPr>
        <p:grpSp>
          <p:nvGrpSpPr>
            <p:cNvPr id="6" name="Group 5"/>
            <p:cNvGrpSpPr/>
            <p:nvPr/>
          </p:nvGrpSpPr>
          <p:grpSpPr>
            <a:xfrm>
              <a:off x="27395" y="60714"/>
              <a:ext cx="1260580" cy="157054"/>
              <a:chOff x="38544" y="62041"/>
              <a:chExt cx="1773659" cy="194361"/>
            </a:xfrm>
          </p:grpSpPr>
          <p:sp>
            <p:nvSpPr>
              <p:cNvPr id="8" name="Arrow: Pentagon 25"/>
              <p:cNvSpPr/>
              <p:nvPr/>
            </p:nvSpPr>
            <p:spPr>
              <a:xfrm>
                <a:off x="204585" y="62041"/>
                <a:ext cx="1607618" cy="194296"/>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6000"/>
                  </a:lnSpc>
                  <a:spcAft>
                    <a:spcPts val="800"/>
                  </a:spcAft>
                </a:pPr>
                <a:r>
                  <a:rPr lang="en-US" sz="1000" b="1" kern="1200">
                    <a:solidFill>
                      <a:srgbClr val="0000CC"/>
                    </a:solidFill>
                    <a:effectLst/>
                    <a:ea typeface="Calibri" panose="020F0502020204030204" pitchFamily="34" charset="0"/>
                    <a:cs typeface="Times New Roman" panose="02020603050405020304" pitchFamily="18" charset="0"/>
                  </a:rPr>
                  <a:t> </a:t>
                </a:r>
                <a:endParaRPr lang="en-US" sz="1200" b="1">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9" name="Arrow: Chevron 26"/>
              <p:cNvSpPr/>
              <p:nvPr/>
            </p:nvSpPr>
            <p:spPr>
              <a:xfrm>
                <a:off x="38544" y="62041"/>
                <a:ext cx="155658" cy="194361"/>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sp>
            <p:nvSpPr>
              <p:cNvPr id="10" name="Arrow: Chevron 27"/>
              <p:cNvSpPr/>
              <p:nvPr/>
            </p:nvSpPr>
            <p:spPr>
              <a:xfrm>
                <a:off x="115330" y="62041"/>
                <a:ext cx="177710" cy="194296"/>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grpSp>
        <p:sp>
          <p:nvSpPr>
            <p:cNvPr id="7" name="TextBox 56"/>
            <p:cNvSpPr txBox="1"/>
            <p:nvPr/>
          </p:nvSpPr>
          <p:spPr>
            <a:xfrm>
              <a:off x="250984" y="68068"/>
              <a:ext cx="884516" cy="139535"/>
            </a:xfrm>
            <a:prstGeom prst="rect">
              <a:avLst/>
            </a:prstGeom>
            <a:noFill/>
          </p:spPr>
          <p:txBody>
            <a:bodyPr wrap="square">
              <a:noAutofit/>
            </a:bodyPr>
            <a:lstStyle/>
            <a:p>
              <a:pPr>
                <a:lnSpc>
                  <a:spcPct val="107000"/>
                </a:lnSpc>
                <a:spcAft>
                  <a:spcPts val="800"/>
                </a:spcAft>
              </a:pPr>
              <a:r>
                <a:rPr lang="en-US" sz="4800" b="1" kern="1200">
                  <a:solidFill>
                    <a:srgbClr val="0000CC"/>
                  </a:solidFill>
                  <a:effectLst/>
                  <a:latin typeface="Tomaho"/>
                  <a:ea typeface="Calibri" panose="020F0502020204030204" pitchFamily="34" charset="0"/>
                  <a:cs typeface="Times New Roman" panose="02020603050405020304" pitchFamily="18" charset="0"/>
                </a:rPr>
                <a:t>Ví dụ </a:t>
              </a:r>
              <a:r>
                <a:rPr lang="en-US" sz="4800" b="1">
                  <a:solidFill>
                    <a:srgbClr val="0000CC"/>
                  </a:solidFill>
                  <a:latin typeface="Tomaho"/>
                  <a:ea typeface="Calibri" panose="020F0502020204030204" pitchFamily="34" charset="0"/>
                  <a:cs typeface="Times New Roman" panose="02020603050405020304" pitchFamily="18" charset="0"/>
                </a:rPr>
                <a:t>6</a:t>
              </a:r>
              <a:r>
                <a:rPr lang="en-US" sz="4800" b="1" kern="1200">
                  <a:solidFill>
                    <a:srgbClr val="0000CC"/>
                  </a:solidFill>
                  <a:effectLst/>
                  <a:latin typeface="Tomaho"/>
                  <a:ea typeface="Calibri" panose="020F0502020204030204" pitchFamily="34" charset="0"/>
                  <a:cs typeface="Times New Roman" panose="02020603050405020304" pitchFamily="18" charset="0"/>
                </a:rPr>
                <a:t>.</a:t>
              </a:r>
              <a:endParaRPr lang="en-US" sz="4800" b="1">
                <a:effectLst/>
                <a:latin typeface="Tomaho"/>
                <a:ea typeface="Calibri" panose="020F0502020204030204" pitchFamily="34"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F0CEAC8-1F30-D011-F36B-1FBEDD637F92}"/>
                  </a:ext>
                </a:extLst>
              </p:cNvPr>
              <p:cNvSpPr txBox="1"/>
              <p:nvPr/>
            </p:nvSpPr>
            <p:spPr>
              <a:xfrm>
                <a:off x="8458200" y="6661764"/>
                <a:ext cx="6019800" cy="1811009"/>
              </a:xfrm>
              <a:prstGeom prst="rect">
                <a:avLst/>
              </a:prstGeom>
              <a:noFill/>
            </p:spPr>
            <p:txBody>
              <a:bodyPr wrap="square">
                <a:spAutoFit/>
              </a:bodyPr>
              <a:lstStyle/>
              <a:p>
                <a14:m>
                  <m:oMath xmlns:m="http://schemas.openxmlformats.org/officeDocument/2006/math">
                    <m:r>
                      <a:rPr lang="en-US" b="1" i="1">
                        <a:latin typeface="Cambria Math" panose="02040503050406030204" pitchFamily="18" charset="0"/>
                        <a:ea typeface="Calibri" panose="020F0502020204030204" pitchFamily="34" charset="0"/>
                        <a:cs typeface="Cambria Math" panose="02040503050406030204" pitchFamily="18" charset="0"/>
                      </a:rPr>
                      <m:t>⇔ </m:t>
                    </m:r>
                    <m:d>
                      <m:dPr>
                        <m:begChr m:val="{"/>
                        <m:endChr m:val=""/>
                        <m:ctrlPr>
                          <a:rPr kumimoji="0" lang="en-US" sz="43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eqArr>
                          <m:eqArrPr>
                            <m:ctrlP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eqArrPr>
                          <m:e>
                            <m:r>
                              <m:rPr>
                                <m:nor/>
                              </m:rPr>
                              <a:rPr lang="en-US" b="1">
                                <a:latin typeface="Cambria Math" panose="02040503050406030204" pitchFamily="18" charset="0"/>
                                <a:ea typeface="Calibri" panose="020F0502020204030204" pitchFamily="34" charset="0"/>
                                <a:cs typeface="Times New Roman" panose="02020603050405020304" pitchFamily="18" charset="0"/>
                              </a:rPr>
                              <m:t>𝒒𝒖𝒂</m:t>
                            </m:r>
                            <m:r>
                              <m:rPr>
                                <m:nor/>
                              </m:rPr>
                              <a:rPr lang="en-US" b="1">
                                <a:latin typeface="Cambria Math" panose="02040503050406030204" pitchFamily="18" charset="0"/>
                                <a:ea typeface="Calibri" panose="020F0502020204030204" pitchFamily="34" charset="0"/>
                                <a:cs typeface="Times New Roman" panose="02020603050405020304" pitchFamily="18" charset="0"/>
                              </a:rPr>
                              <m:t> </m:t>
                            </m:r>
                            <m:r>
                              <m:rPr>
                                <m:nor/>
                              </m:rPr>
                              <a:rPr lang="en-US" b="1">
                                <a:latin typeface="Cambria Math" panose="02040503050406030204" pitchFamily="18" charset="0"/>
                                <a:ea typeface="Calibri" panose="020F0502020204030204" pitchFamily="34" charset="0"/>
                                <a:cs typeface="Times New Roman" panose="02020603050405020304" pitchFamily="18" charset="0"/>
                              </a:rPr>
                              <m:t>𝑨</m:t>
                            </m:r>
                            <m:r>
                              <m:rPr>
                                <m:nor/>
                              </m:rPr>
                              <a:rPr lang="en-US" b="1">
                                <a:latin typeface="Cambria Math" panose="02040503050406030204" pitchFamily="18" charset="0"/>
                                <a:cs typeface="Times New Roman" panose="02020603050405020304" pitchFamily="18" charset="0"/>
                              </a:rPr>
                              <m:t>(</m:t>
                            </m:r>
                            <m:r>
                              <m:rPr>
                                <m:nor/>
                              </m:rPr>
                              <a:rPr lang="en-US" b="1">
                                <a:latin typeface="Cambria Math" panose="02040503050406030204" pitchFamily="18" charset="0"/>
                                <a:ea typeface="Calibri" panose="020F0502020204030204" pitchFamily="34" charset="0"/>
                                <a:cs typeface="Times New Roman" panose="02020603050405020304" pitchFamily="18" charset="0"/>
                              </a:rPr>
                              <m:t>𝟐</m:t>
                            </m:r>
                            <m:r>
                              <m:rPr>
                                <m:nor/>
                              </m:rPr>
                              <a:rPr lang="en-US" b="1">
                                <a:latin typeface="Cambria Math" panose="02040503050406030204" pitchFamily="18" charset="0"/>
                                <a:ea typeface="Calibri" panose="020F0502020204030204" pitchFamily="34" charset="0"/>
                                <a:cs typeface="Times New Roman" panose="02020603050405020304" pitchFamily="18" charset="0"/>
                              </a:rPr>
                              <m:t>;</m:t>
                            </m:r>
                            <m:r>
                              <m:rPr>
                                <m:nor/>
                              </m:rPr>
                              <a:rPr lang="en-US" b="1">
                                <a:latin typeface="Cambria Math" panose="02040503050406030204" pitchFamily="18" charset="0"/>
                                <a:ea typeface="Calibri" panose="020F0502020204030204" pitchFamily="34" charset="0"/>
                                <a:cs typeface="Times New Roman" panose="02020603050405020304" pitchFamily="18" charset="0"/>
                              </a:rPr>
                              <m:t>𝟑</m:t>
                            </m:r>
                            <m:r>
                              <m:rPr>
                                <m:nor/>
                              </m:rPr>
                              <a:rPr lang="en-US" b="1">
                                <a:latin typeface="Cambria Math" panose="02040503050406030204" pitchFamily="18" charset="0"/>
                                <a:ea typeface="Calibri" panose="020F0502020204030204" pitchFamily="34" charset="0"/>
                                <a:cs typeface="Times New Roman" panose="02020603050405020304" pitchFamily="18" charset="0"/>
                              </a:rPr>
                              <m:t>)</m:t>
                            </m:r>
                          </m:e>
                          <m:e>
                            <m:r>
                              <m:rPr>
                                <m:nor/>
                              </m:rPr>
                              <a:rPr lang="en-US" b="1" i="0" dirty="0" smtClean="0">
                                <a:latin typeface="Tahoma" panose="020B0604030504040204" pitchFamily="34" charset="0"/>
                                <a:ea typeface="Tahoma" panose="020B0604030504040204" pitchFamily="34" charset="0"/>
                                <a:cs typeface="Tahoma" panose="020B0604030504040204" pitchFamily="34" charset="0"/>
                              </a:rPr>
                              <m:t>vtcp</m:t>
                            </m:r>
                            <m:r>
                              <m:rPr>
                                <m:nor/>
                              </m:rPr>
                              <a:rPr lang="en-US" b="1" i="0" dirty="0" smtClean="0">
                                <a:latin typeface="Tahoma" panose="020B0604030504040204" pitchFamily="34" charset="0"/>
                                <a:ea typeface="Tahoma" panose="020B0604030504040204" pitchFamily="34" charset="0"/>
                                <a:cs typeface="Tahoma" panose="020B0604030504040204" pitchFamily="34" charset="0"/>
                              </a:rPr>
                              <m:t> </m:t>
                            </m:r>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a:latin typeface="Cambria Math" panose="02040503050406030204" pitchFamily="18" charset="0"/>
                                    <a:ea typeface="Calibri" panose="020F0502020204030204" pitchFamily="34" charset="0"/>
                                    <a:cs typeface="Times New Roman" panose="02020603050405020304" pitchFamily="18" charset="0"/>
                                  </a:rPr>
                                  <m:t>𝑨𝑩</m:t>
                                </m:r>
                              </m:e>
                            </m:acc>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𝟏</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𝟐</m:t>
                                </m:r>
                              </m:e>
                            </m:d>
                          </m:e>
                        </m:eqArr>
                      </m:e>
                    </m:d>
                  </m:oMath>
                </a14:m>
                <a:r>
                  <a:rPr kumimoji="0" lang="en-US" sz="43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t>
                </a:r>
                <a:endParaRPr lang="en-US" dirty="0"/>
              </a:p>
            </p:txBody>
          </p:sp>
        </mc:Choice>
        <mc:Fallback xmlns="">
          <p:sp>
            <p:nvSpPr>
              <p:cNvPr id="11" name="TextBox 10">
                <a:extLst>
                  <a:ext uri="{FF2B5EF4-FFF2-40B4-BE49-F238E27FC236}">
                    <a16:creationId xmlns:a16="http://schemas.microsoft.com/office/drawing/2014/main" id="{DF0CEAC8-1F30-D011-F36B-1FBEDD637F92}"/>
                  </a:ext>
                </a:extLst>
              </p:cNvPr>
              <p:cNvSpPr txBox="1">
                <a:spLocks noRot="1" noChangeAspect="1" noMove="1" noResize="1" noEditPoints="1" noAdjustHandles="1" noChangeArrowheads="1" noChangeShapeType="1" noTextEdit="1"/>
              </p:cNvSpPr>
              <p:nvPr/>
            </p:nvSpPr>
            <p:spPr>
              <a:xfrm>
                <a:off x="8458200" y="6661764"/>
                <a:ext cx="6019800" cy="181100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C8BA0EB-594E-408B-E57C-1FC737037AFD}"/>
                  </a:ext>
                </a:extLst>
              </p:cNvPr>
              <p:cNvSpPr txBox="1"/>
              <p:nvPr/>
            </p:nvSpPr>
            <p:spPr>
              <a:xfrm>
                <a:off x="2971800" y="4830491"/>
                <a:ext cx="12708082" cy="1568378"/>
              </a:xfrm>
              <a:prstGeom prst="rect">
                <a:avLst/>
              </a:prstGeom>
              <a:noFill/>
            </p:spPr>
            <p:txBody>
              <a:bodyPr wrap="square">
                <a:spAutoFit/>
              </a:bodyPr>
              <a:lstStyle/>
              <a:p>
                <a:r>
                  <a:rPr kumimoji="0" lang="en-US" sz="43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Đường </a:t>
                </a:r>
                <a:r>
                  <a:rPr kumimoji="0" lang="en-US" sz="4300" b="1" i="0" u="none" strike="noStrike" kern="1200" cap="none" spc="0" normalizeH="0" baseline="0" noProof="0" dirty="0" err="1">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thẳng</a:t>
                </a:r>
                <a:r>
                  <a:rPr kumimoji="0" lang="en-US" sz="43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en-US" sz="43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𝑨𝑩</m:t>
                    </m:r>
                  </m:oMath>
                </a14:m>
                <a:r>
                  <a:rPr kumimoji="0" lang="en-US" sz="43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300" b="1" i="0" u="none" strike="noStrike" kern="1200" cap="none" spc="0" normalizeH="0" baseline="0" noProof="0" dirty="0" err="1">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đi</a:t>
                </a:r>
                <a:r>
                  <a:rPr kumimoji="0" lang="en-US" sz="43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qua</a:t>
                </a:r>
                <a:r>
                  <a:rPr kumimoji="0" lang="en-US" sz="4300" b="1" i="0" u="none" strike="noStrike" kern="12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rPr>
                  <a:t> </a:t>
                </a:r>
                <a14:m>
                  <m:oMath xmlns:m="http://schemas.openxmlformats.org/officeDocument/2006/math">
                    <m:d>
                      <m:dPr>
                        <m:begChr m:val="{"/>
                        <m:endChr m:val=""/>
                        <m:ctrlP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eqArr>
                          <m:eqArrPr>
                            <m:ctrlP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eqArrPr>
                          <m:e>
                            <m:r>
                              <a:rPr kumimoji="0" lang="en-US" sz="43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𝒒𝒖𝒂</m:t>
                            </m:r>
                            <m:r>
                              <a:rPr kumimoji="0" lang="en-US" sz="43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 </m:t>
                            </m:r>
                            <m: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𝑨</m:t>
                            </m:r>
                            <m:d>
                              <m:dPr>
                                <m:ctrlP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𝟐</m:t>
                                </m:r>
                                <m: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𝟑</m:t>
                                </m:r>
                              </m:e>
                            </m:d>
                          </m:e>
                          <m:e>
                            <m:r>
                              <a:rPr kumimoji="0" lang="en-US" sz="43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𝒒𝒖𝒂</m:t>
                            </m:r>
                            <m:r>
                              <a:rPr kumimoji="0" lang="en-US" sz="43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 </m:t>
                            </m:r>
                            <m:r>
                              <a:rPr kumimoji="0" lang="en-US" sz="43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𝑩</m:t>
                            </m:r>
                            <m:r>
                              <a:rPr kumimoji="0" lang="en-US" sz="43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en-US" sz="43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𝟏</m:t>
                            </m:r>
                            <m:r>
                              <a:rPr kumimoji="0" lang="en-US" sz="43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en-US" sz="43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𝟓</m:t>
                            </m:r>
                            <m:r>
                              <a:rPr kumimoji="0" lang="en-US" sz="4300" b="1"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e>
                        </m:eqArr>
                      </m:e>
                    </m:d>
                  </m:oMath>
                </a14:m>
                <a:endParaRPr lang="en-US" dirty="0"/>
              </a:p>
            </p:txBody>
          </p:sp>
        </mc:Choice>
        <mc:Fallback xmlns="">
          <p:sp>
            <p:nvSpPr>
              <p:cNvPr id="13" name="TextBox 12">
                <a:extLst>
                  <a:ext uri="{FF2B5EF4-FFF2-40B4-BE49-F238E27FC236}">
                    <a16:creationId xmlns:a16="http://schemas.microsoft.com/office/drawing/2014/main" id="{CC8BA0EB-594E-408B-E57C-1FC737037AFD}"/>
                  </a:ext>
                </a:extLst>
              </p:cNvPr>
              <p:cNvSpPr txBox="1">
                <a:spLocks noRot="1" noChangeAspect="1" noMove="1" noResize="1" noEditPoints="1" noAdjustHandles="1" noChangeArrowheads="1" noChangeShapeType="1" noTextEdit="1"/>
              </p:cNvSpPr>
              <p:nvPr/>
            </p:nvSpPr>
            <p:spPr>
              <a:xfrm>
                <a:off x="2971800" y="4830491"/>
                <a:ext cx="12708082" cy="1568378"/>
              </a:xfrm>
              <a:prstGeom prst="rect">
                <a:avLst/>
              </a:prstGeom>
              <a:blipFill>
                <a:blip r:embed="rId5"/>
                <a:stretch>
                  <a:fillRect l="-19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64040B4-B902-8A84-73CF-111F058BB34F}"/>
                  </a:ext>
                </a:extLst>
              </p:cNvPr>
              <p:cNvSpPr txBox="1"/>
              <p:nvPr/>
            </p:nvSpPr>
            <p:spPr>
              <a:xfrm>
                <a:off x="8323118" y="8856984"/>
                <a:ext cx="12708082" cy="1568378"/>
              </a:xfrm>
              <a:prstGeom prst="rect">
                <a:avLst/>
              </a:prstGeom>
              <a:noFill/>
            </p:spPr>
            <p:txBody>
              <a:bodyPr wrap="square">
                <a:spAutoFit/>
              </a:bodyPr>
              <a:lstStyle/>
              <a:p>
                <a:r>
                  <a:rPr kumimoji="0" lang="en-US" sz="43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mbria Math" panose="02040503050406030204" pitchFamily="18" charset="0"/>
                      </a:rPr>
                      <m:t>⇔</m:t>
                    </m:r>
                    <m:d>
                      <m:dPr>
                        <m:begChr m:val="{"/>
                        <m:endChr m:val=""/>
                        <m:ctrlP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eqArr>
                          <m:eqArrPr>
                            <m:ctrlP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eqArrPr>
                          <m:e>
                            <m: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𝒙</m:t>
                            </m:r>
                            <m: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𝟐</m:t>
                            </m:r>
                            <m: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𝒕</m:t>
                            </m:r>
                          </m:e>
                          <m:e>
                            <m: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𝒚</m:t>
                            </m:r>
                            <m: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𝟑</m:t>
                            </m:r>
                            <m: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𝟐</m:t>
                            </m:r>
                            <m:r>
                              <a:rPr kumimoji="0" lang="en-US" sz="4300" b="1"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𝒕</m:t>
                            </m:r>
                          </m:e>
                        </m:eqArr>
                      </m:e>
                    </m:d>
                  </m:oMath>
                </a14:m>
                <a:r>
                  <a:rPr kumimoji="0" lang="en-US" sz="43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t>
                </a:r>
                <a:endParaRPr lang="en-US" dirty="0"/>
              </a:p>
            </p:txBody>
          </p:sp>
        </mc:Choice>
        <mc:Fallback xmlns="">
          <p:sp>
            <p:nvSpPr>
              <p:cNvPr id="15" name="TextBox 14">
                <a:extLst>
                  <a:ext uri="{FF2B5EF4-FFF2-40B4-BE49-F238E27FC236}">
                    <a16:creationId xmlns:a16="http://schemas.microsoft.com/office/drawing/2014/main" id="{D64040B4-B902-8A84-73CF-111F058BB34F}"/>
                  </a:ext>
                </a:extLst>
              </p:cNvPr>
              <p:cNvSpPr txBox="1">
                <a:spLocks noRot="1" noChangeAspect="1" noMove="1" noResize="1" noEditPoints="1" noAdjustHandles="1" noChangeArrowheads="1" noChangeShapeType="1" noTextEdit="1"/>
              </p:cNvSpPr>
              <p:nvPr/>
            </p:nvSpPr>
            <p:spPr>
              <a:xfrm>
                <a:off x="8323118" y="8856984"/>
                <a:ext cx="12708082" cy="1568378"/>
              </a:xfrm>
              <a:prstGeom prst="rect">
                <a:avLst/>
              </a:prstGeom>
              <a:blipFill>
                <a:blip r:embed="rId6"/>
                <a:stretch>
                  <a:fillRect/>
                </a:stretch>
              </a:blipFill>
            </p:spPr>
            <p:txBody>
              <a:bodyPr/>
              <a:lstStyle/>
              <a:p>
                <a:r>
                  <a:rPr lang="en-US">
                    <a:noFill/>
                  </a:rPr>
                  <a:t> </a:t>
                </a:r>
              </a:p>
            </p:txBody>
          </p:sp>
        </mc:Fallback>
      </mc:AlternateContent>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44647410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4">
                                            <p:txEl>
                                              <p:pRg st="0" end="0"/>
                                            </p:txEl>
                                          </p:spTgt>
                                        </p:tgtEl>
                                        <p:attrNameLst>
                                          <p:attrName>style.visibility</p:attrName>
                                        </p:attrNameLst>
                                      </p:cBhvr>
                                      <p:to>
                                        <p:strVal val="visible"/>
                                      </p:to>
                                    </p:set>
                                    <p:animEffect transition="in" filter="fade">
                                      <p:cBhvr>
                                        <p:cTn id="21" dur="500"/>
                                        <p:tgtEl>
                                          <p:spTgt spid="24">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4">
                                            <p:txEl>
                                              <p:pRg st="1" end="1"/>
                                            </p:txEl>
                                          </p:spTgt>
                                        </p:tgtEl>
                                        <p:attrNameLst>
                                          <p:attrName>style.visibility</p:attrName>
                                        </p:attrNameLst>
                                      </p:cBhvr>
                                      <p:to>
                                        <p:strVal val="visible"/>
                                      </p:to>
                                    </p:set>
                                    <p:animEffect transition="in" filter="fade">
                                      <p:cBhvr>
                                        <p:cTn id="26" dur="500"/>
                                        <p:tgtEl>
                                          <p:spTgt spid="24">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wipe(left)">
                                      <p:cBhvr>
                                        <p:cTn id="41" dur="5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4">
                                            <p:txEl>
                                              <p:pRg st="6" end="6"/>
                                            </p:txEl>
                                          </p:spTgt>
                                        </p:tgtEl>
                                        <p:attrNameLst>
                                          <p:attrName>style.visibility</p:attrName>
                                        </p:attrNameLst>
                                      </p:cBhvr>
                                      <p:to>
                                        <p:strVal val="visible"/>
                                      </p:to>
                                    </p:set>
                                    <p:animEffect transition="in" filter="fade">
                                      <p:cBhvr>
                                        <p:cTn id="46" dur="500"/>
                                        <p:tgtEl>
                                          <p:spTgt spid="2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24" grpId="0" animBg="1"/>
      <p:bldP spid="11" grpId="0"/>
      <p:bldP spid="13"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228600" y="1879601"/>
            <a:ext cx="23774400" cy="11684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7000"/>
              </a:lnSpc>
              <a:spcAft>
                <a:spcPts val="800"/>
              </a:spcAft>
            </a:pPr>
            <a:r>
              <a:rPr lang="en-US" sz="4800" b="1">
                <a:solidFill>
                  <a:srgbClr val="FF0000"/>
                </a:solidFill>
                <a:latin typeface="Tahoma" panose="020B0604030504040204" pitchFamily="34" charset="0"/>
                <a:ea typeface="Tahoma" panose="020B0604030504040204" pitchFamily="34" charset="0"/>
                <a:cs typeface="Tahoma" panose="020B0604030504040204" pitchFamily="34" charset="0"/>
              </a:rPr>
              <a:t>2. PHƯƠNG TRÌNH THAM SỐ CỦA ĐƯỜNG THẲNG</a:t>
            </a:r>
          </a:p>
        </p:txBody>
      </p:sp>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14822BB7-DB89-4357-87F0-6E511FC44A6A}"/>
                  </a:ext>
                </a:extLst>
              </p:cNvPr>
              <p:cNvSpPr txBox="1">
                <a:spLocks/>
              </p:cNvSpPr>
              <p:nvPr/>
            </p:nvSpPr>
            <p:spPr>
              <a:xfrm>
                <a:off x="228600" y="3048001"/>
                <a:ext cx="23774400" cy="103631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7000"/>
                  </a:lnSpc>
                  <a:spcAft>
                    <a:spcPts val="800"/>
                  </a:spcAft>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Lập</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tham</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tổng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quát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đi</a:t>
                </a:r>
                <a:r>
                  <a:rPr lang="en-US" b="1" dirty="0">
                    <a:latin typeface="Tahoma" panose="020B0604030504040204" pitchFamily="34" charset="0"/>
                    <a:ea typeface="Tahoma" panose="020B0604030504040204" pitchFamily="34" charset="0"/>
                    <a:cs typeface="Tahoma" panose="020B0604030504040204" pitchFamily="34" charset="0"/>
                  </a:rPr>
                  <a:t> qua </a:t>
                </a:r>
                <a:r>
                  <a:rPr lang="en-US" b="1" dirty="0" err="1">
                    <a:latin typeface="Tahoma" panose="020B0604030504040204" pitchFamily="34" charset="0"/>
                    <a:ea typeface="Tahoma" panose="020B0604030504040204" pitchFamily="34" charset="0"/>
                    <a:cs typeface="Tahoma" panose="020B0604030504040204" pitchFamily="34" charset="0"/>
                  </a:rPr>
                  <a:t>hai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điểm</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phân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biệt</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𝑨</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𝟏</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𝟏</m:t>
                            </m:r>
                          </m:sub>
                        </m:sSub>
                      </m:e>
                    </m:d>
                    <m:r>
                      <a:rPr lang="en-US" b="1" i="1" smtClean="0">
                        <a:latin typeface="Cambria Math" panose="02040503050406030204" pitchFamily="18" charset="0"/>
                        <a:ea typeface="Calibri" panose="020F0502020204030204" pitchFamily="34" charset="0"/>
                        <a:cs typeface="Times New Roman" panose="02020603050405020304" pitchFamily="18" charset="0"/>
                      </a:rPr>
                      <m:t>,</m:t>
                    </m:r>
                  </m:oMath>
                </a14:m>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𝑩</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𝟐</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𝟐</m:t>
                            </m:r>
                          </m:sub>
                        </m:sSub>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trước</a:t>
                </a:r>
                <a:r>
                  <a:rPr lang="en-US" b="1" dirty="0">
                    <a:latin typeface="Tahoma" panose="020B0604030504040204" pitchFamily="34" charset="0"/>
                    <a:ea typeface="Tahoma" panose="020B0604030504040204" pitchFamily="34" charset="0"/>
                    <a:cs typeface="Tahoma" panose="020B0604030504040204" pitchFamily="34" charset="0"/>
                  </a:rPr>
                  <a:t>.</a:t>
                </a:r>
              </a:p>
              <a:p>
                <a:pPr marL="0" indent="0">
                  <a:lnSpc>
                    <a:spcPct val="107000"/>
                  </a:lnSpc>
                  <a:spcAft>
                    <a:spcPts val="800"/>
                  </a:spcAft>
                  <a:buNone/>
                </a:pPr>
                <a:r>
                  <a:rPr lang="en-US" b="1" dirty="0" err="1">
                    <a:latin typeface="Tahoma" panose="020B0604030504040204" pitchFamily="34" charset="0"/>
                    <a:ea typeface="Tahoma" panose="020B0604030504040204" pitchFamily="34" charset="0"/>
                    <a:cs typeface="Tahoma" panose="020B0604030504040204" pitchFamily="34" charset="0"/>
                  </a:rPr>
                  <a:t>Giải</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07000"/>
                  </a:lnSpc>
                  <a:spcBef>
                    <a:spcPts val="0"/>
                  </a:spcBef>
                  <a:buNone/>
                </a:pPr>
                <a:r>
                  <a:rPr lang="en-US" b="1" dirty="0">
                    <a:ea typeface="Calibri" panose="020F0502020204030204" pitchFamily="34" charset="0"/>
                    <a:cs typeface="Times New Roman" panose="02020603050405020304" pitchFamily="18"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𝑨𝑩</m:t>
                        </m:r>
                      </m:e>
                    </m:acc>
                    <m:r>
                      <a:rPr lang="en-US" b="1" i="1" smtClean="0">
                        <a:latin typeface="Cambria Math" panose="02040503050406030204" pitchFamily="18" charset="0"/>
                        <a:ea typeface="Calibri" panose="020F0502020204030204" pitchFamily="34" charset="0"/>
                        <a:cs typeface="Times New Roman" panose="02020603050405020304" pitchFamily="18" charset="0"/>
                      </a:rPr>
                      <m:t>=</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𝟐</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𝟏</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𝟐</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𝟏</m:t>
                            </m:r>
                          </m:sub>
                        </m:sSub>
                      </m:e>
                    </m:d>
                  </m:oMath>
                </a14:m>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lnSpc>
                    <a:spcPct val="107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𝑨𝑩</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đi</a:t>
                </a:r>
                <a:r>
                  <a:rPr lang="en-US" b="1" dirty="0">
                    <a:latin typeface="Tahoma" panose="020B0604030504040204" pitchFamily="34" charset="0"/>
                    <a:ea typeface="Tahoma" panose="020B0604030504040204" pitchFamily="34" charset="0"/>
                    <a:cs typeface="Tahoma" panose="020B0604030504040204" pitchFamily="34" charset="0"/>
                  </a:rPr>
                  <a:t> qua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𝑨</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𝟏</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𝟏</m:t>
                            </m:r>
                          </m:sub>
                        </m:sSub>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𝑩</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𝟐</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𝟐</m:t>
                            </m:r>
                          </m:sub>
                        </m:sSub>
                      </m:e>
                    </m:d>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nên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lnSpc>
                    <a:spcPct val="107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𝑨𝑩</m:t>
                        </m:r>
                      </m:e>
                    </m:acc>
                    <m:r>
                      <a:rPr lang="en-US" b="1" i="1" smtClean="0">
                        <a:latin typeface="Cambria Math" panose="02040503050406030204" pitchFamily="18" charset="0"/>
                        <a:ea typeface="Calibri" panose="020F0502020204030204" pitchFamily="34" charset="0"/>
                        <a:cs typeface="Times New Roman" panose="02020603050405020304" pitchFamily="18" charset="0"/>
                      </a:rPr>
                      <m:t>=</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𝟐</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𝟏</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𝟐</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𝟏</m:t>
                            </m:r>
                          </m:sub>
                        </m:sSub>
                      </m:e>
                    </m:d>
                  </m:oMath>
                </a14:m>
                <a:r>
                  <a:rPr lang="en-US" b="1" dirty="0">
                    <a:latin typeface="Tahoma" panose="020B0604030504040204" pitchFamily="34" charset="0"/>
                    <a:ea typeface="Tahoma" panose="020B0604030504040204" pitchFamily="34" charset="0"/>
                    <a:cs typeface="Tahoma" panose="020B0604030504040204" pitchFamily="34" charset="0"/>
                  </a:rPr>
                  <a:t>, do </a:t>
                </a:r>
                <a:r>
                  <a:rPr lang="en-US" b="1" dirty="0" err="1">
                    <a:latin typeface="Tahoma" panose="020B0604030504040204" pitchFamily="34" charset="0"/>
                    <a:ea typeface="Tahoma" panose="020B0604030504040204" pitchFamily="34" charset="0"/>
                    <a:cs typeface="Tahoma" panose="020B0604030504040204" pitchFamily="34" charset="0"/>
                  </a:rPr>
                  <a:t>đó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pháp</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tuyến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ea typeface="Calibri" panose="020F0502020204030204" pitchFamily="34" charset="0"/>
                            <a:cs typeface="Times New Roman" panose="02020603050405020304" pitchFamily="18" charset="0"/>
                          </a:rPr>
                        </m:ctrlPr>
                      </m:accPr>
                      <m:e>
                        <m:r>
                          <a:rPr lang="en-US" b="1" i="1" smtClean="0">
                            <a:latin typeface="Cambria Math" panose="02040503050406030204" pitchFamily="18" charset="0"/>
                            <a:ea typeface="Calibri" panose="020F0502020204030204" pitchFamily="34" charset="0"/>
                            <a:cs typeface="Times New Roman" panose="02020603050405020304" pitchFamily="18" charset="0"/>
                          </a:rPr>
                          <m:t>𝒏</m:t>
                        </m:r>
                      </m:e>
                    </m:acc>
                    <m:r>
                      <a:rPr lang="en-US" b="1" i="1" smtClean="0">
                        <a:latin typeface="Cambria Math" panose="02040503050406030204" pitchFamily="18" charset="0"/>
                        <a:ea typeface="Calibri" panose="020F0502020204030204" pitchFamily="34" charset="0"/>
                        <a:cs typeface="Times New Roman" panose="02020603050405020304" pitchFamily="18" charset="0"/>
                      </a:rPr>
                      <m:t>=</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𝟐</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𝟏</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𝟏</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𝟐</m:t>
                            </m:r>
                          </m:sub>
                        </m:sSub>
                      </m:e>
                    </m:d>
                  </m:oMath>
                </a14:m>
                <a:r>
                  <a:rPr lang="en-US" b="1" dirty="0">
                    <a:latin typeface="Tahoma" panose="020B0604030504040204" pitchFamily="34" charset="0"/>
                    <a:ea typeface="Tahoma" panose="020B0604030504040204" pitchFamily="34" charset="0"/>
                    <a:cs typeface="Tahoma" panose="020B0604030504040204" pitchFamily="34" charset="0"/>
                  </a:rPr>
                  <a:t>.</a:t>
                </a:r>
              </a:p>
              <a:p>
                <a:pPr marL="0" indent="0">
                  <a:lnSpc>
                    <a:spcPct val="107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tham</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𝑨𝑩</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b="1" i="1">
                            <a:latin typeface="Cambria Math" panose="02040503050406030204" pitchFamily="18" charset="0"/>
                            <a:ea typeface="Calibri" panose="020F0502020204030204" pitchFamily="34" charset="0"/>
                            <a:cs typeface="Times New Roman" panose="02020603050405020304" pitchFamily="18" charset="0"/>
                          </a:rPr>
                        </m:ctrlPr>
                      </m:dPr>
                      <m:e>
                        <m:eqArr>
                          <m:eqArrPr>
                            <m:ctrlPr>
                              <a:rPr lang="en-US" b="1" i="1">
                                <a:latin typeface="Cambria Math" panose="02040503050406030204" pitchFamily="18" charset="0"/>
                                <a:ea typeface="Calibri" panose="020F0502020204030204" pitchFamily="34" charset="0"/>
                                <a:cs typeface="Times New Roman" panose="02020603050405020304" pitchFamily="18" charset="0"/>
                              </a:rPr>
                            </m:ctrlPr>
                          </m:eqArr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𝟏</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𝟐</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𝟏</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𝒕</m:t>
                            </m:r>
                          </m:e>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𝟏</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𝟐</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𝟏</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𝒕</m:t>
                            </m:r>
                          </m:e>
                        </m:eqArr>
                      </m:e>
                    </m:d>
                  </m:oMath>
                </a14:m>
                <a:r>
                  <a:rPr lang="en-US" b="1" dirty="0">
                    <a:latin typeface="Tahoma" panose="020B0604030504040204" pitchFamily="34" charset="0"/>
                    <a:ea typeface="Tahoma" panose="020B0604030504040204" pitchFamily="34" charset="0"/>
                    <a:cs typeface="Tahoma" panose="020B0604030504040204" pitchFamily="34" charset="0"/>
                  </a:rPr>
                  <a:t>.</a:t>
                </a:r>
              </a:p>
              <a:p>
                <a:pPr marL="0" indent="0">
                  <a:lnSpc>
                    <a:spcPct val="107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tổng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quát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thẳng</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libri" panose="020F0502020204030204" pitchFamily="34" charset="0"/>
                        <a:cs typeface="Times New Roman" panose="02020603050405020304" pitchFamily="18" charset="0"/>
                      </a:rPr>
                      <m:t>𝑨𝑩</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p>
              <a:p>
                <a:pPr marL="0" indent="0" algn="ctr">
                  <a:lnSpc>
                    <a:spcPct val="107000"/>
                  </a:lnSpc>
                  <a:spcAft>
                    <a:spcPts val="800"/>
                  </a:spcAft>
                  <a:buNone/>
                </a:pPr>
                <a14:m>
                  <m:oMath xmlns:m="http://schemas.openxmlformats.org/officeDocument/2006/math">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𝟐</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𝟏</m:t>
                            </m:r>
                          </m:sub>
                        </m:sSub>
                      </m:e>
                    </m:d>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𝟏</m:t>
                            </m:r>
                          </m:sub>
                        </m:sSub>
                      </m:e>
                    </m:d>
                    <m:r>
                      <a:rPr lang="en-US" b="1" i="1" smtClean="0">
                        <a:latin typeface="Cambria Math" panose="02040503050406030204" pitchFamily="18" charset="0"/>
                        <a:ea typeface="Calibri" panose="020F0502020204030204" pitchFamily="34" charset="0"/>
                        <a:cs typeface="Times New Roman" panose="02020603050405020304" pitchFamily="18" charset="0"/>
                      </a:rPr>
                      <m:t>+</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𝟏</m:t>
                            </m:r>
                          </m:sub>
                        </m:sSub>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𝒙</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𝟐</m:t>
                            </m:r>
                          </m:sub>
                        </m:sSub>
                      </m:e>
                    </m:d>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r>
                          <a:rPr lang="en-US" b="1"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latin typeface="Cambria Math" panose="02040503050406030204" pitchFamily="18" charset="0"/>
                                <a:ea typeface="Calibri" panose="020F0502020204030204" pitchFamily="34" charset="0"/>
                                <a:cs typeface="Times New Roman" panose="02020603050405020304" pitchFamily="18" charset="0"/>
                              </a:rPr>
                            </m:ctrlPr>
                          </m:sSubPr>
                          <m:e>
                            <m:r>
                              <a:rPr lang="en-US" b="1" i="1" smtClean="0">
                                <a:latin typeface="Cambria Math" panose="02040503050406030204" pitchFamily="18" charset="0"/>
                                <a:ea typeface="Calibri" panose="020F0502020204030204" pitchFamily="34" charset="0"/>
                                <a:cs typeface="Times New Roman" panose="02020603050405020304" pitchFamily="18" charset="0"/>
                              </a:rPr>
                              <m:t>𝒚</m:t>
                            </m:r>
                          </m:e>
                          <m:sub>
                            <m:r>
                              <a:rPr lang="en-US" b="1" i="1" smtClean="0">
                                <a:latin typeface="Cambria Math" panose="02040503050406030204" pitchFamily="18" charset="0"/>
                                <a:ea typeface="Calibri" panose="020F0502020204030204" pitchFamily="34" charset="0"/>
                                <a:cs typeface="Times New Roman" panose="02020603050405020304" pitchFamily="18" charset="0"/>
                              </a:rPr>
                              <m:t>`</m:t>
                            </m:r>
                          </m:sub>
                        </m:sSub>
                      </m:e>
                    </m:d>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𝟎</m:t>
                    </m:r>
                  </m:oMath>
                </a14:m>
                <a:r>
                  <a:rPr lang="en-US" b="1" dirty="0">
                    <a:latin typeface="Tahoma" panose="020B0604030504040204" pitchFamily="34" charset="0"/>
                    <a:ea typeface="Tahoma" panose="020B0604030504040204" pitchFamily="34" charset="0"/>
                    <a:cs typeface="Tahoma" panose="020B0604030504040204" pitchFamily="34" charset="0"/>
                  </a:rPr>
                  <a:t>.</a:t>
                </a:r>
              </a:p>
              <a:p>
                <a:pPr marL="0" indent="0">
                  <a:lnSpc>
                    <a:spcPct val="107000"/>
                  </a:lnSpc>
                  <a:spcAft>
                    <a:spcPts val="800"/>
                  </a:spcAft>
                  <a:buNone/>
                </a:pPr>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4"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228600" y="3048001"/>
                <a:ext cx="23774400" cy="10363199"/>
              </a:xfrm>
              <a:prstGeom prst="rect">
                <a:avLst/>
              </a:prstGeom>
              <a:blipFill>
                <a:blip r:embed="rId3"/>
                <a:stretch>
                  <a:fillRect l="-1153" t="-1469"/>
                </a:stretch>
              </a:blipFill>
              <a:ln>
                <a:solidFill>
                  <a:srgbClr val="00B0F0"/>
                </a:solidFill>
              </a:ln>
            </p:spPr>
            <p:txBody>
              <a:bodyPr/>
              <a:lstStyle/>
              <a:p>
                <a:r>
                  <a:rPr lang="en-US">
                    <a:noFill/>
                  </a:rPr>
                  <a:t> </a:t>
                </a:r>
              </a:p>
            </p:txBody>
          </p:sp>
        </mc:Fallback>
      </mc:AlternateContent>
      <p:grpSp>
        <p:nvGrpSpPr>
          <p:cNvPr id="11" name="Group 10"/>
          <p:cNvGrpSpPr/>
          <p:nvPr/>
        </p:nvGrpSpPr>
        <p:grpSpPr>
          <a:xfrm>
            <a:off x="718440" y="2992883"/>
            <a:ext cx="3853560" cy="885952"/>
            <a:chOff x="1219200" y="1858771"/>
            <a:chExt cx="4215122" cy="885952"/>
          </a:xfrm>
        </p:grpSpPr>
        <p:grpSp>
          <p:nvGrpSpPr>
            <p:cNvPr id="12" name="Group 11"/>
            <p:cNvGrpSpPr/>
            <p:nvPr/>
          </p:nvGrpSpPr>
          <p:grpSpPr>
            <a:xfrm>
              <a:off x="1219200" y="1858771"/>
              <a:ext cx="4215122" cy="885952"/>
              <a:chOff x="10025696" y="6694296"/>
              <a:chExt cx="4215122" cy="885952"/>
            </a:xfrm>
          </p:grpSpPr>
          <p:sp>
            <p:nvSpPr>
              <p:cNvPr id="14" name="Arrow: Pentagon 33"/>
              <p:cNvSpPr/>
              <p:nvPr/>
            </p:nvSpPr>
            <p:spPr>
              <a:xfrm>
                <a:off x="10429865" y="6752717"/>
                <a:ext cx="3810953" cy="80670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a:lnSpc>
                    <a:spcPct val="106000"/>
                  </a:lnSpc>
                  <a:spcAft>
                    <a:spcPts val="800"/>
                  </a:spcAft>
                </a:pPr>
                <a:r>
                  <a:rPr lang="en-US" sz="10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b="1">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5" name="Arrow: Chevron 34"/>
              <p:cNvSpPr/>
              <p:nvPr/>
            </p:nvSpPr>
            <p:spPr>
              <a:xfrm>
                <a:off x="10025696" y="6773546"/>
                <a:ext cx="273620" cy="806702"/>
              </a:xfrm>
              <a:prstGeom prst="chevron">
                <a:avLst/>
              </a:prstGeom>
              <a:solidFill>
                <a:srgbClr val="4472C4"/>
              </a:solidFill>
              <a:ln w="12700" cap="flat" cmpd="sng" algn="ctr">
                <a:noFill/>
                <a:prstDash val="solid"/>
                <a:miter lim="800000"/>
              </a:ln>
              <a:effectLst/>
            </p:spPr>
            <p:txBody>
              <a:bodyPr rtlCol="0" anchor="ctr"/>
              <a:lstStyle/>
              <a:p>
                <a:endParaRPr lang="en-US" b="1"/>
              </a:p>
            </p:txBody>
          </p:sp>
          <p:sp>
            <p:nvSpPr>
              <p:cNvPr id="16" name="TextBox 56"/>
              <p:cNvSpPr txBox="1"/>
              <p:nvPr/>
            </p:nvSpPr>
            <p:spPr>
              <a:xfrm>
                <a:off x="10354833" y="6694296"/>
                <a:ext cx="3677367" cy="865123"/>
              </a:xfrm>
              <a:prstGeom prst="rect">
                <a:avLst/>
              </a:prstGeom>
              <a:noFill/>
            </p:spPr>
            <p:txBody>
              <a:bodyPr wrap="square">
                <a:noAutofit/>
              </a:bodyPr>
              <a:lstStyle/>
              <a:p>
                <a:pPr>
                  <a:lnSpc>
                    <a:spcPct val="107000"/>
                  </a:lnSpc>
                  <a:spcAft>
                    <a:spcPts val="800"/>
                  </a:spcAft>
                </a:pPr>
                <a:r>
                  <a:rPr lang="en-US" sz="4800" b="1" kern="1200">
                    <a:solidFill>
                      <a:srgbClr val="0000CC"/>
                    </a:solidFill>
                    <a:effectLst/>
                    <a:latin typeface="Tomaho"/>
                    <a:ea typeface="Calibri" panose="020F0502020204030204" pitchFamily="34" charset="0"/>
                    <a:cs typeface="Times New Roman" panose="02020603050405020304" pitchFamily="18" charset="0"/>
                  </a:rPr>
                  <a:t>Luyện tập </a:t>
                </a:r>
                <a:r>
                  <a:rPr lang="en-US" sz="4800" b="1">
                    <a:solidFill>
                      <a:srgbClr val="0000CC"/>
                    </a:solidFill>
                    <a:latin typeface="Tomaho"/>
                    <a:ea typeface="Calibri" panose="020F0502020204030204" pitchFamily="34" charset="0"/>
                    <a:cs typeface="Times New Roman" panose="02020603050405020304" pitchFamily="18" charset="0"/>
                  </a:rPr>
                  <a:t>5</a:t>
                </a:r>
                <a:r>
                  <a:rPr lang="en-US" sz="4800" b="1" kern="1200">
                    <a:solidFill>
                      <a:srgbClr val="0000CC"/>
                    </a:solidFill>
                    <a:effectLst/>
                    <a:latin typeface="Tomaho"/>
                    <a:ea typeface="Calibri" panose="020F0502020204030204" pitchFamily="34" charset="0"/>
                    <a:cs typeface="Times New Roman" panose="02020603050405020304" pitchFamily="18" charset="0"/>
                  </a:rPr>
                  <a:t>.</a:t>
                </a:r>
                <a:endParaRPr lang="en-US" sz="4800" b="1">
                  <a:effectLst/>
                  <a:latin typeface="Tomaho"/>
                  <a:ea typeface="Calibri" panose="020F0502020204030204" pitchFamily="34" charset="0"/>
                  <a:cs typeface="Times New Roman" panose="02020603050405020304" pitchFamily="18" charset="0"/>
                </a:endParaRPr>
              </a:p>
            </p:txBody>
          </p:sp>
        </p:grpSp>
        <p:sp>
          <p:nvSpPr>
            <p:cNvPr id="13" name="Arrow: Chevron 35"/>
            <p:cNvSpPr/>
            <p:nvPr/>
          </p:nvSpPr>
          <p:spPr>
            <a:xfrm>
              <a:off x="1349749" y="1935480"/>
              <a:ext cx="296171" cy="806702"/>
            </a:xfrm>
            <a:prstGeom prst="chevron">
              <a:avLst/>
            </a:prstGeom>
            <a:solidFill>
              <a:srgbClr val="FFC000"/>
            </a:solidFill>
            <a:ln w="12700" cap="flat" cmpd="sng" algn="ctr">
              <a:noFill/>
              <a:prstDash val="solid"/>
              <a:miter lim="800000"/>
            </a:ln>
            <a:effectLst/>
          </p:spPr>
          <p:txBody>
            <a:bodyPr rtlCol="0" anchor="ctr"/>
            <a:lstStyle/>
            <a:p>
              <a:endParaRPr lang="en-US" b="1"/>
            </a:p>
          </p:txBody>
        </p:sp>
      </p:grpSp>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34520984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4">
                                            <p:txEl>
                                              <p:pRg st="0" end="0"/>
                                            </p:txEl>
                                          </p:spTgt>
                                        </p:tgtEl>
                                        <p:attrNameLst>
                                          <p:attrName>style.visibility</p:attrName>
                                        </p:attrNameLst>
                                      </p:cBhvr>
                                      <p:to>
                                        <p:strVal val="visible"/>
                                      </p:to>
                                    </p:set>
                                    <p:animEffect transition="in" filter="fade">
                                      <p:cBhvr>
                                        <p:cTn id="11" dur="500"/>
                                        <p:tgtEl>
                                          <p:spTgt spid="24">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4">
                                            <p:txEl>
                                              <p:pRg st="1" end="1"/>
                                            </p:txEl>
                                          </p:spTgt>
                                        </p:tgtEl>
                                        <p:attrNameLst>
                                          <p:attrName>style.visibility</p:attrName>
                                        </p:attrNameLst>
                                      </p:cBhvr>
                                      <p:to>
                                        <p:strVal val="visible"/>
                                      </p:to>
                                    </p:set>
                                    <p:animEffect transition="in" filter="fade">
                                      <p:cBhvr>
                                        <p:cTn id="15" dur="500"/>
                                        <p:tgtEl>
                                          <p:spTgt spid="2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4">
                                            <p:txEl>
                                              <p:pRg st="2" end="2"/>
                                            </p:txEl>
                                          </p:spTgt>
                                        </p:tgtEl>
                                        <p:attrNameLst>
                                          <p:attrName>style.visibility</p:attrName>
                                        </p:attrNameLst>
                                      </p:cBhvr>
                                      <p:to>
                                        <p:strVal val="visible"/>
                                      </p:to>
                                    </p:set>
                                    <p:animEffect transition="in" filter="fade">
                                      <p:cBhvr>
                                        <p:cTn id="20" dur="500"/>
                                        <p:tgtEl>
                                          <p:spTgt spid="24">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4">
                                            <p:txEl>
                                              <p:pRg st="3" end="3"/>
                                            </p:txEl>
                                          </p:spTgt>
                                        </p:tgtEl>
                                        <p:attrNameLst>
                                          <p:attrName>style.visibility</p:attrName>
                                        </p:attrNameLst>
                                      </p:cBhvr>
                                      <p:to>
                                        <p:strVal val="visible"/>
                                      </p:to>
                                    </p:set>
                                    <p:animEffect transition="in" filter="fade">
                                      <p:cBhvr>
                                        <p:cTn id="25" dur="500"/>
                                        <p:tgtEl>
                                          <p:spTgt spid="24">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4">
                                            <p:txEl>
                                              <p:pRg st="4" end="4"/>
                                            </p:txEl>
                                          </p:spTgt>
                                        </p:tgtEl>
                                        <p:attrNameLst>
                                          <p:attrName>style.visibility</p:attrName>
                                        </p:attrNameLst>
                                      </p:cBhvr>
                                      <p:to>
                                        <p:strVal val="visible"/>
                                      </p:to>
                                    </p:set>
                                    <p:animEffect transition="in" filter="fade">
                                      <p:cBhvr>
                                        <p:cTn id="30" dur="500"/>
                                        <p:tgtEl>
                                          <p:spTgt spid="24">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4">
                                            <p:txEl>
                                              <p:pRg st="5" end="5"/>
                                            </p:txEl>
                                          </p:spTgt>
                                        </p:tgtEl>
                                        <p:attrNameLst>
                                          <p:attrName>style.visibility</p:attrName>
                                        </p:attrNameLst>
                                      </p:cBhvr>
                                      <p:to>
                                        <p:strVal val="visible"/>
                                      </p:to>
                                    </p:set>
                                    <p:animEffect transition="in" filter="fade">
                                      <p:cBhvr>
                                        <p:cTn id="35" dur="500"/>
                                        <p:tgtEl>
                                          <p:spTgt spid="24">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4">
                                            <p:txEl>
                                              <p:pRg st="6" end="6"/>
                                            </p:txEl>
                                          </p:spTgt>
                                        </p:tgtEl>
                                        <p:attrNameLst>
                                          <p:attrName>style.visibility</p:attrName>
                                        </p:attrNameLst>
                                      </p:cBhvr>
                                      <p:to>
                                        <p:strVal val="visible"/>
                                      </p:to>
                                    </p:set>
                                    <p:animEffect transition="in" filter="fade">
                                      <p:cBhvr>
                                        <p:cTn id="40" dur="500"/>
                                        <p:tgtEl>
                                          <p:spTgt spid="24">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4">
                                            <p:txEl>
                                              <p:pRg st="7" end="7"/>
                                            </p:txEl>
                                          </p:spTgt>
                                        </p:tgtEl>
                                        <p:attrNameLst>
                                          <p:attrName>style.visibility</p:attrName>
                                        </p:attrNameLst>
                                      </p:cBhvr>
                                      <p:to>
                                        <p:strVal val="visible"/>
                                      </p:to>
                                    </p:set>
                                    <p:animEffect transition="in" filter="fade">
                                      <p:cBhvr>
                                        <p:cTn id="45" dur="500"/>
                                        <p:tgtEl>
                                          <p:spTgt spid="2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Rectangle 10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02" name="Group 101"/>
          <p:cNvGrpSpPr/>
          <p:nvPr/>
        </p:nvGrpSpPr>
        <p:grpSpPr>
          <a:xfrm>
            <a:off x="16014700" y="2692679"/>
            <a:ext cx="7924800" cy="10364198"/>
            <a:chOff x="16014700" y="2692679"/>
            <a:chExt cx="7924800" cy="10364198"/>
          </a:xfrm>
        </p:grpSpPr>
        <p:sp>
          <p:nvSpPr>
            <p:cNvPr id="101" name="Rectangle 100"/>
            <p:cNvSpPr/>
            <p:nvPr/>
          </p:nvSpPr>
          <p:spPr>
            <a:xfrm>
              <a:off x="16014700" y="2692679"/>
              <a:ext cx="7924800" cy="10364198"/>
            </a:xfrm>
            <a:prstGeom prst="rect">
              <a:avLst/>
            </a:prstGeom>
            <a:solidFill>
              <a:srgbClr val="D6F7FE"/>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grpSp>
          <p:nvGrpSpPr>
            <p:cNvPr id="14" name="Group 13"/>
            <p:cNvGrpSpPr/>
            <p:nvPr/>
          </p:nvGrpSpPr>
          <p:grpSpPr>
            <a:xfrm>
              <a:off x="16014700" y="3729825"/>
              <a:ext cx="7924800" cy="8678854"/>
              <a:chOff x="16459200" y="3741746"/>
              <a:chExt cx="7924800" cy="8678854"/>
            </a:xfrm>
          </p:grpSpPr>
          <p:grpSp>
            <p:nvGrpSpPr>
              <p:cNvPr id="7" name="Group 6"/>
              <p:cNvGrpSpPr/>
              <p:nvPr/>
            </p:nvGrpSpPr>
            <p:grpSpPr>
              <a:xfrm>
                <a:off x="16459200" y="3886200"/>
                <a:ext cx="7620000" cy="8534400"/>
                <a:chOff x="16459200" y="3886200"/>
                <a:chExt cx="7620000" cy="8534400"/>
              </a:xfrm>
            </p:grpSpPr>
            <p:cxnSp>
              <p:nvCxnSpPr>
                <p:cNvPr id="3" name="Straight Arrow Connector 2"/>
                <p:cNvCxnSpPr/>
                <p:nvPr/>
              </p:nvCxnSpPr>
              <p:spPr>
                <a:xfrm>
                  <a:off x="16459200" y="9677400"/>
                  <a:ext cx="762000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flipV="1">
                  <a:off x="18821400" y="3886200"/>
                  <a:ext cx="0" cy="8534400"/>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3" name="TextBox 12"/>
                  <p:cNvSpPr txBox="1"/>
                  <p:nvPr/>
                </p:nvSpPr>
                <p:spPr>
                  <a:xfrm>
                    <a:off x="17526000" y="9677399"/>
                    <a:ext cx="1600200" cy="7540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smtClean="0">
                              <a:latin typeface="Cambria Math"/>
                            </a:rPr>
                            <m:t>𝑶</m:t>
                          </m:r>
                        </m:oMath>
                      </m:oMathPara>
                    </a14:m>
                    <a:endParaRPr lang="vi-VN" b="1" dirty="0"/>
                  </a:p>
                </p:txBody>
              </p:sp>
            </mc:Choice>
            <mc:Fallback xmlns="">
              <p:sp>
                <p:nvSpPr>
                  <p:cNvPr id="13" name="TextBox 12"/>
                  <p:cNvSpPr txBox="1">
                    <a:spLocks noRot="1" noChangeAspect="1" noMove="1" noResize="1" noEditPoints="1" noAdjustHandles="1" noChangeArrowheads="1" noChangeShapeType="1" noTextEdit="1"/>
                  </p:cNvSpPr>
                  <p:nvPr/>
                </p:nvSpPr>
                <p:spPr>
                  <a:xfrm>
                    <a:off x="17526000" y="9677399"/>
                    <a:ext cx="1600200" cy="754053"/>
                  </a:xfrm>
                  <a:prstGeom prst="rect">
                    <a:avLst/>
                  </a:prstGeom>
                  <a:blipFill rotWithShape="1">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22783800" y="9677400"/>
                    <a:ext cx="1600200" cy="7540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smtClean="0">
                              <a:latin typeface="Cambria Math"/>
                            </a:rPr>
                            <m:t>𝒙</m:t>
                          </m:r>
                          <m:r>
                            <a:rPr lang="en-US" b="1" i="1" dirty="0" smtClean="0">
                              <a:latin typeface="Cambria Math"/>
                            </a:rPr>
                            <m:t> (</m:t>
                          </m:r>
                          <m:r>
                            <a:rPr lang="en-US" b="1" i="1" baseline="30000" dirty="0" smtClean="0">
                              <a:latin typeface="Cambria Math"/>
                            </a:rPr>
                            <m:t>𝟎</m:t>
                          </m:r>
                          <m:r>
                            <a:rPr lang="en-US" b="1" i="1" dirty="0" smtClean="0">
                              <a:latin typeface="Cambria Math"/>
                            </a:rPr>
                            <m:t>𝑪</m:t>
                          </m:r>
                          <m:r>
                            <a:rPr lang="en-US" b="1" i="1" dirty="0" smtClean="0">
                              <a:latin typeface="Cambria Math"/>
                            </a:rPr>
                            <m:t>)</m:t>
                          </m:r>
                        </m:oMath>
                      </m:oMathPara>
                    </a14:m>
                    <a:endParaRPr lang="vi-VN" b="1" dirty="0"/>
                  </a:p>
                </p:txBody>
              </p:sp>
            </mc:Choice>
            <mc:Fallback xmlns="">
              <p:sp>
                <p:nvSpPr>
                  <p:cNvPr id="15" name="TextBox 14"/>
                  <p:cNvSpPr txBox="1">
                    <a:spLocks noRot="1" noChangeAspect="1" noMove="1" noResize="1" noEditPoints="1" noAdjustHandles="1" noChangeArrowheads="1" noChangeShapeType="1" noTextEdit="1"/>
                  </p:cNvSpPr>
                  <p:nvPr/>
                </p:nvSpPr>
                <p:spPr>
                  <a:xfrm>
                    <a:off x="22783800" y="9677400"/>
                    <a:ext cx="1600200" cy="754053"/>
                  </a:xfrm>
                  <a:prstGeom prst="rect">
                    <a:avLst/>
                  </a:prstGeom>
                  <a:blipFill rotWithShape="1">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17602200" y="3741746"/>
                    <a:ext cx="3175000" cy="7540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smtClean="0">
                              <a:latin typeface="Cambria Math"/>
                            </a:rPr>
                            <m:t>𝒚</m:t>
                          </m:r>
                          <m:r>
                            <a:rPr lang="en-US" b="1" i="1" dirty="0" smtClean="0">
                              <a:latin typeface="Cambria Math"/>
                            </a:rPr>
                            <m:t>    (</m:t>
                          </m:r>
                          <m:r>
                            <a:rPr lang="en-US" b="1" i="1" baseline="30000" dirty="0" smtClean="0">
                              <a:latin typeface="Cambria Math"/>
                            </a:rPr>
                            <m:t>𝟎</m:t>
                          </m:r>
                          <m:r>
                            <a:rPr lang="en-US" b="1" i="1" dirty="0" smtClean="0">
                              <a:latin typeface="Cambria Math"/>
                            </a:rPr>
                            <m:t> </m:t>
                          </m:r>
                          <m:r>
                            <a:rPr lang="en-US" b="1" i="1" dirty="0" smtClean="0">
                              <a:latin typeface="Cambria Math"/>
                            </a:rPr>
                            <m:t>𝑭</m:t>
                          </m:r>
                          <m:r>
                            <a:rPr lang="en-US" b="1" i="1" dirty="0" smtClean="0">
                              <a:latin typeface="Cambria Math"/>
                            </a:rPr>
                            <m:t>)</m:t>
                          </m:r>
                        </m:oMath>
                      </m:oMathPara>
                    </a14:m>
                    <a:endParaRPr lang="vi-VN" b="1" dirty="0"/>
                  </a:p>
                </p:txBody>
              </p:sp>
            </mc:Choice>
            <mc:Fallback xmlns="">
              <p:sp>
                <p:nvSpPr>
                  <p:cNvPr id="16" name="TextBox 15"/>
                  <p:cNvSpPr txBox="1">
                    <a:spLocks noRot="1" noChangeAspect="1" noMove="1" noResize="1" noEditPoints="1" noAdjustHandles="1" noChangeArrowheads="1" noChangeShapeType="1" noTextEdit="1"/>
                  </p:cNvSpPr>
                  <p:nvPr/>
                </p:nvSpPr>
                <p:spPr>
                  <a:xfrm>
                    <a:off x="17602200" y="3741746"/>
                    <a:ext cx="3175000" cy="754053"/>
                  </a:xfrm>
                  <a:prstGeom prst="rect">
                    <a:avLst/>
                  </a:prstGeom>
                  <a:blipFill rotWithShape="1">
                    <a:blip r:embed="rId5"/>
                    <a:stretch>
                      <a:fillRect/>
                    </a:stretch>
                  </a:blipFill>
                </p:spPr>
                <p:txBody>
                  <a:bodyPr/>
                  <a:lstStyle/>
                  <a:p>
                    <a:r>
                      <a:rPr lang="vi-VN">
                        <a:noFill/>
                      </a:rPr>
                      <a:t> </a:t>
                    </a:r>
                  </a:p>
                </p:txBody>
              </p:sp>
            </mc:Fallback>
          </mc:AlternateContent>
        </p:grpSp>
      </p:grpSp>
      <p:cxnSp>
        <p:nvCxnSpPr>
          <p:cNvPr id="30" name="Straight Connector 29"/>
          <p:cNvCxnSpPr/>
          <p:nvPr/>
        </p:nvCxnSpPr>
        <p:spPr>
          <a:xfrm flipH="1">
            <a:off x="18376900" y="5775303"/>
            <a:ext cx="2971800" cy="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21348700" y="5775303"/>
            <a:ext cx="0" cy="389017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325122" y="2741211"/>
                <a:ext cx="15486378" cy="10315666"/>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endParaRPr lang="en-US" sz="4400" dirty="0">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smtClean="0">
                    <a:latin typeface="Tahoma" panose="020B0604030504040204" pitchFamily="34" charset="0"/>
                    <a:ea typeface="Tahoma" panose="020B0604030504040204" pitchFamily="34" charset="0"/>
                    <a:cs typeface="Tahoma" panose="020B0604030504040204" pitchFamily="34" charset="0"/>
                  </a:rPr>
                  <a:t>Việc</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quy</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đổi</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nhiệt</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độ</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giữa</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đơn</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vị</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độ</a:t>
                </a:r>
                <a:r>
                  <a:rPr lang="en-US" sz="4400" dirty="0">
                    <a:latin typeface="Tahoma" panose="020B0604030504040204" pitchFamily="34" charset="0"/>
                    <a:ea typeface="Tahoma" panose="020B0604030504040204" pitchFamily="34" charset="0"/>
                    <a:cs typeface="Tahoma" panose="020B0604030504040204" pitchFamily="34" charset="0"/>
                  </a:rPr>
                  <a:t> C (Anders Celsius, 1701 - 1744) </a:t>
                </a:r>
                <a:r>
                  <a:rPr lang="en-US" sz="4400" dirty="0" err="1">
                    <a:latin typeface="Tahoma" panose="020B0604030504040204" pitchFamily="34" charset="0"/>
                    <a:ea typeface="Tahoma" panose="020B0604030504040204" pitchFamily="34" charset="0"/>
                    <a:cs typeface="Tahoma" panose="020B0604030504040204" pitchFamily="34" charset="0"/>
                  </a:rPr>
                  <a:t>và</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đơn</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vị</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độ</a:t>
                </a:r>
                <a:r>
                  <a:rPr lang="en-US" sz="4400" dirty="0">
                    <a:latin typeface="Tahoma" panose="020B0604030504040204" pitchFamily="34" charset="0"/>
                    <a:ea typeface="Tahoma" panose="020B0604030504040204" pitchFamily="34" charset="0"/>
                    <a:cs typeface="Tahoma" panose="020B0604030504040204" pitchFamily="34" charset="0"/>
                  </a:rPr>
                  <a:t> F (Daniel Fahrenheit, 1686 – 1736) </a:t>
                </a:r>
                <a:r>
                  <a:rPr lang="en-US" sz="4400" dirty="0" err="1">
                    <a:latin typeface="Tahoma" panose="020B0604030504040204" pitchFamily="34" charset="0"/>
                    <a:ea typeface="Tahoma" panose="020B0604030504040204" pitchFamily="34" charset="0"/>
                    <a:cs typeface="Tahoma" panose="020B0604030504040204" pitchFamily="34" charset="0"/>
                  </a:rPr>
                  <a:t>được</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xác</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định</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bởi</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hai</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mốc</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sau</a:t>
                </a:r>
                <a:r>
                  <a:rPr lang="en-US" sz="4400" dirty="0">
                    <a:latin typeface="Tahoma" panose="020B0604030504040204" pitchFamily="34" charset="0"/>
                    <a:ea typeface="Tahoma" panose="020B0604030504040204" pitchFamily="34" charset="0"/>
                    <a:cs typeface="Tahoma" panose="020B0604030504040204" pitchFamily="34" charset="0"/>
                  </a:rPr>
                  <a:t>:</a:t>
                </a:r>
              </a:p>
              <a:p>
                <a:pPr>
                  <a:lnSpc>
                    <a:spcPct val="150000"/>
                  </a:lnSpc>
                </a:pP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Nước</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đóng</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băng</a:t>
                </a:r>
                <a:r>
                  <a:rPr lang="en-US" sz="4400" dirty="0">
                    <a:latin typeface="Tahoma" panose="020B0604030504040204" pitchFamily="34" charset="0"/>
                    <a:ea typeface="Tahoma" panose="020B0604030504040204" pitchFamily="34" charset="0"/>
                    <a:cs typeface="Tahoma" panose="020B0604030504040204" pitchFamily="34" charset="0"/>
                  </a:rPr>
                  <a:t> ở </a:t>
                </a:r>
                <a14:m>
                  <m:oMath xmlns:m="http://schemas.openxmlformats.org/officeDocument/2006/math">
                    <m:sSup>
                      <m:sSupPr>
                        <m:ctrlPr>
                          <a:rPr lang="en-US" sz="4400" i="1">
                            <a:latin typeface="Cambria Math" panose="02040503050406030204" pitchFamily="18" charset="0"/>
                          </a:rPr>
                        </m:ctrlPr>
                      </m:sSupPr>
                      <m:e>
                        <m:r>
                          <a:rPr lang="en-US" sz="4400" i="1">
                            <a:latin typeface="Cambria Math" panose="02040503050406030204" pitchFamily="18" charset="0"/>
                          </a:rPr>
                          <m:t>0</m:t>
                        </m:r>
                      </m:e>
                      <m:sup>
                        <m:r>
                          <m:rPr>
                            <m:sty m:val="p"/>
                          </m:rPr>
                          <a:rPr lang="en-US" sz="4400" b="0" i="0" smtClean="0">
                            <a:latin typeface="Cambria Math" panose="02040503050406030204" pitchFamily="18" charset="0"/>
                          </a:rPr>
                          <m:t>o</m:t>
                        </m:r>
                      </m:sup>
                    </m:sSup>
                    <m:r>
                      <m:rPr>
                        <m:sty m:val="p"/>
                      </m:rPr>
                      <a:rPr lang="en-US" sz="4400" i="0">
                        <a:latin typeface="Cambria Math" panose="02040503050406030204" pitchFamily="18" charset="0"/>
                      </a:rPr>
                      <m:t>C</m:t>
                    </m:r>
                    <m:r>
                      <a:rPr lang="en-US" sz="4400" i="1">
                        <a:latin typeface="Cambria Math" panose="02040503050406030204" pitchFamily="18" charset="0"/>
                      </a:rPr>
                      <m:t>,</m:t>
                    </m:r>
                    <m:sSup>
                      <m:sSupPr>
                        <m:ctrlPr>
                          <a:rPr lang="en-US" sz="4400" i="1" smtClean="0">
                            <a:latin typeface="Cambria Math" panose="02040503050406030204" pitchFamily="18" charset="0"/>
                          </a:rPr>
                        </m:ctrlPr>
                      </m:sSupPr>
                      <m:e>
                        <m:r>
                          <a:rPr lang="en-US" sz="4400" b="0" i="1" smtClean="0">
                            <a:latin typeface="Cambria Math" panose="02040503050406030204" pitchFamily="18" charset="0"/>
                          </a:rPr>
                          <m:t>32</m:t>
                        </m:r>
                      </m:e>
                      <m:sup>
                        <m:r>
                          <m:rPr>
                            <m:sty m:val="p"/>
                          </m:rPr>
                          <a:rPr lang="en-US" sz="4400">
                            <a:latin typeface="Cambria Math" panose="02040503050406030204" pitchFamily="18" charset="0"/>
                          </a:rPr>
                          <m:t>o</m:t>
                        </m:r>
                      </m:sup>
                    </m:sSup>
                    <m:r>
                      <m:rPr>
                        <m:sty m:val="p"/>
                      </m:rPr>
                      <a:rPr lang="en-US" sz="4400" b="0" i="0" smtClean="0">
                        <a:latin typeface="Cambria Math" panose="02040503050406030204" pitchFamily="18" charset="0"/>
                      </a:rPr>
                      <m:t>F</m:t>
                    </m:r>
                  </m:oMath>
                </a14:m>
                <a:r>
                  <a:rPr lang="en-US" sz="4400" dirty="0">
                    <a:latin typeface="Tahoma" panose="020B0604030504040204" pitchFamily="34" charset="0"/>
                    <a:ea typeface="Tahoma" panose="020B0604030504040204" pitchFamily="34" charset="0"/>
                    <a:cs typeface="Tahoma" panose="020B0604030504040204" pitchFamily="34" charset="0"/>
                  </a:rPr>
                  <a:t>. </a:t>
                </a:r>
              </a:p>
              <a:p>
                <a:pPr>
                  <a:lnSpc>
                    <a:spcPct val="150000"/>
                  </a:lnSpc>
                </a:pP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Nước</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sôi</a:t>
                </a:r>
                <a:r>
                  <a:rPr lang="en-US" sz="4400" dirty="0">
                    <a:latin typeface="Tahoma" panose="020B0604030504040204" pitchFamily="34" charset="0"/>
                    <a:ea typeface="Tahoma" panose="020B0604030504040204" pitchFamily="34" charset="0"/>
                    <a:cs typeface="Tahoma" panose="020B0604030504040204" pitchFamily="34" charset="0"/>
                  </a:rPr>
                  <a:t> ở </a:t>
                </a:r>
                <a14:m>
                  <m:oMath xmlns:m="http://schemas.openxmlformats.org/officeDocument/2006/math">
                    <m:r>
                      <a:rPr lang="en-US" sz="4400" b="0" i="0" smtClean="0">
                        <a:latin typeface="Cambria Math" panose="02040503050406030204" pitchFamily="18" charset="0"/>
                      </a:rPr>
                      <m:t>10</m:t>
                    </m:r>
                    <m:sSup>
                      <m:sSupPr>
                        <m:ctrlPr>
                          <a:rPr lang="en-US" sz="4400" i="1">
                            <a:latin typeface="Cambria Math" panose="02040503050406030204" pitchFamily="18" charset="0"/>
                          </a:rPr>
                        </m:ctrlPr>
                      </m:sSupPr>
                      <m:e>
                        <m:r>
                          <a:rPr lang="en-US" sz="4400" i="1">
                            <a:latin typeface="Cambria Math" panose="02040503050406030204" pitchFamily="18" charset="0"/>
                          </a:rPr>
                          <m:t>0</m:t>
                        </m:r>
                      </m:e>
                      <m:sup>
                        <m:r>
                          <m:rPr>
                            <m:sty m:val="p"/>
                          </m:rPr>
                          <a:rPr lang="en-US" sz="4400">
                            <a:latin typeface="Cambria Math" panose="02040503050406030204" pitchFamily="18" charset="0"/>
                          </a:rPr>
                          <m:t>o</m:t>
                        </m:r>
                      </m:sup>
                    </m:sSup>
                    <m:r>
                      <m:rPr>
                        <m:sty m:val="p"/>
                      </m:rPr>
                      <a:rPr lang="en-US" sz="4400" i="0" smtClean="0">
                        <a:latin typeface="Cambria Math" panose="02040503050406030204" pitchFamily="18" charset="0"/>
                      </a:rPr>
                      <m:t>C</m:t>
                    </m:r>
                    <m:r>
                      <a:rPr lang="en-US" sz="4400" i="1">
                        <a:latin typeface="Cambria Math" panose="02040503050406030204" pitchFamily="18" charset="0"/>
                      </a:rPr>
                      <m:t>,</m:t>
                    </m:r>
                    <m:sSup>
                      <m:sSupPr>
                        <m:ctrlPr>
                          <a:rPr lang="en-US" sz="4400" i="1">
                            <a:latin typeface="Cambria Math" panose="02040503050406030204" pitchFamily="18" charset="0"/>
                          </a:rPr>
                        </m:ctrlPr>
                      </m:sSupPr>
                      <m:e>
                        <m:r>
                          <a:rPr lang="en-US" sz="4400" b="0" i="1" smtClean="0">
                            <a:latin typeface="Cambria Math" panose="02040503050406030204" pitchFamily="18" charset="0"/>
                          </a:rPr>
                          <m:t>21</m:t>
                        </m:r>
                        <m:r>
                          <a:rPr lang="en-US" sz="4400" i="1">
                            <a:latin typeface="Cambria Math" panose="02040503050406030204" pitchFamily="18" charset="0"/>
                          </a:rPr>
                          <m:t>2</m:t>
                        </m:r>
                      </m:e>
                      <m:sup>
                        <m:r>
                          <m:rPr>
                            <m:sty m:val="p"/>
                          </m:rPr>
                          <a:rPr lang="en-US" sz="4400">
                            <a:latin typeface="Cambria Math" panose="02040503050406030204" pitchFamily="18" charset="0"/>
                          </a:rPr>
                          <m:t>o</m:t>
                        </m:r>
                      </m:sup>
                    </m:sSup>
                    <m:r>
                      <m:rPr>
                        <m:sty m:val="p"/>
                      </m:rPr>
                      <a:rPr lang="en-US" sz="4400" i="0">
                        <a:latin typeface="Cambria Math" panose="02040503050406030204" pitchFamily="18" charset="0"/>
                      </a:rPr>
                      <m:t>F</m:t>
                    </m:r>
                    <m:r>
                      <a:rPr lang="en-US" sz="4400" i="1">
                        <a:latin typeface="Cambria Math" panose="02040503050406030204" pitchFamily="18" charset="0"/>
                      </a:rPr>
                      <m:t>.</m:t>
                    </m:r>
                  </m:oMath>
                </a14:m>
                <a:endParaRPr lang="en-US" sz="4400" dirty="0">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Trong</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quy</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đổi</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đó</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nếu</a:t>
                </a:r>
                <a:r>
                  <a:rPr lang="en-US" sz="44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400" i="1">
                            <a:latin typeface="Cambria Math" panose="02040503050406030204" pitchFamily="18" charset="0"/>
                          </a:rPr>
                        </m:ctrlPr>
                      </m:sSupPr>
                      <m:e>
                        <m:r>
                          <a:rPr lang="en-US" sz="4400" b="0" i="1" smtClean="0">
                            <a:latin typeface="Cambria Math" panose="02040503050406030204" pitchFamily="18" charset="0"/>
                          </a:rPr>
                          <m:t>𝑎</m:t>
                        </m:r>
                      </m:e>
                      <m:sup>
                        <m:r>
                          <m:rPr>
                            <m:sty m:val="p"/>
                          </m:rPr>
                          <a:rPr lang="en-US" sz="4400">
                            <a:latin typeface="Cambria Math" panose="02040503050406030204" pitchFamily="18" charset="0"/>
                          </a:rPr>
                          <m:t>o</m:t>
                        </m:r>
                      </m:sup>
                    </m:sSup>
                    <m:r>
                      <m:rPr>
                        <m:sty m:val="p"/>
                      </m:rPr>
                      <a:rPr lang="en-US" sz="4400" b="0" i="0" smtClean="0">
                        <a:latin typeface="Cambria Math" panose="02040503050406030204" pitchFamily="18" charset="0"/>
                      </a:rPr>
                      <m:t>C</m:t>
                    </m:r>
                  </m:oMath>
                </a14:m>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tương</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ứng</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với</a:t>
                </a:r>
                <a:r>
                  <a:rPr lang="en-US" sz="44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400" i="1" smtClean="0">
                            <a:latin typeface="Cambria Math" panose="02040503050406030204" pitchFamily="18" charset="0"/>
                          </a:rPr>
                        </m:ctrlPr>
                      </m:sSupPr>
                      <m:e>
                        <m:r>
                          <a:rPr lang="en-US" sz="4400" b="0" i="1" smtClean="0">
                            <a:latin typeface="Cambria Math" panose="02040503050406030204" pitchFamily="18" charset="0"/>
                          </a:rPr>
                          <m:t>𝑏</m:t>
                        </m:r>
                      </m:e>
                      <m:sup>
                        <m:r>
                          <m:rPr>
                            <m:sty m:val="p"/>
                          </m:rPr>
                          <a:rPr lang="en-US" sz="4400">
                            <a:latin typeface="Cambria Math" panose="02040503050406030204" pitchFamily="18" charset="0"/>
                          </a:rPr>
                          <m:t>o</m:t>
                        </m:r>
                      </m:sup>
                    </m:sSup>
                    <m:r>
                      <m:rPr>
                        <m:sty m:val="p"/>
                      </m:rPr>
                      <a:rPr lang="en-US" sz="4400" i="0">
                        <a:latin typeface="Cambria Math" panose="02040503050406030204" pitchFamily="18" charset="0"/>
                      </a:rPr>
                      <m:t>F</m:t>
                    </m:r>
                  </m:oMath>
                </a14:m>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thì</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trên</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mặt</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phẳng</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tọa</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độ</a:t>
                </a:r>
                <a:r>
                  <a:rPr lang="en-US" sz="44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i="1">
                        <a:latin typeface="Cambria Math" panose="02040503050406030204" pitchFamily="18" charset="0"/>
                      </a:rPr>
                      <m:t>𝑂𝑥𝑦</m:t>
                    </m:r>
                  </m:oMath>
                </a14:m>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điểm</a:t>
                </a:r>
                <a:r>
                  <a:rPr lang="en-US" sz="44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i="1">
                        <a:latin typeface="Cambria Math" panose="02040503050406030204" pitchFamily="18" charset="0"/>
                      </a:rPr>
                      <m:t>𝑀</m:t>
                    </m:r>
                    <m:d>
                      <m:dPr>
                        <m:ctrlPr>
                          <a:rPr lang="en-US" sz="4400" i="1">
                            <a:latin typeface="Cambria Math" panose="02040503050406030204" pitchFamily="18" charset="0"/>
                          </a:rPr>
                        </m:ctrlPr>
                      </m:dPr>
                      <m:e>
                        <m:r>
                          <a:rPr lang="en-US" sz="4400" i="1">
                            <a:latin typeface="Cambria Math" panose="02040503050406030204" pitchFamily="18" charset="0"/>
                          </a:rPr>
                          <m:t>𝑎</m:t>
                        </m:r>
                        <m:r>
                          <a:rPr lang="en-US" sz="4400" i="1">
                            <a:latin typeface="Cambria Math" panose="02040503050406030204" pitchFamily="18" charset="0"/>
                          </a:rPr>
                          <m:t>;</m:t>
                        </m:r>
                        <m:r>
                          <a:rPr lang="en-US" sz="4400" i="1">
                            <a:latin typeface="Cambria Math" panose="02040503050406030204" pitchFamily="18" charset="0"/>
                          </a:rPr>
                          <m:t>𝑏</m:t>
                        </m:r>
                      </m:e>
                    </m:d>
                  </m:oMath>
                </a14:m>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thuộc</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đường</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thẳng</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đi</a:t>
                </a:r>
                <a:r>
                  <a:rPr lang="en-US" sz="4400" dirty="0">
                    <a:latin typeface="Tahoma" panose="020B0604030504040204" pitchFamily="34" charset="0"/>
                    <a:ea typeface="Tahoma" panose="020B0604030504040204" pitchFamily="34" charset="0"/>
                    <a:cs typeface="Tahoma" panose="020B0604030504040204" pitchFamily="34" charset="0"/>
                  </a:rPr>
                  <a:t> qua </a:t>
                </a:r>
                <a14:m>
                  <m:oMath xmlns:m="http://schemas.openxmlformats.org/officeDocument/2006/math">
                    <m:r>
                      <a:rPr lang="en-US" sz="4400" i="1">
                        <a:latin typeface="Cambria Math" panose="02040503050406030204" pitchFamily="18" charset="0"/>
                      </a:rPr>
                      <m:t>𝐴</m:t>
                    </m:r>
                    <m:d>
                      <m:dPr>
                        <m:ctrlPr>
                          <a:rPr lang="en-US" sz="4400" i="1">
                            <a:latin typeface="Cambria Math" panose="02040503050406030204" pitchFamily="18" charset="0"/>
                          </a:rPr>
                        </m:ctrlPr>
                      </m:dPr>
                      <m:e>
                        <m:r>
                          <a:rPr lang="en-US" sz="4400" i="1">
                            <a:latin typeface="Cambria Math" panose="02040503050406030204" pitchFamily="18" charset="0"/>
                          </a:rPr>
                          <m:t>0;32</m:t>
                        </m:r>
                      </m:e>
                    </m:d>
                  </m:oMath>
                </a14:m>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và</a:t>
                </a:r>
                <a:r>
                  <a:rPr lang="en-US" sz="44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i="1">
                        <a:latin typeface="Cambria Math" panose="02040503050406030204" pitchFamily="18" charset="0"/>
                      </a:rPr>
                      <m:t>𝐵</m:t>
                    </m:r>
                    <m:d>
                      <m:dPr>
                        <m:ctrlPr>
                          <a:rPr lang="en-US" sz="4400" i="1">
                            <a:latin typeface="Cambria Math" panose="02040503050406030204" pitchFamily="18" charset="0"/>
                          </a:rPr>
                        </m:ctrlPr>
                      </m:dPr>
                      <m:e>
                        <m:r>
                          <a:rPr lang="en-US" sz="4400" i="1">
                            <a:latin typeface="Cambria Math" panose="02040503050406030204" pitchFamily="18" charset="0"/>
                          </a:rPr>
                          <m:t>100;212</m:t>
                        </m:r>
                      </m:e>
                    </m:d>
                  </m:oMath>
                </a14:m>
                <a:r>
                  <a:rPr lang="en-US" sz="4400" dirty="0">
                    <a:latin typeface="Tahoma" panose="020B0604030504040204" pitchFamily="34" charset="0"/>
                    <a:ea typeface="Tahoma" panose="020B0604030504040204" pitchFamily="34" charset="0"/>
                    <a:cs typeface="Tahoma" panose="020B0604030504040204" pitchFamily="34" charset="0"/>
                  </a:rPr>
                  <a:t>.</a:t>
                </a:r>
              </a:p>
              <a:p>
                <a:pPr>
                  <a:lnSpc>
                    <a:spcPct val="150000"/>
                  </a:lnSpc>
                </a:pP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Hỏi</a:t>
                </a:r>
                <a:r>
                  <a:rPr lang="en-US" sz="44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400" i="1" smtClean="0">
                            <a:latin typeface="Cambria Math" panose="02040503050406030204" pitchFamily="18" charset="0"/>
                          </a:rPr>
                        </m:ctrlPr>
                      </m:sSupPr>
                      <m:e>
                        <m:r>
                          <a:rPr lang="en-US" sz="4400" b="0" i="1" smtClean="0">
                            <a:latin typeface="Cambria Math" panose="02040503050406030204" pitchFamily="18" charset="0"/>
                          </a:rPr>
                          <m:t>0</m:t>
                        </m:r>
                      </m:e>
                      <m:sup>
                        <m:r>
                          <m:rPr>
                            <m:sty m:val="p"/>
                          </m:rPr>
                          <a:rPr lang="en-US" sz="4400">
                            <a:latin typeface="Cambria Math" panose="02040503050406030204" pitchFamily="18" charset="0"/>
                          </a:rPr>
                          <m:t>o</m:t>
                        </m:r>
                      </m:sup>
                    </m:sSup>
                    <m:r>
                      <m:rPr>
                        <m:sty m:val="p"/>
                      </m:rPr>
                      <a:rPr lang="en-US" sz="4400" i="0">
                        <a:latin typeface="Cambria Math" panose="02040503050406030204" pitchFamily="18" charset="0"/>
                      </a:rPr>
                      <m:t>F</m:t>
                    </m:r>
                    <m:r>
                      <a:rPr lang="en-US" sz="4400" i="1">
                        <a:latin typeface="Cambria Math" panose="02040503050406030204" pitchFamily="18" charset="0"/>
                      </a:rPr>
                      <m:t>,</m:t>
                    </m:r>
                    <m:sSup>
                      <m:sSupPr>
                        <m:ctrlPr>
                          <a:rPr lang="en-US" sz="4400" i="1">
                            <a:latin typeface="Cambria Math" panose="02040503050406030204" pitchFamily="18" charset="0"/>
                          </a:rPr>
                        </m:ctrlPr>
                      </m:sSupPr>
                      <m:e>
                        <m:r>
                          <a:rPr lang="en-US" sz="4400" b="0" i="1" smtClean="0">
                            <a:latin typeface="Cambria Math" panose="02040503050406030204" pitchFamily="18" charset="0"/>
                          </a:rPr>
                          <m:t>100</m:t>
                        </m:r>
                      </m:e>
                      <m:sup>
                        <m:r>
                          <m:rPr>
                            <m:sty m:val="p"/>
                          </m:rPr>
                          <a:rPr lang="en-US" sz="4400">
                            <a:latin typeface="Cambria Math" panose="02040503050406030204" pitchFamily="18" charset="0"/>
                          </a:rPr>
                          <m:t>o</m:t>
                        </m:r>
                      </m:sup>
                    </m:sSup>
                    <m:r>
                      <m:rPr>
                        <m:sty m:val="p"/>
                      </m:rPr>
                      <a:rPr lang="en-US" sz="4400" i="0">
                        <a:latin typeface="Cambria Math" panose="02040503050406030204" pitchFamily="18" charset="0"/>
                      </a:rPr>
                      <m:t>F</m:t>
                    </m:r>
                  </m:oMath>
                </a14:m>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tương</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ứng</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với</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bao</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nhiêu</a:t>
                </a:r>
                <a:r>
                  <a:rPr lang="en-US" sz="4400" dirty="0">
                    <a:latin typeface="Tahoma" panose="020B0604030504040204" pitchFamily="34" charset="0"/>
                    <a:ea typeface="Tahoma" panose="020B0604030504040204" pitchFamily="34" charset="0"/>
                    <a:cs typeface="Tahoma" panose="020B0604030504040204" pitchFamily="34" charset="0"/>
                  </a:rPr>
                  <a:t> </a:t>
                </a:r>
                <a:r>
                  <a:rPr lang="en-US" sz="4400" dirty="0" err="1">
                    <a:latin typeface="Tahoma" panose="020B0604030504040204" pitchFamily="34" charset="0"/>
                    <a:ea typeface="Tahoma" panose="020B0604030504040204" pitchFamily="34" charset="0"/>
                    <a:cs typeface="Tahoma" panose="020B0604030504040204" pitchFamily="34" charset="0"/>
                  </a:rPr>
                  <a:t>độ</a:t>
                </a:r>
                <a:r>
                  <a:rPr lang="en-US" sz="44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m:rPr>
                        <m:sty m:val="p"/>
                      </m:rPr>
                      <a:rPr lang="en-US" sz="4400" b="0" i="0" smtClean="0">
                        <a:latin typeface="Cambria Math" panose="02040503050406030204" pitchFamily="18" charset="0"/>
                      </a:rPr>
                      <m:t>C</m:t>
                    </m:r>
                  </m:oMath>
                </a14:m>
                <a:r>
                  <a:rPr lang="en-US" sz="4400"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7" name="Title 1">
                <a:extLst>
                  <a:ext uri="{FF2B5EF4-FFF2-40B4-BE49-F238E27FC236}">
                    <a16:creationId xmlns="" xmlns:a16="http://schemas.microsoft.com/office/drawing/2014/main" xmlns:a14="http://schemas.microsoft.com/office/drawing/2010/main" id="{D87ADF89-46F9-4713-9744-A644701231B8}"/>
                  </a:ext>
                </a:extLst>
              </p:cNvPr>
              <p:cNvSpPr txBox="1">
                <a:spLocks noRot="1" noChangeAspect="1" noMove="1" noResize="1" noEditPoints="1" noAdjustHandles="1" noChangeArrowheads="1" noChangeShapeType="1" noTextEdit="1"/>
              </p:cNvSpPr>
              <p:nvPr/>
            </p:nvSpPr>
            <p:spPr>
              <a:xfrm>
                <a:off x="325122" y="2741211"/>
                <a:ext cx="15486378" cy="10315666"/>
              </a:xfrm>
              <a:prstGeom prst="rect">
                <a:avLst/>
              </a:prstGeom>
              <a:blipFill rotWithShape="1">
                <a:blip r:embed="rId6"/>
                <a:stretch>
                  <a:fillRect l="-1534" r="-2045"/>
                </a:stretch>
              </a:blipFill>
              <a:ln>
                <a:solidFill>
                  <a:schemeClr val="tx2">
                    <a:lumMod val="20000"/>
                    <a:lumOff val="80000"/>
                  </a:schemeClr>
                </a:solidFill>
              </a:ln>
            </p:spPr>
            <p:txBody>
              <a:bodyPr/>
              <a:lstStyle/>
              <a:p>
                <a:r>
                  <a:rPr lang="vi-VN">
                    <a:noFill/>
                  </a:rPr>
                  <a:t> </a:t>
                </a:r>
              </a:p>
            </p:txBody>
          </p:sp>
        </mc:Fallback>
      </mc:AlternateContent>
      <p:grpSp>
        <p:nvGrpSpPr>
          <p:cNvPr id="6" name="Group 5">
            <a:extLst>
              <a:ext uri="{FF2B5EF4-FFF2-40B4-BE49-F238E27FC236}">
                <a16:creationId xmlns:a16="http://schemas.microsoft.com/office/drawing/2014/main" id="{1BFBDF67-047C-43E1-8575-3E6529841CFC}"/>
              </a:ext>
            </a:extLst>
          </p:cNvPr>
          <p:cNvGrpSpPr/>
          <p:nvPr/>
        </p:nvGrpSpPr>
        <p:grpSpPr>
          <a:xfrm>
            <a:off x="325122" y="1879599"/>
            <a:ext cx="4856478" cy="1188722"/>
            <a:chOff x="22440" y="32106"/>
            <a:chExt cx="913236" cy="281354"/>
          </a:xfrm>
        </p:grpSpPr>
        <p:grpSp>
          <p:nvGrpSpPr>
            <p:cNvPr id="8" name="Group 7">
              <a:extLst>
                <a:ext uri="{FF2B5EF4-FFF2-40B4-BE49-F238E27FC236}">
                  <a16:creationId xmlns:a16="http://schemas.microsoft.com/office/drawing/2014/main" id="{BD3B95F6-40E3-4005-945B-526B62350160}"/>
                </a:ext>
              </a:extLst>
            </p:cNvPr>
            <p:cNvGrpSpPr/>
            <p:nvPr/>
          </p:nvGrpSpPr>
          <p:grpSpPr>
            <a:xfrm>
              <a:off x="22440" y="59287"/>
              <a:ext cx="850471" cy="159855"/>
              <a:chOff x="31572" y="60276"/>
              <a:chExt cx="1196628" cy="197828"/>
            </a:xfrm>
          </p:grpSpPr>
          <p:sp>
            <p:nvSpPr>
              <p:cNvPr id="10" name="Arrow: Pentagon 9">
                <a:extLst>
                  <a:ext uri="{FF2B5EF4-FFF2-40B4-BE49-F238E27FC236}">
                    <a16:creationId xmlns:a16="http://schemas.microsoft.com/office/drawing/2014/main" id="{D4CDDB00-D580-49B0-BF0B-4B608B07418A}"/>
                  </a:ext>
                </a:extLst>
              </p:cNvPr>
              <p:cNvSpPr/>
              <p:nvPr/>
            </p:nvSpPr>
            <p:spPr>
              <a:xfrm>
                <a:off x="204585" y="62042"/>
                <a:ext cx="1023615"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nSpc>
                    <a:spcPct val="106000"/>
                  </a:lnSpc>
                  <a:spcBef>
                    <a:spcPts val="0"/>
                  </a:spcBef>
                  <a:spcAft>
                    <a:spcPts val="800"/>
                  </a:spcAft>
                </a:pPr>
                <a:r>
                  <a:rPr lang="en-US" sz="1000" b="1" kern="1200">
                    <a:solidFill>
                      <a:srgbClr val="0000CC"/>
                    </a:solidFill>
                    <a:effectLst/>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 name="Arrow: Chevron 10">
                <a:extLst>
                  <a:ext uri="{FF2B5EF4-FFF2-40B4-BE49-F238E27FC236}">
                    <a16:creationId xmlns:a16="http://schemas.microsoft.com/office/drawing/2014/main" id="{077F92C8-3D25-4A1C-B9B4-6F87851BCE75}"/>
                  </a:ext>
                </a:extLst>
              </p:cNvPr>
              <p:cNvSpPr/>
              <p:nvPr/>
            </p:nvSpPr>
            <p:spPr>
              <a:xfrm>
                <a:off x="31572" y="60341"/>
                <a:ext cx="162630" cy="196062"/>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12" name="Arrow: Chevron 11">
                <a:extLst>
                  <a:ext uri="{FF2B5EF4-FFF2-40B4-BE49-F238E27FC236}">
                    <a16:creationId xmlns:a16="http://schemas.microsoft.com/office/drawing/2014/main" id="{A8A4BA6D-A137-43A5-94F7-7932FFC1BAFE}"/>
                  </a:ext>
                </a:extLst>
              </p:cNvPr>
              <p:cNvSpPr/>
              <p:nvPr/>
            </p:nvSpPr>
            <p:spPr>
              <a:xfrm>
                <a:off x="116273" y="60276"/>
                <a:ext cx="176766" cy="196062"/>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sp>
          <p:nvSpPr>
            <p:cNvPr id="9" name="TextBox 56">
              <a:extLst>
                <a:ext uri="{FF2B5EF4-FFF2-40B4-BE49-F238E27FC236}">
                  <a16:creationId xmlns:a16="http://schemas.microsoft.com/office/drawing/2014/main" id="{7BFE9291-1269-4904-B0E8-D0AEFD7E2754}"/>
                </a:ext>
              </a:extLst>
            </p:cNvPr>
            <p:cNvSpPr txBox="1"/>
            <p:nvPr/>
          </p:nvSpPr>
          <p:spPr>
            <a:xfrm>
              <a:off x="251079" y="32106"/>
              <a:ext cx="684597" cy="281354"/>
            </a:xfrm>
            <a:prstGeom prst="rect">
              <a:avLst/>
            </a:prstGeom>
            <a:noFill/>
          </p:spPr>
          <p:txBody>
            <a:bodyPr wrap="square">
              <a:noAutofit/>
            </a:bodyPr>
            <a:lstStyle/>
            <a:p>
              <a:pPr marL="0" marR="0">
                <a:lnSpc>
                  <a:spcPct val="107000"/>
                </a:lnSpc>
                <a:spcBef>
                  <a:spcPts val="0"/>
                </a:spcBef>
                <a:spcAft>
                  <a:spcPts val="800"/>
                </a:spcAft>
              </a:pPr>
              <a:r>
                <a:rPr lang="en-US" sz="4800" b="1" kern="1200">
                  <a:solidFill>
                    <a:srgbClr val="0000CC"/>
                  </a:solidFill>
                  <a:effectLst/>
                  <a:latin typeface="Tahoma" panose="020B0604030504040204" pitchFamily="34" charset="0"/>
                  <a:ea typeface="Tahoma" panose="020B0604030504040204" pitchFamily="34" charset="0"/>
                  <a:cs typeface="Tahoma" panose="020B0604030504040204" pitchFamily="34" charset="0"/>
                </a:rPr>
                <a:t>Vận dụng</a:t>
              </a:r>
              <a:r>
                <a:rPr lang="en-US" sz="1200" b="1" kern="1200">
                  <a:solidFill>
                    <a:srgbClr val="0000CC"/>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cxnSp>
        <p:nvCxnSpPr>
          <p:cNvPr id="18" name="Straight Connector 17"/>
          <p:cNvCxnSpPr/>
          <p:nvPr/>
        </p:nvCxnSpPr>
        <p:spPr>
          <a:xfrm flipV="1">
            <a:off x="16217900" y="5021250"/>
            <a:ext cx="6121400" cy="504665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p:nvGrpSpPr>
        <p:grpSpPr>
          <a:xfrm>
            <a:off x="17500600" y="7497752"/>
            <a:ext cx="1765300" cy="1131080"/>
            <a:chOff x="17945100" y="7509673"/>
            <a:chExt cx="1765300" cy="1131080"/>
          </a:xfrm>
        </p:grpSpPr>
        <p:sp>
          <p:nvSpPr>
            <p:cNvPr id="20" name="TextBox 19"/>
            <p:cNvSpPr txBox="1"/>
            <p:nvPr/>
          </p:nvSpPr>
          <p:spPr>
            <a:xfrm>
              <a:off x="18605500" y="7886700"/>
              <a:ext cx="1104900" cy="754053"/>
            </a:xfrm>
            <a:prstGeom prst="rect">
              <a:avLst/>
            </a:prstGeom>
            <a:noFill/>
          </p:spPr>
          <p:txBody>
            <a:bodyPr wrap="square" rtlCol="0">
              <a:spAutoFit/>
            </a:bodyPr>
            <a:lstStyle/>
            <a:p>
              <a:r>
                <a:rPr lang="vi-VN" dirty="0" smtClean="0">
                  <a:solidFill>
                    <a:srgbClr val="FF0000"/>
                  </a:solidFill>
                  <a:sym typeface="Symbol"/>
                </a:rPr>
                <a:t></a:t>
              </a:r>
              <a:endParaRPr lang="vi-VN" dirty="0">
                <a:solidFill>
                  <a:srgbClr val="FF0000"/>
                </a:solidFill>
              </a:endParaRPr>
            </a:p>
          </p:txBody>
        </p:sp>
        <p:sp>
          <p:nvSpPr>
            <p:cNvPr id="22" name="TextBox 21"/>
            <p:cNvSpPr txBox="1"/>
            <p:nvPr/>
          </p:nvSpPr>
          <p:spPr>
            <a:xfrm>
              <a:off x="17945100" y="7509673"/>
              <a:ext cx="914400" cy="754053"/>
            </a:xfrm>
            <a:prstGeom prst="rect">
              <a:avLst/>
            </a:prstGeom>
            <a:noFill/>
          </p:spPr>
          <p:txBody>
            <a:bodyPr wrap="square" rtlCol="0">
              <a:spAutoFit/>
            </a:bodyPr>
            <a:lstStyle/>
            <a:p>
              <a:r>
                <a:rPr lang="vi-VN" dirty="0" smtClean="0"/>
                <a:t>A</a:t>
              </a:r>
              <a:endParaRPr lang="vi-VN" dirty="0"/>
            </a:p>
          </p:txBody>
        </p:sp>
      </p:grpSp>
      <p:grpSp>
        <p:nvGrpSpPr>
          <p:cNvPr id="99" name="Group 98"/>
          <p:cNvGrpSpPr/>
          <p:nvPr/>
        </p:nvGrpSpPr>
        <p:grpSpPr>
          <a:xfrm>
            <a:off x="20675600" y="5021250"/>
            <a:ext cx="1562100" cy="1131080"/>
            <a:chOff x="21120100" y="5033171"/>
            <a:chExt cx="1562100" cy="1131080"/>
          </a:xfrm>
        </p:grpSpPr>
        <p:sp>
          <p:nvSpPr>
            <p:cNvPr id="23" name="TextBox 22"/>
            <p:cNvSpPr txBox="1"/>
            <p:nvPr/>
          </p:nvSpPr>
          <p:spPr>
            <a:xfrm>
              <a:off x="21577300" y="5410198"/>
              <a:ext cx="1104900" cy="754053"/>
            </a:xfrm>
            <a:prstGeom prst="rect">
              <a:avLst/>
            </a:prstGeom>
            <a:noFill/>
          </p:spPr>
          <p:txBody>
            <a:bodyPr wrap="square" rtlCol="0">
              <a:spAutoFit/>
            </a:bodyPr>
            <a:lstStyle/>
            <a:p>
              <a:r>
                <a:rPr lang="vi-VN" dirty="0" smtClean="0">
                  <a:solidFill>
                    <a:srgbClr val="FF0000"/>
                  </a:solidFill>
                  <a:sym typeface="Symbol"/>
                </a:rPr>
                <a:t></a:t>
              </a:r>
              <a:endParaRPr lang="vi-VN" dirty="0">
                <a:solidFill>
                  <a:srgbClr val="FF0000"/>
                </a:solidFill>
              </a:endParaRPr>
            </a:p>
          </p:txBody>
        </p:sp>
        <p:sp>
          <p:nvSpPr>
            <p:cNvPr id="25" name="TextBox 24"/>
            <p:cNvSpPr txBox="1"/>
            <p:nvPr/>
          </p:nvSpPr>
          <p:spPr>
            <a:xfrm>
              <a:off x="21120100" y="5033171"/>
              <a:ext cx="914400" cy="754053"/>
            </a:xfrm>
            <a:prstGeom prst="rect">
              <a:avLst/>
            </a:prstGeom>
            <a:noFill/>
          </p:spPr>
          <p:txBody>
            <a:bodyPr wrap="square" rtlCol="0">
              <a:spAutoFit/>
            </a:bodyPr>
            <a:lstStyle/>
            <a:p>
              <a:r>
                <a:rPr lang="vi-VN" dirty="0" smtClean="0"/>
                <a:t>B</a:t>
              </a:r>
              <a:endParaRPr lang="vi-VN" dirty="0"/>
            </a:p>
          </p:txBody>
        </p:sp>
      </p:grpSp>
      <p:sp>
        <p:nvSpPr>
          <p:cNvPr id="26" name="TextBox 25"/>
          <p:cNvSpPr txBox="1"/>
          <p:nvPr/>
        </p:nvSpPr>
        <p:spPr>
          <a:xfrm>
            <a:off x="18459450" y="8133530"/>
            <a:ext cx="1638300" cy="754053"/>
          </a:xfrm>
          <a:prstGeom prst="rect">
            <a:avLst/>
          </a:prstGeom>
          <a:noFill/>
        </p:spPr>
        <p:txBody>
          <a:bodyPr wrap="square" rtlCol="0">
            <a:spAutoFit/>
          </a:bodyPr>
          <a:lstStyle/>
          <a:p>
            <a:r>
              <a:rPr lang="vi-VN" dirty="0" smtClean="0"/>
              <a:t>32</a:t>
            </a:r>
            <a:endParaRPr lang="vi-VN" dirty="0"/>
          </a:p>
        </p:txBody>
      </p:sp>
      <p:sp>
        <p:nvSpPr>
          <p:cNvPr id="35" name="TextBox 34"/>
          <p:cNvSpPr txBox="1"/>
          <p:nvPr/>
        </p:nvSpPr>
        <p:spPr>
          <a:xfrm>
            <a:off x="20770850" y="9690878"/>
            <a:ext cx="1638300" cy="754053"/>
          </a:xfrm>
          <a:prstGeom prst="rect">
            <a:avLst/>
          </a:prstGeom>
          <a:noFill/>
        </p:spPr>
        <p:txBody>
          <a:bodyPr wrap="square" rtlCol="0">
            <a:spAutoFit/>
          </a:bodyPr>
          <a:lstStyle/>
          <a:p>
            <a:r>
              <a:rPr lang="vi-VN" dirty="0" smtClean="0"/>
              <a:t>100</a:t>
            </a:r>
            <a:endParaRPr lang="vi-VN" dirty="0"/>
          </a:p>
        </p:txBody>
      </p:sp>
      <p:sp>
        <p:nvSpPr>
          <p:cNvPr id="36" name="TextBox 35"/>
          <p:cNvSpPr txBox="1"/>
          <p:nvPr/>
        </p:nvSpPr>
        <p:spPr>
          <a:xfrm>
            <a:off x="17062450" y="5398277"/>
            <a:ext cx="1638300" cy="754053"/>
          </a:xfrm>
          <a:prstGeom prst="rect">
            <a:avLst/>
          </a:prstGeom>
          <a:noFill/>
        </p:spPr>
        <p:txBody>
          <a:bodyPr wrap="square" rtlCol="0">
            <a:spAutoFit/>
          </a:bodyPr>
          <a:lstStyle/>
          <a:p>
            <a:r>
              <a:rPr lang="vi-VN" dirty="0" smtClean="0"/>
              <a:t>180</a:t>
            </a:r>
            <a:endParaRPr lang="vi-VN" dirty="0"/>
          </a:p>
        </p:txBody>
      </p:sp>
      <p:sp>
        <p:nvSpPr>
          <p:cNvPr id="104" name="Rounded Rectangle 10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8" name="TextBox 10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71849021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wipe(up)">
                                      <p:cBhvr>
                                        <p:cTn id="12" dur="500"/>
                                        <p:tgtEl>
                                          <p:spTgt spid="10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ipe(down)">
                                      <p:cBhvr>
                                        <p:cTn id="29" dur="500"/>
                                        <p:tgtEl>
                                          <p:spTgt spid="28"/>
                                        </p:tgtEl>
                                      </p:cBhvr>
                                    </p:animEffect>
                                  </p:childTnLst>
                                </p:cTn>
                              </p:par>
                            </p:childTnLst>
                          </p:cTn>
                        </p:par>
                        <p:par>
                          <p:cTn id="30" fill="hold">
                            <p:stCondLst>
                              <p:cond delay="500"/>
                            </p:stCondLst>
                            <p:childTnLst>
                              <p:par>
                                <p:cTn id="31" presetID="1" presetClass="entr" presetSubtype="0" fill="hold" grpId="0" nodeType="after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wipe(right)">
                                      <p:cBhvr>
                                        <p:cTn id="37" dur="500"/>
                                        <p:tgtEl>
                                          <p:spTgt spid="30"/>
                                        </p:tgtEl>
                                      </p:cBhvr>
                                    </p:animEffect>
                                  </p:childTnLst>
                                </p:cTn>
                              </p:par>
                            </p:childTnLst>
                          </p:cTn>
                        </p:par>
                        <p:par>
                          <p:cTn id="38" fill="hold">
                            <p:stCondLst>
                              <p:cond delay="500"/>
                            </p:stCondLst>
                            <p:childTnLst>
                              <p:par>
                                <p:cTn id="39" presetID="1" presetClass="entr" presetSubtype="0" fill="hold" grpId="0" nodeType="after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barn(inVertical)">
                                      <p:cBhvr>
                                        <p:cTn id="4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26" grpId="0"/>
      <p:bldP spid="35" grpId="0"/>
      <p:bldP spid="3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457200" y="2666999"/>
                <a:ext cx="14598650" cy="9906001"/>
              </a:xfrm>
              <a:prstGeom prst="rect">
                <a:avLst/>
              </a:prstGeom>
              <a:solidFill>
                <a:srgbClr val="EEF7E9"/>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en-US" b="1" dirty="0" err="1">
                    <a:latin typeface="Tahoma" panose="020B0604030504040204" pitchFamily="34" charset="0"/>
                    <a:ea typeface="Tahoma" panose="020B0604030504040204" pitchFamily="34" charset="0"/>
                    <a:cs typeface="Tahoma" panose="020B0604030504040204" pitchFamily="34" charset="0"/>
                  </a:rPr>
                  <a:t>Giải</a:t>
                </a:r>
                <a:endParaRPr lang="en-US" dirty="0">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dirty="0" err="1">
                    <a:latin typeface="Tahoma" panose="020B0604030504040204" pitchFamily="34" charset="0"/>
                    <a:ea typeface="Tahoma" panose="020B0604030504040204" pitchFamily="34" charset="0"/>
                    <a:cs typeface="Tahoma" panose="020B0604030504040204" pitchFamily="34" charset="0"/>
                  </a:rPr>
                  <a:t>Đường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thẳng</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i="1">
                        <a:latin typeface="Cambria Math" panose="02040503050406030204" pitchFamily="18" charset="0"/>
                      </a:rPr>
                      <m:t>𝐴𝐵</m:t>
                    </m:r>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đi</a:t>
                </a:r>
                <a:r>
                  <a:rPr lang="en-US" dirty="0">
                    <a:latin typeface="Tahoma" panose="020B0604030504040204" pitchFamily="34" charset="0"/>
                    <a:ea typeface="Tahoma" panose="020B0604030504040204" pitchFamily="34" charset="0"/>
                    <a:cs typeface="Tahoma" panose="020B0604030504040204" pitchFamily="34" charset="0"/>
                  </a:rPr>
                  <a:t> qua </a:t>
                </a:r>
                <a14:m>
                  <m:oMath xmlns:m="http://schemas.openxmlformats.org/officeDocument/2006/math">
                    <m:r>
                      <a:rPr lang="en-US" i="1">
                        <a:latin typeface="Cambria Math" panose="02040503050406030204" pitchFamily="18" charset="0"/>
                      </a:rPr>
                      <m:t>𝐴</m:t>
                    </m:r>
                    <m:d>
                      <m:dPr>
                        <m:ctrlPr>
                          <a:rPr lang="en-US" i="1">
                            <a:latin typeface="Cambria Math" panose="02040503050406030204" pitchFamily="18" charset="0"/>
                          </a:rPr>
                        </m:ctrlPr>
                      </m:dPr>
                      <m:e>
                        <m:r>
                          <a:rPr lang="en-US" i="1">
                            <a:latin typeface="Cambria Math" panose="02040503050406030204" pitchFamily="18" charset="0"/>
                          </a:rPr>
                          <m:t>0;32</m:t>
                        </m:r>
                      </m:e>
                    </m:d>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và</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i="1">
                        <a:latin typeface="Cambria Math" panose="02040503050406030204" pitchFamily="18" charset="0"/>
                      </a:rPr>
                      <m:t>𝐵</m:t>
                    </m:r>
                    <m:d>
                      <m:dPr>
                        <m:ctrlPr>
                          <a:rPr lang="en-US" i="1">
                            <a:latin typeface="Cambria Math" panose="02040503050406030204" pitchFamily="18" charset="0"/>
                          </a:rPr>
                        </m:ctrlPr>
                      </m:dPr>
                      <m:e>
                        <m:r>
                          <a:rPr lang="en-US" i="1">
                            <a:latin typeface="Cambria Math" panose="02040503050406030204" pitchFamily="18" charset="0"/>
                          </a:rPr>
                          <m:t>100;212</m:t>
                        </m:r>
                      </m:e>
                    </m:d>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có</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vectơ</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chỉ</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phương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là</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𝐴𝐵</m:t>
                        </m:r>
                      </m:e>
                    </m:acc>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100;180</m:t>
                        </m:r>
                      </m:e>
                    </m:d>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nên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đường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thẳng</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i="1">
                        <a:latin typeface="Cambria Math" panose="02040503050406030204" pitchFamily="18" charset="0"/>
                      </a:rPr>
                      <m:t>𝐴𝐵</m:t>
                    </m:r>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có</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vectơ</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pháp</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tuyến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là</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𝑛</m:t>
                        </m:r>
                      </m:e>
                    </m:acc>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9;−5</m:t>
                        </m:r>
                      </m:e>
                    </m:d>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Khi</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đó</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phương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trình</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đường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thẳng</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i="1">
                        <a:latin typeface="Cambria Math" panose="02040503050406030204" pitchFamily="18" charset="0"/>
                      </a:rPr>
                      <m:t>𝐴𝐵</m:t>
                    </m:r>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là</a:t>
                </a:r>
                <a:r>
                  <a:rPr lang="en-US" dirty="0">
                    <a:latin typeface="Tahoma" panose="020B0604030504040204" pitchFamily="34" charset="0"/>
                    <a:ea typeface="Tahoma" panose="020B0604030504040204" pitchFamily="34" charset="0"/>
                    <a:cs typeface="Tahoma" panose="020B0604030504040204" pitchFamily="34" charset="0"/>
                  </a:rPr>
                  <a:t>:</a:t>
                </a:r>
              </a:p>
              <a:p>
                <a:pPr marL="0" indent="0">
                  <a:lnSpc>
                    <a:spcPct val="150000"/>
                  </a:lnSpc>
                  <a:buNone/>
                </a:pPr>
                <a14:m>
                  <m:oMathPara xmlns:m="http://schemas.openxmlformats.org/officeDocument/2006/math">
                    <m:oMathParaPr>
                      <m:jc m:val="centerGroup"/>
                    </m:oMathParaPr>
                    <m:oMath xmlns:m="http://schemas.openxmlformats.org/officeDocument/2006/math">
                      <m:r>
                        <a:rPr lang="en-US" b="0" i="1">
                          <a:latin typeface="Cambria Math" panose="02040503050406030204" pitchFamily="18" charset="0"/>
                        </a:rPr>
                        <m:t>9</m:t>
                      </m:r>
                      <m:r>
                        <a:rPr lang="en-US" b="0" i="1">
                          <a:latin typeface="Cambria Math" panose="02040503050406030204" pitchFamily="18" charset="0"/>
                        </a:rPr>
                        <m:t>𝑥</m:t>
                      </m:r>
                      <m:r>
                        <a:rPr lang="en-US" b="0" i="1">
                          <a:latin typeface="Cambria Math" panose="02040503050406030204" pitchFamily="18" charset="0"/>
                        </a:rPr>
                        <m:t>−5</m:t>
                      </m:r>
                      <m:r>
                        <a:rPr lang="en-US" b="0" i="1">
                          <a:latin typeface="Cambria Math" panose="02040503050406030204" pitchFamily="18" charset="0"/>
                        </a:rPr>
                        <m:t>𝑦</m:t>
                      </m:r>
                      <m:r>
                        <a:rPr lang="en-US" b="0" i="1">
                          <a:latin typeface="Cambria Math" panose="02040503050406030204" pitchFamily="18" charset="0"/>
                        </a:rPr>
                        <m:t>+160=0.</m:t>
                      </m:r>
                    </m:oMath>
                  </m:oMathPara>
                </a14:m>
                <a:endParaRPr lang="en-US" dirty="0">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dirty="0" err="1">
                    <a:latin typeface="Tahoma" panose="020B0604030504040204" pitchFamily="34" charset="0"/>
                    <a:ea typeface="Tahoma" panose="020B0604030504040204" pitchFamily="34" charset="0"/>
                    <a:cs typeface="Tahoma" panose="020B0604030504040204" pitchFamily="34" charset="0"/>
                  </a:rPr>
                  <a:t>Khi</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đó</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0</m:t>
                        </m:r>
                      </m:e>
                      <m:sup>
                        <m:r>
                          <m:rPr>
                            <m:sty m:val="p"/>
                          </m:rPr>
                          <a:rPr lang="en-US">
                            <a:latin typeface="Cambria Math" panose="02040503050406030204" pitchFamily="18" charset="0"/>
                          </a:rPr>
                          <m:t>o</m:t>
                        </m:r>
                      </m:sup>
                    </m:sSup>
                    <m:r>
                      <m:rPr>
                        <m:sty m:val="p"/>
                      </m:rPr>
                      <a:rPr lang="en-US">
                        <a:latin typeface="Cambria Math" panose="02040503050406030204" pitchFamily="18" charset="0"/>
                      </a:rPr>
                      <m:t>F</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100</m:t>
                        </m:r>
                      </m:e>
                      <m:sup>
                        <m:r>
                          <m:rPr>
                            <m:sty m:val="p"/>
                          </m:rPr>
                          <a:rPr lang="en-US">
                            <a:latin typeface="Cambria Math" panose="02040503050406030204" pitchFamily="18" charset="0"/>
                          </a:rPr>
                          <m:t>o</m:t>
                        </m:r>
                      </m:sup>
                    </m:sSup>
                    <m:r>
                      <m:rPr>
                        <m:sty m:val="p"/>
                      </m:rPr>
                      <a:rPr lang="en-US">
                        <a:latin typeface="Cambria Math" panose="02040503050406030204" pitchFamily="18" charset="0"/>
                      </a:rPr>
                      <m:t>F</m:t>
                    </m:r>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tương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ứng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với</a:t>
                </a:r>
                <a14:m>
                  <m:oMath xmlns:m="http://schemas.openxmlformats.org/officeDocument/2006/math">
                    <m:r>
                      <a:rPr lang="en-US" b="0" i="0" smtClean="0">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160</m:t>
                            </m:r>
                          </m:num>
                          <m:den>
                            <m:r>
                              <a:rPr lang="en-US" i="1">
                                <a:latin typeface="Cambria Math" panose="02040503050406030204" pitchFamily="18" charset="0"/>
                              </a:rPr>
                              <m:t>9</m:t>
                            </m:r>
                          </m:den>
                        </m:f>
                      </m:e>
                      <m:sup>
                        <m:r>
                          <m:rPr>
                            <m:sty m:val="p"/>
                          </m:rPr>
                          <a:rPr lang="en-US">
                            <a:latin typeface="Cambria Math" panose="02040503050406030204" pitchFamily="18" charset="0"/>
                          </a:rPr>
                          <m:t>o</m:t>
                        </m:r>
                      </m:sup>
                    </m:sSup>
                    <m:r>
                      <m:rPr>
                        <m:sty m:val="p"/>
                      </m:rPr>
                      <a:rPr lang="en-US" b="0" i="0" smtClean="0">
                        <a:latin typeface="Cambria Math" panose="02040503050406030204" pitchFamily="18" charset="0"/>
                      </a:rPr>
                      <m:t>C</m:t>
                    </m:r>
                    <m:r>
                      <a:rPr lang="en-US" i="1">
                        <a:latin typeface="Cambria Math" panose="02040503050406030204" pitchFamily="18" charset="0"/>
                      </a:rPr>
                      <m:t>,</m:t>
                    </m:r>
                    <m:sSup>
                      <m:sSupPr>
                        <m:ctrlPr>
                          <a:rPr lang="en-US" i="1" smtClean="0">
                            <a:latin typeface="Cambria Math" panose="02040503050406030204" pitchFamily="18" charset="0"/>
                          </a:rPr>
                        </m:ctrlPr>
                      </m:sSupPr>
                      <m:e>
                        <m:f>
                          <m:fPr>
                            <m:ctrlPr>
                              <a:rPr lang="en-US" i="1">
                                <a:latin typeface="Cambria Math" panose="02040503050406030204" pitchFamily="18" charset="0"/>
                              </a:rPr>
                            </m:ctrlPr>
                          </m:fPr>
                          <m:num>
                            <m:r>
                              <a:rPr lang="en-US" i="1">
                                <a:latin typeface="Cambria Math" panose="02040503050406030204" pitchFamily="18" charset="0"/>
                              </a:rPr>
                              <m:t>340</m:t>
                            </m:r>
                          </m:num>
                          <m:den>
                            <m:r>
                              <a:rPr lang="en-US" i="1">
                                <a:latin typeface="Cambria Math" panose="02040503050406030204" pitchFamily="18" charset="0"/>
                              </a:rPr>
                              <m:t>9</m:t>
                            </m:r>
                          </m:den>
                        </m:f>
                      </m:e>
                      <m:sup>
                        <m:r>
                          <m:rPr>
                            <m:sty m:val="p"/>
                          </m:rPr>
                          <a:rPr lang="en-US">
                            <a:latin typeface="Cambria Math" panose="02040503050406030204" pitchFamily="18" charset="0"/>
                          </a:rPr>
                          <m:t>o</m:t>
                        </m:r>
                      </m:sup>
                    </m:sSup>
                    <m:r>
                      <m:rPr>
                        <m:sty m:val="p"/>
                      </m:rPr>
                      <a:rPr lang="en-US" b="0" i="0" smtClean="0">
                        <a:latin typeface="Cambria Math" panose="02040503050406030204" pitchFamily="18" charset="0"/>
                      </a:rPr>
                      <m:t>C</m:t>
                    </m:r>
                  </m:oMath>
                </a14:m>
                <a:r>
                  <a:rPr lang="en-US"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9" name="Content Placeholder 2">
                <a:extLst>
                  <a:ext uri="{FF2B5EF4-FFF2-40B4-BE49-F238E27FC236}">
                    <a16:creationId xmlns="" xmlns:a16="http://schemas.microsoft.com/office/drawing/2014/main" xmlns:a14="http://schemas.microsoft.com/office/drawing/2010/main" id="{14822BB7-DB89-4357-87F0-6E511FC44A6A}"/>
                  </a:ext>
                </a:extLst>
              </p:cNvPr>
              <p:cNvSpPr txBox="1">
                <a:spLocks noRot="1" noChangeAspect="1" noMove="1" noResize="1" noEditPoints="1" noAdjustHandles="1" noChangeArrowheads="1" noChangeShapeType="1" noTextEdit="1"/>
              </p:cNvSpPr>
              <p:nvPr/>
            </p:nvSpPr>
            <p:spPr>
              <a:xfrm>
                <a:off x="457200" y="2666999"/>
                <a:ext cx="14598650" cy="9906001"/>
              </a:xfrm>
              <a:prstGeom prst="rect">
                <a:avLst/>
              </a:prstGeom>
              <a:blipFill rotWithShape="1">
                <a:blip r:embed="rId3"/>
                <a:stretch>
                  <a:fillRect l="-1669" t="-2027" r="-668"/>
                </a:stretch>
              </a:blipFill>
              <a:ln>
                <a:solidFill>
                  <a:srgbClr val="00B0F0"/>
                </a:solidFill>
              </a:ln>
            </p:spPr>
            <p:txBody>
              <a:bodyPr/>
              <a:lstStyle/>
              <a:p>
                <a:r>
                  <a:rPr lang="vi-VN">
                    <a:noFill/>
                  </a:rPr>
                  <a:t> </a:t>
                </a:r>
              </a:p>
            </p:txBody>
          </p:sp>
        </mc:Fallback>
      </mc:AlternateContent>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5176500" y="2667000"/>
            <a:ext cx="8578705" cy="99060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endParaRPr lang="en-US"/>
          </a:p>
        </p:txBody>
      </p:sp>
      <p:grpSp>
        <p:nvGrpSpPr>
          <p:cNvPr id="5" name="Group 4"/>
          <p:cNvGrpSpPr/>
          <p:nvPr/>
        </p:nvGrpSpPr>
        <p:grpSpPr>
          <a:xfrm>
            <a:off x="15176500" y="3659446"/>
            <a:ext cx="7924800" cy="8678854"/>
            <a:chOff x="16014700" y="3729825"/>
            <a:chExt cx="7924800" cy="8678854"/>
          </a:xfrm>
        </p:grpSpPr>
        <p:grpSp>
          <p:nvGrpSpPr>
            <p:cNvPr id="21" name="Group 20"/>
            <p:cNvGrpSpPr/>
            <p:nvPr/>
          </p:nvGrpSpPr>
          <p:grpSpPr>
            <a:xfrm>
              <a:off x="16014700" y="3729825"/>
              <a:ext cx="7924800" cy="8678854"/>
              <a:chOff x="16459200" y="3741746"/>
              <a:chExt cx="7924800" cy="8678854"/>
            </a:xfrm>
          </p:grpSpPr>
          <p:grpSp>
            <p:nvGrpSpPr>
              <p:cNvPr id="22" name="Group 21"/>
              <p:cNvGrpSpPr/>
              <p:nvPr/>
            </p:nvGrpSpPr>
            <p:grpSpPr>
              <a:xfrm>
                <a:off x="16459200" y="3886200"/>
                <a:ext cx="7620000" cy="8534400"/>
                <a:chOff x="16459200" y="3886200"/>
                <a:chExt cx="7620000" cy="8534400"/>
              </a:xfrm>
            </p:grpSpPr>
            <p:cxnSp>
              <p:nvCxnSpPr>
                <p:cNvPr id="26" name="Straight Arrow Connector 25"/>
                <p:cNvCxnSpPr/>
                <p:nvPr/>
              </p:nvCxnSpPr>
              <p:spPr>
                <a:xfrm>
                  <a:off x="16459200" y="9677400"/>
                  <a:ext cx="762000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18821400" y="3886200"/>
                  <a:ext cx="0" cy="8534400"/>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3" name="TextBox 22"/>
                  <p:cNvSpPr txBox="1"/>
                  <p:nvPr/>
                </p:nvSpPr>
                <p:spPr>
                  <a:xfrm>
                    <a:off x="17526000" y="9677399"/>
                    <a:ext cx="1600200" cy="7540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smtClean="0">
                              <a:latin typeface="Cambria Math"/>
                            </a:rPr>
                            <m:t>𝑶</m:t>
                          </m:r>
                        </m:oMath>
                      </m:oMathPara>
                    </a14:m>
                    <a:endParaRPr lang="vi-VN" b="1" dirty="0"/>
                  </a:p>
                </p:txBody>
              </p:sp>
            </mc:Choice>
            <mc:Fallback xmlns="">
              <p:sp>
                <p:nvSpPr>
                  <p:cNvPr id="23" name="TextBox 22"/>
                  <p:cNvSpPr txBox="1">
                    <a:spLocks noRot="1" noChangeAspect="1" noMove="1" noResize="1" noEditPoints="1" noAdjustHandles="1" noChangeArrowheads="1" noChangeShapeType="1" noTextEdit="1"/>
                  </p:cNvSpPr>
                  <p:nvPr/>
                </p:nvSpPr>
                <p:spPr>
                  <a:xfrm>
                    <a:off x="17526000" y="9677399"/>
                    <a:ext cx="1600200" cy="754053"/>
                  </a:xfrm>
                  <a:prstGeom prst="rect">
                    <a:avLst/>
                  </a:prstGeom>
                  <a:blipFill rotWithShape="1">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22783800" y="9677400"/>
                    <a:ext cx="1600200" cy="7540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smtClean="0">
                              <a:latin typeface="Cambria Math"/>
                            </a:rPr>
                            <m:t>𝒙</m:t>
                          </m:r>
                          <m:r>
                            <a:rPr lang="en-US" b="1" i="1" dirty="0" smtClean="0">
                              <a:latin typeface="Cambria Math"/>
                            </a:rPr>
                            <m:t> (</m:t>
                          </m:r>
                          <m:r>
                            <a:rPr lang="en-US" b="1" i="1" baseline="30000" dirty="0" smtClean="0">
                              <a:latin typeface="Cambria Math"/>
                            </a:rPr>
                            <m:t>𝟎</m:t>
                          </m:r>
                          <m:r>
                            <a:rPr lang="en-US" b="1" i="1" dirty="0" smtClean="0">
                              <a:latin typeface="Cambria Math"/>
                            </a:rPr>
                            <m:t>𝑪</m:t>
                          </m:r>
                          <m:r>
                            <a:rPr lang="en-US" b="1" i="1" dirty="0" smtClean="0">
                              <a:latin typeface="Cambria Math"/>
                            </a:rPr>
                            <m:t>)</m:t>
                          </m:r>
                        </m:oMath>
                      </m:oMathPara>
                    </a14:m>
                    <a:endParaRPr lang="vi-VN" b="1" dirty="0"/>
                  </a:p>
                </p:txBody>
              </p:sp>
            </mc:Choice>
            <mc:Fallback xmlns="">
              <p:sp>
                <p:nvSpPr>
                  <p:cNvPr id="24" name="TextBox 23"/>
                  <p:cNvSpPr txBox="1">
                    <a:spLocks noRot="1" noChangeAspect="1" noMove="1" noResize="1" noEditPoints="1" noAdjustHandles="1" noChangeArrowheads="1" noChangeShapeType="1" noTextEdit="1"/>
                  </p:cNvSpPr>
                  <p:nvPr/>
                </p:nvSpPr>
                <p:spPr>
                  <a:xfrm>
                    <a:off x="22783800" y="9677400"/>
                    <a:ext cx="1600200" cy="754053"/>
                  </a:xfrm>
                  <a:prstGeom prst="rect">
                    <a:avLst/>
                  </a:prstGeom>
                  <a:blipFill rotWithShape="1">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17602200" y="3741746"/>
                    <a:ext cx="3175000" cy="7540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smtClean="0">
                              <a:latin typeface="Cambria Math"/>
                            </a:rPr>
                            <m:t>𝒚</m:t>
                          </m:r>
                          <m:r>
                            <a:rPr lang="en-US" b="1" i="1" dirty="0" smtClean="0">
                              <a:latin typeface="Cambria Math"/>
                            </a:rPr>
                            <m:t>    (</m:t>
                          </m:r>
                          <m:r>
                            <a:rPr lang="en-US" b="1" i="1" baseline="30000" dirty="0" smtClean="0">
                              <a:latin typeface="Cambria Math"/>
                            </a:rPr>
                            <m:t>𝟎</m:t>
                          </m:r>
                          <m:r>
                            <a:rPr lang="en-US" b="1" i="1" dirty="0" smtClean="0">
                              <a:latin typeface="Cambria Math"/>
                            </a:rPr>
                            <m:t> </m:t>
                          </m:r>
                          <m:r>
                            <a:rPr lang="en-US" b="1" i="1" dirty="0" smtClean="0">
                              <a:latin typeface="Cambria Math"/>
                            </a:rPr>
                            <m:t>𝑭</m:t>
                          </m:r>
                          <m:r>
                            <a:rPr lang="en-US" b="1" i="1" dirty="0" smtClean="0">
                              <a:latin typeface="Cambria Math"/>
                            </a:rPr>
                            <m:t>)</m:t>
                          </m:r>
                        </m:oMath>
                      </m:oMathPara>
                    </a14:m>
                    <a:endParaRPr lang="vi-VN" b="1" dirty="0"/>
                  </a:p>
                </p:txBody>
              </p:sp>
            </mc:Choice>
            <mc:Fallback xmlns="">
              <p:sp>
                <p:nvSpPr>
                  <p:cNvPr id="25" name="TextBox 24"/>
                  <p:cNvSpPr txBox="1">
                    <a:spLocks noRot="1" noChangeAspect="1" noMove="1" noResize="1" noEditPoints="1" noAdjustHandles="1" noChangeArrowheads="1" noChangeShapeType="1" noTextEdit="1"/>
                  </p:cNvSpPr>
                  <p:nvPr/>
                </p:nvSpPr>
                <p:spPr>
                  <a:xfrm>
                    <a:off x="17602200" y="3741746"/>
                    <a:ext cx="3175000" cy="754053"/>
                  </a:xfrm>
                  <a:prstGeom prst="rect">
                    <a:avLst/>
                  </a:prstGeom>
                  <a:blipFill rotWithShape="1">
                    <a:blip r:embed="rId6"/>
                    <a:stretch>
                      <a:fillRect/>
                    </a:stretch>
                  </a:blipFill>
                </p:spPr>
                <p:txBody>
                  <a:bodyPr/>
                  <a:lstStyle/>
                  <a:p>
                    <a:r>
                      <a:rPr lang="vi-VN">
                        <a:noFill/>
                      </a:rPr>
                      <a:t> </a:t>
                    </a:r>
                  </a:p>
                </p:txBody>
              </p:sp>
            </mc:Fallback>
          </mc:AlternateContent>
        </p:grpSp>
        <p:cxnSp>
          <p:nvCxnSpPr>
            <p:cNvPr id="8" name="Straight Connector 7"/>
            <p:cNvCxnSpPr/>
            <p:nvPr/>
          </p:nvCxnSpPr>
          <p:spPr>
            <a:xfrm flipH="1">
              <a:off x="18376900" y="5775303"/>
              <a:ext cx="2971800" cy="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1348700" y="5775303"/>
              <a:ext cx="0" cy="389017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16217900" y="5021250"/>
              <a:ext cx="6121400" cy="504665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Group 10"/>
            <p:cNvGrpSpPr/>
            <p:nvPr/>
          </p:nvGrpSpPr>
          <p:grpSpPr>
            <a:xfrm>
              <a:off x="17500600" y="7497752"/>
              <a:ext cx="1765300" cy="1131080"/>
              <a:chOff x="17945100" y="7509673"/>
              <a:chExt cx="1765300" cy="1131080"/>
            </a:xfrm>
          </p:grpSpPr>
          <p:sp>
            <p:nvSpPr>
              <p:cNvPr id="18" name="TextBox 17"/>
              <p:cNvSpPr txBox="1"/>
              <p:nvPr/>
            </p:nvSpPr>
            <p:spPr>
              <a:xfrm>
                <a:off x="18605500" y="7886700"/>
                <a:ext cx="1104900" cy="754053"/>
              </a:xfrm>
              <a:prstGeom prst="rect">
                <a:avLst/>
              </a:prstGeom>
              <a:noFill/>
            </p:spPr>
            <p:txBody>
              <a:bodyPr wrap="square" rtlCol="0">
                <a:spAutoFit/>
              </a:bodyPr>
              <a:lstStyle/>
              <a:p>
                <a:r>
                  <a:rPr lang="vi-VN" dirty="0" smtClean="0">
                    <a:solidFill>
                      <a:srgbClr val="FF0000"/>
                    </a:solidFill>
                    <a:sym typeface="Symbol"/>
                  </a:rPr>
                  <a:t></a:t>
                </a:r>
                <a:endParaRPr lang="vi-VN" dirty="0">
                  <a:solidFill>
                    <a:srgbClr val="FF0000"/>
                  </a:solidFill>
                </a:endParaRPr>
              </a:p>
            </p:txBody>
          </p:sp>
          <p:sp>
            <p:nvSpPr>
              <p:cNvPr id="19" name="TextBox 18"/>
              <p:cNvSpPr txBox="1"/>
              <p:nvPr/>
            </p:nvSpPr>
            <p:spPr>
              <a:xfrm>
                <a:off x="17945100" y="7509673"/>
                <a:ext cx="914400" cy="754053"/>
              </a:xfrm>
              <a:prstGeom prst="rect">
                <a:avLst/>
              </a:prstGeom>
              <a:noFill/>
            </p:spPr>
            <p:txBody>
              <a:bodyPr wrap="square" rtlCol="0">
                <a:spAutoFit/>
              </a:bodyPr>
              <a:lstStyle/>
              <a:p>
                <a:r>
                  <a:rPr lang="vi-VN" dirty="0" smtClean="0"/>
                  <a:t>A</a:t>
                </a:r>
                <a:endParaRPr lang="vi-VN" dirty="0"/>
              </a:p>
            </p:txBody>
          </p:sp>
        </p:grpSp>
        <p:grpSp>
          <p:nvGrpSpPr>
            <p:cNvPr id="12" name="Group 11"/>
            <p:cNvGrpSpPr/>
            <p:nvPr/>
          </p:nvGrpSpPr>
          <p:grpSpPr>
            <a:xfrm>
              <a:off x="20675600" y="5021250"/>
              <a:ext cx="1562100" cy="1131080"/>
              <a:chOff x="21120100" y="5033171"/>
              <a:chExt cx="1562100" cy="1131080"/>
            </a:xfrm>
          </p:grpSpPr>
          <p:sp>
            <p:nvSpPr>
              <p:cNvPr id="16" name="TextBox 15"/>
              <p:cNvSpPr txBox="1"/>
              <p:nvPr/>
            </p:nvSpPr>
            <p:spPr>
              <a:xfrm>
                <a:off x="21577300" y="5410198"/>
                <a:ext cx="1104900" cy="754053"/>
              </a:xfrm>
              <a:prstGeom prst="rect">
                <a:avLst/>
              </a:prstGeom>
              <a:noFill/>
            </p:spPr>
            <p:txBody>
              <a:bodyPr wrap="square" rtlCol="0">
                <a:spAutoFit/>
              </a:bodyPr>
              <a:lstStyle/>
              <a:p>
                <a:r>
                  <a:rPr lang="vi-VN" dirty="0" smtClean="0">
                    <a:solidFill>
                      <a:srgbClr val="FF0000"/>
                    </a:solidFill>
                    <a:sym typeface="Symbol"/>
                  </a:rPr>
                  <a:t></a:t>
                </a:r>
                <a:endParaRPr lang="vi-VN" dirty="0">
                  <a:solidFill>
                    <a:srgbClr val="FF0000"/>
                  </a:solidFill>
                </a:endParaRPr>
              </a:p>
            </p:txBody>
          </p:sp>
          <p:sp>
            <p:nvSpPr>
              <p:cNvPr id="17" name="TextBox 16"/>
              <p:cNvSpPr txBox="1"/>
              <p:nvPr/>
            </p:nvSpPr>
            <p:spPr>
              <a:xfrm>
                <a:off x="21120100" y="5033171"/>
                <a:ext cx="914400" cy="754053"/>
              </a:xfrm>
              <a:prstGeom prst="rect">
                <a:avLst/>
              </a:prstGeom>
              <a:noFill/>
            </p:spPr>
            <p:txBody>
              <a:bodyPr wrap="square" rtlCol="0">
                <a:spAutoFit/>
              </a:bodyPr>
              <a:lstStyle/>
              <a:p>
                <a:r>
                  <a:rPr lang="vi-VN" dirty="0" smtClean="0"/>
                  <a:t>B</a:t>
                </a:r>
                <a:endParaRPr lang="vi-VN" dirty="0"/>
              </a:p>
            </p:txBody>
          </p:sp>
        </p:grpSp>
        <p:sp>
          <p:nvSpPr>
            <p:cNvPr id="13" name="TextBox 12"/>
            <p:cNvSpPr txBox="1"/>
            <p:nvPr/>
          </p:nvSpPr>
          <p:spPr>
            <a:xfrm>
              <a:off x="18459450" y="8133530"/>
              <a:ext cx="1638300" cy="754053"/>
            </a:xfrm>
            <a:prstGeom prst="rect">
              <a:avLst/>
            </a:prstGeom>
            <a:noFill/>
          </p:spPr>
          <p:txBody>
            <a:bodyPr wrap="square" rtlCol="0">
              <a:spAutoFit/>
            </a:bodyPr>
            <a:lstStyle/>
            <a:p>
              <a:r>
                <a:rPr lang="vi-VN" dirty="0" smtClean="0"/>
                <a:t>32</a:t>
              </a:r>
              <a:endParaRPr lang="vi-VN" dirty="0"/>
            </a:p>
          </p:txBody>
        </p:sp>
        <p:sp>
          <p:nvSpPr>
            <p:cNvPr id="14" name="TextBox 13"/>
            <p:cNvSpPr txBox="1"/>
            <p:nvPr/>
          </p:nvSpPr>
          <p:spPr>
            <a:xfrm>
              <a:off x="20770850" y="9690878"/>
              <a:ext cx="1638300" cy="754053"/>
            </a:xfrm>
            <a:prstGeom prst="rect">
              <a:avLst/>
            </a:prstGeom>
            <a:noFill/>
          </p:spPr>
          <p:txBody>
            <a:bodyPr wrap="square" rtlCol="0">
              <a:spAutoFit/>
            </a:bodyPr>
            <a:lstStyle/>
            <a:p>
              <a:r>
                <a:rPr lang="vi-VN" dirty="0" smtClean="0"/>
                <a:t>100</a:t>
              </a:r>
              <a:endParaRPr lang="vi-VN" dirty="0"/>
            </a:p>
          </p:txBody>
        </p:sp>
        <p:sp>
          <p:nvSpPr>
            <p:cNvPr id="15" name="TextBox 14"/>
            <p:cNvSpPr txBox="1"/>
            <p:nvPr/>
          </p:nvSpPr>
          <p:spPr>
            <a:xfrm>
              <a:off x="17062450" y="5398277"/>
              <a:ext cx="1638300" cy="754053"/>
            </a:xfrm>
            <a:prstGeom prst="rect">
              <a:avLst/>
            </a:prstGeom>
            <a:noFill/>
          </p:spPr>
          <p:txBody>
            <a:bodyPr wrap="square" rtlCol="0">
              <a:spAutoFit/>
            </a:bodyPr>
            <a:lstStyle/>
            <a:p>
              <a:r>
                <a:rPr lang="vi-VN" dirty="0" smtClean="0"/>
                <a:t>180</a:t>
              </a:r>
              <a:endParaRPr lang="vi-VN" dirty="0"/>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06307189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9">
                                            <p:txEl>
                                              <p:pRg st="1" end="1"/>
                                            </p:txEl>
                                          </p:spTgt>
                                        </p:tgtEl>
                                        <p:attrNameLst>
                                          <p:attrName>style.visibility</p:attrName>
                                        </p:attrNameLst>
                                      </p:cBhvr>
                                      <p:to>
                                        <p:strVal val="visible"/>
                                      </p:to>
                                    </p:set>
                                    <p:animEffect transition="in" filter="barn(inVertical)">
                                      <p:cBhvr>
                                        <p:cTn id="7" dur="500"/>
                                        <p:tgtEl>
                                          <p:spTgt spid="9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99">
                                            <p:txEl>
                                              <p:pRg st="2" end="2"/>
                                            </p:txEl>
                                          </p:spTgt>
                                        </p:tgtEl>
                                        <p:attrNameLst>
                                          <p:attrName>style.visibility</p:attrName>
                                        </p:attrNameLst>
                                      </p:cBhvr>
                                      <p:to>
                                        <p:strVal val="visible"/>
                                      </p:to>
                                    </p:set>
                                    <p:animEffect transition="in" filter="barn(inVertical)">
                                      <p:cBhvr>
                                        <p:cTn id="12" dur="500"/>
                                        <p:tgtEl>
                                          <p:spTgt spid="9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99">
                                            <p:txEl>
                                              <p:pRg st="3" end="3"/>
                                            </p:txEl>
                                          </p:spTgt>
                                        </p:tgtEl>
                                        <p:attrNameLst>
                                          <p:attrName>style.visibility</p:attrName>
                                        </p:attrNameLst>
                                      </p:cBhvr>
                                      <p:to>
                                        <p:strVal val="visible"/>
                                      </p:to>
                                    </p:set>
                                    <p:animEffect transition="in" filter="barn(inVertical)">
                                      <p:cBhvr>
                                        <p:cTn id="17" dur="500"/>
                                        <p:tgtEl>
                                          <p:spTgt spid="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457200" y="2666999"/>
                <a:ext cx="14598650" cy="9906001"/>
              </a:xfrm>
              <a:prstGeom prst="rect">
                <a:avLst/>
              </a:prstGeom>
              <a:solidFill>
                <a:srgbClr val="EEF7E9"/>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en-US" b="1" dirty="0" err="1">
                    <a:latin typeface="Tahoma" panose="020B0604030504040204" pitchFamily="34" charset="0"/>
                    <a:ea typeface="Tahoma" panose="020B0604030504040204" pitchFamily="34" charset="0"/>
                    <a:cs typeface="Tahoma" panose="020B0604030504040204" pitchFamily="34" charset="0"/>
                  </a:rPr>
                  <a:t>Giải</a:t>
                </a:r>
                <a:endParaRPr lang="en-US" dirty="0">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dirty="0" err="1">
                    <a:latin typeface="Tahoma" panose="020B0604030504040204" pitchFamily="34" charset="0"/>
                    <a:ea typeface="Tahoma" panose="020B0604030504040204" pitchFamily="34" charset="0"/>
                    <a:cs typeface="Tahoma" panose="020B0604030504040204" pitchFamily="34" charset="0"/>
                  </a:rPr>
                  <a:t>Đường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thẳng</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i="1">
                        <a:latin typeface="Cambria Math" panose="02040503050406030204" pitchFamily="18" charset="0"/>
                      </a:rPr>
                      <m:t>𝐴𝐵</m:t>
                    </m:r>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đi</a:t>
                </a:r>
                <a:r>
                  <a:rPr lang="en-US" dirty="0">
                    <a:latin typeface="Tahoma" panose="020B0604030504040204" pitchFamily="34" charset="0"/>
                    <a:ea typeface="Tahoma" panose="020B0604030504040204" pitchFamily="34" charset="0"/>
                    <a:cs typeface="Tahoma" panose="020B0604030504040204" pitchFamily="34" charset="0"/>
                  </a:rPr>
                  <a:t> qua </a:t>
                </a:r>
                <a14:m>
                  <m:oMath xmlns:m="http://schemas.openxmlformats.org/officeDocument/2006/math">
                    <m:r>
                      <a:rPr lang="en-US" i="1">
                        <a:latin typeface="Cambria Math" panose="02040503050406030204" pitchFamily="18" charset="0"/>
                      </a:rPr>
                      <m:t>𝐴</m:t>
                    </m:r>
                    <m:d>
                      <m:dPr>
                        <m:ctrlPr>
                          <a:rPr lang="en-US" i="1">
                            <a:latin typeface="Cambria Math" panose="02040503050406030204" pitchFamily="18" charset="0"/>
                          </a:rPr>
                        </m:ctrlPr>
                      </m:dPr>
                      <m:e>
                        <m:r>
                          <a:rPr lang="en-US" i="1">
                            <a:latin typeface="Cambria Math" panose="02040503050406030204" pitchFamily="18" charset="0"/>
                          </a:rPr>
                          <m:t>0;32</m:t>
                        </m:r>
                      </m:e>
                    </m:d>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và</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i="1">
                        <a:latin typeface="Cambria Math" panose="02040503050406030204" pitchFamily="18" charset="0"/>
                      </a:rPr>
                      <m:t>𝐵</m:t>
                    </m:r>
                    <m:d>
                      <m:dPr>
                        <m:ctrlPr>
                          <a:rPr lang="en-US" i="1">
                            <a:latin typeface="Cambria Math" panose="02040503050406030204" pitchFamily="18" charset="0"/>
                          </a:rPr>
                        </m:ctrlPr>
                      </m:dPr>
                      <m:e>
                        <m:r>
                          <a:rPr lang="en-US" i="1">
                            <a:latin typeface="Cambria Math" panose="02040503050406030204" pitchFamily="18" charset="0"/>
                          </a:rPr>
                          <m:t>100;212</m:t>
                        </m:r>
                      </m:e>
                    </m:d>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có</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vectơ</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chỉ</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phương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là</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𝐴𝐵</m:t>
                        </m:r>
                      </m:e>
                    </m:acc>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100;180</m:t>
                        </m:r>
                      </m:e>
                    </m:d>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nên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đường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thẳng</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i="1">
                        <a:latin typeface="Cambria Math" panose="02040503050406030204" pitchFamily="18" charset="0"/>
                      </a:rPr>
                      <m:t>𝐴𝐵</m:t>
                    </m:r>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có</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vectơ</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pháp</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tuyến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là</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𝑛</m:t>
                        </m:r>
                      </m:e>
                    </m:acc>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9;−5</m:t>
                        </m:r>
                      </m:e>
                    </m:d>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Khi</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đó</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phương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trình</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đường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thẳng</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i="1">
                        <a:latin typeface="Cambria Math" panose="02040503050406030204" pitchFamily="18" charset="0"/>
                      </a:rPr>
                      <m:t>𝐴𝐵</m:t>
                    </m:r>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là</a:t>
                </a:r>
                <a:r>
                  <a:rPr lang="en-US" dirty="0">
                    <a:latin typeface="Tahoma" panose="020B0604030504040204" pitchFamily="34" charset="0"/>
                    <a:ea typeface="Tahoma" panose="020B0604030504040204" pitchFamily="34" charset="0"/>
                    <a:cs typeface="Tahoma" panose="020B0604030504040204" pitchFamily="34" charset="0"/>
                  </a:rPr>
                  <a:t>:</a:t>
                </a:r>
              </a:p>
              <a:p>
                <a:pPr marL="0" indent="0">
                  <a:lnSpc>
                    <a:spcPct val="150000"/>
                  </a:lnSpc>
                  <a:buNone/>
                </a:pPr>
                <a14:m>
                  <m:oMathPara xmlns:m="http://schemas.openxmlformats.org/officeDocument/2006/math">
                    <m:oMathParaPr>
                      <m:jc m:val="centerGroup"/>
                    </m:oMathParaPr>
                    <m:oMath xmlns:m="http://schemas.openxmlformats.org/officeDocument/2006/math">
                      <m:r>
                        <a:rPr lang="en-US" b="0" i="1">
                          <a:latin typeface="Cambria Math" panose="02040503050406030204" pitchFamily="18" charset="0"/>
                        </a:rPr>
                        <m:t>9</m:t>
                      </m:r>
                      <m:r>
                        <a:rPr lang="en-US" b="0" i="1">
                          <a:latin typeface="Cambria Math" panose="02040503050406030204" pitchFamily="18" charset="0"/>
                        </a:rPr>
                        <m:t>𝑥</m:t>
                      </m:r>
                      <m:r>
                        <a:rPr lang="en-US" b="0" i="1">
                          <a:latin typeface="Cambria Math" panose="02040503050406030204" pitchFamily="18" charset="0"/>
                        </a:rPr>
                        <m:t>−5</m:t>
                      </m:r>
                      <m:r>
                        <a:rPr lang="en-US" b="0" i="1">
                          <a:latin typeface="Cambria Math" panose="02040503050406030204" pitchFamily="18" charset="0"/>
                        </a:rPr>
                        <m:t>𝑦</m:t>
                      </m:r>
                      <m:r>
                        <a:rPr lang="en-US" b="0" i="1">
                          <a:latin typeface="Cambria Math" panose="02040503050406030204" pitchFamily="18" charset="0"/>
                        </a:rPr>
                        <m:t>+160=0.</m:t>
                      </m:r>
                    </m:oMath>
                  </m:oMathPara>
                </a14:m>
                <a:endParaRPr lang="en-US" dirty="0">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dirty="0" err="1">
                    <a:latin typeface="Tahoma" panose="020B0604030504040204" pitchFamily="34" charset="0"/>
                    <a:ea typeface="Tahoma" panose="020B0604030504040204" pitchFamily="34" charset="0"/>
                    <a:cs typeface="Tahoma" panose="020B0604030504040204" pitchFamily="34" charset="0"/>
                  </a:rPr>
                  <a:t>Khi</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đó</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0</m:t>
                        </m:r>
                      </m:e>
                      <m:sup>
                        <m:r>
                          <m:rPr>
                            <m:sty m:val="p"/>
                          </m:rPr>
                          <a:rPr lang="en-US">
                            <a:latin typeface="Cambria Math" panose="02040503050406030204" pitchFamily="18" charset="0"/>
                          </a:rPr>
                          <m:t>o</m:t>
                        </m:r>
                      </m:sup>
                    </m:sSup>
                    <m:r>
                      <m:rPr>
                        <m:sty m:val="p"/>
                      </m:rPr>
                      <a:rPr lang="en-US">
                        <a:latin typeface="Cambria Math" panose="02040503050406030204" pitchFamily="18" charset="0"/>
                      </a:rPr>
                      <m:t>F</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100</m:t>
                        </m:r>
                      </m:e>
                      <m:sup>
                        <m:r>
                          <m:rPr>
                            <m:sty m:val="p"/>
                          </m:rPr>
                          <a:rPr lang="en-US">
                            <a:latin typeface="Cambria Math" panose="02040503050406030204" pitchFamily="18" charset="0"/>
                          </a:rPr>
                          <m:t>o</m:t>
                        </m:r>
                      </m:sup>
                    </m:sSup>
                    <m:r>
                      <m:rPr>
                        <m:sty m:val="p"/>
                      </m:rPr>
                      <a:rPr lang="en-US">
                        <a:latin typeface="Cambria Math" panose="02040503050406030204" pitchFamily="18" charset="0"/>
                      </a:rPr>
                      <m:t>F</m:t>
                    </m:r>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tương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ứng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với</a:t>
                </a:r>
                <a14:m>
                  <m:oMath xmlns:m="http://schemas.openxmlformats.org/officeDocument/2006/math">
                    <m:r>
                      <a:rPr lang="en-US" b="0" i="0" smtClean="0">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160</m:t>
                            </m:r>
                          </m:num>
                          <m:den>
                            <m:r>
                              <a:rPr lang="en-US" i="1">
                                <a:latin typeface="Cambria Math" panose="02040503050406030204" pitchFamily="18" charset="0"/>
                              </a:rPr>
                              <m:t>9</m:t>
                            </m:r>
                          </m:den>
                        </m:f>
                      </m:e>
                      <m:sup>
                        <m:r>
                          <m:rPr>
                            <m:sty m:val="p"/>
                          </m:rPr>
                          <a:rPr lang="en-US">
                            <a:latin typeface="Cambria Math" panose="02040503050406030204" pitchFamily="18" charset="0"/>
                          </a:rPr>
                          <m:t>o</m:t>
                        </m:r>
                      </m:sup>
                    </m:sSup>
                    <m:r>
                      <m:rPr>
                        <m:sty m:val="p"/>
                      </m:rPr>
                      <a:rPr lang="en-US" b="0" i="0" smtClean="0">
                        <a:latin typeface="Cambria Math" panose="02040503050406030204" pitchFamily="18" charset="0"/>
                      </a:rPr>
                      <m:t>C</m:t>
                    </m:r>
                    <m:r>
                      <a:rPr lang="en-US" i="1">
                        <a:latin typeface="Cambria Math" panose="02040503050406030204" pitchFamily="18" charset="0"/>
                      </a:rPr>
                      <m:t>,</m:t>
                    </m:r>
                    <m:sSup>
                      <m:sSupPr>
                        <m:ctrlPr>
                          <a:rPr lang="en-US" i="1" smtClean="0">
                            <a:latin typeface="Cambria Math" panose="02040503050406030204" pitchFamily="18" charset="0"/>
                          </a:rPr>
                        </m:ctrlPr>
                      </m:sSupPr>
                      <m:e>
                        <m:f>
                          <m:fPr>
                            <m:ctrlPr>
                              <a:rPr lang="en-US" i="1">
                                <a:latin typeface="Cambria Math" panose="02040503050406030204" pitchFamily="18" charset="0"/>
                              </a:rPr>
                            </m:ctrlPr>
                          </m:fPr>
                          <m:num>
                            <m:r>
                              <a:rPr lang="en-US" i="1">
                                <a:latin typeface="Cambria Math" panose="02040503050406030204" pitchFamily="18" charset="0"/>
                              </a:rPr>
                              <m:t>340</m:t>
                            </m:r>
                          </m:num>
                          <m:den>
                            <m:r>
                              <a:rPr lang="en-US" i="1">
                                <a:latin typeface="Cambria Math" panose="02040503050406030204" pitchFamily="18" charset="0"/>
                              </a:rPr>
                              <m:t>9</m:t>
                            </m:r>
                          </m:den>
                        </m:f>
                      </m:e>
                      <m:sup>
                        <m:r>
                          <m:rPr>
                            <m:sty m:val="p"/>
                          </m:rPr>
                          <a:rPr lang="en-US">
                            <a:latin typeface="Cambria Math" panose="02040503050406030204" pitchFamily="18" charset="0"/>
                          </a:rPr>
                          <m:t>o</m:t>
                        </m:r>
                      </m:sup>
                    </m:sSup>
                    <m:r>
                      <m:rPr>
                        <m:sty m:val="p"/>
                      </m:rPr>
                      <a:rPr lang="en-US" b="0" i="0" smtClean="0">
                        <a:latin typeface="Cambria Math" panose="02040503050406030204" pitchFamily="18" charset="0"/>
                      </a:rPr>
                      <m:t>C</m:t>
                    </m:r>
                  </m:oMath>
                </a14:m>
                <a:r>
                  <a:rPr lang="en-US"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9" name="Content Placeholder 2">
                <a:extLst>
                  <a:ext uri="{FF2B5EF4-FFF2-40B4-BE49-F238E27FC236}">
                    <a16:creationId xmlns="" xmlns:a16="http://schemas.microsoft.com/office/drawing/2014/main" xmlns:a14="http://schemas.microsoft.com/office/drawing/2010/main" id="{14822BB7-DB89-4357-87F0-6E511FC44A6A}"/>
                  </a:ext>
                </a:extLst>
              </p:cNvPr>
              <p:cNvSpPr txBox="1">
                <a:spLocks noRot="1" noChangeAspect="1" noMove="1" noResize="1" noEditPoints="1" noAdjustHandles="1" noChangeArrowheads="1" noChangeShapeType="1" noTextEdit="1"/>
              </p:cNvSpPr>
              <p:nvPr/>
            </p:nvSpPr>
            <p:spPr>
              <a:xfrm>
                <a:off x="457200" y="2666999"/>
                <a:ext cx="14598650" cy="9906001"/>
              </a:xfrm>
              <a:prstGeom prst="rect">
                <a:avLst/>
              </a:prstGeom>
              <a:blipFill rotWithShape="1">
                <a:blip r:embed="rId3"/>
                <a:stretch>
                  <a:fillRect l="-1669" t="-2027" r="-668"/>
                </a:stretch>
              </a:blipFill>
              <a:ln>
                <a:solidFill>
                  <a:srgbClr val="00B0F0"/>
                </a:solidFill>
              </a:ln>
            </p:spPr>
            <p:txBody>
              <a:bodyPr/>
              <a:lstStyle/>
              <a:p>
                <a:r>
                  <a:rPr lang="vi-VN">
                    <a:noFill/>
                  </a:rPr>
                  <a:t> </a:t>
                </a:r>
              </a:p>
            </p:txBody>
          </p:sp>
        </mc:Fallback>
      </mc:AlternateContent>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5176500" y="2667000"/>
            <a:ext cx="8578705" cy="99060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endParaRPr lang="en-US"/>
          </a:p>
        </p:txBody>
      </p:sp>
      <p:pic>
        <p:nvPicPr>
          <p:cNvPr id="28" name="Picture 27">
            <a:extLst>
              <a:ext uri="{FF2B5EF4-FFF2-40B4-BE49-F238E27FC236}">
                <a16:creationId xmlns:a16="http://schemas.microsoft.com/office/drawing/2014/main" id="{B560DFE3-4109-4C23-BA1A-26ED99B6C10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5431154" y="3657600"/>
            <a:ext cx="8069395" cy="7620000"/>
          </a:xfrm>
          <a:prstGeom prst="rect">
            <a:avLst/>
          </a:prstGeom>
          <a:noFill/>
          <a:ln>
            <a:noFill/>
          </a:ln>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81314214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arn(inVertical)">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609600" y="2971800"/>
                <a:ext cx="23164800" cy="71120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endParaRPr lang="en-US" b="1"/>
              </a:p>
              <a:p>
                <a:endParaRPr lang="en-US" b="1"/>
              </a:p>
              <a:p>
                <a:pPr>
                  <a:lnSpc>
                    <a:spcPct val="100000"/>
                  </a:lnSpc>
                </a:pPr>
                <a:r>
                  <a:rPr lang="en-US" b="1"/>
                  <a:t>       7.1. </a:t>
                </a:r>
                <a:r>
                  <a:rPr lang="en-US" sz="4800">
                    <a:latin typeface="Tahoma" panose="020B0604030504040204" pitchFamily="34" charset="0"/>
                    <a:ea typeface="Tahoma" panose="020B0604030504040204" pitchFamily="34" charset="0"/>
                    <a:cs typeface="Tahoma" panose="020B0604030504040204" pitchFamily="34" charset="0"/>
                  </a:rPr>
                  <a:t>Trong mặt phẳng tọa độ, cho  </a:t>
                </a:r>
                <a14:m>
                  <m:oMath xmlns:m="http://schemas.openxmlformats.org/officeDocument/2006/math">
                    <m:acc>
                      <m:accPr>
                        <m:chr m:val="⃗"/>
                        <m:ctrlPr>
                          <a:rPr lang="en-US" sz="4800" i="1">
                            <a:latin typeface="Cambria Math" panose="02040503050406030204" pitchFamily="18" charset="0"/>
                          </a:rPr>
                        </m:ctrlPr>
                      </m:accPr>
                      <m:e>
                        <m:r>
                          <a:rPr lang="en-US" sz="4800" b="0" i="1">
                            <a:latin typeface="Cambria Math" panose="02040503050406030204" pitchFamily="18" charset="0"/>
                          </a:rPr>
                          <m:t>𝑛</m:t>
                        </m:r>
                      </m:e>
                    </m:acc>
                    <m:r>
                      <a:rPr lang="en-US" sz="4800" b="0" i="1">
                        <a:latin typeface="Cambria Math" panose="02040503050406030204" pitchFamily="18" charset="0"/>
                      </a:rPr>
                      <m:t>=</m:t>
                    </m:r>
                    <m:d>
                      <m:dPr>
                        <m:ctrlPr>
                          <a:rPr lang="en-US" sz="4800" i="1">
                            <a:latin typeface="Cambria Math" panose="02040503050406030204" pitchFamily="18" charset="0"/>
                          </a:rPr>
                        </m:ctrlPr>
                      </m:dPr>
                      <m:e>
                        <m:r>
                          <a:rPr lang="en-US" sz="4800" b="0" i="1">
                            <a:latin typeface="Cambria Math" panose="02040503050406030204" pitchFamily="18" charset="0"/>
                          </a:rPr>
                          <m:t>2;1</m:t>
                        </m:r>
                      </m:e>
                    </m:d>
                    <m:r>
                      <a:rPr lang="en-US" sz="4800" b="0" i="1">
                        <a:latin typeface="Cambria Math" panose="02040503050406030204" pitchFamily="18" charset="0"/>
                      </a:rPr>
                      <m:t>,</m:t>
                    </m:r>
                    <m:acc>
                      <m:accPr>
                        <m:chr m:val="⃗"/>
                        <m:ctrlPr>
                          <a:rPr lang="en-US" sz="4800" i="1">
                            <a:latin typeface="Cambria Math" panose="02040503050406030204" pitchFamily="18" charset="0"/>
                          </a:rPr>
                        </m:ctrlPr>
                      </m:accPr>
                      <m:e>
                        <m:r>
                          <a:rPr lang="en-US" sz="4800" b="0" i="1">
                            <a:latin typeface="Cambria Math" panose="02040503050406030204" pitchFamily="18" charset="0"/>
                          </a:rPr>
                          <m:t>𝑣</m:t>
                        </m:r>
                      </m:e>
                    </m:acc>
                    <m:r>
                      <a:rPr lang="en-US" sz="4800" b="0" i="1">
                        <a:latin typeface="Cambria Math" panose="02040503050406030204" pitchFamily="18" charset="0"/>
                      </a:rPr>
                      <m:t>=</m:t>
                    </m:r>
                    <m:d>
                      <m:dPr>
                        <m:ctrlPr>
                          <a:rPr lang="en-US" sz="4800" i="1">
                            <a:latin typeface="Cambria Math" panose="02040503050406030204" pitchFamily="18" charset="0"/>
                          </a:rPr>
                        </m:ctrlPr>
                      </m:dPr>
                      <m:e>
                        <m:r>
                          <a:rPr lang="en-US" sz="4800" b="0" i="1">
                            <a:latin typeface="Cambria Math" panose="02040503050406030204" pitchFamily="18" charset="0"/>
                          </a:rPr>
                          <m:t>3;2</m:t>
                        </m:r>
                      </m:e>
                    </m:d>
                    <m:r>
                      <a:rPr lang="en-US" sz="4800" b="0" i="1">
                        <a:latin typeface="Cambria Math" panose="02040503050406030204" pitchFamily="18" charset="0"/>
                      </a:rPr>
                      <m:t>,</m:t>
                    </m:r>
                    <m:r>
                      <a:rPr lang="en-US" sz="4800" b="0" i="1">
                        <a:latin typeface="Cambria Math" panose="02040503050406030204" pitchFamily="18" charset="0"/>
                      </a:rPr>
                      <m:t>𝐴</m:t>
                    </m:r>
                    <m:d>
                      <m:dPr>
                        <m:ctrlPr>
                          <a:rPr lang="en-US" sz="4800" i="1">
                            <a:latin typeface="Cambria Math" panose="02040503050406030204" pitchFamily="18" charset="0"/>
                          </a:rPr>
                        </m:ctrlPr>
                      </m:dPr>
                      <m:e>
                        <m:r>
                          <a:rPr lang="en-US" sz="4800" b="0" i="1">
                            <a:latin typeface="Cambria Math" panose="02040503050406030204" pitchFamily="18" charset="0"/>
                          </a:rPr>
                          <m:t>1;3</m:t>
                        </m:r>
                      </m:e>
                    </m:d>
                    <m:r>
                      <a:rPr lang="en-US" sz="4800" b="0" i="1">
                        <a:latin typeface="Cambria Math" panose="02040503050406030204" pitchFamily="18" charset="0"/>
                      </a:rPr>
                      <m:t>,</m:t>
                    </m:r>
                    <m:r>
                      <a:rPr lang="en-US" sz="4800" b="0" i="1">
                        <a:latin typeface="Cambria Math" panose="02040503050406030204" pitchFamily="18" charset="0"/>
                      </a:rPr>
                      <m:t>𝐵</m:t>
                    </m:r>
                    <m:d>
                      <m:dPr>
                        <m:ctrlPr>
                          <a:rPr lang="en-US" sz="4800" i="1">
                            <a:latin typeface="Cambria Math" panose="02040503050406030204" pitchFamily="18" charset="0"/>
                          </a:rPr>
                        </m:ctrlPr>
                      </m:dPr>
                      <m:e>
                        <m:r>
                          <a:rPr lang="en-US" sz="4800" b="0" i="1">
                            <a:latin typeface="Cambria Math" panose="02040503050406030204" pitchFamily="18" charset="0"/>
                          </a:rPr>
                          <m:t>−2;1</m:t>
                        </m:r>
                      </m:e>
                    </m:d>
                    <m:r>
                      <a:rPr lang="en-US" sz="4800" b="0" i="1">
                        <a:latin typeface="Cambria Math" panose="02040503050406030204" pitchFamily="18" charset="0"/>
                      </a:rPr>
                      <m:t>.</m:t>
                    </m:r>
                  </m:oMath>
                </a14:m>
                <a:endParaRPr lang="en-US" sz="4800">
                  <a:latin typeface="Tahoma" panose="020B0604030504040204" pitchFamily="34" charset="0"/>
                  <a:ea typeface="Tahoma" panose="020B0604030504040204" pitchFamily="34" charset="0"/>
                  <a:cs typeface="Tahoma" panose="020B0604030504040204" pitchFamily="34" charset="0"/>
                </a:endParaRPr>
              </a:p>
              <a:p>
                <a:pPr>
                  <a:lnSpc>
                    <a:spcPct val="100000"/>
                  </a:lnSpc>
                </a:pPr>
                <a:r>
                  <a:rPr lang="en-US" sz="4800">
                    <a:latin typeface="Tahoma" panose="020B0604030504040204" pitchFamily="34" charset="0"/>
                    <a:ea typeface="Tahoma" panose="020B0604030504040204" pitchFamily="34" charset="0"/>
                    <a:cs typeface="Tahoma" panose="020B0604030504040204" pitchFamily="34" charset="0"/>
                  </a:rPr>
                  <a:t>   	a) Lập phương trình tổng quát của đường thẳng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𝛥</m:t>
                        </m:r>
                      </m:e>
                      <m:sub>
                        <m:r>
                          <a:rPr lang="en-US" sz="4800" i="1">
                            <a:latin typeface="Cambria Math" panose="02040503050406030204" pitchFamily="18" charset="0"/>
                          </a:rPr>
                          <m:t>1</m:t>
                        </m:r>
                      </m:sub>
                    </m:sSub>
                  </m:oMath>
                </a14:m>
                <a:r>
                  <a:rPr lang="en-US" sz="4800">
                    <a:latin typeface="Tahoma" panose="020B0604030504040204" pitchFamily="34" charset="0"/>
                    <a:ea typeface="Tahoma" panose="020B0604030504040204" pitchFamily="34" charset="0"/>
                    <a:cs typeface="Tahoma" panose="020B0604030504040204" pitchFamily="34" charset="0"/>
                  </a:rPr>
                  <a:t> đi qua </a:t>
                </a:r>
                <a14:m>
                  <m:oMath xmlns:m="http://schemas.openxmlformats.org/officeDocument/2006/math">
                    <m:r>
                      <a:rPr lang="en-US" sz="4800" i="1">
                        <a:latin typeface="Cambria Math" panose="02040503050406030204" pitchFamily="18" charset="0"/>
                      </a:rPr>
                      <m:t>𝐴</m:t>
                    </m:r>
                  </m:oMath>
                </a14:m>
                <a:r>
                  <a:rPr lang="en-US" sz="4800">
                    <a:latin typeface="Tahoma" panose="020B0604030504040204" pitchFamily="34" charset="0"/>
                    <a:ea typeface="Tahoma" panose="020B0604030504040204" pitchFamily="34" charset="0"/>
                    <a:cs typeface="Tahoma" panose="020B0604030504040204" pitchFamily="34" charset="0"/>
                  </a:rPr>
                  <a:t> và có vectơ pháp tuyến </a:t>
                </a:r>
                <a14:m>
                  <m:oMath xmlns:m="http://schemas.openxmlformats.org/officeDocument/2006/math">
                    <m:acc>
                      <m:accPr>
                        <m:chr m:val="⃗"/>
                        <m:ctrlPr>
                          <a:rPr lang="en-US" sz="4800" i="1">
                            <a:latin typeface="Cambria Math" panose="02040503050406030204" pitchFamily="18" charset="0"/>
                          </a:rPr>
                        </m:ctrlPr>
                      </m:accPr>
                      <m:e>
                        <m:r>
                          <a:rPr lang="en-US" sz="4800" i="1">
                            <a:latin typeface="Cambria Math" panose="02040503050406030204" pitchFamily="18" charset="0"/>
                          </a:rPr>
                          <m:t>𝑛</m:t>
                        </m:r>
                      </m:e>
                    </m:acc>
                    <m:r>
                      <a:rPr lang="en-US" sz="4800" i="1">
                        <a:latin typeface="Cambria Math" panose="02040503050406030204" pitchFamily="18" charset="0"/>
                      </a:rPr>
                      <m:t>.</m:t>
                    </m:r>
                  </m:oMath>
                </a14:m>
                <a:r>
                  <a:rPr lang="en-US" sz="4800">
                    <a:latin typeface="Tahoma" panose="020B0604030504040204" pitchFamily="34" charset="0"/>
                    <a:ea typeface="Tahoma" panose="020B0604030504040204" pitchFamily="34" charset="0"/>
                    <a:cs typeface="Tahoma" panose="020B0604030504040204" pitchFamily="34" charset="0"/>
                  </a:rPr>
                  <a:t> </a:t>
                </a:r>
              </a:p>
              <a:p>
                <a:pPr>
                  <a:lnSpc>
                    <a:spcPct val="100000"/>
                  </a:lnSpc>
                </a:pPr>
                <a:r>
                  <a:rPr lang="en-US" sz="4800">
                    <a:latin typeface="Tahoma" panose="020B0604030504040204" pitchFamily="34" charset="0"/>
                    <a:ea typeface="Tahoma" panose="020B0604030504040204" pitchFamily="34" charset="0"/>
                    <a:cs typeface="Tahoma" panose="020B0604030504040204" pitchFamily="34" charset="0"/>
                  </a:rPr>
                  <a:t>   	b) Lập phương trình tham số của đường thẳng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𝛥</m:t>
                        </m:r>
                      </m:e>
                      <m:sub>
                        <m:r>
                          <a:rPr lang="en-US" sz="4800" i="1">
                            <a:latin typeface="Cambria Math" panose="02040503050406030204" pitchFamily="18" charset="0"/>
                          </a:rPr>
                          <m:t>2</m:t>
                        </m:r>
                      </m:sub>
                    </m:sSub>
                  </m:oMath>
                </a14:m>
                <a:r>
                  <a:rPr lang="en-US" sz="4800">
                    <a:latin typeface="Tahoma" panose="020B0604030504040204" pitchFamily="34" charset="0"/>
                    <a:ea typeface="Tahoma" panose="020B0604030504040204" pitchFamily="34" charset="0"/>
                    <a:cs typeface="Tahoma" panose="020B0604030504040204" pitchFamily="34" charset="0"/>
                  </a:rPr>
                  <a:t> đi qua </a:t>
                </a:r>
                <a14:m>
                  <m:oMath xmlns:m="http://schemas.openxmlformats.org/officeDocument/2006/math">
                    <m:r>
                      <a:rPr lang="en-US" sz="4800" i="1">
                        <a:latin typeface="Cambria Math" panose="02040503050406030204" pitchFamily="18" charset="0"/>
                      </a:rPr>
                      <m:t>𝐵</m:t>
                    </m:r>
                  </m:oMath>
                </a14:m>
                <a:r>
                  <a:rPr lang="en-US" sz="4800">
                    <a:latin typeface="Tahoma" panose="020B0604030504040204" pitchFamily="34" charset="0"/>
                    <a:ea typeface="Tahoma" panose="020B0604030504040204" pitchFamily="34" charset="0"/>
                    <a:cs typeface="Tahoma" panose="020B0604030504040204" pitchFamily="34" charset="0"/>
                  </a:rPr>
                  <a:t> và có vectơ chỉ phương </a:t>
                </a:r>
                <a14:m>
                  <m:oMath xmlns:m="http://schemas.openxmlformats.org/officeDocument/2006/math">
                    <m:acc>
                      <m:accPr>
                        <m:chr m:val="⃗"/>
                        <m:ctrlPr>
                          <a:rPr lang="en-US" sz="4800" i="1">
                            <a:latin typeface="Cambria Math" panose="02040503050406030204" pitchFamily="18" charset="0"/>
                          </a:rPr>
                        </m:ctrlPr>
                      </m:accPr>
                      <m:e>
                        <m:r>
                          <a:rPr lang="en-US" sz="4800" i="1">
                            <a:latin typeface="Cambria Math" panose="02040503050406030204" pitchFamily="18" charset="0"/>
                          </a:rPr>
                          <m:t>𝑣</m:t>
                        </m:r>
                      </m:e>
                    </m:acc>
                    <m:r>
                      <a:rPr lang="en-US" sz="4800" i="1">
                        <a:latin typeface="Cambria Math" panose="02040503050406030204" pitchFamily="18" charset="0"/>
                      </a:rPr>
                      <m:t>.</m:t>
                    </m:r>
                  </m:oMath>
                </a14:m>
                <a:r>
                  <a:rPr lang="en-US" sz="4800">
                    <a:latin typeface="Tahoma" panose="020B0604030504040204" pitchFamily="34" charset="0"/>
                    <a:ea typeface="Tahoma" panose="020B0604030504040204" pitchFamily="34" charset="0"/>
                    <a:cs typeface="Tahoma" panose="020B0604030504040204" pitchFamily="34" charset="0"/>
                  </a:rPr>
                  <a:t> </a:t>
                </a:r>
              </a:p>
              <a:p>
                <a:pPr>
                  <a:lnSpc>
                    <a:spcPct val="100000"/>
                  </a:lnSpc>
                </a:pPr>
                <a:r>
                  <a:rPr lang="en-US" sz="4800">
                    <a:latin typeface="Tahoma" panose="020B0604030504040204" pitchFamily="34" charset="0"/>
                    <a:ea typeface="Tahoma" panose="020B0604030504040204" pitchFamily="34" charset="0"/>
                    <a:cs typeface="Tahoma" panose="020B0604030504040204" pitchFamily="34" charset="0"/>
                  </a:rPr>
                  <a:t>   	c) Lập phương trình tham số của đường thẳng </a:t>
                </a:r>
                <a14:m>
                  <m:oMath xmlns:m="http://schemas.openxmlformats.org/officeDocument/2006/math">
                    <m:r>
                      <a:rPr lang="en-US" sz="4800" i="1">
                        <a:latin typeface="Cambria Math" panose="02040503050406030204" pitchFamily="18" charset="0"/>
                      </a:rPr>
                      <m:t>𝐴𝐵</m:t>
                    </m:r>
                    <m:r>
                      <a:rPr lang="en-US" sz="4800" i="1">
                        <a:latin typeface="Cambria Math" panose="02040503050406030204" pitchFamily="18" charset="0"/>
                      </a:rPr>
                      <m:t>.</m:t>
                    </m:r>
                  </m:oMath>
                </a14:m>
                <a:endParaRPr lang="en-US">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609600" y="2971800"/>
                <a:ext cx="23164800" cy="7112000"/>
              </a:xfrm>
              <a:prstGeom prst="rect">
                <a:avLst/>
              </a:prstGeom>
              <a:blipFill>
                <a:blip r:embed="rId3"/>
                <a:stretch>
                  <a:fillRect l="-1157" r="-1473"/>
                </a:stretch>
              </a:blipFill>
              <a:ln>
                <a:solidFill>
                  <a:schemeClr val="tx2">
                    <a:lumMod val="20000"/>
                    <a:lumOff val="80000"/>
                  </a:schemeClr>
                </a:solidFill>
              </a:ln>
            </p:spPr>
            <p:txBody>
              <a:bodyPr/>
              <a:lstStyle/>
              <a:p>
                <a:r>
                  <a:rPr lang="en-US">
                    <a:noFill/>
                  </a:rPr>
                  <a:t> </a:t>
                </a:r>
              </a:p>
            </p:txBody>
          </p:sp>
        </mc:Fallback>
      </mc:AlternateContent>
      <p:sp>
        <p:nvSpPr>
          <p:cNvPr id="3" name="Rectangle 7">
            <a:extLst>
              <a:ext uri="{FF2B5EF4-FFF2-40B4-BE49-F238E27FC236}">
                <a16:creationId xmlns:a16="http://schemas.microsoft.com/office/drawing/2014/main" id="{331DD36C-2757-4762-8AC6-F5DBBC77921A}"/>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8" name="Group 7">
            <a:extLst>
              <a:ext uri="{FF2B5EF4-FFF2-40B4-BE49-F238E27FC236}">
                <a16:creationId xmlns:a16="http://schemas.microsoft.com/office/drawing/2014/main" id="{B504E318-24BB-4CD7-BB8B-7A7FD6EFC9A6}"/>
              </a:ext>
            </a:extLst>
          </p:cNvPr>
          <p:cNvGrpSpPr/>
          <p:nvPr/>
        </p:nvGrpSpPr>
        <p:grpSpPr>
          <a:xfrm>
            <a:off x="172278" y="3149600"/>
            <a:ext cx="3989314" cy="1183262"/>
            <a:chOff x="22440" y="44679"/>
            <a:chExt cx="953655" cy="252442"/>
          </a:xfrm>
        </p:grpSpPr>
        <p:grpSp>
          <p:nvGrpSpPr>
            <p:cNvPr id="9" name="Group 8">
              <a:extLst>
                <a:ext uri="{FF2B5EF4-FFF2-40B4-BE49-F238E27FC236}">
                  <a16:creationId xmlns:a16="http://schemas.microsoft.com/office/drawing/2014/main" id="{FDC68754-63F0-4F7E-BF0F-CF4C7FC43BD9}"/>
                </a:ext>
              </a:extLst>
            </p:cNvPr>
            <p:cNvGrpSpPr/>
            <p:nvPr/>
          </p:nvGrpSpPr>
          <p:grpSpPr>
            <a:xfrm>
              <a:off x="22440" y="59287"/>
              <a:ext cx="953655" cy="159667"/>
              <a:chOff x="31572" y="60276"/>
              <a:chExt cx="1341810" cy="197595"/>
            </a:xfrm>
          </p:grpSpPr>
          <p:sp>
            <p:nvSpPr>
              <p:cNvPr id="11" name="Arrow: Pentagon 10">
                <a:extLst>
                  <a:ext uri="{FF2B5EF4-FFF2-40B4-BE49-F238E27FC236}">
                    <a16:creationId xmlns:a16="http://schemas.microsoft.com/office/drawing/2014/main" id="{D8C14C53-8D9E-417E-B098-34003D0DA14B}"/>
                  </a:ext>
                </a:extLst>
              </p:cNvPr>
              <p:cNvSpPr/>
              <p:nvPr/>
            </p:nvSpPr>
            <p:spPr>
              <a:xfrm>
                <a:off x="204506" y="61809"/>
                <a:ext cx="1168876" cy="19606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0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Arrow: Chevron 11">
                <a:extLst>
                  <a:ext uri="{FF2B5EF4-FFF2-40B4-BE49-F238E27FC236}">
                    <a16:creationId xmlns:a16="http://schemas.microsoft.com/office/drawing/2014/main" id="{FA9FB4E4-6405-44ED-A90D-8702A3961A6F}"/>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endParaRPr lang="en-US"/>
              </a:p>
            </p:txBody>
          </p:sp>
          <p:sp>
            <p:nvSpPr>
              <p:cNvPr id="13" name="Arrow: Chevron 12">
                <a:extLst>
                  <a:ext uri="{FF2B5EF4-FFF2-40B4-BE49-F238E27FC236}">
                    <a16:creationId xmlns:a16="http://schemas.microsoft.com/office/drawing/2014/main" id="{8A893702-EF7F-408F-9B85-BEC4F3DC83BB}"/>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endParaRPr lang="en-US"/>
              </a:p>
            </p:txBody>
          </p:sp>
        </p:grpSp>
        <p:sp>
          <p:nvSpPr>
            <p:cNvPr id="10" name="TextBox 56">
              <a:extLst>
                <a:ext uri="{FF2B5EF4-FFF2-40B4-BE49-F238E27FC236}">
                  <a16:creationId xmlns:a16="http://schemas.microsoft.com/office/drawing/2014/main" id="{EECC6C12-623A-4D3F-8074-3772DF5FD55E}"/>
                </a:ext>
              </a:extLst>
            </p:cNvPr>
            <p:cNvSpPr txBox="1"/>
            <p:nvPr/>
          </p:nvSpPr>
          <p:spPr>
            <a:xfrm>
              <a:off x="267457" y="44679"/>
              <a:ext cx="580215" cy="252442"/>
            </a:xfrm>
            <a:prstGeom prst="rect">
              <a:avLst/>
            </a:prstGeom>
            <a:noFill/>
          </p:spPr>
          <p:txBody>
            <a:bodyPr wrap="square">
              <a:noAutofit/>
            </a:bodyPr>
            <a:lstStyle/>
            <a:p>
              <a:pPr marL="0" marR="0">
                <a:lnSpc>
                  <a:spcPct val="107000"/>
                </a:lnSpc>
                <a:spcBef>
                  <a:spcPts val="0"/>
                </a:spcBef>
                <a:spcAft>
                  <a:spcPts val="800"/>
                </a:spcAft>
              </a:pPr>
              <a:r>
                <a:rPr lang="en-US" sz="4800" b="1" kern="1200">
                  <a:solidFill>
                    <a:srgbClr val="0000CC"/>
                  </a:solidFill>
                  <a:effectLst/>
                  <a:latin typeface="Tahoma" panose="020B0604030504040204" pitchFamily="34" charset="0"/>
                  <a:ea typeface="Tahoma" panose="020B0604030504040204" pitchFamily="34" charset="0"/>
                  <a:cs typeface="Tahoma" panose="020B0604030504040204" pitchFamily="34" charset="0"/>
                </a:rPr>
                <a:t>Bài tập</a:t>
              </a:r>
              <a:r>
                <a:rPr lang="en-US" sz="1200" b="1" kern="1200">
                  <a:solidFill>
                    <a:srgbClr val="0000CC"/>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4" name="Rectangle 10">
            <a:extLst>
              <a:ext uri="{FF2B5EF4-FFF2-40B4-BE49-F238E27FC236}">
                <a16:creationId xmlns:a16="http://schemas.microsoft.com/office/drawing/2014/main" id="{75B83596-23B8-4650-9517-74C0A031E4BF}"/>
              </a:ext>
            </a:extLst>
          </p:cNvPr>
          <p:cNvSpPr>
            <a:spLocks noChangeArrowheads="1"/>
          </p:cNvSpPr>
          <p:nvPr/>
        </p:nvSpPr>
        <p:spPr bwMode="auto">
          <a:xfrm>
            <a:off x="0" y="709613"/>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08021512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4572998"/>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endParaRPr lang="en-US" b="1"/>
              </a:p>
              <a:p>
                <a:endParaRPr lang="en-US" b="1"/>
              </a:p>
              <a:p>
                <a:pPr>
                  <a:lnSpc>
                    <a:spcPct val="100000"/>
                  </a:lnSpc>
                </a:pPr>
                <a:r>
                  <a:rPr lang="en-US" b="1"/>
                  <a:t>       7.1. </a:t>
                </a:r>
                <a:r>
                  <a:rPr lang="en-US" sz="4800">
                    <a:latin typeface="Tahoma" panose="020B0604030504040204" pitchFamily="34" charset="0"/>
                    <a:ea typeface="Tahoma" panose="020B0604030504040204" pitchFamily="34" charset="0"/>
                    <a:cs typeface="Tahoma" panose="020B0604030504040204" pitchFamily="34" charset="0"/>
                  </a:rPr>
                  <a:t>Trong mặt phẳng tọa độ, cho  </a:t>
                </a:r>
                <a14:m>
                  <m:oMath xmlns:m="http://schemas.openxmlformats.org/officeDocument/2006/math">
                    <m:acc>
                      <m:accPr>
                        <m:chr m:val="⃗"/>
                        <m:ctrlPr>
                          <a:rPr lang="en-US" sz="4800" i="1">
                            <a:latin typeface="Cambria Math" panose="02040503050406030204" pitchFamily="18" charset="0"/>
                          </a:rPr>
                        </m:ctrlPr>
                      </m:accPr>
                      <m:e>
                        <m:r>
                          <a:rPr lang="en-US" sz="4800" b="0" i="1">
                            <a:latin typeface="Cambria Math" panose="02040503050406030204" pitchFamily="18" charset="0"/>
                          </a:rPr>
                          <m:t>𝑛</m:t>
                        </m:r>
                      </m:e>
                    </m:acc>
                    <m:r>
                      <a:rPr lang="en-US" sz="4800" b="0" i="1">
                        <a:latin typeface="Cambria Math" panose="02040503050406030204" pitchFamily="18" charset="0"/>
                      </a:rPr>
                      <m:t>=</m:t>
                    </m:r>
                    <m:d>
                      <m:dPr>
                        <m:ctrlPr>
                          <a:rPr lang="en-US" sz="4800" i="1">
                            <a:latin typeface="Cambria Math" panose="02040503050406030204" pitchFamily="18" charset="0"/>
                          </a:rPr>
                        </m:ctrlPr>
                      </m:dPr>
                      <m:e>
                        <m:r>
                          <a:rPr lang="en-US" sz="4800" b="0" i="1">
                            <a:latin typeface="Cambria Math" panose="02040503050406030204" pitchFamily="18" charset="0"/>
                          </a:rPr>
                          <m:t>2;1</m:t>
                        </m:r>
                      </m:e>
                    </m:d>
                    <m:r>
                      <a:rPr lang="en-US" sz="4800" b="0" i="1">
                        <a:latin typeface="Cambria Math" panose="02040503050406030204" pitchFamily="18" charset="0"/>
                      </a:rPr>
                      <m:t>,</m:t>
                    </m:r>
                    <m:acc>
                      <m:accPr>
                        <m:chr m:val="⃗"/>
                        <m:ctrlPr>
                          <a:rPr lang="en-US" sz="4800" i="1">
                            <a:latin typeface="Cambria Math" panose="02040503050406030204" pitchFamily="18" charset="0"/>
                          </a:rPr>
                        </m:ctrlPr>
                      </m:accPr>
                      <m:e>
                        <m:r>
                          <a:rPr lang="en-US" sz="4800" b="0" i="1">
                            <a:latin typeface="Cambria Math" panose="02040503050406030204" pitchFamily="18" charset="0"/>
                          </a:rPr>
                          <m:t>𝑣</m:t>
                        </m:r>
                      </m:e>
                    </m:acc>
                    <m:r>
                      <a:rPr lang="en-US" sz="4800" b="0" i="1">
                        <a:latin typeface="Cambria Math" panose="02040503050406030204" pitchFamily="18" charset="0"/>
                      </a:rPr>
                      <m:t>=</m:t>
                    </m:r>
                    <m:d>
                      <m:dPr>
                        <m:ctrlPr>
                          <a:rPr lang="en-US" sz="4800" i="1">
                            <a:latin typeface="Cambria Math" panose="02040503050406030204" pitchFamily="18" charset="0"/>
                          </a:rPr>
                        </m:ctrlPr>
                      </m:dPr>
                      <m:e>
                        <m:r>
                          <a:rPr lang="en-US" sz="4800" b="0" i="1">
                            <a:latin typeface="Cambria Math" panose="02040503050406030204" pitchFamily="18" charset="0"/>
                          </a:rPr>
                          <m:t>3;2</m:t>
                        </m:r>
                      </m:e>
                    </m:d>
                    <m:r>
                      <a:rPr lang="en-US" sz="4800" b="0" i="1">
                        <a:latin typeface="Cambria Math" panose="02040503050406030204" pitchFamily="18" charset="0"/>
                      </a:rPr>
                      <m:t>,</m:t>
                    </m:r>
                    <m:r>
                      <a:rPr lang="en-US" sz="4800" b="0" i="1">
                        <a:latin typeface="Cambria Math" panose="02040503050406030204" pitchFamily="18" charset="0"/>
                      </a:rPr>
                      <m:t>𝐴</m:t>
                    </m:r>
                    <m:d>
                      <m:dPr>
                        <m:ctrlPr>
                          <a:rPr lang="en-US" sz="4800" i="1">
                            <a:latin typeface="Cambria Math" panose="02040503050406030204" pitchFamily="18" charset="0"/>
                          </a:rPr>
                        </m:ctrlPr>
                      </m:dPr>
                      <m:e>
                        <m:r>
                          <a:rPr lang="en-US" sz="4800" b="0" i="1">
                            <a:latin typeface="Cambria Math" panose="02040503050406030204" pitchFamily="18" charset="0"/>
                          </a:rPr>
                          <m:t>1;3</m:t>
                        </m:r>
                      </m:e>
                    </m:d>
                    <m:r>
                      <a:rPr lang="en-US" sz="4800" b="0" i="1">
                        <a:latin typeface="Cambria Math" panose="02040503050406030204" pitchFamily="18" charset="0"/>
                      </a:rPr>
                      <m:t>,</m:t>
                    </m:r>
                    <m:r>
                      <a:rPr lang="en-US" sz="4800" b="0" i="1">
                        <a:latin typeface="Cambria Math" panose="02040503050406030204" pitchFamily="18" charset="0"/>
                      </a:rPr>
                      <m:t>𝐵</m:t>
                    </m:r>
                    <m:d>
                      <m:dPr>
                        <m:ctrlPr>
                          <a:rPr lang="en-US" sz="4800" i="1">
                            <a:latin typeface="Cambria Math" panose="02040503050406030204" pitchFamily="18" charset="0"/>
                          </a:rPr>
                        </m:ctrlPr>
                      </m:dPr>
                      <m:e>
                        <m:r>
                          <a:rPr lang="en-US" sz="4800" b="0" i="1">
                            <a:latin typeface="Cambria Math" panose="02040503050406030204" pitchFamily="18" charset="0"/>
                          </a:rPr>
                          <m:t>−2;1</m:t>
                        </m:r>
                      </m:e>
                    </m:d>
                    <m:r>
                      <a:rPr lang="en-US" sz="4800" b="0" i="1">
                        <a:latin typeface="Cambria Math" panose="02040503050406030204" pitchFamily="18" charset="0"/>
                      </a:rPr>
                      <m:t>.</m:t>
                    </m:r>
                  </m:oMath>
                </a14:m>
                <a:endParaRPr lang="en-US" sz="4800">
                  <a:latin typeface="Tahoma" panose="020B0604030504040204" pitchFamily="34" charset="0"/>
                  <a:ea typeface="Tahoma" panose="020B0604030504040204" pitchFamily="34" charset="0"/>
                  <a:cs typeface="Tahoma" panose="020B0604030504040204" pitchFamily="34" charset="0"/>
                </a:endParaRPr>
              </a:p>
              <a:p>
                <a:pPr>
                  <a:lnSpc>
                    <a:spcPct val="100000"/>
                  </a:lnSpc>
                </a:pPr>
                <a:r>
                  <a:rPr lang="en-US" sz="4800">
                    <a:latin typeface="Tahoma" panose="020B0604030504040204" pitchFamily="34" charset="0"/>
                    <a:ea typeface="Tahoma" panose="020B0604030504040204" pitchFamily="34" charset="0"/>
                    <a:cs typeface="Tahoma" panose="020B0604030504040204" pitchFamily="34" charset="0"/>
                  </a:rPr>
                  <a:t>   	a) Lập phương trình tổng quát của đường thẳng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𝛥</m:t>
                        </m:r>
                      </m:e>
                      <m:sub>
                        <m:r>
                          <a:rPr lang="en-US" sz="4800" i="1">
                            <a:latin typeface="Cambria Math" panose="02040503050406030204" pitchFamily="18" charset="0"/>
                          </a:rPr>
                          <m:t>1</m:t>
                        </m:r>
                      </m:sub>
                    </m:sSub>
                  </m:oMath>
                </a14:m>
                <a:r>
                  <a:rPr lang="en-US" sz="4800">
                    <a:latin typeface="Tahoma" panose="020B0604030504040204" pitchFamily="34" charset="0"/>
                    <a:ea typeface="Tahoma" panose="020B0604030504040204" pitchFamily="34" charset="0"/>
                    <a:cs typeface="Tahoma" panose="020B0604030504040204" pitchFamily="34" charset="0"/>
                  </a:rPr>
                  <a:t> đi qua </a:t>
                </a:r>
                <a14:m>
                  <m:oMath xmlns:m="http://schemas.openxmlformats.org/officeDocument/2006/math">
                    <m:r>
                      <a:rPr lang="en-US" sz="4800" i="1">
                        <a:latin typeface="Cambria Math" panose="02040503050406030204" pitchFamily="18" charset="0"/>
                      </a:rPr>
                      <m:t>𝐴</m:t>
                    </m:r>
                  </m:oMath>
                </a14:m>
                <a:r>
                  <a:rPr lang="en-US" sz="4800">
                    <a:latin typeface="Tahoma" panose="020B0604030504040204" pitchFamily="34" charset="0"/>
                    <a:ea typeface="Tahoma" panose="020B0604030504040204" pitchFamily="34" charset="0"/>
                    <a:cs typeface="Tahoma" panose="020B0604030504040204" pitchFamily="34" charset="0"/>
                  </a:rPr>
                  <a:t> và có vectơ pháp tuyến </a:t>
                </a:r>
                <a14:m>
                  <m:oMath xmlns:m="http://schemas.openxmlformats.org/officeDocument/2006/math">
                    <m:acc>
                      <m:accPr>
                        <m:chr m:val="⃗"/>
                        <m:ctrlPr>
                          <a:rPr lang="en-US" sz="4800" i="1">
                            <a:latin typeface="Cambria Math" panose="02040503050406030204" pitchFamily="18" charset="0"/>
                          </a:rPr>
                        </m:ctrlPr>
                      </m:accPr>
                      <m:e>
                        <m:r>
                          <a:rPr lang="en-US" sz="4800" i="1">
                            <a:latin typeface="Cambria Math" panose="02040503050406030204" pitchFamily="18" charset="0"/>
                          </a:rPr>
                          <m:t>𝑛</m:t>
                        </m:r>
                      </m:e>
                    </m:acc>
                    <m:r>
                      <a:rPr lang="en-US" sz="4800" i="1">
                        <a:latin typeface="Cambria Math" panose="02040503050406030204" pitchFamily="18" charset="0"/>
                      </a:rPr>
                      <m:t>.</m:t>
                    </m:r>
                  </m:oMath>
                </a14:m>
                <a:r>
                  <a:rPr lang="en-US" sz="4800">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838200" y="1879600"/>
                <a:ext cx="23164800" cy="4572998"/>
              </a:xfrm>
              <a:prstGeom prst="rect">
                <a:avLst/>
              </a:prstGeom>
              <a:blipFill>
                <a:blip r:embed="rId3"/>
                <a:stretch>
                  <a:fillRect l="-1184" r="-1473"/>
                </a:stretch>
              </a:blipFill>
              <a:ln>
                <a:solidFill>
                  <a:schemeClr val="tx2">
                    <a:lumMod val="20000"/>
                    <a:lumOff val="8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57886" y="6858000"/>
                <a:ext cx="23145113" cy="54864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en-US" b="1">
                    <a:latin typeface="Tahoma" panose="020B0604030504040204" pitchFamily="34" charset="0"/>
                    <a:ea typeface="Tahoma" panose="020B0604030504040204" pitchFamily="34" charset="0"/>
                    <a:cs typeface="Tahoma" panose="020B0604030504040204" pitchFamily="34" charset="0"/>
                  </a:rPr>
                  <a:t>Giải</a:t>
                </a:r>
                <a:endParaRPr lang="en-US">
                  <a:latin typeface="Tahoma" panose="020B0604030504040204" pitchFamily="34" charset="0"/>
                  <a:ea typeface="Tahoma" panose="020B0604030504040204" pitchFamily="34" charset="0"/>
                  <a:cs typeface="Tahoma" panose="020B0604030504040204" pitchFamily="34" charset="0"/>
                </a:endParaRPr>
              </a:p>
              <a:p>
                <a:pPr marL="0" indent="0">
                  <a:buNone/>
                </a:pPr>
                <a:r>
                  <a:rPr lang="en-US">
                    <a:latin typeface="Tahoma" panose="020B0604030504040204" pitchFamily="34" charset="0"/>
                    <a:ea typeface="Tahoma" panose="020B0604030504040204" pitchFamily="34" charset="0"/>
                    <a:cs typeface="Tahoma" panose="020B0604030504040204" pitchFamily="34" charset="0"/>
                  </a:rPr>
                  <a:t>   	a) Phương trình tổng quát của đường thẳng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𝛥</m:t>
                        </m:r>
                      </m:e>
                      <m:sub>
                        <m:r>
                          <a:rPr lang="en-US" i="1">
                            <a:latin typeface="Cambria Math" panose="02040503050406030204" pitchFamily="18" charset="0"/>
                          </a:rPr>
                          <m:t>1</m:t>
                        </m:r>
                      </m:sub>
                    </m:sSub>
                  </m:oMath>
                </a14:m>
                <a:r>
                  <a:rPr lang="en-US">
                    <a:latin typeface="Tahoma" panose="020B0604030504040204" pitchFamily="34" charset="0"/>
                    <a:ea typeface="Tahoma" panose="020B0604030504040204" pitchFamily="34" charset="0"/>
                    <a:cs typeface="Tahoma" panose="020B0604030504040204" pitchFamily="34" charset="0"/>
                  </a:rPr>
                  <a:t> đi qua </a:t>
                </a:r>
                <a14:m>
                  <m:oMath xmlns:m="http://schemas.openxmlformats.org/officeDocument/2006/math">
                    <m:r>
                      <a:rPr lang="en-US" i="1">
                        <a:latin typeface="Cambria Math" panose="02040503050406030204" pitchFamily="18" charset="0"/>
                      </a:rPr>
                      <m:t>𝐴</m:t>
                    </m:r>
                  </m:oMath>
                </a14:m>
                <a:r>
                  <a:rPr lang="en-US">
                    <a:latin typeface="Tahoma" panose="020B0604030504040204" pitchFamily="34" charset="0"/>
                    <a:ea typeface="Tahoma" panose="020B0604030504040204" pitchFamily="34" charset="0"/>
                    <a:cs typeface="Tahoma" panose="020B0604030504040204" pitchFamily="34" charset="0"/>
                  </a:rPr>
                  <a:t> và có vectơ pháp tuyến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𝑛</m:t>
                        </m:r>
                      </m:e>
                    </m:acc>
                  </m:oMath>
                </a14:m>
                <a:r>
                  <a:rPr lang="en-US">
                    <a:latin typeface="Tahoma" panose="020B0604030504040204" pitchFamily="34" charset="0"/>
                    <a:ea typeface="Tahoma" panose="020B0604030504040204" pitchFamily="34" charset="0"/>
                    <a:cs typeface="Tahoma" panose="020B0604030504040204" pitchFamily="34" charset="0"/>
                  </a:rPr>
                  <a:t>  là</a:t>
                </a:r>
              </a:p>
              <a:p>
                <a:pPr marL="0" indent="0">
                  <a:lnSpc>
                    <a:spcPct val="150000"/>
                  </a:lnSpc>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2</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−1</m:t>
                          </m:r>
                        </m:e>
                      </m:d>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𝑦</m:t>
                          </m:r>
                          <m:r>
                            <a:rPr lang="en-US" i="1">
                              <a:latin typeface="Cambria Math" panose="02040503050406030204" pitchFamily="18" charset="0"/>
                            </a:rPr>
                            <m:t>−3</m:t>
                          </m:r>
                        </m:e>
                      </m:d>
                      <m:r>
                        <a:rPr lang="en-US" i="1">
                          <a:latin typeface="Cambria Math" panose="02040503050406030204" pitchFamily="18" charset="0"/>
                        </a:rPr>
                        <m:t>=0</m:t>
                      </m:r>
                    </m:oMath>
                  </m:oMathPara>
                </a14:m>
                <a:endParaRPr lang="en-US" i="1">
                  <a:latin typeface="Tahoma" panose="020B0604030504040204" pitchFamily="34" charset="0"/>
                  <a:ea typeface="Tahoma" panose="020B0604030504040204" pitchFamily="34" charset="0"/>
                  <a:cs typeface="Tahoma" panose="020B0604030504040204" pitchFamily="34" charset="0"/>
                </a:endParaRPr>
              </a:p>
              <a:p>
                <a:pPr marL="0" indent="0">
                  <a:lnSpc>
                    <a:spcPct val="150000"/>
                  </a:lnSpc>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⇔2</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−5=0.</m:t>
                      </m:r>
                    </m:oMath>
                  </m:oMathPara>
                </a14:m>
                <a:endParaRPr lang="en-US">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57886" y="6858000"/>
                <a:ext cx="23145113" cy="5486400"/>
              </a:xfrm>
              <a:prstGeom prst="rect">
                <a:avLst/>
              </a:prstGeom>
              <a:blipFill>
                <a:blip r:embed="rId4"/>
                <a:stretch>
                  <a:fillRect l="-1185" t="-3769"/>
                </a:stretch>
              </a:blipFill>
              <a:ln>
                <a:solidFill>
                  <a:srgbClr val="00B0F0"/>
                </a:solidFill>
              </a:ln>
            </p:spPr>
            <p:txBody>
              <a:bodyPr/>
              <a:lstStyle/>
              <a:p>
                <a:r>
                  <a:rPr lang="en-US">
                    <a:noFill/>
                  </a:rPr>
                  <a:t> </a:t>
                </a:r>
              </a:p>
            </p:txBody>
          </p:sp>
        </mc:Fallback>
      </mc:AlternateContent>
      <p:sp>
        <p:nvSpPr>
          <p:cNvPr id="3" name="Rectangle 7">
            <a:extLst>
              <a:ext uri="{FF2B5EF4-FFF2-40B4-BE49-F238E27FC236}">
                <a16:creationId xmlns:a16="http://schemas.microsoft.com/office/drawing/2014/main" id="{331DD36C-2757-4762-8AC6-F5DBBC77921A}"/>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8" name="Group 7">
            <a:extLst>
              <a:ext uri="{FF2B5EF4-FFF2-40B4-BE49-F238E27FC236}">
                <a16:creationId xmlns:a16="http://schemas.microsoft.com/office/drawing/2014/main" id="{B504E318-24BB-4CD7-BB8B-7A7FD6EFC9A6}"/>
              </a:ext>
            </a:extLst>
          </p:cNvPr>
          <p:cNvGrpSpPr/>
          <p:nvPr/>
        </p:nvGrpSpPr>
        <p:grpSpPr>
          <a:xfrm>
            <a:off x="400878" y="2057400"/>
            <a:ext cx="3989314" cy="1183262"/>
            <a:chOff x="22440" y="44679"/>
            <a:chExt cx="953655" cy="252442"/>
          </a:xfrm>
        </p:grpSpPr>
        <p:grpSp>
          <p:nvGrpSpPr>
            <p:cNvPr id="9" name="Group 8">
              <a:extLst>
                <a:ext uri="{FF2B5EF4-FFF2-40B4-BE49-F238E27FC236}">
                  <a16:creationId xmlns:a16="http://schemas.microsoft.com/office/drawing/2014/main" id="{FDC68754-63F0-4F7E-BF0F-CF4C7FC43BD9}"/>
                </a:ext>
              </a:extLst>
            </p:cNvPr>
            <p:cNvGrpSpPr/>
            <p:nvPr/>
          </p:nvGrpSpPr>
          <p:grpSpPr>
            <a:xfrm>
              <a:off x="22440" y="59287"/>
              <a:ext cx="953655" cy="159667"/>
              <a:chOff x="31572" y="60276"/>
              <a:chExt cx="1341810" cy="197595"/>
            </a:xfrm>
          </p:grpSpPr>
          <p:sp>
            <p:nvSpPr>
              <p:cNvPr id="11" name="Arrow: Pentagon 10">
                <a:extLst>
                  <a:ext uri="{FF2B5EF4-FFF2-40B4-BE49-F238E27FC236}">
                    <a16:creationId xmlns:a16="http://schemas.microsoft.com/office/drawing/2014/main" id="{D8C14C53-8D9E-417E-B098-34003D0DA14B}"/>
                  </a:ext>
                </a:extLst>
              </p:cNvPr>
              <p:cNvSpPr/>
              <p:nvPr/>
            </p:nvSpPr>
            <p:spPr>
              <a:xfrm>
                <a:off x="204506" y="61809"/>
                <a:ext cx="1168876" cy="19606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0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Arrow: Chevron 11">
                <a:extLst>
                  <a:ext uri="{FF2B5EF4-FFF2-40B4-BE49-F238E27FC236}">
                    <a16:creationId xmlns:a16="http://schemas.microsoft.com/office/drawing/2014/main" id="{FA9FB4E4-6405-44ED-A90D-8702A3961A6F}"/>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endParaRPr lang="en-US"/>
              </a:p>
            </p:txBody>
          </p:sp>
          <p:sp>
            <p:nvSpPr>
              <p:cNvPr id="13" name="Arrow: Chevron 12">
                <a:extLst>
                  <a:ext uri="{FF2B5EF4-FFF2-40B4-BE49-F238E27FC236}">
                    <a16:creationId xmlns:a16="http://schemas.microsoft.com/office/drawing/2014/main" id="{8A893702-EF7F-408F-9B85-BEC4F3DC83BB}"/>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endParaRPr lang="en-US"/>
              </a:p>
            </p:txBody>
          </p:sp>
        </p:grpSp>
        <p:sp>
          <p:nvSpPr>
            <p:cNvPr id="10" name="TextBox 56">
              <a:extLst>
                <a:ext uri="{FF2B5EF4-FFF2-40B4-BE49-F238E27FC236}">
                  <a16:creationId xmlns:a16="http://schemas.microsoft.com/office/drawing/2014/main" id="{EECC6C12-623A-4D3F-8074-3772DF5FD55E}"/>
                </a:ext>
              </a:extLst>
            </p:cNvPr>
            <p:cNvSpPr txBox="1"/>
            <p:nvPr/>
          </p:nvSpPr>
          <p:spPr>
            <a:xfrm>
              <a:off x="267457" y="44679"/>
              <a:ext cx="580215" cy="252442"/>
            </a:xfrm>
            <a:prstGeom prst="rect">
              <a:avLst/>
            </a:prstGeom>
            <a:noFill/>
          </p:spPr>
          <p:txBody>
            <a:bodyPr wrap="square">
              <a:noAutofit/>
            </a:bodyPr>
            <a:lstStyle/>
            <a:p>
              <a:pPr marL="0" marR="0">
                <a:lnSpc>
                  <a:spcPct val="107000"/>
                </a:lnSpc>
                <a:spcBef>
                  <a:spcPts val="0"/>
                </a:spcBef>
                <a:spcAft>
                  <a:spcPts val="800"/>
                </a:spcAft>
              </a:pPr>
              <a:r>
                <a:rPr lang="en-US" sz="4800" b="1" kern="1200">
                  <a:solidFill>
                    <a:srgbClr val="0000CC"/>
                  </a:solidFill>
                  <a:effectLst/>
                  <a:latin typeface="Tahoma" panose="020B0604030504040204" pitchFamily="34" charset="0"/>
                  <a:ea typeface="Tahoma" panose="020B0604030504040204" pitchFamily="34" charset="0"/>
                  <a:cs typeface="Tahoma" panose="020B0604030504040204" pitchFamily="34" charset="0"/>
                </a:rPr>
                <a:t>Bài tập</a:t>
              </a:r>
              <a:r>
                <a:rPr lang="en-US" sz="1200" b="1" kern="1200">
                  <a:solidFill>
                    <a:srgbClr val="0000CC"/>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4" name="Rectangle 10">
            <a:extLst>
              <a:ext uri="{FF2B5EF4-FFF2-40B4-BE49-F238E27FC236}">
                <a16:creationId xmlns:a16="http://schemas.microsoft.com/office/drawing/2014/main" id="{75B83596-23B8-4650-9517-74C0A031E4BF}"/>
              </a:ext>
            </a:extLst>
          </p:cNvPr>
          <p:cNvSpPr>
            <a:spLocks noChangeArrowheads="1"/>
          </p:cNvSpPr>
          <p:nvPr/>
        </p:nvSpPr>
        <p:spPr bwMode="auto">
          <a:xfrm>
            <a:off x="0" y="709613"/>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32667491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9">
                                            <p:txEl>
                                              <p:pRg st="0" end="0"/>
                                            </p:txEl>
                                          </p:spTgt>
                                        </p:tgtEl>
                                        <p:attrNameLst>
                                          <p:attrName>style.visibility</p:attrName>
                                        </p:attrNameLst>
                                      </p:cBhvr>
                                      <p:to>
                                        <p:strVal val="visible"/>
                                      </p:to>
                                    </p:set>
                                    <p:animEffect transition="in" filter="wipe(up)">
                                      <p:cBhvr>
                                        <p:cTn id="12" dur="500"/>
                                        <p:tgtEl>
                                          <p:spTgt spid="9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99">
                                            <p:txEl>
                                              <p:pRg st="1" end="1"/>
                                            </p:txEl>
                                          </p:spTgt>
                                        </p:tgtEl>
                                        <p:attrNameLst>
                                          <p:attrName>style.visibility</p:attrName>
                                        </p:attrNameLst>
                                      </p:cBhvr>
                                      <p:to>
                                        <p:strVal val="visible"/>
                                      </p:to>
                                    </p:set>
                                    <p:animEffect transition="in" filter="wipe(up)">
                                      <p:cBhvr>
                                        <p:cTn id="17" dur="500"/>
                                        <p:tgtEl>
                                          <p:spTgt spid="9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9">
                                            <p:txEl>
                                              <p:pRg st="2" end="2"/>
                                            </p:txEl>
                                          </p:spTgt>
                                        </p:tgtEl>
                                        <p:attrNameLst>
                                          <p:attrName>style.visibility</p:attrName>
                                        </p:attrNameLst>
                                      </p:cBhvr>
                                      <p:to>
                                        <p:strVal val="visible"/>
                                      </p:to>
                                    </p:set>
                                    <p:animEffect transition="in" filter="wipe(up)">
                                      <p:cBhvr>
                                        <p:cTn id="22" dur="500"/>
                                        <p:tgtEl>
                                          <p:spTgt spid="9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99">
                                            <p:txEl>
                                              <p:pRg st="3" end="3"/>
                                            </p:txEl>
                                          </p:spTgt>
                                        </p:tgtEl>
                                        <p:attrNameLst>
                                          <p:attrName>style.visibility</p:attrName>
                                        </p:attrNameLst>
                                      </p:cBhvr>
                                      <p:to>
                                        <p:strVal val="visible"/>
                                      </p:to>
                                    </p:set>
                                    <p:animEffect transition="in" filter="wipe(up)">
                                      <p:cBhvr>
                                        <p:cTn id="27" dur="500"/>
                                        <p:tgtEl>
                                          <p:spTgt spid="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5792771"/>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endParaRPr lang="en-US" b="1"/>
              </a:p>
              <a:p>
                <a:endParaRPr lang="en-US" b="1"/>
              </a:p>
              <a:p>
                <a:pPr>
                  <a:lnSpc>
                    <a:spcPct val="100000"/>
                  </a:lnSpc>
                </a:pPr>
                <a:r>
                  <a:rPr lang="en-US" b="1"/>
                  <a:t>       7.1. </a:t>
                </a:r>
                <a:r>
                  <a:rPr lang="en-US" sz="4800">
                    <a:latin typeface="Tahoma" panose="020B0604030504040204" pitchFamily="34" charset="0"/>
                    <a:ea typeface="Tahoma" panose="020B0604030504040204" pitchFamily="34" charset="0"/>
                    <a:cs typeface="Tahoma" panose="020B0604030504040204" pitchFamily="34" charset="0"/>
                  </a:rPr>
                  <a:t>Trong mặt phẳng tọa độ, cho  </a:t>
                </a:r>
                <a14:m>
                  <m:oMath xmlns:m="http://schemas.openxmlformats.org/officeDocument/2006/math">
                    <m:acc>
                      <m:accPr>
                        <m:chr m:val="⃗"/>
                        <m:ctrlPr>
                          <a:rPr lang="en-US" sz="4800" i="1">
                            <a:latin typeface="Cambria Math" panose="02040503050406030204" pitchFamily="18" charset="0"/>
                          </a:rPr>
                        </m:ctrlPr>
                      </m:accPr>
                      <m:e>
                        <m:r>
                          <a:rPr lang="en-US" sz="4800" b="0" i="1">
                            <a:latin typeface="Cambria Math" panose="02040503050406030204" pitchFamily="18" charset="0"/>
                          </a:rPr>
                          <m:t>𝑛</m:t>
                        </m:r>
                      </m:e>
                    </m:acc>
                    <m:r>
                      <a:rPr lang="en-US" sz="4800" b="0" i="1">
                        <a:latin typeface="Cambria Math" panose="02040503050406030204" pitchFamily="18" charset="0"/>
                      </a:rPr>
                      <m:t>=</m:t>
                    </m:r>
                    <m:d>
                      <m:dPr>
                        <m:ctrlPr>
                          <a:rPr lang="en-US" sz="4800" i="1">
                            <a:latin typeface="Cambria Math" panose="02040503050406030204" pitchFamily="18" charset="0"/>
                          </a:rPr>
                        </m:ctrlPr>
                      </m:dPr>
                      <m:e>
                        <m:r>
                          <a:rPr lang="en-US" sz="4800" b="0" i="1">
                            <a:latin typeface="Cambria Math" panose="02040503050406030204" pitchFamily="18" charset="0"/>
                          </a:rPr>
                          <m:t>2;1</m:t>
                        </m:r>
                      </m:e>
                    </m:d>
                    <m:r>
                      <a:rPr lang="en-US" sz="4800" b="0" i="1">
                        <a:latin typeface="Cambria Math" panose="02040503050406030204" pitchFamily="18" charset="0"/>
                      </a:rPr>
                      <m:t>,</m:t>
                    </m:r>
                    <m:acc>
                      <m:accPr>
                        <m:chr m:val="⃗"/>
                        <m:ctrlPr>
                          <a:rPr lang="en-US" sz="4800" i="1">
                            <a:latin typeface="Cambria Math" panose="02040503050406030204" pitchFamily="18" charset="0"/>
                          </a:rPr>
                        </m:ctrlPr>
                      </m:accPr>
                      <m:e>
                        <m:r>
                          <a:rPr lang="en-US" sz="4800" b="0" i="1">
                            <a:latin typeface="Cambria Math" panose="02040503050406030204" pitchFamily="18" charset="0"/>
                          </a:rPr>
                          <m:t>𝑣</m:t>
                        </m:r>
                      </m:e>
                    </m:acc>
                    <m:r>
                      <a:rPr lang="en-US" sz="4800" b="0" i="1">
                        <a:latin typeface="Cambria Math" panose="02040503050406030204" pitchFamily="18" charset="0"/>
                      </a:rPr>
                      <m:t>=</m:t>
                    </m:r>
                    <m:d>
                      <m:dPr>
                        <m:ctrlPr>
                          <a:rPr lang="en-US" sz="4800" i="1">
                            <a:latin typeface="Cambria Math" panose="02040503050406030204" pitchFamily="18" charset="0"/>
                          </a:rPr>
                        </m:ctrlPr>
                      </m:dPr>
                      <m:e>
                        <m:r>
                          <a:rPr lang="en-US" sz="4800" b="0" i="1">
                            <a:latin typeface="Cambria Math" panose="02040503050406030204" pitchFamily="18" charset="0"/>
                          </a:rPr>
                          <m:t>3;2</m:t>
                        </m:r>
                      </m:e>
                    </m:d>
                    <m:r>
                      <a:rPr lang="en-US" sz="4800" b="0" i="1">
                        <a:latin typeface="Cambria Math" panose="02040503050406030204" pitchFamily="18" charset="0"/>
                      </a:rPr>
                      <m:t>,</m:t>
                    </m:r>
                    <m:r>
                      <a:rPr lang="en-US" sz="4800" b="0" i="1">
                        <a:latin typeface="Cambria Math" panose="02040503050406030204" pitchFamily="18" charset="0"/>
                      </a:rPr>
                      <m:t>𝐴</m:t>
                    </m:r>
                    <m:d>
                      <m:dPr>
                        <m:ctrlPr>
                          <a:rPr lang="en-US" sz="4800" i="1">
                            <a:latin typeface="Cambria Math" panose="02040503050406030204" pitchFamily="18" charset="0"/>
                          </a:rPr>
                        </m:ctrlPr>
                      </m:dPr>
                      <m:e>
                        <m:r>
                          <a:rPr lang="en-US" sz="4800" b="0" i="1">
                            <a:latin typeface="Cambria Math" panose="02040503050406030204" pitchFamily="18" charset="0"/>
                          </a:rPr>
                          <m:t>1;3</m:t>
                        </m:r>
                      </m:e>
                    </m:d>
                    <m:r>
                      <a:rPr lang="en-US" sz="4800" b="0" i="1">
                        <a:latin typeface="Cambria Math" panose="02040503050406030204" pitchFamily="18" charset="0"/>
                      </a:rPr>
                      <m:t>,</m:t>
                    </m:r>
                    <m:r>
                      <a:rPr lang="en-US" sz="4800" b="0" i="1">
                        <a:latin typeface="Cambria Math" panose="02040503050406030204" pitchFamily="18" charset="0"/>
                      </a:rPr>
                      <m:t>𝐵</m:t>
                    </m:r>
                    <m:d>
                      <m:dPr>
                        <m:ctrlPr>
                          <a:rPr lang="en-US" sz="4800" i="1">
                            <a:latin typeface="Cambria Math" panose="02040503050406030204" pitchFamily="18" charset="0"/>
                          </a:rPr>
                        </m:ctrlPr>
                      </m:dPr>
                      <m:e>
                        <m:r>
                          <a:rPr lang="en-US" sz="4800" b="0" i="1">
                            <a:latin typeface="Cambria Math" panose="02040503050406030204" pitchFamily="18" charset="0"/>
                          </a:rPr>
                          <m:t>−2;1</m:t>
                        </m:r>
                      </m:e>
                    </m:d>
                    <m:r>
                      <a:rPr lang="en-US" sz="4800" b="0" i="1">
                        <a:latin typeface="Cambria Math" panose="02040503050406030204" pitchFamily="18" charset="0"/>
                      </a:rPr>
                      <m:t>.</m:t>
                    </m:r>
                  </m:oMath>
                </a14:m>
                <a:endParaRPr lang="en-US" sz="4800">
                  <a:latin typeface="Tahoma" panose="020B0604030504040204" pitchFamily="34" charset="0"/>
                  <a:ea typeface="Tahoma" panose="020B0604030504040204" pitchFamily="34" charset="0"/>
                  <a:cs typeface="Tahoma" panose="020B0604030504040204" pitchFamily="34" charset="0"/>
                </a:endParaRPr>
              </a:p>
              <a:p>
                <a:pPr>
                  <a:lnSpc>
                    <a:spcPct val="100000"/>
                  </a:lnSpc>
                </a:pPr>
                <a:r>
                  <a:rPr lang="en-US" sz="4800">
                    <a:latin typeface="Tahoma" panose="020B0604030504040204" pitchFamily="34" charset="0"/>
                    <a:ea typeface="Tahoma" panose="020B0604030504040204" pitchFamily="34" charset="0"/>
                    <a:cs typeface="Tahoma" panose="020B0604030504040204" pitchFamily="34" charset="0"/>
                  </a:rPr>
                  <a:t>   	a) Lập phương trình tổng quát của đường thẳng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𝛥</m:t>
                        </m:r>
                      </m:e>
                      <m:sub>
                        <m:r>
                          <a:rPr lang="en-US" sz="4800" i="1">
                            <a:latin typeface="Cambria Math" panose="02040503050406030204" pitchFamily="18" charset="0"/>
                          </a:rPr>
                          <m:t>1</m:t>
                        </m:r>
                      </m:sub>
                    </m:sSub>
                  </m:oMath>
                </a14:m>
                <a:r>
                  <a:rPr lang="en-US" sz="4800">
                    <a:latin typeface="Tahoma" panose="020B0604030504040204" pitchFamily="34" charset="0"/>
                    <a:ea typeface="Tahoma" panose="020B0604030504040204" pitchFamily="34" charset="0"/>
                    <a:cs typeface="Tahoma" panose="020B0604030504040204" pitchFamily="34" charset="0"/>
                  </a:rPr>
                  <a:t> đi qua </a:t>
                </a:r>
                <a14:m>
                  <m:oMath xmlns:m="http://schemas.openxmlformats.org/officeDocument/2006/math">
                    <m:r>
                      <a:rPr lang="en-US" sz="4800" i="1">
                        <a:latin typeface="Cambria Math" panose="02040503050406030204" pitchFamily="18" charset="0"/>
                      </a:rPr>
                      <m:t>𝐴</m:t>
                    </m:r>
                  </m:oMath>
                </a14:m>
                <a:r>
                  <a:rPr lang="en-US" sz="4800">
                    <a:latin typeface="Tahoma" panose="020B0604030504040204" pitchFamily="34" charset="0"/>
                    <a:ea typeface="Tahoma" panose="020B0604030504040204" pitchFamily="34" charset="0"/>
                    <a:cs typeface="Tahoma" panose="020B0604030504040204" pitchFamily="34" charset="0"/>
                  </a:rPr>
                  <a:t> và có vectơ pháp tuyến </a:t>
                </a:r>
                <a14:m>
                  <m:oMath xmlns:m="http://schemas.openxmlformats.org/officeDocument/2006/math">
                    <m:acc>
                      <m:accPr>
                        <m:chr m:val="⃗"/>
                        <m:ctrlPr>
                          <a:rPr lang="en-US" sz="4800" i="1">
                            <a:latin typeface="Cambria Math" panose="02040503050406030204" pitchFamily="18" charset="0"/>
                          </a:rPr>
                        </m:ctrlPr>
                      </m:accPr>
                      <m:e>
                        <m:r>
                          <a:rPr lang="en-US" sz="4800" i="1">
                            <a:latin typeface="Cambria Math" panose="02040503050406030204" pitchFamily="18" charset="0"/>
                          </a:rPr>
                          <m:t>𝑛</m:t>
                        </m:r>
                      </m:e>
                    </m:acc>
                    <m:r>
                      <a:rPr lang="en-US" sz="4800" i="1">
                        <a:latin typeface="Cambria Math" panose="02040503050406030204" pitchFamily="18" charset="0"/>
                      </a:rPr>
                      <m:t>.</m:t>
                    </m:r>
                  </m:oMath>
                </a14:m>
                <a:r>
                  <a:rPr lang="en-US" sz="4800">
                    <a:latin typeface="Tahoma" panose="020B0604030504040204" pitchFamily="34" charset="0"/>
                    <a:ea typeface="Tahoma" panose="020B0604030504040204" pitchFamily="34" charset="0"/>
                    <a:cs typeface="Tahoma" panose="020B0604030504040204" pitchFamily="34" charset="0"/>
                  </a:rPr>
                  <a:t> </a:t>
                </a:r>
              </a:p>
              <a:p>
                <a:pPr>
                  <a:lnSpc>
                    <a:spcPct val="100000"/>
                  </a:lnSpc>
                </a:pPr>
                <a:r>
                  <a:rPr lang="en-US" sz="4800">
                    <a:latin typeface="Tahoma" panose="020B0604030504040204" pitchFamily="34" charset="0"/>
                    <a:ea typeface="Tahoma" panose="020B0604030504040204" pitchFamily="34" charset="0"/>
                    <a:cs typeface="Tahoma" panose="020B0604030504040204" pitchFamily="34" charset="0"/>
                  </a:rPr>
                  <a:t>   	b) Lập phương trình tham số của đường thẳng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𝛥</m:t>
                        </m:r>
                      </m:e>
                      <m:sub>
                        <m:r>
                          <a:rPr lang="en-US" sz="4800" i="1">
                            <a:latin typeface="Cambria Math" panose="02040503050406030204" pitchFamily="18" charset="0"/>
                          </a:rPr>
                          <m:t>2</m:t>
                        </m:r>
                      </m:sub>
                    </m:sSub>
                  </m:oMath>
                </a14:m>
                <a:r>
                  <a:rPr lang="en-US" sz="4800">
                    <a:latin typeface="Tahoma" panose="020B0604030504040204" pitchFamily="34" charset="0"/>
                    <a:ea typeface="Tahoma" panose="020B0604030504040204" pitchFamily="34" charset="0"/>
                    <a:cs typeface="Tahoma" panose="020B0604030504040204" pitchFamily="34" charset="0"/>
                  </a:rPr>
                  <a:t> đi qua </a:t>
                </a:r>
                <a14:m>
                  <m:oMath xmlns:m="http://schemas.openxmlformats.org/officeDocument/2006/math">
                    <m:r>
                      <a:rPr lang="en-US" sz="4800" i="1">
                        <a:latin typeface="Cambria Math" panose="02040503050406030204" pitchFamily="18" charset="0"/>
                      </a:rPr>
                      <m:t>𝐵</m:t>
                    </m:r>
                  </m:oMath>
                </a14:m>
                <a:r>
                  <a:rPr lang="en-US" sz="4800">
                    <a:latin typeface="Tahoma" panose="020B0604030504040204" pitchFamily="34" charset="0"/>
                    <a:ea typeface="Tahoma" panose="020B0604030504040204" pitchFamily="34" charset="0"/>
                    <a:cs typeface="Tahoma" panose="020B0604030504040204" pitchFamily="34" charset="0"/>
                  </a:rPr>
                  <a:t> và có vectơ chỉ phương </a:t>
                </a:r>
                <a14:m>
                  <m:oMath xmlns:m="http://schemas.openxmlformats.org/officeDocument/2006/math">
                    <m:acc>
                      <m:accPr>
                        <m:chr m:val="⃗"/>
                        <m:ctrlPr>
                          <a:rPr lang="en-US" sz="4800" i="1">
                            <a:latin typeface="Cambria Math" panose="02040503050406030204" pitchFamily="18" charset="0"/>
                          </a:rPr>
                        </m:ctrlPr>
                      </m:accPr>
                      <m:e>
                        <m:r>
                          <a:rPr lang="en-US" sz="4800" i="1">
                            <a:latin typeface="Cambria Math" panose="02040503050406030204" pitchFamily="18" charset="0"/>
                          </a:rPr>
                          <m:t>𝑣</m:t>
                        </m:r>
                      </m:e>
                    </m:acc>
                    <m:r>
                      <a:rPr lang="en-US" sz="4800" i="1">
                        <a:latin typeface="Cambria Math" panose="02040503050406030204" pitchFamily="18" charset="0"/>
                      </a:rPr>
                      <m:t>.</m:t>
                    </m:r>
                  </m:oMath>
                </a14:m>
                <a:r>
                  <a:rPr lang="en-US" sz="4800">
                    <a:latin typeface="Tahoma" panose="020B0604030504040204" pitchFamily="34" charset="0"/>
                    <a:ea typeface="Tahoma" panose="020B0604030504040204" pitchFamily="34" charset="0"/>
                    <a:cs typeface="Tahoma" panose="020B0604030504040204" pitchFamily="34" charset="0"/>
                  </a:rPr>
                  <a:t> </a:t>
                </a:r>
              </a:p>
              <a:p>
                <a:pPr>
                  <a:lnSpc>
                    <a:spcPct val="100000"/>
                  </a:lnSpc>
                </a:pPr>
                <a:r>
                  <a:rPr lang="en-US"/>
                  <a:t>   </a:t>
                </a: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838200" y="1879600"/>
                <a:ext cx="23164800" cy="5792771"/>
              </a:xfrm>
              <a:prstGeom prst="rect">
                <a:avLst/>
              </a:prstGeom>
              <a:blipFill>
                <a:blip r:embed="rId3"/>
                <a:stretch>
                  <a:fillRect l="-1184" r="-1473"/>
                </a:stretch>
              </a:blipFill>
              <a:ln>
                <a:solidFill>
                  <a:schemeClr val="tx2">
                    <a:lumMod val="20000"/>
                    <a:lumOff val="80000"/>
                  </a:schemeClr>
                </a:solidFill>
              </a:ln>
            </p:spPr>
            <p:txBody>
              <a:bodyPr/>
              <a:lstStyle/>
              <a:p>
                <a:r>
                  <a:rPr lang="en-US">
                    <a:noFill/>
                  </a:rPr>
                  <a:t> </a:t>
                </a:r>
              </a:p>
            </p:txBody>
          </p:sp>
        </mc:Fallback>
      </mc:AlternateContent>
      <p:sp>
        <p:nvSpPr>
          <p:cNvPr id="3" name="Rectangle 7">
            <a:extLst>
              <a:ext uri="{FF2B5EF4-FFF2-40B4-BE49-F238E27FC236}">
                <a16:creationId xmlns:a16="http://schemas.microsoft.com/office/drawing/2014/main" id="{331DD36C-2757-4762-8AC6-F5DBBC77921A}"/>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8" name="Group 7">
            <a:extLst>
              <a:ext uri="{FF2B5EF4-FFF2-40B4-BE49-F238E27FC236}">
                <a16:creationId xmlns:a16="http://schemas.microsoft.com/office/drawing/2014/main" id="{B504E318-24BB-4CD7-BB8B-7A7FD6EFC9A6}"/>
              </a:ext>
            </a:extLst>
          </p:cNvPr>
          <p:cNvGrpSpPr/>
          <p:nvPr/>
        </p:nvGrpSpPr>
        <p:grpSpPr>
          <a:xfrm>
            <a:off x="400878" y="2057400"/>
            <a:ext cx="3989314" cy="1183262"/>
            <a:chOff x="22440" y="44679"/>
            <a:chExt cx="953655" cy="252442"/>
          </a:xfrm>
        </p:grpSpPr>
        <p:grpSp>
          <p:nvGrpSpPr>
            <p:cNvPr id="9" name="Group 8">
              <a:extLst>
                <a:ext uri="{FF2B5EF4-FFF2-40B4-BE49-F238E27FC236}">
                  <a16:creationId xmlns:a16="http://schemas.microsoft.com/office/drawing/2014/main" id="{FDC68754-63F0-4F7E-BF0F-CF4C7FC43BD9}"/>
                </a:ext>
              </a:extLst>
            </p:cNvPr>
            <p:cNvGrpSpPr/>
            <p:nvPr/>
          </p:nvGrpSpPr>
          <p:grpSpPr>
            <a:xfrm>
              <a:off x="22440" y="59287"/>
              <a:ext cx="953655" cy="159667"/>
              <a:chOff x="31572" y="60276"/>
              <a:chExt cx="1341810" cy="197595"/>
            </a:xfrm>
          </p:grpSpPr>
          <p:sp>
            <p:nvSpPr>
              <p:cNvPr id="11" name="Arrow: Pentagon 10">
                <a:extLst>
                  <a:ext uri="{FF2B5EF4-FFF2-40B4-BE49-F238E27FC236}">
                    <a16:creationId xmlns:a16="http://schemas.microsoft.com/office/drawing/2014/main" id="{D8C14C53-8D9E-417E-B098-34003D0DA14B}"/>
                  </a:ext>
                </a:extLst>
              </p:cNvPr>
              <p:cNvSpPr/>
              <p:nvPr/>
            </p:nvSpPr>
            <p:spPr>
              <a:xfrm>
                <a:off x="204506" y="61809"/>
                <a:ext cx="1168876" cy="19606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0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Arrow: Chevron 11">
                <a:extLst>
                  <a:ext uri="{FF2B5EF4-FFF2-40B4-BE49-F238E27FC236}">
                    <a16:creationId xmlns:a16="http://schemas.microsoft.com/office/drawing/2014/main" id="{FA9FB4E4-6405-44ED-A90D-8702A3961A6F}"/>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endParaRPr lang="en-US"/>
              </a:p>
            </p:txBody>
          </p:sp>
          <p:sp>
            <p:nvSpPr>
              <p:cNvPr id="13" name="Arrow: Chevron 12">
                <a:extLst>
                  <a:ext uri="{FF2B5EF4-FFF2-40B4-BE49-F238E27FC236}">
                    <a16:creationId xmlns:a16="http://schemas.microsoft.com/office/drawing/2014/main" id="{8A893702-EF7F-408F-9B85-BEC4F3DC83BB}"/>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endParaRPr lang="en-US"/>
              </a:p>
            </p:txBody>
          </p:sp>
        </p:grpSp>
        <p:sp>
          <p:nvSpPr>
            <p:cNvPr id="10" name="TextBox 56">
              <a:extLst>
                <a:ext uri="{FF2B5EF4-FFF2-40B4-BE49-F238E27FC236}">
                  <a16:creationId xmlns:a16="http://schemas.microsoft.com/office/drawing/2014/main" id="{EECC6C12-623A-4D3F-8074-3772DF5FD55E}"/>
                </a:ext>
              </a:extLst>
            </p:cNvPr>
            <p:cNvSpPr txBox="1"/>
            <p:nvPr/>
          </p:nvSpPr>
          <p:spPr>
            <a:xfrm>
              <a:off x="267457" y="44679"/>
              <a:ext cx="580215" cy="252442"/>
            </a:xfrm>
            <a:prstGeom prst="rect">
              <a:avLst/>
            </a:prstGeom>
            <a:noFill/>
          </p:spPr>
          <p:txBody>
            <a:bodyPr wrap="square">
              <a:noAutofit/>
            </a:bodyPr>
            <a:lstStyle/>
            <a:p>
              <a:pPr marL="0" marR="0">
                <a:lnSpc>
                  <a:spcPct val="107000"/>
                </a:lnSpc>
                <a:spcBef>
                  <a:spcPts val="0"/>
                </a:spcBef>
                <a:spcAft>
                  <a:spcPts val="800"/>
                </a:spcAft>
              </a:pPr>
              <a:r>
                <a:rPr lang="en-US" sz="4800" b="1" kern="1200">
                  <a:solidFill>
                    <a:srgbClr val="0000CC"/>
                  </a:solidFill>
                  <a:effectLst/>
                  <a:latin typeface="Tahoma" panose="020B0604030504040204" pitchFamily="34" charset="0"/>
                  <a:ea typeface="Tahoma" panose="020B0604030504040204" pitchFamily="34" charset="0"/>
                  <a:cs typeface="Tahoma" panose="020B0604030504040204" pitchFamily="34" charset="0"/>
                </a:rPr>
                <a:t>Bài tập</a:t>
              </a:r>
              <a:r>
                <a:rPr lang="en-US" sz="1200" b="1" kern="1200">
                  <a:solidFill>
                    <a:srgbClr val="0000CC"/>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4" name="Rectangle 10">
            <a:extLst>
              <a:ext uri="{FF2B5EF4-FFF2-40B4-BE49-F238E27FC236}">
                <a16:creationId xmlns:a16="http://schemas.microsoft.com/office/drawing/2014/main" id="{75B83596-23B8-4650-9517-74C0A031E4BF}"/>
              </a:ext>
            </a:extLst>
          </p:cNvPr>
          <p:cNvSpPr>
            <a:spLocks noChangeArrowheads="1"/>
          </p:cNvSpPr>
          <p:nvPr/>
        </p:nvSpPr>
        <p:spPr bwMode="auto">
          <a:xfrm>
            <a:off x="0" y="709613"/>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5A220607-30AB-45EF-A7B8-CCDAA13C1C9F}"/>
                  </a:ext>
                </a:extLst>
              </p:cNvPr>
              <p:cNvSpPr txBox="1">
                <a:spLocks/>
              </p:cNvSpPr>
              <p:nvPr/>
            </p:nvSpPr>
            <p:spPr>
              <a:xfrm>
                <a:off x="842647" y="7924800"/>
                <a:ext cx="23145113" cy="48768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en-US" b="1">
                    <a:latin typeface="Tahoma" panose="020B0604030504040204" pitchFamily="34" charset="0"/>
                    <a:ea typeface="Tahoma" panose="020B0604030504040204" pitchFamily="34" charset="0"/>
                    <a:cs typeface="Tahoma" panose="020B0604030504040204" pitchFamily="34" charset="0"/>
                  </a:rPr>
                  <a:t>Giải</a:t>
                </a:r>
                <a:endParaRPr lang="en-US">
                  <a:latin typeface="Tahoma" panose="020B0604030504040204" pitchFamily="34" charset="0"/>
                  <a:ea typeface="Tahoma" panose="020B0604030504040204" pitchFamily="34" charset="0"/>
                  <a:cs typeface="Tahoma" panose="020B0604030504040204" pitchFamily="34" charset="0"/>
                </a:endParaRPr>
              </a:p>
              <a:p>
                <a:pPr marL="0" indent="0">
                  <a:buNone/>
                </a:pPr>
                <a:r>
                  <a:rPr lang="en-US">
                    <a:latin typeface="Tahoma" panose="020B0604030504040204" pitchFamily="34" charset="0"/>
                    <a:ea typeface="Tahoma" panose="020B0604030504040204" pitchFamily="34" charset="0"/>
                    <a:cs typeface="Tahoma" panose="020B0604030504040204" pitchFamily="34" charset="0"/>
                  </a:rPr>
                  <a:t>    	b) Phương trình tham số của đường thẳng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𝛥</m:t>
                        </m:r>
                      </m:e>
                      <m:sub>
                        <m:r>
                          <a:rPr lang="en-US" i="1">
                            <a:latin typeface="Cambria Math" panose="02040503050406030204" pitchFamily="18" charset="0"/>
                          </a:rPr>
                          <m:t>2</m:t>
                        </m:r>
                      </m:sub>
                    </m:sSub>
                  </m:oMath>
                </a14:m>
                <a:r>
                  <a:rPr lang="en-US">
                    <a:latin typeface="Tahoma" panose="020B0604030504040204" pitchFamily="34" charset="0"/>
                    <a:ea typeface="Tahoma" panose="020B0604030504040204" pitchFamily="34" charset="0"/>
                    <a:cs typeface="Tahoma" panose="020B0604030504040204" pitchFamily="34" charset="0"/>
                  </a:rPr>
                  <a:t> đi qua </a:t>
                </a:r>
                <a14:m>
                  <m:oMath xmlns:m="http://schemas.openxmlformats.org/officeDocument/2006/math">
                    <m:r>
                      <a:rPr lang="en-US" i="1">
                        <a:latin typeface="Cambria Math" panose="02040503050406030204" pitchFamily="18" charset="0"/>
                      </a:rPr>
                      <m:t>𝐵</m:t>
                    </m:r>
                  </m:oMath>
                </a14:m>
                <a:r>
                  <a:rPr lang="en-US">
                    <a:latin typeface="Tahoma" panose="020B0604030504040204" pitchFamily="34" charset="0"/>
                    <a:ea typeface="Tahoma" panose="020B0604030504040204" pitchFamily="34" charset="0"/>
                    <a:cs typeface="Tahoma" panose="020B0604030504040204" pitchFamily="34" charset="0"/>
                  </a:rPr>
                  <a:t> và có vectơ chỉ phương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𝑣</m:t>
                        </m:r>
                      </m:e>
                    </m:acc>
                  </m:oMath>
                </a14:m>
                <a:r>
                  <a:rPr lang="en-US">
                    <a:latin typeface="Tahoma" panose="020B0604030504040204" pitchFamily="34" charset="0"/>
                    <a:ea typeface="Tahoma" panose="020B0604030504040204" pitchFamily="34" charset="0"/>
                    <a:cs typeface="Tahoma" panose="020B0604030504040204" pitchFamily="34" charset="0"/>
                  </a:rPr>
                  <a:t> là</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𝛥</m:t>
                          </m:r>
                        </m:e>
                        <m:sub>
                          <m:r>
                            <a:rPr lang="en-US" i="1">
                              <a:latin typeface="Cambria Math" panose="02040503050406030204" pitchFamily="18" charset="0"/>
                            </a:rPr>
                            <m:t>2</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𝑥</m:t>
                              </m:r>
                              <m:r>
                                <a:rPr lang="en-US" i="1">
                                  <a:latin typeface="Cambria Math" panose="02040503050406030204" pitchFamily="18" charset="0"/>
                                </a:rPr>
                                <m:t>=−2+3</m:t>
                              </m:r>
                              <m:r>
                                <a:rPr lang="en-US" i="1">
                                  <a:latin typeface="Cambria Math" panose="02040503050406030204" pitchFamily="18" charset="0"/>
                                </a:rPr>
                                <m:t>𝑡</m:t>
                              </m:r>
                            </m:e>
                            <m:e>
                              <m:r>
                                <a:rPr lang="en-US" i="1">
                                  <a:latin typeface="Cambria Math" panose="02040503050406030204" pitchFamily="18" charset="0"/>
                                </a:rPr>
                                <m:t>𝑦</m:t>
                              </m:r>
                              <m:r>
                                <a:rPr lang="en-US" i="1">
                                  <a:latin typeface="Cambria Math" panose="02040503050406030204" pitchFamily="18" charset="0"/>
                                </a:rPr>
                                <m:t>=1+2</m:t>
                              </m:r>
                              <m:r>
                                <a:rPr lang="en-US" i="1">
                                  <a:latin typeface="Cambria Math" panose="02040503050406030204" pitchFamily="18" charset="0"/>
                                </a:rPr>
                                <m:t>𝑡</m:t>
                              </m:r>
                              <m:r>
                                <a:rPr lang="en-US" i="1">
                                  <a:latin typeface="Cambria Math" panose="02040503050406030204" pitchFamily="18" charset="0"/>
                                </a:rPr>
                                <m:t>.</m:t>
                              </m:r>
                            </m:e>
                          </m:eqArr>
                        </m:e>
                      </m:d>
                    </m:oMath>
                  </m:oMathPara>
                </a14:m>
                <a:endParaRPr lang="en-US">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4" name="Content Placeholder 2">
                <a:extLst>
                  <a:ext uri="{FF2B5EF4-FFF2-40B4-BE49-F238E27FC236}">
                    <a16:creationId xmlns:a16="http://schemas.microsoft.com/office/drawing/2014/main" id="{5A220607-30AB-45EF-A7B8-CCDAA13C1C9F}"/>
                  </a:ext>
                </a:extLst>
              </p:cNvPr>
              <p:cNvSpPr txBox="1">
                <a:spLocks noRot="1" noChangeAspect="1" noMove="1" noResize="1" noEditPoints="1" noAdjustHandles="1" noChangeArrowheads="1" noChangeShapeType="1" noTextEdit="1"/>
              </p:cNvSpPr>
              <p:nvPr/>
            </p:nvSpPr>
            <p:spPr>
              <a:xfrm>
                <a:off x="842647" y="7924800"/>
                <a:ext cx="23145113" cy="4876800"/>
              </a:xfrm>
              <a:prstGeom prst="rect">
                <a:avLst/>
              </a:prstGeom>
              <a:blipFill>
                <a:blip r:embed="rId4"/>
                <a:stretch>
                  <a:fillRect l="-1158" t="-4239"/>
                </a:stretch>
              </a:blipFill>
              <a:ln>
                <a:solidFill>
                  <a:srgbClr val="00B0F0"/>
                </a:solidFill>
              </a:ln>
            </p:spPr>
            <p:txBody>
              <a:bodyPr/>
              <a:lstStyle/>
              <a:p>
                <a:r>
                  <a:rPr lang="en-US">
                    <a:noFill/>
                  </a:rPr>
                  <a:t> </a:t>
                </a:r>
              </a:p>
            </p:txBody>
          </p:sp>
        </mc:Fallback>
      </mc:AlternateContent>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72162019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wipe(up)">
                                      <p:cBhvr>
                                        <p:cTn id="12" dur="500"/>
                                        <p:tgtEl>
                                          <p:spTgt spid="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
                                            <p:txEl>
                                              <p:pRg st="1" end="1"/>
                                            </p:txEl>
                                          </p:spTgt>
                                        </p:tgtEl>
                                        <p:attrNameLst>
                                          <p:attrName>style.visibility</p:attrName>
                                        </p:attrNameLst>
                                      </p:cBhvr>
                                      <p:to>
                                        <p:strVal val="visible"/>
                                      </p:to>
                                    </p:set>
                                    <p:animEffect transition="in" filter="wipe(up)">
                                      <p:cBhvr>
                                        <p:cTn id="17" dur="500"/>
                                        <p:tgtEl>
                                          <p:spTgt spid="1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4">
                                            <p:txEl>
                                              <p:pRg st="2" end="2"/>
                                            </p:txEl>
                                          </p:spTgt>
                                        </p:tgtEl>
                                        <p:attrNameLst>
                                          <p:attrName>style.visibility</p:attrName>
                                        </p:attrNameLst>
                                      </p:cBhvr>
                                      <p:to>
                                        <p:strVal val="visible"/>
                                      </p:to>
                                    </p:set>
                                    <p:animEffect transition="in" filter="wipe(up)">
                                      <p:cBhvr>
                                        <p:cTn id="22" dur="5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6807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endParaRPr lang="en-US" b="1"/>
              </a:p>
              <a:p>
                <a:endParaRPr lang="en-US" b="1"/>
              </a:p>
              <a:p>
                <a:pPr>
                  <a:lnSpc>
                    <a:spcPct val="100000"/>
                  </a:lnSpc>
                </a:pPr>
                <a:r>
                  <a:rPr lang="en-US" b="1"/>
                  <a:t>       7.1. </a:t>
                </a:r>
                <a:r>
                  <a:rPr lang="en-US" sz="4800">
                    <a:latin typeface="Tahoma" panose="020B0604030504040204" pitchFamily="34" charset="0"/>
                    <a:ea typeface="Tahoma" panose="020B0604030504040204" pitchFamily="34" charset="0"/>
                    <a:cs typeface="Tahoma" panose="020B0604030504040204" pitchFamily="34" charset="0"/>
                  </a:rPr>
                  <a:t>Trong mặt phẳng tọa độ, cho  </a:t>
                </a:r>
                <a14:m>
                  <m:oMath xmlns:m="http://schemas.openxmlformats.org/officeDocument/2006/math">
                    <m:acc>
                      <m:accPr>
                        <m:chr m:val="⃗"/>
                        <m:ctrlPr>
                          <a:rPr lang="en-US" sz="4800" i="1">
                            <a:latin typeface="Cambria Math" panose="02040503050406030204" pitchFamily="18" charset="0"/>
                          </a:rPr>
                        </m:ctrlPr>
                      </m:accPr>
                      <m:e>
                        <m:r>
                          <a:rPr lang="en-US" sz="4800" b="0" i="1">
                            <a:latin typeface="Cambria Math" panose="02040503050406030204" pitchFamily="18" charset="0"/>
                          </a:rPr>
                          <m:t>𝑛</m:t>
                        </m:r>
                      </m:e>
                    </m:acc>
                    <m:r>
                      <a:rPr lang="en-US" sz="4800" b="0" i="1">
                        <a:latin typeface="Cambria Math" panose="02040503050406030204" pitchFamily="18" charset="0"/>
                      </a:rPr>
                      <m:t>=</m:t>
                    </m:r>
                    <m:d>
                      <m:dPr>
                        <m:ctrlPr>
                          <a:rPr lang="en-US" sz="4800" i="1">
                            <a:latin typeface="Cambria Math" panose="02040503050406030204" pitchFamily="18" charset="0"/>
                          </a:rPr>
                        </m:ctrlPr>
                      </m:dPr>
                      <m:e>
                        <m:r>
                          <a:rPr lang="en-US" sz="4800" b="0" i="1">
                            <a:latin typeface="Cambria Math" panose="02040503050406030204" pitchFamily="18" charset="0"/>
                          </a:rPr>
                          <m:t>2;1</m:t>
                        </m:r>
                      </m:e>
                    </m:d>
                    <m:r>
                      <a:rPr lang="en-US" sz="4800" b="0" i="1">
                        <a:latin typeface="Cambria Math" panose="02040503050406030204" pitchFamily="18" charset="0"/>
                      </a:rPr>
                      <m:t>,</m:t>
                    </m:r>
                    <m:acc>
                      <m:accPr>
                        <m:chr m:val="⃗"/>
                        <m:ctrlPr>
                          <a:rPr lang="en-US" sz="4800" i="1">
                            <a:latin typeface="Cambria Math" panose="02040503050406030204" pitchFamily="18" charset="0"/>
                          </a:rPr>
                        </m:ctrlPr>
                      </m:accPr>
                      <m:e>
                        <m:r>
                          <a:rPr lang="en-US" sz="4800" b="0" i="1">
                            <a:latin typeface="Cambria Math" panose="02040503050406030204" pitchFamily="18" charset="0"/>
                          </a:rPr>
                          <m:t>𝑣</m:t>
                        </m:r>
                      </m:e>
                    </m:acc>
                    <m:r>
                      <a:rPr lang="en-US" sz="4800" b="0" i="1">
                        <a:latin typeface="Cambria Math" panose="02040503050406030204" pitchFamily="18" charset="0"/>
                      </a:rPr>
                      <m:t>=</m:t>
                    </m:r>
                    <m:d>
                      <m:dPr>
                        <m:ctrlPr>
                          <a:rPr lang="en-US" sz="4800" i="1">
                            <a:latin typeface="Cambria Math" panose="02040503050406030204" pitchFamily="18" charset="0"/>
                          </a:rPr>
                        </m:ctrlPr>
                      </m:dPr>
                      <m:e>
                        <m:r>
                          <a:rPr lang="en-US" sz="4800" b="0" i="1">
                            <a:latin typeface="Cambria Math" panose="02040503050406030204" pitchFamily="18" charset="0"/>
                          </a:rPr>
                          <m:t>3;2</m:t>
                        </m:r>
                      </m:e>
                    </m:d>
                    <m:r>
                      <a:rPr lang="en-US" sz="4800" b="0" i="1">
                        <a:latin typeface="Cambria Math" panose="02040503050406030204" pitchFamily="18" charset="0"/>
                      </a:rPr>
                      <m:t>,</m:t>
                    </m:r>
                    <m:r>
                      <a:rPr lang="en-US" sz="4800" b="0" i="1">
                        <a:latin typeface="Cambria Math" panose="02040503050406030204" pitchFamily="18" charset="0"/>
                      </a:rPr>
                      <m:t>𝐴</m:t>
                    </m:r>
                    <m:d>
                      <m:dPr>
                        <m:ctrlPr>
                          <a:rPr lang="en-US" sz="4800" i="1">
                            <a:latin typeface="Cambria Math" panose="02040503050406030204" pitchFamily="18" charset="0"/>
                          </a:rPr>
                        </m:ctrlPr>
                      </m:dPr>
                      <m:e>
                        <m:r>
                          <a:rPr lang="en-US" sz="4800" b="0" i="1">
                            <a:latin typeface="Cambria Math" panose="02040503050406030204" pitchFamily="18" charset="0"/>
                          </a:rPr>
                          <m:t>1;3</m:t>
                        </m:r>
                      </m:e>
                    </m:d>
                    <m:r>
                      <a:rPr lang="en-US" sz="4800" b="0" i="1">
                        <a:latin typeface="Cambria Math" panose="02040503050406030204" pitchFamily="18" charset="0"/>
                      </a:rPr>
                      <m:t>,</m:t>
                    </m:r>
                    <m:r>
                      <a:rPr lang="en-US" sz="4800" b="0" i="1">
                        <a:latin typeface="Cambria Math" panose="02040503050406030204" pitchFamily="18" charset="0"/>
                      </a:rPr>
                      <m:t>𝐵</m:t>
                    </m:r>
                    <m:d>
                      <m:dPr>
                        <m:ctrlPr>
                          <a:rPr lang="en-US" sz="4800" i="1">
                            <a:latin typeface="Cambria Math" panose="02040503050406030204" pitchFamily="18" charset="0"/>
                          </a:rPr>
                        </m:ctrlPr>
                      </m:dPr>
                      <m:e>
                        <m:r>
                          <a:rPr lang="en-US" sz="4800" b="0" i="1">
                            <a:latin typeface="Cambria Math" panose="02040503050406030204" pitchFamily="18" charset="0"/>
                          </a:rPr>
                          <m:t>−2;1</m:t>
                        </m:r>
                      </m:e>
                    </m:d>
                    <m:r>
                      <a:rPr lang="en-US" sz="4800" b="0" i="1">
                        <a:latin typeface="Cambria Math" panose="02040503050406030204" pitchFamily="18" charset="0"/>
                      </a:rPr>
                      <m:t>.</m:t>
                    </m:r>
                  </m:oMath>
                </a14:m>
                <a:endParaRPr lang="en-US" sz="4800">
                  <a:latin typeface="Tahoma" panose="020B0604030504040204" pitchFamily="34" charset="0"/>
                  <a:ea typeface="Tahoma" panose="020B0604030504040204" pitchFamily="34" charset="0"/>
                  <a:cs typeface="Tahoma" panose="020B0604030504040204" pitchFamily="34" charset="0"/>
                </a:endParaRPr>
              </a:p>
              <a:p>
                <a:pPr>
                  <a:lnSpc>
                    <a:spcPct val="100000"/>
                  </a:lnSpc>
                </a:pPr>
                <a:r>
                  <a:rPr lang="en-US" sz="4800">
                    <a:latin typeface="Tahoma" panose="020B0604030504040204" pitchFamily="34" charset="0"/>
                    <a:ea typeface="Tahoma" panose="020B0604030504040204" pitchFamily="34" charset="0"/>
                    <a:cs typeface="Tahoma" panose="020B0604030504040204" pitchFamily="34" charset="0"/>
                  </a:rPr>
                  <a:t>   	a) Lập phương trình tổng quát của đường thẳng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𝛥</m:t>
                        </m:r>
                      </m:e>
                      <m:sub>
                        <m:r>
                          <a:rPr lang="en-US" sz="4800" i="1">
                            <a:latin typeface="Cambria Math" panose="02040503050406030204" pitchFamily="18" charset="0"/>
                          </a:rPr>
                          <m:t>1</m:t>
                        </m:r>
                      </m:sub>
                    </m:sSub>
                  </m:oMath>
                </a14:m>
                <a:r>
                  <a:rPr lang="en-US" sz="4800">
                    <a:latin typeface="Tahoma" panose="020B0604030504040204" pitchFamily="34" charset="0"/>
                    <a:ea typeface="Tahoma" panose="020B0604030504040204" pitchFamily="34" charset="0"/>
                    <a:cs typeface="Tahoma" panose="020B0604030504040204" pitchFamily="34" charset="0"/>
                  </a:rPr>
                  <a:t> đi qua </a:t>
                </a:r>
                <a14:m>
                  <m:oMath xmlns:m="http://schemas.openxmlformats.org/officeDocument/2006/math">
                    <m:r>
                      <a:rPr lang="en-US" sz="4800" i="1">
                        <a:latin typeface="Cambria Math" panose="02040503050406030204" pitchFamily="18" charset="0"/>
                      </a:rPr>
                      <m:t>𝐴</m:t>
                    </m:r>
                  </m:oMath>
                </a14:m>
                <a:r>
                  <a:rPr lang="en-US" sz="4800">
                    <a:latin typeface="Tahoma" panose="020B0604030504040204" pitchFamily="34" charset="0"/>
                    <a:ea typeface="Tahoma" panose="020B0604030504040204" pitchFamily="34" charset="0"/>
                    <a:cs typeface="Tahoma" panose="020B0604030504040204" pitchFamily="34" charset="0"/>
                  </a:rPr>
                  <a:t> và có vectơ pháp tuyến </a:t>
                </a:r>
                <a14:m>
                  <m:oMath xmlns:m="http://schemas.openxmlformats.org/officeDocument/2006/math">
                    <m:acc>
                      <m:accPr>
                        <m:chr m:val="⃗"/>
                        <m:ctrlPr>
                          <a:rPr lang="en-US" sz="4800" i="1">
                            <a:latin typeface="Cambria Math" panose="02040503050406030204" pitchFamily="18" charset="0"/>
                          </a:rPr>
                        </m:ctrlPr>
                      </m:accPr>
                      <m:e>
                        <m:r>
                          <a:rPr lang="en-US" sz="4800" i="1">
                            <a:latin typeface="Cambria Math" panose="02040503050406030204" pitchFamily="18" charset="0"/>
                          </a:rPr>
                          <m:t>𝑛</m:t>
                        </m:r>
                      </m:e>
                    </m:acc>
                    <m:r>
                      <a:rPr lang="en-US" sz="4800" i="1">
                        <a:latin typeface="Cambria Math" panose="02040503050406030204" pitchFamily="18" charset="0"/>
                      </a:rPr>
                      <m:t>.</m:t>
                    </m:r>
                  </m:oMath>
                </a14:m>
                <a:r>
                  <a:rPr lang="en-US" sz="4800">
                    <a:latin typeface="Tahoma" panose="020B0604030504040204" pitchFamily="34" charset="0"/>
                    <a:ea typeface="Tahoma" panose="020B0604030504040204" pitchFamily="34" charset="0"/>
                    <a:cs typeface="Tahoma" panose="020B0604030504040204" pitchFamily="34" charset="0"/>
                  </a:rPr>
                  <a:t> </a:t>
                </a:r>
              </a:p>
              <a:p>
                <a:pPr>
                  <a:lnSpc>
                    <a:spcPct val="100000"/>
                  </a:lnSpc>
                </a:pPr>
                <a:r>
                  <a:rPr lang="en-US" sz="4800">
                    <a:latin typeface="Tahoma" panose="020B0604030504040204" pitchFamily="34" charset="0"/>
                    <a:ea typeface="Tahoma" panose="020B0604030504040204" pitchFamily="34" charset="0"/>
                    <a:cs typeface="Tahoma" panose="020B0604030504040204" pitchFamily="34" charset="0"/>
                  </a:rPr>
                  <a:t>   	b) Lập phương trình tham số của đường thẳng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𝛥</m:t>
                        </m:r>
                      </m:e>
                      <m:sub>
                        <m:r>
                          <a:rPr lang="en-US" sz="4800" i="1">
                            <a:latin typeface="Cambria Math" panose="02040503050406030204" pitchFamily="18" charset="0"/>
                          </a:rPr>
                          <m:t>2</m:t>
                        </m:r>
                      </m:sub>
                    </m:sSub>
                  </m:oMath>
                </a14:m>
                <a:r>
                  <a:rPr lang="en-US" sz="4800">
                    <a:latin typeface="Tahoma" panose="020B0604030504040204" pitchFamily="34" charset="0"/>
                    <a:ea typeface="Tahoma" panose="020B0604030504040204" pitchFamily="34" charset="0"/>
                    <a:cs typeface="Tahoma" panose="020B0604030504040204" pitchFamily="34" charset="0"/>
                  </a:rPr>
                  <a:t> đi qua </a:t>
                </a:r>
                <a14:m>
                  <m:oMath xmlns:m="http://schemas.openxmlformats.org/officeDocument/2006/math">
                    <m:r>
                      <a:rPr lang="en-US" sz="4800" i="1">
                        <a:latin typeface="Cambria Math" panose="02040503050406030204" pitchFamily="18" charset="0"/>
                      </a:rPr>
                      <m:t>𝐵</m:t>
                    </m:r>
                  </m:oMath>
                </a14:m>
                <a:r>
                  <a:rPr lang="en-US" sz="4800">
                    <a:latin typeface="Tahoma" panose="020B0604030504040204" pitchFamily="34" charset="0"/>
                    <a:ea typeface="Tahoma" panose="020B0604030504040204" pitchFamily="34" charset="0"/>
                    <a:cs typeface="Tahoma" panose="020B0604030504040204" pitchFamily="34" charset="0"/>
                  </a:rPr>
                  <a:t> và có vectơ chỉ phương </a:t>
                </a:r>
                <a14:m>
                  <m:oMath xmlns:m="http://schemas.openxmlformats.org/officeDocument/2006/math">
                    <m:acc>
                      <m:accPr>
                        <m:chr m:val="⃗"/>
                        <m:ctrlPr>
                          <a:rPr lang="en-US" sz="4800" i="1">
                            <a:latin typeface="Cambria Math" panose="02040503050406030204" pitchFamily="18" charset="0"/>
                          </a:rPr>
                        </m:ctrlPr>
                      </m:accPr>
                      <m:e>
                        <m:r>
                          <a:rPr lang="en-US" sz="4800" i="1">
                            <a:latin typeface="Cambria Math" panose="02040503050406030204" pitchFamily="18" charset="0"/>
                          </a:rPr>
                          <m:t>𝑣</m:t>
                        </m:r>
                      </m:e>
                    </m:acc>
                    <m:r>
                      <a:rPr lang="en-US" sz="4800" i="1">
                        <a:latin typeface="Cambria Math" panose="02040503050406030204" pitchFamily="18" charset="0"/>
                      </a:rPr>
                      <m:t>.</m:t>
                    </m:r>
                  </m:oMath>
                </a14:m>
                <a:r>
                  <a:rPr lang="en-US" sz="4800">
                    <a:latin typeface="Tahoma" panose="020B0604030504040204" pitchFamily="34" charset="0"/>
                    <a:ea typeface="Tahoma" panose="020B0604030504040204" pitchFamily="34" charset="0"/>
                    <a:cs typeface="Tahoma" panose="020B0604030504040204" pitchFamily="34" charset="0"/>
                  </a:rPr>
                  <a:t> </a:t>
                </a:r>
              </a:p>
              <a:p>
                <a:pPr>
                  <a:lnSpc>
                    <a:spcPct val="100000"/>
                  </a:lnSpc>
                </a:pPr>
                <a:r>
                  <a:rPr lang="en-US" sz="4800">
                    <a:latin typeface="Tahoma" panose="020B0604030504040204" pitchFamily="34" charset="0"/>
                    <a:ea typeface="Tahoma" panose="020B0604030504040204" pitchFamily="34" charset="0"/>
                    <a:cs typeface="Tahoma" panose="020B0604030504040204" pitchFamily="34" charset="0"/>
                  </a:rPr>
                  <a:t>   	c) Lập phương trình tham số của đường thẳng </a:t>
                </a:r>
                <a14:m>
                  <m:oMath xmlns:m="http://schemas.openxmlformats.org/officeDocument/2006/math">
                    <m:r>
                      <a:rPr lang="en-US" sz="4800" i="1">
                        <a:latin typeface="Cambria Math" panose="02040503050406030204" pitchFamily="18" charset="0"/>
                      </a:rPr>
                      <m:t>𝐴𝐵</m:t>
                    </m:r>
                    <m:r>
                      <a:rPr lang="en-US" sz="4800" i="1">
                        <a:latin typeface="Cambria Math" panose="02040503050406030204" pitchFamily="18" charset="0"/>
                      </a:rPr>
                      <m:t>.</m:t>
                    </m:r>
                  </m:oMath>
                </a14:m>
                <a:endParaRPr lang="en-US" sz="480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838200" y="1879600"/>
                <a:ext cx="23164800" cy="6807200"/>
              </a:xfrm>
              <a:prstGeom prst="rect">
                <a:avLst/>
              </a:prstGeom>
              <a:blipFill>
                <a:blip r:embed="rId3"/>
                <a:stretch>
                  <a:fillRect l="-1184" r="-1473"/>
                </a:stretch>
              </a:blipFill>
              <a:ln>
                <a:solidFill>
                  <a:schemeClr val="tx2">
                    <a:lumMod val="20000"/>
                    <a:lumOff val="80000"/>
                  </a:schemeClr>
                </a:solidFill>
              </a:ln>
            </p:spPr>
            <p:txBody>
              <a:bodyPr/>
              <a:lstStyle/>
              <a:p>
                <a:r>
                  <a:rPr lang="en-US">
                    <a:noFill/>
                  </a:rPr>
                  <a:t> </a:t>
                </a:r>
              </a:p>
            </p:txBody>
          </p:sp>
        </mc:Fallback>
      </mc:AlternateContent>
      <p:sp>
        <p:nvSpPr>
          <p:cNvPr id="3" name="Rectangle 7">
            <a:extLst>
              <a:ext uri="{FF2B5EF4-FFF2-40B4-BE49-F238E27FC236}">
                <a16:creationId xmlns:a16="http://schemas.microsoft.com/office/drawing/2014/main" id="{331DD36C-2757-4762-8AC6-F5DBBC77921A}"/>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8" name="Group 7">
            <a:extLst>
              <a:ext uri="{FF2B5EF4-FFF2-40B4-BE49-F238E27FC236}">
                <a16:creationId xmlns:a16="http://schemas.microsoft.com/office/drawing/2014/main" id="{B504E318-24BB-4CD7-BB8B-7A7FD6EFC9A6}"/>
              </a:ext>
            </a:extLst>
          </p:cNvPr>
          <p:cNvGrpSpPr/>
          <p:nvPr/>
        </p:nvGrpSpPr>
        <p:grpSpPr>
          <a:xfrm>
            <a:off x="400878" y="2057400"/>
            <a:ext cx="3989314" cy="1183262"/>
            <a:chOff x="22440" y="44679"/>
            <a:chExt cx="953655" cy="252442"/>
          </a:xfrm>
        </p:grpSpPr>
        <p:grpSp>
          <p:nvGrpSpPr>
            <p:cNvPr id="9" name="Group 8">
              <a:extLst>
                <a:ext uri="{FF2B5EF4-FFF2-40B4-BE49-F238E27FC236}">
                  <a16:creationId xmlns:a16="http://schemas.microsoft.com/office/drawing/2014/main" id="{FDC68754-63F0-4F7E-BF0F-CF4C7FC43BD9}"/>
                </a:ext>
              </a:extLst>
            </p:cNvPr>
            <p:cNvGrpSpPr/>
            <p:nvPr/>
          </p:nvGrpSpPr>
          <p:grpSpPr>
            <a:xfrm>
              <a:off x="22440" y="59287"/>
              <a:ext cx="953655" cy="159667"/>
              <a:chOff x="31572" y="60276"/>
              <a:chExt cx="1341810" cy="197595"/>
            </a:xfrm>
          </p:grpSpPr>
          <p:sp>
            <p:nvSpPr>
              <p:cNvPr id="11" name="Arrow: Pentagon 10">
                <a:extLst>
                  <a:ext uri="{FF2B5EF4-FFF2-40B4-BE49-F238E27FC236}">
                    <a16:creationId xmlns:a16="http://schemas.microsoft.com/office/drawing/2014/main" id="{D8C14C53-8D9E-417E-B098-34003D0DA14B}"/>
                  </a:ext>
                </a:extLst>
              </p:cNvPr>
              <p:cNvSpPr/>
              <p:nvPr/>
            </p:nvSpPr>
            <p:spPr>
              <a:xfrm>
                <a:off x="204506" y="61809"/>
                <a:ext cx="1168876" cy="19606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0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Arrow: Chevron 11">
                <a:extLst>
                  <a:ext uri="{FF2B5EF4-FFF2-40B4-BE49-F238E27FC236}">
                    <a16:creationId xmlns:a16="http://schemas.microsoft.com/office/drawing/2014/main" id="{FA9FB4E4-6405-44ED-A90D-8702A3961A6F}"/>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endParaRPr lang="en-US"/>
              </a:p>
            </p:txBody>
          </p:sp>
          <p:sp>
            <p:nvSpPr>
              <p:cNvPr id="13" name="Arrow: Chevron 12">
                <a:extLst>
                  <a:ext uri="{FF2B5EF4-FFF2-40B4-BE49-F238E27FC236}">
                    <a16:creationId xmlns:a16="http://schemas.microsoft.com/office/drawing/2014/main" id="{8A893702-EF7F-408F-9B85-BEC4F3DC83BB}"/>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endParaRPr lang="en-US"/>
              </a:p>
            </p:txBody>
          </p:sp>
        </p:grpSp>
        <p:sp>
          <p:nvSpPr>
            <p:cNvPr id="10" name="TextBox 56">
              <a:extLst>
                <a:ext uri="{FF2B5EF4-FFF2-40B4-BE49-F238E27FC236}">
                  <a16:creationId xmlns:a16="http://schemas.microsoft.com/office/drawing/2014/main" id="{EECC6C12-623A-4D3F-8074-3772DF5FD55E}"/>
                </a:ext>
              </a:extLst>
            </p:cNvPr>
            <p:cNvSpPr txBox="1"/>
            <p:nvPr/>
          </p:nvSpPr>
          <p:spPr>
            <a:xfrm>
              <a:off x="267457" y="44679"/>
              <a:ext cx="580215" cy="252442"/>
            </a:xfrm>
            <a:prstGeom prst="rect">
              <a:avLst/>
            </a:prstGeom>
            <a:noFill/>
          </p:spPr>
          <p:txBody>
            <a:bodyPr wrap="square">
              <a:noAutofit/>
            </a:bodyPr>
            <a:lstStyle/>
            <a:p>
              <a:pPr marL="0" marR="0">
                <a:lnSpc>
                  <a:spcPct val="107000"/>
                </a:lnSpc>
                <a:spcBef>
                  <a:spcPts val="0"/>
                </a:spcBef>
                <a:spcAft>
                  <a:spcPts val="800"/>
                </a:spcAft>
              </a:pPr>
              <a:r>
                <a:rPr lang="en-US" sz="4800" b="1" kern="1200">
                  <a:solidFill>
                    <a:srgbClr val="0000CC"/>
                  </a:solidFill>
                  <a:effectLst/>
                  <a:latin typeface="Tahoma" panose="020B0604030504040204" pitchFamily="34" charset="0"/>
                  <a:ea typeface="Tahoma" panose="020B0604030504040204" pitchFamily="34" charset="0"/>
                  <a:cs typeface="Tahoma" panose="020B0604030504040204" pitchFamily="34" charset="0"/>
                </a:rPr>
                <a:t>Bài tập</a:t>
              </a:r>
              <a:r>
                <a:rPr lang="en-US" sz="1200" b="1" kern="1200">
                  <a:solidFill>
                    <a:srgbClr val="0000CC"/>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4" name="Rectangle 10">
            <a:extLst>
              <a:ext uri="{FF2B5EF4-FFF2-40B4-BE49-F238E27FC236}">
                <a16:creationId xmlns:a16="http://schemas.microsoft.com/office/drawing/2014/main" id="{75B83596-23B8-4650-9517-74C0A031E4BF}"/>
              </a:ext>
            </a:extLst>
          </p:cNvPr>
          <p:cNvSpPr>
            <a:spLocks noChangeArrowheads="1"/>
          </p:cNvSpPr>
          <p:nvPr/>
        </p:nvSpPr>
        <p:spPr bwMode="auto">
          <a:xfrm>
            <a:off x="0" y="709613"/>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95E04BED-9746-4EFE-BE6F-19440E01284E}"/>
                  </a:ext>
                </a:extLst>
              </p:cNvPr>
              <p:cNvSpPr txBox="1">
                <a:spLocks/>
              </p:cNvSpPr>
              <p:nvPr/>
            </p:nvSpPr>
            <p:spPr>
              <a:xfrm>
                <a:off x="842647" y="8991600"/>
                <a:ext cx="23145113" cy="426721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en-US" b="1">
                    <a:latin typeface="Tahoma" panose="020B0604030504040204" pitchFamily="34" charset="0"/>
                    <a:ea typeface="Tahoma" panose="020B0604030504040204" pitchFamily="34" charset="0"/>
                    <a:cs typeface="Tahoma" panose="020B0604030504040204" pitchFamily="34" charset="0"/>
                  </a:rPr>
                  <a:t>Giải</a:t>
                </a:r>
                <a:endParaRPr lang="en-US">
                  <a:latin typeface="Tahoma" panose="020B0604030504040204" pitchFamily="34" charset="0"/>
                  <a:ea typeface="Tahoma" panose="020B0604030504040204" pitchFamily="34" charset="0"/>
                  <a:cs typeface="Tahoma" panose="020B0604030504040204" pitchFamily="34" charset="0"/>
                </a:endParaRPr>
              </a:p>
              <a:p>
                <a:pPr marL="0" indent="0">
                  <a:buNone/>
                </a:pPr>
                <a:r>
                  <a:rPr lang="en-US">
                    <a:latin typeface="Tahoma" panose="020B0604030504040204" pitchFamily="34" charset="0"/>
                    <a:ea typeface="Tahoma" panose="020B0604030504040204" pitchFamily="34" charset="0"/>
                    <a:cs typeface="Tahoma" panose="020B0604030504040204" pitchFamily="34" charset="0"/>
                  </a:rPr>
                  <a:t>     	c) Đường thẳng </a:t>
                </a:r>
                <a14:m>
                  <m:oMath xmlns:m="http://schemas.openxmlformats.org/officeDocument/2006/math">
                    <m:r>
                      <a:rPr lang="en-US" i="1">
                        <a:latin typeface="Cambria Math" panose="02040503050406030204" pitchFamily="18" charset="0"/>
                      </a:rPr>
                      <m:t>𝐴𝐵</m:t>
                    </m:r>
                  </m:oMath>
                </a14:m>
                <a:r>
                  <a:rPr lang="en-US">
                    <a:latin typeface="Tahoma" panose="020B0604030504040204" pitchFamily="34" charset="0"/>
                    <a:ea typeface="Tahoma" panose="020B0604030504040204" pitchFamily="34" charset="0"/>
                    <a:cs typeface="Tahoma" panose="020B0604030504040204" pitchFamily="34" charset="0"/>
                  </a:rPr>
                  <a:t> đi qua điểm </a:t>
                </a:r>
                <a14:m>
                  <m:oMath xmlns:m="http://schemas.openxmlformats.org/officeDocument/2006/math">
                    <m:r>
                      <a:rPr lang="en-US" i="1">
                        <a:latin typeface="Cambria Math" panose="02040503050406030204" pitchFamily="18" charset="0"/>
                      </a:rPr>
                      <m:t>𝐴</m:t>
                    </m:r>
                  </m:oMath>
                </a14:m>
                <a:r>
                  <a:rPr lang="en-US">
                    <a:latin typeface="Tahoma" panose="020B0604030504040204" pitchFamily="34" charset="0"/>
                    <a:ea typeface="Tahoma" panose="020B0604030504040204" pitchFamily="34" charset="0"/>
                    <a:cs typeface="Tahoma" panose="020B0604030504040204" pitchFamily="34" charset="0"/>
                  </a:rPr>
                  <a:t> và có vectơ chỉ phương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𝐴𝐵</m:t>
                        </m:r>
                      </m:e>
                    </m:acc>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−3;−2</m:t>
                        </m:r>
                      </m:e>
                    </m:d>
                  </m:oMath>
                </a14:m>
                <a:r>
                  <a:rPr lang="en-US">
                    <a:latin typeface="Tahoma" panose="020B0604030504040204" pitchFamily="34" charset="0"/>
                    <a:ea typeface="Tahoma" panose="020B0604030504040204" pitchFamily="34" charset="0"/>
                    <a:cs typeface="Tahoma" panose="020B0604030504040204" pitchFamily="34" charset="0"/>
                  </a:rPr>
                  <a:t> là</a:t>
                </a:r>
              </a:p>
              <a:p>
                <a:pPr marL="0" indent="0">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𝑥</m:t>
                              </m:r>
                              <m:r>
                                <a:rPr lang="en-US" i="1">
                                  <a:latin typeface="Cambria Math" panose="02040503050406030204" pitchFamily="18" charset="0"/>
                                </a:rPr>
                                <m:t>=1−3</m:t>
                              </m:r>
                              <m:r>
                                <a:rPr lang="en-US" i="1">
                                  <a:latin typeface="Cambria Math" panose="02040503050406030204" pitchFamily="18" charset="0"/>
                                </a:rPr>
                                <m:t>𝑡</m:t>
                              </m:r>
                            </m:e>
                            <m:e>
                              <m:r>
                                <a:rPr lang="en-US" i="1">
                                  <a:latin typeface="Cambria Math" panose="02040503050406030204" pitchFamily="18" charset="0"/>
                                </a:rPr>
                                <m:t>𝑦</m:t>
                              </m:r>
                              <m:r>
                                <a:rPr lang="en-US" i="1">
                                  <a:latin typeface="Cambria Math" panose="02040503050406030204" pitchFamily="18" charset="0"/>
                                </a:rPr>
                                <m:t>=3−2</m:t>
                              </m:r>
                              <m:r>
                                <a:rPr lang="en-US" i="1">
                                  <a:latin typeface="Cambria Math" panose="02040503050406030204" pitchFamily="18" charset="0"/>
                                </a:rPr>
                                <m:t>𝑡</m:t>
                              </m:r>
                              <m:r>
                                <a:rPr lang="en-US" i="1">
                                  <a:latin typeface="Cambria Math" panose="02040503050406030204" pitchFamily="18" charset="0"/>
                                </a:rPr>
                                <m:t>.</m:t>
                              </m:r>
                            </m:e>
                          </m:eqArr>
                        </m:e>
                      </m:d>
                    </m:oMath>
                  </m:oMathPara>
                </a14:m>
                <a:endParaRPr lang="en-US">
                  <a:latin typeface="Tahoma" panose="020B0604030504040204" pitchFamily="34" charset="0"/>
                  <a:ea typeface="Tahoma" panose="020B0604030504040204" pitchFamily="34" charset="0"/>
                  <a:cs typeface="Tahoma" panose="020B0604030504040204" pitchFamily="34" charset="0"/>
                </a:endParaRPr>
              </a:p>
              <a:p>
                <a:pPr marL="0" indent="0">
                  <a:lnSpc>
                    <a:spcPct val="150000"/>
                  </a:lnSpc>
                  <a:buNone/>
                </a:pPr>
                <a:endParaRPr lang="en-US"/>
              </a:p>
            </p:txBody>
          </p:sp>
        </mc:Choice>
        <mc:Fallback xmlns="">
          <p:sp>
            <p:nvSpPr>
              <p:cNvPr id="14" name="Content Placeholder 2">
                <a:extLst>
                  <a:ext uri="{FF2B5EF4-FFF2-40B4-BE49-F238E27FC236}">
                    <a16:creationId xmlns:a16="http://schemas.microsoft.com/office/drawing/2014/main" id="{95E04BED-9746-4EFE-BE6F-19440E01284E}"/>
                  </a:ext>
                </a:extLst>
              </p:cNvPr>
              <p:cNvSpPr txBox="1">
                <a:spLocks noRot="1" noChangeAspect="1" noMove="1" noResize="1" noEditPoints="1" noAdjustHandles="1" noChangeArrowheads="1" noChangeShapeType="1" noTextEdit="1"/>
              </p:cNvSpPr>
              <p:nvPr/>
            </p:nvSpPr>
            <p:spPr>
              <a:xfrm>
                <a:off x="842647" y="8991600"/>
                <a:ext cx="23145113" cy="4267216"/>
              </a:xfrm>
              <a:prstGeom prst="rect">
                <a:avLst/>
              </a:prstGeom>
              <a:blipFill>
                <a:blip r:embed="rId4"/>
                <a:stretch>
                  <a:fillRect t="-4843"/>
                </a:stretch>
              </a:blipFill>
              <a:ln>
                <a:solidFill>
                  <a:srgbClr val="00B0F0"/>
                </a:solidFill>
              </a:ln>
            </p:spPr>
            <p:txBody>
              <a:bodyPr/>
              <a:lstStyle/>
              <a:p>
                <a:r>
                  <a:rPr lang="en-US">
                    <a:noFill/>
                  </a:rPr>
                  <a:t> </a:t>
                </a:r>
              </a:p>
            </p:txBody>
          </p:sp>
        </mc:Fallback>
      </mc:AlternateContent>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64318896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wipe(up)">
                                      <p:cBhvr>
                                        <p:cTn id="12" dur="500"/>
                                        <p:tgtEl>
                                          <p:spTgt spid="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
                                            <p:txEl>
                                              <p:pRg st="1" end="1"/>
                                            </p:txEl>
                                          </p:spTgt>
                                        </p:tgtEl>
                                        <p:attrNameLst>
                                          <p:attrName>style.visibility</p:attrName>
                                        </p:attrNameLst>
                                      </p:cBhvr>
                                      <p:to>
                                        <p:strVal val="visible"/>
                                      </p:to>
                                    </p:set>
                                    <p:animEffect transition="in" filter="wipe(up)">
                                      <p:cBhvr>
                                        <p:cTn id="17" dur="500"/>
                                        <p:tgtEl>
                                          <p:spTgt spid="1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4">
                                            <p:txEl>
                                              <p:pRg st="2" end="2"/>
                                            </p:txEl>
                                          </p:spTgt>
                                        </p:tgtEl>
                                        <p:attrNameLst>
                                          <p:attrName>style.visibility</p:attrName>
                                        </p:attrNameLst>
                                      </p:cBhvr>
                                      <p:to>
                                        <p:strVal val="visible"/>
                                      </p:to>
                                    </p:set>
                                    <p:animEffect transition="in" filter="wipe(up)">
                                      <p:cBhvr>
                                        <p:cTn id="22" dur="5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7">
            <a:extLst>
              <a:ext uri="{FF2B5EF4-FFF2-40B4-BE49-F238E27FC236}">
                <a16:creationId xmlns:a16="http://schemas.microsoft.com/office/drawing/2014/main" id="{331DD36C-2757-4762-8AC6-F5DBBC77921A}"/>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10">
            <a:extLst>
              <a:ext uri="{FF2B5EF4-FFF2-40B4-BE49-F238E27FC236}">
                <a16:creationId xmlns:a16="http://schemas.microsoft.com/office/drawing/2014/main" id="{75B83596-23B8-4650-9517-74C0A031E4BF}"/>
              </a:ext>
            </a:extLst>
          </p:cNvPr>
          <p:cNvSpPr>
            <a:spLocks noChangeArrowheads="1"/>
          </p:cNvSpPr>
          <p:nvPr/>
        </p:nvSpPr>
        <p:spPr bwMode="auto">
          <a:xfrm>
            <a:off x="0" y="709613"/>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95E04BED-9746-4EFE-BE6F-19440E01284E}"/>
                  </a:ext>
                </a:extLst>
              </p:cNvPr>
              <p:cNvSpPr txBox="1">
                <a:spLocks/>
              </p:cNvSpPr>
              <p:nvPr/>
            </p:nvSpPr>
            <p:spPr>
              <a:xfrm>
                <a:off x="857887" y="5665787"/>
                <a:ext cx="23145113" cy="591853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en-US" b="1">
                    <a:latin typeface="Tahoma" panose="020B0604030504040204" pitchFamily="34" charset="0"/>
                    <a:ea typeface="Tahoma" panose="020B0604030504040204" pitchFamily="34" charset="0"/>
                    <a:cs typeface="Tahoma" panose="020B0604030504040204" pitchFamily="34" charset="0"/>
                  </a:rPr>
                  <a:t>Giải</a:t>
                </a:r>
                <a:endParaRPr lang="en-US">
                  <a:latin typeface="Tahoma" panose="020B0604030504040204" pitchFamily="34" charset="0"/>
                  <a:ea typeface="Tahoma" panose="020B0604030504040204" pitchFamily="34" charset="0"/>
                  <a:cs typeface="Tahoma" panose="020B0604030504040204" pitchFamily="34" charset="0"/>
                </a:endParaRPr>
              </a:p>
              <a:p>
                <a:pPr marL="0" indent="0">
                  <a:buNone/>
                </a:pPr>
                <a:r>
                  <a:rPr lang="en-US">
                    <a:latin typeface="Tahoma" panose="020B0604030504040204" pitchFamily="34" charset="0"/>
                    <a:ea typeface="Tahoma" panose="020B0604030504040204" pitchFamily="34" charset="0"/>
                    <a:cs typeface="Tahoma" panose="020B0604030504040204" pitchFamily="34" charset="0"/>
                  </a:rPr>
                  <a:t>     Phương trình trục </a:t>
                </a:r>
                <a14:m>
                  <m:oMath xmlns:m="http://schemas.openxmlformats.org/officeDocument/2006/math">
                    <m:r>
                      <a:rPr lang="en-US" i="1">
                        <a:latin typeface="Cambria Math" panose="02040503050406030204" pitchFamily="18" charset="0"/>
                      </a:rPr>
                      <m:t>𝑂𝑥</m:t>
                    </m:r>
                  </m:oMath>
                </a14:m>
                <a:r>
                  <a:rPr lang="en-US">
                    <a:latin typeface="Tahoma" panose="020B0604030504040204" pitchFamily="34" charset="0"/>
                    <a:ea typeface="Tahoma" panose="020B0604030504040204" pitchFamily="34" charset="0"/>
                    <a:cs typeface="Tahoma" panose="020B0604030504040204" pitchFamily="34" charset="0"/>
                  </a:rPr>
                  <a:t> đi qua điểm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r>
                          <a:rPr lang="en-US" i="1">
                            <a:latin typeface="Cambria Math" panose="02040503050406030204" pitchFamily="18" charset="0"/>
                          </a:rPr>
                          <m:t>0;0</m:t>
                        </m:r>
                      </m:e>
                    </m:d>
                  </m:oMath>
                </a14:m>
                <a:r>
                  <a:rPr lang="en-US">
                    <a:latin typeface="Tahoma" panose="020B0604030504040204" pitchFamily="34" charset="0"/>
                    <a:ea typeface="Tahoma" panose="020B0604030504040204" pitchFamily="34" charset="0"/>
                    <a:cs typeface="Tahoma" panose="020B0604030504040204" pitchFamily="34" charset="0"/>
                  </a:rPr>
                  <a:t> và nhận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𝑗</m:t>
                        </m:r>
                      </m:e>
                    </m:acc>
                    <m:r>
                      <a:rPr lang="en-US" i="1">
                        <a:latin typeface="Cambria Math" panose="02040503050406030204" pitchFamily="18" charset="0"/>
                      </a:rPr>
                      <m:t>=(0;1)</m:t>
                    </m:r>
                  </m:oMath>
                </a14:m>
                <a:r>
                  <a:rPr lang="en-US">
                    <a:latin typeface="Tahoma" panose="020B0604030504040204" pitchFamily="34" charset="0"/>
                    <a:ea typeface="Tahoma" panose="020B0604030504040204" pitchFamily="34" charset="0"/>
                    <a:cs typeface="Tahoma" panose="020B0604030504040204" pitchFamily="34" charset="0"/>
                  </a:rPr>
                  <a:t> làm vectơ pháp tuyến có phương trình là</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𝑦</m:t>
                      </m:r>
                      <m:r>
                        <a:rPr lang="en-US" i="1">
                          <a:latin typeface="Cambria Math" panose="02040503050406030204" pitchFamily="18" charset="0"/>
                        </a:rPr>
                        <m:t>=0.</m:t>
                      </m:r>
                    </m:oMath>
                  </m:oMathPara>
                </a14:m>
                <a:endParaRPr lang="en-US">
                  <a:latin typeface="Tahoma" panose="020B0604030504040204" pitchFamily="34" charset="0"/>
                  <a:ea typeface="Tahoma" panose="020B0604030504040204" pitchFamily="34" charset="0"/>
                  <a:cs typeface="Tahoma" panose="020B0604030504040204" pitchFamily="34" charset="0"/>
                </a:endParaRPr>
              </a:p>
              <a:p>
                <a:pPr marL="0" indent="0">
                  <a:buNone/>
                </a:pPr>
                <a:r>
                  <a:rPr lang="en-US">
                    <a:latin typeface="Tahoma" panose="020B0604030504040204" pitchFamily="34" charset="0"/>
                    <a:ea typeface="Tahoma" panose="020B0604030504040204" pitchFamily="34" charset="0"/>
                    <a:cs typeface="Tahoma" panose="020B0604030504040204" pitchFamily="34" charset="0"/>
                  </a:rPr>
                  <a:t>     Phương trình trục </a:t>
                </a:r>
                <a14:m>
                  <m:oMath xmlns:m="http://schemas.openxmlformats.org/officeDocument/2006/math">
                    <m:r>
                      <a:rPr lang="en-US" i="1">
                        <a:latin typeface="Cambria Math" panose="02040503050406030204" pitchFamily="18" charset="0"/>
                      </a:rPr>
                      <m:t>𝑂𝑦</m:t>
                    </m:r>
                  </m:oMath>
                </a14:m>
                <a:r>
                  <a:rPr lang="en-US">
                    <a:latin typeface="Tahoma" panose="020B0604030504040204" pitchFamily="34" charset="0"/>
                    <a:ea typeface="Tahoma" panose="020B0604030504040204" pitchFamily="34" charset="0"/>
                    <a:cs typeface="Tahoma" panose="020B0604030504040204" pitchFamily="34" charset="0"/>
                  </a:rPr>
                  <a:t> đi qua điểm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r>
                          <a:rPr lang="en-US" i="1">
                            <a:latin typeface="Cambria Math" panose="02040503050406030204" pitchFamily="18" charset="0"/>
                          </a:rPr>
                          <m:t>0;0</m:t>
                        </m:r>
                      </m:e>
                    </m:d>
                  </m:oMath>
                </a14:m>
                <a:r>
                  <a:rPr lang="en-US">
                    <a:latin typeface="Tahoma" panose="020B0604030504040204" pitchFamily="34" charset="0"/>
                    <a:ea typeface="Tahoma" panose="020B0604030504040204" pitchFamily="34" charset="0"/>
                    <a:cs typeface="Tahoma" panose="020B0604030504040204" pitchFamily="34" charset="0"/>
                  </a:rPr>
                  <a:t> và nhận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𝑖</m:t>
                        </m:r>
                      </m:e>
                    </m:acc>
                    <m:r>
                      <a:rPr lang="en-US" i="1">
                        <a:latin typeface="Cambria Math" panose="02040503050406030204" pitchFamily="18" charset="0"/>
                      </a:rPr>
                      <m:t>=(1;0)</m:t>
                    </m:r>
                  </m:oMath>
                </a14:m>
                <a:r>
                  <a:rPr lang="en-US">
                    <a:latin typeface="Tahoma" panose="020B0604030504040204" pitchFamily="34" charset="0"/>
                    <a:ea typeface="Tahoma" panose="020B0604030504040204" pitchFamily="34" charset="0"/>
                    <a:cs typeface="Tahoma" panose="020B0604030504040204" pitchFamily="34" charset="0"/>
                  </a:rPr>
                  <a:t> làm vectơ pháp tuyến có phương trình là</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=0.</m:t>
                      </m:r>
                    </m:oMath>
                  </m:oMathPara>
                </a14:m>
                <a:endParaRPr lang="en-US">
                  <a:latin typeface="Tahoma" panose="020B0604030504040204" pitchFamily="34" charset="0"/>
                  <a:ea typeface="Tahoma" panose="020B0604030504040204" pitchFamily="34" charset="0"/>
                  <a:cs typeface="Tahoma" panose="020B0604030504040204" pitchFamily="34" charset="0"/>
                </a:endParaRPr>
              </a:p>
              <a:p>
                <a:pPr marL="0" indent="0">
                  <a:lnSpc>
                    <a:spcPct val="150000"/>
                  </a:lnSpc>
                  <a:buNone/>
                </a:pPr>
                <a:endParaRPr lang="en-US"/>
              </a:p>
            </p:txBody>
          </p:sp>
        </mc:Choice>
        <mc:Fallback xmlns="">
          <p:sp>
            <p:nvSpPr>
              <p:cNvPr id="14" name="Content Placeholder 2">
                <a:extLst>
                  <a:ext uri="{FF2B5EF4-FFF2-40B4-BE49-F238E27FC236}">
                    <a16:creationId xmlns:a16="http://schemas.microsoft.com/office/drawing/2014/main" id="{95E04BED-9746-4EFE-BE6F-19440E01284E}"/>
                  </a:ext>
                </a:extLst>
              </p:cNvPr>
              <p:cNvSpPr txBox="1">
                <a:spLocks noRot="1" noChangeAspect="1" noMove="1" noResize="1" noEditPoints="1" noAdjustHandles="1" noChangeArrowheads="1" noChangeShapeType="1" noTextEdit="1"/>
              </p:cNvSpPr>
              <p:nvPr/>
            </p:nvSpPr>
            <p:spPr>
              <a:xfrm>
                <a:off x="857887" y="5665787"/>
                <a:ext cx="23145113" cy="5918536"/>
              </a:xfrm>
              <a:prstGeom prst="rect">
                <a:avLst/>
              </a:prstGeom>
              <a:blipFill>
                <a:blip r:embed="rId3"/>
                <a:stretch>
                  <a:fillRect l="-1185" t="-3494"/>
                </a:stretch>
              </a:blipFill>
              <a:ln>
                <a:solidFill>
                  <a:srgbClr val="00B0F0"/>
                </a:solidFill>
              </a:ln>
            </p:spPr>
            <p:txBody>
              <a:bodyPr/>
              <a:lstStyle/>
              <a:p>
                <a:r>
                  <a:rPr lang="en-US">
                    <a:noFill/>
                  </a:rPr>
                  <a:t> </a:t>
                </a:r>
              </a:p>
            </p:txBody>
          </p:sp>
        </mc:Fallback>
      </mc:AlternateContent>
      <p:sp>
        <p:nvSpPr>
          <p:cNvPr id="17" name="Title 1">
            <a:extLst>
              <a:ext uri="{FF2B5EF4-FFF2-40B4-BE49-F238E27FC236}">
                <a16:creationId xmlns:a16="http://schemas.microsoft.com/office/drawing/2014/main" id="{74F9BD66-E1B7-405E-9C49-3B8EC28C3119}"/>
              </a:ext>
            </a:extLst>
          </p:cNvPr>
          <p:cNvSpPr txBox="1">
            <a:spLocks/>
          </p:cNvSpPr>
          <p:nvPr/>
        </p:nvSpPr>
        <p:spPr>
          <a:xfrm>
            <a:off x="838200" y="1879600"/>
            <a:ext cx="23164800" cy="35306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endParaRPr lang="en-US" b="1"/>
          </a:p>
          <a:p>
            <a:endParaRPr lang="en-US" b="1"/>
          </a:p>
          <a:p>
            <a:pPr>
              <a:lnSpc>
                <a:spcPct val="100000"/>
              </a:lnSpc>
            </a:pPr>
            <a:r>
              <a:rPr lang="en-US" b="1"/>
              <a:t>       7.2. </a:t>
            </a:r>
            <a:r>
              <a:rPr lang="en-US" sz="4800">
                <a:latin typeface="Tahoma" panose="020B0604030504040204" pitchFamily="34" charset="0"/>
                <a:ea typeface="Tahoma" panose="020B0604030504040204" pitchFamily="34" charset="0"/>
                <a:cs typeface="Tahoma" panose="020B0604030504040204" pitchFamily="34" charset="0"/>
              </a:rPr>
              <a:t>Lập phương trình tổng quát của các trục tọa độ.</a:t>
            </a:r>
            <a:endParaRPr lang="en-US">
              <a:latin typeface="Tahoma" panose="020B0604030504040204" pitchFamily="34" charset="0"/>
              <a:ea typeface="Tahoma" panose="020B0604030504040204" pitchFamily="34" charset="0"/>
              <a:cs typeface="Tahoma" panose="020B0604030504040204" pitchFamily="34" charset="0"/>
            </a:endParaRPr>
          </a:p>
        </p:txBody>
      </p:sp>
      <p:grpSp>
        <p:nvGrpSpPr>
          <p:cNvPr id="18" name="Group 17">
            <a:extLst>
              <a:ext uri="{FF2B5EF4-FFF2-40B4-BE49-F238E27FC236}">
                <a16:creationId xmlns:a16="http://schemas.microsoft.com/office/drawing/2014/main" id="{DE84E17C-27B3-431C-850F-F57B7D655D26}"/>
              </a:ext>
            </a:extLst>
          </p:cNvPr>
          <p:cNvGrpSpPr/>
          <p:nvPr/>
        </p:nvGrpSpPr>
        <p:grpSpPr>
          <a:xfrm>
            <a:off x="400878" y="2057400"/>
            <a:ext cx="3989314" cy="1183262"/>
            <a:chOff x="22440" y="44679"/>
            <a:chExt cx="953655" cy="252442"/>
          </a:xfrm>
        </p:grpSpPr>
        <p:grpSp>
          <p:nvGrpSpPr>
            <p:cNvPr id="19" name="Group 18">
              <a:extLst>
                <a:ext uri="{FF2B5EF4-FFF2-40B4-BE49-F238E27FC236}">
                  <a16:creationId xmlns:a16="http://schemas.microsoft.com/office/drawing/2014/main" id="{AA60C9BE-2282-4378-92C3-800BEEC2385D}"/>
                </a:ext>
              </a:extLst>
            </p:cNvPr>
            <p:cNvGrpSpPr/>
            <p:nvPr/>
          </p:nvGrpSpPr>
          <p:grpSpPr>
            <a:xfrm>
              <a:off x="22440" y="59287"/>
              <a:ext cx="953655" cy="159667"/>
              <a:chOff x="31572" y="60276"/>
              <a:chExt cx="1341810" cy="197595"/>
            </a:xfrm>
          </p:grpSpPr>
          <p:sp>
            <p:nvSpPr>
              <p:cNvPr id="21" name="Arrow: Pentagon 20">
                <a:extLst>
                  <a:ext uri="{FF2B5EF4-FFF2-40B4-BE49-F238E27FC236}">
                    <a16:creationId xmlns:a16="http://schemas.microsoft.com/office/drawing/2014/main" id="{A5F5C0E7-DF43-4B21-96BA-478BC1C2F9AB}"/>
                  </a:ext>
                </a:extLst>
              </p:cNvPr>
              <p:cNvSpPr/>
              <p:nvPr/>
            </p:nvSpPr>
            <p:spPr>
              <a:xfrm>
                <a:off x="204506" y="61809"/>
                <a:ext cx="1168876" cy="19606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0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2" name="Arrow: Chevron 21">
                <a:extLst>
                  <a:ext uri="{FF2B5EF4-FFF2-40B4-BE49-F238E27FC236}">
                    <a16:creationId xmlns:a16="http://schemas.microsoft.com/office/drawing/2014/main" id="{518F6DE5-B00E-45E7-B8F1-47FD80335114}"/>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endParaRPr lang="en-US"/>
              </a:p>
            </p:txBody>
          </p:sp>
          <p:sp>
            <p:nvSpPr>
              <p:cNvPr id="23" name="Arrow: Chevron 22">
                <a:extLst>
                  <a:ext uri="{FF2B5EF4-FFF2-40B4-BE49-F238E27FC236}">
                    <a16:creationId xmlns:a16="http://schemas.microsoft.com/office/drawing/2014/main" id="{57C817BB-0211-4966-AACE-08D8CFA3E87E}"/>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endParaRPr lang="en-US"/>
              </a:p>
            </p:txBody>
          </p:sp>
        </p:grpSp>
        <p:sp>
          <p:nvSpPr>
            <p:cNvPr id="20" name="TextBox 56">
              <a:extLst>
                <a:ext uri="{FF2B5EF4-FFF2-40B4-BE49-F238E27FC236}">
                  <a16:creationId xmlns:a16="http://schemas.microsoft.com/office/drawing/2014/main" id="{7D6FEC55-2C19-4321-952B-21EE88734680}"/>
                </a:ext>
              </a:extLst>
            </p:cNvPr>
            <p:cNvSpPr txBox="1"/>
            <p:nvPr/>
          </p:nvSpPr>
          <p:spPr>
            <a:xfrm>
              <a:off x="267457" y="44679"/>
              <a:ext cx="580215" cy="252442"/>
            </a:xfrm>
            <a:prstGeom prst="rect">
              <a:avLst/>
            </a:prstGeom>
            <a:noFill/>
          </p:spPr>
          <p:txBody>
            <a:bodyPr wrap="square">
              <a:noAutofit/>
            </a:bodyPr>
            <a:lstStyle/>
            <a:p>
              <a:pPr marL="0" marR="0">
                <a:lnSpc>
                  <a:spcPct val="107000"/>
                </a:lnSpc>
                <a:spcBef>
                  <a:spcPts val="0"/>
                </a:spcBef>
                <a:spcAft>
                  <a:spcPts val="800"/>
                </a:spcAft>
              </a:pPr>
              <a:r>
                <a:rPr lang="en-US" sz="4800" b="1" kern="1200">
                  <a:solidFill>
                    <a:srgbClr val="0000CC"/>
                  </a:solidFill>
                  <a:effectLst/>
                  <a:latin typeface="Tahoma" panose="020B0604030504040204" pitchFamily="34" charset="0"/>
                  <a:ea typeface="Tahoma" panose="020B0604030504040204" pitchFamily="34" charset="0"/>
                  <a:cs typeface="Tahoma" panose="020B0604030504040204" pitchFamily="34" charset="0"/>
                </a:rPr>
                <a:t>Bài tập</a:t>
              </a:r>
              <a:r>
                <a:rPr lang="en-US" sz="1200" b="1" kern="1200">
                  <a:solidFill>
                    <a:srgbClr val="0000CC"/>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39" name="Rounded Rectangle 3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43" name="TextBox 4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45438399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10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animEffect transition="in" filter="wipe(up)">
                                      <p:cBhvr>
                                        <p:cTn id="17" dur="500"/>
                                        <p:tgtEl>
                                          <p:spTgt spid="1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4">
                                            <p:txEl>
                                              <p:pRg st="1" end="1"/>
                                            </p:txEl>
                                          </p:spTgt>
                                        </p:tgtEl>
                                        <p:attrNameLst>
                                          <p:attrName>style.visibility</p:attrName>
                                        </p:attrNameLst>
                                      </p:cBhvr>
                                      <p:to>
                                        <p:strVal val="visible"/>
                                      </p:to>
                                    </p:set>
                                    <p:animEffect transition="in" filter="wipe(up)">
                                      <p:cBhvr>
                                        <p:cTn id="22" dur="500"/>
                                        <p:tgtEl>
                                          <p:spTgt spid="1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4">
                                            <p:txEl>
                                              <p:pRg st="2" end="2"/>
                                            </p:txEl>
                                          </p:spTgt>
                                        </p:tgtEl>
                                        <p:attrNameLst>
                                          <p:attrName>style.visibility</p:attrName>
                                        </p:attrNameLst>
                                      </p:cBhvr>
                                      <p:to>
                                        <p:strVal val="visible"/>
                                      </p:to>
                                    </p:set>
                                    <p:animEffect transition="in" filter="wipe(up)">
                                      <p:cBhvr>
                                        <p:cTn id="27" dur="500"/>
                                        <p:tgtEl>
                                          <p:spTgt spid="14">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4">
                                            <p:txEl>
                                              <p:pRg st="3" end="3"/>
                                            </p:txEl>
                                          </p:spTgt>
                                        </p:tgtEl>
                                        <p:attrNameLst>
                                          <p:attrName>style.visibility</p:attrName>
                                        </p:attrNameLst>
                                      </p:cBhvr>
                                      <p:to>
                                        <p:strVal val="visible"/>
                                      </p:to>
                                    </p:set>
                                    <p:animEffect transition="in" filter="wipe(up)">
                                      <p:cBhvr>
                                        <p:cTn id="32" dur="500"/>
                                        <p:tgtEl>
                                          <p:spTgt spid="14">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4">
                                            <p:txEl>
                                              <p:pRg st="4" end="4"/>
                                            </p:txEl>
                                          </p:spTgt>
                                        </p:tgtEl>
                                        <p:attrNameLst>
                                          <p:attrName>style.visibility</p:attrName>
                                        </p:attrNameLst>
                                      </p:cBhvr>
                                      <p:to>
                                        <p:strVal val="visible"/>
                                      </p:to>
                                    </p:set>
                                    <p:animEffect transition="in" filter="wipe(up)">
                                      <p:cBhvr>
                                        <p:cTn id="37" dur="500"/>
                                        <p:tgtEl>
                                          <p:spTgt spid="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7">
            <a:extLst>
              <a:ext uri="{FF2B5EF4-FFF2-40B4-BE49-F238E27FC236}">
                <a16:creationId xmlns:a16="http://schemas.microsoft.com/office/drawing/2014/main" id="{331DD36C-2757-4762-8AC6-F5DBBC77921A}"/>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10">
            <a:extLst>
              <a:ext uri="{FF2B5EF4-FFF2-40B4-BE49-F238E27FC236}">
                <a16:creationId xmlns:a16="http://schemas.microsoft.com/office/drawing/2014/main" id="{75B83596-23B8-4650-9517-74C0A031E4BF}"/>
              </a:ext>
            </a:extLst>
          </p:cNvPr>
          <p:cNvSpPr>
            <a:spLocks noChangeArrowheads="1"/>
          </p:cNvSpPr>
          <p:nvPr/>
        </p:nvSpPr>
        <p:spPr bwMode="auto">
          <a:xfrm>
            <a:off x="0" y="709613"/>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95E04BED-9746-4EFE-BE6F-19440E01284E}"/>
                  </a:ext>
                </a:extLst>
              </p:cNvPr>
              <p:cNvSpPr txBox="1">
                <a:spLocks/>
              </p:cNvSpPr>
              <p:nvPr/>
            </p:nvSpPr>
            <p:spPr>
              <a:xfrm>
                <a:off x="857887" y="7104273"/>
                <a:ext cx="23145113" cy="5902114"/>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en-US" b="1" dirty="0" smtClean="0">
                    <a:latin typeface="Tahoma" panose="020B0604030504040204" pitchFamily="34" charset="0"/>
                    <a:ea typeface="Tahoma" panose="020B0604030504040204" pitchFamily="34" charset="0"/>
                    <a:cs typeface="Tahoma" panose="020B0604030504040204" pitchFamily="34" charset="0"/>
                  </a:rPr>
                  <a:t>Giải</a:t>
                </a:r>
                <a:endParaRPr lang="en-US" dirty="0">
                  <a:latin typeface="Tahoma" panose="020B0604030504040204" pitchFamily="34" charset="0"/>
                  <a:ea typeface="Tahoma" panose="020B0604030504040204" pitchFamily="34" charset="0"/>
                  <a:cs typeface="Tahoma" panose="020B0604030504040204" pitchFamily="34" charset="0"/>
                </a:endParaRPr>
              </a:p>
              <a:p>
                <a:pPr marL="0" indent="0">
                  <a:lnSpc>
                    <a:spcPct val="150000"/>
                  </a:lnSpc>
                  <a:buNone/>
                </a:pPr>
                <a:r>
                  <a:rPr lang="en-US" dirty="0">
                    <a:latin typeface="Tahoma" panose="020B0604030504040204" pitchFamily="34" charset="0"/>
                    <a:ea typeface="Tahoma" panose="020B0604030504040204" pitchFamily="34" charset="0"/>
                    <a:cs typeface="Tahoma" panose="020B0604030504040204" pitchFamily="34" charset="0"/>
                  </a:rPr>
                  <a:t>	a) </a:t>
                </a:r>
                <a:r>
                  <a:rPr lang="en-US" dirty="0" err="1">
                    <a:latin typeface="Tahoma" panose="020B0604030504040204" pitchFamily="34" charset="0"/>
                    <a:ea typeface="Tahoma" panose="020B0604030504040204" pitchFamily="34" charset="0"/>
                    <a:cs typeface="Tahoma" panose="020B0604030504040204" pitchFamily="34" charset="0"/>
                  </a:rPr>
                  <a:t>Lập</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phương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trình</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tổng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quát</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của</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𝛥</m:t>
                        </m:r>
                      </m:e>
                      <m:sub>
                        <m:r>
                          <a:rPr lang="en-US" i="1">
                            <a:latin typeface="Cambria Math" panose="02040503050406030204" pitchFamily="18" charset="0"/>
                          </a:rPr>
                          <m:t>1</m:t>
                        </m:r>
                      </m:sub>
                    </m:sSub>
                    <m:r>
                      <a:rPr lang="en-US" i="1">
                        <a:latin typeface="Cambria Math" panose="02040503050406030204" pitchFamily="18" charset="0"/>
                      </a:rPr>
                      <m:t>.</m:t>
                    </m:r>
                  </m:oMath>
                </a14:m>
                <a:endParaRPr lang="en-US" dirty="0">
                  <a:latin typeface="Tahoma" panose="020B0604030504040204" pitchFamily="34" charset="0"/>
                  <a:ea typeface="Tahoma" panose="020B0604030504040204" pitchFamily="34" charset="0"/>
                  <a:cs typeface="Tahoma" panose="020B0604030504040204" pitchFamily="34" charset="0"/>
                </a:endParaRPr>
              </a:p>
              <a:p>
                <a:pPr marL="0" indent="0">
                  <a:lnSpc>
                    <a:spcPct val="150000"/>
                  </a:lnSpc>
                  <a:buNone/>
                </a:pP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Đường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thẳng</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𝛥</m:t>
                        </m:r>
                      </m:e>
                      <m:sub>
                        <m:r>
                          <a:rPr lang="en-US" i="1">
                            <a:latin typeface="Cambria Math" panose="02040503050406030204" pitchFamily="18" charset="0"/>
                          </a:rPr>
                          <m:t>1</m:t>
                        </m:r>
                      </m:sub>
                    </m:sSub>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đi</a:t>
                </a:r>
                <a:r>
                  <a:rPr lang="en-US" dirty="0">
                    <a:latin typeface="Tahoma" panose="020B0604030504040204" pitchFamily="34" charset="0"/>
                    <a:ea typeface="Tahoma" panose="020B0604030504040204" pitchFamily="34" charset="0"/>
                    <a:cs typeface="Tahoma" panose="020B0604030504040204" pitchFamily="34" charset="0"/>
                  </a:rPr>
                  <a:t> qua </a:t>
                </a:r>
                <a:r>
                  <a:rPr lang="en-US" dirty="0" err="1">
                    <a:latin typeface="Tahoma" panose="020B0604030504040204" pitchFamily="34" charset="0"/>
                    <a:ea typeface="Tahoma" panose="020B0604030504040204" pitchFamily="34" charset="0"/>
                    <a:cs typeface="Tahoma" panose="020B0604030504040204" pitchFamily="34" charset="0"/>
                  </a:rPr>
                  <a:t>điểm</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i="1">
                        <a:latin typeface="Cambria Math" panose="02040503050406030204" pitchFamily="18" charset="0"/>
                      </a:rPr>
                      <m:t>𝑀</m:t>
                    </m:r>
                    <m:d>
                      <m:dPr>
                        <m:ctrlPr>
                          <a:rPr lang="en-US" i="1">
                            <a:latin typeface="Cambria Math" panose="02040503050406030204" pitchFamily="18" charset="0"/>
                          </a:rPr>
                        </m:ctrlPr>
                      </m:dPr>
                      <m:e>
                        <m:r>
                          <a:rPr lang="en-US" i="1">
                            <a:latin typeface="Cambria Math" panose="02040503050406030204" pitchFamily="18" charset="0"/>
                          </a:rPr>
                          <m:t>1;3</m:t>
                        </m:r>
                      </m:e>
                    </m:d>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có</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vectơ</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chỉ</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phương</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𝑢</m:t>
                        </m:r>
                      </m:e>
                    </m:acc>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2</m:t>
                        </m:r>
                        <m:r>
                          <a:rPr lang="en-US" b="0" i="1" smtClean="0">
                            <a:latin typeface="Cambria Math"/>
                          </a:rPr>
                          <m:t>; </m:t>
                        </m:r>
                        <m:r>
                          <a:rPr lang="en-US" i="1">
                            <a:latin typeface="Cambria Math" panose="02040503050406030204" pitchFamily="18" charset="0"/>
                          </a:rPr>
                          <m:t>5</m:t>
                        </m:r>
                      </m:e>
                    </m:d>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nên</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𝛥</m:t>
                        </m:r>
                      </m:e>
                      <m:sub>
                        <m:r>
                          <a:rPr lang="en-US" i="1">
                            <a:latin typeface="Cambria Math" panose="02040503050406030204" pitchFamily="18" charset="0"/>
                          </a:rPr>
                          <m:t>1</m:t>
                        </m:r>
                      </m:sub>
                    </m:sSub>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có</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vectơ</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pháp</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tuyến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là</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𝑛</m:t>
                        </m:r>
                      </m:e>
                    </m:acc>
                    <m:r>
                      <a:rPr lang="en-US" i="1">
                        <a:latin typeface="Cambria Math" panose="02040503050406030204" pitchFamily="18" charset="0"/>
                      </a:rPr>
                      <m:t>=(5;−2).</m:t>
                    </m:r>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Khi</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đó</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phương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trình</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tổng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quát</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của</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𝛥</m:t>
                        </m:r>
                      </m:e>
                      <m:sub>
                        <m:r>
                          <a:rPr lang="en-US" i="1">
                            <a:latin typeface="Cambria Math" panose="02040503050406030204" pitchFamily="18" charset="0"/>
                          </a:rPr>
                          <m:t>1</m:t>
                        </m:r>
                      </m:sub>
                    </m:sSub>
                  </m:oMath>
                </a14:m>
                <a:r>
                  <a:rPr lang="en-US" dirty="0" err="1">
                    <a:latin typeface="Tahoma" panose="020B0604030504040204" pitchFamily="34" charset="0"/>
                    <a:ea typeface="Tahoma" panose="020B0604030504040204" pitchFamily="34" charset="0"/>
                    <a:cs typeface="Tahoma" panose="020B0604030504040204" pitchFamily="34" charset="0"/>
                  </a:rPr>
                  <a:t>là</a:t>
                </a:r>
                <a:r>
                  <a:rPr lang="en-US" dirty="0">
                    <a:latin typeface="Tahoma" panose="020B0604030504040204" pitchFamily="34" charset="0"/>
                    <a:ea typeface="Tahoma" panose="020B0604030504040204" pitchFamily="34" charset="0"/>
                    <a:cs typeface="Tahoma" panose="020B0604030504040204" pitchFamily="34" charset="0"/>
                  </a:rPr>
                  <a:t>: </a:t>
                </a:r>
              </a:p>
              <a:p>
                <a:pPr marL="0" indent="0" algn="ctr">
                  <a:lnSpc>
                    <a:spcPct val="150000"/>
                  </a:lnSpc>
                  <a:buNone/>
                </a:pPr>
                <a14:m>
                  <m:oMath xmlns:m="http://schemas.openxmlformats.org/officeDocument/2006/math">
                    <m:r>
                      <a:rPr lang="en-US" i="1">
                        <a:latin typeface="Cambria Math" panose="02040503050406030204" pitchFamily="18" charset="0"/>
                      </a:rPr>
                      <m:t>5</m:t>
                    </m:r>
                    <m:r>
                      <a:rPr lang="en-US" i="1">
                        <a:latin typeface="Cambria Math" panose="02040503050406030204" pitchFamily="18" charset="0"/>
                      </a:rPr>
                      <m:t>𝑥</m:t>
                    </m:r>
                    <m:r>
                      <a:rPr lang="en-US" i="1">
                        <a:latin typeface="Cambria Math" panose="02040503050406030204" pitchFamily="18" charset="0"/>
                      </a:rPr>
                      <m:t>−2</m:t>
                    </m:r>
                    <m:r>
                      <a:rPr lang="en-US" i="1">
                        <a:latin typeface="Cambria Math" panose="02040503050406030204" pitchFamily="18" charset="0"/>
                      </a:rPr>
                      <m:t>𝑦</m:t>
                    </m:r>
                    <m:r>
                      <a:rPr lang="en-US" i="1">
                        <a:latin typeface="Cambria Math" panose="02040503050406030204" pitchFamily="18" charset="0"/>
                      </a:rPr>
                      <m:t>+1=0.</m:t>
                    </m:r>
                  </m:oMath>
                </a14:m>
                <a:r>
                  <a:rPr lang="en-US" dirty="0">
                    <a:latin typeface="Tahoma" panose="020B0604030504040204" pitchFamily="34" charset="0"/>
                    <a:ea typeface="Tahoma" panose="020B0604030504040204" pitchFamily="34" charset="0"/>
                    <a:cs typeface="Tahoma" panose="020B0604030504040204" pitchFamily="34" charset="0"/>
                  </a:rPr>
                  <a:t> </a:t>
                </a:r>
              </a:p>
              <a:p>
                <a:pPr marL="0" indent="0">
                  <a:lnSpc>
                    <a:spcPct val="150000"/>
                  </a:lnSpc>
                  <a:buNone/>
                </a:pPr>
                <a:endParaRPr lang="en-US" dirty="0"/>
              </a:p>
            </p:txBody>
          </p:sp>
        </mc:Choice>
        <mc:Fallback xmlns="">
          <p:sp>
            <p:nvSpPr>
              <p:cNvPr id="14" name="Content Placeholder 2">
                <a:extLst>
                  <a:ext uri="{FF2B5EF4-FFF2-40B4-BE49-F238E27FC236}">
                    <a16:creationId xmlns="" xmlns:a16="http://schemas.microsoft.com/office/drawing/2014/main" xmlns:a14="http://schemas.microsoft.com/office/drawing/2010/main" id="{95E04BED-9746-4EFE-BE6F-19440E01284E}"/>
                  </a:ext>
                </a:extLst>
              </p:cNvPr>
              <p:cNvSpPr txBox="1">
                <a:spLocks noRot="1" noChangeAspect="1" noMove="1" noResize="1" noEditPoints="1" noAdjustHandles="1" noChangeArrowheads="1" noChangeShapeType="1" noTextEdit="1"/>
              </p:cNvSpPr>
              <p:nvPr/>
            </p:nvSpPr>
            <p:spPr>
              <a:xfrm>
                <a:off x="857887" y="7104273"/>
                <a:ext cx="23145113" cy="5902114"/>
              </a:xfrm>
              <a:prstGeom prst="rect">
                <a:avLst/>
              </a:prstGeom>
              <a:blipFill rotWithShape="1">
                <a:blip r:embed="rId3"/>
                <a:stretch>
                  <a:fillRect l="-1185" t="-3502"/>
                </a:stretch>
              </a:blipFill>
              <a:ln>
                <a:solidFill>
                  <a:srgbClr val="00B0F0"/>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7" name="Title 1">
                <a:extLst>
                  <a:ext uri="{FF2B5EF4-FFF2-40B4-BE49-F238E27FC236}">
                    <a16:creationId xmlns:a16="http://schemas.microsoft.com/office/drawing/2014/main" id="{74F9BD66-E1B7-405E-9C49-3B8EC28C3119}"/>
                  </a:ext>
                </a:extLst>
              </p:cNvPr>
              <p:cNvSpPr txBox="1">
                <a:spLocks/>
              </p:cNvSpPr>
              <p:nvPr/>
            </p:nvSpPr>
            <p:spPr>
              <a:xfrm>
                <a:off x="838200" y="1879599"/>
                <a:ext cx="23164800" cy="4978401"/>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endParaRPr lang="en-US" b="1" dirty="0"/>
              </a:p>
              <a:p>
                <a:endParaRPr lang="en-US" b="1" dirty="0"/>
              </a:p>
              <a:p>
                <a:r>
                  <a:rPr lang="en-US" b="1" dirty="0"/>
                  <a:t>       7.3.</a:t>
                </a:r>
                <a:r>
                  <a:rPr lang="en-US" dirty="0"/>
                  <a:t> </a:t>
                </a:r>
                <a:r>
                  <a:rPr lang="en-US" sz="4800" dirty="0">
                    <a:latin typeface="Tahoma" panose="020B0604030504040204" pitchFamily="34" charset="0"/>
                    <a:ea typeface="Tahoma" panose="020B0604030504040204" pitchFamily="34" charset="0"/>
                    <a:cs typeface="Tahoma" panose="020B0604030504040204" pitchFamily="34" charset="0"/>
                  </a:rPr>
                  <a:t>Cho </a:t>
                </a:r>
                <a:r>
                  <a:rPr lang="en-US" sz="4800" dirty="0" err="1">
                    <a:latin typeface="Tahoma" panose="020B0604030504040204" pitchFamily="34" charset="0"/>
                    <a:ea typeface="Tahoma" panose="020B0604030504040204" pitchFamily="34" charset="0"/>
                    <a:cs typeface="Tahoma" panose="020B0604030504040204" pitchFamily="34" charset="0"/>
                  </a:rPr>
                  <a:t>hai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đường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thẳng</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𝛥</m:t>
                        </m:r>
                      </m:e>
                      <m:sub>
                        <m:r>
                          <a:rPr lang="en-US" sz="4800" i="1">
                            <a:latin typeface="Cambria Math" panose="02040503050406030204" pitchFamily="18" charset="0"/>
                          </a:rPr>
                          <m:t>1</m:t>
                        </m:r>
                      </m:sub>
                    </m:sSub>
                    <m:r>
                      <a:rPr lang="en-US" sz="4800" i="1">
                        <a:latin typeface="Cambria Math" panose="02040503050406030204" pitchFamily="18" charset="0"/>
                      </a:rPr>
                      <m:t>:</m:t>
                    </m:r>
                    <m:d>
                      <m:dPr>
                        <m:begChr m:val="{"/>
                        <m:endChr m:val=""/>
                        <m:ctrlPr>
                          <a:rPr lang="en-US" sz="4800" i="1">
                            <a:latin typeface="Cambria Math" panose="02040503050406030204" pitchFamily="18" charset="0"/>
                          </a:rPr>
                        </m:ctrlPr>
                      </m:dPr>
                      <m:e>
                        <m:eqArr>
                          <m:eqArrPr>
                            <m:ctrlPr>
                              <a:rPr lang="en-US" sz="4800" i="1">
                                <a:latin typeface="Cambria Math" panose="02040503050406030204" pitchFamily="18" charset="0"/>
                              </a:rPr>
                            </m:ctrlPr>
                          </m:eqArrPr>
                          <m:e>
                            <m:r>
                              <a:rPr lang="en-US" sz="4800" i="1">
                                <a:latin typeface="Cambria Math" panose="02040503050406030204" pitchFamily="18" charset="0"/>
                              </a:rPr>
                              <m:t>𝑥</m:t>
                            </m:r>
                            <m:r>
                              <a:rPr lang="en-US" sz="4800" i="1">
                                <a:latin typeface="Cambria Math" panose="02040503050406030204" pitchFamily="18" charset="0"/>
                              </a:rPr>
                              <m:t>=1+2</m:t>
                            </m:r>
                            <m:r>
                              <a:rPr lang="en-US" sz="4800" i="1">
                                <a:latin typeface="Cambria Math" panose="02040503050406030204" pitchFamily="18" charset="0"/>
                              </a:rPr>
                              <m:t>𝑡</m:t>
                            </m:r>
                          </m:e>
                          <m:e>
                            <m:r>
                              <a:rPr lang="en-US" sz="4800" i="1">
                                <a:latin typeface="Cambria Math" panose="02040503050406030204" pitchFamily="18" charset="0"/>
                              </a:rPr>
                              <m:t>𝑦</m:t>
                            </m:r>
                            <m:r>
                              <a:rPr lang="en-US" sz="4800" i="1">
                                <a:latin typeface="Cambria Math" panose="02040503050406030204" pitchFamily="18" charset="0"/>
                              </a:rPr>
                              <m:t>=3+5</m:t>
                            </m:r>
                            <m:r>
                              <a:rPr lang="en-US" sz="4800" i="1">
                                <a:latin typeface="Cambria Math" panose="02040503050406030204" pitchFamily="18" charset="0"/>
                              </a:rPr>
                              <m:t>𝑡</m:t>
                            </m:r>
                          </m:e>
                        </m:eqArr>
                      </m:e>
                    </m:d>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và</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𝛥</m:t>
                        </m:r>
                      </m:e>
                      <m:sub>
                        <m:r>
                          <a:rPr lang="en-US" sz="4800" i="1">
                            <a:latin typeface="Cambria Math" panose="02040503050406030204" pitchFamily="18" charset="0"/>
                          </a:rPr>
                          <m:t>2</m:t>
                        </m:r>
                      </m:sub>
                    </m:sSub>
                    <m:r>
                      <a:rPr lang="en-US" sz="4800" i="1">
                        <a:latin typeface="Cambria Math" panose="02040503050406030204" pitchFamily="18" charset="0"/>
                      </a:rPr>
                      <m:t>:2</m:t>
                    </m:r>
                    <m:func>
                      <m:funcPr>
                        <m:ctrlPr>
                          <a:rPr lang="en-US" sz="4800" i="1">
                            <a:latin typeface="Cambria Math" panose="02040503050406030204" pitchFamily="18" charset="0"/>
                          </a:rPr>
                        </m:ctrlPr>
                      </m:funcPr>
                      <m:fName>
                        <m:r>
                          <a:rPr lang="en-US" sz="4800" i="1">
                            <a:latin typeface="Cambria Math" panose="02040503050406030204" pitchFamily="18" charset="0"/>
                          </a:rPr>
                          <m:t>𝑥</m:t>
                        </m:r>
                      </m:fName>
                      <m:e>
                        <m:r>
                          <a:rPr lang="en-US" sz="4800" i="1">
                            <a:latin typeface="Cambria Math" panose="02040503050406030204" pitchFamily="18" charset="0"/>
                          </a:rPr>
                          <m:t>+</m:t>
                        </m:r>
                      </m:e>
                    </m:func>
                    <m:r>
                      <a:rPr lang="en-US" sz="4800" i="1">
                        <a:latin typeface="Cambria Math" panose="02040503050406030204" pitchFamily="18" charset="0"/>
                      </a:rPr>
                      <m:t>3</m:t>
                    </m:r>
                    <m:func>
                      <m:funcPr>
                        <m:ctrlPr>
                          <a:rPr lang="en-US" sz="4800" i="1">
                            <a:latin typeface="Cambria Math" panose="02040503050406030204" pitchFamily="18" charset="0"/>
                          </a:rPr>
                        </m:ctrlPr>
                      </m:funcPr>
                      <m:fName>
                        <m:r>
                          <a:rPr lang="en-US" sz="4800" i="1">
                            <a:latin typeface="Cambria Math" panose="02040503050406030204" pitchFamily="18" charset="0"/>
                          </a:rPr>
                          <m:t>𝑦</m:t>
                        </m:r>
                      </m:fName>
                      <m:e>
                        <m:r>
                          <a:rPr lang="en-US" sz="4800" i="1">
                            <a:latin typeface="Cambria Math" panose="02040503050406030204" pitchFamily="18" charset="0"/>
                          </a:rPr>
                          <m:t>−</m:t>
                        </m:r>
                      </m:e>
                    </m:func>
                    <m:r>
                      <a:rPr lang="en-US" sz="4800" i="1">
                        <a:latin typeface="Cambria Math" panose="02040503050406030204" pitchFamily="18" charset="0"/>
                      </a:rPr>
                      <m:t>5=0.</m:t>
                    </m:r>
                  </m:oMath>
                </a14:m>
                <a:endParaRPr lang="en-US" sz="4800" dirty="0">
                  <a:latin typeface="Tahoma" panose="020B0604030504040204" pitchFamily="34" charset="0"/>
                  <a:ea typeface="Tahoma" panose="020B0604030504040204" pitchFamily="34" charset="0"/>
                  <a:cs typeface="Tahoma" panose="020B0604030504040204" pitchFamily="34" charset="0"/>
                </a:endParaRPr>
              </a:p>
              <a:p>
                <a:r>
                  <a:rPr lang="en-US" sz="4800" dirty="0">
                    <a:latin typeface="Tahoma" panose="020B0604030504040204" pitchFamily="34" charset="0"/>
                    <a:ea typeface="Tahoma" panose="020B0604030504040204" pitchFamily="34" charset="0"/>
                    <a:cs typeface="Tahoma" panose="020B0604030504040204" pitchFamily="34" charset="0"/>
                  </a:rPr>
                  <a:t>	a) </a:t>
                </a:r>
                <a:r>
                  <a:rPr lang="en-US" sz="4800" dirty="0" err="1">
                    <a:latin typeface="Tahoma" panose="020B0604030504040204" pitchFamily="34" charset="0"/>
                    <a:ea typeface="Tahoma" panose="020B0604030504040204" pitchFamily="34" charset="0"/>
                    <a:cs typeface="Tahoma" panose="020B0604030504040204" pitchFamily="34" charset="0"/>
                  </a:rPr>
                  <a:t>Lập</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phương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trình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tổng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quát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của</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𝛥</m:t>
                        </m:r>
                      </m:e>
                      <m:sub>
                        <m:r>
                          <a:rPr lang="en-US" sz="4800" i="1">
                            <a:latin typeface="Cambria Math" panose="02040503050406030204" pitchFamily="18" charset="0"/>
                          </a:rPr>
                          <m:t>1</m:t>
                        </m:r>
                      </m:sub>
                    </m:sSub>
                    <m:r>
                      <a:rPr lang="en-US" sz="4800" i="1">
                        <a:latin typeface="Cambria Math" panose="02040503050406030204" pitchFamily="18" charset="0"/>
                      </a:rPr>
                      <m:t>.</m:t>
                    </m:r>
                  </m:oMath>
                </a14:m>
                <a:endParaRPr lang="en-US" sz="4800" dirty="0">
                  <a:latin typeface="Tahoma" panose="020B0604030504040204" pitchFamily="34" charset="0"/>
                  <a:ea typeface="Tahoma" panose="020B0604030504040204" pitchFamily="34" charset="0"/>
                  <a:cs typeface="Tahoma" panose="020B0604030504040204" pitchFamily="34" charset="0"/>
                </a:endParaRPr>
              </a:p>
              <a:p>
                <a:r>
                  <a:rPr lang="en-US" sz="4800" dirty="0">
                    <a:latin typeface="Tahoma" panose="020B0604030504040204" pitchFamily="34" charset="0"/>
                    <a:ea typeface="Tahoma" panose="020B0604030504040204" pitchFamily="34" charset="0"/>
                    <a:cs typeface="Tahoma" panose="020B0604030504040204" pitchFamily="34" charset="0"/>
                  </a:rPr>
                  <a:t>	b) </a:t>
                </a:r>
                <a:r>
                  <a:rPr lang="en-US" sz="4800" dirty="0" err="1">
                    <a:latin typeface="Tahoma" panose="020B0604030504040204" pitchFamily="34" charset="0"/>
                    <a:ea typeface="Tahoma" panose="020B0604030504040204" pitchFamily="34" charset="0"/>
                    <a:cs typeface="Tahoma" panose="020B0604030504040204" pitchFamily="34" charset="0"/>
                  </a:rPr>
                  <a:t>Lập</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phương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trình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tham</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số</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của</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𝛥</m:t>
                        </m:r>
                      </m:e>
                      <m:sub>
                        <m:r>
                          <a:rPr lang="en-US" sz="4800" i="1">
                            <a:latin typeface="Cambria Math" panose="02040503050406030204" pitchFamily="18" charset="0"/>
                          </a:rPr>
                          <m:t>2</m:t>
                        </m:r>
                      </m:sub>
                    </m:sSub>
                    <m:r>
                      <a:rPr lang="en-US" sz="4800" i="1">
                        <a:latin typeface="Cambria Math" panose="02040503050406030204" pitchFamily="18" charset="0"/>
                      </a:rPr>
                      <m:t>.</m:t>
                    </m:r>
                  </m:oMath>
                </a14:m>
                <a:endParaRPr lang="en-US" sz="4800" dirty="0">
                  <a:latin typeface="Tahoma" panose="020B0604030504040204" pitchFamily="34" charset="0"/>
                  <a:ea typeface="Tahoma" panose="020B0604030504040204" pitchFamily="34" charset="0"/>
                  <a:cs typeface="Tahoma" panose="020B0604030504040204" pitchFamily="34" charset="0"/>
                </a:endParaRPr>
              </a:p>
              <a:p>
                <a:pPr>
                  <a:lnSpc>
                    <a:spcPct val="100000"/>
                  </a:lnSpc>
                </a:pPr>
                <a:endParaRPr lang="en-US" dirty="0"/>
              </a:p>
            </p:txBody>
          </p:sp>
        </mc:Choice>
        <mc:Fallback xmlns="">
          <p:sp>
            <p:nvSpPr>
              <p:cNvPr id="17" name="Title 1">
                <a:extLst>
                  <a:ext uri="{FF2B5EF4-FFF2-40B4-BE49-F238E27FC236}">
                    <a16:creationId xmlns:a16="http://schemas.microsoft.com/office/drawing/2014/main" id="{74F9BD66-E1B7-405E-9C49-3B8EC28C3119}"/>
                  </a:ext>
                </a:extLst>
              </p:cNvPr>
              <p:cNvSpPr txBox="1">
                <a:spLocks noRot="1" noChangeAspect="1" noMove="1" noResize="1" noEditPoints="1" noAdjustHandles="1" noChangeArrowheads="1" noChangeShapeType="1" noTextEdit="1"/>
              </p:cNvSpPr>
              <p:nvPr/>
            </p:nvSpPr>
            <p:spPr>
              <a:xfrm>
                <a:off x="838200" y="1879599"/>
                <a:ext cx="23164800" cy="4978401"/>
              </a:xfrm>
              <a:prstGeom prst="rect">
                <a:avLst/>
              </a:prstGeom>
              <a:blipFill>
                <a:blip r:embed="rId4"/>
                <a:stretch>
                  <a:fillRect/>
                </a:stretch>
              </a:blipFill>
              <a:ln>
                <a:solidFill>
                  <a:schemeClr val="tx2">
                    <a:lumMod val="20000"/>
                    <a:lumOff val="80000"/>
                  </a:schemeClr>
                </a:solidFill>
              </a:ln>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DE84E17C-27B3-431C-850F-F57B7D655D26}"/>
              </a:ext>
            </a:extLst>
          </p:cNvPr>
          <p:cNvGrpSpPr/>
          <p:nvPr/>
        </p:nvGrpSpPr>
        <p:grpSpPr>
          <a:xfrm>
            <a:off x="400878" y="2057400"/>
            <a:ext cx="3989314" cy="1183262"/>
            <a:chOff x="22440" y="44679"/>
            <a:chExt cx="953655" cy="252442"/>
          </a:xfrm>
        </p:grpSpPr>
        <p:grpSp>
          <p:nvGrpSpPr>
            <p:cNvPr id="19" name="Group 18">
              <a:extLst>
                <a:ext uri="{FF2B5EF4-FFF2-40B4-BE49-F238E27FC236}">
                  <a16:creationId xmlns:a16="http://schemas.microsoft.com/office/drawing/2014/main" id="{AA60C9BE-2282-4378-92C3-800BEEC2385D}"/>
                </a:ext>
              </a:extLst>
            </p:cNvPr>
            <p:cNvGrpSpPr/>
            <p:nvPr/>
          </p:nvGrpSpPr>
          <p:grpSpPr>
            <a:xfrm>
              <a:off x="22440" y="59287"/>
              <a:ext cx="953655" cy="159667"/>
              <a:chOff x="31572" y="60276"/>
              <a:chExt cx="1341810" cy="197595"/>
            </a:xfrm>
          </p:grpSpPr>
          <p:sp>
            <p:nvSpPr>
              <p:cNvPr id="21" name="Arrow: Pentagon 20">
                <a:extLst>
                  <a:ext uri="{FF2B5EF4-FFF2-40B4-BE49-F238E27FC236}">
                    <a16:creationId xmlns:a16="http://schemas.microsoft.com/office/drawing/2014/main" id="{A5F5C0E7-DF43-4B21-96BA-478BC1C2F9AB}"/>
                  </a:ext>
                </a:extLst>
              </p:cNvPr>
              <p:cNvSpPr/>
              <p:nvPr/>
            </p:nvSpPr>
            <p:spPr>
              <a:xfrm>
                <a:off x="204506" y="61809"/>
                <a:ext cx="1168876" cy="19606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0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2" name="Arrow: Chevron 21">
                <a:extLst>
                  <a:ext uri="{FF2B5EF4-FFF2-40B4-BE49-F238E27FC236}">
                    <a16:creationId xmlns:a16="http://schemas.microsoft.com/office/drawing/2014/main" id="{518F6DE5-B00E-45E7-B8F1-47FD80335114}"/>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endParaRPr lang="en-US"/>
              </a:p>
            </p:txBody>
          </p:sp>
          <p:sp>
            <p:nvSpPr>
              <p:cNvPr id="23" name="Arrow: Chevron 22">
                <a:extLst>
                  <a:ext uri="{FF2B5EF4-FFF2-40B4-BE49-F238E27FC236}">
                    <a16:creationId xmlns:a16="http://schemas.microsoft.com/office/drawing/2014/main" id="{57C817BB-0211-4966-AACE-08D8CFA3E87E}"/>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endParaRPr lang="en-US"/>
              </a:p>
            </p:txBody>
          </p:sp>
        </p:grpSp>
        <p:sp>
          <p:nvSpPr>
            <p:cNvPr id="20" name="TextBox 56">
              <a:extLst>
                <a:ext uri="{FF2B5EF4-FFF2-40B4-BE49-F238E27FC236}">
                  <a16:creationId xmlns:a16="http://schemas.microsoft.com/office/drawing/2014/main" id="{7D6FEC55-2C19-4321-952B-21EE88734680}"/>
                </a:ext>
              </a:extLst>
            </p:cNvPr>
            <p:cNvSpPr txBox="1"/>
            <p:nvPr/>
          </p:nvSpPr>
          <p:spPr>
            <a:xfrm>
              <a:off x="267457" y="44679"/>
              <a:ext cx="580215" cy="252442"/>
            </a:xfrm>
            <a:prstGeom prst="rect">
              <a:avLst/>
            </a:prstGeom>
            <a:noFill/>
          </p:spPr>
          <p:txBody>
            <a:bodyPr wrap="square">
              <a:noAutofit/>
            </a:bodyPr>
            <a:lstStyle/>
            <a:p>
              <a:pPr marL="0" marR="0">
                <a:lnSpc>
                  <a:spcPct val="107000"/>
                </a:lnSpc>
                <a:spcBef>
                  <a:spcPts val="0"/>
                </a:spcBef>
                <a:spcAft>
                  <a:spcPts val="800"/>
                </a:spcAft>
              </a:pPr>
              <a:r>
                <a:rPr lang="en-US" sz="4800" b="1" kern="1200">
                  <a:solidFill>
                    <a:srgbClr val="0000CC"/>
                  </a:solidFill>
                  <a:effectLst/>
                  <a:latin typeface="Tahoma" panose="020B0604030504040204" pitchFamily="34" charset="0"/>
                  <a:ea typeface="Tahoma" panose="020B0604030504040204" pitchFamily="34" charset="0"/>
                  <a:cs typeface="Tahoma" panose="020B0604030504040204" pitchFamily="34" charset="0"/>
                </a:rPr>
                <a:t>Bài tập</a:t>
              </a:r>
              <a:r>
                <a:rPr lang="en-US" sz="1200" b="1" kern="1200">
                  <a:solidFill>
                    <a:srgbClr val="0000CC"/>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34" name="Rounded Rectangle 3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38" name="TextBox 3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95252009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10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animEffect transition="in" filter="wipe(up)">
                                      <p:cBhvr>
                                        <p:cTn id="17" dur="500"/>
                                        <p:tgtEl>
                                          <p:spTgt spid="1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4">
                                            <p:txEl>
                                              <p:pRg st="1" end="1"/>
                                            </p:txEl>
                                          </p:spTgt>
                                        </p:tgtEl>
                                        <p:attrNameLst>
                                          <p:attrName>style.visibility</p:attrName>
                                        </p:attrNameLst>
                                      </p:cBhvr>
                                      <p:to>
                                        <p:strVal val="visible"/>
                                      </p:to>
                                    </p:set>
                                    <p:animEffect transition="in" filter="wipe(up)">
                                      <p:cBhvr>
                                        <p:cTn id="22" dur="500"/>
                                        <p:tgtEl>
                                          <p:spTgt spid="1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4">
                                            <p:txEl>
                                              <p:pRg st="2" end="2"/>
                                            </p:txEl>
                                          </p:spTgt>
                                        </p:tgtEl>
                                        <p:attrNameLst>
                                          <p:attrName>style.visibility</p:attrName>
                                        </p:attrNameLst>
                                      </p:cBhvr>
                                      <p:to>
                                        <p:strVal val="visible"/>
                                      </p:to>
                                    </p:set>
                                    <p:animEffect transition="in" filter="wipe(up)">
                                      <p:cBhvr>
                                        <p:cTn id="27" dur="500"/>
                                        <p:tgtEl>
                                          <p:spTgt spid="14">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4">
                                            <p:txEl>
                                              <p:pRg st="3" end="3"/>
                                            </p:txEl>
                                          </p:spTgt>
                                        </p:tgtEl>
                                        <p:attrNameLst>
                                          <p:attrName>style.visibility</p:attrName>
                                        </p:attrNameLst>
                                      </p:cBhvr>
                                      <p:to>
                                        <p:strVal val="visible"/>
                                      </p:to>
                                    </p:set>
                                    <p:animEffect transition="in" filter="wipe(up)">
                                      <p:cBhvr>
                                        <p:cTn id="32" dur="500"/>
                                        <p:tgtEl>
                                          <p:spTgt spid="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7">
            <a:extLst>
              <a:ext uri="{FF2B5EF4-FFF2-40B4-BE49-F238E27FC236}">
                <a16:creationId xmlns:a16="http://schemas.microsoft.com/office/drawing/2014/main" id="{331DD36C-2757-4762-8AC6-F5DBBC77921A}"/>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10">
            <a:extLst>
              <a:ext uri="{FF2B5EF4-FFF2-40B4-BE49-F238E27FC236}">
                <a16:creationId xmlns:a16="http://schemas.microsoft.com/office/drawing/2014/main" id="{75B83596-23B8-4650-9517-74C0A031E4BF}"/>
              </a:ext>
            </a:extLst>
          </p:cNvPr>
          <p:cNvSpPr>
            <a:spLocks noChangeArrowheads="1"/>
          </p:cNvSpPr>
          <p:nvPr/>
        </p:nvSpPr>
        <p:spPr bwMode="auto">
          <a:xfrm>
            <a:off x="0" y="709613"/>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95E04BED-9746-4EFE-BE6F-19440E01284E}"/>
                  </a:ext>
                </a:extLst>
              </p:cNvPr>
              <p:cNvSpPr txBox="1">
                <a:spLocks/>
              </p:cNvSpPr>
              <p:nvPr/>
            </p:nvSpPr>
            <p:spPr>
              <a:xfrm>
                <a:off x="857887" y="7162801"/>
                <a:ext cx="23145113" cy="584358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lnSpc>
                    <a:spcPct val="100000"/>
                  </a:lnSpc>
                  <a:buNone/>
                </a:pPr>
                <a:r>
                  <a:rPr lang="en-US" b="1">
                    <a:latin typeface="Tahoma" panose="020B0604030504040204" pitchFamily="34" charset="0"/>
                    <a:ea typeface="Tahoma" panose="020B0604030504040204" pitchFamily="34" charset="0"/>
                    <a:cs typeface="Tahoma" panose="020B0604030504040204" pitchFamily="34" charset="0"/>
                  </a:rPr>
                  <a:t>Giải</a:t>
                </a:r>
                <a:endParaRPr lang="en-US">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buNone/>
                </a:pPr>
                <a:r>
                  <a:rPr lang="en-US">
                    <a:latin typeface="Tahoma" panose="020B0604030504040204" pitchFamily="34" charset="0"/>
                    <a:ea typeface="Tahoma" panose="020B0604030504040204" pitchFamily="34" charset="0"/>
                    <a:cs typeface="Tahoma" panose="020B0604030504040204" pitchFamily="34" charset="0"/>
                  </a:rPr>
                  <a:t>	b) Lập phương trình tham số của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𝛥</m:t>
                        </m:r>
                      </m:e>
                      <m:sub>
                        <m:r>
                          <a:rPr lang="en-US" i="1">
                            <a:latin typeface="Cambria Math" panose="02040503050406030204" pitchFamily="18" charset="0"/>
                          </a:rPr>
                          <m:t>2</m:t>
                        </m:r>
                      </m:sub>
                    </m:sSub>
                    <m:r>
                      <a:rPr lang="en-US" i="1">
                        <a:latin typeface="Cambria Math" panose="02040503050406030204" pitchFamily="18" charset="0"/>
                      </a:rPr>
                      <m:t>.</m:t>
                    </m:r>
                  </m:oMath>
                </a14:m>
                <a:endParaRPr lang="en-US">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buNone/>
                </a:pPr>
                <a:r>
                  <a:rPr lang="en-US">
                    <a:latin typeface="Tahoma" panose="020B0604030504040204" pitchFamily="34" charset="0"/>
                    <a:ea typeface="Tahoma" panose="020B0604030504040204" pitchFamily="34" charset="0"/>
                    <a:cs typeface="Tahoma" panose="020B0604030504040204" pitchFamily="34" charset="0"/>
                  </a:rPr>
                  <a:t>     	Đường thẳng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𝛥</m:t>
                        </m:r>
                      </m:e>
                      <m:sub>
                        <m:r>
                          <a:rPr lang="en-US" i="1">
                            <a:latin typeface="Cambria Math" panose="02040503050406030204" pitchFamily="18" charset="0"/>
                          </a:rPr>
                          <m:t>2</m:t>
                        </m:r>
                      </m:sub>
                    </m:sSub>
                  </m:oMath>
                </a14:m>
                <a:r>
                  <a:rPr lang="en-US">
                    <a:latin typeface="Tahoma" panose="020B0604030504040204" pitchFamily="34" charset="0"/>
                    <a:ea typeface="Tahoma" panose="020B0604030504040204" pitchFamily="34" charset="0"/>
                    <a:cs typeface="Tahoma" panose="020B0604030504040204" pitchFamily="34" charset="0"/>
                  </a:rPr>
                  <a:t> đi qua điểm </a:t>
                </a:r>
                <a14:m>
                  <m:oMath xmlns:m="http://schemas.openxmlformats.org/officeDocument/2006/math">
                    <m:r>
                      <a:rPr lang="en-US" i="1">
                        <a:latin typeface="Cambria Math" panose="02040503050406030204" pitchFamily="18" charset="0"/>
                      </a:rPr>
                      <m:t>𝑁</m:t>
                    </m:r>
                    <m:d>
                      <m:dPr>
                        <m:ctrlPr>
                          <a:rPr lang="en-US" i="1">
                            <a:latin typeface="Cambria Math" panose="02040503050406030204" pitchFamily="18" charset="0"/>
                          </a:rPr>
                        </m:ctrlPr>
                      </m:dPr>
                      <m:e>
                        <m:r>
                          <a:rPr lang="en-US" i="1">
                            <a:latin typeface="Cambria Math" panose="02040503050406030204" pitchFamily="18" charset="0"/>
                          </a:rPr>
                          <m:t>1;1</m:t>
                        </m:r>
                      </m:e>
                    </m:d>
                  </m:oMath>
                </a14:m>
                <a:r>
                  <a:rPr lang="en-US">
                    <a:latin typeface="Tahoma" panose="020B0604030504040204" pitchFamily="34" charset="0"/>
                    <a:ea typeface="Tahoma" panose="020B0604030504040204" pitchFamily="34" charset="0"/>
                    <a:cs typeface="Tahoma" panose="020B0604030504040204" pitchFamily="34" charset="0"/>
                  </a:rPr>
                  <a:t>, có vectơ pháp tuyến là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𝑛</m:t>
                        </m:r>
                      </m:e>
                    </m:acc>
                    <m:r>
                      <a:rPr lang="en-US" i="1">
                        <a:latin typeface="Cambria Math" panose="02040503050406030204" pitchFamily="18" charset="0"/>
                      </a:rPr>
                      <m:t>=(2;3)</m:t>
                    </m:r>
                  </m:oMath>
                </a14:m>
                <a:r>
                  <a:rPr lang="en-US">
                    <a:latin typeface="Tahoma" panose="020B0604030504040204" pitchFamily="34" charset="0"/>
                    <a:ea typeface="Tahoma" panose="020B0604030504040204" pitchFamily="34" charset="0"/>
                    <a:cs typeface="Tahoma" panose="020B0604030504040204" pitchFamily="34" charset="0"/>
                  </a:rPr>
                  <a:t> nên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𝛥</m:t>
                        </m:r>
                      </m:e>
                      <m:sub>
                        <m:r>
                          <a:rPr lang="en-US" i="1">
                            <a:latin typeface="Cambria Math" panose="02040503050406030204" pitchFamily="18" charset="0"/>
                          </a:rPr>
                          <m:t>2</m:t>
                        </m:r>
                      </m:sub>
                    </m:sSub>
                  </m:oMath>
                </a14:m>
                <a:r>
                  <a:rPr lang="en-US">
                    <a:latin typeface="Tahoma" panose="020B0604030504040204" pitchFamily="34" charset="0"/>
                    <a:ea typeface="Tahoma" panose="020B0604030504040204" pitchFamily="34" charset="0"/>
                    <a:cs typeface="Tahoma" panose="020B0604030504040204" pitchFamily="34" charset="0"/>
                  </a:rPr>
                  <a:t> có vectơ chỉ phương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𝑢</m:t>
                        </m:r>
                      </m:e>
                    </m:acc>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3;−2</m:t>
                        </m:r>
                      </m:e>
                    </m:d>
                    <m:r>
                      <a:rPr lang="en-US" i="1">
                        <a:latin typeface="Cambria Math" panose="02040503050406030204" pitchFamily="18" charset="0"/>
                      </a:rPr>
                      <m:t>.</m:t>
                    </m:r>
                  </m:oMath>
                </a14:m>
                <a:r>
                  <a:rPr lang="en-US">
                    <a:latin typeface="Tahoma" panose="020B0604030504040204" pitchFamily="34" charset="0"/>
                    <a:ea typeface="Tahoma" panose="020B0604030504040204" pitchFamily="34" charset="0"/>
                    <a:cs typeface="Tahoma" panose="020B0604030504040204" pitchFamily="34" charset="0"/>
                  </a:rPr>
                  <a:t> </a:t>
                </a:r>
              </a:p>
              <a:p>
                <a:pPr marL="0" indent="0">
                  <a:lnSpc>
                    <a:spcPct val="100000"/>
                  </a:lnSpc>
                  <a:buNone/>
                </a:pPr>
                <a:r>
                  <a:rPr lang="en-US">
                    <a:latin typeface="Tahoma" panose="020B0604030504040204" pitchFamily="34" charset="0"/>
                    <a:ea typeface="Tahoma" panose="020B0604030504040204" pitchFamily="34" charset="0"/>
                    <a:cs typeface="Tahoma" panose="020B0604030504040204" pitchFamily="34" charset="0"/>
                  </a:rPr>
                  <a:t>	Khi đó phương trình tham số của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𝛥</m:t>
                        </m:r>
                      </m:e>
                      <m:sub>
                        <m:r>
                          <a:rPr lang="en-US" i="1">
                            <a:latin typeface="Cambria Math" panose="02040503050406030204" pitchFamily="18" charset="0"/>
                          </a:rPr>
                          <m:t>2</m:t>
                        </m:r>
                      </m:sub>
                    </m:sSub>
                  </m:oMath>
                </a14:m>
                <a:r>
                  <a:rPr lang="en-US">
                    <a:latin typeface="Tahoma" panose="020B0604030504040204" pitchFamily="34" charset="0"/>
                    <a:ea typeface="Tahoma" panose="020B0604030504040204" pitchFamily="34" charset="0"/>
                    <a:cs typeface="Tahoma" panose="020B0604030504040204" pitchFamily="34" charset="0"/>
                  </a:rPr>
                  <a:t> là: </a:t>
                </a:r>
                <a14:m>
                  <m:oMath xmlns:m="http://schemas.openxmlformats.org/officeDocument/2006/math">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𝑥</m:t>
                            </m:r>
                            <m:r>
                              <a:rPr lang="en-US" i="1">
                                <a:latin typeface="Cambria Math" panose="02040503050406030204" pitchFamily="18" charset="0"/>
                              </a:rPr>
                              <m:t>=1+3</m:t>
                            </m:r>
                            <m:r>
                              <a:rPr lang="en-US" i="1">
                                <a:latin typeface="Cambria Math" panose="02040503050406030204" pitchFamily="18" charset="0"/>
                              </a:rPr>
                              <m:t>𝑡</m:t>
                            </m:r>
                          </m:e>
                          <m:e>
                            <m:r>
                              <a:rPr lang="en-US" i="1">
                                <a:latin typeface="Cambria Math" panose="02040503050406030204" pitchFamily="18" charset="0"/>
                              </a:rPr>
                              <m:t>𝑦</m:t>
                            </m:r>
                            <m:r>
                              <a:rPr lang="en-US" i="1">
                                <a:latin typeface="Cambria Math" panose="02040503050406030204" pitchFamily="18" charset="0"/>
                              </a:rPr>
                              <m:t>=1−2</m:t>
                            </m:r>
                            <m:r>
                              <a:rPr lang="en-US" i="1">
                                <a:latin typeface="Cambria Math" panose="02040503050406030204" pitchFamily="18" charset="0"/>
                              </a:rPr>
                              <m:t>𝑡</m:t>
                            </m:r>
                            <m:r>
                              <a:rPr lang="en-US" i="1">
                                <a:latin typeface="Cambria Math" panose="02040503050406030204" pitchFamily="18" charset="0"/>
                              </a:rPr>
                              <m:t>.</m:t>
                            </m:r>
                          </m:e>
                        </m:eqArr>
                      </m:e>
                    </m:d>
                  </m:oMath>
                </a14:m>
                <a:r>
                  <a:rPr lang="en-US">
                    <a:latin typeface="Tahoma" panose="020B0604030504040204" pitchFamily="34" charset="0"/>
                    <a:ea typeface="Tahoma" panose="020B0604030504040204" pitchFamily="34" charset="0"/>
                    <a:cs typeface="Tahoma" panose="020B0604030504040204" pitchFamily="34" charset="0"/>
                  </a:rPr>
                  <a:t> </a:t>
                </a:r>
              </a:p>
              <a:p>
                <a:pPr marL="0" indent="0">
                  <a:lnSpc>
                    <a:spcPct val="150000"/>
                  </a:lnSpc>
                  <a:buNone/>
                </a:pPr>
                <a:endParaRPr lang="en-US"/>
              </a:p>
            </p:txBody>
          </p:sp>
        </mc:Choice>
        <mc:Fallback xmlns="">
          <p:sp>
            <p:nvSpPr>
              <p:cNvPr id="14" name="Content Placeholder 2">
                <a:extLst>
                  <a:ext uri="{FF2B5EF4-FFF2-40B4-BE49-F238E27FC236}">
                    <a16:creationId xmlns:a16="http://schemas.microsoft.com/office/drawing/2014/main" id="{95E04BED-9746-4EFE-BE6F-19440E01284E}"/>
                  </a:ext>
                </a:extLst>
              </p:cNvPr>
              <p:cNvSpPr txBox="1">
                <a:spLocks noRot="1" noChangeAspect="1" noMove="1" noResize="1" noEditPoints="1" noAdjustHandles="1" noChangeArrowheads="1" noChangeShapeType="1" noTextEdit="1"/>
              </p:cNvSpPr>
              <p:nvPr/>
            </p:nvSpPr>
            <p:spPr>
              <a:xfrm>
                <a:off x="857887" y="7162801"/>
                <a:ext cx="23145113" cy="5843586"/>
              </a:xfrm>
              <a:prstGeom prst="rect">
                <a:avLst/>
              </a:prstGeom>
              <a:blipFill>
                <a:blip r:embed="rId3"/>
                <a:stretch>
                  <a:fillRect t="-2289"/>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itle 1">
                <a:extLst>
                  <a:ext uri="{FF2B5EF4-FFF2-40B4-BE49-F238E27FC236}">
                    <a16:creationId xmlns:a16="http://schemas.microsoft.com/office/drawing/2014/main" id="{74F9BD66-E1B7-405E-9C49-3B8EC28C3119}"/>
                  </a:ext>
                </a:extLst>
              </p:cNvPr>
              <p:cNvSpPr txBox="1">
                <a:spLocks/>
              </p:cNvSpPr>
              <p:nvPr/>
            </p:nvSpPr>
            <p:spPr>
              <a:xfrm>
                <a:off x="838200" y="1879599"/>
                <a:ext cx="23164800" cy="4978401"/>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endParaRPr lang="en-US" b="1"/>
              </a:p>
              <a:p>
                <a:endParaRPr lang="en-US" b="1"/>
              </a:p>
              <a:p>
                <a:r>
                  <a:rPr lang="en-US" b="1"/>
                  <a:t>       7.3.</a:t>
                </a:r>
                <a:r>
                  <a:rPr lang="en-US"/>
                  <a:t> </a:t>
                </a:r>
                <a:r>
                  <a:rPr lang="en-US" sz="4800">
                    <a:latin typeface="Tahoma" panose="020B0604030504040204" pitchFamily="34" charset="0"/>
                    <a:ea typeface="Tahoma" panose="020B0604030504040204" pitchFamily="34" charset="0"/>
                    <a:cs typeface="Tahoma" panose="020B0604030504040204" pitchFamily="34" charset="0"/>
                  </a:rPr>
                  <a:t>Cho hai đường thẳng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𝛥</m:t>
                        </m:r>
                      </m:e>
                      <m:sub>
                        <m:r>
                          <a:rPr lang="en-US" sz="4800" i="1">
                            <a:latin typeface="Cambria Math" panose="02040503050406030204" pitchFamily="18" charset="0"/>
                          </a:rPr>
                          <m:t>1</m:t>
                        </m:r>
                      </m:sub>
                    </m:sSub>
                    <m:r>
                      <a:rPr lang="en-US" sz="4800" i="1">
                        <a:latin typeface="Cambria Math" panose="02040503050406030204" pitchFamily="18" charset="0"/>
                      </a:rPr>
                      <m:t>:</m:t>
                    </m:r>
                    <m:d>
                      <m:dPr>
                        <m:begChr m:val="{"/>
                        <m:endChr m:val=""/>
                        <m:ctrlPr>
                          <a:rPr lang="en-US" sz="4800" i="1">
                            <a:latin typeface="Cambria Math" panose="02040503050406030204" pitchFamily="18" charset="0"/>
                          </a:rPr>
                        </m:ctrlPr>
                      </m:dPr>
                      <m:e>
                        <m:eqArr>
                          <m:eqArrPr>
                            <m:ctrlPr>
                              <a:rPr lang="en-US" sz="4800" i="1">
                                <a:latin typeface="Cambria Math" panose="02040503050406030204" pitchFamily="18" charset="0"/>
                              </a:rPr>
                            </m:ctrlPr>
                          </m:eqArrPr>
                          <m:e>
                            <m:r>
                              <a:rPr lang="en-US" sz="4800" i="1">
                                <a:latin typeface="Cambria Math" panose="02040503050406030204" pitchFamily="18" charset="0"/>
                              </a:rPr>
                              <m:t>𝑥</m:t>
                            </m:r>
                            <m:r>
                              <a:rPr lang="en-US" sz="4800" i="1">
                                <a:latin typeface="Cambria Math" panose="02040503050406030204" pitchFamily="18" charset="0"/>
                              </a:rPr>
                              <m:t>=1+2</m:t>
                            </m:r>
                            <m:r>
                              <a:rPr lang="en-US" sz="4800" i="1">
                                <a:latin typeface="Cambria Math" panose="02040503050406030204" pitchFamily="18" charset="0"/>
                              </a:rPr>
                              <m:t>𝑡</m:t>
                            </m:r>
                          </m:e>
                          <m:e>
                            <m:r>
                              <a:rPr lang="en-US" sz="4800" i="1">
                                <a:latin typeface="Cambria Math" panose="02040503050406030204" pitchFamily="18" charset="0"/>
                              </a:rPr>
                              <m:t>𝑦</m:t>
                            </m:r>
                            <m:r>
                              <a:rPr lang="en-US" sz="4800" i="1">
                                <a:latin typeface="Cambria Math" panose="02040503050406030204" pitchFamily="18" charset="0"/>
                              </a:rPr>
                              <m:t>=3+5</m:t>
                            </m:r>
                            <m:r>
                              <a:rPr lang="en-US" sz="4800" i="1">
                                <a:latin typeface="Cambria Math" panose="02040503050406030204" pitchFamily="18" charset="0"/>
                              </a:rPr>
                              <m:t>𝑡</m:t>
                            </m:r>
                          </m:e>
                        </m:eqArr>
                      </m:e>
                    </m:d>
                  </m:oMath>
                </a14:m>
                <a:r>
                  <a:rPr lang="en-US" sz="4800">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𝛥</m:t>
                        </m:r>
                      </m:e>
                      <m:sub>
                        <m:r>
                          <a:rPr lang="en-US" sz="4800" i="1">
                            <a:latin typeface="Cambria Math" panose="02040503050406030204" pitchFamily="18" charset="0"/>
                          </a:rPr>
                          <m:t>2</m:t>
                        </m:r>
                      </m:sub>
                    </m:sSub>
                    <m:r>
                      <a:rPr lang="en-US" sz="4800" i="1">
                        <a:latin typeface="Cambria Math" panose="02040503050406030204" pitchFamily="18" charset="0"/>
                      </a:rPr>
                      <m:t>:2</m:t>
                    </m:r>
                    <m:func>
                      <m:funcPr>
                        <m:ctrlPr>
                          <a:rPr lang="en-US" sz="4800" i="1">
                            <a:latin typeface="Cambria Math" panose="02040503050406030204" pitchFamily="18" charset="0"/>
                          </a:rPr>
                        </m:ctrlPr>
                      </m:funcPr>
                      <m:fName>
                        <m:r>
                          <a:rPr lang="en-US" sz="4800" i="1">
                            <a:latin typeface="Cambria Math" panose="02040503050406030204" pitchFamily="18" charset="0"/>
                          </a:rPr>
                          <m:t>𝑥</m:t>
                        </m:r>
                      </m:fName>
                      <m:e>
                        <m:r>
                          <a:rPr lang="en-US" sz="4800" i="1">
                            <a:latin typeface="Cambria Math" panose="02040503050406030204" pitchFamily="18" charset="0"/>
                          </a:rPr>
                          <m:t>+</m:t>
                        </m:r>
                      </m:e>
                    </m:func>
                    <m:r>
                      <a:rPr lang="en-US" sz="4800" i="1">
                        <a:latin typeface="Cambria Math" panose="02040503050406030204" pitchFamily="18" charset="0"/>
                      </a:rPr>
                      <m:t>3</m:t>
                    </m:r>
                    <m:func>
                      <m:funcPr>
                        <m:ctrlPr>
                          <a:rPr lang="en-US" sz="4800" i="1">
                            <a:latin typeface="Cambria Math" panose="02040503050406030204" pitchFamily="18" charset="0"/>
                          </a:rPr>
                        </m:ctrlPr>
                      </m:funcPr>
                      <m:fName>
                        <m:r>
                          <a:rPr lang="en-US" sz="4800" i="1">
                            <a:latin typeface="Cambria Math" panose="02040503050406030204" pitchFamily="18" charset="0"/>
                          </a:rPr>
                          <m:t>𝑦</m:t>
                        </m:r>
                      </m:fName>
                      <m:e>
                        <m:r>
                          <a:rPr lang="en-US" sz="4800" i="1">
                            <a:latin typeface="Cambria Math" panose="02040503050406030204" pitchFamily="18" charset="0"/>
                          </a:rPr>
                          <m:t>−</m:t>
                        </m:r>
                      </m:e>
                    </m:func>
                    <m:r>
                      <a:rPr lang="en-US" sz="4800" i="1">
                        <a:latin typeface="Cambria Math" panose="02040503050406030204" pitchFamily="18" charset="0"/>
                      </a:rPr>
                      <m:t>5=0.</m:t>
                    </m:r>
                  </m:oMath>
                </a14:m>
                <a:endParaRPr lang="en-US" sz="4800">
                  <a:latin typeface="Tahoma" panose="020B0604030504040204" pitchFamily="34" charset="0"/>
                  <a:ea typeface="Tahoma" panose="020B0604030504040204" pitchFamily="34" charset="0"/>
                  <a:cs typeface="Tahoma" panose="020B0604030504040204" pitchFamily="34" charset="0"/>
                </a:endParaRPr>
              </a:p>
              <a:p>
                <a:r>
                  <a:rPr lang="en-US" sz="4800">
                    <a:latin typeface="Tahoma" panose="020B0604030504040204" pitchFamily="34" charset="0"/>
                    <a:ea typeface="Tahoma" panose="020B0604030504040204" pitchFamily="34" charset="0"/>
                    <a:cs typeface="Tahoma" panose="020B0604030504040204" pitchFamily="34" charset="0"/>
                  </a:rPr>
                  <a:t>	a) Lập phương trình tổng quát của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𝛥</m:t>
                        </m:r>
                      </m:e>
                      <m:sub>
                        <m:r>
                          <a:rPr lang="en-US" sz="4800" i="1">
                            <a:latin typeface="Cambria Math" panose="02040503050406030204" pitchFamily="18" charset="0"/>
                          </a:rPr>
                          <m:t>1</m:t>
                        </m:r>
                      </m:sub>
                    </m:sSub>
                    <m:r>
                      <a:rPr lang="en-US" sz="4800" i="1">
                        <a:latin typeface="Cambria Math" panose="02040503050406030204" pitchFamily="18" charset="0"/>
                      </a:rPr>
                      <m:t>.</m:t>
                    </m:r>
                  </m:oMath>
                </a14:m>
                <a:endParaRPr lang="en-US" sz="4800">
                  <a:latin typeface="Tahoma" panose="020B0604030504040204" pitchFamily="34" charset="0"/>
                  <a:ea typeface="Tahoma" panose="020B0604030504040204" pitchFamily="34" charset="0"/>
                  <a:cs typeface="Tahoma" panose="020B0604030504040204" pitchFamily="34" charset="0"/>
                </a:endParaRPr>
              </a:p>
              <a:p>
                <a:r>
                  <a:rPr lang="en-US" sz="4800">
                    <a:latin typeface="Tahoma" panose="020B0604030504040204" pitchFamily="34" charset="0"/>
                    <a:ea typeface="Tahoma" panose="020B0604030504040204" pitchFamily="34" charset="0"/>
                    <a:cs typeface="Tahoma" panose="020B0604030504040204" pitchFamily="34" charset="0"/>
                  </a:rPr>
                  <a:t>	b) Lập phương trình tham số của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𝛥</m:t>
                        </m:r>
                      </m:e>
                      <m:sub>
                        <m:r>
                          <a:rPr lang="en-US" sz="4800" i="1">
                            <a:latin typeface="Cambria Math" panose="02040503050406030204" pitchFamily="18" charset="0"/>
                          </a:rPr>
                          <m:t>2</m:t>
                        </m:r>
                      </m:sub>
                    </m:sSub>
                    <m:r>
                      <a:rPr lang="en-US" sz="4800" i="1">
                        <a:latin typeface="Cambria Math" panose="02040503050406030204" pitchFamily="18" charset="0"/>
                      </a:rPr>
                      <m:t>.</m:t>
                    </m:r>
                  </m:oMath>
                </a14:m>
                <a:endParaRPr lang="en-US" sz="4800">
                  <a:latin typeface="Tahoma" panose="020B0604030504040204" pitchFamily="34" charset="0"/>
                  <a:ea typeface="Tahoma" panose="020B0604030504040204" pitchFamily="34" charset="0"/>
                  <a:cs typeface="Tahoma" panose="020B0604030504040204" pitchFamily="34" charset="0"/>
                </a:endParaRPr>
              </a:p>
              <a:p>
                <a:pPr>
                  <a:lnSpc>
                    <a:spcPct val="100000"/>
                  </a:lnSpc>
                </a:pPr>
                <a:endParaRPr lang="en-US"/>
              </a:p>
            </p:txBody>
          </p:sp>
        </mc:Choice>
        <mc:Fallback xmlns="">
          <p:sp>
            <p:nvSpPr>
              <p:cNvPr id="17" name="Title 1">
                <a:extLst>
                  <a:ext uri="{FF2B5EF4-FFF2-40B4-BE49-F238E27FC236}">
                    <a16:creationId xmlns:a16="http://schemas.microsoft.com/office/drawing/2014/main" id="{74F9BD66-E1B7-405E-9C49-3B8EC28C3119}"/>
                  </a:ext>
                </a:extLst>
              </p:cNvPr>
              <p:cNvSpPr txBox="1">
                <a:spLocks noRot="1" noChangeAspect="1" noMove="1" noResize="1" noEditPoints="1" noAdjustHandles="1" noChangeArrowheads="1" noChangeShapeType="1" noTextEdit="1"/>
              </p:cNvSpPr>
              <p:nvPr/>
            </p:nvSpPr>
            <p:spPr>
              <a:xfrm>
                <a:off x="838200" y="1879599"/>
                <a:ext cx="23164800" cy="4978401"/>
              </a:xfrm>
              <a:prstGeom prst="rect">
                <a:avLst/>
              </a:prstGeom>
              <a:blipFill>
                <a:blip r:embed="rId4"/>
                <a:stretch>
                  <a:fillRect/>
                </a:stretch>
              </a:blipFill>
              <a:ln>
                <a:solidFill>
                  <a:schemeClr val="tx2">
                    <a:lumMod val="20000"/>
                    <a:lumOff val="80000"/>
                  </a:schemeClr>
                </a:solidFill>
              </a:ln>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DE84E17C-27B3-431C-850F-F57B7D655D26}"/>
              </a:ext>
            </a:extLst>
          </p:cNvPr>
          <p:cNvGrpSpPr/>
          <p:nvPr/>
        </p:nvGrpSpPr>
        <p:grpSpPr>
          <a:xfrm>
            <a:off x="400878" y="2057400"/>
            <a:ext cx="3989314" cy="1183262"/>
            <a:chOff x="22440" y="44679"/>
            <a:chExt cx="953655" cy="252442"/>
          </a:xfrm>
        </p:grpSpPr>
        <p:grpSp>
          <p:nvGrpSpPr>
            <p:cNvPr id="19" name="Group 18">
              <a:extLst>
                <a:ext uri="{FF2B5EF4-FFF2-40B4-BE49-F238E27FC236}">
                  <a16:creationId xmlns:a16="http://schemas.microsoft.com/office/drawing/2014/main" id="{AA60C9BE-2282-4378-92C3-800BEEC2385D}"/>
                </a:ext>
              </a:extLst>
            </p:cNvPr>
            <p:cNvGrpSpPr/>
            <p:nvPr/>
          </p:nvGrpSpPr>
          <p:grpSpPr>
            <a:xfrm>
              <a:off x="22440" y="59287"/>
              <a:ext cx="953655" cy="159667"/>
              <a:chOff x="31572" y="60276"/>
              <a:chExt cx="1341810" cy="197595"/>
            </a:xfrm>
          </p:grpSpPr>
          <p:sp>
            <p:nvSpPr>
              <p:cNvPr id="21" name="Arrow: Pentagon 20">
                <a:extLst>
                  <a:ext uri="{FF2B5EF4-FFF2-40B4-BE49-F238E27FC236}">
                    <a16:creationId xmlns:a16="http://schemas.microsoft.com/office/drawing/2014/main" id="{A5F5C0E7-DF43-4B21-96BA-478BC1C2F9AB}"/>
                  </a:ext>
                </a:extLst>
              </p:cNvPr>
              <p:cNvSpPr/>
              <p:nvPr/>
            </p:nvSpPr>
            <p:spPr>
              <a:xfrm>
                <a:off x="204506" y="61809"/>
                <a:ext cx="1168876" cy="19606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0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2" name="Arrow: Chevron 21">
                <a:extLst>
                  <a:ext uri="{FF2B5EF4-FFF2-40B4-BE49-F238E27FC236}">
                    <a16:creationId xmlns:a16="http://schemas.microsoft.com/office/drawing/2014/main" id="{518F6DE5-B00E-45E7-B8F1-47FD80335114}"/>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endParaRPr lang="en-US"/>
              </a:p>
            </p:txBody>
          </p:sp>
          <p:sp>
            <p:nvSpPr>
              <p:cNvPr id="23" name="Arrow: Chevron 22">
                <a:extLst>
                  <a:ext uri="{FF2B5EF4-FFF2-40B4-BE49-F238E27FC236}">
                    <a16:creationId xmlns:a16="http://schemas.microsoft.com/office/drawing/2014/main" id="{57C817BB-0211-4966-AACE-08D8CFA3E87E}"/>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endParaRPr lang="en-US"/>
              </a:p>
            </p:txBody>
          </p:sp>
        </p:grpSp>
        <p:sp>
          <p:nvSpPr>
            <p:cNvPr id="20" name="TextBox 56">
              <a:extLst>
                <a:ext uri="{FF2B5EF4-FFF2-40B4-BE49-F238E27FC236}">
                  <a16:creationId xmlns:a16="http://schemas.microsoft.com/office/drawing/2014/main" id="{7D6FEC55-2C19-4321-952B-21EE88734680}"/>
                </a:ext>
              </a:extLst>
            </p:cNvPr>
            <p:cNvSpPr txBox="1"/>
            <p:nvPr/>
          </p:nvSpPr>
          <p:spPr>
            <a:xfrm>
              <a:off x="267457" y="44679"/>
              <a:ext cx="580215" cy="252442"/>
            </a:xfrm>
            <a:prstGeom prst="rect">
              <a:avLst/>
            </a:prstGeom>
            <a:noFill/>
          </p:spPr>
          <p:txBody>
            <a:bodyPr wrap="square">
              <a:noAutofit/>
            </a:bodyPr>
            <a:lstStyle/>
            <a:p>
              <a:pPr marL="0" marR="0">
                <a:lnSpc>
                  <a:spcPct val="107000"/>
                </a:lnSpc>
                <a:spcBef>
                  <a:spcPts val="0"/>
                </a:spcBef>
                <a:spcAft>
                  <a:spcPts val="800"/>
                </a:spcAft>
              </a:pPr>
              <a:r>
                <a:rPr lang="en-US" sz="4800" b="1" kern="1200">
                  <a:solidFill>
                    <a:srgbClr val="0000CC"/>
                  </a:solidFill>
                  <a:effectLst/>
                  <a:latin typeface="Tahoma" panose="020B0604030504040204" pitchFamily="34" charset="0"/>
                  <a:ea typeface="Tahoma" panose="020B0604030504040204" pitchFamily="34" charset="0"/>
                  <a:cs typeface="Tahoma" panose="020B0604030504040204" pitchFamily="34" charset="0"/>
                </a:rPr>
                <a:t>Bài tập</a:t>
              </a:r>
              <a:r>
                <a:rPr lang="en-US" sz="1200" b="1" kern="1200">
                  <a:solidFill>
                    <a:srgbClr val="0000CC"/>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5" name="Rounded Rectangle 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29" name="TextBox 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55906420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wipe(up)">
                                      <p:cBhvr>
                                        <p:cTn id="7" dur="500"/>
                                        <p:tgtEl>
                                          <p:spTgt spid="1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wipe(up)">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
                                            <p:txEl>
                                              <p:pRg st="3" end="3"/>
                                            </p:txEl>
                                          </p:spTgt>
                                        </p:tgtEl>
                                        <p:attrNameLst>
                                          <p:attrName>style.visibility</p:attrName>
                                        </p:attrNameLst>
                                      </p:cBhvr>
                                      <p:to>
                                        <p:strVal val="visible"/>
                                      </p:to>
                                    </p:set>
                                    <p:animEffect transition="in" filter="wipe(up)">
                                      <p:cBhvr>
                                        <p:cTn id="17" dur="500"/>
                                        <p:tgtEl>
                                          <p:spTgt spid="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7">
            <a:extLst>
              <a:ext uri="{FF2B5EF4-FFF2-40B4-BE49-F238E27FC236}">
                <a16:creationId xmlns:a16="http://schemas.microsoft.com/office/drawing/2014/main" id="{331DD36C-2757-4762-8AC6-F5DBBC77921A}"/>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10">
            <a:extLst>
              <a:ext uri="{FF2B5EF4-FFF2-40B4-BE49-F238E27FC236}">
                <a16:creationId xmlns:a16="http://schemas.microsoft.com/office/drawing/2014/main" id="{75B83596-23B8-4650-9517-74C0A031E4BF}"/>
              </a:ext>
            </a:extLst>
          </p:cNvPr>
          <p:cNvSpPr>
            <a:spLocks noChangeArrowheads="1"/>
          </p:cNvSpPr>
          <p:nvPr/>
        </p:nvSpPr>
        <p:spPr bwMode="auto">
          <a:xfrm>
            <a:off x="0" y="709613"/>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95E04BED-9746-4EFE-BE6F-19440E01284E}"/>
                  </a:ext>
                </a:extLst>
              </p:cNvPr>
              <p:cNvSpPr txBox="1">
                <a:spLocks/>
              </p:cNvSpPr>
              <p:nvPr/>
            </p:nvSpPr>
            <p:spPr>
              <a:xfrm>
                <a:off x="857887" y="6420908"/>
                <a:ext cx="14534513" cy="658548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lnSpc>
                    <a:spcPct val="100000"/>
                  </a:lnSpc>
                  <a:buNone/>
                </a:pPr>
                <a:r>
                  <a:rPr lang="en-US" b="1">
                    <a:latin typeface="Tahoma" panose="020B0604030504040204" pitchFamily="34" charset="0"/>
                    <a:ea typeface="Tahoma" panose="020B0604030504040204" pitchFamily="34" charset="0"/>
                    <a:cs typeface="Tahoma" panose="020B0604030504040204" pitchFamily="34" charset="0"/>
                  </a:rPr>
                  <a:t>Giải</a:t>
                </a:r>
                <a:endParaRPr lang="en-US">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buNone/>
                </a:pPr>
                <a:r>
                  <a:rPr lang="en-US">
                    <a:latin typeface="Tahoma" panose="020B0604030504040204" pitchFamily="34" charset="0"/>
                    <a:ea typeface="Tahoma" panose="020B0604030504040204" pitchFamily="34" charset="0"/>
                    <a:cs typeface="Tahoma" panose="020B0604030504040204" pitchFamily="34" charset="0"/>
                  </a:rPr>
                  <a:t>	a) Lập phương trình đường cao kẻ từ </a:t>
                </a:r>
                <a14:m>
                  <m:oMath xmlns:m="http://schemas.openxmlformats.org/officeDocument/2006/math">
                    <m:r>
                      <a:rPr lang="en-US" i="1">
                        <a:latin typeface="Cambria Math" panose="02040503050406030204" pitchFamily="18" charset="0"/>
                      </a:rPr>
                      <m:t>𝐴</m:t>
                    </m:r>
                    <m:r>
                      <a:rPr lang="en-US" i="1">
                        <a:latin typeface="Cambria Math" panose="02040503050406030204" pitchFamily="18" charset="0"/>
                      </a:rPr>
                      <m:t>.</m:t>
                    </m:r>
                  </m:oMath>
                </a14:m>
                <a:endParaRPr lang="en-US">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buNone/>
                </a:pPr>
                <a:r>
                  <a:rPr lang="en-US">
                    <a:latin typeface="Tahoma" panose="020B0604030504040204" pitchFamily="34" charset="0"/>
                    <a:ea typeface="Tahoma" panose="020B0604030504040204" pitchFamily="34" charset="0"/>
                    <a:cs typeface="Tahoma" panose="020B0604030504040204" pitchFamily="34" charset="0"/>
                  </a:rPr>
                  <a:t>   Đường cao kẻ từ </a:t>
                </a:r>
                <a14:m>
                  <m:oMath xmlns:m="http://schemas.openxmlformats.org/officeDocument/2006/math">
                    <m:r>
                      <a:rPr lang="en-US" i="1">
                        <a:latin typeface="Cambria Math" panose="02040503050406030204" pitchFamily="18" charset="0"/>
                      </a:rPr>
                      <m:t>𝐴</m:t>
                    </m:r>
                  </m:oMath>
                </a14:m>
                <a:r>
                  <a:rPr lang="en-US">
                    <a:latin typeface="Tahoma" panose="020B0604030504040204" pitchFamily="34" charset="0"/>
                    <a:ea typeface="Tahoma" panose="020B0604030504040204" pitchFamily="34" charset="0"/>
                    <a:cs typeface="Tahoma" panose="020B0604030504040204" pitchFamily="34" charset="0"/>
                  </a:rPr>
                  <a:t> đi qua </a:t>
                </a:r>
                <a14:m>
                  <m:oMath xmlns:m="http://schemas.openxmlformats.org/officeDocument/2006/math">
                    <m:r>
                      <a:rPr lang="en-US" i="1">
                        <a:latin typeface="Cambria Math" panose="02040503050406030204" pitchFamily="18" charset="0"/>
                      </a:rPr>
                      <m:t>𝐴</m:t>
                    </m:r>
                    <m:d>
                      <m:dPr>
                        <m:ctrlPr>
                          <a:rPr lang="en-US" i="1">
                            <a:latin typeface="Cambria Math" panose="02040503050406030204" pitchFamily="18" charset="0"/>
                          </a:rPr>
                        </m:ctrlPr>
                      </m:dPr>
                      <m:e>
                        <m:r>
                          <a:rPr lang="en-US" i="1">
                            <a:latin typeface="Cambria Math" panose="02040503050406030204" pitchFamily="18" charset="0"/>
                          </a:rPr>
                          <m:t>1;2</m:t>
                        </m:r>
                      </m:e>
                    </m:d>
                  </m:oMath>
                </a14:m>
                <a:r>
                  <a:rPr lang="en-US">
                    <a:latin typeface="Tahoma" panose="020B0604030504040204" pitchFamily="34" charset="0"/>
                    <a:ea typeface="Tahoma" panose="020B0604030504040204" pitchFamily="34" charset="0"/>
                    <a:cs typeface="Tahoma" panose="020B0604030504040204" pitchFamily="34" charset="0"/>
                  </a:rPr>
                  <a:t> và nhận vectơ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𝐶𝐵</m:t>
                        </m:r>
                      </m:e>
                    </m:acc>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5;1</m:t>
                        </m:r>
                      </m:e>
                    </m:d>
                  </m:oMath>
                </a14:m>
                <a:r>
                  <a:rPr lang="en-US">
                    <a:latin typeface="Tahoma" panose="020B0604030504040204" pitchFamily="34" charset="0"/>
                    <a:ea typeface="Tahoma" panose="020B0604030504040204" pitchFamily="34" charset="0"/>
                    <a:cs typeface="Tahoma" panose="020B0604030504040204" pitchFamily="34" charset="0"/>
                  </a:rPr>
                  <a:t> là vectơ pháp tuyến có phương trình là</a:t>
                </a:r>
              </a:p>
              <a:p>
                <a:pPr marL="0" indent="0">
                  <a:lnSpc>
                    <a:spcPct val="150000"/>
                  </a:lnSpc>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5</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−7=0.</m:t>
                      </m:r>
                    </m:oMath>
                  </m:oMathPara>
                </a14:m>
                <a:endParaRPr lang="en-US">
                  <a:latin typeface="Tahoma" panose="020B0604030504040204" pitchFamily="34" charset="0"/>
                  <a:ea typeface="Tahoma" panose="020B0604030504040204" pitchFamily="34" charset="0"/>
                  <a:cs typeface="Tahoma" panose="020B0604030504040204" pitchFamily="34" charset="0"/>
                </a:endParaRPr>
              </a:p>
              <a:p>
                <a:pPr marL="0" indent="0">
                  <a:lnSpc>
                    <a:spcPct val="150000"/>
                  </a:lnSpc>
                  <a:buNone/>
                </a:pPr>
                <a:endParaRPr lang="en-US"/>
              </a:p>
            </p:txBody>
          </p:sp>
        </mc:Choice>
        <mc:Fallback xmlns="">
          <p:sp>
            <p:nvSpPr>
              <p:cNvPr id="14" name="Content Placeholder 2">
                <a:extLst>
                  <a:ext uri="{FF2B5EF4-FFF2-40B4-BE49-F238E27FC236}">
                    <a16:creationId xmlns:a16="http://schemas.microsoft.com/office/drawing/2014/main" id="{95E04BED-9746-4EFE-BE6F-19440E01284E}"/>
                  </a:ext>
                </a:extLst>
              </p:cNvPr>
              <p:cNvSpPr txBox="1">
                <a:spLocks noRot="1" noChangeAspect="1" noMove="1" noResize="1" noEditPoints="1" noAdjustHandles="1" noChangeArrowheads="1" noChangeShapeType="1" noTextEdit="1"/>
              </p:cNvSpPr>
              <p:nvPr/>
            </p:nvSpPr>
            <p:spPr>
              <a:xfrm>
                <a:off x="857887" y="6420908"/>
                <a:ext cx="14534513" cy="6585480"/>
              </a:xfrm>
              <a:prstGeom prst="rect">
                <a:avLst/>
              </a:prstGeom>
              <a:blipFill>
                <a:blip r:embed="rId3"/>
                <a:stretch>
                  <a:fillRect t="-2031"/>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itle 1">
                <a:extLst>
                  <a:ext uri="{FF2B5EF4-FFF2-40B4-BE49-F238E27FC236}">
                    <a16:creationId xmlns:a16="http://schemas.microsoft.com/office/drawing/2014/main" id="{74F9BD66-E1B7-405E-9C49-3B8EC28C3119}"/>
                  </a:ext>
                </a:extLst>
              </p:cNvPr>
              <p:cNvSpPr txBox="1">
                <a:spLocks/>
              </p:cNvSpPr>
              <p:nvPr/>
            </p:nvSpPr>
            <p:spPr>
              <a:xfrm>
                <a:off x="838200" y="1742440"/>
                <a:ext cx="23164800" cy="4295036"/>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endParaRPr lang="en-US" b="1"/>
              </a:p>
              <a:p>
                <a:endParaRPr lang="en-US" b="1"/>
              </a:p>
              <a:p>
                <a:r>
                  <a:rPr lang="en-US" b="1"/>
                  <a:t>       7.4.</a:t>
                </a:r>
                <a:r>
                  <a:rPr lang="en-US"/>
                  <a:t> </a:t>
                </a:r>
                <a:r>
                  <a:rPr lang="en-US" sz="4800">
                    <a:latin typeface="Tahoma" panose="020B0604030504040204" pitchFamily="34" charset="0"/>
                    <a:ea typeface="Tahoma" panose="020B0604030504040204" pitchFamily="34" charset="0"/>
                    <a:cs typeface="Tahoma" panose="020B0604030504040204" pitchFamily="34" charset="0"/>
                  </a:rPr>
                  <a:t>Trong mặt phẳng tọa độ, cho tam giác </a:t>
                </a:r>
                <a14:m>
                  <m:oMath xmlns:m="http://schemas.openxmlformats.org/officeDocument/2006/math">
                    <m:r>
                      <a:rPr lang="en-US" sz="4800" i="1">
                        <a:latin typeface="Cambria Math" panose="02040503050406030204" pitchFamily="18" charset="0"/>
                      </a:rPr>
                      <m:t>𝐴𝐵𝐶</m:t>
                    </m:r>
                  </m:oMath>
                </a14:m>
                <a:r>
                  <a:rPr lang="en-US" sz="4800">
                    <a:latin typeface="Tahoma" panose="020B0604030504040204" pitchFamily="34" charset="0"/>
                    <a:ea typeface="Tahoma" panose="020B0604030504040204" pitchFamily="34" charset="0"/>
                    <a:cs typeface="Tahoma" panose="020B0604030504040204" pitchFamily="34" charset="0"/>
                  </a:rPr>
                  <a:t> có </a:t>
                </a:r>
                <a14:m>
                  <m:oMath xmlns:m="http://schemas.openxmlformats.org/officeDocument/2006/math">
                    <m:r>
                      <a:rPr lang="en-US" sz="4800" i="1">
                        <a:latin typeface="Cambria Math" panose="02040503050406030204" pitchFamily="18" charset="0"/>
                      </a:rPr>
                      <m:t>𝐴</m:t>
                    </m:r>
                    <m:d>
                      <m:dPr>
                        <m:ctrlPr>
                          <a:rPr lang="en-US" sz="4800" i="1">
                            <a:latin typeface="Cambria Math" panose="02040503050406030204" pitchFamily="18" charset="0"/>
                          </a:rPr>
                        </m:ctrlPr>
                      </m:dPr>
                      <m:e>
                        <m:r>
                          <a:rPr lang="en-US" sz="4800" i="1">
                            <a:latin typeface="Cambria Math" panose="02040503050406030204" pitchFamily="18" charset="0"/>
                          </a:rPr>
                          <m:t>1;2</m:t>
                        </m:r>
                      </m:e>
                    </m:d>
                    <m:r>
                      <a:rPr lang="en-US" sz="4800" i="1">
                        <a:latin typeface="Cambria Math" panose="02040503050406030204" pitchFamily="18" charset="0"/>
                      </a:rPr>
                      <m:t>,</m:t>
                    </m:r>
                    <m:r>
                      <a:rPr lang="en-US" sz="4800" i="1">
                        <a:latin typeface="Cambria Math" panose="02040503050406030204" pitchFamily="18" charset="0"/>
                      </a:rPr>
                      <m:t>𝐵</m:t>
                    </m:r>
                    <m:d>
                      <m:dPr>
                        <m:ctrlPr>
                          <a:rPr lang="en-US" sz="4800" i="1">
                            <a:latin typeface="Cambria Math" panose="02040503050406030204" pitchFamily="18" charset="0"/>
                          </a:rPr>
                        </m:ctrlPr>
                      </m:dPr>
                      <m:e>
                        <m:r>
                          <a:rPr lang="en-US" sz="4800" i="1">
                            <a:latin typeface="Cambria Math" panose="02040503050406030204" pitchFamily="18" charset="0"/>
                          </a:rPr>
                          <m:t>3;0</m:t>
                        </m:r>
                      </m:e>
                    </m:d>
                  </m:oMath>
                </a14:m>
                <a:r>
                  <a:rPr lang="en-US" sz="4800">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r>
                      <a:rPr lang="en-US" sz="4800" i="1">
                        <a:latin typeface="Cambria Math" panose="02040503050406030204" pitchFamily="18" charset="0"/>
                      </a:rPr>
                      <m:t>𝐶</m:t>
                    </m:r>
                    <m:d>
                      <m:dPr>
                        <m:ctrlPr>
                          <a:rPr lang="en-US" sz="4800" i="1">
                            <a:latin typeface="Cambria Math" panose="02040503050406030204" pitchFamily="18" charset="0"/>
                          </a:rPr>
                        </m:ctrlPr>
                      </m:dPr>
                      <m:e>
                        <m:r>
                          <a:rPr lang="en-US" sz="4800" i="1">
                            <a:latin typeface="Cambria Math" panose="02040503050406030204" pitchFamily="18" charset="0"/>
                          </a:rPr>
                          <m:t>−2;−1</m:t>
                        </m:r>
                      </m:e>
                    </m:d>
                    <m:r>
                      <a:rPr lang="en-US" sz="4800" i="1">
                        <a:latin typeface="Cambria Math" panose="02040503050406030204" pitchFamily="18" charset="0"/>
                      </a:rPr>
                      <m:t>.</m:t>
                    </m:r>
                  </m:oMath>
                </a14:m>
                <a:endParaRPr lang="en-US" sz="4800">
                  <a:latin typeface="Tahoma" panose="020B0604030504040204" pitchFamily="34" charset="0"/>
                  <a:ea typeface="Tahoma" panose="020B0604030504040204" pitchFamily="34" charset="0"/>
                  <a:cs typeface="Tahoma" panose="020B0604030504040204" pitchFamily="34" charset="0"/>
                </a:endParaRPr>
              </a:p>
              <a:p>
                <a:r>
                  <a:rPr lang="en-US" sz="4800">
                    <a:latin typeface="Tahoma" panose="020B0604030504040204" pitchFamily="34" charset="0"/>
                    <a:ea typeface="Tahoma" panose="020B0604030504040204" pitchFamily="34" charset="0"/>
                    <a:cs typeface="Tahoma" panose="020B0604030504040204" pitchFamily="34" charset="0"/>
                  </a:rPr>
                  <a:t>	a) Lập phương trình đường cao kẻ từ </a:t>
                </a:r>
                <a14:m>
                  <m:oMath xmlns:m="http://schemas.openxmlformats.org/officeDocument/2006/math">
                    <m:r>
                      <a:rPr lang="en-US" sz="4800" i="1">
                        <a:latin typeface="Cambria Math" panose="02040503050406030204" pitchFamily="18" charset="0"/>
                      </a:rPr>
                      <m:t>𝐴</m:t>
                    </m:r>
                    <m:r>
                      <a:rPr lang="en-US" sz="4800" i="1">
                        <a:latin typeface="Cambria Math" panose="02040503050406030204" pitchFamily="18" charset="0"/>
                      </a:rPr>
                      <m:t>.</m:t>
                    </m:r>
                  </m:oMath>
                </a14:m>
                <a:endParaRPr lang="en-US" sz="4800">
                  <a:latin typeface="Tahoma" panose="020B0604030504040204" pitchFamily="34" charset="0"/>
                  <a:ea typeface="Tahoma" panose="020B0604030504040204" pitchFamily="34" charset="0"/>
                  <a:cs typeface="Tahoma" panose="020B0604030504040204" pitchFamily="34" charset="0"/>
                </a:endParaRPr>
              </a:p>
              <a:p>
                <a:r>
                  <a:rPr lang="en-US" sz="4800">
                    <a:latin typeface="Tahoma" panose="020B0604030504040204" pitchFamily="34" charset="0"/>
                    <a:ea typeface="Tahoma" panose="020B0604030504040204" pitchFamily="34" charset="0"/>
                    <a:cs typeface="Tahoma" panose="020B0604030504040204" pitchFamily="34" charset="0"/>
                  </a:rPr>
                  <a:t>	b) Lập phương trình đường trung tuyến kẻ từ </a:t>
                </a:r>
                <a14:m>
                  <m:oMath xmlns:m="http://schemas.openxmlformats.org/officeDocument/2006/math">
                    <m:r>
                      <a:rPr lang="en-US" sz="4800" i="1">
                        <a:latin typeface="Cambria Math" panose="02040503050406030204" pitchFamily="18" charset="0"/>
                      </a:rPr>
                      <m:t>𝐵</m:t>
                    </m:r>
                    <m:r>
                      <a:rPr lang="en-US" sz="4800" i="1">
                        <a:latin typeface="Cambria Math" panose="02040503050406030204" pitchFamily="18" charset="0"/>
                      </a:rPr>
                      <m:t>.</m:t>
                    </m:r>
                  </m:oMath>
                </a14:m>
                <a:endParaRPr lang="en-US" sz="4800">
                  <a:latin typeface="Tahoma" panose="020B0604030504040204" pitchFamily="34" charset="0"/>
                  <a:ea typeface="Tahoma" panose="020B0604030504040204" pitchFamily="34" charset="0"/>
                  <a:cs typeface="Tahoma" panose="020B0604030504040204" pitchFamily="34" charset="0"/>
                </a:endParaRPr>
              </a:p>
              <a:p>
                <a:pPr>
                  <a:lnSpc>
                    <a:spcPct val="100000"/>
                  </a:lnSpc>
                </a:pPr>
                <a:endParaRPr lang="en-US"/>
              </a:p>
            </p:txBody>
          </p:sp>
        </mc:Choice>
        <mc:Fallback xmlns="">
          <p:sp>
            <p:nvSpPr>
              <p:cNvPr id="17" name="Title 1">
                <a:extLst>
                  <a:ext uri="{FF2B5EF4-FFF2-40B4-BE49-F238E27FC236}">
                    <a16:creationId xmlns:a16="http://schemas.microsoft.com/office/drawing/2014/main" id="{74F9BD66-E1B7-405E-9C49-3B8EC28C3119}"/>
                  </a:ext>
                </a:extLst>
              </p:cNvPr>
              <p:cNvSpPr txBox="1">
                <a:spLocks noRot="1" noChangeAspect="1" noMove="1" noResize="1" noEditPoints="1" noAdjustHandles="1" noChangeArrowheads="1" noChangeShapeType="1" noTextEdit="1"/>
              </p:cNvSpPr>
              <p:nvPr/>
            </p:nvSpPr>
            <p:spPr>
              <a:xfrm>
                <a:off x="838200" y="1742440"/>
                <a:ext cx="23164800" cy="4295036"/>
              </a:xfrm>
              <a:prstGeom prst="rect">
                <a:avLst/>
              </a:prstGeom>
              <a:blipFill>
                <a:blip r:embed="rId4"/>
                <a:stretch>
                  <a:fillRect/>
                </a:stretch>
              </a:blipFill>
              <a:ln>
                <a:solidFill>
                  <a:schemeClr val="tx2">
                    <a:lumMod val="20000"/>
                    <a:lumOff val="80000"/>
                  </a:schemeClr>
                </a:solidFill>
              </a:ln>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DE84E17C-27B3-431C-850F-F57B7D655D26}"/>
              </a:ext>
            </a:extLst>
          </p:cNvPr>
          <p:cNvGrpSpPr/>
          <p:nvPr/>
        </p:nvGrpSpPr>
        <p:grpSpPr>
          <a:xfrm>
            <a:off x="400878" y="2057400"/>
            <a:ext cx="3989314" cy="1183262"/>
            <a:chOff x="22440" y="44679"/>
            <a:chExt cx="953655" cy="252442"/>
          </a:xfrm>
        </p:grpSpPr>
        <p:grpSp>
          <p:nvGrpSpPr>
            <p:cNvPr id="19" name="Group 18">
              <a:extLst>
                <a:ext uri="{FF2B5EF4-FFF2-40B4-BE49-F238E27FC236}">
                  <a16:creationId xmlns:a16="http://schemas.microsoft.com/office/drawing/2014/main" id="{AA60C9BE-2282-4378-92C3-800BEEC2385D}"/>
                </a:ext>
              </a:extLst>
            </p:cNvPr>
            <p:cNvGrpSpPr/>
            <p:nvPr/>
          </p:nvGrpSpPr>
          <p:grpSpPr>
            <a:xfrm>
              <a:off x="22440" y="59287"/>
              <a:ext cx="953655" cy="159667"/>
              <a:chOff x="31572" y="60276"/>
              <a:chExt cx="1341810" cy="197595"/>
            </a:xfrm>
          </p:grpSpPr>
          <p:sp>
            <p:nvSpPr>
              <p:cNvPr id="21" name="Arrow: Pentagon 20">
                <a:extLst>
                  <a:ext uri="{FF2B5EF4-FFF2-40B4-BE49-F238E27FC236}">
                    <a16:creationId xmlns:a16="http://schemas.microsoft.com/office/drawing/2014/main" id="{A5F5C0E7-DF43-4B21-96BA-478BC1C2F9AB}"/>
                  </a:ext>
                </a:extLst>
              </p:cNvPr>
              <p:cNvSpPr/>
              <p:nvPr/>
            </p:nvSpPr>
            <p:spPr>
              <a:xfrm>
                <a:off x="204506" y="61809"/>
                <a:ext cx="1168876" cy="19606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0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2" name="Arrow: Chevron 21">
                <a:extLst>
                  <a:ext uri="{FF2B5EF4-FFF2-40B4-BE49-F238E27FC236}">
                    <a16:creationId xmlns:a16="http://schemas.microsoft.com/office/drawing/2014/main" id="{518F6DE5-B00E-45E7-B8F1-47FD80335114}"/>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endParaRPr lang="en-US"/>
              </a:p>
            </p:txBody>
          </p:sp>
          <p:sp>
            <p:nvSpPr>
              <p:cNvPr id="23" name="Arrow: Chevron 22">
                <a:extLst>
                  <a:ext uri="{FF2B5EF4-FFF2-40B4-BE49-F238E27FC236}">
                    <a16:creationId xmlns:a16="http://schemas.microsoft.com/office/drawing/2014/main" id="{57C817BB-0211-4966-AACE-08D8CFA3E87E}"/>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endParaRPr lang="en-US"/>
              </a:p>
            </p:txBody>
          </p:sp>
        </p:grpSp>
        <p:sp>
          <p:nvSpPr>
            <p:cNvPr id="20" name="TextBox 56">
              <a:extLst>
                <a:ext uri="{FF2B5EF4-FFF2-40B4-BE49-F238E27FC236}">
                  <a16:creationId xmlns:a16="http://schemas.microsoft.com/office/drawing/2014/main" id="{7D6FEC55-2C19-4321-952B-21EE88734680}"/>
                </a:ext>
              </a:extLst>
            </p:cNvPr>
            <p:cNvSpPr txBox="1"/>
            <p:nvPr/>
          </p:nvSpPr>
          <p:spPr>
            <a:xfrm>
              <a:off x="267457" y="44679"/>
              <a:ext cx="580215" cy="252442"/>
            </a:xfrm>
            <a:prstGeom prst="rect">
              <a:avLst/>
            </a:prstGeom>
            <a:noFill/>
          </p:spPr>
          <p:txBody>
            <a:bodyPr wrap="square">
              <a:noAutofit/>
            </a:bodyPr>
            <a:lstStyle/>
            <a:p>
              <a:pPr marL="0" marR="0">
                <a:lnSpc>
                  <a:spcPct val="107000"/>
                </a:lnSpc>
                <a:spcBef>
                  <a:spcPts val="0"/>
                </a:spcBef>
                <a:spcAft>
                  <a:spcPts val="800"/>
                </a:spcAft>
              </a:pPr>
              <a:r>
                <a:rPr lang="en-US" sz="4800" b="1" kern="1200">
                  <a:solidFill>
                    <a:srgbClr val="0000CC"/>
                  </a:solidFill>
                  <a:effectLst/>
                  <a:latin typeface="Tahoma" panose="020B0604030504040204" pitchFamily="34" charset="0"/>
                  <a:ea typeface="Tahoma" panose="020B0604030504040204" pitchFamily="34" charset="0"/>
                  <a:cs typeface="Tahoma" panose="020B0604030504040204" pitchFamily="34" charset="0"/>
                </a:rPr>
                <a:t>Bài tập</a:t>
              </a:r>
              <a:r>
                <a:rPr lang="en-US" sz="1200" b="1" kern="1200">
                  <a:solidFill>
                    <a:srgbClr val="0000CC"/>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13" name="Content Placeholder 2">
            <a:extLst>
              <a:ext uri="{FF2B5EF4-FFF2-40B4-BE49-F238E27FC236}">
                <a16:creationId xmlns:a16="http://schemas.microsoft.com/office/drawing/2014/main" id="{16C84F60-874D-4AE2-957A-87C28FCD0760}"/>
              </a:ext>
            </a:extLst>
          </p:cNvPr>
          <p:cNvSpPr txBox="1">
            <a:spLocks/>
          </p:cNvSpPr>
          <p:nvPr/>
        </p:nvSpPr>
        <p:spPr>
          <a:xfrm>
            <a:off x="15659100" y="6420908"/>
            <a:ext cx="8343900" cy="658548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buNone/>
            </a:pPr>
            <a:r>
              <a:rPr lang="en-US"/>
              <a:t>	</a:t>
            </a:r>
          </a:p>
        </p:txBody>
      </p:sp>
      <p:pic>
        <p:nvPicPr>
          <p:cNvPr id="16" name="Picture 15">
            <a:extLst>
              <a:ext uri="{FF2B5EF4-FFF2-40B4-BE49-F238E27FC236}">
                <a16:creationId xmlns:a16="http://schemas.microsoft.com/office/drawing/2014/main" id="{BCCED99D-350B-42D3-9C6C-2D400CD8AE0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6383637" y="7206916"/>
            <a:ext cx="6894826" cy="5013464"/>
          </a:xfrm>
          <a:prstGeom prst="rect">
            <a:avLst/>
          </a:prstGeom>
          <a:noFill/>
          <a:ln>
            <a:noFill/>
          </a:ln>
        </p:spPr>
      </p:pic>
      <p:sp>
        <p:nvSpPr>
          <p:cNvPr id="39" name="Rounded Rectangle 3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43" name="TextBox 4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83269430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up)">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4">
                                            <p:txEl>
                                              <p:pRg st="0" end="0"/>
                                            </p:txEl>
                                          </p:spTgt>
                                        </p:tgtEl>
                                        <p:attrNameLst>
                                          <p:attrName>style.visibility</p:attrName>
                                        </p:attrNameLst>
                                      </p:cBhvr>
                                      <p:to>
                                        <p:strVal val="visible"/>
                                      </p:to>
                                    </p:set>
                                    <p:animEffect transition="in" filter="wipe(up)">
                                      <p:cBhvr>
                                        <p:cTn id="22" dur="500"/>
                                        <p:tgtEl>
                                          <p:spTgt spid="1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4">
                                            <p:txEl>
                                              <p:pRg st="1" end="1"/>
                                            </p:txEl>
                                          </p:spTgt>
                                        </p:tgtEl>
                                        <p:attrNameLst>
                                          <p:attrName>style.visibility</p:attrName>
                                        </p:attrNameLst>
                                      </p:cBhvr>
                                      <p:to>
                                        <p:strVal val="visible"/>
                                      </p:to>
                                    </p:set>
                                    <p:animEffect transition="in" filter="wipe(up)">
                                      <p:cBhvr>
                                        <p:cTn id="27" dur="500"/>
                                        <p:tgtEl>
                                          <p:spTgt spid="1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4">
                                            <p:txEl>
                                              <p:pRg st="2" end="2"/>
                                            </p:txEl>
                                          </p:spTgt>
                                        </p:tgtEl>
                                        <p:attrNameLst>
                                          <p:attrName>style.visibility</p:attrName>
                                        </p:attrNameLst>
                                      </p:cBhvr>
                                      <p:to>
                                        <p:strVal val="visible"/>
                                      </p:to>
                                    </p:set>
                                    <p:animEffect transition="in" filter="wipe(up)">
                                      <p:cBhvr>
                                        <p:cTn id="32" dur="500"/>
                                        <p:tgtEl>
                                          <p:spTgt spid="14">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4">
                                            <p:txEl>
                                              <p:pRg st="3" end="3"/>
                                            </p:txEl>
                                          </p:spTgt>
                                        </p:tgtEl>
                                        <p:attrNameLst>
                                          <p:attrName>style.visibility</p:attrName>
                                        </p:attrNameLst>
                                      </p:cBhvr>
                                      <p:to>
                                        <p:strVal val="visible"/>
                                      </p:to>
                                    </p:set>
                                    <p:animEffect transition="in" filter="wipe(up)">
                                      <p:cBhvr>
                                        <p:cTn id="37" dur="500"/>
                                        <p:tgtEl>
                                          <p:spTgt spid="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16" name="Title 1">
                <a:extLst>
                  <a:ext uri="{FF2B5EF4-FFF2-40B4-BE49-F238E27FC236}">
                    <a16:creationId xmlns:a16="http://schemas.microsoft.com/office/drawing/2014/main" id="{756B31B8-9EFA-4C29-888D-022923E7104C}"/>
                  </a:ext>
                </a:extLst>
              </p:cNvPr>
              <p:cNvSpPr txBox="1">
                <a:spLocks/>
              </p:cNvSpPr>
              <p:nvPr/>
            </p:nvSpPr>
            <p:spPr>
              <a:xfrm>
                <a:off x="838200" y="1742440"/>
                <a:ext cx="23164800" cy="4331336"/>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endParaRPr lang="en-US" b="1"/>
              </a:p>
              <a:p>
                <a:endParaRPr lang="en-US" b="1"/>
              </a:p>
              <a:p>
                <a:r>
                  <a:rPr lang="en-US" b="1"/>
                  <a:t>       7.4.</a:t>
                </a:r>
                <a:r>
                  <a:rPr lang="en-US"/>
                  <a:t> </a:t>
                </a:r>
                <a:r>
                  <a:rPr lang="en-US" sz="4800">
                    <a:latin typeface="Tahoma" panose="020B0604030504040204" pitchFamily="34" charset="0"/>
                    <a:ea typeface="Tahoma" panose="020B0604030504040204" pitchFamily="34" charset="0"/>
                    <a:cs typeface="Tahoma" panose="020B0604030504040204" pitchFamily="34" charset="0"/>
                  </a:rPr>
                  <a:t>Trong mặt phẳng tọa độ, cho tam giác </a:t>
                </a:r>
                <a14:m>
                  <m:oMath xmlns:m="http://schemas.openxmlformats.org/officeDocument/2006/math">
                    <m:r>
                      <a:rPr lang="en-US" sz="4800" i="1">
                        <a:latin typeface="Cambria Math" panose="02040503050406030204" pitchFamily="18" charset="0"/>
                      </a:rPr>
                      <m:t>𝐴𝐵𝐶</m:t>
                    </m:r>
                  </m:oMath>
                </a14:m>
                <a:r>
                  <a:rPr lang="en-US" sz="4800">
                    <a:latin typeface="Tahoma" panose="020B0604030504040204" pitchFamily="34" charset="0"/>
                    <a:ea typeface="Tahoma" panose="020B0604030504040204" pitchFamily="34" charset="0"/>
                    <a:cs typeface="Tahoma" panose="020B0604030504040204" pitchFamily="34" charset="0"/>
                  </a:rPr>
                  <a:t> có </a:t>
                </a:r>
                <a14:m>
                  <m:oMath xmlns:m="http://schemas.openxmlformats.org/officeDocument/2006/math">
                    <m:r>
                      <a:rPr lang="en-US" sz="4800" i="1">
                        <a:latin typeface="Cambria Math" panose="02040503050406030204" pitchFamily="18" charset="0"/>
                      </a:rPr>
                      <m:t>𝐴</m:t>
                    </m:r>
                    <m:d>
                      <m:dPr>
                        <m:ctrlPr>
                          <a:rPr lang="en-US" sz="4800" i="1">
                            <a:latin typeface="Cambria Math" panose="02040503050406030204" pitchFamily="18" charset="0"/>
                          </a:rPr>
                        </m:ctrlPr>
                      </m:dPr>
                      <m:e>
                        <m:r>
                          <a:rPr lang="en-US" sz="4800" i="1">
                            <a:latin typeface="Cambria Math" panose="02040503050406030204" pitchFamily="18" charset="0"/>
                          </a:rPr>
                          <m:t>1;2</m:t>
                        </m:r>
                      </m:e>
                    </m:d>
                    <m:r>
                      <a:rPr lang="en-US" sz="4800" i="1">
                        <a:latin typeface="Cambria Math" panose="02040503050406030204" pitchFamily="18" charset="0"/>
                      </a:rPr>
                      <m:t>,</m:t>
                    </m:r>
                    <m:r>
                      <a:rPr lang="en-US" sz="4800" i="1">
                        <a:latin typeface="Cambria Math" panose="02040503050406030204" pitchFamily="18" charset="0"/>
                      </a:rPr>
                      <m:t>𝐵</m:t>
                    </m:r>
                    <m:d>
                      <m:dPr>
                        <m:ctrlPr>
                          <a:rPr lang="en-US" sz="4800" i="1">
                            <a:latin typeface="Cambria Math" panose="02040503050406030204" pitchFamily="18" charset="0"/>
                          </a:rPr>
                        </m:ctrlPr>
                      </m:dPr>
                      <m:e>
                        <m:r>
                          <a:rPr lang="en-US" sz="4800" i="1">
                            <a:latin typeface="Cambria Math" panose="02040503050406030204" pitchFamily="18" charset="0"/>
                          </a:rPr>
                          <m:t>3;0</m:t>
                        </m:r>
                      </m:e>
                    </m:d>
                  </m:oMath>
                </a14:m>
                <a:r>
                  <a:rPr lang="en-US" sz="4800">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r>
                      <a:rPr lang="en-US" sz="4800" i="1">
                        <a:latin typeface="Cambria Math" panose="02040503050406030204" pitchFamily="18" charset="0"/>
                      </a:rPr>
                      <m:t>𝐶</m:t>
                    </m:r>
                    <m:d>
                      <m:dPr>
                        <m:ctrlPr>
                          <a:rPr lang="en-US" sz="4800" i="1">
                            <a:latin typeface="Cambria Math" panose="02040503050406030204" pitchFamily="18" charset="0"/>
                          </a:rPr>
                        </m:ctrlPr>
                      </m:dPr>
                      <m:e>
                        <m:r>
                          <a:rPr lang="en-US" sz="4800" i="1">
                            <a:latin typeface="Cambria Math" panose="02040503050406030204" pitchFamily="18" charset="0"/>
                          </a:rPr>
                          <m:t>−2;−1</m:t>
                        </m:r>
                      </m:e>
                    </m:d>
                    <m:r>
                      <a:rPr lang="en-US" sz="4800" i="1">
                        <a:latin typeface="Cambria Math" panose="02040503050406030204" pitchFamily="18" charset="0"/>
                      </a:rPr>
                      <m:t>.</m:t>
                    </m:r>
                  </m:oMath>
                </a14:m>
                <a:endParaRPr lang="en-US" sz="4800">
                  <a:latin typeface="Tahoma" panose="020B0604030504040204" pitchFamily="34" charset="0"/>
                  <a:ea typeface="Tahoma" panose="020B0604030504040204" pitchFamily="34" charset="0"/>
                  <a:cs typeface="Tahoma" panose="020B0604030504040204" pitchFamily="34" charset="0"/>
                </a:endParaRPr>
              </a:p>
              <a:p>
                <a:r>
                  <a:rPr lang="en-US" sz="4800">
                    <a:latin typeface="Tahoma" panose="020B0604030504040204" pitchFamily="34" charset="0"/>
                    <a:ea typeface="Tahoma" panose="020B0604030504040204" pitchFamily="34" charset="0"/>
                    <a:cs typeface="Tahoma" panose="020B0604030504040204" pitchFamily="34" charset="0"/>
                  </a:rPr>
                  <a:t>	a) Lập phương trình đường cao kẻ từ </a:t>
                </a:r>
                <a14:m>
                  <m:oMath xmlns:m="http://schemas.openxmlformats.org/officeDocument/2006/math">
                    <m:r>
                      <a:rPr lang="en-US" sz="4800" i="1">
                        <a:latin typeface="Cambria Math" panose="02040503050406030204" pitchFamily="18" charset="0"/>
                      </a:rPr>
                      <m:t>𝐴</m:t>
                    </m:r>
                    <m:r>
                      <a:rPr lang="en-US" sz="4800" i="1">
                        <a:latin typeface="Cambria Math" panose="02040503050406030204" pitchFamily="18" charset="0"/>
                      </a:rPr>
                      <m:t>.</m:t>
                    </m:r>
                  </m:oMath>
                </a14:m>
                <a:endParaRPr lang="en-US" sz="4800">
                  <a:latin typeface="Tahoma" panose="020B0604030504040204" pitchFamily="34" charset="0"/>
                  <a:ea typeface="Tahoma" panose="020B0604030504040204" pitchFamily="34" charset="0"/>
                  <a:cs typeface="Tahoma" panose="020B0604030504040204" pitchFamily="34" charset="0"/>
                </a:endParaRPr>
              </a:p>
              <a:p>
                <a:r>
                  <a:rPr lang="en-US" sz="4800">
                    <a:latin typeface="Tahoma" panose="020B0604030504040204" pitchFamily="34" charset="0"/>
                    <a:ea typeface="Tahoma" panose="020B0604030504040204" pitchFamily="34" charset="0"/>
                    <a:cs typeface="Tahoma" panose="020B0604030504040204" pitchFamily="34" charset="0"/>
                  </a:rPr>
                  <a:t>	b) Lập phương trình đường trung tuyến kẻ từ </a:t>
                </a:r>
                <a14:m>
                  <m:oMath xmlns:m="http://schemas.openxmlformats.org/officeDocument/2006/math">
                    <m:r>
                      <a:rPr lang="en-US" sz="4800" i="1">
                        <a:latin typeface="Cambria Math" panose="02040503050406030204" pitchFamily="18" charset="0"/>
                      </a:rPr>
                      <m:t>𝐵</m:t>
                    </m:r>
                    <m:r>
                      <a:rPr lang="en-US" sz="4800" i="1">
                        <a:latin typeface="Cambria Math" panose="02040503050406030204" pitchFamily="18" charset="0"/>
                      </a:rPr>
                      <m:t>.</m:t>
                    </m:r>
                  </m:oMath>
                </a14:m>
                <a:endParaRPr lang="en-US" sz="4800">
                  <a:latin typeface="Tahoma" panose="020B0604030504040204" pitchFamily="34" charset="0"/>
                  <a:ea typeface="Tahoma" panose="020B0604030504040204" pitchFamily="34" charset="0"/>
                  <a:cs typeface="Tahoma" panose="020B0604030504040204" pitchFamily="34" charset="0"/>
                </a:endParaRPr>
              </a:p>
              <a:p>
                <a:pPr>
                  <a:lnSpc>
                    <a:spcPct val="100000"/>
                  </a:lnSpc>
                </a:pPr>
                <a:endParaRPr lang="en-US"/>
              </a:p>
            </p:txBody>
          </p:sp>
        </mc:Choice>
        <mc:Fallback xmlns="">
          <p:sp>
            <p:nvSpPr>
              <p:cNvPr id="16" name="Title 1">
                <a:extLst>
                  <a:ext uri="{FF2B5EF4-FFF2-40B4-BE49-F238E27FC236}">
                    <a16:creationId xmlns:a16="http://schemas.microsoft.com/office/drawing/2014/main" id="{756B31B8-9EFA-4C29-888D-022923E7104C}"/>
                  </a:ext>
                </a:extLst>
              </p:cNvPr>
              <p:cNvSpPr txBox="1">
                <a:spLocks noRot="1" noChangeAspect="1" noMove="1" noResize="1" noEditPoints="1" noAdjustHandles="1" noChangeArrowheads="1" noChangeShapeType="1" noTextEdit="1"/>
              </p:cNvSpPr>
              <p:nvPr/>
            </p:nvSpPr>
            <p:spPr>
              <a:xfrm>
                <a:off x="838200" y="1742440"/>
                <a:ext cx="23164800" cy="4331336"/>
              </a:xfrm>
              <a:prstGeom prst="rect">
                <a:avLst/>
              </a:prstGeom>
              <a:blipFill>
                <a:blip r:embed="rId3"/>
                <a:stretch>
                  <a:fillRect/>
                </a:stretch>
              </a:blipFill>
              <a:ln>
                <a:solidFill>
                  <a:schemeClr val="tx2">
                    <a:lumMod val="20000"/>
                    <a:lumOff val="80000"/>
                  </a:schemeClr>
                </a:solidFill>
              </a:ln>
            </p:spPr>
            <p:txBody>
              <a:bodyPr/>
              <a:lstStyle/>
              <a:p>
                <a:r>
                  <a:rPr lang="en-US">
                    <a:noFill/>
                  </a:rPr>
                  <a:t> </a:t>
                </a:r>
              </a:p>
            </p:txBody>
          </p:sp>
        </mc:Fallback>
      </mc:AlternateContent>
      <p:sp>
        <p:nvSpPr>
          <p:cNvPr id="3" name="Rectangle 7">
            <a:extLst>
              <a:ext uri="{FF2B5EF4-FFF2-40B4-BE49-F238E27FC236}">
                <a16:creationId xmlns:a16="http://schemas.microsoft.com/office/drawing/2014/main" id="{331DD36C-2757-4762-8AC6-F5DBBC77921A}"/>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10">
            <a:extLst>
              <a:ext uri="{FF2B5EF4-FFF2-40B4-BE49-F238E27FC236}">
                <a16:creationId xmlns:a16="http://schemas.microsoft.com/office/drawing/2014/main" id="{75B83596-23B8-4650-9517-74C0A031E4BF}"/>
              </a:ext>
            </a:extLst>
          </p:cNvPr>
          <p:cNvSpPr>
            <a:spLocks noChangeArrowheads="1"/>
          </p:cNvSpPr>
          <p:nvPr/>
        </p:nvSpPr>
        <p:spPr bwMode="auto">
          <a:xfrm>
            <a:off x="0" y="709613"/>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95E04BED-9746-4EFE-BE6F-19440E01284E}"/>
                  </a:ext>
                </a:extLst>
              </p:cNvPr>
              <p:cNvSpPr txBox="1">
                <a:spLocks/>
              </p:cNvSpPr>
              <p:nvPr/>
            </p:nvSpPr>
            <p:spPr>
              <a:xfrm>
                <a:off x="857887" y="6324600"/>
                <a:ext cx="15067913" cy="70104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lnSpc>
                    <a:spcPct val="100000"/>
                  </a:lnSpc>
                  <a:buNone/>
                </a:pPr>
                <a:r>
                  <a:rPr lang="en-US" b="1">
                    <a:latin typeface="Tahoma" panose="020B0604030504040204" pitchFamily="34" charset="0"/>
                    <a:ea typeface="Tahoma" panose="020B0604030504040204" pitchFamily="34" charset="0"/>
                    <a:cs typeface="Tahoma" panose="020B0604030504040204" pitchFamily="34" charset="0"/>
                  </a:rPr>
                  <a:t>Giải</a:t>
                </a:r>
                <a:endParaRPr lang="en-US">
                  <a:latin typeface="Tahoma" panose="020B0604030504040204" pitchFamily="34" charset="0"/>
                  <a:ea typeface="Tahoma" panose="020B0604030504040204" pitchFamily="34" charset="0"/>
                  <a:cs typeface="Tahoma" panose="020B0604030504040204" pitchFamily="34" charset="0"/>
                </a:endParaRPr>
              </a:p>
              <a:p>
                <a:pPr marL="0" indent="0">
                  <a:buNone/>
                </a:pPr>
                <a:r>
                  <a:rPr lang="en-US">
                    <a:latin typeface="Tahoma" panose="020B0604030504040204" pitchFamily="34" charset="0"/>
                    <a:ea typeface="Tahoma" panose="020B0604030504040204" pitchFamily="34" charset="0"/>
                    <a:cs typeface="Tahoma" panose="020B0604030504040204" pitchFamily="34" charset="0"/>
                  </a:rPr>
                  <a:t>	b) Lập phương trình đường trung tuyến kẻ từ </a:t>
                </a:r>
                <a14:m>
                  <m:oMath xmlns:m="http://schemas.openxmlformats.org/officeDocument/2006/math">
                    <m:r>
                      <a:rPr lang="en-US" i="1">
                        <a:latin typeface="Cambria Math" panose="02040503050406030204" pitchFamily="18" charset="0"/>
                      </a:rPr>
                      <m:t>𝐵</m:t>
                    </m:r>
                    <m:r>
                      <a:rPr lang="en-US" i="1">
                        <a:latin typeface="Cambria Math" panose="02040503050406030204" pitchFamily="18" charset="0"/>
                      </a:rPr>
                      <m:t>.</m:t>
                    </m:r>
                  </m:oMath>
                </a14:m>
                <a:endParaRPr lang="en-US">
                  <a:latin typeface="Tahoma" panose="020B0604030504040204" pitchFamily="34" charset="0"/>
                  <a:ea typeface="Tahoma" panose="020B0604030504040204" pitchFamily="34" charset="0"/>
                  <a:cs typeface="Tahoma" panose="020B0604030504040204" pitchFamily="34" charset="0"/>
                </a:endParaRPr>
              </a:p>
              <a:p>
                <a:pPr marL="0" indent="0" algn="just">
                  <a:buNone/>
                </a:pPr>
                <a:r>
                  <a:rPr lang="en-US">
                    <a:latin typeface="Tahoma" panose="020B0604030504040204" pitchFamily="34" charset="0"/>
                    <a:ea typeface="Tahoma" panose="020B0604030504040204" pitchFamily="34" charset="0"/>
                    <a:cs typeface="Tahoma" panose="020B0604030504040204" pitchFamily="34" charset="0"/>
                  </a:rPr>
                  <a:t>  Gọi </a:t>
                </a:r>
                <a14:m>
                  <m:oMath xmlns:m="http://schemas.openxmlformats.org/officeDocument/2006/math">
                    <m:r>
                      <a:rPr lang="en-US" i="1">
                        <a:latin typeface="Cambria Math" panose="02040503050406030204" pitchFamily="18" charset="0"/>
                      </a:rPr>
                      <m:t>𝑀</m:t>
                    </m:r>
                  </m:oMath>
                </a14:m>
                <a:r>
                  <a:rPr lang="en-US">
                    <a:latin typeface="Tahoma" panose="020B0604030504040204" pitchFamily="34" charset="0"/>
                    <a:ea typeface="Tahoma" panose="020B0604030504040204" pitchFamily="34" charset="0"/>
                    <a:cs typeface="Tahoma" panose="020B0604030504040204" pitchFamily="34" charset="0"/>
                  </a:rPr>
                  <a:t> là trung điểm của </a:t>
                </a:r>
                <a14:m>
                  <m:oMath xmlns:m="http://schemas.openxmlformats.org/officeDocument/2006/math">
                    <m:r>
                      <a:rPr lang="en-US" i="1">
                        <a:latin typeface="Cambria Math" panose="02040503050406030204" pitchFamily="18" charset="0"/>
                      </a:rPr>
                      <m:t>𝐴𝐶</m:t>
                    </m:r>
                  </m:oMath>
                </a14:m>
                <a:r>
                  <a:rPr lang="en-US">
                    <a:latin typeface="Tahoma" panose="020B0604030504040204" pitchFamily="34" charset="0"/>
                    <a:ea typeface="Tahoma" panose="020B0604030504040204" pitchFamily="34" charset="0"/>
                    <a:cs typeface="Tahoma" panose="020B0604030504040204" pitchFamily="34" charset="0"/>
                  </a:rPr>
                  <a:t> thì </a:t>
                </a:r>
                <a14:m>
                  <m:oMath xmlns:m="http://schemas.openxmlformats.org/officeDocument/2006/math">
                    <m:r>
                      <a:rPr lang="en-US" i="1">
                        <a:latin typeface="Cambria Math" panose="02040503050406030204" pitchFamily="18" charset="0"/>
                      </a:rPr>
                      <m:t>𝑀</m:t>
                    </m:r>
                    <m:d>
                      <m:dPr>
                        <m:ctrlPr>
                          <a:rPr lang="en-US" i="1">
                            <a:latin typeface="Cambria Math" panose="02040503050406030204" pitchFamily="18" charset="0"/>
                          </a:rPr>
                        </m:ctrlPr>
                      </m:dPr>
                      <m:e>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e>
                    </m:d>
                  </m:oMath>
                </a14:m>
                <a:r>
                  <a:rPr lang="en-US">
                    <a:latin typeface="Tahoma" panose="020B0604030504040204" pitchFamily="34" charset="0"/>
                    <a:ea typeface="Tahoma" panose="020B0604030504040204" pitchFamily="34" charset="0"/>
                    <a:cs typeface="Tahoma" panose="020B0604030504040204" pitchFamily="34" charset="0"/>
                  </a:rPr>
                  <a:t>.</a:t>
                </a:r>
              </a:p>
              <a:p>
                <a:pPr marL="0" indent="0" algn="just">
                  <a:lnSpc>
                    <a:spcPct val="100000"/>
                  </a:lnSpc>
                  <a:buNone/>
                </a:pPr>
                <a:r>
                  <a:rPr lang="en-US">
                    <a:latin typeface="Tahoma" panose="020B0604030504040204" pitchFamily="34" charset="0"/>
                    <a:ea typeface="Tahoma" panose="020B0604030504040204" pitchFamily="34" charset="0"/>
                    <a:cs typeface="Tahoma" panose="020B0604030504040204" pitchFamily="34" charset="0"/>
                  </a:rPr>
                  <a:t>  Đường trung tuyến kẻ từ </a:t>
                </a:r>
                <a14:m>
                  <m:oMath xmlns:m="http://schemas.openxmlformats.org/officeDocument/2006/math">
                    <m:r>
                      <a:rPr lang="en-US" i="1">
                        <a:latin typeface="Cambria Math" panose="02040503050406030204" pitchFamily="18" charset="0"/>
                      </a:rPr>
                      <m:t>𝐵</m:t>
                    </m:r>
                  </m:oMath>
                </a14:m>
                <a:r>
                  <a:rPr lang="en-US">
                    <a:latin typeface="Tahoma" panose="020B0604030504040204" pitchFamily="34" charset="0"/>
                    <a:ea typeface="Tahoma" panose="020B0604030504040204" pitchFamily="34" charset="0"/>
                    <a:cs typeface="Tahoma" panose="020B0604030504040204" pitchFamily="34" charset="0"/>
                  </a:rPr>
                  <a:t> nhận vectơ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𝑀𝐵</m:t>
                        </m:r>
                      </m:e>
                    </m:acc>
                    <m:r>
                      <a:rPr lang="en-US" i="1">
                        <a:latin typeface="Cambria Math" panose="02040503050406030204" pitchFamily="18" charset="0"/>
                      </a:rPr>
                      <m:t>=</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7</m:t>
                            </m:r>
                          </m:num>
                          <m:den>
                            <m:r>
                              <a:rPr lang="en-US" i="1">
                                <a:latin typeface="Cambria Math" panose="02040503050406030204" pitchFamily="18" charset="0"/>
                              </a:rPr>
                              <m:t>2</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e>
                    </m:d>
                  </m:oMath>
                </a14:m>
                <a:r>
                  <a:rPr lang="en-US">
                    <a:latin typeface="Tahoma" panose="020B0604030504040204" pitchFamily="34" charset="0"/>
                    <a:ea typeface="Tahoma" panose="020B0604030504040204" pitchFamily="34" charset="0"/>
                    <a:cs typeface="Tahoma" panose="020B0604030504040204" pitchFamily="34" charset="0"/>
                  </a:rPr>
                  <a:t> là vectơ chỉ phương nên có vectơ pháp tuyến là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𝑛</m:t>
                        </m:r>
                      </m:e>
                    </m:acc>
                    <m:r>
                      <a:rPr lang="en-US" i="1">
                        <a:latin typeface="Cambria Math" panose="02040503050406030204" pitchFamily="18" charset="0"/>
                      </a:rPr>
                      <m:t>=(1;7)</m:t>
                    </m:r>
                  </m:oMath>
                </a14:m>
                <a:r>
                  <a:rPr lang="en-US">
                    <a:latin typeface="Tahoma" panose="020B0604030504040204" pitchFamily="34" charset="0"/>
                    <a:ea typeface="Tahoma" panose="020B0604030504040204" pitchFamily="34" charset="0"/>
                    <a:cs typeface="Tahoma" panose="020B0604030504040204" pitchFamily="34" charset="0"/>
                  </a:rPr>
                  <a:t> và đi qua </a:t>
                </a:r>
                <a14:m>
                  <m:oMath xmlns:m="http://schemas.openxmlformats.org/officeDocument/2006/math">
                    <m:r>
                      <a:rPr lang="en-US" i="1">
                        <a:latin typeface="Cambria Math" panose="02040503050406030204" pitchFamily="18" charset="0"/>
                      </a:rPr>
                      <m:t>𝐵</m:t>
                    </m:r>
                    <m:d>
                      <m:dPr>
                        <m:ctrlPr>
                          <a:rPr lang="en-US" i="1">
                            <a:latin typeface="Cambria Math" panose="02040503050406030204" pitchFamily="18" charset="0"/>
                          </a:rPr>
                        </m:ctrlPr>
                      </m:dPr>
                      <m:e>
                        <m:r>
                          <a:rPr lang="en-US" i="1">
                            <a:latin typeface="Cambria Math" panose="02040503050406030204" pitchFamily="18" charset="0"/>
                          </a:rPr>
                          <m:t>3;0</m:t>
                        </m:r>
                      </m:e>
                    </m:d>
                  </m:oMath>
                </a14:m>
                <a:r>
                  <a:rPr lang="en-US">
                    <a:latin typeface="Tahoma" panose="020B0604030504040204" pitchFamily="34" charset="0"/>
                    <a:ea typeface="Tahoma" panose="020B0604030504040204" pitchFamily="34" charset="0"/>
                    <a:cs typeface="Tahoma" panose="020B0604030504040204" pitchFamily="34" charset="0"/>
                  </a:rPr>
                  <a:t> nên có phương trình là:</a:t>
                </a:r>
                <a:endParaRPr lang="en-US" i="1">
                  <a:latin typeface="Cambria Math" panose="02040503050406030204" pitchFamily="18" charset="0"/>
                </a:endParaRPr>
              </a:p>
              <a:p>
                <a:pPr marL="0" indent="0" algn="ctr">
                  <a:lnSpc>
                    <a:spcPct val="100000"/>
                  </a:lnSpc>
                  <a:buNone/>
                </a:pPr>
                <a14:m>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+7</m:t>
                    </m:r>
                    <m:r>
                      <a:rPr lang="en-US" i="1">
                        <a:latin typeface="Cambria Math" panose="02040503050406030204" pitchFamily="18" charset="0"/>
                      </a:rPr>
                      <m:t>𝑦</m:t>
                    </m:r>
                    <m:r>
                      <a:rPr lang="en-US" i="1">
                        <a:latin typeface="Cambria Math" panose="02040503050406030204" pitchFamily="18" charset="0"/>
                      </a:rPr>
                      <m:t>−3=0</m:t>
                    </m:r>
                  </m:oMath>
                </a14:m>
                <a:r>
                  <a:rPr lang="en-US">
                    <a:latin typeface="Tahoma" panose="020B0604030504040204" pitchFamily="34" charset="0"/>
                    <a:ea typeface="Tahoma" panose="020B0604030504040204" pitchFamily="34" charset="0"/>
                    <a:cs typeface="Tahoma" panose="020B0604030504040204" pitchFamily="34" charset="0"/>
                  </a:rPr>
                  <a:t>.</a:t>
                </a:r>
              </a:p>
              <a:p>
                <a:pPr marL="0" indent="0" algn="just">
                  <a:lnSpc>
                    <a:spcPct val="150000"/>
                  </a:lnSpc>
                  <a:buNone/>
                </a:pPr>
                <a:r>
                  <a:rPr lang="en-US">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14" name="Content Placeholder 2">
                <a:extLst>
                  <a:ext uri="{FF2B5EF4-FFF2-40B4-BE49-F238E27FC236}">
                    <a16:creationId xmlns:a16="http://schemas.microsoft.com/office/drawing/2014/main" id="{95E04BED-9746-4EFE-BE6F-19440E01284E}"/>
                  </a:ext>
                </a:extLst>
              </p:cNvPr>
              <p:cNvSpPr txBox="1">
                <a:spLocks noRot="1" noChangeAspect="1" noMove="1" noResize="1" noEditPoints="1" noAdjustHandles="1" noChangeArrowheads="1" noChangeShapeType="1" noTextEdit="1"/>
              </p:cNvSpPr>
              <p:nvPr/>
            </p:nvSpPr>
            <p:spPr>
              <a:xfrm>
                <a:off x="857887" y="6324600"/>
                <a:ext cx="15067913" cy="7010400"/>
              </a:xfrm>
              <a:prstGeom prst="rect">
                <a:avLst/>
              </a:prstGeom>
              <a:blipFill>
                <a:blip r:embed="rId4"/>
                <a:stretch>
                  <a:fillRect l="-1819" t="-1910" b="-955"/>
                </a:stretch>
              </a:blipFill>
              <a:ln>
                <a:solidFill>
                  <a:srgbClr val="00B0F0"/>
                </a:solidFill>
              </a:ln>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DE84E17C-27B3-431C-850F-F57B7D655D26}"/>
              </a:ext>
            </a:extLst>
          </p:cNvPr>
          <p:cNvGrpSpPr/>
          <p:nvPr/>
        </p:nvGrpSpPr>
        <p:grpSpPr>
          <a:xfrm>
            <a:off x="400878" y="2057400"/>
            <a:ext cx="3989314" cy="1183262"/>
            <a:chOff x="22440" y="44679"/>
            <a:chExt cx="953655" cy="252442"/>
          </a:xfrm>
        </p:grpSpPr>
        <p:grpSp>
          <p:nvGrpSpPr>
            <p:cNvPr id="19" name="Group 18">
              <a:extLst>
                <a:ext uri="{FF2B5EF4-FFF2-40B4-BE49-F238E27FC236}">
                  <a16:creationId xmlns:a16="http://schemas.microsoft.com/office/drawing/2014/main" id="{AA60C9BE-2282-4378-92C3-800BEEC2385D}"/>
                </a:ext>
              </a:extLst>
            </p:cNvPr>
            <p:cNvGrpSpPr/>
            <p:nvPr/>
          </p:nvGrpSpPr>
          <p:grpSpPr>
            <a:xfrm>
              <a:off x="22440" y="59287"/>
              <a:ext cx="953655" cy="159667"/>
              <a:chOff x="31572" y="60276"/>
              <a:chExt cx="1341810" cy="197595"/>
            </a:xfrm>
          </p:grpSpPr>
          <p:sp>
            <p:nvSpPr>
              <p:cNvPr id="21" name="Arrow: Pentagon 20">
                <a:extLst>
                  <a:ext uri="{FF2B5EF4-FFF2-40B4-BE49-F238E27FC236}">
                    <a16:creationId xmlns:a16="http://schemas.microsoft.com/office/drawing/2014/main" id="{A5F5C0E7-DF43-4B21-96BA-478BC1C2F9AB}"/>
                  </a:ext>
                </a:extLst>
              </p:cNvPr>
              <p:cNvSpPr/>
              <p:nvPr/>
            </p:nvSpPr>
            <p:spPr>
              <a:xfrm>
                <a:off x="204506" y="61809"/>
                <a:ext cx="1168876" cy="19606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0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2" name="Arrow: Chevron 21">
                <a:extLst>
                  <a:ext uri="{FF2B5EF4-FFF2-40B4-BE49-F238E27FC236}">
                    <a16:creationId xmlns:a16="http://schemas.microsoft.com/office/drawing/2014/main" id="{518F6DE5-B00E-45E7-B8F1-47FD80335114}"/>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endParaRPr lang="en-US"/>
              </a:p>
            </p:txBody>
          </p:sp>
          <p:sp>
            <p:nvSpPr>
              <p:cNvPr id="23" name="Arrow: Chevron 22">
                <a:extLst>
                  <a:ext uri="{FF2B5EF4-FFF2-40B4-BE49-F238E27FC236}">
                    <a16:creationId xmlns:a16="http://schemas.microsoft.com/office/drawing/2014/main" id="{57C817BB-0211-4966-AACE-08D8CFA3E87E}"/>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endParaRPr lang="en-US"/>
              </a:p>
            </p:txBody>
          </p:sp>
        </p:grpSp>
        <p:sp>
          <p:nvSpPr>
            <p:cNvPr id="20" name="TextBox 56">
              <a:extLst>
                <a:ext uri="{FF2B5EF4-FFF2-40B4-BE49-F238E27FC236}">
                  <a16:creationId xmlns:a16="http://schemas.microsoft.com/office/drawing/2014/main" id="{7D6FEC55-2C19-4321-952B-21EE88734680}"/>
                </a:ext>
              </a:extLst>
            </p:cNvPr>
            <p:cNvSpPr txBox="1"/>
            <p:nvPr/>
          </p:nvSpPr>
          <p:spPr>
            <a:xfrm>
              <a:off x="267457" y="44679"/>
              <a:ext cx="580215" cy="252442"/>
            </a:xfrm>
            <a:prstGeom prst="rect">
              <a:avLst/>
            </a:prstGeom>
            <a:noFill/>
          </p:spPr>
          <p:txBody>
            <a:bodyPr wrap="square">
              <a:noAutofit/>
            </a:bodyPr>
            <a:lstStyle/>
            <a:p>
              <a:pPr marL="0" marR="0">
                <a:lnSpc>
                  <a:spcPct val="107000"/>
                </a:lnSpc>
                <a:spcBef>
                  <a:spcPts val="0"/>
                </a:spcBef>
                <a:spcAft>
                  <a:spcPts val="800"/>
                </a:spcAft>
              </a:pPr>
              <a:r>
                <a:rPr lang="en-US" sz="4800" b="1" kern="1200">
                  <a:solidFill>
                    <a:srgbClr val="0000CC"/>
                  </a:solidFill>
                  <a:effectLst/>
                  <a:latin typeface="Tahoma" panose="020B0604030504040204" pitchFamily="34" charset="0"/>
                  <a:ea typeface="Tahoma" panose="020B0604030504040204" pitchFamily="34" charset="0"/>
                  <a:cs typeface="Tahoma" panose="020B0604030504040204" pitchFamily="34" charset="0"/>
                </a:rPr>
                <a:t>Bài tập</a:t>
              </a:r>
              <a:r>
                <a:rPr lang="en-US" sz="1200" b="1" kern="1200">
                  <a:solidFill>
                    <a:srgbClr val="0000CC"/>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13" name="Content Placeholder 2">
            <a:extLst>
              <a:ext uri="{FF2B5EF4-FFF2-40B4-BE49-F238E27FC236}">
                <a16:creationId xmlns:a16="http://schemas.microsoft.com/office/drawing/2014/main" id="{16C84F60-874D-4AE2-957A-87C28FCD0760}"/>
              </a:ext>
            </a:extLst>
          </p:cNvPr>
          <p:cNvSpPr txBox="1">
            <a:spLocks/>
          </p:cNvSpPr>
          <p:nvPr/>
        </p:nvSpPr>
        <p:spPr>
          <a:xfrm>
            <a:off x="16154400" y="6324600"/>
            <a:ext cx="7848600" cy="70104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buNone/>
            </a:pPr>
            <a:r>
              <a:rPr lang="en-US"/>
              <a:t>	</a:t>
            </a:r>
          </a:p>
        </p:txBody>
      </p:sp>
      <p:pic>
        <p:nvPicPr>
          <p:cNvPr id="15" name="Picture 14">
            <a:extLst>
              <a:ext uri="{FF2B5EF4-FFF2-40B4-BE49-F238E27FC236}">
                <a16:creationId xmlns:a16="http://schemas.microsoft.com/office/drawing/2014/main" id="{E9BF622D-902A-47E4-BC83-7F27699DFD3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6631287" y="7239000"/>
            <a:ext cx="6894826" cy="5013464"/>
          </a:xfrm>
          <a:prstGeom prst="rect">
            <a:avLst/>
          </a:prstGeom>
          <a:noFill/>
          <a:ln>
            <a:noFill/>
          </a:ln>
        </p:spPr>
      </p:pic>
      <p:sp>
        <p:nvSpPr>
          <p:cNvPr id="29" name="Rounded Rectangle 2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33" name="TextBox 3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14819901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wipe(up)">
                                      <p:cBhvr>
                                        <p:cTn id="7" dur="500"/>
                                        <p:tgtEl>
                                          <p:spTgt spid="1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wipe(up)">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
                                            <p:txEl>
                                              <p:pRg st="3" end="3"/>
                                            </p:txEl>
                                          </p:spTgt>
                                        </p:tgtEl>
                                        <p:attrNameLst>
                                          <p:attrName>style.visibility</p:attrName>
                                        </p:attrNameLst>
                                      </p:cBhvr>
                                      <p:to>
                                        <p:strVal val="visible"/>
                                      </p:to>
                                    </p:set>
                                    <p:animEffect transition="in" filter="wipe(up)">
                                      <p:cBhvr>
                                        <p:cTn id="17" dur="500"/>
                                        <p:tgtEl>
                                          <p:spTgt spid="1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4">
                                            <p:txEl>
                                              <p:pRg st="4" end="4"/>
                                            </p:txEl>
                                          </p:spTgt>
                                        </p:tgtEl>
                                        <p:attrNameLst>
                                          <p:attrName>style.visibility</p:attrName>
                                        </p:attrNameLst>
                                      </p:cBhvr>
                                      <p:to>
                                        <p:strVal val="visible"/>
                                      </p:to>
                                    </p:set>
                                    <p:animEffect transition="in" filter="wipe(up)">
                                      <p:cBhvr>
                                        <p:cTn id="22" dur="500"/>
                                        <p:tgtEl>
                                          <p:spTgt spid="1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4">
                                            <p:txEl>
                                              <p:pRg st="5" end="5"/>
                                            </p:txEl>
                                          </p:spTgt>
                                        </p:tgtEl>
                                        <p:attrNameLst>
                                          <p:attrName>style.visibility</p:attrName>
                                        </p:attrNameLst>
                                      </p:cBhvr>
                                      <p:to>
                                        <p:strVal val="visible"/>
                                      </p:to>
                                    </p:set>
                                    <p:animEffect transition="in" filter="wipe(up)">
                                      <p:cBhvr>
                                        <p:cTn id="27" dur="500"/>
                                        <p:tgtEl>
                                          <p:spTgt spid="1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7">
            <a:extLst>
              <a:ext uri="{FF2B5EF4-FFF2-40B4-BE49-F238E27FC236}">
                <a16:creationId xmlns:a16="http://schemas.microsoft.com/office/drawing/2014/main" id="{331DD36C-2757-4762-8AC6-F5DBBC77921A}"/>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10">
            <a:extLst>
              <a:ext uri="{FF2B5EF4-FFF2-40B4-BE49-F238E27FC236}">
                <a16:creationId xmlns:a16="http://schemas.microsoft.com/office/drawing/2014/main" id="{75B83596-23B8-4650-9517-74C0A031E4BF}"/>
              </a:ext>
            </a:extLst>
          </p:cNvPr>
          <p:cNvSpPr>
            <a:spLocks noChangeArrowheads="1"/>
          </p:cNvSpPr>
          <p:nvPr/>
        </p:nvSpPr>
        <p:spPr bwMode="auto">
          <a:xfrm>
            <a:off x="0" y="709613"/>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95E04BED-9746-4EFE-BE6F-19440E01284E}"/>
                  </a:ext>
                </a:extLst>
              </p:cNvPr>
              <p:cNvSpPr txBox="1">
                <a:spLocks/>
              </p:cNvSpPr>
              <p:nvPr/>
            </p:nvSpPr>
            <p:spPr>
              <a:xfrm>
                <a:off x="8175789" y="6553199"/>
                <a:ext cx="15773401" cy="69341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lnSpc>
                    <a:spcPct val="100000"/>
                  </a:lnSpc>
                  <a:buNone/>
                </a:pPr>
                <a:r>
                  <a:rPr lang="en-US" sz="4600" b="1">
                    <a:latin typeface="Tahoma" panose="020B0604030504040204" pitchFamily="34" charset="0"/>
                    <a:ea typeface="Tahoma" panose="020B0604030504040204" pitchFamily="34" charset="0"/>
                    <a:cs typeface="Tahoma" panose="020B0604030504040204" pitchFamily="34" charset="0"/>
                  </a:rPr>
                  <a:t>Giải</a:t>
                </a:r>
                <a:endParaRPr lang="en-US" sz="4600">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buNone/>
                </a:pPr>
                <a:r>
                  <a:rPr lang="en-US" sz="4600">
                    <a:latin typeface="Tahoma" panose="020B0604030504040204" pitchFamily="34" charset="0"/>
                    <a:ea typeface="Tahoma" panose="020B0604030504040204" pitchFamily="34" charset="0"/>
                    <a:cs typeface="Tahoma" panose="020B0604030504040204" pitchFamily="34" charset="0"/>
                  </a:rPr>
                  <a:t>Đường thẳng đi qua 2 điểm  </a:t>
                </a:r>
                <a14:m>
                  <m:oMath xmlns:m="http://schemas.openxmlformats.org/officeDocument/2006/math">
                    <m:r>
                      <a:rPr lang="en-US" sz="4600" i="1">
                        <a:latin typeface="Cambria Math" panose="02040503050406030204" pitchFamily="18" charset="0"/>
                      </a:rPr>
                      <m:t>𝐴</m:t>
                    </m:r>
                    <m:d>
                      <m:dPr>
                        <m:ctrlPr>
                          <a:rPr lang="en-US" sz="4600" i="1">
                            <a:latin typeface="Cambria Math" panose="02040503050406030204" pitchFamily="18" charset="0"/>
                          </a:rPr>
                        </m:ctrlPr>
                      </m:dPr>
                      <m:e>
                        <m:func>
                          <m:funcPr>
                            <m:ctrlPr>
                              <a:rPr lang="en-US" sz="4600" i="1">
                                <a:latin typeface="Cambria Math" panose="02040503050406030204" pitchFamily="18" charset="0"/>
                              </a:rPr>
                            </m:ctrlPr>
                          </m:funcPr>
                          <m:fName>
                            <m:r>
                              <a:rPr lang="en-US" sz="4600" i="1">
                                <a:latin typeface="Cambria Math" panose="02040503050406030204" pitchFamily="18" charset="0"/>
                              </a:rPr>
                              <m:t>𝑎</m:t>
                            </m:r>
                            <m:r>
                              <a:rPr lang="en-US" sz="4600" i="1">
                                <a:latin typeface="Cambria Math" panose="02040503050406030204" pitchFamily="18" charset="0"/>
                              </a:rPr>
                              <m:t>;</m:t>
                            </m:r>
                          </m:fName>
                          <m:e>
                            <m:r>
                              <a:rPr lang="en-US" sz="4600" i="1">
                                <a:latin typeface="Cambria Math" panose="02040503050406030204" pitchFamily="18" charset="0"/>
                              </a:rPr>
                              <m:t>0</m:t>
                            </m:r>
                          </m:e>
                        </m:func>
                      </m:e>
                    </m:d>
                    <m:r>
                      <a:rPr lang="en-US" sz="4600" i="1">
                        <a:latin typeface="Cambria Math" panose="02040503050406030204" pitchFamily="18" charset="0"/>
                      </a:rPr>
                      <m:t>,</m:t>
                    </m:r>
                    <m:r>
                      <a:rPr lang="en-US" sz="4600" i="1">
                        <a:latin typeface="Cambria Math" panose="02040503050406030204" pitchFamily="18" charset="0"/>
                      </a:rPr>
                      <m:t>𝐵</m:t>
                    </m:r>
                    <m:d>
                      <m:dPr>
                        <m:ctrlPr>
                          <a:rPr lang="en-US" sz="4600" i="1">
                            <a:latin typeface="Cambria Math" panose="02040503050406030204" pitchFamily="18" charset="0"/>
                          </a:rPr>
                        </m:ctrlPr>
                      </m:dPr>
                      <m:e>
                        <m:r>
                          <a:rPr lang="en-US" sz="4600" i="1">
                            <a:latin typeface="Cambria Math" panose="02040503050406030204" pitchFamily="18" charset="0"/>
                          </a:rPr>
                          <m:t>0;</m:t>
                        </m:r>
                        <m:r>
                          <a:rPr lang="en-US" sz="4600" i="1">
                            <a:latin typeface="Cambria Math" panose="02040503050406030204" pitchFamily="18" charset="0"/>
                          </a:rPr>
                          <m:t>𝑏</m:t>
                        </m:r>
                      </m:e>
                    </m:d>
                  </m:oMath>
                </a14:m>
                <a:r>
                  <a:rPr lang="en-US" sz="4600">
                    <a:latin typeface="Tahoma" panose="020B0604030504040204" pitchFamily="34" charset="0"/>
                    <a:ea typeface="Tahoma" panose="020B0604030504040204" pitchFamily="34" charset="0"/>
                    <a:cs typeface="Tahoma" panose="020B0604030504040204" pitchFamily="34" charset="0"/>
                  </a:rPr>
                  <a:t> nhận vectơ </a:t>
                </a:r>
                <a14:m>
                  <m:oMath xmlns:m="http://schemas.openxmlformats.org/officeDocument/2006/math">
                    <m:acc>
                      <m:accPr>
                        <m:chr m:val="⃗"/>
                        <m:ctrlPr>
                          <a:rPr lang="en-US" sz="4600" i="1">
                            <a:latin typeface="Cambria Math" panose="02040503050406030204" pitchFamily="18" charset="0"/>
                          </a:rPr>
                        </m:ctrlPr>
                      </m:accPr>
                      <m:e>
                        <m:r>
                          <a:rPr lang="en-US" sz="4600" i="1">
                            <a:latin typeface="Cambria Math" panose="02040503050406030204" pitchFamily="18" charset="0"/>
                          </a:rPr>
                          <m:t>𝐴𝐵</m:t>
                        </m:r>
                      </m:e>
                    </m:acc>
                    <m:r>
                      <a:rPr lang="en-US" sz="4600" i="1">
                        <a:latin typeface="Cambria Math" panose="02040503050406030204" pitchFamily="18" charset="0"/>
                      </a:rPr>
                      <m:t>=</m:t>
                    </m:r>
                    <m:d>
                      <m:dPr>
                        <m:ctrlPr>
                          <a:rPr lang="en-US" sz="4600" i="1">
                            <a:latin typeface="Cambria Math" panose="02040503050406030204" pitchFamily="18" charset="0"/>
                          </a:rPr>
                        </m:ctrlPr>
                      </m:dPr>
                      <m:e>
                        <m:r>
                          <a:rPr lang="en-US" sz="4600" i="1">
                            <a:latin typeface="Cambria Math" panose="02040503050406030204" pitchFamily="18" charset="0"/>
                          </a:rPr>
                          <m:t>−</m:t>
                        </m:r>
                        <m:r>
                          <a:rPr lang="en-US" sz="4600" i="1">
                            <a:latin typeface="Cambria Math" panose="02040503050406030204" pitchFamily="18" charset="0"/>
                          </a:rPr>
                          <m:t>𝑎</m:t>
                        </m:r>
                        <m:r>
                          <a:rPr lang="en-US" sz="4600" i="1">
                            <a:latin typeface="Cambria Math" panose="02040503050406030204" pitchFamily="18" charset="0"/>
                          </a:rPr>
                          <m:t>;</m:t>
                        </m:r>
                        <m:r>
                          <a:rPr lang="en-US" sz="4600" i="1">
                            <a:latin typeface="Cambria Math" panose="02040503050406030204" pitchFamily="18" charset="0"/>
                          </a:rPr>
                          <m:t>𝑏</m:t>
                        </m:r>
                      </m:e>
                    </m:d>
                  </m:oMath>
                </a14:m>
                <a:r>
                  <a:rPr lang="en-US" sz="4600">
                    <a:latin typeface="Tahoma" panose="020B0604030504040204" pitchFamily="34" charset="0"/>
                    <a:ea typeface="Tahoma" panose="020B0604030504040204" pitchFamily="34" charset="0"/>
                    <a:cs typeface="Tahoma" panose="020B0604030504040204" pitchFamily="34" charset="0"/>
                  </a:rPr>
                  <a:t> làm vectơ chỉ phương, có vectơ pháp tuyến là </a:t>
                </a:r>
                <a14:m>
                  <m:oMath xmlns:m="http://schemas.openxmlformats.org/officeDocument/2006/math">
                    <m:acc>
                      <m:accPr>
                        <m:chr m:val="⃗"/>
                        <m:ctrlPr>
                          <a:rPr lang="en-US" sz="4600" i="1">
                            <a:latin typeface="Cambria Math" panose="02040503050406030204" pitchFamily="18" charset="0"/>
                          </a:rPr>
                        </m:ctrlPr>
                      </m:accPr>
                      <m:e>
                        <m:r>
                          <a:rPr lang="en-US" sz="4600" i="1">
                            <a:latin typeface="Cambria Math" panose="02040503050406030204" pitchFamily="18" charset="0"/>
                          </a:rPr>
                          <m:t>𝑛</m:t>
                        </m:r>
                      </m:e>
                    </m:acc>
                    <m:r>
                      <a:rPr lang="en-US" sz="4600" i="1">
                        <a:latin typeface="Cambria Math" panose="02040503050406030204" pitchFamily="18" charset="0"/>
                      </a:rPr>
                      <m:t>=</m:t>
                    </m:r>
                    <m:d>
                      <m:dPr>
                        <m:ctrlPr>
                          <a:rPr lang="en-US" sz="4600" i="1">
                            <a:latin typeface="Cambria Math" panose="02040503050406030204" pitchFamily="18" charset="0"/>
                          </a:rPr>
                        </m:ctrlPr>
                      </m:dPr>
                      <m:e>
                        <m:r>
                          <a:rPr lang="en-US" sz="4600" i="1">
                            <a:latin typeface="Cambria Math" panose="02040503050406030204" pitchFamily="18" charset="0"/>
                          </a:rPr>
                          <m:t>𝑏</m:t>
                        </m:r>
                        <m:r>
                          <a:rPr lang="en-US" sz="4600" i="1">
                            <a:latin typeface="Cambria Math" panose="02040503050406030204" pitchFamily="18" charset="0"/>
                          </a:rPr>
                          <m:t>;</m:t>
                        </m:r>
                        <m:r>
                          <a:rPr lang="en-US" sz="4600" i="1">
                            <a:latin typeface="Cambria Math" panose="02040503050406030204" pitchFamily="18" charset="0"/>
                          </a:rPr>
                          <m:t>𝑎</m:t>
                        </m:r>
                      </m:e>
                    </m:d>
                    <m:r>
                      <a:rPr lang="en-US" sz="4600" i="1">
                        <a:latin typeface="Cambria Math" panose="02040503050406030204" pitchFamily="18" charset="0"/>
                      </a:rPr>
                      <m:t>.</m:t>
                    </m:r>
                  </m:oMath>
                </a14:m>
                <a:r>
                  <a:rPr lang="en-US" sz="4600">
                    <a:latin typeface="Tahoma" panose="020B0604030504040204" pitchFamily="34" charset="0"/>
                    <a:ea typeface="Tahoma" panose="020B0604030504040204" pitchFamily="34" charset="0"/>
                    <a:cs typeface="Tahoma" panose="020B0604030504040204" pitchFamily="34" charset="0"/>
                  </a:rPr>
                  <a:t> Khi đó phương trình đường thẳng là</a:t>
                </a:r>
              </a:p>
              <a:p>
                <a:pPr marL="0" indent="0" algn="ctr">
                  <a:lnSpc>
                    <a:spcPct val="100000"/>
                  </a:lnSpc>
                  <a:buNone/>
                </a:pPr>
                <a14:m>
                  <m:oMath xmlns:m="http://schemas.openxmlformats.org/officeDocument/2006/math">
                    <m:r>
                      <a:rPr lang="en-US" sz="4600" i="1">
                        <a:latin typeface="Cambria Math" panose="02040503050406030204" pitchFamily="18" charset="0"/>
                      </a:rPr>
                      <m:t>𝑏𝑥</m:t>
                    </m:r>
                    <m:r>
                      <a:rPr lang="en-US" sz="4600" i="1">
                        <a:latin typeface="Cambria Math" panose="02040503050406030204" pitchFamily="18" charset="0"/>
                      </a:rPr>
                      <m:t>+</m:t>
                    </m:r>
                    <m:r>
                      <a:rPr lang="en-US" sz="4600" i="1">
                        <a:latin typeface="Cambria Math" panose="02040503050406030204" pitchFamily="18" charset="0"/>
                      </a:rPr>
                      <m:t>𝑎𝑦</m:t>
                    </m:r>
                    <m:r>
                      <a:rPr lang="en-US" sz="4600" i="1">
                        <a:latin typeface="Cambria Math" panose="02040503050406030204" pitchFamily="18" charset="0"/>
                      </a:rPr>
                      <m:t>−</m:t>
                    </m:r>
                    <m:r>
                      <a:rPr lang="en-US" sz="4600" i="1">
                        <a:latin typeface="Cambria Math" panose="02040503050406030204" pitchFamily="18" charset="0"/>
                      </a:rPr>
                      <m:t>𝑎𝑏</m:t>
                    </m:r>
                    <m:r>
                      <a:rPr lang="en-US" sz="4600" i="1">
                        <a:latin typeface="Cambria Math" panose="02040503050406030204" pitchFamily="18" charset="0"/>
                      </a:rPr>
                      <m:t>=0.</m:t>
                    </m:r>
                  </m:oMath>
                </a14:m>
                <a:r>
                  <a:rPr lang="en-US" sz="4600">
                    <a:latin typeface="Tahoma" panose="020B0604030504040204" pitchFamily="34" charset="0"/>
                    <a:ea typeface="Tahoma" panose="020B0604030504040204" pitchFamily="34" charset="0"/>
                    <a:cs typeface="Tahoma" panose="020B0604030504040204" pitchFamily="34" charset="0"/>
                  </a:rPr>
                  <a:t> </a:t>
                </a:r>
              </a:p>
              <a:p>
                <a:pPr marL="0" indent="0">
                  <a:buNone/>
                </a:pPr>
                <a:r>
                  <a:rPr lang="en-US" sz="4600">
                    <a:latin typeface="Tahoma" panose="020B0604030504040204" pitchFamily="34" charset="0"/>
                    <a:ea typeface="Tahoma" panose="020B0604030504040204" pitchFamily="34" charset="0"/>
                    <a:cs typeface="Tahoma" panose="020B0604030504040204" pitchFamily="34" charset="0"/>
                  </a:rPr>
                  <a:t>Vì </a:t>
                </a:r>
                <a14:m>
                  <m:oMath xmlns:m="http://schemas.openxmlformats.org/officeDocument/2006/math">
                    <m:r>
                      <a:rPr lang="en-US" sz="4600" i="1">
                        <a:latin typeface="Cambria Math" panose="02040503050406030204" pitchFamily="18" charset="0"/>
                      </a:rPr>
                      <m:t>𝑎𝑏</m:t>
                    </m:r>
                    <m:r>
                      <a:rPr lang="en-US" sz="4600" i="1">
                        <a:latin typeface="Cambria Math" panose="02040503050406030204" pitchFamily="18" charset="0"/>
                      </a:rPr>
                      <m:t>≠0</m:t>
                    </m:r>
                  </m:oMath>
                </a14:m>
                <a:r>
                  <a:rPr lang="en-US" sz="4600">
                    <a:latin typeface="Tahoma" panose="020B0604030504040204" pitchFamily="34" charset="0"/>
                    <a:ea typeface="Tahoma" panose="020B0604030504040204" pitchFamily="34" charset="0"/>
                    <a:cs typeface="Tahoma" panose="020B0604030504040204" pitchFamily="34" charset="0"/>
                  </a:rPr>
                  <a:t> nên chia cả hai vế của phương trình cho </a:t>
                </a:r>
                <a14:m>
                  <m:oMath xmlns:m="http://schemas.openxmlformats.org/officeDocument/2006/math">
                    <m:r>
                      <a:rPr lang="en-US" sz="4600" i="1">
                        <a:latin typeface="Cambria Math" panose="02040503050406030204" pitchFamily="18" charset="0"/>
                      </a:rPr>
                      <m:t>𝑎𝑏</m:t>
                    </m:r>
                  </m:oMath>
                </a14:m>
                <a:r>
                  <a:rPr lang="en-US" sz="4600">
                    <a:latin typeface="Tahoma" panose="020B0604030504040204" pitchFamily="34" charset="0"/>
                    <a:ea typeface="Tahoma" panose="020B0604030504040204" pitchFamily="34" charset="0"/>
                    <a:cs typeface="Tahoma" panose="020B0604030504040204" pitchFamily="34" charset="0"/>
                  </a:rPr>
                  <a:t> ta được phương trình là</a:t>
                </a:r>
              </a:p>
              <a:p>
                <a:pPr marL="0" indent="0" algn="ctr">
                  <a:buNone/>
                </a:pP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𝑥</m:t>
                        </m:r>
                      </m:num>
                      <m:den>
                        <m:r>
                          <a:rPr lang="en-US" i="1">
                            <a:latin typeface="Cambria Math" panose="02040503050406030204" pitchFamily="18" charset="0"/>
                          </a:rPr>
                          <m:t>𝑎</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𝑦</m:t>
                        </m:r>
                      </m:num>
                      <m:den>
                        <m:r>
                          <a:rPr lang="en-US" i="1">
                            <a:latin typeface="Cambria Math" panose="02040503050406030204" pitchFamily="18" charset="0"/>
                          </a:rPr>
                          <m:t>𝑏</m:t>
                        </m:r>
                      </m:den>
                    </m:f>
                    <m:r>
                      <a:rPr lang="en-US" i="1">
                        <a:latin typeface="Cambria Math" panose="02040503050406030204" pitchFamily="18" charset="0"/>
                      </a:rPr>
                      <m:t>=1</m:t>
                    </m:r>
                  </m:oMath>
                </a14:m>
                <a:r>
                  <a:rPr lang="en-US">
                    <a:latin typeface="Tahoma" panose="020B0604030504040204" pitchFamily="34" charset="0"/>
                    <a:ea typeface="Tahoma" panose="020B0604030504040204" pitchFamily="34" charset="0"/>
                    <a:cs typeface="Tahoma" panose="020B0604030504040204" pitchFamily="34" charset="0"/>
                  </a:rPr>
                  <a:t>.</a:t>
                </a:r>
                <a:endParaRPr lang="en-US" sz="4600">
                  <a:latin typeface="Tahoma" panose="020B0604030504040204" pitchFamily="34" charset="0"/>
                  <a:ea typeface="Tahoma" panose="020B0604030504040204" pitchFamily="34" charset="0"/>
                  <a:cs typeface="Tahoma" panose="020B0604030504040204" pitchFamily="34" charset="0"/>
                </a:endParaRPr>
              </a:p>
              <a:p>
                <a:pPr marL="0" indent="0">
                  <a:lnSpc>
                    <a:spcPct val="150000"/>
                  </a:lnSpc>
                  <a:buNone/>
                </a:pPr>
                <a:endParaRPr lang="en-US"/>
              </a:p>
            </p:txBody>
          </p:sp>
        </mc:Choice>
        <mc:Fallback xmlns="">
          <p:sp>
            <p:nvSpPr>
              <p:cNvPr id="14" name="Content Placeholder 2">
                <a:extLst>
                  <a:ext uri="{FF2B5EF4-FFF2-40B4-BE49-F238E27FC236}">
                    <a16:creationId xmlns:a16="http://schemas.microsoft.com/office/drawing/2014/main" id="{95E04BED-9746-4EFE-BE6F-19440E01284E}"/>
                  </a:ext>
                </a:extLst>
              </p:cNvPr>
              <p:cNvSpPr txBox="1">
                <a:spLocks noRot="1" noChangeAspect="1" noMove="1" noResize="1" noEditPoints="1" noAdjustHandles="1" noChangeArrowheads="1" noChangeShapeType="1" noTextEdit="1"/>
              </p:cNvSpPr>
              <p:nvPr/>
            </p:nvSpPr>
            <p:spPr>
              <a:xfrm>
                <a:off x="8175789" y="6553199"/>
                <a:ext cx="15773401" cy="6934199"/>
              </a:xfrm>
              <a:prstGeom prst="rect">
                <a:avLst/>
              </a:prstGeom>
              <a:blipFill>
                <a:blip r:embed="rId3"/>
                <a:stretch>
                  <a:fillRect l="-1622" t="-1844" r="-1236" b="-1054"/>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itle 1">
                <a:extLst>
                  <a:ext uri="{FF2B5EF4-FFF2-40B4-BE49-F238E27FC236}">
                    <a16:creationId xmlns:a16="http://schemas.microsoft.com/office/drawing/2014/main" id="{74F9BD66-E1B7-405E-9C49-3B8EC28C3119}"/>
                  </a:ext>
                </a:extLst>
              </p:cNvPr>
              <p:cNvSpPr txBox="1">
                <a:spLocks/>
              </p:cNvSpPr>
              <p:nvPr/>
            </p:nvSpPr>
            <p:spPr>
              <a:xfrm>
                <a:off x="838200" y="1742439"/>
                <a:ext cx="23164800" cy="4505961"/>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endParaRPr lang="en-US" b="1"/>
              </a:p>
              <a:p>
                <a:r>
                  <a:rPr lang="en-US" b="1"/>
                  <a:t>       </a:t>
                </a:r>
                <a:r>
                  <a:rPr lang="en-US" sz="4800" b="1"/>
                  <a:t>7.5. </a:t>
                </a:r>
                <a:r>
                  <a:rPr lang="en-US" sz="4800">
                    <a:latin typeface="Tahoma" panose="020B0604030504040204" pitchFamily="34" charset="0"/>
                    <a:ea typeface="Tahoma" panose="020B0604030504040204" pitchFamily="34" charset="0"/>
                    <a:cs typeface="Tahoma" panose="020B0604030504040204" pitchFamily="34" charset="0"/>
                  </a:rPr>
                  <a:t>(Phương trình đoạn chắn của đường thẳng)</a:t>
                </a:r>
              </a:p>
              <a:p>
                <a:pPr>
                  <a:lnSpc>
                    <a:spcPct val="100000"/>
                  </a:lnSpc>
                </a:pPr>
                <a:r>
                  <a:rPr lang="en-US" sz="4800">
                    <a:latin typeface="Tahoma" panose="020B0604030504040204" pitchFamily="34" charset="0"/>
                    <a:ea typeface="Tahoma" panose="020B0604030504040204" pitchFamily="34" charset="0"/>
                    <a:cs typeface="Tahoma" panose="020B0604030504040204" pitchFamily="34" charset="0"/>
                  </a:rPr>
                  <a:t>Chứng minh rằng, đường thẳng đi qua hai điểm </a:t>
                </a:r>
                <a14:m>
                  <m:oMath xmlns:m="http://schemas.openxmlformats.org/officeDocument/2006/math">
                    <m:r>
                      <a:rPr lang="en-US" sz="4800" i="1">
                        <a:latin typeface="Cambria Math" panose="02040503050406030204" pitchFamily="18" charset="0"/>
                      </a:rPr>
                      <m:t>𝐴</m:t>
                    </m:r>
                    <m:d>
                      <m:dPr>
                        <m:ctrlPr>
                          <a:rPr lang="en-US" sz="4800" i="1">
                            <a:latin typeface="Cambria Math" panose="02040503050406030204" pitchFamily="18" charset="0"/>
                          </a:rPr>
                        </m:ctrlPr>
                      </m:dPr>
                      <m:e>
                        <m:func>
                          <m:funcPr>
                            <m:ctrlPr>
                              <a:rPr lang="en-US" sz="4800" i="1">
                                <a:latin typeface="Cambria Math" panose="02040503050406030204" pitchFamily="18" charset="0"/>
                              </a:rPr>
                            </m:ctrlPr>
                          </m:funcPr>
                          <m:fName>
                            <m:r>
                              <a:rPr lang="en-US" sz="4800" i="1">
                                <a:latin typeface="Cambria Math" panose="02040503050406030204" pitchFamily="18" charset="0"/>
                              </a:rPr>
                              <m:t>𝑎</m:t>
                            </m:r>
                            <m:r>
                              <a:rPr lang="en-US" sz="4800" i="1">
                                <a:latin typeface="Cambria Math" panose="02040503050406030204" pitchFamily="18" charset="0"/>
                              </a:rPr>
                              <m:t>;</m:t>
                            </m:r>
                          </m:fName>
                          <m:e>
                            <m:r>
                              <a:rPr lang="en-US" sz="4800" i="1">
                                <a:latin typeface="Cambria Math" panose="02040503050406030204" pitchFamily="18" charset="0"/>
                              </a:rPr>
                              <m:t>0</m:t>
                            </m:r>
                          </m:e>
                        </m:func>
                      </m:e>
                    </m:d>
                    <m:r>
                      <a:rPr lang="en-US" sz="4800" i="1">
                        <a:latin typeface="Cambria Math" panose="02040503050406030204" pitchFamily="18" charset="0"/>
                      </a:rPr>
                      <m:t>,</m:t>
                    </m:r>
                    <m:r>
                      <a:rPr lang="en-US" sz="4800" i="1">
                        <a:latin typeface="Cambria Math" panose="02040503050406030204" pitchFamily="18" charset="0"/>
                      </a:rPr>
                      <m:t>𝐵</m:t>
                    </m:r>
                    <m:d>
                      <m:dPr>
                        <m:ctrlPr>
                          <a:rPr lang="en-US" sz="4800" i="1">
                            <a:latin typeface="Cambria Math" panose="02040503050406030204" pitchFamily="18" charset="0"/>
                          </a:rPr>
                        </m:ctrlPr>
                      </m:dPr>
                      <m:e>
                        <m:r>
                          <a:rPr lang="en-US" sz="4800" i="1">
                            <a:latin typeface="Cambria Math" panose="02040503050406030204" pitchFamily="18" charset="0"/>
                          </a:rPr>
                          <m:t>0;</m:t>
                        </m:r>
                        <m:r>
                          <a:rPr lang="en-US" sz="4800" i="1">
                            <a:latin typeface="Cambria Math" panose="02040503050406030204" pitchFamily="18" charset="0"/>
                          </a:rPr>
                          <m:t>𝑏</m:t>
                        </m:r>
                      </m:e>
                    </m:d>
                  </m:oMath>
                </a14:m>
                <a:r>
                  <a:rPr lang="en-US" sz="4800">
                    <a:latin typeface="Tahoma" panose="020B0604030504040204" pitchFamily="34" charset="0"/>
                    <a:ea typeface="Tahoma" panose="020B0604030504040204" pitchFamily="34" charset="0"/>
                    <a:cs typeface="Tahoma" panose="020B0604030504040204" pitchFamily="34" charset="0"/>
                  </a:rPr>
                  <a:t> với </a:t>
                </a:r>
                <a14:m>
                  <m:oMath xmlns:m="http://schemas.openxmlformats.org/officeDocument/2006/math">
                    <m:r>
                      <a:rPr lang="en-US" sz="4800" i="1">
                        <a:latin typeface="Cambria Math" panose="02040503050406030204" pitchFamily="18" charset="0"/>
                      </a:rPr>
                      <m:t>𝑎𝑏</m:t>
                    </m:r>
                    <m:r>
                      <a:rPr lang="en-US" sz="4800" i="1">
                        <a:latin typeface="Cambria Math" panose="02040503050406030204" pitchFamily="18" charset="0"/>
                      </a:rPr>
                      <m:t>≠0 </m:t>
                    </m:r>
                  </m:oMath>
                </a14:m>
                <a:r>
                  <a:rPr lang="en-US" sz="4800">
                    <a:latin typeface="Tahoma" panose="020B0604030504040204" pitchFamily="34" charset="0"/>
                    <a:ea typeface="Tahoma" panose="020B0604030504040204" pitchFamily="34" charset="0"/>
                    <a:cs typeface="Tahoma" panose="020B0604030504040204" pitchFamily="34" charset="0"/>
                  </a:rPr>
                  <a:t>có phương trình là</a:t>
                </a:r>
              </a:p>
              <a:p>
                <a:pPr/>
                <a14:m>
                  <m:oMathPara xmlns:m="http://schemas.openxmlformats.org/officeDocument/2006/math">
                    <m:oMathParaPr>
                      <m:jc m:val="centerGroup"/>
                    </m:oMathParaPr>
                    <m:oMath xmlns:m="http://schemas.openxmlformats.org/officeDocument/2006/math">
                      <m:f>
                        <m:fPr>
                          <m:ctrlPr>
                            <a:rPr lang="en-US" sz="4800" i="1">
                              <a:latin typeface="Cambria Math" panose="02040503050406030204" pitchFamily="18" charset="0"/>
                            </a:rPr>
                          </m:ctrlPr>
                        </m:fPr>
                        <m:num>
                          <m:r>
                            <a:rPr lang="en-US" sz="4800" i="1">
                              <a:latin typeface="Cambria Math" panose="02040503050406030204" pitchFamily="18" charset="0"/>
                            </a:rPr>
                            <m:t>𝑥</m:t>
                          </m:r>
                        </m:num>
                        <m:den>
                          <m:r>
                            <a:rPr lang="en-US" sz="4800" i="1">
                              <a:latin typeface="Cambria Math" panose="02040503050406030204" pitchFamily="18" charset="0"/>
                            </a:rPr>
                            <m:t>𝑎</m:t>
                          </m:r>
                        </m:den>
                      </m:f>
                      <m:r>
                        <a:rPr lang="en-US" sz="4800" i="1">
                          <a:latin typeface="Cambria Math" panose="02040503050406030204" pitchFamily="18" charset="0"/>
                        </a:rPr>
                        <m:t>+</m:t>
                      </m:r>
                      <m:f>
                        <m:fPr>
                          <m:ctrlPr>
                            <a:rPr lang="en-US" sz="4800" i="1">
                              <a:latin typeface="Cambria Math" panose="02040503050406030204" pitchFamily="18" charset="0"/>
                            </a:rPr>
                          </m:ctrlPr>
                        </m:fPr>
                        <m:num>
                          <m:r>
                            <a:rPr lang="en-US" sz="4800" i="1">
                              <a:latin typeface="Cambria Math" panose="02040503050406030204" pitchFamily="18" charset="0"/>
                            </a:rPr>
                            <m:t>𝑦</m:t>
                          </m:r>
                        </m:num>
                        <m:den>
                          <m:r>
                            <a:rPr lang="en-US" sz="4800" i="1">
                              <a:latin typeface="Cambria Math" panose="02040503050406030204" pitchFamily="18" charset="0"/>
                            </a:rPr>
                            <m:t>𝑏</m:t>
                          </m:r>
                        </m:den>
                      </m:f>
                      <m:r>
                        <a:rPr lang="en-US" sz="4800" i="1">
                          <a:latin typeface="Cambria Math" panose="02040503050406030204" pitchFamily="18" charset="0"/>
                        </a:rPr>
                        <m:t>=1.</m:t>
                      </m:r>
                    </m:oMath>
                  </m:oMathPara>
                </a14:m>
                <a:endParaRPr lang="en-US" sz="4800">
                  <a:latin typeface="Tahoma" panose="020B0604030504040204" pitchFamily="34" charset="0"/>
                  <a:ea typeface="Tahoma" panose="020B0604030504040204" pitchFamily="34" charset="0"/>
                  <a:cs typeface="Tahoma" panose="020B0604030504040204" pitchFamily="34" charset="0"/>
                </a:endParaRPr>
              </a:p>
              <a:p>
                <a:pPr>
                  <a:lnSpc>
                    <a:spcPct val="100000"/>
                  </a:lnSpc>
                </a:pPr>
                <a:endParaRPr lang="en-US"/>
              </a:p>
            </p:txBody>
          </p:sp>
        </mc:Choice>
        <mc:Fallback xmlns="">
          <p:sp>
            <p:nvSpPr>
              <p:cNvPr id="17" name="Title 1">
                <a:extLst>
                  <a:ext uri="{FF2B5EF4-FFF2-40B4-BE49-F238E27FC236}">
                    <a16:creationId xmlns:a16="http://schemas.microsoft.com/office/drawing/2014/main" id="{74F9BD66-E1B7-405E-9C49-3B8EC28C3119}"/>
                  </a:ext>
                </a:extLst>
              </p:cNvPr>
              <p:cNvSpPr txBox="1">
                <a:spLocks noRot="1" noChangeAspect="1" noMove="1" noResize="1" noEditPoints="1" noAdjustHandles="1" noChangeArrowheads="1" noChangeShapeType="1" noTextEdit="1"/>
              </p:cNvSpPr>
              <p:nvPr/>
            </p:nvSpPr>
            <p:spPr>
              <a:xfrm>
                <a:off x="838200" y="1742439"/>
                <a:ext cx="23164800" cy="4505961"/>
              </a:xfrm>
              <a:prstGeom prst="rect">
                <a:avLst/>
              </a:prstGeom>
              <a:blipFill>
                <a:blip r:embed="rId4"/>
                <a:stretch>
                  <a:fillRect l="-1184"/>
                </a:stretch>
              </a:blipFill>
              <a:ln>
                <a:solidFill>
                  <a:schemeClr val="tx2">
                    <a:lumMod val="20000"/>
                    <a:lumOff val="80000"/>
                  </a:schemeClr>
                </a:solidFill>
              </a:ln>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DE84E17C-27B3-431C-850F-F57B7D655D26}"/>
              </a:ext>
            </a:extLst>
          </p:cNvPr>
          <p:cNvGrpSpPr/>
          <p:nvPr/>
        </p:nvGrpSpPr>
        <p:grpSpPr>
          <a:xfrm>
            <a:off x="400878" y="1676400"/>
            <a:ext cx="3989314" cy="1183262"/>
            <a:chOff x="22440" y="44679"/>
            <a:chExt cx="953655" cy="252442"/>
          </a:xfrm>
        </p:grpSpPr>
        <p:grpSp>
          <p:nvGrpSpPr>
            <p:cNvPr id="19" name="Group 18">
              <a:extLst>
                <a:ext uri="{FF2B5EF4-FFF2-40B4-BE49-F238E27FC236}">
                  <a16:creationId xmlns:a16="http://schemas.microsoft.com/office/drawing/2014/main" id="{AA60C9BE-2282-4378-92C3-800BEEC2385D}"/>
                </a:ext>
              </a:extLst>
            </p:cNvPr>
            <p:cNvGrpSpPr/>
            <p:nvPr/>
          </p:nvGrpSpPr>
          <p:grpSpPr>
            <a:xfrm>
              <a:off x="22440" y="59287"/>
              <a:ext cx="953655" cy="159667"/>
              <a:chOff x="31572" y="60276"/>
              <a:chExt cx="1341810" cy="197595"/>
            </a:xfrm>
          </p:grpSpPr>
          <p:sp>
            <p:nvSpPr>
              <p:cNvPr id="21" name="Arrow: Pentagon 20">
                <a:extLst>
                  <a:ext uri="{FF2B5EF4-FFF2-40B4-BE49-F238E27FC236}">
                    <a16:creationId xmlns:a16="http://schemas.microsoft.com/office/drawing/2014/main" id="{A5F5C0E7-DF43-4B21-96BA-478BC1C2F9AB}"/>
                  </a:ext>
                </a:extLst>
              </p:cNvPr>
              <p:cNvSpPr/>
              <p:nvPr/>
            </p:nvSpPr>
            <p:spPr>
              <a:xfrm>
                <a:off x="204506" y="61809"/>
                <a:ext cx="1168876" cy="19606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0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2" name="Arrow: Chevron 21">
                <a:extLst>
                  <a:ext uri="{FF2B5EF4-FFF2-40B4-BE49-F238E27FC236}">
                    <a16:creationId xmlns:a16="http://schemas.microsoft.com/office/drawing/2014/main" id="{518F6DE5-B00E-45E7-B8F1-47FD80335114}"/>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endParaRPr lang="en-US"/>
              </a:p>
            </p:txBody>
          </p:sp>
          <p:sp>
            <p:nvSpPr>
              <p:cNvPr id="23" name="Arrow: Chevron 22">
                <a:extLst>
                  <a:ext uri="{FF2B5EF4-FFF2-40B4-BE49-F238E27FC236}">
                    <a16:creationId xmlns:a16="http://schemas.microsoft.com/office/drawing/2014/main" id="{57C817BB-0211-4966-AACE-08D8CFA3E87E}"/>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endParaRPr lang="en-US"/>
              </a:p>
            </p:txBody>
          </p:sp>
        </p:grpSp>
        <p:sp>
          <p:nvSpPr>
            <p:cNvPr id="20" name="TextBox 56">
              <a:extLst>
                <a:ext uri="{FF2B5EF4-FFF2-40B4-BE49-F238E27FC236}">
                  <a16:creationId xmlns:a16="http://schemas.microsoft.com/office/drawing/2014/main" id="{7D6FEC55-2C19-4321-952B-21EE88734680}"/>
                </a:ext>
              </a:extLst>
            </p:cNvPr>
            <p:cNvSpPr txBox="1"/>
            <p:nvPr/>
          </p:nvSpPr>
          <p:spPr>
            <a:xfrm>
              <a:off x="267457" y="44679"/>
              <a:ext cx="580215" cy="252442"/>
            </a:xfrm>
            <a:prstGeom prst="rect">
              <a:avLst/>
            </a:prstGeom>
            <a:noFill/>
          </p:spPr>
          <p:txBody>
            <a:bodyPr wrap="square">
              <a:noAutofit/>
            </a:bodyPr>
            <a:lstStyle/>
            <a:p>
              <a:pPr marL="0" marR="0">
                <a:lnSpc>
                  <a:spcPct val="107000"/>
                </a:lnSpc>
                <a:spcBef>
                  <a:spcPts val="0"/>
                </a:spcBef>
                <a:spcAft>
                  <a:spcPts val="800"/>
                </a:spcAft>
              </a:pPr>
              <a:r>
                <a:rPr lang="en-US" sz="4800" b="1" kern="1200">
                  <a:solidFill>
                    <a:srgbClr val="0000CC"/>
                  </a:solidFill>
                  <a:effectLst/>
                  <a:latin typeface="Tahoma" panose="020B0604030504040204" pitchFamily="34" charset="0"/>
                  <a:ea typeface="Tahoma" panose="020B0604030504040204" pitchFamily="34" charset="0"/>
                  <a:cs typeface="Tahoma" panose="020B0604030504040204" pitchFamily="34" charset="0"/>
                </a:rPr>
                <a:t>Bài tập</a:t>
              </a:r>
              <a:r>
                <a:rPr lang="en-US" sz="1200" b="1" kern="1200">
                  <a:solidFill>
                    <a:srgbClr val="0000CC"/>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13" name="Content Placeholder 2">
            <a:extLst>
              <a:ext uri="{FF2B5EF4-FFF2-40B4-BE49-F238E27FC236}">
                <a16:creationId xmlns:a16="http://schemas.microsoft.com/office/drawing/2014/main" id="{16C84F60-874D-4AE2-957A-87C28FCD0760}"/>
              </a:ext>
            </a:extLst>
          </p:cNvPr>
          <p:cNvSpPr txBox="1">
            <a:spLocks/>
          </p:cNvSpPr>
          <p:nvPr/>
        </p:nvSpPr>
        <p:spPr>
          <a:xfrm>
            <a:off x="815340" y="6553199"/>
            <a:ext cx="7131849" cy="69342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buNone/>
            </a:pPr>
            <a:r>
              <a:rPr lang="en-US"/>
              <a:t>	</a:t>
            </a:r>
          </a:p>
        </p:txBody>
      </p:sp>
      <p:pic>
        <p:nvPicPr>
          <p:cNvPr id="15" name="Picture 14">
            <a:extLst>
              <a:ext uri="{FF2B5EF4-FFF2-40B4-BE49-F238E27FC236}">
                <a16:creationId xmlns:a16="http://schemas.microsoft.com/office/drawing/2014/main" id="{20477296-CA95-4AC4-AC81-855C80C2E40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110790" y="7666927"/>
            <a:ext cx="6540947" cy="4706744"/>
          </a:xfrm>
          <a:prstGeom prst="rect">
            <a:avLst/>
          </a:prstGeom>
          <a:noFill/>
          <a:ln>
            <a:noFill/>
          </a:ln>
        </p:spPr>
      </p:pic>
      <p:sp>
        <p:nvSpPr>
          <p:cNvPr id="48" name="Rounded Rectangle 4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52" name="TextBox 5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71323810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1000"/>
                                        <p:tgtEl>
                                          <p:spTgt spid="17"/>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up)">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up)">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14">
                                            <p:txEl>
                                              <p:pRg st="0" end="0"/>
                                            </p:txEl>
                                          </p:spTgt>
                                        </p:tgtEl>
                                        <p:attrNameLst>
                                          <p:attrName>style.visibility</p:attrName>
                                        </p:attrNameLst>
                                      </p:cBhvr>
                                      <p:to>
                                        <p:strVal val="visible"/>
                                      </p:to>
                                    </p:set>
                                    <p:animEffect transition="in" filter="wipe(up)">
                                      <p:cBhvr>
                                        <p:cTn id="26" dur="500"/>
                                        <p:tgtEl>
                                          <p:spTgt spid="14">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4">
                                            <p:txEl>
                                              <p:pRg st="1" end="1"/>
                                            </p:txEl>
                                          </p:spTgt>
                                        </p:tgtEl>
                                        <p:attrNameLst>
                                          <p:attrName>style.visibility</p:attrName>
                                        </p:attrNameLst>
                                      </p:cBhvr>
                                      <p:to>
                                        <p:strVal val="visible"/>
                                      </p:to>
                                    </p:set>
                                    <p:animEffect transition="in" filter="wipe(up)">
                                      <p:cBhvr>
                                        <p:cTn id="31" dur="500"/>
                                        <p:tgtEl>
                                          <p:spTgt spid="14">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14">
                                            <p:txEl>
                                              <p:pRg st="2" end="2"/>
                                            </p:txEl>
                                          </p:spTgt>
                                        </p:tgtEl>
                                        <p:attrNameLst>
                                          <p:attrName>style.visibility</p:attrName>
                                        </p:attrNameLst>
                                      </p:cBhvr>
                                      <p:to>
                                        <p:strVal val="visible"/>
                                      </p:to>
                                    </p:set>
                                    <p:animEffect transition="in" filter="wipe(up)">
                                      <p:cBhvr>
                                        <p:cTn id="36" dur="500"/>
                                        <p:tgtEl>
                                          <p:spTgt spid="14">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14">
                                            <p:txEl>
                                              <p:pRg st="3" end="3"/>
                                            </p:txEl>
                                          </p:spTgt>
                                        </p:tgtEl>
                                        <p:attrNameLst>
                                          <p:attrName>style.visibility</p:attrName>
                                        </p:attrNameLst>
                                      </p:cBhvr>
                                      <p:to>
                                        <p:strVal val="visible"/>
                                      </p:to>
                                    </p:set>
                                    <p:animEffect transition="in" filter="wipe(up)">
                                      <p:cBhvr>
                                        <p:cTn id="41" dur="500"/>
                                        <p:tgtEl>
                                          <p:spTgt spid="14">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14">
                                            <p:txEl>
                                              <p:pRg st="4" end="4"/>
                                            </p:txEl>
                                          </p:spTgt>
                                        </p:tgtEl>
                                        <p:attrNameLst>
                                          <p:attrName>style.visibility</p:attrName>
                                        </p:attrNameLst>
                                      </p:cBhvr>
                                      <p:to>
                                        <p:strVal val="visible"/>
                                      </p:to>
                                    </p:set>
                                    <p:animEffect transition="in" filter="wipe(up)">
                                      <p:cBhvr>
                                        <p:cTn id="46" dur="500"/>
                                        <p:tgtEl>
                                          <p:spTgt spid="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1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686425" y="1981200"/>
                <a:ext cx="23164800" cy="105918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endParaRPr lang="en-US" b="1"/>
              </a:p>
              <a:p>
                <a:endParaRPr lang="en-US" b="1"/>
              </a:p>
              <a:p>
                <a:pPr>
                  <a:lnSpc>
                    <a:spcPct val="100000"/>
                  </a:lnSpc>
                </a:pPr>
                <a:r>
                  <a:rPr lang="en-US" b="1"/>
                  <a:t>       7.6.</a:t>
                </a:r>
                <a:r>
                  <a:rPr lang="en-US"/>
                  <a:t> </a:t>
                </a:r>
                <a:r>
                  <a:rPr lang="en-US">
                    <a:latin typeface="Tahoma" panose="020B0604030504040204" pitchFamily="34" charset="0"/>
                    <a:ea typeface="Tahoma" panose="020B0604030504040204" pitchFamily="34" charset="0"/>
                    <a:cs typeface="Tahoma" panose="020B0604030504040204" pitchFamily="34" charset="0"/>
                  </a:rPr>
                  <a:t>Theo Google Maps, sân bay Nội Bài có vĩ độ là </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2</m:t>
                        </m:r>
                        <m:r>
                          <a:rPr lang="en-US" i="1">
                            <a:latin typeface="Cambria Math" panose="02040503050406030204" pitchFamily="18" charset="0"/>
                          </a:rPr>
                          <m:t>1</m:t>
                        </m:r>
                        <m:r>
                          <a:rPr lang="en-US" b="0" i="1" smtClean="0">
                            <a:latin typeface="Cambria Math" panose="02040503050406030204" pitchFamily="18" charset="0"/>
                          </a:rPr>
                          <m:t>,2</m:t>
                        </m:r>
                      </m:e>
                      <m:sup>
                        <m:r>
                          <m:rPr>
                            <m:sty m:val="p"/>
                          </m:rPr>
                          <a:rPr lang="en-US">
                            <a:latin typeface="Cambria Math" panose="02040503050406030204" pitchFamily="18" charset="0"/>
                          </a:rPr>
                          <m:t>o</m:t>
                        </m:r>
                      </m:sup>
                    </m:sSup>
                  </m:oMath>
                </a14:m>
                <a:r>
                  <a:rPr lang="en-US">
                    <a:latin typeface="Tahoma" panose="020B0604030504040204" pitchFamily="34" charset="0"/>
                    <a:ea typeface="Tahoma" panose="020B0604030504040204" pitchFamily="34" charset="0"/>
                    <a:cs typeface="Tahoma" panose="020B0604030504040204" pitchFamily="34" charset="0"/>
                  </a:rPr>
                  <a:t> Bắc, kinh độ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m:t>
                        </m:r>
                        <m:r>
                          <a:rPr lang="en-US" b="0" i="1" smtClean="0">
                            <a:latin typeface="Cambria Math" panose="02040503050406030204" pitchFamily="18" charset="0"/>
                          </a:rPr>
                          <m:t>05,8</m:t>
                        </m:r>
                      </m:e>
                      <m:sup>
                        <m:r>
                          <m:rPr>
                            <m:sty m:val="p"/>
                          </m:rPr>
                          <a:rPr lang="en-US">
                            <a:latin typeface="Cambria Math" panose="02040503050406030204" pitchFamily="18" charset="0"/>
                          </a:rPr>
                          <m:t>o</m:t>
                        </m:r>
                      </m:sup>
                    </m:sSup>
                  </m:oMath>
                </a14:m>
                <a:r>
                  <a:rPr lang="en-US">
                    <a:latin typeface="Tahoma" panose="020B0604030504040204" pitchFamily="34" charset="0"/>
                    <a:ea typeface="Tahoma" panose="020B0604030504040204" pitchFamily="34" charset="0"/>
                    <a:cs typeface="Tahoma" panose="020B0604030504040204" pitchFamily="34" charset="0"/>
                  </a:rPr>
                  <a:t> Đông, sân bay Đà Nẵng có vĩ độ là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m:t>
                        </m:r>
                        <m:r>
                          <a:rPr lang="en-US" b="0" i="1" smtClean="0">
                            <a:latin typeface="Cambria Math" panose="02040503050406030204" pitchFamily="18" charset="0"/>
                          </a:rPr>
                          <m:t>6,1</m:t>
                        </m:r>
                      </m:e>
                      <m:sup>
                        <m:r>
                          <m:rPr>
                            <m:sty m:val="p"/>
                          </m:rPr>
                          <a:rPr lang="en-US">
                            <a:latin typeface="Cambria Math" panose="02040503050406030204" pitchFamily="18" charset="0"/>
                          </a:rPr>
                          <m:t>o</m:t>
                        </m:r>
                      </m:sup>
                    </m:sSup>
                  </m:oMath>
                </a14:m>
                <a:r>
                  <a:rPr lang="en-US">
                    <a:latin typeface="Tahoma" panose="020B0604030504040204" pitchFamily="34" charset="0"/>
                    <a:ea typeface="Tahoma" panose="020B0604030504040204" pitchFamily="34" charset="0"/>
                    <a:cs typeface="Tahoma" panose="020B0604030504040204" pitchFamily="34" charset="0"/>
                  </a:rPr>
                  <a:t> Bắc, kinh độ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m:t>
                        </m:r>
                        <m:r>
                          <a:rPr lang="en-US" b="0" i="1" smtClean="0">
                            <a:latin typeface="Cambria Math" panose="02040503050406030204" pitchFamily="18" charset="0"/>
                          </a:rPr>
                          <m:t>08,2</m:t>
                        </m:r>
                      </m:e>
                      <m:sup>
                        <m:r>
                          <m:rPr>
                            <m:sty m:val="p"/>
                          </m:rPr>
                          <a:rPr lang="en-US">
                            <a:latin typeface="Cambria Math" panose="02040503050406030204" pitchFamily="18" charset="0"/>
                          </a:rPr>
                          <m:t>o</m:t>
                        </m:r>
                      </m:sup>
                    </m:sSup>
                  </m:oMath>
                </a14:m>
                <a:r>
                  <a:rPr lang="en-US">
                    <a:latin typeface="Tahoma" panose="020B0604030504040204" pitchFamily="34" charset="0"/>
                    <a:ea typeface="Tahoma" panose="020B0604030504040204" pitchFamily="34" charset="0"/>
                    <a:cs typeface="Tahoma" panose="020B0604030504040204" pitchFamily="34" charset="0"/>
                  </a:rPr>
                  <a:t> Đông. Một máy bay, bay từ Nội Bài đến sân bay Đà Nẵng. Tại thời điểm  </a:t>
                </a:r>
                <a14:m>
                  <m:oMath xmlns:m="http://schemas.openxmlformats.org/officeDocument/2006/math">
                    <m:r>
                      <a:rPr lang="en-US" i="1">
                        <a:latin typeface="Cambria Math" panose="02040503050406030204" pitchFamily="18" charset="0"/>
                      </a:rPr>
                      <m:t>𝑡</m:t>
                    </m:r>
                  </m:oMath>
                </a14:m>
                <a:r>
                  <a:rPr lang="en-US">
                    <a:latin typeface="Tahoma" panose="020B0604030504040204" pitchFamily="34" charset="0"/>
                    <a:ea typeface="Tahoma" panose="020B0604030504040204" pitchFamily="34" charset="0"/>
                    <a:cs typeface="Tahoma" panose="020B0604030504040204" pitchFamily="34" charset="0"/>
                  </a:rPr>
                  <a:t> giờ, tính từ lúc xuất phát, máy bay ở vị trí có vĩ độ </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𝑥</m:t>
                        </m:r>
                      </m:e>
                      <m:sup>
                        <m:r>
                          <m:rPr>
                            <m:sty m:val="p"/>
                          </m:rPr>
                          <a:rPr lang="en-US">
                            <a:latin typeface="Cambria Math" panose="02040503050406030204" pitchFamily="18" charset="0"/>
                          </a:rPr>
                          <m:t>o</m:t>
                        </m:r>
                      </m:sup>
                    </m:sSup>
                  </m:oMath>
                </a14:m>
                <a:r>
                  <a:rPr lang="en-US">
                    <a:latin typeface="Tahoma" panose="020B0604030504040204" pitchFamily="34" charset="0"/>
                    <a:ea typeface="Tahoma" panose="020B0604030504040204" pitchFamily="34" charset="0"/>
                    <a:cs typeface="Tahoma" panose="020B0604030504040204" pitchFamily="34" charset="0"/>
                  </a:rPr>
                  <a:t> Bắc, kinh độ </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𝑦</m:t>
                        </m:r>
                      </m:e>
                      <m:sup>
                        <m:r>
                          <m:rPr>
                            <m:sty m:val="p"/>
                          </m:rPr>
                          <a:rPr lang="en-US">
                            <a:latin typeface="Cambria Math" panose="02040503050406030204" pitchFamily="18" charset="0"/>
                          </a:rPr>
                          <m:t>o</m:t>
                        </m:r>
                      </m:sup>
                    </m:sSup>
                  </m:oMath>
                </a14:m>
                <a:r>
                  <a:rPr lang="en-US">
                    <a:latin typeface="Tahoma" panose="020B0604030504040204" pitchFamily="34" charset="0"/>
                    <a:ea typeface="Tahoma" panose="020B0604030504040204" pitchFamily="34" charset="0"/>
                    <a:cs typeface="Tahoma" panose="020B0604030504040204" pitchFamily="34" charset="0"/>
                  </a:rPr>
                  <a:t> Đông được tính theo công thức</a:t>
                </a:r>
              </a:p>
              <a:p>
                <a:pPr algn="ctr">
                  <a:lnSpc>
                    <a:spcPct val="100000"/>
                  </a:lnSpc>
                </a:pPr>
                <a14:m>
                  <m:oMath xmlns:m="http://schemas.openxmlformats.org/officeDocument/2006/math">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𝑥</m:t>
                            </m:r>
                            <m:r>
                              <a:rPr lang="en-US" i="1">
                                <a:latin typeface="Cambria Math" panose="02040503050406030204" pitchFamily="18" charset="0"/>
                              </a:rPr>
                              <m:t>=21,2−</m:t>
                            </m:r>
                            <m:f>
                              <m:fPr>
                                <m:ctrlPr>
                                  <a:rPr lang="en-US" i="1">
                                    <a:latin typeface="Cambria Math" panose="02040503050406030204" pitchFamily="18" charset="0"/>
                                  </a:rPr>
                                </m:ctrlPr>
                              </m:fPr>
                              <m:num>
                                <m:r>
                                  <a:rPr lang="en-US" i="1">
                                    <a:latin typeface="Cambria Math" panose="02040503050406030204" pitchFamily="18" charset="0"/>
                                  </a:rPr>
                                  <m:t>153</m:t>
                                </m:r>
                              </m:num>
                              <m:den>
                                <m:r>
                                  <a:rPr lang="en-US" i="1">
                                    <a:latin typeface="Cambria Math" panose="02040503050406030204" pitchFamily="18" charset="0"/>
                                  </a:rPr>
                                  <m:t>40</m:t>
                                </m:r>
                              </m:den>
                            </m:f>
                            <m:r>
                              <a:rPr lang="en-US" i="1">
                                <a:latin typeface="Cambria Math" panose="02040503050406030204" pitchFamily="18" charset="0"/>
                              </a:rPr>
                              <m:t>𝑡</m:t>
                            </m:r>
                          </m:e>
                          <m:e>
                            <m:r>
                              <a:rPr lang="en-US" i="1">
                                <a:latin typeface="Cambria Math" panose="02040503050406030204" pitchFamily="18" charset="0"/>
                              </a:rPr>
                              <m:t>𝑦</m:t>
                            </m:r>
                            <m:r>
                              <a:rPr lang="en-US" i="1">
                                <a:latin typeface="Cambria Math" panose="02040503050406030204" pitchFamily="18" charset="0"/>
                              </a:rPr>
                              <m:t>=105,8+</m:t>
                            </m:r>
                            <m:f>
                              <m:fPr>
                                <m:ctrlPr>
                                  <a:rPr lang="en-US" i="1">
                                    <a:latin typeface="Cambria Math" panose="02040503050406030204" pitchFamily="18" charset="0"/>
                                  </a:rPr>
                                </m:ctrlPr>
                              </m:fPr>
                              <m:num>
                                <m:r>
                                  <a:rPr lang="en-US" i="1">
                                    <a:latin typeface="Cambria Math" panose="02040503050406030204" pitchFamily="18" charset="0"/>
                                  </a:rPr>
                                  <m:t>9</m:t>
                                </m:r>
                              </m:num>
                              <m:den>
                                <m:r>
                                  <a:rPr lang="en-US" i="1">
                                    <a:latin typeface="Cambria Math" panose="02040503050406030204" pitchFamily="18" charset="0"/>
                                  </a:rPr>
                                  <m:t>5</m:t>
                                </m:r>
                              </m:den>
                            </m:f>
                            <m:r>
                              <a:rPr lang="en-US" i="1">
                                <a:latin typeface="Cambria Math" panose="02040503050406030204" pitchFamily="18" charset="0"/>
                              </a:rPr>
                              <m:t>𝑡</m:t>
                            </m:r>
                          </m:e>
                        </m:eqArr>
                      </m:e>
                    </m:d>
                  </m:oMath>
                </a14:m>
                <a:r>
                  <a:rPr lang="en-US">
                    <a:latin typeface="Tahoma" panose="020B0604030504040204" pitchFamily="34" charset="0"/>
                    <a:ea typeface="Tahoma" panose="020B0604030504040204" pitchFamily="34" charset="0"/>
                    <a:cs typeface="Tahoma" panose="020B0604030504040204" pitchFamily="34" charset="0"/>
                  </a:rPr>
                  <a:t> </a:t>
                </a:r>
              </a:p>
              <a:p>
                <a:r>
                  <a:rPr lang="en-US">
                    <a:latin typeface="Tahoma" panose="020B0604030504040204" pitchFamily="34" charset="0"/>
                    <a:ea typeface="Tahoma" panose="020B0604030504040204" pitchFamily="34" charset="0"/>
                    <a:cs typeface="Tahoma" panose="020B0604030504040204" pitchFamily="34" charset="0"/>
                  </a:rPr>
                  <a:t>a) Hỏi chuyến từ Hà Nội đến Đà Nẵng mất mấy giờ?</a:t>
                </a:r>
              </a:p>
              <a:p>
                <a:r>
                  <a:rPr lang="en-US">
                    <a:latin typeface="Tahoma" panose="020B0604030504040204" pitchFamily="34" charset="0"/>
                    <a:ea typeface="Tahoma" panose="020B0604030504040204" pitchFamily="34" charset="0"/>
                    <a:cs typeface="Tahoma" panose="020B0604030504040204" pitchFamily="34" charset="0"/>
                  </a:rPr>
                  <a:t>b) Tại thời điểm </a:t>
                </a:r>
                <a14:m>
                  <m:oMath xmlns:m="http://schemas.openxmlformats.org/officeDocument/2006/math">
                    <m:r>
                      <a:rPr lang="en-US" i="1">
                        <a:latin typeface="Cambria Math" panose="02040503050406030204" pitchFamily="18" charset="0"/>
                      </a:rPr>
                      <m:t>1</m:t>
                    </m:r>
                  </m:oMath>
                </a14:m>
                <a:r>
                  <a:rPr lang="en-US">
                    <a:latin typeface="Tahoma" panose="020B0604030504040204" pitchFamily="34" charset="0"/>
                    <a:ea typeface="Tahoma" panose="020B0604030504040204" pitchFamily="34" charset="0"/>
                    <a:cs typeface="Tahoma" panose="020B0604030504040204" pitchFamily="34" charset="0"/>
                  </a:rPr>
                  <a:t> giờ kể từ lúc cất cánh, máy bay đã bay qua vĩ tuyến 17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17</m:t>
                        </m:r>
                      </m:e>
                      <m:sup>
                        <m:r>
                          <m:rPr>
                            <m:sty m:val="p"/>
                          </m:rPr>
                          <a:rPr lang="en-US" b="0" i="0" smtClean="0">
                            <a:latin typeface="Cambria Math" panose="02040503050406030204" pitchFamily="18" charset="0"/>
                          </a:rPr>
                          <m:t>o</m:t>
                        </m:r>
                      </m:sup>
                    </m:sSup>
                  </m:oMath>
                </a14:m>
                <a:r>
                  <a:rPr lang="en-US">
                    <a:latin typeface="Tahoma" panose="020B0604030504040204" pitchFamily="34" charset="0"/>
                    <a:ea typeface="Tahoma" panose="020B0604030504040204" pitchFamily="34" charset="0"/>
                    <a:cs typeface="Tahoma" panose="020B0604030504040204" pitchFamily="34" charset="0"/>
                  </a:rPr>
                  <a:t> Bắc) chưa ?</a:t>
                </a: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686425" y="1981200"/>
                <a:ext cx="23164800" cy="10591800"/>
              </a:xfrm>
              <a:prstGeom prst="rect">
                <a:avLst/>
              </a:prstGeom>
              <a:blipFill>
                <a:blip r:embed="rId3"/>
                <a:stretch>
                  <a:fillRect l="-1394" r="-1420" b="-2816"/>
                </a:stretch>
              </a:blipFill>
              <a:ln>
                <a:solidFill>
                  <a:schemeClr val="tx2">
                    <a:lumMod val="20000"/>
                    <a:lumOff val="80000"/>
                  </a:schemeClr>
                </a:solidFill>
              </a:ln>
            </p:spPr>
            <p:txBody>
              <a:bodyPr/>
              <a:lstStyle/>
              <a:p>
                <a:r>
                  <a:rPr lang="en-US">
                    <a:noFill/>
                  </a:rPr>
                  <a:t> </a:t>
                </a:r>
              </a:p>
            </p:txBody>
          </p:sp>
        </mc:Fallback>
      </mc:AlternateContent>
      <p:sp>
        <p:nvSpPr>
          <p:cNvPr id="3" name="Rectangle 7">
            <a:extLst>
              <a:ext uri="{FF2B5EF4-FFF2-40B4-BE49-F238E27FC236}">
                <a16:creationId xmlns:a16="http://schemas.microsoft.com/office/drawing/2014/main" id="{331DD36C-2757-4762-8AC6-F5DBBC77921A}"/>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8" name="Group 7">
            <a:extLst>
              <a:ext uri="{FF2B5EF4-FFF2-40B4-BE49-F238E27FC236}">
                <a16:creationId xmlns:a16="http://schemas.microsoft.com/office/drawing/2014/main" id="{B504E318-24BB-4CD7-BB8B-7A7FD6EFC9A6}"/>
              </a:ext>
            </a:extLst>
          </p:cNvPr>
          <p:cNvGrpSpPr/>
          <p:nvPr/>
        </p:nvGrpSpPr>
        <p:grpSpPr>
          <a:xfrm>
            <a:off x="304800" y="2362200"/>
            <a:ext cx="3989314" cy="1183262"/>
            <a:chOff x="22440" y="44679"/>
            <a:chExt cx="953655" cy="252442"/>
          </a:xfrm>
        </p:grpSpPr>
        <p:grpSp>
          <p:nvGrpSpPr>
            <p:cNvPr id="9" name="Group 8">
              <a:extLst>
                <a:ext uri="{FF2B5EF4-FFF2-40B4-BE49-F238E27FC236}">
                  <a16:creationId xmlns:a16="http://schemas.microsoft.com/office/drawing/2014/main" id="{FDC68754-63F0-4F7E-BF0F-CF4C7FC43BD9}"/>
                </a:ext>
              </a:extLst>
            </p:cNvPr>
            <p:cNvGrpSpPr/>
            <p:nvPr/>
          </p:nvGrpSpPr>
          <p:grpSpPr>
            <a:xfrm>
              <a:off x="22440" y="59287"/>
              <a:ext cx="953655" cy="159667"/>
              <a:chOff x="31572" y="60276"/>
              <a:chExt cx="1341810" cy="197595"/>
            </a:xfrm>
          </p:grpSpPr>
          <p:sp>
            <p:nvSpPr>
              <p:cNvPr id="11" name="Arrow: Pentagon 10">
                <a:extLst>
                  <a:ext uri="{FF2B5EF4-FFF2-40B4-BE49-F238E27FC236}">
                    <a16:creationId xmlns:a16="http://schemas.microsoft.com/office/drawing/2014/main" id="{D8C14C53-8D9E-417E-B098-34003D0DA14B}"/>
                  </a:ext>
                </a:extLst>
              </p:cNvPr>
              <p:cNvSpPr/>
              <p:nvPr/>
            </p:nvSpPr>
            <p:spPr>
              <a:xfrm>
                <a:off x="204506" y="61809"/>
                <a:ext cx="1168876" cy="19606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0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Arrow: Chevron 11">
                <a:extLst>
                  <a:ext uri="{FF2B5EF4-FFF2-40B4-BE49-F238E27FC236}">
                    <a16:creationId xmlns:a16="http://schemas.microsoft.com/office/drawing/2014/main" id="{FA9FB4E4-6405-44ED-A90D-8702A3961A6F}"/>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endParaRPr lang="en-US"/>
              </a:p>
            </p:txBody>
          </p:sp>
          <p:sp>
            <p:nvSpPr>
              <p:cNvPr id="13" name="Arrow: Chevron 12">
                <a:extLst>
                  <a:ext uri="{FF2B5EF4-FFF2-40B4-BE49-F238E27FC236}">
                    <a16:creationId xmlns:a16="http://schemas.microsoft.com/office/drawing/2014/main" id="{8A893702-EF7F-408F-9B85-BEC4F3DC83BB}"/>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endParaRPr lang="en-US"/>
              </a:p>
            </p:txBody>
          </p:sp>
        </p:grpSp>
        <p:sp>
          <p:nvSpPr>
            <p:cNvPr id="10" name="TextBox 56">
              <a:extLst>
                <a:ext uri="{FF2B5EF4-FFF2-40B4-BE49-F238E27FC236}">
                  <a16:creationId xmlns:a16="http://schemas.microsoft.com/office/drawing/2014/main" id="{EECC6C12-623A-4D3F-8074-3772DF5FD55E}"/>
                </a:ext>
              </a:extLst>
            </p:cNvPr>
            <p:cNvSpPr txBox="1"/>
            <p:nvPr/>
          </p:nvSpPr>
          <p:spPr>
            <a:xfrm>
              <a:off x="267457" y="44679"/>
              <a:ext cx="580215" cy="252442"/>
            </a:xfrm>
            <a:prstGeom prst="rect">
              <a:avLst/>
            </a:prstGeom>
            <a:noFill/>
          </p:spPr>
          <p:txBody>
            <a:bodyPr wrap="square">
              <a:noAutofit/>
            </a:bodyPr>
            <a:lstStyle/>
            <a:p>
              <a:pPr marL="0" marR="0">
                <a:lnSpc>
                  <a:spcPct val="107000"/>
                </a:lnSpc>
                <a:spcBef>
                  <a:spcPts val="0"/>
                </a:spcBef>
                <a:spcAft>
                  <a:spcPts val="800"/>
                </a:spcAft>
              </a:pPr>
              <a:r>
                <a:rPr lang="en-US" sz="4800" b="1" kern="1200">
                  <a:solidFill>
                    <a:srgbClr val="0000CC"/>
                  </a:solidFill>
                  <a:effectLst/>
                  <a:latin typeface="Tahoma" panose="020B0604030504040204" pitchFamily="34" charset="0"/>
                  <a:ea typeface="Tahoma" panose="020B0604030504040204" pitchFamily="34" charset="0"/>
                  <a:cs typeface="Tahoma" panose="020B0604030504040204" pitchFamily="34" charset="0"/>
                </a:rPr>
                <a:t>Bài tập</a:t>
              </a:r>
              <a:r>
                <a:rPr lang="en-US" sz="1200" b="1" kern="1200">
                  <a:solidFill>
                    <a:srgbClr val="0000CC"/>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4" name="Rectangle 10">
            <a:extLst>
              <a:ext uri="{FF2B5EF4-FFF2-40B4-BE49-F238E27FC236}">
                <a16:creationId xmlns:a16="http://schemas.microsoft.com/office/drawing/2014/main" id="{75B83596-23B8-4650-9517-74C0A031E4BF}"/>
              </a:ext>
            </a:extLst>
          </p:cNvPr>
          <p:cNvSpPr>
            <a:spLocks noChangeArrowheads="1"/>
          </p:cNvSpPr>
          <p:nvPr/>
        </p:nvSpPr>
        <p:spPr bwMode="auto">
          <a:xfrm>
            <a:off x="0" y="709613"/>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049382830"/>
      </p:ext>
    </p:extLst>
  </p:cSld>
  <p:clrMapOvr>
    <a:masterClrMapping/>
  </p:clrMapOvr>
  <p:transition spd="slow">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7">
            <a:extLst>
              <a:ext uri="{FF2B5EF4-FFF2-40B4-BE49-F238E27FC236}">
                <a16:creationId xmlns:a16="http://schemas.microsoft.com/office/drawing/2014/main" id="{331DD36C-2757-4762-8AC6-F5DBBC77921A}"/>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10">
            <a:extLst>
              <a:ext uri="{FF2B5EF4-FFF2-40B4-BE49-F238E27FC236}">
                <a16:creationId xmlns:a16="http://schemas.microsoft.com/office/drawing/2014/main" id="{75B83596-23B8-4650-9517-74C0A031E4BF}"/>
              </a:ext>
            </a:extLst>
          </p:cNvPr>
          <p:cNvSpPr>
            <a:spLocks noChangeArrowheads="1"/>
          </p:cNvSpPr>
          <p:nvPr/>
        </p:nvSpPr>
        <p:spPr bwMode="auto">
          <a:xfrm>
            <a:off x="0" y="709613"/>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95E04BED-9746-4EFE-BE6F-19440E01284E}"/>
                  </a:ext>
                </a:extLst>
              </p:cNvPr>
              <p:cNvSpPr txBox="1">
                <a:spLocks/>
              </p:cNvSpPr>
              <p:nvPr/>
            </p:nvSpPr>
            <p:spPr>
              <a:xfrm>
                <a:off x="915025" y="3062862"/>
                <a:ext cx="23145113" cy="10424538"/>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en-US" b="1" dirty="0" err="1">
                    <a:latin typeface="Tahoma" panose="020B0604030504040204" pitchFamily="34" charset="0"/>
                    <a:ea typeface="Tahoma" panose="020B0604030504040204" pitchFamily="34" charset="0"/>
                    <a:cs typeface="Tahoma" panose="020B0604030504040204" pitchFamily="34" charset="0"/>
                  </a:rPr>
                  <a:t>Giải</a:t>
                </a:r>
                <a:endParaRPr lang="en-US"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dirty="0">
                    <a:latin typeface="Tahoma" panose="020B0604030504040204" pitchFamily="34" charset="0"/>
                    <a:ea typeface="Tahoma" panose="020B0604030504040204" pitchFamily="34" charset="0"/>
                    <a:cs typeface="Tahoma" panose="020B0604030504040204" pitchFamily="34" charset="0"/>
                  </a:rPr>
                  <a:t>     </a:t>
                </a:r>
                <a:r>
                  <a:rPr lang="en-US" b="1" dirty="0">
                    <a:latin typeface="Tahoma" panose="020B0604030504040204" pitchFamily="34" charset="0"/>
                    <a:ea typeface="Tahoma" panose="020B0604030504040204" pitchFamily="34" charset="0"/>
                    <a:cs typeface="Tahoma" panose="020B0604030504040204" pitchFamily="34" charset="0"/>
                  </a:rPr>
                  <a:t>7.6.</a:t>
                </a:r>
                <a:r>
                  <a:rPr lang="en-US" dirty="0">
                    <a:latin typeface="Tahoma" panose="020B0604030504040204" pitchFamily="34" charset="0"/>
                    <a:ea typeface="Tahoma" panose="020B0604030504040204" pitchFamily="34" charset="0"/>
                    <a:cs typeface="Tahoma" panose="020B0604030504040204" pitchFamily="34" charset="0"/>
                  </a:rPr>
                  <a:t> a) </a:t>
                </a:r>
                <a:r>
                  <a:rPr lang="en-US" dirty="0" err="1">
                    <a:latin typeface="Tahoma" panose="020B0604030504040204" pitchFamily="34" charset="0"/>
                    <a:ea typeface="Tahoma" panose="020B0604030504040204" pitchFamily="34" charset="0"/>
                    <a:cs typeface="Tahoma" panose="020B0604030504040204" pitchFamily="34" charset="0"/>
                  </a:rPr>
                  <a:t>Hỏi</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chuyến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từ</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Hà</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Nội</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đến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Đà</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Nẵng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mất</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mấy</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giờ</a:t>
                </a:r>
                <a:r>
                  <a:rPr lang="en-US" dirty="0">
                    <a:latin typeface="Tahoma" panose="020B0604030504040204" pitchFamily="34" charset="0"/>
                    <a:ea typeface="Tahoma" panose="020B0604030504040204" pitchFamily="34" charset="0"/>
                    <a:cs typeface="Tahoma" panose="020B0604030504040204" pitchFamily="34" charset="0"/>
                  </a:rPr>
                  <a:t>?</a:t>
                </a:r>
              </a:p>
              <a:p>
                <a:pPr marL="0" indent="0">
                  <a:buNone/>
                </a:pP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Thay</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0" i="1" smtClean="0">
                        <a:latin typeface="Cambria Math" panose="02040503050406030204" pitchFamily="18" charset="0"/>
                      </a:rPr>
                      <m:t>𝑥</m:t>
                    </m:r>
                    <m:r>
                      <a:rPr lang="en-US" b="0" i="0"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m:t>
                        </m:r>
                        <m:r>
                          <a:rPr lang="en-US" b="0" i="1" smtClean="0">
                            <a:latin typeface="Cambria Math" panose="02040503050406030204" pitchFamily="18" charset="0"/>
                          </a:rPr>
                          <m:t>6,1</m:t>
                        </m:r>
                      </m:e>
                      <m:sup>
                        <m:r>
                          <m:rPr>
                            <m:sty m:val="p"/>
                          </m:rPr>
                          <a:rPr lang="en-US">
                            <a:latin typeface="Cambria Math" panose="02040503050406030204" pitchFamily="18" charset="0"/>
                          </a:rPr>
                          <m:t>o</m:t>
                        </m:r>
                      </m:sup>
                    </m:sSup>
                  </m:oMath>
                </a14:m>
                <a:r>
                  <a:rPr lang="en-US" dirty="0">
                    <a:latin typeface="Tahoma" panose="020B0604030504040204" pitchFamily="34" charset="0"/>
                    <a:ea typeface="Tahoma" panose="020B0604030504040204" pitchFamily="34" charset="0"/>
                    <a:cs typeface="Tahoma" panose="020B0604030504040204" pitchFamily="34" charset="0"/>
                  </a:rPr>
                  <a:t>,</a:t>
                </a:r>
                <a:r>
                  <a:rPr lang="en-US" i="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0" i="1" smtClean="0">
                        <a:latin typeface="Cambria Math" panose="02040503050406030204" pitchFamily="18" charset="0"/>
                      </a:rPr>
                      <m:t>𝑦</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m:t>
                        </m:r>
                        <m:r>
                          <a:rPr lang="en-US" b="0" i="1" smtClean="0">
                            <a:latin typeface="Cambria Math" panose="02040503050406030204" pitchFamily="18" charset="0"/>
                          </a:rPr>
                          <m:t>08</m:t>
                        </m:r>
                        <m:r>
                          <a:rPr lang="en-US" i="1">
                            <a:latin typeface="Cambria Math" panose="02040503050406030204" pitchFamily="18" charset="0"/>
                          </a:rPr>
                          <m:t>,</m:t>
                        </m:r>
                        <m:r>
                          <a:rPr lang="en-US" b="0" i="1" smtClean="0">
                            <a:latin typeface="Cambria Math" panose="02040503050406030204" pitchFamily="18" charset="0"/>
                          </a:rPr>
                          <m:t>2</m:t>
                        </m:r>
                      </m:e>
                      <m:sup>
                        <m:r>
                          <m:rPr>
                            <m:sty m:val="p"/>
                          </m:rPr>
                          <a:rPr lang="en-US">
                            <a:latin typeface="Cambria Math" panose="02040503050406030204" pitchFamily="18" charset="0"/>
                          </a:rPr>
                          <m:t>o</m:t>
                        </m:r>
                      </m:sup>
                    </m:sSup>
                    <m:r>
                      <a:rPr lang="en-US" i="1">
                        <a:latin typeface="Cambria Math" panose="02040503050406030204" pitchFamily="18" charset="0"/>
                      </a:rPr>
                      <m:t> </m:t>
                    </m:r>
                  </m:oMath>
                </a14:m>
                <a:r>
                  <a:rPr lang="en-US" dirty="0" err="1">
                    <a:latin typeface="Tahoma" panose="020B0604030504040204" pitchFamily="34" charset="0"/>
                    <a:ea typeface="Tahoma" panose="020B0604030504040204" pitchFamily="34" charset="0"/>
                    <a:cs typeface="Tahoma" panose="020B0604030504040204" pitchFamily="34" charset="0"/>
                  </a:rPr>
                  <a:t>vào</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công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thức</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trên</a:t>
                </a:r>
                <a:r>
                  <a:rPr lang="en-US" dirty="0">
                    <a:latin typeface="Tahoma" panose="020B0604030504040204" pitchFamily="34" charset="0"/>
                    <a:ea typeface="Tahoma" panose="020B0604030504040204" pitchFamily="34" charset="0"/>
                    <a:cs typeface="Tahoma" panose="020B0604030504040204" pitchFamily="34" charset="0"/>
                  </a:rPr>
                  <a:t>, ta </a:t>
                </a:r>
                <a:r>
                  <a:rPr lang="en-US" dirty="0" err="1" smtClean="0">
                    <a:latin typeface="Tahoma" panose="020B0604030504040204" pitchFamily="34" charset="0"/>
                    <a:ea typeface="Tahoma" panose="020B0604030504040204" pitchFamily="34" charset="0"/>
                    <a:cs typeface="Tahoma" panose="020B0604030504040204" pitchFamily="34" charset="0"/>
                  </a:rPr>
                  <a:t>có</a:t>
                </a:r>
                <a:endParaRPr lang="en-US" dirty="0" smtClean="0">
                  <a:latin typeface="Tahoma" panose="020B0604030504040204" pitchFamily="34" charset="0"/>
                  <a:ea typeface="Tahoma" panose="020B0604030504040204" pitchFamily="34" charset="0"/>
                  <a:cs typeface="Tahoma" panose="020B0604030504040204" pitchFamily="34" charset="0"/>
                </a:endParaRPr>
              </a:p>
              <a:p>
                <a:pPr marL="0" indent="0">
                  <a:buNone/>
                </a:pPr>
                <a:endParaRPr lang="en-US" dirty="0">
                  <a:latin typeface="Tahoma" panose="020B0604030504040204" pitchFamily="34" charset="0"/>
                  <a:ea typeface="Tahoma" panose="020B0604030504040204" pitchFamily="34" charset="0"/>
                  <a:cs typeface="Tahoma" panose="020B0604030504040204" pitchFamily="34" charset="0"/>
                </a:endParaRPr>
              </a:p>
              <a:p>
                <a:pPr marL="0" indent="0">
                  <a:buNone/>
                </a:pPr>
                <a14:m>
                  <m:oMathPara xmlns:m="http://schemas.openxmlformats.org/officeDocument/2006/math">
                    <m:oMathParaPr>
                      <m:jc m:val="center"/>
                    </m:oMathParaPr>
                    <m:oMath xmlns:m="http://schemas.openxmlformats.org/officeDocument/2006/math">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16,1=21,2−</m:t>
                              </m:r>
                              <m:f>
                                <m:fPr>
                                  <m:ctrlPr>
                                    <a:rPr lang="en-US" i="1">
                                      <a:latin typeface="Cambria Math" panose="02040503050406030204" pitchFamily="18" charset="0"/>
                                    </a:rPr>
                                  </m:ctrlPr>
                                </m:fPr>
                                <m:num>
                                  <m:r>
                                    <a:rPr lang="en-US" i="1">
                                      <a:latin typeface="Cambria Math" panose="02040503050406030204" pitchFamily="18" charset="0"/>
                                    </a:rPr>
                                    <m:t>153</m:t>
                                  </m:r>
                                </m:num>
                                <m:den>
                                  <m:r>
                                    <a:rPr lang="en-US" i="1">
                                      <a:latin typeface="Cambria Math" panose="02040503050406030204" pitchFamily="18" charset="0"/>
                                    </a:rPr>
                                    <m:t>40</m:t>
                                  </m:r>
                                </m:den>
                              </m:f>
                              <m:r>
                                <a:rPr lang="en-US" i="1">
                                  <a:latin typeface="Cambria Math" panose="02040503050406030204" pitchFamily="18" charset="0"/>
                                </a:rPr>
                                <m:t>𝑡</m:t>
                              </m:r>
                            </m:e>
                            <m:e>
                              <m:r>
                                <a:rPr lang="en-US" i="1">
                                  <a:latin typeface="Cambria Math" panose="02040503050406030204" pitchFamily="18" charset="0"/>
                                </a:rPr>
                                <m:t>108,2=105,8+</m:t>
                              </m:r>
                              <m:f>
                                <m:fPr>
                                  <m:ctrlPr>
                                    <a:rPr lang="en-US" i="1">
                                      <a:latin typeface="Cambria Math" panose="02040503050406030204" pitchFamily="18" charset="0"/>
                                    </a:rPr>
                                  </m:ctrlPr>
                                </m:fPr>
                                <m:num>
                                  <m:r>
                                    <a:rPr lang="en-US" i="1">
                                      <a:latin typeface="Cambria Math" panose="02040503050406030204" pitchFamily="18" charset="0"/>
                                    </a:rPr>
                                    <m:t>9</m:t>
                                  </m:r>
                                </m:num>
                                <m:den>
                                  <m:r>
                                    <a:rPr lang="en-US" i="1">
                                      <a:latin typeface="Cambria Math" panose="02040503050406030204" pitchFamily="18" charset="0"/>
                                    </a:rPr>
                                    <m:t>5</m:t>
                                  </m:r>
                                </m:den>
                              </m:f>
                              <m:r>
                                <a:rPr lang="en-US" i="1">
                                  <a:latin typeface="Cambria Math" panose="02040503050406030204" pitchFamily="18" charset="0"/>
                                </a:rPr>
                                <m:t>𝑡</m:t>
                              </m:r>
                            </m:e>
                          </m:eqArr>
                        </m:e>
                      </m:d>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4</m:t>
                          </m:r>
                        </m:num>
                        <m:den>
                          <m:r>
                            <a:rPr lang="en-US" i="1">
                              <a:latin typeface="Cambria Math" panose="02040503050406030204" pitchFamily="18" charset="0"/>
                            </a:rPr>
                            <m:t>3</m:t>
                          </m:r>
                        </m:den>
                      </m:f>
                    </m:oMath>
                  </m:oMathPara>
                </a14:m>
                <a:endParaRPr lang="en-US"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Vậy</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chuyến</a:t>
                </a:r>
                <a:r>
                  <a:rPr lang="en-US" dirty="0">
                    <a:latin typeface="Tahoma" panose="020B0604030504040204" pitchFamily="34" charset="0"/>
                    <a:ea typeface="Tahoma" panose="020B0604030504040204" pitchFamily="34" charset="0"/>
                    <a:cs typeface="Tahoma" panose="020B0604030504040204" pitchFamily="34" charset="0"/>
                  </a:rPr>
                  <a:t> bay </a:t>
                </a:r>
                <a:r>
                  <a:rPr lang="en-US" dirty="0" err="1">
                    <a:latin typeface="Tahoma" panose="020B0604030504040204" pitchFamily="34" charset="0"/>
                    <a:ea typeface="Tahoma" panose="020B0604030504040204" pitchFamily="34" charset="0"/>
                    <a:cs typeface="Tahoma" panose="020B0604030504040204" pitchFamily="34" charset="0"/>
                  </a:rPr>
                  <a:t>từ</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Hà</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Nội</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đến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Đà</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Nẵng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mất</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4</m:t>
                        </m:r>
                      </m:num>
                      <m:den>
                        <m:r>
                          <a:rPr lang="en-US" i="1">
                            <a:latin typeface="Cambria Math" panose="02040503050406030204" pitchFamily="18" charset="0"/>
                          </a:rPr>
                          <m:t>3</m:t>
                        </m:r>
                      </m:den>
                    </m:f>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giờ</a:t>
                </a:r>
                <a:r>
                  <a:rPr lang="en-US" dirty="0">
                    <a:latin typeface="Tahoma" panose="020B0604030504040204" pitchFamily="34" charset="0"/>
                    <a:ea typeface="Tahoma" panose="020B0604030504040204" pitchFamily="34" charset="0"/>
                    <a:cs typeface="Tahoma" panose="020B0604030504040204" pitchFamily="34" charset="0"/>
                  </a:rPr>
                  <a:t>.</a:t>
                </a:r>
              </a:p>
              <a:p>
                <a:pPr marL="0" indent="0">
                  <a:buNone/>
                </a:pPr>
                <a:r>
                  <a:rPr lang="en-US" dirty="0">
                    <a:latin typeface="Tahoma" panose="020B0604030504040204" pitchFamily="34" charset="0"/>
                    <a:ea typeface="Tahoma" panose="020B0604030504040204" pitchFamily="34" charset="0"/>
                    <a:cs typeface="Tahoma" panose="020B0604030504040204" pitchFamily="34" charset="0"/>
                  </a:rPr>
                  <a:t>     	b) </a:t>
                </a:r>
                <a:r>
                  <a:rPr lang="en-US" dirty="0" err="1">
                    <a:latin typeface="Tahoma" panose="020B0604030504040204" pitchFamily="34" charset="0"/>
                    <a:ea typeface="Tahoma" panose="020B0604030504040204" pitchFamily="34" charset="0"/>
                    <a:cs typeface="Tahoma" panose="020B0604030504040204" pitchFamily="34" charset="0"/>
                  </a:rPr>
                  <a:t>Tại</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thời</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điểm</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i="1">
                        <a:latin typeface="Cambria Math" panose="02040503050406030204" pitchFamily="18" charset="0"/>
                      </a:rPr>
                      <m:t>1</m:t>
                    </m:r>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giờ</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kể</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từ</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lúc</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cất</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cánh</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máy</a:t>
                </a:r>
                <a:r>
                  <a:rPr lang="en-US" dirty="0">
                    <a:latin typeface="Tahoma" panose="020B0604030504040204" pitchFamily="34" charset="0"/>
                    <a:ea typeface="Tahoma" panose="020B0604030504040204" pitchFamily="34" charset="0"/>
                    <a:cs typeface="Tahoma" panose="020B0604030504040204" pitchFamily="34" charset="0"/>
                  </a:rPr>
                  <a:t> bay </a:t>
                </a:r>
                <a:r>
                  <a:rPr lang="en-US" dirty="0" err="1">
                    <a:latin typeface="Tahoma" panose="020B0604030504040204" pitchFamily="34" charset="0"/>
                    <a:ea typeface="Tahoma" panose="020B0604030504040204" pitchFamily="34" charset="0"/>
                    <a:cs typeface="Tahoma" panose="020B0604030504040204" pitchFamily="34" charset="0"/>
                  </a:rPr>
                  <a:t>đã</a:t>
                </a:r>
                <a:r>
                  <a:rPr lang="en-US" dirty="0">
                    <a:latin typeface="Tahoma" panose="020B0604030504040204" pitchFamily="34" charset="0"/>
                    <a:ea typeface="Tahoma" panose="020B0604030504040204" pitchFamily="34" charset="0"/>
                    <a:cs typeface="Tahoma" panose="020B0604030504040204" pitchFamily="34" charset="0"/>
                  </a:rPr>
                  <a:t> bay qua </a:t>
                </a:r>
                <a:r>
                  <a:rPr lang="en-US" dirty="0" err="1">
                    <a:latin typeface="Tahoma" panose="020B0604030504040204" pitchFamily="34" charset="0"/>
                    <a:ea typeface="Tahoma" panose="020B0604030504040204" pitchFamily="34" charset="0"/>
                    <a:cs typeface="Tahoma" panose="020B0604030504040204" pitchFamily="34" charset="0"/>
                  </a:rPr>
                  <a:t>vĩ</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tuyến</a:t>
                </a:r>
                <a:r>
                  <a:rPr lang="en-US" dirty="0">
                    <a:latin typeface="Tahoma" panose="020B0604030504040204" pitchFamily="34" charset="0"/>
                    <a:ea typeface="Tahoma" panose="020B0604030504040204" pitchFamily="34" charset="0"/>
                    <a:cs typeface="Tahoma" panose="020B0604030504040204" pitchFamily="34" charset="0"/>
                  </a:rPr>
                  <a:t> 17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17</m:t>
                        </m:r>
                      </m:e>
                      <m:sup>
                        <m:r>
                          <m:rPr>
                            <m:sty m:val="p"/>
                          </m:rPr>
                          <a:rPr lang="en-US">
                            <a:latin typeface="Cambria Math" panose="02040503050406030204" pitchFamily="18" charset="0"/>
                          </a:rPr>
                          <m:t>o</m:t>
                        </m:r>
                      </m:sup>
                    </m:sSup>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Bắc</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chưa</a:t>
                </a:r>
                <a:r>
                  <a:rPr lang="en-US" dirty="0">
                    <a:latin typeface="Tahoma" panose="020B0604030504040204" pitchFamily="34" charset="0"/>
                    <a:ea typeface="Tahoma" panose="020B0604030504040204" pitchFamily="34" charset="0"/>
                    <a:cs typeface="Tahoma" panose="020B0604030504040204" pitchFamily="34" charset="0"/>
                  </a:rPr>
                  <a:t> ?</a:t>
                </a:r>
              </a:p>
              <a:p>
                <a:pPr marL="0" indent="0">
                  <a:buNone/>
                </a:pP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Tại</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thời</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điểm</a:t>
                </a:r>
                <a:r>
                  <a:rPr lang="en-US" dirty="0">
                    <a:latin typeface="Tahoma" panose="020B0604030504040204" pitchFamily="34" charset="0"/>
                    <a:ea typeface="Tahoma" panose="020B0604030504040204" pitchFamily="34" charset="0"/>
                    <a:cs typeface="Tahoma" panose="020B0604030504040204" pitchFamily="34" charset="0"/>
                  </a:rPr>
                  <a:t> 1 </a:t>
                </a:r>
                <a:r>
                  <a:rPr lang="en-US" dirty="0" err="1">
                    <a:latin typeface="Tahoma" panose="020B0604030504040204" pitchFamily="34" charset="0"/>
                    <a:ea typeface="Tahoma" panose="020B0604030504040204" pitchFamily="34" charset="0"/>
                    <a:cs typeface="Tahoma" panose="020B0604030504040204" pitchFamily="34" charset="0"/>
                  </a:rPr>
                  <a:t>giờ</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kể</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từ</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lúc</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cất</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cánh</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thì</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máy</a:t>
                </a:r>
                <a:r>
                  <a:rPr lang="en-US" dirty="0">
                    <a:latin typeface="Tahoma" panose="020B0604030504040204" pitchFamily="34" charset="0"/>
                    <a:ea typeface="Tahoma" panose="020B0604030504040204" pitchFamily="34" charset="0"/>
                    <a:cs typeface="Tahoma" panose="020B0604030504040204" pitchFamily="34" charset="0"/>
                  </a:rPr>
                  <a:t> </a:t>
                </a:r>
                <a:r>
                  <a:rPr lang="en-US" dirty="0" smtClean="0">
                    <a:latin typeface="Tahoma" panose="020B0604030504040204" pitchFamily="34" charset="0"/>
                    <a:ea typeface="Tahoma" panose="020B0604030504040204" pitchFamily="34" charset="0"/>
                    <a:cs typeface="Tahoma" panose="020B0604030504040204" pitchFamily="34" charset="0"/>
                  </a:rPr>
                  <a:t>bay </a:t>
                </a:r>
                <a:r>
                  <a:rPr lang="en-US" dirty="0" err="1" smtClean="0">
                    <a:solidFill>
                      <a:srgbClr val="FF0000"/>
                    </a:solidFill>
                    <a:latin typeface="Tahoma" panose="020B0604030504040204" pitchFamily="34" charset="0"/>
                    <a:ea typeface="Tahoma" panose="020B0604030504040204" pitchFamily="34" charset="0"/>
                    <a:cs typeface="Tahoma" panose="020B0604030504040204" pitchFamily="34" charset="0"/>
                  </a:rPr>
                  <a:t>mới</a:t>
                </a:r>
                <a:r>
                  <a:rPr lang="en-US" dirty="0" smtClean="0">
                    <a:latin typeface="Tahoma" panose="020B0604030504040204" pitchFamily="34" charset="0"/>
                    <a:ea typeface="Tahoma" panose="020B0604030504040204" pitchFamily="34" charset="0"/>
                    <a:cs typeface="Tahoma" panose="020B0604030504040204" pitchFamily="34" charset="0"/>
                  </a:rPr>
                  <a:t> </a:t>
                </a:r>
                <a:r>
                  <a:rPr lang="en-US" dirty="0">
                    <a:latin typeface="Tahoma" panose="020B0604030504040204" pitchFamily="34" charset="0"/>
                    <a:ea typeface="Tahoma" panose="020B0604030504040204" pitchFamily="34" charset="0"/>
                    <a:cs typeface="Tahoma" panose="020B0604030504040204" pitchFamily="34" charset="0"/>
                  </a:rPr>
                  <a:t>bay </a:t>
                </a:r>
                <a:r>
                  <a:rPr lang="en-US" dirty="0" err="1">
                    <a:latin typeface="Tahoma" panose="020B0604030504040204" pitchFamily="34" charset="0"/>
                    <a:ea typeface="Tahoma" panose="020B0604030504040204" pitchFamily="34" charset="0"/>
                    <a:cs typeface="Tahoma" panose="020B0604030504040204" pitchFamily="34" charset="0"/>
                  </a:rPr>
                  <a:t>đến</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17</m:t>
                        </m:r>
                        <m:r>
                          <a:rPr lang="en-US" b="0" i="1" smtClean="0">
                            <a:latin typeface="Cambria Math" panose="02040503050406030204" pitchFamily="18" charset="0"/>
                          </a:rPr>
                          <m:t>,375</m:t>
                        </m:r>
                      </m:e>
                      <m:sup>
                        <m:r>
                          <m:rPr>
                            <m:sty m:val="p"/>
                          </m:rPr>
                          <a:rPr lang="en-US">
                            <a:latin typeface="Cambria Math" panose="02040503050406030204" pitchFamily="18" charset="0"/>
                          </a:rPr>
                          <m:t>o</m:t>
                        </m:r>
                      </m:sup>
                    </m:sSup>
                  </m:oMath>
                </a14:m>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Bắc</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nên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máy</a:t>
                </a:r>
                <a:r>
                  <a:rPr lang="en-US" dirty="0">
                    <a:latin typeface="Tahoma" panose="020B0604030504040204" pitchFamily="34" charset="0"/>
                    <a:ea typeface="Tahoma" panose="020B0604030504040204" pitchFamily="34" charset="0"/>
                    <a:cs typeface="Tahoma" panose="020B0604030504040204" pitchFamily="34" charset="0"/>
                  </a:rPr>
                  <a:t> bay </a:t>
                </a:r>
                <a:r>
                  <a:rPr lang="en-US" dirty="0" err="1" smtClean="0">
                    <a:solidFill>
                      <a:srgbClr val="FF0000"/>
                    </a:solidFill>
                    <a:latin typeface="Tahoma" panose="020B0604030504040204" pitchFamily="34" charset="0"/>
                    <a:ea typeface="Tahoma" panose="020B0604030504040204" pitchFamily="34" charset="0"/>
                    <a:cs typeface="Tahoma" panose="020B0604030504040204" pitchFamily="34" charset="0"/>
                  </a:rPr>
                  <a:t>chưa</a:t>
                </a:r>
                <a:r>
                  <a:rPr lang="en-US" dirty="0" smtClean="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dirty="0">
                    <a:solidFill>
                      <a:srgbClr val="FF0000"/>
                    </a:solidFill>
                    <a:latin typeface="Tahoma" panose="020B0604030504040204" pitchFamily="34" charset="0"/>
                    <a:ea typeface="Tahoma" panose="020B0604030504040204" pitchFamily="34" charset="0"/>
                    <a:cs typeface="Tahoma" panose="020B0604030504040204" pitchFamily="34" charset="0"/>
                  </a:rPr>
                  <a:t>bay qua </a:t>
                </a:r>
                <a:r>
                  <a:rPr lang="en-US" dirty="0" err="1">
                    <a:latin typeface="Tahoma" panose="020B0604030504040204" pitchFamily="34" charset="0"/>
                    <a:ea typeface="Tahoma" panose="020B0604030504040204" pitchFamily="34" charset="0"/>
                    <a:cs typeface="Tahoma" panose="020B0604030504040204" pitchFamily="34" charset="0"/>
                  </a:rPr>
                  <a:t>vĩ</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tuyến</a:t>
                </a:r>
                <a:r>
                  <a:rPr lang="en-US"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i="1">
                        <a:latin typeface="Cambria Math" panose="02040503050406030204" pitchFamily="18" charset="0"/>
                      </a:rPr>
                      <m:t>17</m:t>
                    </m:r>
                  </m:oMath>
                </a14:m>
                <a:r>
                  <a:rPr lang="en-US" dirty="0">
                    <a:latin typeface="Tahoma" panose="020B0604030504040204" pitchFamily="34" charset="0"/>
                    <a:ea typeface="Tahoma" panose="020B0604030504040204" pitchFamily="34" charset="0"/>
                    <a:cs typeface="Tahoma" panose="020B0604030504040204" pitchFamily="34" charset="0"/>
                  </a:rPr>
                  <a:t>.</a:t>
                </a:r>
              </a:p>
              <a:p>
                <a:pPr marL="0" indent="0">
                  <a:lnSpc>
                    <a:spcPct val="150000"/>
                  </a:lnSpc>
                  <a:buNone/>
                </a:pPr>
                <a:endParaRPr lang="en-US" dirty="0"/>
              </a:p>
            </p:txBody>
          </p:sp>
        </mc:Choice>
        <mc:Fallback xmlns="">
          <p:sp>
            <p:nvSpPr>
              <p:cNvPr id="14" name="Content Placeholder 2">
                <a:extLst>
                  <a:ext uri="{FF2B5EF4-FFF2-40B4-BE49-F238E27FC236}">
                    <a16:creationId xmlns="" xmlns:a16="http://schemas.microsoft.com/office/drawing/2014/main" xmlns:a14="http://schemas.microsoft.com/office/drawing/2010/main" id="{95E04BED-9746-4EFE-BE6F-19440E01284E}"/>
                  </a:ext>
                </a:extLst>
              </p:cNvPr>
              <p:cNvSpPr txBox="1">
                <a:spLocks noRot="1" noChangeAspect="1" noMove="1" noResize="1" noEditPoints="1" noAdjustHandles="1" noChangeArrowheads="1" noChangeShapeType="1" noTextEdit="1"/>
              </p:cNvSpPr>
              <p:nvPr/>
            </p:nvSpPr>
            <p:spPr>
              <a:xfrm>
                <a:off x="915025" y="3062862"/>
                <a:ext cx="23145113" cy="10424538"/>
              </a:xfrm>
              <a:prstGeom prst="rect">
                <a:avLst/>
              </a:prstGeom>
              <a:blipFill rotWithShape="1">
                <a:blip r:embed="rId3"/>
                <a:stretch>
                  <a:fillRect l="-1158" t="-1985" b="-2627"/>
                </a:stretch>
              </a:blipFill>
              <a:ln>
                <a:solidFill>
                  <a:srgbClr val="00B0F0"/>
                </a:solidFill>
              </a:ln>
            </p:spPr>
            <p:txBody>
              <a:bodyPr/>
              <a:lstStyle/>
              <a:p>
                <a:r>
                  <a:rPr lang="vi-VN">
                    <a:noFill/>
                  </a:rPr>
                  <a:t> </a:t>
                </a:r>
              </a:p>
            </p:txBody>
          </p:sp>
        </mc:Fallback>
      </mc:AlternateContent>
      <p:sp>
        <p:nvSpPr>
          <p:cNvPr id="17" name="Title 1">
            <a:extLst>
              <a:ext uri="{FF2B5EF4-FFF2-40B4-BE49-F238E27FC236}">
                <a16:creationId xmlns:a16="http://schemas.microsoft.com/office/drawing/2014/main" id="{74F9BD66-E1B7-405E-9C49-3B8EC28C3119}"/>
              </a:ext>
            </a:extLst>
          </p:cNvPr>
          <p:cNvSpPr txBox="1">
            <a:spLocks/>
          </p:cNvSpPr>
          <p:nvPr/>
        </p:nvSpPr>
        <p:spPr>
          <a:xfrm>
            <a:off x="668034" y="1776078"/>
            <a:ext cx="23164800" cy="1183262"/>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endParaRPr lang="en-US" b="1"/>
          </a:p>
          <a:p>
            <a:endParaRPr lang="en-US" b="1"/>
          </a:p>
          <a:p>
            <a:r>
              <a:rPr lang="en-US" b="1"/>
              <a:t>       </a:t>
            </a:r>
            <a:endParaRPr lang="en-US"/>
          </a:p>
        </p:txBody>
      </p:sp>
      <p:grpSp>
        <p:nvGrpSpPr>
          <p:cNvPr id="18" name="Group 17">
            <a:extLst>
              <a:ext uri="{FF2B5EF4-FFF2-40B4-BE49-F238E27FC236}">
                <a16:creationId xmlns:a16="http://schemas.microsoft.com/office/drawing/2014/main" id="{DE84E17C-27B3-431C-850F-F57B7D655D26}"/>
              </a:ext>
            </a:extLst>
          </p:cNvPr>
          <p:cNvGrpSpPr/>
          <p:nvPr/>
        </p:nvGrpSpPr>
        <p:grpSpPr>
          <a:xfrm>
            <a:off x="400878" y="2057400"/>
            <a:ext cx="3989314" cy="1183262"/>
            <a:chOff x="22440" y="44679"/>
            <a:chExt cx="953655" cy="252442"/>
          </a:xfrm>
        </p:grpSpPr>
        <p:grpSp>
          <p:nvGrpSpPr>
            <p:cNvPr id="19" name="Group 18">
              <a:extLst>
                <a:ext uri="{FF2B5EF4-FFF2-40B4-BE49-F238E27FC236}">
                  <a16:creationId xmlns:a16="http://schemas.microsoft.com/office/drawing/2014/main" id="{AA60C9BE-2282-4378-92C3-800BEEC2385D}"/>
                </a:ext>
              </a:extLst>
            </p:cNvPr>
            <p:cNvGrpSpPr/>
            <p:nvPr/>
          </p:nvGrpSpPr>
          <p:grpSpPr>
            <a:xfrm>
              <a:off x="22440" y="59287"/>
              <a:ext cx="953655" cy="159667"/>
              <a:chOff x="31572" y="60276"/>
              <a:chExt cx="1341810" cy="197595"/>
            </a:xfrm>
          </p:grpSpPr>
          <p:sp>
            <p:nvSpPr>
              <p:cNvPr id="21" name="Arrow: Pentagon 20">
                <a:extLst>
                  <a:ext uri="{FF2B5EF4-FFF2-40B4-BE49-F238E27FC236}">
                    <a16:creationId xmlns:a16="http://schemas.microsoft.com/office/drawing/2014/main" id="{A5F5C0E7-DF43-4B21-96BA-478BC1C2F9AB}"/>
                  </a:ext>
                </a:extLst>
              </p:cNvPr>
              <p:cNvSpPr/>
              <p:nvPr/>
            </p:nvSpPr>
            <p:spPr>
              <a:xfrm>
                <a:off x="204506" y="61809"/>
                <a:ext cx="1168876" cy="19606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0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2" name="Arrow: Chevron 21">
                <a:extLst>
                  <a:ext uri="{FF2B5EF4-FFF2-40B4-BE49-F238E27FC236}">
                    <a16:creationId xmlns:a16="http://schemas.microsoft.com/office/drawing/2014/main" id="{518F6DE5-B00E-45E7-B8F1-47FD80335114}"/>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endParaRPr lang="en-US"/>
              </a:p>
            </p:txBody>
          </p:sp>
          <p:sp>
            <p:nvSpPr>
              <p:cNvPr id="23" name="Arrow: Chevron 22">
                <a:extLst>
                  <a:ext uri="{FF2B5EF4-FFF2-40B4-BE49-F238E27FC236}">
                    <a16:creationId xmlns:a16="http://schemas.microsoft.com/office/drawing/2014/main" id="{57C817BB-0211-4966-AACE-08D8CFA3E87E}"/>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endParaRPr lang="en-US"/>
              </a:p>
            </p:txBody>
          </p:sp>
        </p:grpSp>
        <p:sp>
          <p:nvSpPr>
            <p:cNvPr id="20" name="TextBox 56">
              <a:extLst>
                <a:ext uri="{FF2B5EF4-FFF2-40B4-BE49-F238E27FC236}">
                  <a16:creationId xmlns:a16="http://schemas.microsoft.com/office/drawing/2014/main" id="{7D6FEC55-2C19-4321-952B-21EE88734680}"/>
                </a:ext>
              </a:extLst>
            </p:cNvPr>
            <p:cNvSpPr txBox="1"/>
            <p:nvPr/>
          </p:nvSpPr>
          <p:spPr>
            <a:xfrm>
              <a:off x="267457" y="44679"/>
              <a:ext cx="580215" cy="252442"/>
            </a:xfrm>
            <a:prstGeom prst="rect">
              <a:avLst/>
            </a:prstGeom>
            <a:noFill/>
          </p:spPr>
          <p:txBody>
            <a:bodyPr wrap="square">
              <a:noAutofit/>
            </a:bodyPr>
            <a:lstStyle/>
            <a:p>
              <a:pPr marL="0" marR="0">
                <a:lnSpc>
                  <a:spcPct val="107000"/>
                </a:lnSpc>
                <a:spcBef>
                  <a:spcPts val="0"/>
                </a:spcBef>
                <a:spcAft>
                  <a:spcPts val="800"/>
                </a:spcAft>
              </a:pPr>
              <a:r>
                <a:rPr lang="en-US" sz="4800" b="1" kern="1200">
                  <a:solidFill>
                    <a:srgbClr val="0000CC"/>
                  </a:solidFill>
                  <a:effectLst/>
                  <a:latin typeface="Tahoma" panose="020B0604030504040204" pitchFamily="34" charset="0"/>
                  <a:ea typeface="Tahoma" panose="020B0604030504040204" pitchFamily="34" charset="0"/>
                  <a:cs typeface="Tahoma" panose="020B0604030504040204" pitchFamily="34" charset="0"/>
                </a:rPr>
                <a:t>Bài tập</a:t>
              </a:r>
              <a:r>
                <a:rPr lang="en-US" sz="1200" b="1" kern="1200">
                  <a:solidFill>
                    <a:srgbClr val="0000CC"/>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44" name="Rounded Rectangle 4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48" name="TextBox 4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65464313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wipe(up)">
                                      <p:cBhvr>
                                        <p:cTn id="12" dur="500"/>
                                        <p:tgtEl>
                                          <p:spTgt spid="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
                                            <p:txEl>
                                              <p:pRg st="1" end="1"/>
                                            </p:txEl>
                                          </p:spTgt>
                                        </p:tgtEl>
                                        <p:attrNameLst>
                                          <p:attrName>style.visibility</p:attrName>
                                        </p:attrNameLst>
                                      </p:cBhvr>
                                      <p:to>
                                        <p:strVal val="visible"/>
                                      </p:to>
                                    </p:set>
                                    <p:animEffect transition="in" filter="wipe(up)">
                                      <p:cBhvr>
                                        <p:cTn id="17" dur="500"/>
                                        <p:tgtEl>
                                          <p:spTgt spid="1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4">
                                            <p:txEl>
                                              <p:pRg st="2" end="2"/>
                                            </p:txEl>
                                          </p:spTgt>
                                        </p:tgtEl>
                                        <p:attrNameLst>
                                          <p:attrName>style.visibility</p:attrName>
                                        </p:attrNameLst>
                                      </p:cBhvr>
                                      <p:to>
                                        <p:strVal val="visible"/>
                                      </p:to>
                                    </p:set>
                                    <p:animEffect transition="in" filter="wipe(up)">
                                      <p:cBhvr>
                                        <p:cTn id="22" dur="500"/>
                                        <p:tgtEl>
                                          <p:spTgt spid="1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4">
                                            <p:txEl>
                                              <p:pRg st="4" end="4"/>
                                            </p:txEl>
                                          </p:spTgt>
                                        </p:tgtEl>
                                        <p:attrNameLst>
                                          <p:attrName>style.visibility</p:attrName>
                                        </p:attrNameLst>
                                      </p:cBhvr>
                                      <p:to>
                                        <p:strVal val="visible"/>
                                      </p:to>
                                    </p:set>
                                    <p:animEffect transition="in" filter="wipe(up)">
                                      <p:cBhvr>
                                        <p:cTn id="27" dur="500"/>
                                        <p:tgtEl>
                                          <p:spTgt spid="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4">
                                            <p:txEl>
                                              <p:pRg st="5" end="5"/>
                                            </p:txEl>
                                          </p:spTgt>
                                        </p:tgtEl>
                                        <p:attrNameLst>
                                          <p:attrName>style.visibility</p:attrName>
                                        </p:attrNameLst>
                                      </p:cBhvr>
                                      <p:to>
                                        <p:strVal val="visible"/>
                                      </p:to>
                                    </p:set>
                                    <p:animEffect transition="in" filter="wipe(up)">
                                      <p:cBhvr>
                                        <p:cTn id="32" dur="500"/>
                                        <p:tgtEl>
                                          <p:spTgt spid="1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4">
                                            <p:txEl>
                                              <p:pRg st="6" end="6"/>
                                            </p:txEl>
                                          </p:spTgt>
                                        </p:tgtEl>
                                        <p:attrNameLst>
                                          <p:attrName>style.visibility</p:attrName>
                                        </p:attrNameLst>
                                      </p:cBhvr>
                                      <p:to>
                                        <p:strVal val="visible"/>
                                      </p:to>
                                    </p:set>
                                    <p:animEffect transition="in" filter="wipe(up)">
                                      <p:cBhvr>
                                        <p:cTn id="37" dur="500"/>
                                        <p:tgtEl>
                                          <p:spTgt spid="1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14">
                                            <p:txEl>
                                              <p:pRg st="7" end="7"/>
                                            </p:txEl>
                                          </p:spTgt>
                                        </p:tgtEl>
                                        <p:attrNameLst>
                                          <p:attrName>style.visibility</p:attrName>
                                        </p:attrNameLst>
                                      </p:cBhvr>
                                      <p:to>
                                        <p:strVal val="visible"/>
                                      </p:to>
                                    </p:set>
                                    <p:animEffect transition="in" filter="wipe(up)">
                                      <p:cBhvr>
                                        <p:cTn id="42" dur="500"/>
                                        <p:tgtEl>
                                          <p:spTgt spid="1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762000" y="1905000"/>
                <a:ext cx="23088600" cy="11582400"/>
              </a:xfrm>
              <a:prstGeom prst="rect">
                <a:avLst/>
              </a:prstGeom>
              <a:solidFill>
                <a:schemeClr val="accent3">
                  <a:lumMod val="20000"/>
                  <a:lumOff val="80000"/>
                </a:schemeClr>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just">
                  <a:lnSpc>
                    <a:spcPct val="100000"/>
                  </a:lnSpc>
                  <a:buNone/>
                </a:pPr>
                <a:r>
                  <a:rPr lang="en-US" sz="4400" dirty="0"/>
                  <a:t>	</a:t>
                </a:r>
                <a:r>
                  <a:rPr lang="en-US" sz="4400" b="1" dirty="0" err="1"/>
                  <a:t>Em</a:t>
                </a:r>
                <a:r>
                  <a:rPr lang="en-US" sz="4400" b="1" dirty="0"/>
                  <a:t> </a:t>
                </a:r>
                <a:r>
                  <a:rPr lang="en-US" sz="4400" b="1" dirty="0" err="1"/>
                  <a:t>có</a:t>
                </a:r>
                <a:r>
                  <a:rPr lang="en-US" sz="4400" b="1" dirty="0"/>
                  <a:t> </a:t>
                </a:r>
                <a:r>
                  <a:rPr lang="en-US" sz="4400" b="1" dirty="0" err="1"/>
                  <a:t>biết</a:t>
                </a:r>
                <a:r>
                  <a:rPr lang="en-US" sz="4400" b="1" dirty="0"/>
                  <a:t>?</a:t>
                </a:r>
              </a:p>
              <a:p>
                <a:pPr marL="0" indent="0" algn="just">
                  <a:lnSpc>
                    <a:spcPct val="100000"/>
                  </a:lnSpc>
                  <a:buNone/>
                </a:pPr>
                <a:r>
                  <a:rPr lang="en-US" sz="4400" dirty="0"/>
                  <a:t>	</a:t>
                </a:r>
                <a:r>
                  <a:rPr lang="en-US" sz="4400" dirty="0" err="1">
                    <a:latin typeface="Tahoma" pitchFamily="34" charset="0"/>
                    <a:ea typeface="Tahoma" pitchFamily="34" charset="0"/>
                    <a:cs typeface="Tahoma" pitchFamily="34" charset="0"/>
                  </a:rPr>
                  <a:t>Hồi</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quy</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tuyến</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tính</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là</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một</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phương</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pháp</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được</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sử</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dụng</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trong</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thống</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kê</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để</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dự</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báo</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về</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mối</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quan</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hệ</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giữa</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các</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đại</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lượng</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dựa</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trên</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kết</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quả</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thống</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kê</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mẫu</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Chẳng</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hạn</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để</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dự</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báo</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về</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mối</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quan</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hệ</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giữa</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hai</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đại</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lượng</a:t>
                </a:r>
                <a:r>
                  <a:rPr lang="en-US" sz="4400" dirty="0">
                    <a:latin typeface="Tahoma" pitchFamily="34" charset="0"/>
                    <a:ea typeface="Tahoma" pitchFamily="34" charset="0"/>
                    <a:cs typeface="Tahoma" pitchFamily="34" charset="0"/>
                  </a:rPr>
                  <a:t> </a:t>
                </a:r>
                <a14:m>
                  <m:oMath xmlns:m="http://schemas.openxmlformats.org/officeDocument/2006/math">
                    <m:r>
                      <a:rPr lang="en-US" sz="4400" b="0" i="1">
                        <a:latin typeface="Cambria Math" panose="02040503050406030204" pitchFamily="18" charset="0"/>
                      </a:rPr>
                      <m:t>𝑥</m:t>
                    </m:r>
                  </m:oMath>
                </a14:m>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và</a:t>
                </a:r>
                <a:r>
                  <a:rPr lang="en-US" sz="4400" dirty="0">
                    <a:latin typeface="Tahoma" pitchFamily="34" charset="0"/>
                    <a:ea typeface="Tahoma" pitchFamily="34" charset="0"/>
                    <a:cs typeface="Tahoma" pitchFamily="34" charset="0"/>
                  </a:rPr>
                  <a:t> </a:t>
                </a:r>
                <a14:m>
                  <m:oMath xmlns:m="http://schemas.openxmlformats.org/officeDocument/2006/math">
                    <m:r>
                      <a:rPr lang="en-US" sz="4400" b="0" i="1">
                        <a:latin typeface="Cambria Math" panose="02040503050406030204" pitchFamily="18" charset="0"/>
                      </a:rPr>
                      <m:t>𝑦</m:t>
                    </m:r>
                  </m:oMath>
                </a14:m>
                <a:r>
                  <a:rPr lang="en-US" sz="4400" dirty="0">
                    <a:latin typeface="Tahoma" pitchFamily="34" charset="0"/>
                    <a:ea typeface="Tahoma" pitchFamily="34" charset="0"/>
                    <a:cs typeface="Tahoma" pitchFamily="34" charset="0"/>
                  </a:rPr>
                  <a:t> (</a:t>
                </a:r>
                <a14:m>
                  <m:oMath xmlns:m="http://schemas.openxmlformats.org/officeDocument/2006/math">
                    <m:r>
                      <a:rPr lang="en-US" sz="4400" b="0" i="1">
                        <a:latin typeface="Cambria Math" panose="02040503050406030204" pitchFamily="18" charset="0"/>
                      </a:rPr>
                      <m:t>𝑦</m:t>
                    </m:r>
                  </m:oMath>
                </a14:m>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phụ</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thuộc</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vào</a:t>
                </a:r>
                <a:r>
                  <a:rPr lang="en-US" sz="4400" dirty="0">
                    <a:latin typeface="Tahoma" pitchFamily="34" charset="0"/>
                    <a:ea typeface="Tahoma" pitchFamily="34" charset="0"/>
                    <a:cs typeface="Tahoma" pitchFamily="34" charset="0"/>
                  </a:rPr>
                  <a:t> </a:t>
                </a:r>
                <a14:m>
                  <m:oMath xmlns:m="http://schemas.openxmlformats.org/officeDocument/2006/math">
                    <m:r>
                      <a:rPr lang="en-US" sz="4400" b="0" i="1">
                        <a:latin typeface="Cambria Math" panose="02040503050406030204" pitchFamily="18" charset="0"/>
                      </a:rPr>
                      <m:t>𝑥</m:t>
                    </m:r>
                  </m:oMath>
                </a14:m>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như</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thế</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nào</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từ</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kết</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quả</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thống</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kê</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được</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thể</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hiện</a:t>
                </a:r>
                <a:r>
                  <a:rPr lang="en-US" sz="4400" dirty="0">
                    <a:latin typeface="Tahoma" pitchFamily="34" charset="0"/>
                    <a:ea typeface="Tahoma" pitchFamily="34" charset="0"/>
                    <a:cs typeface="Tahoma" pitchFamily="34" charset="0"/>
                  </a:rPr>
                  <a:t> ở </a:t>
                </a:r>
                <a:r>
                  <a:rPr lang="en-US" sz="4400" dirty="0" err="1">
                    <a:latin typeface="Tahoma" pitchFamily="34" charset="0"/>
                    <a:ea typeface="Tahoma" pitchFamily="34" charset="0"/>
                    <a:cs typeface="Tahoma" pitchFamily="34" charset="0"/>
                  </a:rPr>
                  <a:t>Hình</a:t>
                </a:r>
                <a:r>
                  <a:rPr lang="en-US" sz="4400" dirty="0">
                    <a:latin typeface="Tahoma" pitchFamily="34" charset="0"/>
                    <a:ea typeface="Tahoma" pitchFamily="34" charset="0"/>
                    <a:cs typeface="Tahoma" pitchFamily="34" charset="0"/>
                  </a:rPr>
                  <a:t> 7.4a, </a:t>
                </a:r>
                <a:r>
                  <a:rPr lang="en-US" sz="4400" dirty="0" err="1">
                    <a:latin typeface="Tahoma" pitchFamily="34" charset="0"/>
                    <a:ea typeface="Tahoma" pitchFamily="34" charset="0"/>
                    <a:cs typeface="Tahoma" pitchFamily="34" charset="0"/>
                  </a:rPr>
                  <a:t>phương</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pháp</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hồi</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quy</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tuyến</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tính</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đưa</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ra</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đường</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thẳng</a:t>
                </a:r>
                <a:r>
                  <a:rPr lang="en-US" sz="4400" dirty="0">
                    <a:latin typeface="Tahoma" pitchFamily="34" charset="0"/>
                    <a:ea typeface="Tahoma" pitchFamily="34" charset="0"/>
                    <a:cs typeface="Tahoma" pitchFamily="34" charset="0"/>
                  </a:rPr>
                  <a:t> </a:t>
                </a:r>
                <a14:m>
                  <m:oMath xmlns:m="http://schemas.openxmlformats.org/officeDocument/2006/math">
                    <m:r>
                      <a:rPr lang="en-US" sz="4400" b="0" i="1">
                        <a:latin typeface="Cambria Math" panose="02040503050406030204" pitchFamily="18" charset="0"/>
                      </a:rPr>
                      <m:t>𝛥</m:t>
                    </m:r>
                  </m:oMath>
                </a14:m>
                <a:r>
                  <a:rPr lang="en-US" sz="4400" dirty="0">
                    <a:latin typeface="Tahoma" pitchFamily="34" charset="0"/>
                    <a:ea typeface="Tahoma" pitchFamily="34" charset="0"/>
                    <a:cs typeface="Tahoma" pitchFamily="34" charset="0"/>
                  </a:rPr>
                  <a:t> (H.7.4b) </a:t>
                </a:r>
                <a:r>
                  <a:rPr lang="en-US" sz="4400" dirty="0" err="1">
                    <a:latin typeface="Tahoma" pitchFamily="34" charset="0"/>
                    <a:ea typeface="Tahoma" pitchFamily="34" charset="0"/>
                    <a:cs typeface="Tahoma" pitchFamily="34" charset="0"/>
                  </a:rPr>
                  <a:t>thể</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hiện</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gần</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đúng</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nhất</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mối</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quan</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hệ</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giữa</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các</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đại</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lượng</a:t>
                </a:r>
                <a:r>
                  <a:rPr lang="en-US" sz="4400" dirty="0">
                    <a:latin typeface="Tahoma" pitchFamily="34" charset="0"/>
                    <a:ea typeface="Tahoma" pitchFamily="34" charset="0"/>
                    <a:cs typeface="Tahoma" pitchFamily="34" charset="0"/>
                  </a:rPr>
                  <a:t> </a:t>
                </a:r>
                <a14:m>
                  <m:oMath xmlns:m="http://schemas.openxmlformats.org/officeDocument/2006/math">
                    <m:r>
                      <a:rPr lang="en-US" sz="4400" b="0" i="1">
                        <a:latin typeface="Cambria Math" panose="02040503050406030204" pitchFamily="18" charset="0"/>
                      </a:rPr>
                      <m:t>𝑥</m:t>
                    </m:r>
                  </m:oMath>
                </a14:m>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và</a:t>
                </a:r>
                <a:r>
                  <a:rPr lang="en-US" sz="4400" dirty="0">
                    <a:latin typeface="Tahoma" pitchFamily="34" charset="0"/>
                    <a:ea typeface="Tahoma" pitchFamily="34" charset="0"/>
                    <a:cs typeface="Tahoma" pitchFamily="34" charset="0"/>
                  </a:rPr>
                  <a:t> </a:t>
                </a:r>
                <a14:m>
                  <m:oMath xmlns:m="http://schemas.openxmlformats.org/officeDocument/2006/math">
                    <m:r>
                      <a:rPr lang="en-US" sz="4400" b="0" i="1">
                        <a:latin typeface="Cambria Math" panose="02040503050406030204" pitchFamily="18" charset="0"/>
                      </a:rPr>
                      <m:t>𝑦</m:t>
                    </m:r>
                    <m:r>
                      <a:rPr lang="en-US" sz="4400" b="0" i="1" smtClean="0">
                        <a:latin typeface="Cambria Math" panose="02040503050406030204" pitchFamily="18" charset="0"/>
                      </a:rPr>
                      <m:t> </m:t>
                    </m:r>
                  </m:oMath>
                </a14:m>
                <a:r>
                  <a:rPr lang="en-US" sz="4400" dirty="0" err="1">
                    <a:latin typeface="Tahoma" pitchFamily="34" charset="0"/>
                    <a:ea typeface="Tahoma" pitchFamily="34" charset="0"/>
                    <a:cs typeface="Tahoma" pitchFamily="34" charset="0"/>
                  </a:rPr>
                  <a:t>đã</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được</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thống</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kê</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Về</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mặt</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hình</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ảnh</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các</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chấm</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xanh</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trên</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hình</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vẽ</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có</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tọa</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độ</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là</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các</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cặp</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giá</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trị</a:t>
                </a:r>
                <a:r>
                  <a:rPr lang="en-US" sz="4400" dirty="0">
                    <a:latin typeface="Tahoma" pitchFamily="34" charset="0"/>
                    <a:ea typeface="Tahoma" pitchFamily="34" charset="0"/>
                    <a:cs typeface="Tahoma" pitchFamily="34" charset="0"/>
                  </a:rPr>
                  <a:t> </a:t>
                </a:r>
                <a14:m>
                  <m:oMath xmlns:m="http://schemas.openxmlformats.org/officeDocument/2006/math">
                    <m:d>
                      <m:dPr>
                        <m:ctrlPr>
                          <a:rPr lang="en-US" sz="4400" i="1">
                            <a:latin typeface="Cambria Math" panose="02040503050406030204" pitchFamily="18" charset="0"/>
                          </a:rPr>
                        </m:ctrlPr>
                      </m:dPr>
                      <m:e>
                        <m:r>
                          <a:rPr lang="en-US" sz="4400" b="0" i="1">
                            <a:latin typeface="Cambria Math" panose="02040503050406030204" pitchFamily="18" charset="0"/>
                          </a:rPr>
                          <m:t>𝑥</m:t>
                        </m:r>
                        <m:r>
                          <a:rPr lang="en-US" sz="4400" b="0" i="1">
                            <a:latin typeface="Cambria Math" panose="02040503050406030204" pitchFamily="18" charset="0"/>
                          </a:rPr>
                          <m:t>;</m:t>
                        </m:r>
                        <m:r>
                          <a:rPr lang="en-US" sz="4400" b="0" i="1">
                            <a:latin typeface="Cambria Math" panose="02040503050406030204" pitchFamily="18" charset="0"/>
                          </a:rPr>
                          <m:t>𝑦</m:t>
                        </m:r>
                      </m:e>
                    </m:d>
                  </m:oMath>
                </a14:m>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trong</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kết</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quả</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thống</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kê</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tập</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trung</a:t>
                </a:r>
                <a:r>
                  <a:rPr lang="en-US" sz="4400" dirty="0">
                    <a:latin typeface="Tahoma" pitchFamily="34" charset="0"/>
                    <a:ea typeface="Tahoma" pitchFamily="34" charset="0"/>
                    <a:cs typeface="Tahoma" pitchFamily="34" charset="0"/>
                  </a:rPr>
                  <a:t> </a:t>
                </a:r>
                <a:r>
                  <a:rPr lang="en-US" sz="4400" dirty="0" err="1">
                    <a:latin typeface="Tahoma" pitchFamily="34" charset="0"/>
                    <a:ea typeface="Tahoma" pitchFamily="34" charset="0"/>
                    <a:cs typeface="Tahoma" pitchFamily="34" charset="0"/>
                  </a:rPr>
                  <a:t>dọc</a:t>
                </a:r>
                <a:r>
                  <a:rPr lang="en-US" sz="4400" dirty="0">
                    <a:latin typeface="Tahoma" pitchFamily="34" charset="0"/>
                    <a:ea typeface="Tahoma" pitchFamily="34" charset="0"/>
                    <a:cs typeface="Tahoma" pitchFamily="34" charset="0"/>
                  </a:rPr>
                  <a:t> </a:t>
                </a:r>
                <a14:m>
                  <m:oMath xmlns:m="http://schemas.openxmlformats.org/officeDocument/2006/math">
                    <m:r>
                      <a:rPr lang="en-US" sz="4400" b="0" i="1">
                        <a:latin typeface="Cambria Math" panose="02040503050406030204" pitchFamily="18" charset="0"/>
                      </a:rPr>
                      <m:t>𝛥</m:t>
                    </m:r>
                  </m:oMath>
                </a14:m>
                <a:r>
                  <a:rPr lang="en-US" sz="4400" dirty="0">
                    <a:latin typeface="Tahoma" pitchFamily="34" charset="0"/>
                    <a:ea typeface="Tahoma" pitchFamily="34" charset="0"/>
                    <a:cs typeface="Tahoma" pitchFamily="34" charset="0"/>
                  </a:rPr>
                  <a:t>.</a:t>
                </a:r>
              </a:p>
              <a:p>
                <a:pPr marL="0" indent="0" algn="just">
                  <a:lnSpc>
                    <a:spcPct val="100000"/>
                  </a:lnSpc>
                  <a:buNone/>
                </a:pPr>
                <a:r>
                  <a:rPr lang="en-US" sz="4400" dirty="0">
                    <a:latin typeface="Tahoma" pitchFamily="34" charset="0"/>
                    <a:ea typeface="Tahoma" pitchFamily="34" charset="0"/>
                    <a:cs typeface="Tahoma" pitchFamily="34" charset="0"/>
                  </a:rPr>
                  <a:t>	</a:t>
                </a:r>
                <a:r>
                  <a:rPr lang="en-US" sz="4400" dirty="0"/>
                  <a:t>	</a:t>
                </a:r>
              </a:p>
            </p:txBody>
          </p:sp>
        </mc:Choice>
        <mc:Fallback xmlns="">
          <p:sp>
            <p:nvSpPr>
              <p:cNvPr id="99" name="Content Placeholder 2">
                <a:extLst>
                  <a:ext uri="{FF2B5EF4-FFF2-40B4-BE49-F238E27FC236}">
                    <a16:creationId xmlns:a16="http://schemas.microsoft.com/office/drawing/2014/main" xmlns="" xmlns:a14="http://schemas.microsoft.com/office/drawing/2010/main" id="{14822BB7-DB89-4357-87F0-6E511FC44A6A}"/>
                  </a:ext>
                </a:extLst>
              </p:cNvPr>
              <p:cNvSpPr txBox="1">
                <a:spLocks noRot="1" noChangeAspect="1" noMove="1" noResize="1" noEditPoints="1" noAdjustHandles="1" noChangeArrowheads="1" noChangeShapeType="1" noTextEdit="1"/>
              </p:cNvSpPr>
              <p:nvPr/>
            </p:nvSpPr>
            <p:spPr>
              <a:xfrm>
                <a:off x="762000" y="1905000"/>
                <a:ext cx="23088600" cy="11582400"/>
              </a:xfrm>
              <a:prstGeom prst="rect">
                <a:avLst/>
              </a:prstGeom>
              <a:blipFill rotWithShape="1">
                <a:blip r:embed="rId4"/>
                <a:stretch>
                  <a:fillRect l="-1029" t="-946" r="-1003"/>
                </a:stretch>
              </a:blipFill>
              <a:ln>
                <a:solidFill>
                  <a:srgbClr val="00B0F0"/>
                </a:solidFill>
              </a:ln>
            </p:spPr>
            <p:txBody>
              <a:bodyPr/>
              <a:lstStyle/>
              <a:p>
                <a:r>
                  <a:rPr lang="vi-VN">
                    <a:noFill/>
                  </a:rPr>
                  <a:t> </a:t>
                </a:r>
              </a:p>
            </p:txBody>
          </p:sp>
        </mc:Fallback>
      </mc:AlternateContent>
      <p:graphicFrame>
        <p:nvGraphicFramePr>
          <p:cNvPr id="2" name="Object 1"/>
          <p:cNvGraphicFramePr>
            <a:graphicFrameLocks noChangeAspect="1"/>
          </p:cNvGraphicFramePr>
          <p:nvPr>
            <p:extLst/>
          </p:nvPr>
        </p:nvGraphicFramePr>
        <p:xfrm>
          <a:off x="5105400" y="7924800"/>
          <a:ext cx="16252825" cy="5067300"/>
        </p:xfrm>
        <a:graphic>
          <a:graphicData uri="http://schemas.openxmlformats.org/presentationml/2006/ole">
            <mc:AlternateContent xmlns:mc="http://schemas.openxmlformats.org/markup-compatibility/2006">
              <mc:Choice xmlns:v="urn:schemas-microsoft-com:vml" Requires="v">
                <p:oleObj spid="_x0000_s1027" name="Bitmap Image" r:id="rId5" imgW="8104762" imgH="2534004" progId="Paint.Picture">
                  <p:embed/>
                </p:oleObj>
              </mc:Choice>
              <mc:Fallback>
                <p:oleObj name="Bitmap Image" r:id="rId5" imgW="8104762" imgH="2534004" progId="Paint.Picture">
                  <p:embed/>
                  <p:pic>
                    <p:nvPicPr>
                      <p:cNvPr id="2"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05400" y="7924800"/>
                        <a:ext cx="16252825" cy="506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66349044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99">
                                            <p:txEl>
                                              <p:pRg st="1" end="1"/>
                                            </p:txEl>
                                          </p:spTgt>
                                        </p:tgtEl>
                                        <p:attrNameLst>
                                          <p:attrName>style.visibility</p:attrName>
                                        </p:attrNameLst>
                                      </p:cBhvr>
                                      <p:to>
                                        <p:strVal val="visible"/>
                                      </p:to>
                                    </p:set>
                                    <p:animEffect transition="in" filter="wipe(up)">
                                      <p:cBhvr>
                                        <p:cTn id="16" dur="500"/>
                                        <p:tgtEl>
                                          <p:spTgt spid="9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99">
                                            <p:txEl>
                                              <p:pRg st="2" end="2"/>
                                            </p:txEl>
                                          </p:spTgt>
                                        </p:tgtEl>
                                        <p:attrNameLst>
                                          <p:attrName>style.visibility</p:attrName>
                                        </p:attrNameLst>
                                      </p:cBhvr>
                                      <p:to>
                                        <p:strVal val="visible"/>
                                      </p:to>
                                    </p:set>
                                    <p:animEffect transition="in" filter="wipe(up)">
                                      <p:cBhvr>
                                        <p:cTn id="21" dur="500"/>
                                        <p:tgtEl>
                                          <p:spTgt spid="9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arn(inVertical)">
                                      <p:cBhvr>
                                        <p:cTn id="2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23012400" cy="11125199"/>
              </a:xfrm>
              <a:prstGeom prst="rect">
                <a:avLst/>
              </a:prstGeom>
              <a:solidFill>
                <a:schemeClr val="accent3">
                  <a:lumMod val="20000"/>
                  <a:lumOff val="80000"/>
                </a:schemeClr>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lvl="0" indent="0" algn="just" defTabSz="2177278">
                  <a:lnSpc>
                    <a:spcPct val="100000"/>
                  </a:lnSpc>
                  <a:spcBef>
                    <a:spcPts val="0"/>
                  </a:spcBef>
                  <a:buNone/>
                </a:pPr>
                <a:r>
                  <a:rPr lang="en-US" sz="4400" dirty="0"/>
                  <a:t>	</a:t>
                </a:r>
                <a:r>
                  <a:rPr lang="en-US" sz="4400" dirty="0" smtClean="0">
                    <a:solidFill>
                      <a:prstClr val="black"/>
                    </a:solidFill>
                    <a:latin typeface="Tahoma" pitchFamily="34" charset="0"/>
                    <a:ea typeface="Tahoma" pitchFamily="34" charset="0"/>
                    <a:cs typeface="Tahoma" pitchFamily="34" charset="0"/>
                  </a:rPr>
                  <a:t>      </a:t>
                </a:r>
              </a:p>
              <a:p>
                <a:pPr marL="0" lvl="0" indent="0" algn="just" defTabSz="2177278">
                  <a:lnSpc>
                    <a:spcPct val="100000"/>
                  </a:lnSpc>
                  <a:spcBef>
                    <a:spcPts val="0"/>
                  </a:spcBef>
                  <a:buNone/>
                </a:pPr>
                <a:r>
                  <a:rPr lang="en-US" sz="4400" dirty="0" smtClean="0">
                    <a:solidFill>
                      <a:prstClr val="black"/>
                    </a:solidFill>
                    <a:latin typeface="Tahoma" pitchFamily="34" charset="0"/>
                    <a:ea typeface="Tahoma" pitchFamily="34" charset="0"/>
                    <a:cs typeface="Tahoma" pitchFamily="34" charset="0"/>
                  </a:rPr>
                  <a:t>       </a:t>
                </a:r>
                <a:r>
                  <a:rPr lang="en-US" sz="4400" dirty="0" err="1" smtClean="0">
                    <a:solidFill>
                      <a:prstClr val="black"/>
                    </a:solidFill>
                    <a:latin typeface="Tahoma" pitchFamily="34" charset="0"/>
                    <a:ea typeface="Tahoma" pitchFamily="34" charset="0"/>
                    <a:cs typeface="Tahoma" pitchFamily="34" charset="0"/>
                  </a:rPr>
                  <a:t>Để</a:t>
                </a:r>
                <a:r>
                  <a:rPr lang="en-US" sz="4400" dirty="0" smtClean="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xác</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định</a:t>
                </a:r>
                <a:r>
                  <a:rPr lang="en-US" sz="4400" dirty="0">
                    <a:solidFill>
                      <a:prstClr val="black"/>
                    </a:solidFill>
                    <a:latin typeface="Tahoma" pitchFamily="34" charset="0"/>
                    <a:ea typeface="Tahoma" pitchFamily="34" charset="0"/>
                    <a:cs typeface="Tahoma" pitchFamily="34" charset="0"/>
                  </a:rPr>
                  <a:t> </a:t>
                </a:r>
                <a14:m>
                  <m:oMath xmlns:m="http://schemas.openxmlformats.org/officeDocument/2006/math">
                    <m:r>
                      <a:rPr lang="en-US" sz="4400" i="1">
                        <a:solidFill>
                          <a:prstClr val="black"/>
                        </a:solidFill>
                        <a:latin typeface="Cambria Math" panose="02040503050406030204" pitchFamily="18" charset="0"/>
                      </a:rPr>
                      <m:t>𝛥</m:t>
                    </m:r>
                  </m:oMath>
                </a14:m>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phương</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trình</a:t>
                </a:r>
                <a:r>
                  <a:rPr lang="en-US" sz="4400" dirty="0">
                    <a:solidFill>
                      <a:prstClr val="black"/>
                    </a:solidFill>
                    <a:latin typeface="Tahoma" pitchFamily="34" charset="0"/>
                    <a:ea typeface="Tahoma" pitchFamily="34" charset="0"/>
                    <a:cs typeface="Tahoma" pitchFamily="34" charset="0"/>
                  </a:rPr>
                  <a:t> </a:t>
                </a:r>
                <a14:m>
                  <m:oMath xmlns:m="http://schemas.openxmlformats.org/officeDocument/2006/math">
                    <m:r>
                      <a:rPr lang="en-US" sz="4400" i="1">
                        <a:solidFill>
                          <a:prstClr val="black"/>
                        </a:solidFill>
                        <a:latin typeface="Cambria Math" panose="02040503050406030204" pitchFamily="18" charset="0"/>
                      </a:rPr>
                      <m:t>𝑦</m:t>
                    </m:r>
                    <m:r>
                      <a:rPr lang="en-US" sz="4400" i="1">
                        <a:solidFill>
                          <a:prstClr val="black"/>
                        </a:solidFill>
                        <a:latin typeface="Cambria Math" panose="02040503050406030204" pitchFamily="18" charset="0"/>
                      </a:rPr>
                      <m:t>=</m:t>
                    </m:r>
                    <m:r>
                      <a:rPr lang="en-US" sz="4400" i="1">
                        <a:solidFill>
                          <a:prstClr val="black"/>
                        </a:solidFill>
                        <a:latin typeface="Cambria Math" panose="02040503050406030204" pitchFamily="18" charset="0"/>
                      </a:rPr>
                      <m:t>𝑎𝑥</m:t>
                    </m:r>
                    <m:r>
                      <a:rPr lang="en-US" sz="4400" i="1">
                        <a:solidFill>
                          <a:prstClr val="black"/>
                        </a:solidFill>
                        <a:latin typeface="Cambria Math" panose="02040503050406030204" pitchFamily="18" charset="0"/>
                      </a:rPr>
                      <m:t>+</m:t>
                    </m:r>
                    <m:r>
                      <a:rPr lang="en-US" sz="4400" i="1">
                        <a:solidFill>
                          <a:prstClr val="black"/>
                        </a:solidFill>
                        <a:latin typeface="Cambria Math" panose="02040503050406030204" pitchFamily="18" charset="0"/>
                      </a:rPr>
                      <m:t>𝑏</m:t>
                    </m:r>
                  </m:oMath>
                </a14:m>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người</a:t>
                </a:r>
                <a:r>
                  <a:rPr lang="en-US" sz="4400" dirty="0">
                    <a:solidFill>
                      <a:prstClr val="black"/>
                    </a:solidFill>
                    <a:latin typeface="Tahoma" pitchFamily="34" charset="0"/>
                    <a:ea typeface="Tahoma" pitchFamily="34" charset="0"/>
                    <a:cs typeface="Tahoma" pitchFamily="34" charset="0"/>
                  </a:rPr>
                  <a:t> ta </a:t>
                </a:r>
                <a:r>
                  <a:rPr lang="en-US" sz="4400" dirty="0" err="1">
                    <a:solidFill>
                      <a:prstClr val="black"/>
                    </a:solidFill>
                    <a:latin typeface="Tahoma" pitchFamily="34" charset="0"/>
                    <a:ea typeface="Tahoma" pitchFamily="34" charset="0"/>
                    <a:cs typeface="Tahoma" pitchFamily="34" charset="0"/>
                  </a:rPr>
                  <a:t>thường</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dùng</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tiêu</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chuẩn</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gọi</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là</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bình</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phương</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nhỏ</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nhất</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như</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sau</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Với</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mỗi</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cặp</a:t>
                </a:r>
                <a:r>
                  <a:rPr lang="en-US" sz="4400" dirty="0">
                    <a:solidFill>
                      <a:prstClr val="black"/>
                    </a:solidFill>
                    <a:latin typeface="Tahoma" pitchFamily="34" charset="0"/>
                    <a:ea typeface="Tahoma" pitchFamily="34" charset="0"/>
                    <a:cs typeface="Tahoma" pitchFamily="34" charset="0"/>
                  </a:rPr>
                  <a:t> </a:t>
                </a:r>
                <a14:m>
                  <m:oMath xmlns:m="http://schemas.openxmlformats.org/officeDocument/2006/math">
                    <m:d>
                      <m:dPr>
                        <m:ctrlPr>
                          <a:rPr lang="en-US" sz="4400" i="1">
                            <a:solidFill>
                              <a:prstClr val="black"/>
                            </a:solidFill>
                            <a:latin typeface="Cambria Math" panose="02040503050406030204" pitchFamily="18" charset="0"/>
                          </a:rPr>
                        </m:ctrlPr>
                      </m:dPr>
                      <m:e>
                        <m:sSub>
                          <m:sSubPr>
                            <m:ctrlPr>
                              <a:rPr lang="en-US" sz="4400" i="1">
                                <a:solidFill>
                                  <a:prstClr val="black"/>
                                </a:solidFill>
                                <a:latin typeface="Cambria Math" panose="02040503050406030204" pitchFamily="18" charset="0"/>
                              </a:rPr>
                            </m:ctrlPr>
                          </m:sSubPr>
                          <m:e>
                            <m:r>
                              <a:rPr lang="en-US" sz="4400" i="1">
                                <a:solidFill>
                                  <a:prstClr val="black"/>
                                </a:solidFill>
                                <a:latin typeface="Cambria Math" panose="02040503050406030204" pitchFamily="18" charset="0"/>
                              </a:rPr>
                              <m:t>𝑥</m:t>
                            </m:r>
                          </m:e>
                          <m:sub>
                            <m:r>
                              <a:rPr lang="en-US" sz="4400" i="1">
                                <a:solidFill>
                                  <a:prstClr val="black"/>
                                </a:solidFill>
                                <a:latin typeface="Cambria Math" panose="02040503050406030204" pitchFamily="18" charset="0"/>
                              </a:rPr>
                              <m:t>0</m:t>
                            </m:r>
                          </m:sub>
                        </m:sSub>
                        <m:r>
                          <a:rPr lang="en-US" sz="4400" i="1">
                            <a:solidFill>
                              <a:prstClr val="black"/>
                            </a:solidFill>
                            <a:latin typeface="Cambria Math" panose="02040503050406030204" pitchFamily="18" charset="0"/>
                          </a:rPr>
                          <m:t>;</m:t>
                        </m:r>
                        <m:sSub>
                          <m:sSubPr>
                            <m:ctrlPr>
                              <a:rPr lang="en-US" sz="4400" i="1">
                                <a:solidFill>
                                  <a:prstClr val="black"/>
                                </a:solidFill>
                                <a:latin typeface="Cambria Math" panose="02040503050406030204" pitchFamily="18" charset="0"/>
                              </a:rPr>
                            </m:ctrlPr>
                          </m:sSubPr>
                          <m:e>
                            <m:r>
                              <a:rPr lang="en-US" sz="4400" i="1">
                                <a:solidFill>
                                  <a:prstClr val="black"/>
                                </a:solidFill>
                                <a:latin typeface="Cambria Math" panose="02040503050406030204" pitchFamily="18" charset="0"/>
                              </a:rPr>
                              <m:t>𝑦</m:t>
                            </m:r>
                          </m:e>
                          <m:sub>
                            <m:r>
                              <a:rPr lang="en-US" sz="4400" i="1">
                                <a:solidFill>
                                  <a:prstClr val="black"/>
                                </a:solidFill>
                                <a:latin typeface="Cambria Math" panose="02040503050406030204" pitchFamily="18" charset="0"/>
                              </a:rPr>
                              <m:t>0</m:t>
                            </m:r>
                          </m:sub>
                        </m:sSub>
                      </m:e>
                    </m:d>
                  </m:oMath>
                </a14:m>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trong</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kết</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quả</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thống</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kê</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xét</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bình</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phương</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khoảng</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cách</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từ</a:t>
                </a:r>
                <a:r>
                  <a:rPr lang="en-US" sz="4400" dirty="0">
                    <a:solidFill>
                      <a:prstClr val="black"/>
                    </a:solidFill>
                    <a:latin typeface="Tahoma" pitchFamily="34" charset="0"/>
                    <a:ea typeface="Tahoma" pitchFamily="34" charset="0"/>
                    <a:cs typeface="Tahoma" pitchFamily="34" charset="0"/>
                  </a:rPr>
                  <a:t> </a:t>
                </a:r>
                <a14:m>
                  <m:oMath xmlns:m="http://schemas.openxmlformats.org/officeDocument/2006/math">
                    <m:r>
                      <a:rPr lang="en-US" sz="4400" i="1">
                        <a:solidFill>
                          <a:prstClr val="black"/>
                        </a:solidFill>
                        <a:latin typeface="Cambria Math" panose="02040503050406030204" pitchFamily="18" charset="0"/>
                      </a:rPr>
                      <m:t>𝑀</m:t>
                    </m:r>
                    <m:d>
                      <m:dPr>
                        <m:ctrlPr>
                          <a:rPr lang="en-US" sz="4400" i="1">
                            <a:solidFill>
                              <a:prstClr val="black"/>
                            </a:solidFill>
                            <a:latin typeface="Cambria Math" panose="02040503050406030204" pitchFamily="18" charset="0"/>
                          </a:rPr>
                        </m:ctrlPr>
                      </m:dPr>
                      <m:e>
                        <m:sSub>
                          <m:sSubPr>
                            <m:ctrlPr>
                              <a:rPr lang="en-US" sz="4400" i="1">
                                <a:solidFill>
                                  <a:prstClr val="black"/>
                                </a:solidFill>
                                <a:latin typeface="Cambria Math" panose="02040503050406030204" pitchFamily="18" charset="0"/>
                              </a:rPr>
                            </m:ctrlPr>
                          </m:sSubPr>
                          <m:e>
                            <m:r>
                              <a:rPr lang="en-US" sz="4400" i="1">
                                <a:solidFill>
                                  <a:prstClr val="black"/>
                                </a:solidFill>
                                <a:latin typeface="Cambria Math" panose="02040503050406030204" pitchFamily="18" charset="0"/>
                              </a:rPr>
                              <m:t>𝑥</m:t>
                            </m:r>
                          </m:e>
                          <m:sub>
                            <m:r>
                              <a:rPr lang="en-US" sz="4400" i="1">
                                <a:solidFill>
                                  <a:prstClr val="black"/>
                                </a:solidFill>
                                <a:latin typeface="Cambria Math" panose="02040503050406030204" pitchFamily="18" charset="0"/>
                              </a:rPr>
                              <m:t>0</m:t>
                            </m:r>
                          </m:sub>
                        </m:sSub>
                        <m:r>
                          <a:rPr lang="en-US" sz="4400" i="1">
                            <a:solidFill>
                              <a:prstClr val="black"/>
                            </a:solidFill>
                            <a:latin typeface="Cambria Math" panose="02040503050406030204" pitchFamily="18" charset="0"/>
                          </a:rPr>
                          <m:t>;</m:t>
                        </m:r>
                        <m:sSub>
                          <m:sSubPr>
                            <m:ctrlPr>
                              <a:rPr lang="en-US" sz="4400" i="1">
                                <a:solidFill>
                                  <a:prstClr val="black"/>
                                </a:solidFill>
                                <a:latin typeface="Cambria Math" panose="02040503050406030204" pitchFamily="18" charset="0"/>
                              </a:rPr>
                            </m:ctrlPr>
                          </m:sSubPr>
                          <m:e>
                            <m:r>
                              <a:rPr lang="en-US" sz="4400" i="1">
                                <a:solidFill>
                                  <a:prstClr val="black"/>
                                </a:solidFill>
                                <a:latin typeface="Cambria Math" panose="02040503050406030204" pitchFamily="18" charset="0"/>
                              </a:rPr>
                              <m:t>𝑦</m:t>
                            </m:r>
                          </m:e>
                          <m:sub>
                            <m:r>
                              <a:rPr lang="en-US" sz="4400" i="1">
                                <a:solidFill>
                                  <a:prstClr val="black"/>
                                </a:solidFill>
                                <a:latin typeface="Cambria Math" panose="02040503050406030204" pitchFamily="18" charset="0"/>
                              </a:rPr>
                              <m:t>0</m:t>
                            </m:r>
                          </m:sub>
                        </m:sSub>
                      </m:e>
                    </m:d>
                  </m:oMath>
                </a14:m>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đến</a:t>
                </a:r>
                <a:r>
                  <a:rPr lang="en-US" sz="4400" dirty="0">
                    <a:solidFill>
                      <a:prstClr val="black"/>
                    </a:solidFill>
                    <a:latin typeface="Tahoma" pitchFamily="34" charset="0"/>
                    <a:ea typeface="Tahoma" pitchFamily="34" charset="0"/>
                    <a:cs typeface="Tahoma" pitchFamily="34" charset="0"/>
                  </a:rPr>
                  <a:t> </a:t>
                </a:r>
                <a14:m>
                  <m:oMath xmlns:m="http://schemas.openxmlformats.org/officeDocument/2006/math">
                    <m:r>
                      <a:rPr lang="en-US" sz="4400" i="1">
                        <a:solidFill>
                          <a:prstClr val="black"/>
                        </a:solidFill>
                        <a:latin typeface="Cambria Math" panose="02040503050406030204" pitchFamily="18" charset="0"/>
                      </a:rPr>
                      <m:t>𝑀</m:t>
                    </m:r>
                    <m:r>
                      <a:rPr lang="en-US" sz="4400" i="1">
                        <a:solidFill>
                          <a:prstClr val="black"/>
                        </a:solidFill>
                        <a:latin typeface="Cambria Math" panose="02040503050406030204" pitchFamily="18" charset="0"/>
                      </a:rPr>
                      <m:t>′</m:t>
                    </m:r>
                    <m:d>
                      <m:dPr>
                        <m:ctrlPr>
                          <a:rPr lang="en-US" sz="4400" i="1">
                            <a:solidFill>
                              <a:prstClr val="black"/>
                            </a:solidFill>
                            <a:latin typeface="Cambria Math" panose="02040503050406030204" pitchFamily="18" charset="0"/>
                          </a:rPr>
                        </m:ctrlPr>
                      </m:dPr>
                      <m:e>
                        <m:sSub>
                          <m:sSubPr>
                            <m:ctrlPr>
                              <a:rPr lang="en-US" sz="4400" i="1">
                                <a:solidFill>
                                  <a:prstClr val="black"/>
                                </a:solidFill>
                                <a:latin typeface="Cambria Math" panose="02040503050406030204" pitchFamily="18" charset="0"/>
                              </a:rPr>
                            </m:ctrlPr>
                          </m:sSubPr>
                          <m:e>
                            <m:r>
                              <a:rPr lang="en-US" sz="4400" i="1">
                                <a:solidFill>
                                  <a:prstClr val="black"/>
                                </a:solidFill>
                                <a:latin typeface="Cambria Math" panose="02040503050406030204" pitchFamily="18" charset="0"/>
                              </a:rPr>
                              <m:t>𝑥</m:t>
                            </m:r>
                          </m:e>
                          <m:sub>
                            <m:r>
                              <a:rPr lang="en-US" sz="4400" i="1">
                                <a:solidFill>
                                  <a:prstClr val="black"/>
                                </a:solidFill>
                                <a:latin typeface="Cambria Math" panose="02040503050406030204" pitchFamily="18" charset="0"/>
                              </a:rPr>
                              <m:t>0</m:t>
                            </m:r>
                          </m:sub>
                        </m:sSub>
                        <m:r>
                          <a:rPr lang="en-US" sz="4400" i="1">
                            <a:solidFill>
                              <a:prstClr val="black"/>
                            </a:solidFill>
                            <a:latin typeface="Cambria Math" panose="02040503050406030204" pitchFamily="18" charset="0"/>
                          </a:rPr>
                          <m:t>;</m:t>
                        </m:r>
                        <m:func>
                          <m:funcPr>
                            <m:ctrlPr>
                              <a:rPr lang="en-US" sz="4400" i="1">
                                <a:solidFill>
                                  <a:prstClr val="black"/>
                                </a:solidFill>
                                <a:latin typeface="Cambria Math" panose="02040503050406030204" pitchFamily="18" charset="0"/>
                              </a:rPr>
                            </m:ctrlPr>
                          </m:funcPr>
                          <m:fName>
                            <m:sSub>
                              <m:sSubPr>
                                <m:ctrlPr>
                                  <a:rPr lang="en-US" sz="4400" i="1">
                                    <a:solidFill>
                                      <a:prstClr val="black"/>
                                    </a:solidFill>
                                    <a:latin typeface="Cambria Math" panose="02040503050406030204" pitchFamily="18" charset="0"/>
                                  </a:rPr>
                                </m:ctrlPr>
                              </m:sSubPr>
                              <m:e>
                                <m:r>
                                  <a:rPr lang="en-US" sz="4400" i="1">
                                    <a:solidFill>
                                      <a:prstClr val="black"/>
                                    </a:solidFill>
                                    <a:latin typeface="Cambria Math" panose="02040503050406030204" pitchFamily="18" charset="0"/>
                                  </a:rPr>
                                  <m:t>𝑎𝑥</m:t>
                                </m:r>
                              </m:e>
                              <m:sub>
                                <m:r>
                                  <a:rPr lang="en-US" sz="4400" i="1">
                                    <a:solidFill>
                                      <a:prstClr val="black"/>
                                    </a:solidFill>
                                    <a:latin typeface="Cambria Math" panose="02040503050406030204" pitchFamily="18" charset="0"/>
                                  </a:rPr>
                                  <m:t>0</m:t>
                                </m:r>
                              </m:sub>
                            </m:sSub>
                          </m:fName>
                          <m:e>
                            <m:r>
                              <a:rPr lang="en-US" sz="4400" i="1">
                                <a:solidFill>
                                  <a:prstClr val="black"/>
                                </a:solidFill>
                                <a:latin typeface="Cambria Math" panose="02040503050406030204" pitchFamily="18" charset="0"/>
                              </a:rPr>
                              <m:t>+</m:t>
                            </m:r>
                          </m:e>
                        </m:func>
                        <m:r>
                          <a:rPr lang="en-US" sz="4400" i="1">
                            <a:solidFill>
                              <a:prstClr val="black"/>
                            </a:solidFill>
                            <a:latin typeface="Cambria Math" panose="02040503050406030204" pitchFamily="18" charset="0"/>
                          </a:rPr>
                          <m:t>𝑏</m:t>
                        </m:r>
                      </m:e>
                    </m:d>
                  </m:oMath>
                </a14:m>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Khi</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đó</a:t>
                </a:r>
                <a:r>
                  <a:rPr lang="en-US" sz="4400" dirty="0">
                    <a:solidFill>
                      <a:prstClr val="black"/>
                    </a:solidFill>
                    <a:latin typeface="Tahoma" pitchFamily="34" charset="0"/>
                    <a:ea typeface="Tahoma" pitchFamily="34" charset="0"/>
                    <a:cs typeface="Tahoma" pitchFamily="34" charset="0"/>
                  </a:rPr>
                  <a:t>, </a:t>
                </a:r>
                <a14:m>
                  <m:oMath xmlns:m="http://schemas.openxmlformats.org/officeDocument/2006/math">
                    <m:r>
                      <a:rPr lang="en-US" sz="4400" i="1">
                        <a:solidFill>
                          <a:prstClr val="black"/>
                        </a:solidFill>
                        <a:latin typeface="Cambria Math" panose="02040503050406030204" pitchFamily="18" charset="0"/>
                      </a:rPr>
                      <m:t>𝑎</m:t>
                    </m:r>
                    <m:r>
                      <a:rPr lang="en-US" sz="4400" i="1">
                        <a:solidFill>
                          <a:prstClr val="black"/>
                        </a:solidFill>
                        <a:latin typeface="Cambria Math" panose="02040503050406030204" pitchFamily="18" charset="0"/>
                      </a:rPr>
                      <m:t>,</m:t>
                    </m:r>
                    <m:r>
                      <a:rPr lang="en-US" sz="4400" i="1">
                        <a:solidFill>
                          <a:prstClr val="black"/>
                        </a:solidFill>
                        <a:latin typeface="Cambria Math" panose="02040503050406030204" pitchFamily="18" charset="0"/>
                      </a:rPr>
                      <m:t>𝑏</m:t>
                    </m:r>
                  </m:oMath>
                </a14:m>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được</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chọn</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sao</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cho</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tổng</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các</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bình</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phương</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này</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là</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nhỏ</a:t>
                </a:r>
                <a:r>
                  <a:rPr lang="en-US" sz="4400" dirty="0">
                    <a:solidFill>
                      <a:prstClr val="black"/>
                    </a:solidFill>
                    <a:latin typeface="Tahoma" pitchFamily="34" charset="0"/>
                    <a:ea typeface="Tahoma" pitchFamily="34" charset="0"/>
                    <a:cs typeface="Tahoma" pitchFamily="34" charset="0"/>
                  </a:rPr>
                  <a:t> </a:t>
                </a:r>
                <a:r>
                  <a:rPr lang="en-US" sz="4400" dirty="0" err="1">
                    <a:solidFill>
                      <a:prstClr val="black"/>
                    </a:solidFill>
                    <a:latin typeface="Tahoma" pitchFamily="34" charset="0"/>
                    <a:ea typeface="Tahoma" pitchFamily="34" charset="0"/>
                    <a:cs typeface="Tahoma" pitchFamily="34" charset="0"/>
                  </a:rPr>
                  <a:t>nhất</a:t>
                </a:r>
                <a:r>
                  <a:rPr lang="en-US" sz="4400" dirty="0">
                    <a:solidFill>
                      <a:prstClr val="black"/>
                    </a:solidFill>
                    <a:latin typeface="Tahoma" pitchFamily="34" charset="0"/>
                    <a:ea typeface="Tahoma" pitchFamily="34" charset="0"/>
                    <a:cs typeface="Tahoma" pitchFamily="34" charset="0"/>
                  </a:rPr>
                  <a:t>.</a:t>
                </a:r>
              </a:p>
              <a:p>
                <a:pPr marL="0" indent="0" algn="just">
                  <a:lnSpc>
                    <a:spcPct val="150000"/>
                  </a:lnSpc>
                  <a:buNone/>
                </a:pPr>
                <a:r>
                  <a:rPr lang="en-US" sz="4400" dirty="0" smtClean="0"/>
                  <a:t>       </a:t>
                </a:r>
                <a:r>
                  <a:rPr lang="en-US" sz="4400" dirty="0" err="1" smtClean="0"/>
                  <a:t>Nhờ</a:t>
                </a:r>
                <a:r>
                  <a:rPr lang="en-US" sz="4400" dirty="0" smtClean="0"/>
                  <a:t> </a:t>
                </a:r>
                <a:r>
                  <a:rPr lang="en-US" sz="4400" dirty="0" err="1"/>
                  <a:t>đưa</a:t>
                </a:r>
                <a:r>
                  <a:rPr lang="en-US" sz="4400" dirty="0"/>
                  <a:t> </a:t>
                </a:r>
                <a:r>
                  <a:rPr lang="en-US" sz="4400" dirty="0" err="1"/>
                  <a:t>ra</a:t>
                </a:r>
                <a:r>
                  <a:rPr lang="en-US" sz="4400" dirty="0"/>
                  <a:t> </a:t>
                </a:r>
                <a:r>
                  <a:rPr lang="en-US" sz="4400" dirty="0" err="1"/>
                  <a:t>được</a:t>
                </a:r>
                <a:r>
                  <a:rPr lang="en-US" sz="4400" dirty="0"/>
                  <a:t> </a:t>
                </a:r>
                <a:r>
                  <a:rPr lang="en-US" sz="4400" dirty="0" err="1"/>
                  <a:t>đường</a:t>
                </a:r>
                <a:r>
                  <a:rPr lang="en-US" sz="4400" dirty="0"/>
                  <a:t> </a:t>
                </a:r>
                <a:r>
                  <a:rPr lang="en-US" sz="4400" dirty="0" err="1"/>
                  <a:t>thẳng</a:t>
                </a:r>
                <a:r>
                  <a:rPr lang="en-US" sz="4400" dirty="0"/>
                  <a:t> </a:t>
                </a:r>
                <a:r>
                  <a:rPr lang="en-US" sz="4400" dirty="0" err="1"/>
                  <a:t>biểu</a:t>
                </a:r>
                <a:r>
                  <a:rPr lang="en-US" sz="4400" dirty="0"/>
                  <a:t> </a:t>
                </a:r>
                <a:r>
                  <a:rPr lang="en-US" sz="4400" dirty="0" err="1"/>
                  <a:t>thị</a:t>
                </a:r>
                <a:r>
                  <a:rPr lang="en-US" sz="4400" dirty="0"/>
                  <a:t> (</a:t>
                </a:r>
                <a:r>
                  <a:rPr lang="en-US" sz="4400" dirty="0" err="1"/>
                  <a:t>gần</a:t>
                </a:r>
                <a:r>
                  <a:rPr lang="en-US" sz="4400" dirty="0"/>
                  <a:t> </a:t>
                </a:r>
                <a:r>
                  <a:rPr lang="en-US" sz="4400" dirty="0" err="1"/>
                  <a:t>đúng</a:t>
                </a:r>
                <a:r>
                  <a:rPr lang="en-US" sz="4400" dirty="0"/>
                  <a:t>) </a:t>
                </a:r>
                <a:r>
                  <a:rPr lang="en-US" sz="4400" dirty="0" err="1"/>
                  <a:t>sự</a:t>
                </a:r>
                <a:r>
                  <a:rPr lang="en-US" sz="4400" dirty="0"/>
                  <a:t> </a:t>
                </a:r>
                <a:r>
                  <a:rPr lang="en-US" sz="4400" dirty="0" err="1"/>
                  <a:t>phụ</a:t>
                </a:r>
                <a:r>
                  <a:rPr lang="en-US" sz="4400" dirty="0"/>
                  <a:t> </a:t>
                </a:r>
                <a:r>
                  <a:rPr lang="en-US" sz="4400" dirty="0" err="1"/>
                  <a:t>thuộc</a:t>
                </a:r>
                <a:r>
                  <a:rPr lang="en-US" sz="4400" dirty="0"/>
                  <a:t> </a:t>
                </a:r>
                <a:r>
                  <a:rPr lang="en-US" sz="4400" dirty="0" err="1"/>
                  <a:t>giữa</a:t>
                </a:r>
                <a:r>
                  <a:rPr lang="en-US" sz="4400" dirty="0"/>
                  <a:t> </a:t>
                </a:r>
                <a:r>
                  <a:rPr lang="en-US" sz="4400" dirty="0" err="1"/>
                  <a:t>đại</a:t>
                </a:r>
                <a:r>
                  <a:rPr lang="en-US" sz="4400" dirty="0"/>
                  <a:t> </a:t>
                </a:r>
                <a:r>
                  <a:rPr lang="en-US" sz="4400" dirty="0" err="1"/>
                  <a:t>lượng</a:t>
                </a:r>
                <a:r>
                  <a:rPr lang="en-US" sz="4400" dirty="0"/>
                  <a:t> </a:t>
                </a:r>
                <a14:m>
                  <m:oMath xmlns:m="http://schemas.openxmlformats.org/officeDocument/2006/math">
                    <m:r>
                      <a:rPr lang="en-US" sz="4400" i="1">
                        <a:latin typeface="Cambria Math" panose="02040503050406030204" pitchFamily="18" charset="0"/>
                      </a:rPr>
                      <m:t>𝑦</m:t>
                    </m:r>
                  </m:oMath>
                </a14:m>
                <a:r>
                  <a:rPr lang="en-US" sz="4400" dirty="0"/>
                  <a:t> </a:t>
                </a:r>
                <a:r>
                  <a:rPr lang="en-US" sz="4400" dirty="0" err="1"/>
                  <a:t>theo</a:t>
                </a:r>
                <a:r>
                  <a:rPr lang="en-US" sz="4400" dirty="0"/>
                  <a:t> </a:t>
                </a:r>
                <a:r>
                  <a:rPr lang="en-US" sz="4400" dirty="0" err="1"/>
                  <a:t>đại</a:t>
                </a:r>
                <a:r>
                  <a:rPr lang="en-US" sz="4400" dirty="0"/>
                  <a:t> </a:t>
                </a:r>
                <a:r>
                  <a:rPr lang="en-US" sz="4400" dirty="0" err="1"/>
                  <a:t>lượng</a:t>
                </a:r>
                <a:r>
                  <a:rPr lang="en-US" sz="4400" dirty="0"/>
                  <a:t> </a:t>
                </a:r>
                <a14:m>
                  <m:oMath xmlns:m="http://schemas.openxmlformats.org/officeDocument/2006/math">
                    <m:r>
                      <a:rPr lang="en-US" sz="4400" i="1">
                        <a:latin typeface="Cambria Math" panose="02040503050406030204" pitchFamily="18" charset="0"/>
                      </a:rPr>
                      <m:t>𝑥</m:t>
                    </m:r>
                  </m:oMath>
                </a14:m>
                <a:r>
                  <a:rPr lang="en-US" sz="4400" dirty="0"/>
                  <a:t>, </a:t>
                </a:r>
                <a:r>
                  <a:rPr lang="en-US" sz="4400" dirty="0" err="1"/>
                  <a:t>người</a:t>
                </a:r>
                <a:r>
                  <a:rPr lang="en-US" sz="4400" dirty="0"/>
                  <a:t> ta </a:t>
                </a:r>
                <a:r>
                  <a:rPr lang="en-US" sz="4400" dirty="0" err="1"/>
                  <a:t>có</a:t>
                </a:r>
                <a:r>
                  <a:rPr lang="en-US" sz="4400" dirty="0"/>
                  <a:t> </a:t>
                </a:r>
                <a:r>
                  <a:rPr lang="en-US" sz="4400" dirty="0" err="1"/>
                  <a:t>thể</a:t>
                </a:r>
                <a:r>
                  <a:rPr lang="en-US" sz="4400" dirty="0"/>
                  <a:t> </a:t>
                </a:r>
                <a:r>
                  <a:rPr lang="en-US" sz="4400" dirty="0" err="1"/>
                  <a:t>đưa</a:t>
                </a:r>
                <a:r>
                  <a:rPr lang="en-US" sz="4400" dirty="0"/>
                  <a:t> </a:t>
                </a:r>
                <a:r>
                  <a:rPr lang="en-US" sz="4400" dirty="0" err="1"/>
                  <a:t>ra</a:t>
                </a:r>
                <a:r>
                  <a:rPr lang="en-US" sz="4400" dirty="0"/>
                  <a:t> </a:t>
                </a:r>
                <a:r>
                  <a:rPr lang="en-US" sz="4400" dirty="0" err="1"/>
                  <a:t>các</a:t>
                </a:r>
                <a:r>
                  <a:rPr lang="en-US" sz="4400" dirty="0"/>
                  <a:t> </a:t>
                </a:r>
                <a:r>
                  <a:rPr lang="en-US" sz="4400" dirty="0" err="1"/>
                  <a:t>dự</a:t>
                </a:r>
                <a:r>
                  <a:rPr lang="en-US" sz="4400" dirty="0"/>
                  <a:t> </a:t>
                </a:r>
                <a:r>
                  <a:rPr lang="en-US" sz="4400" dirty="0" err="1"/>
                  <a:t>báo</a:t>
                </a:r>
                <a:r>
                  <a:rPr lang="en-US" sz="4400" dirty="0"/>
                  <a:t> </a:t>
                </a:r>
                <a:r>
                  <a:rPr lang="en-US" sz="4400" dirty="0" err="1"/>
                  <a:t>nằm</a:t>
                </a:r>
                <a:r>
                  <a:rPr lang="en-US" sz="4400" dirty="0"/>
                  <a:t> </a:t>
                </a:r>
                <a:r>
                  <a:rPr lang="en-US" sz="4400" dirty="0" err="1"/>
                  <a:t>ngoài</a:t>
                </a:r>
                <a:r>
                  <a:rPr lang="en-US" sz="4400" dirty="0"/>
                  <a:t> </a:t>
                </a:r>
                <a:r>
                  <a:rPr lang="en-US" sz="4400" dirty="0" err="1"/>
                  <a:t>kết</a:t>
                </a:r>
                <a:r>
                  <a:rPr lang="en-US" sz="4400" dirty="0"/>
                  <a:t> </a:t>
                </a:r>
                <a:r>
                  <a:rPr lang="en-US" sz="4400" dirty="0" err="1"/>
                  <a:t>quả</a:t>
                </a:r>
                <a:r>
                  <a:rPr lang="en-US" sz="4400" dirty="0"/>
                  <a:t> </a:t>
                </a:r>
                <a:r>
                  <a:rPr lang="en-US" sz="4400" dirty="0" err="1"/>
                  <a:t>thống</a:t>
                </a:r>
                <a:r>
                  <a:rPr lang="en-US" sz="4400" dirty="0"/>
                  <a:t> </a:t>
                </a:r>
                <a:r>
                  <a:rPr lang="en-US" sz="4400" dirty="0" err="1"/>
                  <a:t>kê</a:t>
                </a:r>
                <a:r>
                  <a:rPr lang="en-US" sz="4400" dirty="0"/>
                  <a:t>. </a:t>
                </a:r>
                <a:r>
                  <a:rPr lang="en-US" sz="4400" dirty="0" err="1"/>
                  <a:t>Tất</a:t>
                </a:r>
                <a:r>
                  <a:rPr lang="en-US" sz="4400" dirty="0"/>
                  <a:t> </a:t>
                </a:r>
                <a:r>
                  <a:rPr lang="en-US" sz="4400" dirty="0" err="1"/>
                  <a:t>nhiên</a:t>
                </a:r>
                <a:r>
                  <a:rPr lang="en-US" sz="4400" dirty="0"/>
                  <a:t>, </a:t>
                </a:r>
                <a:r>
                  <a:rPr lang="en-US" sz="4400" dirty="0" err="1"/>
                  <a:t>không</a:t>
                </a:r>
                <a:r>
                  <a:rPr lang="en-US" sz="4400" dirty="0"/>
                  <a:t> </a:t>
                </a:r>
                <a:r>
                  <a:rPr lang="en-US" sz="4400" dirty="0" err="1"/>
                  <a:t>phải</a:t>
                </a:r>
                <a:r>
                  <a:rPr lang="en-US" sz="4400" dirty="0"/>
                  <a:t> </a:t>
                </a:r>
                <a:r>
                  <a:rPr lang="en-US" sz="4400" dirty="0" err="1"/>
                  <a:t>mô</a:t>
                </a:r>
                <a:r>
                  <a:rPr lang="en-US" sz="4400" dirty="0"/>
                  <a:t> </a:t>
                </a:r>
                <a:r>
                  <a:rPr lang="en-US" sz="4400" dirty="0" err="1"/>
                  <a:t>hình</a:t>
                </a:r>
                <a:r>
                  <a:rPr lang="en-US" sz="4400" dirty="0"/>
                  <a:t> </a:t>
                </a:r>
                <a:r>
                  <a:rPr lang="en-US" sz="4400" dirty="0" err="1"/>
                  <a:t>nào</a:t>
                </a:r>
                <a:r>
                  <a:rPr lang="en-US" sz="4400" dirty="0"/>
                  <a:t> </a:t>
                </a:r>
                <a:r>
                  <a:rPr lang="en-US" sz="4400" dirty="0" err="1"/>
                  <a:t>cũng</a:t>
                </a:r>
                <a:r>
                  <a:rPr lang="en-US" sz="4400" dirty="0"/>
                  <a:t> </a:t>
                </a:r>
                <a:r>
                  <a:rPr lang="en-US" sz="4400" dirty="0" err="1"/>
                  <a:t>phù</a:t>
                </a:r>
                <a:r>
                  <a:rPr lang="en-US" sz="4400" dirty="0"/>
                  <a:t> </a:t>
                </a:r>
                <a:r>
                  <a:rPr lang="en-US" sz="4400" dirty="0" err="1"/>
                  <a:t>hợp</a:t>
                </a:r>
                <a:r>
                  <a:rPr lang="en-US" sz="4400" dirty="0"/>
                  <a:t> </a:t>
                </a:r>
                <a:r>
                  <a:rPr lang="en-US" sz="4400" dirty="0" err="1"/>
                  <a:t>với</a:t>
                </a:r>
                <a:r>
                  <a:rPr lang="en-US" sz="4400" dirty="0"/>
                  <a:t> </a:t>
                </a:r>
                <a:r>
                  <a:rPr lang="en-US" sz="4400" dirty="0" err="1"/>
                  <a:t>phương</a:t>
                </a:r>
                <a:r>
                  <a:rPr lang="en-US" sz="4400" dirty="0"/>
                  <a:t> </a:t>
                </a:r>
                <a:r>
                  <a:rPr lang="en-US" sz="4400" dirty="0" err="1"/>
                  <a:t>pháp</a:t>
                </a:r>
                <a:r>
                  <a:rPr lang="en-US" sz="4400" dirty="0"/>
                  <a:t> </a:t>
                </a:r>
                <a:r>
                  <a:rPr lang="en-US" sz="4400" dirty="0" err="1"/>
                  <a:t>này</a:t>
                </a:r>
                <a:r>
                  <a:rPr lang="en-US" sz="4400" dirty="0"/>
                  <a:t> </a:t>
                </a:r>
                <a:r>
                  <a:rPr lang="en-US" sz="4400" dirty="0" err="1"/>
                  <a:t>ngay</a:t>
                </a:r>
                <a:r>
                  <a:rPr lang="en-US" sz="4400" dirty="0"/>
                  <a:t> </a:t>
                </a:r>
                <a:r>
                  <a:rPr lang="en-US" sz="4400" dirty="0" err="1"/>
                  <a:t>cả</a:t>
                </a:r>
                <a:r>
                  <a:rPr lang="en-US" sz="4400" dirty="0"/>
                  <a:t> </a:t>
                </a:r>
                <a:r>
                  <a:rPr lang="en-US" sz="4400" dirty="0" err="1"/>
                  <a:t>khi</a:t>
                </a:r>
                <a:r>
                  <a:rPr lang="en-US" sz="4400" dirty="0"/>
                  <a:t> </a:t>
                </a:r>
                <a:r>
                  <a:rPr lang="en-US" sz="4400" dirty="0" err="1"/>
                  <a:t>kết</a:t>
                </a:r>
                <a:r>
                  <a:rPr lang="en-US" sz="4400" dirty="0"/>
                  <a:t> </a:t>
                </a:r>
                <a:r>
                  <a:rPr lang="en-US" sz="4400" dirty="0" err="1"/>
                  <a:t>quả</a:t>
                </a:r>
                <a:r>
                  <a:rPr lang="en-US" sz="4400" dirty="0"/>
                  <a:t> </a:t>
                </a:r>
                <a:r>
                  <a:rPr lang="en-US" sz="4400" dirty="0" err="1"/>
                  <a:t>thống</a:t>
                </a:r>
                <a:r>
                  <a:rPr lang="en-US" sz="4400" dirty="0"/>
                  <a:t> </a:t>
                </a:r>
                <a:r>
                  <a:rPr lang="en-US" sz="4400" dirty="0" err="1"/>
                  <a:t>kê</a:t>
                </a:r>
                <a:r>
                  <a:rPr lang="en-US" sz="4400" dirty="0"/>
                  <a:t> </a:t>
                </a:r>
                <a:r>
                  <a:rPr lang="en-US" sz="4400" dirty="0" err="1"/>
                  <a:t>tập</a:t>
                </a:r>
                <a:r>
                  <a:rPr lang="en-US" sz="4400" dirty="0"/>
                  <a:t> </a:t>
                </a:r>
                <a:r>
                  <a:rPr lang="en-US" sz="4400" dirty="0" err="1"/>
                  <a:t>trung</a:t>
                </a:r>
                <a:r>
                  <a:rPr lang="en-US" sz="4400" dirty="0"/>
                  <a:t> </a:t>
                </a:r>
                <a:r>
                  <a:rPr lang="en-US" sz="4400" dirty="0" err="1"/>
                  <a:t>dọc</a:t>
                </a:r>
                <a:r>
                  <a:rPr lang="en-US" sz="4400" dirty="0"/>
                  <a:t> </a:t>
                </a:r>
                <a:r>
                  <a:rPr lang="en-US" sz="4400" dirty="0" err="1"/>
                  <a:t>một</a:t>
                </a:r>
                <a:r>
                  <a:rPr lang="en-US" sz="4400" dirty="0"/>
                  <a:t> </a:t>
                </a:r>
                <a:r>
                  <a:rPr lang="en-US" sz="4400" dirty="0" err="1"/>
                  <a:t>đường</a:t>
                </a:r>
                <a:r>
                  <a:rPr lang="en-US" sz="4400" dirty="0"/>
                  <a:t> </a:t>
                </a:r>
                <a:r>
                  <a:rPr lang="en-US" sz="4400" dirty="0" err="1"/>
                  <a:t>thẳng</a:t>
                </a:r>
                <a:r>
                  <a:rPr lang="en-US" sz="4400" dirty="0"/>
                  <a:t>. </a:t>
                </a:r>
                <a:r>
                  <a:rPr lang="en-US" sz="4400" dirty="0" err="1"/>
                  <a:t>Chẳng</a:t>
                </a:r>
                <a:r>
                  <a:rPr lang="en-US" sz="4400" dirty="0"/>
                  <a:t> </a:t>
                </a:r>
                <a:r>
                  <a:rPr lang="en-US" sz="4400" dirty="0" err="1"/>
                  <a:t>hạn</a:t>
                </a:r>
                <a:r>
                  <a:rPr lang="en-US" sz="4400" dirty="0"/>
                  <a:t>, </a:t>
                </a:r>
                <a:r>
                  <a:rPr lang="en-US" sz="4400" dirty="0" err="1"/>
                  <a:t>để</a:t>
                </a:r>
                <a:r>
                  <a:rPr lang="en-US" sz="4400" dirty="0"/>
                  <a:t> </a:t>
                </a:r>
                <a:r>
                  <a:rPr lang="en-US" sz="4400" dirty="0" err="1"/>
                  <a:t>xác</a:t>
                </a:r>
                <a:r>
                  <a:rPr lang="en-US" sz="4400" dirty="0"/>
                  <a:t> </a:t>
                </a:r>
                <a:r>
                  <a:rPr lang="en-US" sz="4400" dirty="0" err="1"/>
                  <a:t>định</a:t>
                </a:r>
                <a:r>
                  <a:rPr lang="en-US" sz="4400" dirty="0"/>
                  <a:t> </a:t>
                </a:r>
                <a:r>
                  <a:rPr lang="en-US" sz="4400" dirty="0" err="1"/>
                  <a:t>đường</a:t>
                </a:r>
                <a:r>
                  <a:rPr lang="en-US" sz="4400" dirty="0"/>
                  <a:t> </a:t>
                </a:r>
                <a:r>
                  <a:rPr lang="en-US" sz="4400" dirty="0" err="1"/>
                  <a:t>đi</a:t>
                </a:r>
                <a:r>
                  <a:rPr lang="en-US" sz="4400" dirty="0"/>
                  <a:t> </a:t>
                </a:r>
                <a:r>
                  <a:rPr lang="en-US" sz="4400" dirty="0" err="1"/>
                  <a:t>của</a:t>
                </a:r>
                <a:r>
                  <a:rPr lang="en-US" sz="4400" dirty="0"/>
                  <a:t> </a:t>
                </a:r>
                <a:r>
                  <a:rPr lang="en-US" sz="4400" dirty="0" err="1"/>
                  <a:t>một</a:t>
                </a:r>
                <a:r>
                  <a:rPr lang="en-US" sz="4400" dirty="0"/>
                  <a:t> </a:t>
                </a:r>
                <a:r>
                  <a:rPr lang="en-US" sz="4400" dirty="0" err="1"/>
                  <a:t>quả</a:t>
                </a:r>
                <a:r>
                  <a:rPr lang="en-US" sz="4400" dirty="0"/>
                  <a:t> </a:t>
                </a:r>
                <a:r>
                  <a:rPr lang="en-US" sz="4400" dirty="0" err="1"/>
                  <a:t>tên</a:t>
                </a:r>
                <a:r>
                  <a:rPr lang="en-US" sz="4400" dirty="0"/>
                  <a:t> </a:t>
                </a:r>
                <a:r>
                  <a:rPr lang="en-US" sz="4400" dirty="0" err="1"/>
                  <a:t>lửa</a:t>
                </a:r>
                <a:r>
                  <a:rPr lang="en-US" sz="4400" dirty="0"/>
                  <a:t>, </a:t>
                </a:r>
                <a:r>
                  <a:rPr lang="en-US" sz="4400" dirty="0" err="1"/>
                  <a:t>nếu</a:t>
                </a:r>
                <a:r>
                  <a:rPr lang="en-US" sz="4400" dirty="0"/>
                  <a:t> </a:t>
                </a:r>
                <a:r>
                  <a:rPr lang="en-US" sz="4400" dirty="0" err="1"/>
                  <a:t>dựa</a:t>
                </a:r>
                <a:r>
                  <a:rPr lang="en-US" sz="4400" dirty="0"/>
                  <a:t> </a:t>
                </a:r>
                <a:r>
                  <a:rPr lang="en-US" sz="4400" dirty="0" err="1"/>
                  <a:t>vào</a:t>
                </a:r>
                <a:r>
                  <a:rPr lang="en-US" sz="4400" dirty="0"/>
                  <a:t> </a:t>
                </a:r>
                <a:r>
                  <a:rPr lang="en-US" sz="4400" dirty="0" err="1"/>
                  <a:t>một</a:t>
                </a:r>
                <a:r>
                  <a:rPr lang="en-US" sz="4400" dirty="0"/>
                  <a:t> </a:t>
                </a:r>
                <a:r>
                  <a:rPr lang="en-US" sz="4400" dirty="0" err="1"/>
                  <a:t>số</a:t>
                </a:r>
                <a:r>
                  <a:rPr lang="en-US" sz="4400" dirty="0"/>
                  <a:t> </a:t>
                </a:r>
                <a:r>
                  <a:rPr lang="en-US" sz="4400" dirty="0" err="1"/>
                  <a:t>quan</a:t>
                </a:r>
                <a:r>
                  <a:rPr lang="en-US" sz="4400" dirty="0"/>
                  <a:t> </a:t>
                </a:r>
                <a:r>
                  <a:rPr lang="en-US" sz="4400" dirty="0" err="1"/>
                  <a:t>sát</a:t>
                </a:r>
                <a:r>
                  <a:rPr lang="en-US" sz="4400" dirty="0"/>
                  <a:t> ban </a:t>
                </a:r>
                <a:r>
                  <a:rPr lang="en-US" sz="4400" dirty="0" err="1"/>
                  <a:t>đầu</a:t>
                </a:r>
                <a:r>
                  <a:rPr lang="en-US" sz="4400" dirty="0"/>
                  <a:t> </a:t>
                </a:r>
                <a:r>
                  <a:rPr lang="en-US" sz="4400" dirty="0" err="1"/>
                  <a:t>để</a:t>
                </a:r>
                <a:r>
                  <a:rPr lang="en-US" sz="4400" dirty="0"/>
                  <a:t> </a:t>
                </a:r>
                <a:r>
                  <a:rPr lang="en-US" sz="4400" dirty="0" err="1"/>
                  <a:t>dự</a:t>
                </a:r>
                <a:r>
                  <a:rPr lang="en-US" sz="4400" dirty="0"/>
                  <a:t> </a:t>
                </a:r>
                <a:r>
                  <a:rPr lang="en-US" sz="4400" dirty="0" err="1"/>
                  <a:t>đoán</a:t>
                </a:r>
                <a:r>
                  <a:rPr lang="en-US" sz="4400" dirty="0"/>
                  <a:t>, ta </a:t>
                </a:r>
                <a:r>
                  <a:rPr lang="en-US" sz="4400" dirty="0" err="1"/>
                  <a:t>có</a:t>
                </a:r>
                <a:r>
                  <a:rPr lang="en-US" sz="4400" dirty="0"/>
                  <a:t> </a:t>
                </a:r>
                <a:r>
                  <a:rPr lang="en-US" sz="4400" dirty="0" err="1"/>
                  <a:t>thể</a:t>
                </a:r>
                <a:r>
                  <a:rPr lang="en-US" sz="4400" dirty="0"/>
                  <a:t> </a:t>
                </a:r>
                <a:r>
                  <a:rPr lang="en-US" sz="4400" dirty="0" err="1"/>
                  <a:t>nghĩ</a:t>
                </a:r>
                <a:r>
                  <a:rPr lang="en-US" sz="4400" dirty="0"/>
                  <a:t> </a:t>
                </a:r>
                <a:r>
                  <a:rPr lang="en-US" sz="4400" dirty="0" err="1"/>
                  <a:t>rằng</a:t>
                </a:r>
                <a:r>
                  <a:rPr lang="en-US" sz="4400" dirty="0"/>
                  <a:t> </a:t>
                </a:r>
                <a:r>
                  <a:rPr lang="en-US" sz="4400" dirty="0" err="1"/>
                  <a:t>nó</a:t>
                </a:r>
                <a:r>
                  <a:rPr lang="en-US" sz="4400" dirty="0"/>
                  <a:t> </a:t>
                </a:r>
                <a:r>
                  <a:rPr lang="en-US" sz="4400" dirty="0" err="1"/>
                  <a:t>chuyển</a:t>
                </a:r>
                <a:r>
                  <a:rPr lang="en-US" sz="4400" dirty="0"/>
                  <a:t> </a:t>
                </a:r>
                <a:r>
                  <a:rPr lang="en-US" sz="4400" dirty="0" err="1"/>
                  <a:t>động</a:t>
                </a:r>
                <a:r>
                  <a:rPr lang="en-US" sz="4400" dirty="0"/>
                  <a:t> </a:t>
                </a:r>
                <a:r>
                  <a:rPr lang="en-US" sz="4400" dirty="0" err="1"/>
                  <a:t>thẳng</a:t>
                </a:r>
                <a:r>
                  <a:rPr lang="en-US" sz="4400" dirty="0"/>
                  <a:t>, </a:t>
                </a:r>
                <a:r>
                  <a:rPr lang="en-US" sz="4400" dirty="0" err="1"/>
                  <a:t>nhưng</a:t>
                </a:r>
                <a:r>
                  <a:rPr lang="en-US" sz="4400" dirty="0"/>
                  <a:t> </a:t>
                </a:r>
                <a:r>
                  <a:rPr lang="en-US" sz="4400" dirty="0" err="1"/>
                  <a:t>trên</a:t>
                </a:r>
                <a:r>
                  <a:rPr lang="en-US" sz="4400" dirty="0"/>
                  <a:t> </a:t>
                </a:r>
                <a:r>
                  <a:rPr lang="en-US" sz="4400" dirty="0" err="1"/>
                  <a:t>thực</a:t>
                </a:r>
                <a:r>
                  <a:rPr lang="en-US" sz="4400" dirty="0"/>
                  <a:t> </a:t>
                </a:r>
                <a:r>
                  <a:rPr lang="en-US" sz="4400" dirty="0" err="1"/>
                  <a:t>tế</a:t>
                </a:r>
                <a:r>
                  <a:rPr lang="en-US" sz="4400" dirty="0"/>
                  <a:t>, </a:t>
                </a:r>
                <a:r>
                  <a:rPr lang="en-US" sz="4400" dirty="0" err="1"/>
                  <a:t>nhìn</a:t>
                </a:r>
                <a:r>
                  <a:rPr lang="en-US" sz="4400" dirty="0"/>
                  <a:t> </a:t>
                </a:r>
                <a:r>
                  <a:rPr lang="en-US" sz="4400" dirty="0" err="1"/>
                  <a:t>chung</a:t>
                </a:r>
                <a:r>
                  <a:rPr lang="en-US" sz="4400" dirty="0"/>
                  <a:t> </a:t>
                </a:r>
                <a:r>
                  <a:rPr lang="en-US" sz="4400" dirty="0" err="1"/>
                  <a:t>nó</a:t>
                </a:r>
                <a:r>
                  <a:rPr lang="en-US" sz="4400" dirty="0"/>
                  <a:t> </a:t>
                </a:r>
                <a:r>
                  <a:rPr lang="en-US" sz="4400" dirty="0" err="1"/>
                  <a:t>đi</a:t>
                </a:r>
                <a:r>
                  <a:rPr lang="en-US" sz="4400" dirty="0"/>
                  <a:t> </a:t>
                </a:r>
                <a:r>
                  <a:rPr lang="en-US" sz="4400" dirty="0" err="1"/>
                  <a:t>theo</a:t>
                </a:r>
                <a:r>
                  <a:rPr lang="en-US" sz="4400" dirty="0"/>
                  <a:t> </a:t>
                </a:r>
                <a:r>
                  <a:rPr lang="en-US" sz="4400" dirty="0" err="1"/>
                  <a:t>đường</a:t>
                </a:r>
                <a:r>
                  <a:rPr lang="en-US" sz="4400" dirty="0"/>
                  <a:t> </a:t>
                </a:r>
                <a:r>
                  <a:rPr lang="en-US" sz="4400" dirty="0" err="1"/>
                  <a:t>parabol</a:t>
                </a:r>
                <a:r>
                  <a:rPr lang="en-US" sz="4400" dirty="0"/>
                  <a:t>. </a:t>
                </a:r>
                <a:r>
                  <a:rPr lang="en-US" sz="4400" dirty="0" err="1"/>
                  <a:t>Sai</a:t>
                </a:r>
                <a:r>
                  <a:rPr lang="en-US" sz="4400" dirty="0"/>
                  <a:t> </a:t>
                </a:r>
                <a:r>
                  <a:rPr lang="en-US" sz="4400" dirty="0" err="1"/>
                  <a:t>lầm</a:t>
                </a:r>
                <a:r>
                  <a:rPr lang="en-US" sz="4400" dirty="0"/>
                  <a:t> </a:t>
                </a:r>
                <a:r>
                  <a:rPr lang="en-US" sz="4400" dirty="0" err="1"/>
                  <a:t>trong</a:t>
                </a:r>
                <a:r>
                  <a:rPr lang="en-US" sz="4400" dirty="0"/>
                  <a:t> </a:t>
                </a:r>
                <a:r>
                  <a:rPr lang="en-US" sz="4400" dirty="0" err="1"/>
                  <a:t>những</a:t>
                </a:r>
                <a:r>
                  <a:rPr lang="en-US" sz="4400" dirty="0"/>
                  <a:t> </a:t>
                </a:r>
                <a:r>
                  <a:rPr lang="en-US" sz="4400" dirty="0" err="1"/>
                  <a:t>dự</a:t>
                </a:r>
                <a:r>
                  <a:rPr lang="en-US" sz="4400" dirty="0"/>
                  <a:t> </a:t>
                </a:r>
                <a:r>
                  <a:rPr lang="en-US" sz="4400" dirty="0" err="1"/>
                  <a:t>báo</a:t>
                </a:r>
                <a:r>
                  <a:rPr lang="en-US" sz="4400" dirty="0"/>
                  <a:t> </a:t>
                </a:r>
                <a:r>
                  <a:rPr lang="en-US" sz="4400" dirty="0" err="1"/>
                  <a:t>như</a:t>
                </a:r>
                <a:r>
                  <a:rPr lang="en-US" sz="4400" dirty="0"/>
                  <a:t> </a:t>
                </a:r>
                <a:r>
                  <a:rPr lang="en-US" sz="4400" dirty="0" err="1"/>
                  <a:t>vậy</a:t>
                </a:r>
                <a:r>
                  <a:rPr lang="en-US" sz="4400" dirty="0"/>
                  <a:t> </a:t>
                </a:r>
                <a:r>
                  <a:rPr lang="en-US" sz="4400" dirty="0" err="1"/>
                  <a:t>thật</a:t>
                </a:r>
                <a:r>
                  <a:rPr lang="en-US" sz="4400" dirty="0"/>
                  <a:t> </a:t>
                </a:r>
                <a:r>
                  <a:rPr lang="en-US" sz="4400" dirty="0" err="1"/>
                  <a:t>là</a:t>
                </a:r>
                <a:r>
                  <a:rPr lang="en-US" sz="4400" dirty="0"/>
                  <a:t> tai </a:t>
                </a:r>
                <a:r>
                  <a:rPr lang="en-US" sz="4400" dirty="0" err="1"/>
                  <a:t>hại</a:t>
                </a:r>
                <a:r>
                  <a:rPr lang="en-US" sz="4400" dirty="0" smtClean="0"/>
                  <a:t>!</a:t>
                </a:r>
                <a:endParaRPr lang="en-US" sz="4400" dirty="0"/>
              </a:p>
            </p:txBody>
          </p:sp>
        </mc:Choice>
        <mc:Fallback xmlns="">
          <p:sp>
            <p:nvSpPr>
              <p:cNvPr id="99" name="Content Placeholder 2">
                <a:extLst>
                  <a:ext uri="{FF2B5EF4-FFF2-40B4-BE49-F238E27FC236}">
                    <a16:creationId xmlns="" xmlns:a16="http://schemas.microsoft.com/office/drawing/2014/main" xmlns:a14="http://schemas.microsoft.com/office/drawing/2010/main" id="{14822BB7-DB89-4357-87F0-6E511FC44A6A}"/>
                  </a:ext>
                </a:extLst>
              </p:cNvPr>
              <p:cNvSpPr txBox="1">
                <a:spLocks noRot="1" noChangeAspect="1" noMove="1" noResize="1" noEditPoints="1" noAdjustHandles="1" noChangeArrowheads="1" noChangeShapeType="1" noTextEdit="1"/>
              </p:cNvSpPr>
              <p:nvPr/>
            </p:nvSpPr>
            <p:spPr>
              <a:xfrm>
                <a:off x="838200" y="1981200"/>
                <a:ext cx="23012400" cy="11125199"/>
              </a:xfrm>
              <a:prstGeom prst="rect">
                <a:avLst/>
              </a:prstGeom>
              <a:blipFill rotWithShape="1">
                <a:blip r:embed="rId3"/>
                <a:stretch>
                  <a:fillRect l="-1059" r="-1033"/>
                </a:stretch>
              </a:blipFill>
              <a:ln>
                <a:solidFill>
                  <a:srgbClr val="00B0F0"/>
                </a:solidFill>
              </a:ln>
            </p:spPr>
            <p:txBody>
              <a:bodyPr/>
              <a:lstStyle/>
              <a:p>
                <a:r>
                  <a:rPr lang="vi-VN">
                    <a:noFill/>
                  </a:rPr>
                  <a:t> </a:t>
                </a:r>
              </a:p>
            </p:txBody>
          </p:sp>
        </mc:Fallback>
      </mc:AlternateContent>
      <p:sp>
        <p:nvSpPr>
          <p:cNvPr id="3" name="Rectangle 2">
            <a:extLst>
              <a:ext uri="{FF2B5EF4-FFF2-40B4-BE49-F238E27FC236}">
                <a16:creationId xmlns:a16="http://schemas.microsoft.com/office/drawing/2014/main" id="{64812978-8C93-4BDD-9910-57D84E3A5A14}"/>
              </a:ext>
            </a:extLst>
          </p:cNvPr>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Rectangle 8"/>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   ·   BÀI 19</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57193275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9">
                                            <p:txEl>
                                              <p:pRg st="2" end="2"/>
                                            </p:txEl>
                                          </p:spTgt>
                                        </p:tgtEl>
                                        <p:attrNameLst>
                                          <p:attrName>style.visibility</p:attrName>
                                        </p:attrNameLst>
                                      </p:cBhvr>
                                      <p:to>
                                        <p:strVal val="visible"/>
                                      </p:to>
                                    </p:set>
                                    <p:animEffect transition="in" filter="barn(inVertical)">
                                      <p:cBhvr>
                                        <p:cTn id="7" dur="500"/>
                                        <p:tgtEl>
                                          <p:spTgt spid="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2&quot; unique_id=&quot;10002&quot;&gt;&lt;object type=&quot;3&quot; unique_id=&quot;10003&quot;&gt;&lt;property id=&quot;20148&quot; value=&quot;5&quot;/&gt;&lt;property id=&quot;20300&quot; value=&quot;Slide 1&quot;/&gt;&lt;property id=&quot;20307&quot; value=&quot;257&quot;/&gt;&lt;/object&gt;&lt;object type=&quot;3&quot; unique_id=&quot;10004&quot;&gt;&lt;property id=&quot;20148&quot; value=&quot;5&quot;/&gt;&lt;property id=&quot;20300&quot; value=&quot;Slide 2&quot;/&gt;&lt;property id=&quot;20307&quot; value=&quot;258&quot;/&gt;&lt;/object&gt;&lt;object type=&quot;3&quot; unique_id=&quot;10005&quot;&gt;&lt;property id=&quot;20148&quot; value=&quot;5&quot;/&gt;&lt;property id=&quot;20300&quot; value=&quot;Slide 3&quot;/&gt;&lt;property id=&quot;20307&quot; value=&quot;259&quot;/&gt;&lt;/object&gt;&lt;object type=&quot;3&quot; unique_id=&quot;10006&quot;&gt;&lt;property id=&quot;20148&quot; value=&quot;5&quot;/&gt;&lt;property id=&quot;20300&quot; value=&quot;Slide 4&quot;/&gt;&lt;property id=&quot;20307&quot; value=&quot;260&quot;/&gt;&lt;/object&gt;&lt;object type=&quot;3&quot; unique_id=&quot;10007&quot;&gt;&lt;property id=&quot;20148&quot; value=&quot;5&quot;/&gt;&lt;property id=&quot;20300&quot; value=&quot;Slide 5&quot;/&gt;&lt;property id=&quot;20307&quot; value=&quot;262&quot;/&gt;&lt;/object&gt;&lt;object type=&quot;3&quot; unique_id=&quot;10008&quot;&gt;&lt;property id=&quot;20148&quot; value=&quot;5&quot;/&gt;&lt;property id=&quot;20300&quot; value=&quot;Slide 6&quot;/&gt;&lt;property id=&quot;20307&quot; value=&quot;263&quot;/&gt;&lt;/object&gt;&lt;object type=&quot;3&quot; unique_id=&quot;10009&quot;&gt;&lt;property id=&quot;20148&quot; value=&quot;5&quot;/&gt;&lt;property id=&quot;20300&quot; value=&quot;Slide 7&quot;/&gt;&lt;property id=&quot;20307&quot; value=&quot;264&quot;/&gt;&lt;/object&gt;&lt;object type=&quot;3&quot; unique_id=&quot;10010&quot;&gt;&lt;property id=&quot;20148&quot; value=&quot;5&quot;/&gt;&lt;property id=&quot;20300&quot; value=&quot;Slide 8&quot;/&gt;&lt;property id=&quot;20307&quot; value=&quot;265&quot;/&gt;&lt;/object&gt;&lt;object type=&quot;3&quot; unique_id=&quot;10011&quot;&gt;&lt;property id=&quot;20148&quot; value=&quot;5&quot;/&gt;&lt;property id=&quot;20300&quot; value=&quot;Slide 9&quot;/&gt;&lt;property id=&quot;20307&quot; value=&quot;266&quot;/&gt;&lt;/object&gt;&lt;object type=&quot;3&quot; unique_id=&quot;10012&quot;&gt;&lt;property id=&quot;20148&quot; value=&quot;5&quot;/&gt;&lt;property id=&quot;20300&quot; value=&quot;Slide 10&quot;/&gt;&lt;property id=&quot;20307&quot; value=&quot;267&quot;/&gt;&lt;/object&gt;&lt;object type=&quot;3&quot; unique_id=&quot;10013&quot;&gt;&lt;property id=&quot;20148&quot; value=&quot;5&quot;/&gt;&lt;property id=&quot;20300&quot; value=&quot;Slide 11&quot;/&gt;&lt;property id=&quot;20307&quot; value=&quot;269&quot;/&gt;&lt;/object&gt;&lt;object type=&quot;3&quot; unique_id=&quot;10014&quot;&gt;&lt;property id=&quot;20148&quot; value=&quot;5&quot;/&gt;&lt;property id=&quot;20300&quot; value=&quot;Slide 12&quot;/&gt;&lt;property id=&quot;20307&quot; value=&quot;270&quot;/&gt;&lt;/object&gt;&lt;object type=&quot;3&quot; unique_id=&quot;10015&quot;&gt;&lt;property id=&quot;20148&quot; value=&quot;5&quot;/&gt;&lt;property id=&quot;20300&quot; value=&quot;Slide 13&quot;/&gt;&lt;property id=&quot;20307&quot; value=&quot;274&quot;/&gt;&lt;/object&gt;&lt;object type=&quot;3&quot; unique_id=&quot;10016&quot;&gt;&lt;property id=&quot;20148&quot; value=&quot;5&quot;/&gt;&lt;property id=&quot;20300&quot; value=&quot;Slide 14&quot;/&gt;&lt;property id=&quot;20307&quot; value=&quot;275&quot;/&gt;&lt;/object&gt;&lt;object type=&quot;3&quot; unique_id=&quot;10017&quot;&gt;&lt;property id=&quot;20148&quot; value=&quot;5&quot;/&gt;&lt;property id=&quot;20300&quot; value=&quot;Slide 15&quot;/&gt;&lt;property id=&quot;20307&quot; value=&quot;276&quot;/&gt;&lt;/object&gt;&lt;object type=&quot;3&quot; unique_id=&quot;10018&quot;&gt;&lt;property id=&quot;20148&quot; value=&quot;5&quot;/&gt;&lt;property id=&quot;20300&quot; value=&quot;Slide 16&quot;/&gt;&lt;property id=&quot;20307&quot; value=&quot;277&quot;/&gt;&lt;/object&gt;&lt;object type=&quot;3&quot; unique_id=&quot;10019&quot;&gt;&lt;property id=&quot;20148&quot; value=&quot;5&quot;/&gt;&lt;property id=&quot;20300&quot; value=&quot;Slide 17&quot;/&gt;&lt;property id=&quot;20307&quot; value=&quot;271&quot;/&gt;&lt;/object&gt;&lt;object type=&quot;3&quot; unique_id=&quot;10020&quot;&gt;&lt;property id=&quot;20148&quot; value=&quot;5&quot;/&gt;&lt;property id=&quot;20300&quot; value=&quot;Slide 18&quot;/&gt;&lt;property id=&quot;20307&quot; value=&quot;278&quot;/&gt;&lt;/object&gt;&lt;object type=&quot;3&quot; unique_id=&quot;10021&quot;&gt;&lt;property id=&quot;20148&quot; value=&quot;5&quot;/&gt;&lt;property id=&quot;20300&quot; value=&quot;Slide 19&quot;/&gt;&lt;property id=&quot;20307&quot; value=&quot;279&quot;/&gt;&lt;/object&gt;&lt;object type=&quot;3&quot; unique_id=&quot;10022&quot;&gt;&lt;property id=&quot;20148&quot; value=&quot;5&quot;/&gt;&lt;property id=&quot;20300&quot; value=&quot;Slide 20&quot;/&gt;&lt;property id=&quot;20307&quot; value=&quot;272&quot;/&gt;&lt;/object&gt;&lt;object type=&quot;3&quot; unique_id=&quot;10023&quot;&gt;&lt;property id=&quot;20148&quot; value=&quot;5&quot;/&gt;&lt;property id=&quot;20300&quot; value=&quot;Slide 21&quot;/&gt;&lt;property id=&quot;20307&quot; value=&quot;273&quot;/&gt;&lt;/object&gt;&lt;object type=&quot;3&quot; unique_id=&quot;10024&quot;&gt;&lt;property id=&quot;20148&quot; value=&quot;5&quot;/&gt;&lt;property id=&quot;20300&quot; value=&quot;Slide 22&quot;/&gt;&lt;property id=&quot;20307&quot; value=&quot;268&quot;/&gt;&lt;/object&gt;&lt;object type=&quot;3&quot; unique_id=&quot;10025&quot;&gt;&lt;property id=&quot;20148&quot; value=&quot;5&quot;/&gt;&lt;property id=&quot;20300&quot; value=&quot;Slide 23&quot;/&gt;&lt;property id=&quot;20307&quot; value=&quot;280&quot;/&gt;&lt;/object&gt;&lt;object type=&quot;3&quot; unique_id=&quot;10026&quot;&gt;&lt;property id=&quot;20148&quot; value=&quot;5&quot;/&gt;&lt;property id=&quot;20300&quot; value=&quot;Slide 24&quot;/&gt;&lt;property id=&quot;20307&quot; value=&quot;281&quot;/&gt;&lt;/object&gt;&lt;object type=&quot;3&quot; unique_id=&quot;10027&quot;&gt;&lt;property id=&quot;20148&quot; value=&quot;5&quot;/&gt;&lt;property id=&quot;20300&quot; value=&quot;Slide 25&quot;/&gt;&lt;property id=&quot;20307&quot; value=&quot;282&quot;/&gt;&lt;/object&gt;&lt;/object&gt;&lt;object type=&quot;8&quot; unique_id=&quot;10056&quo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9Slide.vn</Template>
  <TotalTime>4080</TotalTime>
  <Words>1188</Words>
  <Application>Microsoft Office PowerPoint</Application>
  <PresentationFormat>Custom</PresentationFormat>
  <Paragraphs>398</Paragraphs>
  <Slides>36</Slides>
  <Notes>35</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36</vt:i4>
      </vt:variant>
    </vt:vector>
  </HeadingPairs>
  <TitlesOfParts>
    <vt:vector size="51" baseType="lpstr">
      <vt:lpstr>Yu Gothic UI Semilight</vt:lpstr>
      <vt:lpstr>Arial</vt:lpstr>
      <vt:lpstr>Baumans</vt:lpstr>
      <vt:lpstr>Calibri</vt:lpstr>
      <vt:lpstr>Calibri Light</vt:lpstr>
      <vt:lpstr>Cambria Math</vt:lpstr>
      <vt:lpstr>Cascadia Mono</vt:lpstr>
      <vt:lpstr>Symbol</vt:lpstr>
      <vt:lpstr>Tahoma</vt:lpstr>
      <vt:lpstr>Times New Roman</vt:lpstr>
      <vt:lpstr>Tomaho</vt:lpstr>
      <vt:lpstr>Wingdings</vt:lpstr>
      <vt:lpstr>Office Theme</vt:lpstr>
      <vt:lpstr>1_Office Theme</vt:lpstr>
      <vt:lpstr>Bitmap 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9Slide.vn</dc:subject>
  <dc:creator>BINH</dc:creator>
  <dc:description>9Slide.vn</dc:description>
  <cp:lastModifiedBy>Admin</cp:lastModifiedBy>
  <cp:revision>404</cp:revision>
  <dcterms:created xsi:type="dcterms:W3CDTF">2013-08-31T11:42:51Z</dcterms:created>
  <dcterms:modified xsi:type="dcterms:W3CDTF">2022-08-30T01:58:09Z</dcterms:modified>
  <cp:category>9Slide.vn</cp:category>
</cp:coreProperties>
</file>