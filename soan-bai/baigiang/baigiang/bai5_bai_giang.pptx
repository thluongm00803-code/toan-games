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54" r:id="rId2"/>
  </p:sldMasterIdLst>
  <p:notesMasterIdLst>
    <p:notesMasterId r:id="rId27"/>
  </p:notesMasterIdLst>
  <p:sldIdLst>
    <p:sldId id="313" r:id="rId3"/>
    <p:sldId id="301" r:id="rId4"/>
    <p:sldId id="315" r:id="rId5"/>
    <p:sldId id="316" r:id="rId6"/>
    <p:sldId id="321" r:id="rId7"/>
    <p:sldId id="323" r:id="rId8"/>
    <p:sldId id="322" r:id="rId9"/>
    <p:sldId id="324" r:id="rId10"/>
    <p:sldId id="325" r:id="rId11"/>
    <p:sldId id="317" r:id="rId12"/>
    <p:sldId id="326" r:id="rId13"/>
    <p:sldId id="318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6" r:id="rId24"/>
    <p:sldId id="337" r:id="rId25"/>
    <p:sldId id="338" r:id="rId26"/>
  </p:sldIdLst>
  <p:sldSz cx="24384000" cy="13716000"/>
  <p:notesSz cx="6858000" cy="9144000"/>
  <p:custDataLst>
    <p:tags r:id="rId28"/>
  </p:custDataLst>
  <p:defaultTextStyle>
    <a:defPPr>
      <a:defRPr lang="en-US"/>
    </a:defPPr>
    <a:lvl1pPr marL="0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7F7FF"/>
    <a:srgbClr val="D6F7FE"/>
    <a:srgbClr val="EEF7E9"/>
    <a:srgbClr val="135F82"/>
    <a:srgbClr val="FFFFFF"/>
    <a:srgbClr val="008000"/>
    <a:srgbClr val="242452"/>
    <a:srgbClr val="270F6B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98" autoAdjust="0"/>
    <p:restoredTop sz="94139" autoAdjust="0"/>
  </p:normalViewPr>
  <p:slideViewPr>
    <p:cSldViewPr>
      <p:cViewPr varScale="1">
        <p:scale>
          <a:sx n="35" d="100"/>
          <a:sy n="35" d="100"/>
        </p:scale>
        <p:origin x="300" y="60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8" Type="http://schemas.openxmlformats.org/officeDocument/2006/relationships/tags" Target="tags/tag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BB293-0719-4B19-A181-EE36FD0623AD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8B73-FCCD-4D4C-BC4E-0CE5120A1B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7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34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680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309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9042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29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90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420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74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49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633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727" y="1781954"/>
            <a:ext cx="21031200" cy="2651126"/>
          </a:xfrm>
          <a:prstGeom prst="rect">
            <a:avLst/>
          </a:prstGeom>
        </p:spPr>
        <p:txBody>
          <a:bodyPr/>
          <a:lstStyle>
            <a:lvl1pPr algn="l">
              <a:defRPr sz="5400">
                <a:latin typeface="Tomah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9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7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07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08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1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8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419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9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5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5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3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83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9597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15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4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3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782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0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6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81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7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0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485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D15044BE-B3F3-4258-B55D-9238C2EBFDF1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5" y="12712706"/>
            <a:ext cx="7721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4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620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2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2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1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4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6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13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gi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theme" Target="../theme/theme2.xml"/><Relationship Id="rId17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14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0" r:id="rId3"/>
    <p:sldLayoutId id="2147483741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82" r:id="rId12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0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emf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emf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9.emf"/><Relationship Id="rId5" Type="http://schemas.openxmlformats.org/officeDocument/2006/relationships/image" Target="../media/image10.emf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9.emf"/><Relationship Id="rId5" Type="http://schemas.openxmlformats.org/officeDocument/2006/relationships/image" Target="../media/image10.emf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0.emf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emf"/><Relationship Id="rId4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7.jpeg"/><Relationship Id="rId3" Type="http://schemas.openxmlformats.org/officeDocument/2006/relationships/image" Target="../media/image32.png"/><Relationship Id="rId4" Type="http://schemas.openxmlformats.org/officeDocument/2006/relationships/image" Target="../media/image18.emf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7.jpeg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19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8.png"/><Relationship Id="rId3" Type="http://schemas.openxmlformats.org/officeDocument/2006/relationships/image" Target="../media/image53.png"/><Relationship Id="rId4" Type="http://schemas.openxmlformats.org/officeDocument/2006/relationships/image" Target="../media/image52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4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1.png"/><Relationship Id="rId4" Type="http://schemas.openxmlformats.org/officeDocument/2006/relationships/image" Target="../media/image6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10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7.jpeg"/><Relationship Id="rId3" Type="http://schemas.openxmlformats.org/officeDocument/2006/relationships/image" Target="../media/image220.png"/><Relationship Id="rId4" Type="http://schemas.openxmlformats.org/officeDocument/2006/relationships/image" Target="../media/image230.png"/><Relationship Id="rId5" Type="http://schemas.openxmlformats.org/officeDocument/2006/relationships/image" Target="../media/image240.png"/><Relationship Id="rId6" Type="http://schemas.openxmlformats.org/officeDocument/2006/relationships/image" Target="../media/image250.png"/><Relationship Id="rId7" Type="http://schemas.openxmlformats.org/officeDocument/2006/relationships/image" Target="../media/image72.png"/><Relationship Id="rId8" Type="http://schemas.openxmlformats.org/officeDocument/2006/relationships/image" Target="../media/image270.png"/><Relationship Id="rId9" Type="http://schemas.openxmlformats.org/officeDocument/2006/relationships/image" Target="../media/image28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7.jpeg"/><Relationship Id="rId3" Type="http://schemas.openxmlformats.org/officeDocument/2006/relationships/image" Target="../media/image290.png"/><Relationship Id="rId4" Type="http://schemas.openxmlformats.org/officeDocument/2006/relationships/image" Target="../media/image300.png"/><Relationship Id="rId5" Type="http://schemas.openxmlformats.org/officeDocument/2006/relationships/image" Target="../media/image72.png"/><Relationship Id="rId6" Type="http://schemas.openxmlformats.org/officeDocument/2006/relationships/image" Target="../media/image310.png"/><Relationship Id="rId7" Type="http://schemas.openxmlformats.org/officeDocument/2006/relationships/image" Target="../media/image320.png"/><Relationship Id="rId8" Type="http://schemas.openxmlformats.org/officeDocument/2006/relationships/image" Target="../media/image330.png"/><Relationship Id="rId9" Type="http://schemas.openxmlformats.org/officeDocument/2006/relationships/image" Target="../media/image3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50.png"/><Relationship Id="rId3" Type="http://schemas.openxmlformats.org/officeDocument/2006/relationships/image" Target="../media/image360.png"/><Relationship Id="rId4" Type="http://schemas.openxmlformats.org/officeDocument/2006/relationships/image" Target="../media/image73.jpeg"/><Relationship Id="rId5" Type="http://schemas.openxmlformats.org/officeDocument/2006/relationships/image" Target="../media/image72.png"/><Relationship Id="rId6" Type="http://schemas.openxmlformats.org/officeDocument/2006/relationships/image" Target="../media/image380.png"/><Relationship Id="rId7" Type="http://schemas.openxmlformats.org/officeDocument/2006/relationships/image" Target="../media/image390.png"/><Relationship Id="rId8" Type="http://schemas.openxmlformats.org/officeDocument/2006/relationships/image" Target="../media/image400.png"/><Relationship Id="rId9" Type="http://schemas.openxmlformats.org/officeDocument/2006/relationships/image" Target="../media/image4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2.png"/><Relationship Id="rId4" Type="http://schemas.openxmlformats.org/officeDocument/2006/relationships/image" Target="../media/image430.png"/><Relationship Id="rId5" Type="http://schemas.openxmlformats.org/officeDocument/2006/relationships/image" Target="../media/image420.png"/><Relationship Id="rId6" Type="http://schemas.openxmlformats.org/officeDocument/2006/relationships/image" Target="../media/image440.png"/><Relationship Id="rId7" Type="http://schemas.openxmlformats.org/officeDocument/2006/relationships/image" Target="../media/image450.png"/><Relationship Id="rId8" Type="http://schemas.openxmlformats.org/officeDocument/2006/relationships/image" Target="../media/image460.png"/><Relationship Id="rId9" Type="http://schemas.openxmlformats.org/officeDocument/2006/relationships/image" Target="../media/image470.png"/><Relationship Id="rId10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/>
          <p:cNvPicPr/>
          <p:nvPr/>
        </p:nvPicPr>
        <p:blipFill>
          <a:blip r:embed="rId2"/>
          <a:stretch>
            <a:fillRect/>
          </a:stretch>
        </p:blipFill>
        <p:spPr>
          <a:xfrm>
            <a:off x="400198" y="1676401"/>
            <a:ext cx="23583604" cy="11811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140518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8C62C3-3138-4092-86C2-85A1567C6E78}"/>
              </a:ext>
            </a:extLst>
          </p:cNvPr>
          <p:cNvGrpSpPr/>
          <p:nvPr/>
        </p:nvGrpSpPr>
        <p:grpSpPr>
          <a:xfrm>
            <a:off x="981493" y="1676400"/>
            <a:ext cx="22817235" cy="10080115"/>
            <a:chOff x="1438692" y="1651082"/>
            <a:chExt cx="22817235" cy="1078379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7C9077-2F0E-4830-9CBB-2CF87E745444}"/>
                </a:ext>
              </a:extLst>
            </p:cNvPr>
            <p:cNvGrpSpPr/>
            <p:nvPr/>
          </p:nvGrpSpPr>
          <p:grpSpPr>
            <a:xfrm>
              <a:off x="1438692" y="1651082"/>
              <a:ext cx="22817235" cy="10783793"/>
              <a:chOff x="1438692" y="1651082"/>
              <a:chExt cx="22817235" cy="10783793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1575873" y="1797127"/>
                <a:ext cx="22680054" cy="10637748"/>
                <a:chOff x="-3538955" y="3448230"/>
                <a:chExt cx="22680054" cy="10637748"/>
              </a:xfrm>
            </p:grpSpPr>
            <p:sp>
              <p:nvSpPr>
                <p:cNvPr id="70" name="Right Triangle 69"/>
                <p:cNvSpPr/>
                <p:nvPr/>
              </p:nvSpPr>
              <p:spPr>
                <a:xfrm flipH="1">
                  <a:off x="8958821" y="3486542"/>
                  <a:ext cx="193377" cy="212342"/>
                </a:xfrm>
                <a:prstGeom prst="rtTriangle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1" name="Group 70"/>
                <p:cNvGrpSpPr/>
                <p:nvPr/>
              </p:nvGrpSpPr>
              <p:grpSpPr>
                <a:xfrm>
                  <a:off x="-3538955" y="3448230"/>
                  <a:ext cx="22680054" cy="10637748"/>
                  <a:chOff x="-3538955" y="3448230"/>
                  <a:chExt cx="22680054" cy="10637748"/>
                </a:xfrm>
              </p:grpSpPr>
              <p:sp>
                <p:nvSpPr>
                  <p:cNvPr id="72" name="Rounded Rectangle 71"/>
                  <p:cNvSpPr/>
                  <p:nvPr/>
                </p:nvSpPr>
                <p:spPr>
                  <a:xfrm>
                    <a:off x="-3538955" y="3592713"/>
                    <a:ext cx="22680054" cy="10493265"/>
                  </a:xfrm>
                  <a:prstGeom prst="roundRect">
                    <a:avLst>
                      <a:gd name="adj" fmla="val 2127"/>
                    </a:avLst>
                  </a:prstGeom>
                  <a:solidFill>
                    <a:schemeClr val="bg1"/>
                  </a:solidFill>
                  <a:ln w="76200">
                    <a:solidFill>
                      <a:srgbClr val="0999C8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18000" rIns="36000" bIns="18000" rtlCol="0" anchor="ctr"/>
                  <a:lstStyle/>
                  <a:p>
                    <a:pPr algn="ctr"/>
                    <a:endParaRPr lang="en-US" sz="4600" dirty="0">
                      <a:latin typeface="Tahoma" pitchFamily="34" charset="0"/>
                      <a:ea typeface="Tahoma" pitchFamily="34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5759299" y="3448230"/>
                    <a:ext cx="3890809" cy="9233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5400" b="1" cap="all" dirty="0">
                        <a:ln w="0"/>
                        <a:solidFill>
                          <a:schemeClr val="bg1"/>
                        </a:solidFill>
                        <a:effectLst>
                          <a:reflection blurRad="12700" stA="50000" endPos="50000" dist="5000" dir="5400000" sy="-100000" rotWithShape="0"/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a:t>CHƯƠNG I</a:t>
                    </a:r>
                  </a:p>
                </p:txBody>
              </p:sp>
            </p:grpSp>
          </p:grpSp>
          <p:sp>
            <p:nvSpPr>
              <p:cNvPr id="74" name="Right Triangle 73"/>
              <p:cNvSpPr/>
              <p:nvPr/>
            </p:nvSpPr>
            <p:spPr>
              <a:xfrm flipH="1">
                <a:off x="7921388" y="1793819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ound Same Side Corner Rectangle 95"/>
              <p:cNvSpPr/>
              <p:nvPr/>
            </p:nvSpPr>
            <p:spPr>
              <a:xfrm flipV="1">
                <a:off x="5029199" y="1651082"/>
                <a:ext cx="15278635" cy="1181261"/>
              </a:xfrm>
              <a:prstGeom prst="round2SameRect">
                <a:avLst>
                  <a:gd name="adj1" fmla="val 6458"/>
                  <a:gd name="adj2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4648199" y="1814121"/>
                <a:ext cx="16193036" cy="889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CHƯƠNG I</a:t>
                </a:r>
                <a:r>
                  <a:rPr lang="en-US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II</a:t>
                </a:r>
                <a:r>
                  <a:rPr lang="vi-VN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 THỨC LƯỢNG TRONG TAM GIÁC</a:t>
                </a:r>
                <a:endParaRPr lang="vi-VN" sz="4800" b="1" dirty="0">
                  <a:solidFill>
                    <a:srgbClr val="C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04" name="Picture 5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230" y="2975075"/>
                <a:ext cx="1495424" cy="1495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>
              <a:xfrm>
                <a:off x="7467544" y="4114018"/>
                <a:ext cx="13632086" cy="8332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0" tIns="45705" rIns="91410" bIns="45705" rtlCol="0" anchor="ctr"/>
              <a:lstStyle/>
              <a:p>
                <a:pPr algn="ctr"/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56" name="Group 60"/>
              <p:cNvGrpSpPr/>
              <p:nvPr/>
            </p:nvGrpSpPr>
            <p:grpSpPr>
              <a:xfrm>
                <a:off x="1438692" y="6012519"/>
                <a:ext cx="13186336" cy="927903"/>
                <a:chOff x="7450558" y="7834555"/>
                <a:chExt cx="13187865" cy="928010"/>
              </a:xfrm>
            </p:grpSpPr>
            <p:sp>
              <p:nvSpPr>
                <p:cNvPr id="57" name="Rectangle 56"/>
                <p:cNvSpPr/>
                <p:nvPr/>
              </p:nvSpPr>
              <p:spPr>
                <a:xfrm>
                  <a:off x="9215447" y="7875170"/>
                  <a:ext cx="11422976" cy="88739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0"/>
                    </a:spcAft>
                  </a:pPr>
                  <a:r>
                    <a:rPr lang="en-US" sz="4800" b="1" dirty="0">
                      <a:solidFill>
                        <a:srgbClr val="FF0000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GIÁ TRỊ LƯỢNG GIÁC CỦA MỘT GÓC</a:t>
                  </a:r>
                </a:p>
              </p:txBody>
            </p:sp>
            <p:grpSp>
              <p:nvGrpSpPr>
                <p:cNvPr id="58" name="Group 26"/>
                <p:cNvGrpSpPr/>
                <p:nvPr/>
              </p:nvGrpSpPr>
              <p:grpSpPr>
                <a:xfrm>
                  <a:off x="7450558" y="7834555"/>
                  <a:ext cx="1383018" cy="796752"/>
                  <a:chOff x="7450631" y="8291755"/>
                  <a:chExt cx="1371600" cy="796752"/>
                </a:xfrm>
              </p:grpSpPr>
              <p:sp>
                <p:nvSpPr>
                  <p:cNvPr id="59" name="Isosceles Triangle 44"/>
                  <p:cNvSpPr/>
                  <p:nvPr/>
                </p:nvSpPr>
                <p:spPr>
                  <a:xfrm rot="16200000">
                    <a:off x="7469936" y="8281488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60" name="Group 28"/>
                  <p:cNvGrpSpPr/>
                  <p:nvPr/>
                </p:nvGrpSpPr>
                <p:grpSpPr>
                  <a:xfrm>
                    <a:off x="7450631" y="8356987"/>
                    <a:ext cx="1371600" cy="731520"/>
                    <a:chOff x="7450631" y="8356987"/>
                    <a:chExt cx="1371600" cy="731520"/>
                  </a:xfrm>
                </p:grpSpPr>
                <p:sp>
                  <p:nvSpPr>
                    <p:cNvPr id="61" name="Round Same Side Corner Rectangle 60"/>
                    <p:cNvSpPr/>
                    <p:nvPr/>
                  </p:nvSpPr>
                  <p:spPr>
                    <a:xfrm rot="5400000">
                      <a:off x="7770671" y="8036947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2" name="TextBox 61"/>
                    <p:cNvSpPr txBox="1"/>
                    <p:nvPr/>
                  </p:nvSpPr>
                  <p:spPr>
                    <a:xfrm>
                      <a:off x="7940249" y="8360620"/>
                      <a:ext cx="507514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63" name="Group 67"/>
              <p:cNvGrpSpPr/>
              <p:nvPr/>
            </p:nvGrpSpPr>
            <p:grpSpPr>
              <a:xfrm>
                <a:off x="1447808" y="7460331"/>
                <a:ext cx="20860319" cy="962610"/>
                <a:chOff x="7459672" y="7170625"/>
                <a:chExt cx="20862705" cy="962719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9111075" y="7260701"/>
                  <a:ext cx="19211302" cy="8726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700" b="1" spc="-150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MỐI QUAN HỆ GIỮA GIÁ TRỊ LƯỢNG GIÁC CỦA HAI GÓC BÙ NHAU</a:t>
                  </a:r>
                </a:p>
              </p:txBody>
            </p:sp>
            <p:grpSp>
              <p:nvGrpSpPr>
                <p:cNvPr id="76" name="Group 32"/>
                <p:cNvGrpSpPr/>
                <p:nvPr/>
              </p:nvGrpSpPr>
              <p:grpSpPr>
                <a:xfrm>
                  <a:off x="7459672" y="7170625"/>
                  <a:ext cx="1411234" cy="848755"/>
                  <a:chOff x="7459669" y="6189930"/>
                  <a:chExt cx="1399583" cy="848755"/>
                </a:xfrm>
              </p:grpSpPr>
              <p:sp>
                <p:nvSpPr>
                  <p:cNvPr id="77" name="Isosceles Triangle 44"/>
                  <p:cNvSpPr/>
                  <p:nvPr/>
                </p:nvSpPr>
                <p:spPr>
                  <a:xfrm rot="16200000">
                    <a:off x="7469936" y="617966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78" name="Group 41"/>
                  <p:cNvGrpSpPr/>
                  <p:nvPr/>
                </p:nvGrpSpPr>
                <p:grpSpPr>
                  <a:xfrm>
                    <a:off x="7487652" y="6307165"/>
                    <a:ext cx="1371600" cy="731520"/>
                    <a:chOff x="7487652" y="6307165"/>
                    <a:chExt cx="1371600" cy="731520"/>
                  </a:xfrm>
                </p:grpSpPr>
                <p:sp>
                  <p:nvSpPr>
                    <p:cNvPr id="79" name="Round Same Side Corner Rectangle 78"/>
                    <p:cNvSpPr/>
                    <p:nvPr/>
                  </p:nvSpPr>
                  <p:spPr>
                    <a:xfrm rot="5400000">
                      <a:off x="7807692" y="5987125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0" name="TextBox 79"/>
                    <p:cNvSpPr txBox="1"/>
                    <p:nvPr/>
                  </p:nvSpPr>
                  <p:spPr>
                    <a:xfrm>
                      <a:off x="7977269" y="6310797"/>
                      <a:ext cx="507513" cy="70796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47" name="Group 67"/>
              <p:cNvGrpSpPr/>
              <p:nvPr/>
            </p:nvGrpSpPr>
            <p:grpSpPr>
              <a:xfrm>
                <a:off x="1447797" y="8899391"/>
                <a:ext cx="4121464" cy="948792"/>
                <a:chOff x="7459670" y="7441560"/>
                <a:chExt cx="5328716" cy="948901"/>
              </a:xfrm>
            </p:grpSpPr>
            <p:sp>
              <p:nvSpPr>
                <p:cNvPr id="48" name="Rectangle 47"/>
                <p:cNvSpPr/>
                <p:nvPr/>
              </p:nvSpPr>
              <p:spPr>
                <a:xfrm>
                  <a:off x="9529919" y="7517816"/>
                  <a:ext cx="3258467" cy="8726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700" b="1" spc="-150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BÀI TẬP</a:t>
                  </a:r>
                </a:p>
              </p:txBody>
            </p:sp>
            <p:grpSp>
              <p:nvGrpSpPr>
                <p:cNvPr id="49" name="Group 32"/>
                <p:cNvGrpSpPr/>
                <p:nvPr/>
              </p:nvGrpSpPr>
              <p:grpSpPr>
                <a:xfrm>
                  <a:off x="7459670" y="7441560"/>
                  <a:ext cx="1800333" cy="864774"/>
                  <a:chOff x="7459669" y="6460865"/>
                  <a:chExt cx="1785470" cy="864774"/>
                </a:xfrm>
              </p:grpSpPr>
              <p:sp>
                <p:nvSpPr>
                  <p:cNvPr id="50" name="Isosceles Triangle 44"/>
                  <p:cNvSpPr/>
                  <p:nvPr/>
                </p:nvSpPr>
                <p:spPr>
                  <a:xfrm rot="16200000">
                    <a:off x="7469936" y="6450598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51" name="Group 41"/>
                  <p:cNvGrpSpPr/>
                  <p:nvPr/>
                </p:nvGrpSpPr>
                <p:grpSpPr>
                  <a:xfrm>
                    <a:off x="7469193" y="6537082"/>
                    <a:ext cx="1775946" cy="788557"/>
                    <a:chOff x="7469193" y="6537082"/>
                    <a:chExt cx="1775946" cy="788557"/>
                  </a:xfrm>
                </p:grpSpPr>
                <p:sp>
                  <p:nvSpPr>
                    <p:cNvPr id="52" name="Round Same Side Corner Rectangle 51"/>
                    <p:cNvSpPr/>
                    <p:nvPr/>
                  </p:nvSpPr>
                  <p:spPr>
                    <a:xfrm rot="5400000">
                      <a:off x="7962887" y="6043388"/>
                      <a:ext cx="788557" cy="1775946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3" name="TextBox 52"/>
                    <p:cNvSpPr txBox="1"/>
                    <p:nvPr/>
                  </p:nvSpPr>
                  <p:spPr>
                    <a:xfrm>
                      <a:off x="8104943" y="6577389"/>
                      <a:ext cx="656096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103" name="Google Shape;122;p14">
              <a:extLst>
                <a:ext uri="{FF2B5EF4-FFF2-40B4-BE49-F238E27FC236}">
                  <a16:creationId xmlns:a16="http://schemas.microsoft.com/office/drawing/2014/main" id="{FAF7E6E7-D68E-4774-9801-54F6529B128E}"/>
                </a:ext>
              </a:extLst>
            </p:cNvPr>
            <p:cNvSpPr/>
            <p:nvPr/>
          </p:nvSpPr>
          <p:spPr>
            <a:xfrm>
              <a:off x="3165290" y="3009806"/>
              <a:ext cx="4418523" cy="88263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17500" dir="5400000" sx="90000" sy="-19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  <a:scene3d>
                <a:camera prst="orthographicFront"/>
                <a:lightRig rig="threePt" dir="t"/>
              </a:scene3d>
              <a:sp3d prstMaterial="metal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dirty="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Bahnschrift SemiBold SemiConden" panose="020B0502040204020203" pitchFamily="34" charset="0"/>
                  <a:sym typeface="Baumans"/>
                </a:rPr>
                <a:t>TOÁN HÌNH  </a:t>
              </a:r>
              <a:endParaRPr sz="6000" dirty="0">
                <a:solidFill>
                  <a:srgbClr val="FF0000"/>
                </a:solidFill>
                <a:effectLst>
                  <a:glow rad="76200">
                    <a:srgbClr val="FFFF00">
                      <a:alpha val="47000"/>
                    </a:srgbClr>
                  </a:glow>
                  <a:outerShdw blurRad="50800" dist="38100" dir="18900000" algn="bl" rotWithShape="0">
                    <a:srgbClr val="0000CC">
                      <a:alpha val="40000"/>
                    </a:srgb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EC462C3-097E-478F-9154-33220765427C}"/>
                </a:ext>
              </a:extLst>
            </p:cNvPr>
            <p:cNvGrpSpPr/>
            <p:nvPr/>
          </p:nvGrpSpPr>
          <p:grpSpPr>
            <a:xfrm>
              <a:off x="4441592" y="3900043"/>
              <a:ext cx="1316269" cy="1323399"/>
              <a:chOff x="4902568" y="2922072"/>
              <a:chExt cx="1316269" cy="132339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92A2278-170A-49E8-B48D-301797CCDF5E}"/>
                  </a:ext>
                </a:extLst>
              </p:cNvPr>
              <p:cNvGrpSpPr/>
              <p:nvPr/>
            </p:nvGrpSpPr>
            <p:grpSpPr>
              <a:xfrm>
                <a:off x="5015148" y="2971696"/>
                <a:ext cx="1175009" cy="1143519"/>
                <a:chOff x="5015148" y="2971695"/>
                <a:chExt cx="1175009" cy="1143520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E1041DC-D475-450B-91E9-794165D6DE77}"/>
                    </a:ext>
                  </a:extLst>
                </p:cNvPr>
                <p:cNvSpPr/>
                <p:nvPr/>
              </p:nvSpPr>
              <p:spPr>
                <a:xfrm>
                  <a:off x="5015148" y="2971695"/>
                  <a:ext cx="1175009" cy="1143520"/>
                </a:xfrm>
                <a:prstGeom prst="ellipse">
                  <a:avLst/>
                </a:prstGeom>
                <a:solidFill>
                  <a:srgbClr val="FFFF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1BBB2B80-ECD5-421E-A4F7-BBA59D5C9CDF}"/>
                    </a:ext>
                  </a:extLst>
                </p:cNvPr>
                <p:cNvSpPr/>
                <p:nvPr/>
              </p:nvSpPr>
              <p:spPr>
                <a:xfrm>
                  <a:off x="5015148" y="2993775"/>
                  <a:ext cx="1091111" cy="1121440"/>
                </a:xfrm>
                <a:prstGeom prst="ellipse">
                  <a:avLst/>
                </a:prstGeom>
                <a:solidFill>
                  <a:srgbClr val="3333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Google Shape;123;p14">
                <a:extLst>
                  <a:ext uri="{FF2B5EF4-FFF2-40B4-BE49-F238E27FC236}">
                    <a16:creationId xmlns:a16="http://schemas.microsoft.com/office/drawing/2014/main" id="{F38EB064-8955-4FC1-9AF5-C49985002268}"/>
                  </a:ext>
                </a:extLst>
              </p:cNvPr>
              <p:cNvSpPr txBox="1"/>
              <p:nvPr/>
            </p:nvSpPr>
            <p:spPr>
              <a:xfrm>
                <a:off x="4902568" y="2922072"/>
                <a:ext cx="1316269" cy="1323399"/>
              </a:xfrm>
              <a:prstGeom prst="rect">
                <a:avLst/>
              </a:prstGeom>
              <a:noFill/>
              <a:ln>
                <a:noFill/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0">
                    <a:solidFill>
                      <a:schemeClr val="bg1"/>
                    </a:solidFill>
                    <a:latin typeface="Yu Gothic UI Semilight" panose="020B0400000000000000" pitchFamily="34" charset="-128"/>
                    <a:ea typeface="Yu Gothic UI Semilight" panose="020B0400000000000000" pitchFamily="34" charset="-128"/>
                  </a:rPr>
                  <a:t>➉</a:t>
                </a:r>
                <a:endParaRPr sz="8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39786C1-301C-402F-B908-633A570E2C52}"/>
              </a:ext>
            </a:extLst>
          </p:cNvPr>
          <p:cNvGrpSpPr/>
          <p:nvPr/>
        </p:nvGrpSpPr>
        <p:grpSpPr>
          <a:xfrm>
            <a:off x="7007312" y="3313402"/>
            <a:ext cx="16791416" cy="2172998"/>
            <a:chOff x="7007312" y="3313402"/>
            <a:chExt cx="16791416" cy="1309627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1F6311BF-A4CF-4E55-85D0-0A86514BB33B}"/>
                </a:ext>
              </a:extLst>
            </p:cNvPr>
            <p:cNvGrpSpPr/>
            <p:nvPr/>
          </p:nvGrpSpPr>
          <p:grpSpPr>
            <a:xfrm>
              <a:off x="7007312" y="3330718"/>
              <a:ext cx="11110067" cy="1292311"/>
              <a:chOff x="-84747" y="97578"/>
              <a:chExt cx="6395438" cy="883658"/>
            </a:xfrm>
          </p:grpSpPr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E248C2BE-8566-4C92-B9DC-0F7EBDD761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4747" y="97578"/>
                <a:ext cx="6395438" cy="824094"/>
              </a:xfrm>
              <a:prstGeom prst="rect">
                <a:avLst/>
              </a:prstGeom>
            </p:spPr>
          </p:pic>
          <p:sp>
            <p:nvSpPr>
              <p:cNvPr id="115" name="TextBox 321">
                <a:extLst>
                  <a:ext uri="{FF2B5EF4-FFF2-40B4-BE49-F238E27FC236}">
                    <a16:creationId xmlns:a16="http://schemas.microsoft.com/office/drawing/2014/main" id="{EFE5FD9A-8DAE-41E9-BE5B-4B8636094028}"/>
                  </a:ext>
                </a:extLst>
              </p:cNvPr>
              <p:cNvSpPr txBox="1"/>
              <p:nvPr/>
            </p:nvSpPr>
            <p:spPr>
              <a:xfrm>
                <a:off x="180215" y="108752"/>
                <a:ext cx="715323" cy="87248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algn="ctr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6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93D231A-4F31-4CD1-BF95-3B25C6FBC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925800" y="3313402"/>
              <a:ext cx="7872928" cy="1222516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B80CDAB-FCA9-4E95-8F6A-72A9575E1286}"/>
              </a:ext>
            </a:extLst>
          </p:cNvPr>
          <p:cNvSpPr txBox="1"/>
          <p:nvPr/>
        </p:nvSpPr>
        <p:spPr>
          <a:xfrm>
            <a:off x="9829801" y="3434715"/>
            <a:ext cx="11887200" cy="206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US" sz="6000" b="1" dirty="0">
                <a:solidFill>
                  <a:srgbClr val="FCFFEF"/>
                </a:solidFill>
                <a:latin typeface="Tahoma" panose="020B0604030504040204" pitchFamily="34" charset="0"/>
                <a:ea typeface="Cascadia Mono"/>
                <a:cs typeface="Times New Roman" panose="02020603050405020304" pitchFamily="18" charset="0"/>
              </a:rPr>
              <a:t>GIÁ TRỊ LƯỢNG GIÁC CỦA </a:t>
            </a:r>
            <a:endParaRPr lang="en-US" sz="4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</a:pPr>
            <a:r>
              <a:rPr lang="en-US" sz="6000" b="1" dirty="0">
                <a:solidFill>
                  <a:srgbClr val="FCFFEF"/>
                </a:solidFill>
                <a:latin typeface="Tahoma" panose="020B0604030504040204" pitchFamily="34" charset="0"/>
                <a:ea typeface="Cascadia Mono"/>
                <a:cs typeface="Times New Roman" panose="02020603050405020304" pitchFamily="18" charset="0"/>
              </a:rPr>
              <a:t>MỘT GÓC TỪ 0</a:t>
            </a:r>
            <a:r>
              <a:rPr lang="en-US" sz="6000" b="1" baseline="30000" dirty="0">
                <a:solidFill>
                  <a:srgbClr val="FCFFEF"/>
                </a:solidFill>
                <a:latin typeface="Tahoma" panose="020B0604030504040204" pitchFamily="34" charset="0"/>
                <a:ea typeface="Cascadia Mono"/>
                <a:cs typeface="Times New Roman" panose="02020603050405020304" pitchFamily="18" charset="0"/>
              </a:rPr>
              <a:t>0</a:t>
            </a:r>
            <a:r>
              <a:rPr lang="en-US" sz="6000" b="1" dirty="0">
                <a:solidFill>
                  <a:srgbClr val="FCFFEF"/>
                </a:solidFill>
                <a:latin typeface="Tahoma" panose="020B0604030504040204" pitchFamily="34" charset="0"/>
                <a:ea typeface="Cascadia Mono"/>
                <a:cs typeface="Times New Roman" panose="02020603050405020304" pitchFamily="18" charset="0"/>
              </a:rPr>
              <a:t> ĐẾN 180</a:t>
            </a:r>
            <a:r>
              <a:rPr lang="en-US" sz="6000" b="1" baseline="30000" dirty="0">
                <a:solidFill>
                  <a:srgbClr val="FCFFEF"/>
                </a:solidFill>
                <a:latin typeface="Tahoma" panose="020B0604030504040204" pitchFamily="34" charset="0"/>
                <a:ea typeface="Cascadia Mono"/>
                <a:cs typeface="Times New Roman" panose="02020603050405020304" pitchFamily="18" charset="0"/>
              </a:rPr>
              <a:t>0</a:t>
            </a:r>
            <a:r>
              <a:rPr lang="en-US" sz="6000" b="1" dirty="0">
                <a:solidFill>
                  <a:srgbClr val="FCFFEF"/>
                </a:solidFill>
                <a:latin typeface="Tahoma" panose="020B0604030504040204" pitchFamily="34" charset="0"/>
                <a:ea typeface="Cascadia Mono"/>
                <a:cs typeface="Times New Roman" panose="02020603050405020304" pitchFamily="18" charset="0"/>
              </a:rPr>
              <a:t> </a:t>
            </a:r>
            <a:endParaRPr lang="en-US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18425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0"/>
            <a:ext cx="23164800" cy="939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2895600"/>
            <a:ext cx="6781800" cy="670560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44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Giá</a:t>
            </a:r>
            <a:r>
              <a:rPr lang="en-US" sz="4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trị</a:t>
            </a:r>
            <a:r>
              <a:rPr lang="en-US" sz="4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lượng</a:t>
            </a:r>
            <a:r>
              <a:rPr lang="en-US" sz="4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giác</a:t>
            </a:r>
            <a:r>
              <a:rPr lang="en-US" sz="4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của</a:t>
            </a:r>
            <a:r>
              <a:rPr lang="en-US" sz="4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một</a:t>
            </a:r>
            <a:r>
              <a:rPr lang="en-US" sz="4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góc</a:t>
            </a:r>
            <a:r>
              <a:rPr lang="en-US" sz="4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44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Hai</a:t>
            </a:r>
            <a:r>
              <a:rPr lang="en-US" sz="4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góc</a:t>
            </a:r>
            <a:r>
              <a:rPr lang="en-US" sz="4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bù</a:t>
            </a:r>
            <a:r>
              <a:rPr lang="en-US" sz="4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nhau</a:t>
            </a:r>
            <a:r>
              <a:rPr lang="en-US" sz="4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96200" y="2895600"/>
                <a:ext cx="16306800" cy="67056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lvl="0" indent="-342900" algn="just">
                  <a:lnSpc>
                    <a:spcPct val="150000"/>
                  </a:lnSpc>
                  <a:spcAft>
                    <a:spcPts val="0"/>
                  </a:spcAft>
                  <a:buFont typeface="Symbol" panose="05050102010706020507" pitchFamily="18" charset="2"/>
                  <a:buChar char=""/>
                </a:pPr>
                <a:r>
                  <a:rPr lang="en-US" sz="4400" b="1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Nhận</a:t>
                </a:r>
                <a:r>
                  <a:rPr lang="en-US" sz="4400" b="1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biết</a:t>
                </a:r>
                <a:r>
                  <a:rPr lang="en-US" sz="4400" b="1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giác</a:t>
                </a:r>
                <a:r>
                  <a:rPr lang="en-US" sz="4400" b="1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trị</a:t>
                </a:r>
                <a:r>
                  <a:rPr lang="en-US" sz="4400" b="1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4400" b="1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giác</a:t>
                </a:r>
                <a:r>
                  <a:rPr lang="en-US" sz="4400" b="1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en-US" sz="4400" b="1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một</a:t>
                </a:r>
                <a:r>
                  <a:rPr lang="en-US" sz="4400" b="1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góc</a:t>
                </a:r>
                <a:r>
                  <a:rPr lang="en-US" sz="4400" b="1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từ</a:t>
                </a:r>
                <a:r>
                  <a:rPr lang="en-US" sz="4400" b="1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𝟎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đến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𝟏𝟖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𝟎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0"/>
                  </a:spcAft>
                  <a:buFont typeface="Symbol" panose="05050102010706020507" pitchFamily="18" charset="2"/>
                  <a:buChar char=""/>
                </a:pP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Giải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thích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hệ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thức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liên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hệ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giữa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các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giá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trị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giác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hai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góc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phụ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nhau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bù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nhau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0"/>
                  </a:spcAft>
                  <a:buFont typeface="Symbol" panose="05050102010706020507" pitchFamily="18" charset="2"/>
                  <a:buChar char=""/>
                </a:pP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Sử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dụng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máy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tính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cầm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tay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để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tính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các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giá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trị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giác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của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một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góc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Vận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dụng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giải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một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số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bài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toán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có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nội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dung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thực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tiễn</a:t>
                </a:r>
                <a:r>
                  <a:rPr lang="en-US" sz="4400" b="1" dirty="0">
                    <a:effectLst/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.</a:t>
                </a:r>
                <a:endParaRPr lang="en-US" sz="4400" b="1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2895600"/>
                <a:ext cx="16306800" cy="6705600"/>
              </a:xfrm>
              <a:prstGeom prst="rect">
                <a:avLst/>
              </a:prstGeom>
              <a:blipFill>
                <a:blip r:embed="rId3"/>
                <a:stretch>
                  <a:fillRect l="-1532" r="-1457" b="-108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743200" y="1905000"/>
            <a:ext cx="3733800" cy="751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THUẬT NGỮ</a:t>
            </a:r>
            <a:endParaRPr lang="en-US" sz="4400" b="1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639800" y="1905000"/>
            <a:ext cx="701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KIẾN THỨC, KĨ NĂNG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670800" y="1905000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816989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381000" y="1676400"/>
            <a:ext cx="23774400" cy="117165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ular Callout 3"/>
          <p:cNvSpPr/>
          <p:nvPr/>
        </p:nvSpPr>
        <p:spPr>
          <a:xfrm>
            <a:off x="15697200" y="2742851"/>
            <a:ext cx="6477000" cy="3886549"/>
          </a:xfrm>
          <a:prstGeom prst="wedgeRoundRectCallout">
            <a:avLst>
              <a:gd name="adj1" fmla="val -10927"/>
              <a:gd name="adj2" fmla="val 69079"/>
              <a:gd name="adj3" fmla="val 16667"/>
            </a:avLst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biết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tỉ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giác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nhọn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Đối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tù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thì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sao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8211800" y="7391400"/>
            <a:ext cx="5689726" cy="4637854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6858000"/>
            <a:ext cx="8153801" cy="64008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/>
              <p:cNvSpPr/>
              <p:nvPr/>
            </p:nvSpPr>
            <p:spPr>
              <a:xfrm>
                <a:off x="1219200" y="2133600"/>
                <a:ext cx="4267200" cy="240474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𝒔𝒊𝒏</m:t>
                          </m:r>
                        </m:fName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</m:func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num>
                        <m:den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133600"/>
                <a:ext cx="4267200" cy="2404745"/>
              </a:xfrm>
              <a:prstGeom prst="round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6324600" y="2209800"/>
                <a:ext cx="3901440" cy="2438400"/>
              </a:xfrm>
              <a:prstGeom prst="roundRect">
                <a:avLst/>
              </a:prstGeom>
              <a:solidFill>
                <a:srgbClr val="FF99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sz="4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cos</m:t>
                      </m:r>
                      <m:r>
                        <a:rPr kumimoji="0" lang="en-US" sz="4800" b="1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𝜶</m:t>
                      </m:r>
                      <m:r>
                        <a:rPr kumimoji="0" lang="en-US" sz="48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num>
                        <m:den>
                          <m: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2209800"/>
                <a:ext cx="3901440" cy="24384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1219200" y="4724400"/>
                <a:ext cx="4114800" cy="2480945"/>
              </a:xfrm>
              <a:prstGeom prst="roundRect">
                <a:avLst/>
              </a:prstGeom>
              <a:solidFill>
                <a:srgbClr val="FF99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sz="48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𝒕𝒂𝒏</m:t>
                          </m:r>
                        </m:fName>
                        <m:e>
                          <m: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</m:func>
                      <m:r>
                        <a:rPr kumimoji="0" lang="en-US" sz="4800" b="1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num>
                        <m:den>
                          <m: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den>
                      </m:f>
                    </m:oMath>
                  </m:oMathPara>
                </a14:m>
                <a:endPara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724400"/>
                <a:ext cx="4114800" cy="248094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6248400" y="4724400"/>
                <a:ext cx="4114800" cy="2362200"/>
              </a:xfrm>
              <a:prstGeom prst="roundRect">
                <a:avLst/>
              </a:prstGeom>
              <a:solidFill>
                <a:srgbClr val="5B9BD5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0" lang="en-US" sz="48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cot</m:t>
                      </m:r>
                      <m:r>
                        <a:rPr kumimoji="0" lang="en-US" sz="4800" b="1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𝜶</m:t>
                      </m:r>
                      <m:r>
                        <a:rPr kumimoji="0" lang="en-US" sz="48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num>
                        <m:den>
                          <m: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den>
                      </m:f>
                    </m:oMath>
                  </m:oMathPara>
                </a14:m>
                <a:endPara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4724400"/>
                <a:ext cx="4114800" cy="23622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ular Callout 11"/>
          <p:cNvSpPr/>
          <p:nvPr/>
        </p:nvSpPr>
        <p:spPr>
          <a:xfrm>
            <a:off x="1828800" y="8077200"/>
            <a:ext cx="6477000" cy="3886549"/>
          </a:xfrm>
          <a:prstGeom prst="wedgeRoundRectCallout">
            <a:avLst>
              <a:gd name="adj1" fmla="val -10927"/>
              <a:gd name="adj2" fmla="val 69079"/>
              <a:gd name="adj3" fmla="val 16667"/>
            </a:avLst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Nhắc</a:t>
            </a:r>
            <a:r>
              <a:rPr kumimoji="0" lang="en-US" sz="4800" b="1" i="0" u="none" strike="noStrike" kern="0" cap="none" spc="0" normalizeH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lại</a:t>
            </a:r>
            <a:r>
              <a:rPr kumimoji="0" lang="en-US" sz="4800" b="1" i="0" u="none" strike="noStrike" kern="0" cap="none" spc="0" normalizeH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kumimoji="0" lang="en-US" sz="4800" b="1" i="0" u="none" strike="noStrike" kern="0" cap="none" spc="0" normalizeH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nghĩa</a:t>
            </a:r>
            <a:r>
              <a:rPr kumimoji="0" lang="en-US" sz="4800" b="1" i="0" u="none" strike="noStrike" kern="0" cap="none" spc="0" normalizeH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tỉ</a:t>
            </a:r>
            <a:r>
              <a:rPr kumimoji="0" lang="en-US" sz="4800" b="1" i="0" u="none" strike="noStrike" kern="0" cap="none" spc="0" normalizeH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kumimoji="0" lang="en-US" sz="4800" b="1" i="0" u="none" strike="noStrike" kern="0" cap="none" spc="0" normalizeH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kumimoji="0" lang="en-US" sz="4800" b="1" i="0" u="none" strike="noStrike" kern="0" cap="none" spc="0" normalizeH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giác</a:t>
            </a:r>
            <a:r>
              <a:rPr kumimoji="0" lang="en-US" sz="4800" b="1" i="0" u="none" strike="noStrike" kern="0" cap="none" spc="0" normalizeH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kumimoji="0" lang="en-US" sz="4800" b="1" i="0" u="none" strike="noStrike" kern="0" cap="none" spc="0" normalizeH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kumimoji="0" lang="en-US" sz="4800" b="1" i="0" u="none" strike="noStrike" kern="0" cap="none" spc="0" normalizeH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noProof="0" dirty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nhọn</a:t>
            </a:r>
            <a:r>
              <a:rPr kumimoji="0" lang="en-US" sz="4800" b="1" i="0" u="none" strike="noStrike" kern="0" cap="none" spc="0" normalizeH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586650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3048000"/>
                <a:ext cx="23393400" cy="102870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Oxy,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nằm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phía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(H.3.2)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trước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𝟏𝟖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duy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nói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𝒙𝑶𝑴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048000"/>
                <a:ext cx="23393400" cy="10287000"/>
              </a:xfrm>
              <a:prstGeom prst="rect">
                <a:avLst/>
              </a:prstGeom>
              <a:blipFill rotWithShape="0">
                <a:blip r:embed="rId3"/>
                <a:stretch>
                  <a:fillRect l="-1042" t="-1479" r="-112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457200" y="1752600"/>
            <a:ext cx="23393400" cy="116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GIÁ TRỊ LƯỢNG GIÁC CỦA MỘT GÓC</a:t>
            </a:r>
          </a:p>
        </p:txBody>
      </p:sp>
      <p:pic>
        <p:nvPicPr>
          <p:cNvPr id="5" name="Picture 4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6070600"/>
            <a:ext cx="7668532" cy="5965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5468" y="5994400"/>
            <a:ext cx="7668532" cy="59098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roup 19"/>
          <p:cNvGrpSpPr/>
          <p:nvPr/>
        </p:nvGrpSpPr>
        <p:grpSpPr>
          <a:xfrm>
            <a:off x="731520" y="6492240"/>
            <a:ext cx="3318660" cy="1395527"/>
            <a:chOff x="0" y="-14726"/>
            <a:chExt cx="1497587" cy="451406"/>
          </a:xfrm>
        </p:grpSpPr>
        <p:sp>
          <p:nvSpPr>
            <p:cNvPr id="21" name="TextBox 321"/>
            <p:cNvSpPr txBox="1"/>
            <p:nvPr/>
          </p:nvSpPr>
          <p:spPr>
            <a:xfrm>
              <a:off x="634066" y="-14726"/>
              <a:ext cx="863521" cy="4514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FF66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HĐ1:</a:t>
              </a: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0" y="92326"/>
              <a:ext cx="627012" cy="197663"/>
              <a:chOff x="0" y="92326"/>
              <a:chExt cx="575416" cy="197663"/>
            </a:xfrm>
          </p:grpSpPr>
          <p:grpSp>
            <p:nvGrpSpPr>
              <p:cNvPr id="23" name="Group 22"/>
              <p:cNvGrpSpPr/>
              <p:nvPr/>
            </p:nvGrpSpPr>
            <p:grpSpPr>
              <a:xfrm>
                <a:off x="0" y="92326"/>
                <a:ext cx="575416" cy="197663"/>
                <a:chOff x="0" y="92326"/>
                <a:chExt cx="644449" cy="302837"/>
              </a:xfrm>
            </p:grpSpPr>
            <p:sp>
              <p:nvSpPr>
                <p:cNvPr id="26" name="Arrow: Pentagon 6"/>
                <p:cNvSpPr/>
                <p:nvPr/>
              </p:nvSpPr>
              <p:spPr>
                <a:xfrm>
                  <a:off x="0" y="103807"/>
                  <a:ext cx="420648" cy="291356"/>
                </a:xfrm>
                <a:prstGeom prst="homePlate">
                  <a:avLst/>
                </a:prstGeom>
                <a:solidFill>
                  <a:srgbClr val="5B9BD5">
                    <a:lumMod val="40000"/>
                    <a:lumOff val="6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48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7" name="Arrow: Chevron 11"/>
                <p:cNvSpPr/>
                <p:nvPr/>
              </p:nvSpPr>
              <p:spPr>
                <a:xfrm>
                  <a:off x="380243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FF6600"/>
                </a:solidFill>
                <a:ln w="12700" cap="flat" cmpd="sng" algn="ctr">
                  <a:solidFill>
                    <a:srgbClr val="FF66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48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28" name="Arrow: Chevron 12"/>
                <p:cNvSpPr/>
                <p:nvPr/>
              </p:nvSpPr>
              <p:spPr>
                <a:xfrm>
                  <a:off x="474990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FF6600"/>
                </a:solidFill>
                <a:ln w="12700" cap="flat" cmpd="sng" algn="ctr">
                  <a:solidFill>
                    <a:srgbClr val="FF66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4800" b="1" i="0" u="none" strike="noStrike" kern="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24" name="Flowchart: Terminator 23"/>
              <p:cNvSpPr/>
              <p:nvPr/>
            </p:nvSpPr>
            <p:spPr>
              <a:xfrm>
                <a:off x="80311" y="137613"/>
                <a:ext cx="253736" cy="115827"/>
              </a:xfrm>
              <a:prstGeom prst="flowChartTerminator">
                <a:avLst/>
              </a:prstGeom>
              <a:solidFill>
                <a:srgbClr val="FFFF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8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211660" y="142761"/>
                <a:ext cx="92369" cy="95432"/>
              </a:xfrm>
              <a:prstGeom prst="ellipse">
                <a:avLst/>
              </a:prstGeom>
              <a:solidFill>
                <a:srgbClr val="3333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800" b="1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14"/>
              <p:cNvSpPr>
                <a:spLocks noChangeArrowheads="1"/>
              </p:cNvSpPr>
              <p:nvPr/>
            </p:nvSpPr>
            <p:spPr bwMode="auto">
              <a:xfrm>
                <a:off x="762000" y="7780896"/>
                <a:ext cx="8839200" cy="37686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2860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743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2004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657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Nêu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nhận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về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trí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kumimoji="0" lang="en-US" sz="4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lvl="0" defTabSz="914400"/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𝟗</m:t>
                    </m:r>
                    <m:sSup>
                      <m:sSup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𝟗</m:t>
                    </m:r>
                    <m:sSup>
                      <m:sSup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𝟗</m:t>
                    </m:r>
                    <m:sSup>
                      <m:sSup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kumimoji="0" lang="en-US" sz="4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6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0" y="7780896"/>
                <a:ext cx="8839200" cy="3768660"/>
              </a:xfrm>
              <a:prstGeom prst="rect">
                <a:avLst/>
              </a:prstGeom>
              <a:blipFill rotWithShape="0">
                <a:blip r:embed="rId6"/>
                <a:stretch>
                  <a:fillRect l="-3103" t="-3393" r="-2966" b="-807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762000" y="11658600"/>
                <a:ext cx="22936200" cy="1673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𝟗</m:t>
                    </m:r>
                    <m:sSup>
                      <m:sSup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nêu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</m:func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</m:func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tung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𝐌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1658600"/>
                <a:ext cx="22936200" cy="1673022"/>
              </a:xfrm>
              <a:prstGeom prst="rect">
                <a:avLst/>
              </a:prstGeom>
              <a:blipFill rotWithShape="0">
                <a:blip r:embed="rId7"/>
                <a:stretch>
                  <a:fillRect l="-1196" t="-9489" r="-824" b="-14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2017884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4" grpId="0" animBg="1"/>
      <p:bldP spid="96" grpId="0"/>
      <p:bldP spid="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40" y="3429000"/>
                <a:ext cx="24140160" cy="102870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650"/>
                  </a:lnSpc>
                  <a:spcAft>
                    <a:spcPts val="800"/>
                  </a:spcAft>
                </a:pPr>
                <a:endParaRPr lang="en-US" b="1" dirty="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ts val="1650"/>
                  </a:lnSpc>
                  <a:spcAft>
                    <a:spcPts val="800"/>
                  </a:spcAft>
                </a:pPr>
                <a:endParaRPr lang="en-US" b="1" dirty="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ts val="1650"/>
                  </a:lnSpc>
                  <a:spcAft>
                    <a:spcPts val="800"/>
                  </a:spcAft>
                </a:pPr>
                <a:endParaRPr lang="en-US" b="1" dirty="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ts val="1650"/>
                  </a:lnSpc>
                  <a:spcAft>
                    <a:spcPts val="800"/>
                  </a:spcAft>
                </a:pPr>
                <a:endParaRPr lang="en-US" b="1" dirty="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ts val="1650"/>
                  </a:lnSpc>
                  <a:spcAft>
                    <a:spcPts val="800"/>
                  </a:spcAft>
                  <a:buNone/>
                </a:pPr>
                <a:endParaRPr lang="en-US" b="1" dirty="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ts val="1650"/>
                  </a:lnSpc>
                  <a:spcAft>
                    <a:spcPts val="800"/>
                  </a:spcAft>
                  <a:buNone/>
                </a:pPr>
                <a:endParaRPr lang="en-US" b="1" dirty="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ts val="1650"/>
                  </a:lnSpc>
                  <a:spcAft>
                    <a:spcPts val="800"/>
                  </a:spcAft>
                  <a:buNone/>
                </a:pPr>
                <a:endParaRPr lang="en-US" b="1" dirty="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ts val="1650"/>
                  </a:lnSpc>
                  <a:spcAft>
                    <a:spcPts val="800"/>
                  </a:spcAft>
                  <a:buNone/>
                </a:pPr>
                <a:endParaRPr lang="en-US" b="1" dirty="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ts val="1650"/>
                  </a:lnSpc>
                  <a:spcAft>
                    <a:spcPts val="800"/>
                  </a:spcAft>
                  <a:buNone/>
                </a:pPr>
                <a:endParaRPr lang="en-US" b="1" dirty="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ts val="1650"/>
                  </a:lnSpc>
                  <a:spcAft>
                    <a:spcPts val="800"/>
                  </a:spcAft>
                  <a:buNone/>
                </a:pPr>
                <a:endParaRPr lang="en-US" b="1" dirty="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ts val="1650"/>
                  </a:lnSpc>
                  <a:spcAft>
                    <a:spcPts val="800"/>
                  </a:spcAft>
                </a:pPr>
                <a:r>
                  <a:rPr lang="en-US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𝟗</m:t>
                    </m:r>
                    <m:sSup>
                      <m:sSup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vào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cung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𝑨𝑪</m:t>
                    </m:r>
                  </m:oMath>
                </a14:m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bên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phải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tung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);</a:t>
                </a:r>
              </a:p>
              <a:p>
                <a:pPr>
                  <a:lnSpc>
                    <a:spcPts val="1650"/>
                  </a:lnSpc>
                  <a:spcAft>
                    <a:spcPts val="800"/>
                  </a:spcAft>
                </a:pPr>
                <a:endParaRPr lang="en-US" b="1" dirty="0">
                  <a:solidFill>
                    <a:srgbClr val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ts val="1650"/>
                  </a:lnSpc>
                  <a:spcAft>
                    <a:spcPts val="800"/>
                  </a:spcAft>
                </a:pPr>
                <a:r>
                  <a:rPr lang="en-US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𝟗</m:t>
                    </m:r>
                    <m:sSup>
                      <m:sSup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vào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cung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𝑩𝑪</m:t>
                    </m:r>
                  </m:oMath>
                </a14:m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bên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trái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tung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</a:t>
                </a:r>
              </a:p>
              <a:p>
                <a:pPr>
                  <a:lnSpc>
                    <a:spcPts val="1650"/>
                  </a:lnSpc>
                  <a:spcAft>
                    <a:spcPts val="800"/>
                  </a:spcAft>
                </a:pPr>
                <a:endParaRPr lang="en-US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" y="3429000"/>
                <a:ext cx="24140160" cy="10287000"/>
              </a:xfrm>
              <a:prstGeom prst="rect">
                <a:avLst/>
              </a:prstGeom>
              <a:blipFill rotWithShape="0">
                <a:blip r:embed="rId3"/>
                <a:stretch>
                  <a:fillRect l="-103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457200" y="1981200"/>
            <a:ext cx="24563070" cy="939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GIÁ TRỊ LƯỢNG GIÁC CỦA MỘT GÓC</a:t>
            </a:r>
          </a:p>
        </p:txBody>
      </p:sp>
      <p:pic>
        <p:nvPicPr>
          <p:cNvPr id="5" name="Picture 4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399" y="2819400"/>
            <a:ext cx="8051959" cy="5965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6799" y="2819400"/>
            <a:ext cx="8051959" cy="590989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28600" y="4572000"/>
                <a:ext cx="8321040" cy="2357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914400">
                  <a:buAutoNum type="alphaLcParenR"/>
                </a:pP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𝟗</m:t>
                    </m:r>
                    <m:sSup>
                      <m:sSup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𝒙𝑶𝑪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𝑨𝑶𝑪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𝟗</m:t>
                    </m:r>
                    <m:sSup>
                      <m:sSup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);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572000"/>
                <a:ext cx="8321040" cy="2357184"/>
              </a:xfrm>
              <a:prstGeom prst="rect">
                <a:avLst/>
              </a:prstGeom>
              <a:blipFill rotWithShape="0">
                <a:blip r:embed="rId6"/>
                <a:stretch>
                  <a:fillRect l="-3370" t="-6460" b="-1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30926" y="10498186"/>
                <a:ext cx="24307800" cy="3051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48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cos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8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48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𝑶𝑴</m:t>
                        </m:r>
                      </m:den>
                    </m:f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</m:fun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8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8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48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𝑶𝑴</m:t>
                        </m:r>
                      </m:den>
                    </m:f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𝑶𝑴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tia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𝑶𝒙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𝒐</m:t>
                        </m:r>
                      </m:sub>
                    </m:sSub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tia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𝑶𝒚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48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cos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𝜶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</m:func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tung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926" y="10498186"/>
                <a:ext cx="24307800" cy="3051220"/>
              </a:xfrm>
              <a:prstGeom prst="rect">
                <a:avLst/>
              </a:prstGeom>
              <a:blipFill rotWithShape="0">
                <a:blip r:embed="rId7"/>
                <a:stretch>
                  <a:fillRect l="-1128" b="-7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466994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23241000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=&gt;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Mở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rộng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niệm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nhọn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bất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𝟏𝟖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nghĩa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=""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23241000" cy="11411749"/>
              </a:xfrm>
              <a:prstGeom prst="rect">
                <a:avLst/>
              </a:prstGeom>
              <a:blipFill rotWithShape="0">
                <a:blip r:embed="rId3"/>
                <a:stretch>
                  <a:fillRect l="-1075" t="-1814" r="-76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2041" y="2514600"/>
            <a:ext cx="8051959" cy="590989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219200" y="3505200"/>
                <a:ext cx="14859000" cy="2410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sz="4800" b="1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𝟏𝟖</m:t>
                    </m:r>
                    <m:sSup>
                      <m:sSup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sz="4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4800" b="1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4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𝒙𝑶𝑴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3505200"/>
                <a:ext cx="14859000" cy="2410275"/>
              </a:xfrm>
              <a:prstGeom prst="rect">
                <a:avLst/>
              </a:prstGeom>
              <a:blipFill rotWithShape="0">
                <a:blip r:embed="rId5"/>
                <a:stretch>
                  <a:fillRect l="-1846" t="-6582" b="-1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90600" y="5638800"/>
                <a:ext cx="16306800" cy="2166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 algn="just">
                  <a:lnSpc>
                    <a:spcPct val="150000"/>
                  </a:lnSpc>
                  <a:spcAft>
                    <a:spcPts val="0"/>
                  </a:spcAft>
                  <a:buFont typeface="Symbol" panose="05050102010706020507" pitchFamily="18" charset="2"/>
                  <a:buChar char=""/>
                </a:pPr>
                <a:r>
                  <a:rPr lang="en-US" sz="48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𝜶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tung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𝒚</m:t>
                        </m:r>
                      </m:e>
                      <m:sub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𝑴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</a:t>
                </a:r>
              </a:p>
              <a:p>
                <a:pPr lvl="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𝒔𝒊𝒏</m:t>
                        </m:r>
                      </m:fName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𝜶</m:t>
                        </m:r>
                      </m:e>
                    </m:func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638800"/>
                <a:ext cx="16306800" cy="2166170"/>
              </a:xfrm>
              <a:prstGeom prst="rect">
                <a:avLst/>
              </a:prstGeom>
              <a:blipFill rotWithShape="0">
                <a:blip r:embed="rId6"/>
                <a:stretch>
                  <a:fillRect l="-1757" b="-13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19200" y="7848600"/>
                <a:ext cx="158496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4800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Côsin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</a:p>
              <a:p>
                <a:pPr lvl="0"/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func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7848600"/>
                <a:ext cx="15849600" cy="1569660"/>
              </a:xfrm>
              <a:prstGeom prst="rect">
                <a:avLst/>
              </a:prstGeom>
              <a:blipFill rotWithShape="0">
                <a:blip r:embed="rId7"/>
                <a:stretch>
                  <a:fillRect l="-1731" t="-9339" b="-19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66800" y="9067800"/>
                <a:ext cx="22130657" cy="44306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 algn="just">
                  <a:lnSpc>
                    <a:spcPct val="150000"/>
                  </a:lnSpc>
                  <a:spcAft>
                    <a:spcPts val="0"/>
                  </a:spcAft>
                  <a:buFont typeface="Symbol" panose="05050102010706020507" pitchFamily="18" charset="2"/>
                  <a:buChar char=""/>
                </a:pP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𝜶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≠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𝟗</m:t>
                    </m:r>
                    <m:sSup>
                      <m:sSup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(hay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𝟎</m:t>
                        </m:r>
                      </m:sub>
                    </m:sSub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≠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), </a:t>
                </a:r>
                <a:r>
                  <a:rPr lang="en-US" sz="4800" b="1" dirty="0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tang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𝜶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𝒕𝒂𝒏</m:t>
                        </m:r>
                      </m:fName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𝜶</m:t>
                        </m:r>
                      </m:e>
                    </m:func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</a:p>
              <a:p>
                <a:pPr marL="342900" lvl="0" indent="-342900" algn="just">
                  <a:lnSpc>
                    <a:spcPct val="150000"/>
                  </a:lnSpc>
                  <a:spcAft>
                    <a:spcPts val="0"/>
                  </a:spcAft>
                  <a:buFont typeface="Symbol" panose="05050102010706020507" pitchFamily="18" charset="2"/>
                  <a:buChar char=""/>
                </a:pP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𝜶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≠</m:t>
                    </m:r>
                    <m:sSup>
                      <m:sSup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𝜶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≠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𝟏𝟖</m:t>
                    </m:r>
                    <m:sSup>
                      <m:sSup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(hay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𝒚</m:t>
                        </m:r>
                      </m:e>
                      <m:sub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𝟎</m:t>
                        </m:r>
                      </m:sub>
                    </m:sSub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≠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𝟎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), </a:t>
                </a:r>
                <a:r>
                  <a:rPr lang="en-US" sz="4800" b="1" dirty="0" err="1">
                    <a:solidFill>
                      <a:srgbClr val="FF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côtang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𝜶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𝒄𝒐𝒕</m:t>
                        </m:r>
                      </m:fName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𝜶</m:t>
                        </m:r>
                      </m:e>
                    </m:func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9067800"/>
                <a:ext cx="22130657" cy="4430636"/>
              </a:xfrm>
              <a:prstGeom prst="rect">
                <a:avLst/>
              </a:prstGeom>
              <a:blipFill rotWithShape="0">
                <a:blip r:embed="rId8"/>
                <a:stretch>
                  <a:fillRect l="-1295" r="-1240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7779779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2" grpId="0"/>
      <p:bldP spid="3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533400" y="1828800"/>
            <a:ext cx="23241000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2590800"/>
            <a:ext cx="8051959" cy="590989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1524000" y="2819400"/>
            <a:ext cx="10515600" cy="882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4800" b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lang="en-US" sz="4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4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nghĩa</a:t>
            </a:r>
            <a:r>
              <a:rPr lang="en-US" sz="4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lang="en-US" sz="4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ta </a:t>
            </a:r>
            <a:r>
              <a:rPr lang="en-US" sz="4800" b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1295400" y="4495800"/>
                <a:ext cx="11582400" cy="4953000"/>
              </a:xfrm>
              <a:prstGeom prst="round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28575" cap="flat" cmpd="sng" algn="ctr">
                <a:solidFill>
                  <a:srgbClr val="FF66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sz="4800" b="1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𝒕𝒂𝒏</m:t>
                          </m:r>
                        </m:fName>
                        <m:e>
                          <m: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𝜶</m:t>
                          </m:r>
                        </m:e>
                      </m:func>
                      <m:r>
                        <a:rPr kumimoji="0" lang="en-US" sz="4800" b="1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0" lang="en-US" sz="4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0" lang="en-US" sz="4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𝒔𝒊𝒏</m:t>
                              </m:r>
                            </m:fName>
                            <m:e>
                              <m:r>
                                <a:rPr kumimoji="0" lang="en-US" sz="4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0" lang="en-US" sz="4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0" lang="en-US" sz="4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𝒄𝒐𝒔</m:t>
                              </m:r>
                            </m:fName>
                            <m:e>
                              <m:r>
                                <a:rPr kumimoji="0" lang="en-US" sz="4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𝜶</m:t>
                              </m:r>
                            </m:e>
                          </m:func>
                        </m:den>
                      </m:f>
                      <m:d>
                        <m:dPr>
                          <m:ctrlP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𝜶</m:t>
                          </m:r>
                          <m: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≠</m:t>
                          </m:r>
                          <m:r>
                            <a:rPr kumimoji="0" lang="en-US" sz="4800" b="1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𝟗</m:t>
                          </m:r>
                          <m:sSup>
                            <m:sSupPr>
                              <m:ctrlPr>
                                <a:rPr kumimoji="0" lang="en-US" sz="4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sz="4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kumimoji="0" lang="en-US" sz="4800" b="1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</m:e>
                      </m:d>
                      <m:r>
                        <a:rPr kumimoji="0" lang="en-US" sz="4800" b="1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</m:oMathPara>
                </a14:m>
                <a:endParaRPr kumimoji="0" lang="en-US" sz="4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lvl="0" defTabSz="9144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func>
                      <m:funcPr>
                        <m:ctrlP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𝒄𝒐𝒕</m:t>
                        </m:r>
                      </m:fName>
                      <m:e>
                        <m: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</m:func>
                    <m:r>
                      <a:rPr kumimoji="0" lang="en-US" sz="4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kumimoji="0" lang="en-US" sz="4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4800" b="1" i="1" ker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a:rPr lang="en-US" sz="4800" b="1" i="1" ker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𝒄𝒐𝒔</m:t>
                            </m:r>
                          </m:fName>
                          <m:e>
                            <m:r>
                              <a:rPr lang="en-US" sz="4800" b="1" i="1" ker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𝜶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kumimoji="0" lang="en-US" sz="4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a:rPr kumimoji="0" lang="en-US" sz="4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𝒔𝒊𝒏</m:t>
                            </m:r>
                          </m:fName>
                          <m:e>
                            <m:r>
                              <a:rPr kumimoji="0" lang="en-US" sz="4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𝜶</m:t>
                            </m:r>
                          </m:e>
                        </m:func>
                      </m:den>
                    </m:f>
                  </m:oMath>
                </a14:m>
                <a:r>
                  <a:rPr kumimoji="0" lang="en-US" sz="4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48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kumimoji="0" lang="en-US" sz="4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kumimoji="0" lang="en-US" sz="4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kumimoji="0" lang="en-US" sz="4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kumimoji="0" lang="en-US" sz="4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4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kumimoji="0" lang="en-US" sz="4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kumimoji="0" lang="en-US" sz="4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𝟏𝟖</m:t>
                    </m:r>
                    <m:sSup>
                      <m:sSupPr>
                        <m:ctrlP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kumimoji="0" lang="en-US" sz="4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);</a:t>
                </a:r>
              </a:p>
              <a:p>
                <a:pPr marL="0" marR="0" lvl="0" indent="0" defTabSz="91440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𝒕𝒂𝒏</m:t>
                        </m:r>
                      </m:fName>
                      <m:e>
                        <m: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𝜶</m:t>
                        </m:r>
                      </m:e>
                    </m:func>
                    <m:r>
                      <a:rPr kumimoji="0" lang="en-US" sz="4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func>
                          <m:funcPr>
                            <m:ctrlPr>
                              <a:rPr kumimoji="0" lang="en-US" sz="4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a:rPr kumimoji="0" lang="en-US" sz="4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𝒄𝒐𝒕</m:t>
                            </m:r>
                          </m:fName>
                          <m:e>
                            <m:r>
                              <a:rPr kumimoji="0" lang="en-US" sz="4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𝜶</m:t>
                            </m:r>
                          </m:e>
                        </m:func>
                      </m:den>
                    </m:f>
                    <m:d>
                      <m:dPr>
                        <m:ctrlP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𝜶</m:t>
                        </m:r>
                        <m:r>
                          <a:rPr kumimoji="0" lang="en-US" sz="4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∉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4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0" lang="en-US" sz="4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sz="4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  <m:sup>
                                <m:r>
                                  <a:rPr kumimoji="0" lang="en-US" sz="4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  <m:r>
                              <a:rPr kumimoji="0" lang="en-US" sz="4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;</m:t>
                            </m:r>
                            <m:r>
                              <a:rPr kumimoji="0" lang="en-US" sz="4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𝟗</m:t>
                            </m:r>
                            <m:sSup>
                              <m:sSupPr>
                                <m:ctrlPr>
                                  <a:rPr kumimoji="0" lang="en-US" sz="4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sz="4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  <m:sup>
                                <m:r>
                                  <a:rPr kumimoji="0" lang="en-US" sz="4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  <m:r>
                              <a:rPr kumimoji="0" lang="en-US" sz="4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;</m:t>
                            </m:r>
                            <m:r>
                              <a:rPr kumimoji="0" lang="en-US" sz="4800" b="1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𝟏𝟖</m:t>
                            </m:r>
                            <m:sSup>
                              <m:sSupPr>
                                <m:ctrlPr>
                                  <a:rPr kumimoji="0" lang="en-US" sz="4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sz="4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</m:e>
                              <m:sup>
                                <m:r>
                                  <a:rPr kumimoji="0" lang="en-US" sz="4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kumimoji="0" lang="en-US" sz="4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495800"/>
                <a:ext cx="11582400" cy="4953000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28575" cap="flat" cmpd="sng" algn="ctr">
                <a:solidFill>
                  <a:srgbClr val="FF66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03711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6" grpId="0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457200" y="1905000"/>
            <a:ext cx="23241000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71600" y="1828800"/>
            <a:ext cx="18592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đây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bảng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giác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(GTLG)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đặc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biệt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mà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nên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nhớ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15137674" y="3429000"/>
            <a:ext cx="8331835" cy="3276600"/>
          </a:xfrm>
          <a:prstGeom prst="wedgeRoundRectCallout">
            <a:avLst>
              <a:gd name="adj1" fmla="val -5688"/>
              <a:gd name="adj2" fmla="val 99766"/>
              <a:gd name="adj3" fmla="val 16667"/>
            </a:avLst>
          </a:prstGeom>
          <a:solidFill>
            <a:srgbClr val="4472C4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bảng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kí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giác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tương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ứng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xác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4800" b="1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18745200" y="8534400"/>
            <a:ext cx="4267200" cy="3962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4222066"/>
                  </p:ext>
                </p:extLst>
              </p:nvPr>
            </p:nvGraphicFramePr>
            <p:xfrm>
              <a:off x="1421674" y="3886200"/>
              <a:ext cx="14362749" cy="88058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8153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2610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5495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81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20574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10394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340995">
                    <a:tc>
                      <a:txBody>
                        <a:bodyPr/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48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GTLG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sSup>
                                  <m:sSup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48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9</m:t>
                                </m:r>
                                <m:sSup>
                                  <m:sSup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18</m:t>
                                </m:r>
                                <m:sSup>
                                  <m:sSup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6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u="none" strike="noStrike">
                              <a:effectLst/>
                              <a:uFill>
                                <a:solidFill>
                                  <a:srgbClr val="FF0000"/>
                                </a:solidFill>
                              </a:uFill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9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𝑠𝑖𝑛</m:t>
                                    </m:r>
                                  </m:fName>
                                  <m:e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sz="4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4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sz="4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4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79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48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cos</m:t>
                                </m:r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sz="4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4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sz="4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4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79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𝑡𝑎𝑛</m:t>
                                    </m:r>
                                  </m:fName>
                                  <m:e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sz="4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4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79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𝑐𝑜𝑡</m:t>
                                    </m:r>
                                  </m:fName>
                                  <m:e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sz="4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4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4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||</m:t>
                                </m:r>
                              </m:oMath>
                            </m:oMathPara>
                          </a14:m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0">
                    <a:tc gridSpan="7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 err="1">
                              <a:solidFill>
                                <a:srgbClr val="FF66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Bảng</a:t>
                          </a:r>
                          <a:r>
                            <a:rPr lang="en-US" sz="4800" b="1" dirty="0">
                              <a:solidFill>
                                <a:srgbClr val="FF66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3.1</a:t>
                          </a: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4222066"/>
                  </p:ext>
                </p:extLst>
              </p:nvPr>
            </p:nvGraphicFramePr>
            <p:xfrm>
              <a:off x="1421674" y="3886200"/>
              <a:ext cx="14362749" cy="88586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81537"/>
                    <a:gridCol w="1226106"/>
                    <a:gridCol w="1554957"/>
                    <a:gridCol w="1981200"/>
                    <a:gridCol w="1828800"/>
                    <a:gridCol w="1828800"/>
                    <a:gridCol w="2057400"/>
                    <a:gridCol w="1103949"/>
                  </a:tblGrid>
                  <a:tr h="15654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 rotWithShape="0">
                          <a:blip r:embed="rId4"/>
                          <a:stretch>
                            <a:fillRect l="-219" t="-389" r="-416886" b="-489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26238" t="-389" r="-841089" b="-489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58431" t="-389" r="-566275" b="-489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81231" t="-389" r="-344308" b="-489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413000" t="-389" r="-273000" b="-489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513000" t="-389" r="-173000" b="-489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544083" t="-389" r="-53550" b="-489105"/>
                          </a:stretch>
                        </a:blipFill>
                      </a:tcPr>
                    </a:tc>
                    <a:tc rowSpan="6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u="none" strike="noStrike">
                              <a:effectLst/>
                              <a:uFill>
                                <a:solidFill>
                                  <a:srgbClr val="FF0000"/>
                                </a:solidFill>
                              </a:uFill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n-US" sz="48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</a:tr>
                  <a:tr h="16440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9" t="-95556" r="-416886" b="-3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26238" t="-95556" r="-841089" b="-3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58431" t="-95556" r="-566275" b="-3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81231" t="-95556" r="-344308" b="-3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413000" t="-95556" r="-273000" b="-3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513000" t="-95556" r="-173000" b="-3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544083" t="-95556" r="-53550" b="-36555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16440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9" t="-195556" r="-416886" b="-2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26238" t="-195556" r="-841089" b="-2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58431" t="-195556" r="-566275" b="-2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81231" t="-195556" r="-344308" b="-2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413000" t="-195556" r="-273000" b="-2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513000" t="-195556" r="-173000" b="-2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544083" t="-195556" r="-53550" b="-26555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16464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9" t="-295556" r="-416886" b="-1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26238" t="-295556" r="-841089" b="-1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58431" t="-295556" r="-566275" b="-1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81231" t="-295556" r="-344308" b="-1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413000" t="-295556" r="-273000" b="-1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513000" t="-295556" r="-173000" b="-1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544083" t="-295556" r="-53550" b="-16555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16464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19" t="-395556" r="-416886" b="-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26238" t="-395556" r="-841089" b="-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58431" t="-395556" r="-566275" b="-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81231" t="-395556" r="-344308" b="-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413000" t="-395556" r="-273000" b="-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513000" t="-395556" r="-173000" b="-6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544083" t="-395556" r="-53550" b="-6555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712216">
                    <a:tc gridSpan="7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 err="1" smtClean="0">
                              <a:solidFill>
                                <a:srgbClr val="FF66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Bảng</a:t>
                          </a:r>
                          <a:r>
                            <a:rPr lang="en-US" sz="4800" b="1" dirty="0" smtClean="0">
                              <a:solidFill>
                                <a:srgbClr val="FF66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>
                              <a:solidFill>
                                <a:srgbClr val="FF66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3.1</a:t>
                          </a: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cxnSp>
        <p:nvCxnSpPr>
          <p:cNvPr id="12" name="Straight Connector 11"/>
          <p:cNvCxnSpPr/>
          <p:nvPr/>
        </p:nvCxnSpPr>
        <p:spPr>
          <a:xfrm>
            <a:off x="21894800" y="3910148"/>
            <a:ext cx="0" cy="685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1995674" y="3910148"/>
            <a:ext cx="0" cy="685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0747283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2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-228600" y="3810000"/>
            <a:ext cx="23770191" cy="9677400"/>
            <a:chOff x="48567" y="4381499"/>
            <a:chExt cx="22929848" cy="9601198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296388" y="5322556"/>
              <a:ext cx="22682027" cy="8660141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67796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 dirty="0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sp>
        <p:nvSpPr>
          <p:cNvPr id="19" name="Rounded Rectangle 41">
            <a:extLst>
              <a:ext uri="{FF2B5EF4-FFF2-40B4-BE49-F238E27FC236}">
                <a16:creationId xmlns:a16="http://schemas.microsoft.com/office/drawing/2014/main" id="{CC866FB0-B137-49F3-A47E-0B1A18FC432E}"/>
              </a:ext>
            </a:extLst>
          </p:cNvPr>
          <p:cNvSpPr/>
          <p:nvPr/>
        </p:nvSpPr>
        <p:spPr>
          <a:xfrm>
            <a:off x="0" y="1828800"/>
            <a:ext cx="23594672" cy="1892162"/>
          </a:xfrm>
          <a:prstGeom prst="roundRect">
            <a:avLst>
              <a:gd name="adj" fmla="val 10158"/>
            </a:avLst>
          </a:prstGeom>
          <a:solidFill>
            <a:srgbClr val="FEEBB0"/>
          </a:solidFill>
          <a:ln w="12700">
            <a:solidFill>
              <a:srgbClr val="91720D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   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0" y="2286000"/>
            <a:ext cx="3867704" cy="1066797"/>
            <a:chOff x="22440" y="16831"/>
            <a:chExt cx="757326" cy="292729"/>
          </a:xfrm>
        </p:grpSpPr>
        <p:grpSp>
          <p:nvGrpSpPr>
            <p:cNvPr id="33" name="Group 32"/>
            <p:cNvGrpSpPr/>
            <p:nvPr/>
          </p:nvGrpSpPr>
          <p:grpSpPr>
            <a:xfrm>
              <a:off x="22440" y="16831"/>
              <a:ext cx="706239" cy="292729"/>
              <a:chOff x="31572" y="7735"/>
              <a:chExt cx="993691" cy="362266"/>
            </a:xfrm>
          </p:grpSpPr>
          <p:sp>
            <p:nvSpPr>
              <p:cNvPr id="35" name="Arrow: Pentagon 25"/>
              <p:cNvSpPr/>
              <p:nvPr/>
            </p:nvSpPr>
            <p:spPr>
              <a:xfrm>
                <a:off x="204585" y="7735"/>
                <a:ext cx="820678" cy="362266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kern="1200">
                    <a:solidFill>
                      <a:srgbClr val="0000CC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US" sz="4400" b="1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6" name="Arrow: Chevron 26"/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00CC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7" name="Arrow: Chevron 27"/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00CC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 b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4" name="TextBox 56"/>
            <p:cNvSpPr txBox="1"/>
            <p:nvPr/>
          </p:nvSpPr>
          <p:spPr>
            <a:xfrm>
              <a:off x="188148" y="16831"/>
              <a:ext cx="591618" cy="271821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kern="1200" dirty="0" err="1">
                  <a:solidFill>
                    <a:srgbClr val="00CC99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lang="en-US" sz="4400" b="1" kern="1200" dirty="0">
                  <a:solidFill>
                    <a:srgbClr val="00CC99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kern="1200" dirty="0" err="1">
                  <a:solidFill>
                    <a:srgbClr val="00CC99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lang="en-US" sz="4400" b="1" kern="1200" dirty="0">
                  <a:solidFill>
                    <a:srgbClr val="00CC99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1.</a:t>
              </a:r>
              <a:endParaRPr lang="en-US" sz="44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191000" y="2209800"/>
                <a:ext cx="166878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𝟏𝟑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2209800"/>
                <a:ext cx="16687800" cy="769441"/>
              </a:xfrm>
              <a:prstGeom prst="rect">
                <a:avLst/>
              </a:prstGeom>
              <a:blipFill rotWithShape="0">
                <a:blip r:embed="rId3"/>
                <a:stretch>
                  <a:fillRect l="-1498" t="-17460" b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7800" y="4419600"/>
            <a:ext cx="7455649" cy="582246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066800" y="4953000"/>
                <a:ext cx="15316200" cy="2290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𝒙𝑶𝑴</m:t>
                        </m:r>
                      </m:e>
                    </m:acc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𝟏𝟑</m:t>
                    </m:r>
                    <m:sSup>
                      <m:sSup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𝑵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𝑷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chiếu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lên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𝑶𝒙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𝑶𝒚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4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953000"/>
                <a:ext cx="15316200" cy="2290114"/>
              </a:xfrm>
              <a:prstGeom prst="rect">
                <a:avLst/>
              </a:prstGeom>
              <a:blipFill rotWithShape="0">
                <a:blip r:embed="rId5"/>
                <a:stretch>
                  <a:fillRect l="-1592" t="-6400" r="-1552" b="-9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1066800" y="7315200"/>
                <a:ext cx="15621000" cy="1469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𝒙𝑶𝑴</m:t>
                        </m:r>
                      </m:e>
                    </m:acc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𝟏𝟑</m:t>
                    </m:r>
                    <m:sSup>
                      <m:sSup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𝑴𝑶𝑵</m:t>
                        </m:r>
                      </m:e>
                    </m:acc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𝟒</m:t>
                    </m:r>
                    <m:sSup>
                      <m:sSup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𝑴𝑶𝑷</m:t>
                        </m:r>
                      </m:e>
                    </m:acc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𝟒</m:t>
                    </m:r>
                    <m:sSup>
                      <m:sSup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𝑴𝑶𝑵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𝑴𝑶𝑷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cân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cạnh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huyền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𝑶𝑴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7315200"/>
                <a:ext cx="15621000" cy="1469248"/>
              </a:xfrm>
              <a:prstGeom prst="rect">
                <a:avLst/>
              </a:prstGeom>
              <a:blipFill rotWithShape="0">
                <a:blip r:embed="rId6"/>
                <a:stretch>
                  <a:fillRect l="-1561" t="-7469" r="-897" b="-18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990600" y="8610600"/>
                <a:ext cx="16078200" cy="2540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𝑶𝑵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𝑶𝑷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4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khác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nằm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bên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trái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tung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4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sz="44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44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e>
                            </m:rad>
                          </m:num>
                          <m:den>
                            <m:r>
                              <a:rPr lang="en-US" sz="4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  <m:f>
                          <m:fPr>
                            <m:ctrlPr>
                              <a:rPr lang="en-US" sz="4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sz="44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44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e>
                            </m:rad>
                          </m:num>
                          <m:den>
                            <m:r>
                              <a:rPr lang="en-US" sz="4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4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8610600"/>
                <a:ext cx="16078200" cy="2540054"/>
              </a:xfrm>
              <a:prstGeom prst="rect">
                <a:avLst/>
              </a:prstGeom>
              <a:blipFill rotWithShape="0">
                <a:blip r:embed="rId7"/>
                <a:stretch>
                  <a:fillRect l="-1555" r="-1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219200" y="11201400"/>
                <a:ext cx="21336000" cy="1980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0"/>
                  </a:spcAft>
                </a:pP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nghĩa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endParaRPr lang="en-US" sz="44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0"/>
                  </a:spcAft>
                  <a:tabLst>
                    <a:tab pos="180340" algn="l"/>
                  </a:tabLst>
                </a:pPr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func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𝟑</m:t>
                    </m:r>
                    <m:sSup>
                      <m:sSup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4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4400" b="1" smtClean="0">
                        <a:solidFill>
                          <a:srgbClr val="000000"/>
                        </a:solidFill>
                        <a:effectLst/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cos</m:t>
                    </m:r>
                    <m:r>
                      <m:rPr>
                        <m:nor/>
                      </m:rPr>
                      <a:rPr lang="en-US" sz="4400" b="1" smtClean="0">
                        <a:solidFill>
                          <a:srgbClr val="000000"/>
                        </a:solidFill>
                        <a:effectLst/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13</m:t>
                    </m:r>
                    <m:sSup>
                      <m:sSup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4400" b="1">
                            <a:solidFill>
                              <a:srgbClr val="000000"/>
                            </a:solidFill>
                            <a:effectLst/>
                            <a:latin typeface="+mj-lt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5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4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𝒕𝒂𝒏</m:t>
                        </m:r>
                      </m:fName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func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𝟑</m:t>
                    </m:r>
                    <m:sSup>
                      <m:sSup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𝒄𝒐𝒕</m:t>
                        </m:r>
                      </m:fName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func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𝟑</m:t>
                    </m:r>
                    <m:sSup>
                      <m:sSup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4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1201400"/>
                <a:ext cx="21336000" cy="1980542"/>
              </a:xfrm>
              <a:prstGeom prst="rect">
                <a:avLst/>
              </a:prstGeom>
              <a:blipFill rotWithShape="0">
                <a:blip r:embed="rId8"/>
                <a:stretch>
                  <a:fillRect l="-1143" t="-7407" b="-4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ounded Rectangle 44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3664574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8" grpId="0"/>
      <p:bldP spid="40" grpId="0"/>
      <p:bldP spid="41" grpId="0"/>
      <p:bldP spid="42" grpId="0"/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80409" y="3810000"/>
            <a:ext cx="23770191" cy="9601200"/>
            <a:chOff x="48567" y="4381499"/>
            <a:chExt cx="22929848" cy="9601198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296388" y="5322556"/>
              <a:ext cx="22682027" cy="8660141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4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67796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4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400" b="1" dirty="0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sp>
        <p:nvSpPr>
          <p:cNvPr id="19" name="Rounded Rectangle 41">
            <a:extLst>
              <a:ext uri="{FF2B5EF4-FFF2-40B4-BE49-F238E27FC236}">
                <a16:creationId xmlns:a16="http://schemas.microsoft.com/office/drawing/2014/main" id="{CC866FB0-B137-49F3-A47E-0B1A18FC432E}"/>
              </a:ext>
            </a:extLst>
          </p:cNvPr>
          <p:cNvSpPr/>
          <p:nvPr/>
        </p:nvSpPr>
        <p:spPr>
          <a:xfrm>
            <a:off x="0" y="1828800"/>
            <a:ext cx="23594672" cy="1892162"/>
          </a:xfrm>
          <a:prstGeom prst="roundRect">
            <a:avLst>
              <a:gd name="adj" fmla="val 10158"/>
            </a:avLst>
          </a:prstGeom>
          <a:solidFill>
            <a:srgbClr val="FEEBB0"/>
          </a:solidFill>
          <a:ln w="12700">
            <a:solidFill>
              <a:srgbClr val="91720D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        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0" y="2233742"/>
            <a:ext cx="4952999" cy="1214846"/>
            <a:chOff x="22440" y="4239"/>
            <a:chExt cx="769159" cy="292729"/>
          </a:xfrm>
        </p:grpSpPr>
        <p:grpSp>
          <p:nvGrpSpPr>
            <p:cNvPr id="33" name="Group 32"/>
            <p:cNvGrpSpPr/>
            <p:nvPr/>
          </p:nvGrpSpPr>
          <p:grpSpPr>
            <a:xfrm>
              <a:off x="22440" y="4239"/>
              <a:ext cx="769159" cy="292729"/>
              <a:chOff x="31572" y="-7847"/>
              <a:chExt cx="1082221" cy="362266"/>
            </a:xfrm>
          </p:grpSpPr>
          <p:sp>
            <p:nvSpPr>
              <p:cNvPr id="35" name="Arrow: Pentagon 25"/>
              <p:cNvSpPr/>
              <p:nvPr/>
            </p:nvSpPr>
            <p:spPr>
              <a:xfrm>
                <a:off x="204585" y="-7847"/>
                <a:ext cx="909208" cy="362266"/>
              </a:xfrm>
              <a:prstGeom prst="homePlate">
                <a:avLst/>
              </a:prstGeom>
              <a:solidFill>
                <a:srgbClr val="FCFFEF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>
                    <a:solidFill>
                      <a:srgbClr val="0000C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US" sz="4400" b="1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6" name="Arrow: Chevron 26"/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00CC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 b="1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7" name="Arrow: Chevron 27"/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00CC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4400" b="1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34" name="TextBox 56"/>
            <p:cNvSpPr txBox="1"/>
            <p:nvPr/>
          </p:nvSpPr>
          <p:spPr>
            <a:xfrm>
              <a:off x="188148" y="16831"/>
              <a:ext cx="591618" cy="271821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4400" b="1" dirty="0" err="1">
                  <a:solidFill>
                    <a:srgbClr val="00CC99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</a:t>
              </a:r>
              <a:r>
                <a:rPr lang="en-US" sz="4400" b="1" dirty="0">
                  <a:solidFill>
                    <a:srgbClr val="00CC99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400" b="1" dirty="0" err="1">
                  <a:solidFill>
                    <a:srgbClr val="00CC99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400" b="1" dirty="0">
                  <a:solidFill>
                    <a:srgbClr val="00CC99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1.</a:t>
              </a:r>
              <a:endParaRPr lang="en-US" sz="44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486400" y="2286000"/>
                <a:ext cx="166878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 </a:t>
                </a:r>
                <a:r>
                  <a:rPr lang="en-US" sz="4400" b="1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44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44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lượng</a:t>
                </a:r>
                <a:r>
                  <a:rPr lang="en-US" sz="44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4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sSup>
                      <m:sSupPr>
                        <m:ctrlPr>
                          <a:rPr lang="en-US" sz="4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e>
                      <m:sup>
                        <m:r>
                          <a:rPr lang="en-US" sz="4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4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286000"/>
                <a:ext cx="16687800" cy="769441"/>
              </a:xfrm>
              <a:prstGeom prst="rect">
                <a:avLst/>
              </a:prstGeom>
              <a:blipFill rotWithShape="0">
                <a:blip r:embed="rId3"/>
                <a:stretch>
                  <a:fillRect l="-1461" t="-16667" b="-36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066800" y="4953000"/>
                <a:ext cx="15316200" cy="2290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</a:pP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nửa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đơn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vị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𝒙𝑶𝑴</m:t>
                        </m:r>
                      </m:e>
                    </m:acc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𝟏𝟐𝟎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𝑵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𝑷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chiếu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lên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𝑶𝒙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𝑶𝒚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953000"/>
                <a:ext cx="15316200" cy="2290114"/>
              </a:xfrm>
              <a:prstGeom prst="rect">
                <a:avLst/>
              </a:prstGeom>
              <a:blipFill rotWithShape="0">
                <a:blip r:embed="rId4"/>
                <a:stretch>
                  <a:fillRect l="-1592" t="-6400" r="-1552" b="-9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1066800" y="7315200"/>
                <a:ext cx="15621000" cy="1469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𝒙𝑶𝑴</m:t>
                        </m:r>
                      </m:e>
                    </m:acc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𝟏𝟐𝟎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𝑴𝑶𝑵</m:t>
                        </m:r>
                      </m:e>
                    </m:acc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𝟔𝟎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𝑵</m:t>
                        </m:r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𝑴𝑶</m:t>
                        </m:r>
                      </m:e>
                    </m:acc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𝟑𝟎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𝑴𝑵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đường cao của tam giác đều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𝑶</m:t>
                    </m:r>
                    <m:r>
                      <a:rPr lang="en-US" sz="4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cạnh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1. </a:t>
                </a:r>
                <a:endPara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7315200"/>
                <a:ext cx="15621000" cy="1469248"/>
              </a:xfrm>
              <a:prstGeom prst="rect">
                <a:avLst/>
              </a:prstGeom>
              <a:blipFill rotWithShape="0">
                <a:blip r:embed="rId5"/>
                <a:stretch>
                  <a:fillRect l="-1561" t="-7469" b="-18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990600" y="8610600"/>
                <a:ext cx="16078200" cy="2540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</a:pP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𝑴𝑵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4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r>
                      <a:rPr lang="en-US" sz="4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sz="4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𝑶𝑵</m:t>
                    </m:r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khác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𝑴</m:t>
                    </m:r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nằm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bên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trái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tung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4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4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  <m:f>
                          <m:fPr>
                            <m:ctrlPr>
                              <a:rPr lang="en-US" sz="4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sz="4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4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</m:e>
                            </m:rad>
                          </m:num>
                          <m:den>
                            <m:r>
                              <a:rPr lang="en-US" sz="4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8610600"/>
                <a:ext cx="16078200" cy="2540054"/>
              </a:xfrm>
              <a:prstGeom prst="rect">
                <a:avLst/>
              </a:prstGeom>
              <a:blipFill rotWithShape="0">
                <a:blip r:embed="rId6"/>
                <a:stretch>
                  <a:fillRect l="-1555" r="-1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1219200" y="11201400"/>
                <a:ext cx="21336000" cy="2003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07000"/>
                  </a:lnSpc>
                </a:pP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nghĩa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sz="44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endPara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just">
                  <a:lnSpc>
                    <a:spcPct val="107000"/>
                  </a:lnSpc>
                  <a:tabLst>
                    <a:tab pos="180340" algn="l"/>
                  </a:tabLst>
                </a:pPr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𝒔𝒊𝒏</m:t>
                        </m:r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𝟏𝟐𝟎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4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4400" b="1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US" sz="4400" b="1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120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	 </a:t>
                </a:r>
                <a14:m>
                  <m:oMath xmlns:m="http://schemas.openxmlformats.org/officeDocument/2006/math">
                    <m:r>
                      <a:rPr lang="en-US" sz="4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𝒕𝒂𝒏</m:t>
                    </m:r>
                    <m:sSup>
                      <m:sSup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𝟏𝟐𝟎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∘</m:t>
                        </m:r>
                      </m:sup>
                    </m:sSup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</m:t>
                    </m:r>
                    <m:rad>
                      <m:radPr>
                        <m:degHide m:val="on"/>
                        <m:ctrlP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e>
                    </m:rad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;</a:t>
                </a:r>
                <a14:m>
                  <m:oMath xmlns:m="http://schemas.openxmlformats.org/officeDocument/2006/math">
                    <m:r>
                      <a:rPr lang="en-US" sz="44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4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     </m:t>
                    </m:r>
                    <m:sSup>
                      <m:sSupPr>
                        <m:ctrlP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𝒄𝒐𝒕</m:t>
                        </m:r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𝟏𝟐𝟎</m:t>
                        </m:r>
                      </m:e>
                      <m:sup>
                        <m:r>
                          <a:rPr lang="en-US" sz="4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sz="4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4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4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44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1201400"/>
                <a:ext cx="21336000" cy="2003369"/>
              </a:xfrm>
              <a:prstGeom prst="rect">
                <a:avLst/>
              </a:prstGeom>
              <a:blipFill rotWithShape="0">
                <a:blip r:embed="rId7"/>
                <a:stretch>
                  <a:fillRect l="-1143" t="-7317" b="-2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400" y="4876800"/>
            <a:ext cx="6777863" cy="53031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Straight Connector 8"/>
          <p:cNvCxnSpPr/>
          <p:nvPr/>
        </p:nvCxnSpPr>
        <p:spPr>
          <a:xfrm flipH="1">
            <a:off x="17323526" y="6553200"/>
            <a:ext cx="1371600" cy="190500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840200" y="7696200"/>
            <a:ext cx="840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0124215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8" grpId="0"/>
      <p:bldP spid="40" grpId="0"/>
      <p:bldP spid="41" grpId="0"/>
      <p:bldP spid="42" grpId="0"/>
      <p:bldP spid="43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52">
            <a:extLst>
              <a:ext uri="{FF2B5EF4-FFF2-40B4-BE49-F238E27FC236}">
                <a16:creationId xmlns:a16="http://schemas.microsoft.com/office/drawing/2014/main" id="{8EC90793-DF17-4A07-A5D2-DB94D58C8AE3}"/>
              </a:ext>
            </a:extLst>
          </p:cNvPr>
          <p:cNvSpPr/>
          <p:nvPr/>
        </p:nvSpPr>
        <p:spPr>
          <a:xfrm>
            <a:off x="124903" y="1752600"/>
            <a:ext cx="23954297" cy="11734800"/>
          </a:xfrm>
          <a:prstGeom prst="roundRect">
            <a:avLst>
              <a:gd name="adj" fmla="val 2239"/>
            </a:avLst>
          </a:prstGeom>
          <a:solidFill>
            <a:srgbClr val="DAE3F3"/>
          </a:solidFill>
          <a:ln w="28575">
            <a:solidFill>
              <a:schemeClr val="accent3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</a:t>
            </a:r>
            <a:endParaRPr lang="en-US" sz="4800" b="1" dirty="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2133600"/>
            <a:ext cx="1828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thể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máy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cầm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tay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đúng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hoặc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gần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đúng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giác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biết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giác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24400"/>
            <a:ext cx="16916400" cy="4044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Chẳng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hạn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loại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máy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cầm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tay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mở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máy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cần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bấm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phím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(SETUP)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rồi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bấm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phím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 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để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chọn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đơn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vị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đo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là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“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”.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giác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hoặc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biết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giác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sz="4800" b="1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1" name="Picture 50"/>
          <p:cNvPicPr/>
          <p:nvPr/>
        </p:nvPicPr>
        <p:blipFill>
          <a:blip r:embed="rId2"/>
          <a:stretch>
            <a:fillRect/>
          </a:stretch>
        </p:blipFill>
        <p:spPr>
          <a:xfrm>
            <a:off x="18821400" y="2895600"/>
            <a:ext cx="4267200" cy="8839200"/>
          </a:xfrm>
          <a:prstGeom prst="rect">
            <a:avLst/>
          </a:prstGeom>
        </p:spPr>
      </p:pic>
      <p:pic>
        <p:nvPicPr>
          <p:cNvPr id="52" name="Picture 51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36"/>
          <a:stretch/>
        </p:blipFill>
        <p:spPr bwMode="auto">
          <a:xfrm>
            <a:off x="7543800" y="5638800"/>
            <a:ext cx="1651481" cy="6710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3" name="Picture 52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36"/>
          <a:stretch/>
        </p:blipFill>
        <p:spPr bwMode="auto">
          <a:xfrm>
            <a:off x="9296400" y="5621555"/>
            <a:ext cx="1364860" cy="6710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4" name="Picture 53"/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36"/>
          <a:stretch/>
        </p:blipFill>
        <p:spPr bwMode="auto">
          <a:xfrm>
            <a:off x="762000" y="6426200"/>
            <a:ext cx="1219200" cy="6096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6" name="Rounded Rectangle 5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225142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52">
            <a:extLst>
              <a:ext uri="{FF2B5EF4-FFF2-40B4-BE49-F238E27FC236}">
                <a16:creationId xmlns:a16="http://schemas.microsoft.com/office/drawing/2014/main" id="{8EC90793-DF17-4A07-A5D2-DB94D58C8AE3}"/>
              </a:ext>
            </a:extLst>
          </p:cNvPr>
          <p:cNvSpPr/>
          <p:nvPr/>
        </p:nvSpPr>
        <p:spPr>
          <a:xfrm>
            <a:off x="381000" y="1752600"/>
            <a:ext cx="23698200" cy="11582400"/>
          </a:xfrm>
          <a:prstGeom prst="roundRect">
            <a:avLst>
              <a:gd name="adj" fmla="val 2239"/>
            </a:avLst>
          </a:prstGeom>
          <a:solidFill>
            <a:srgbClr val="DAE3F3"/>
          </a:solidFill>
          <a:ln w="28575">
            <a:solidFill>
              <a:schemeClr val="accent3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</a:t>
            </a:r>
            <a:endParaRPr lang="en-US" sz="4800" b="1" dirty="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2133600"/>
            <a:ext cx="2308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giác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số</a:t>
            </a: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endParaRPr lang="en-US" sz="4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008815"/>
                  </p:ext>
                </p:extLst>
              </p:nvPr>
            </p:nvGraphicFramePr>
            <p:xfrm>
              <a:off x="1143000" y="3962400"/>
              <a:ext cx="22402800" cy="528770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18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58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62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0757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 err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Tính</a:t>
                          </a: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 err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Bấm</a:t>
                          </a:r>
                          <a:r>
                            <a:rPr lang="en-US" sz="4800" b="1" dirty="0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phím</a:t>
                          </a: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Kết quả</a:t>
                          </a:r>
                          <a:endParaRPr lang="en-US" sz="4800" b="1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05769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48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𝒔𝒊𝒏</m:t>
                                    </m:r>
                                  </m:fName>
                                  <m:e>
                                    <m: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𝟒</m:t>
                                    </m:r>
                                  </m:e>
                                </m:func>
                                <m:sSup>
                                  <m:sSupPr>
                                    <m:ctrlP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𝟖</m:t>
                                    </m:r>
                                  </m:e>
                                  <m:sup>
                                    <m: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  <m:r>
                                  <a:rPr lang="en-US" sz="4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𝟓𝟎</m:t>
                                </m:r>
                                <m:r>
                                  <a:rPr lang="en-US" sz="4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  <m:r>
                                  <a:rPr lang="en-US" sz="4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𝟒𝟎</m:t>
                                </m:r>
                                <m:r>
                                  <a:rPr lang="en-US" sz="4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"</m:t>
                                </m:r>
                              </m:oMath>
                            </m:oMathPara>
                          </a14:m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                  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05769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48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8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𝒄𝒐𝒔</m:t>
                                    </m:r>
                                    <m:r>
                                      <a:rPr lang="en-US" sz="48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𝟏𝟏𝟐</m:t>
                                    </m:r>
                                  </m:e>
                                  <m:sup>
                                    <m: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  <m:r>
                                  <a:rPr lang="en-US" sz="4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𝟏𝟐</m:t>
                                </m:r>
                                <m:r>
                                  <a:rPr lang="en-US" sz="4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  <m:r>
                                  <a:rPr lang="en-US" sz="4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𝟒𝟓</m:t>
                                </m:r>
                                <m:r>
                                  <a:rPr lang="en-US" sz="4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"</m:t>
                                </m:r>
                              </m:oMath>
                            </m:oMathPara>
                          </a14:m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                    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828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  <a:p>
                          <a:pPr marL="0" marR="0" lvl="0" indent="0" algn="l" defTabSz="1828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58565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𝒕𝒂𝒏</m:t>
                                    </m:r>
                                  </m:fName>
                                  <m:e>
                                    <m: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e>
                                </m:func>
                                <m:sSup>
                                  <m:sSupPr>
                                    <m:ctrlP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𝟓</m:t>
                                    </m:r>
                                  </m:e>
                                  <m:sup>
                                    <m: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mbria Math" panose="02040503050406030204" pitchFamily="18" charset="0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4800" b="1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    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008815"/>
                  </p:ext>
                </p:extLst>
              </p:nvPr>
            </p:nvGraphicFramePr>
            <p:xfrm>
              <a:off x="1143000" y="3962400"/>
              <a:ext cx="22402800" cy="528770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18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58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62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1221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 err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Tính</a:t>
                          </a: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 err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Bấm</a:t>
                          </a:r>
                          <a:r>
                            <a:rPr lang="en-US" sz="4800" b="1" dirty="0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phím</a:t>
                          </a: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Kết quả</a:t>
                          </a:r>
                          <a:endParaRPr lang="en-US" sz="4800" b="1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949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8" t="-61224" r="-332706" b="-2073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                  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949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8" t="-160569" r="-332706" b="-1065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                    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1828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  <a:p>
                          <a:pPr marL="0" marR="0" lvl="0" indent="0" algn="l" defTabSz="18288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5856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8" t="-246538" r="-332706" b="-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     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880" y="4800600"/>
            <a:ext cx="11466991" cy="12254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487" y="6473257"/>
            <a:ext cx="11459027" cy="10742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8001000"/>
            <a:ext cx="3580948" cy="11574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7800" y="10363200"/>
            <a:ext cx="5791200" cy="167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7068800" y="4648200"/>
                <a:ext cx="7315200" cy="1654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1828800"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4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sz="4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𝒔𝒊𝒏</m:t>
                          </m:r>
                        </m:fName>
                        <m:e>
                          <m:r>
                            <a:rPr lang="en-US" sz="4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e>
                      </m:func>
                      <m:sSup>
                        <m:sSupPr>
                          <m:ctrlPr>
                            <a:rPr lang="en-US" sz="4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n-US" sz="4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en-US" sz="4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𝟓𝟎</m:t>
                      </m:r>
                      <m:r>
                        <a:rPr lang="en-US" sz="4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4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𝟒𝟎</m:t>
                      </m:r>
                      <m:r>
                        <a:rPr lang="en-US" sz="4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"≈</m:t>
                      </m:r>
                      <m:r>
                        <a:rPr lang="en-US" sz="4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4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4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𝟕𝟓𝟐𝟗𝟐𝟓𝟔𝟐𝟗𝟏</m:t>
                      </m:r>
                    </m:oMath>
                  </m:oMathPara>
                </a14:m>
                <a:endParaRPr lang="en-US" sz="48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8800" y="4648200"/>
                <a:ext cx="7315200" cy="16548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135600" y="6248400"/>
                <a:ext cx="5334000" cy="1541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1828800">
                  <a:lnSpc>
                    <a:spcPct val="107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𝒄𝒐𝒔</m:t>
                          </m:r>
                          <m:r>
                            <a:rPr lang="en-US" sz="4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𝟏𝟏𝟐</m:t>
                          </m:r>
                        </m:e>
                        <m:sup>
                          <m:r>
                            <a:rPr lang="en-US" sz="4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en-US" sz="4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𝟏𝟐</m:t>
                      </m:r>
                      <m:r>
                        <a:rPr lang="en-US" sz="4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4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𝟒𝟓</m:t>
                      </m:r>
                      <m:r>
                        <a:rPr lang="en-US" sz="4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"</m:t>
                      </m:r>
                    </m:oMath>
                  </m:oMathPara>
                </a14:m>
                <a:endPara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7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≈−</m:t>
                      </m:r>
                      <m:r>
                        <a:rPr lang="en-US" sz="4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4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4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𝟑𝟕𝟖𝟎𝟒𝟐𝟕𝟕𝟏𝟓</m:t>
                      </m:r>
                    </m:oMath>
                  </m:oMathPara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5600" y="6248400"/>
                <a:ext cx="5334000" cy="154131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657600" y="10515600"/>
            <a:ext cx="8686800" cy="1447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7907000" y="7924800"/>
                <a:ext cx="5638800" cy="902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4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sz="4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𝒕𝒂𝒏</m:t>
                          </m:r>
                        </m:fName>
                        <m:e>
                          <m:r>
                            <a:rPr lang="en-US" sz="4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</m:func>
                      <m:sSup>
                        <m:sSupPr>
                          <m:ctrlPr>
                            <a:rPr lang="en-US" sz="4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US" sz="4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en-US" sz="4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4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4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US" sz="4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4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7000" y="7924800"/>
                <a:ext cx="5638800" cy="90204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ounded Rectangle 4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006493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8" grpId="0"/>
      <p:bldP spid="1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52">
            <a:extLst>
              <a:ext uri="{FF2B5EF4-FFF2-40B4-BE49-F238E27FC236}">
                <a16:creationId xmlns:a16="http://schemas.microsoft.com/office/drawing/2014/main" id="{8EC90793-DF17-4A07-A5D2-DB94D58C8AE3}"/>
              </a:ext>
            </a:extLst>
          </p:cNvPr>
          <p:cNvSpPr/>
          <p:nvPr/>
        </p:nvSpPr>
        <p:spPr>
          <a:xfrm>
            <a:off x="228600" y="1752600"/>
            <a:ext cx="23850600" cy="11506200"/>
          </a:xfrm>
          <a:prstGeom prst="roundRect">
            <a:avLst>
              <a:gd name="adj" fmla="val 2239"/>
            </a:avLst>
          </a:prstGeom>
          <a:solidFill>
            <a:srgbClr val="DAE3F3"/>
          </a:solidFill>
          <a:ln w="28575">
            <a:solidFill>
              <a:schemeClr val="accent3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</a:t>
            </a:r>
            <a:endParaRPr lang="en-US" sz="4800" b="1" dirty="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0363200"/>
            <a:ext cx="5791200" cy="167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0" y="10515600"/>
            <a:ext cx="8686800" cy="1447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0600" y="1981200"/>
            <a:ext cx="19735800" cy="1049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Tìm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khi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biết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một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lượng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giác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góc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</a:t>
            </a:r>
            <a:r>
              <a:rPr lang="en-US" sz="4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sz="4800" b="1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752593"/>
                  </p:ext>
                </p:extLst>
              </p:nvPr>
            </p:nvGraphicFramePr>
            <p:xfrm>
              <a:off x="1066800" y="3901440"/>
              <a:ext cx="22098000" cy="347805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63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72973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72946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16832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 err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Tìm</a:t>
                          </a:r>
                          <a:r>
                            <a:rPr lang="en-US" sz="4800" b="1" dirty="0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48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4800" b="1" dirty="0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, </a:t>
                          </a:r>
                          <a:r>
                            <a:rPr lang="en-US" sz="4800" b="1" dirty="0" err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biết</a:t>
                          </a: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 err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Bấm</a:t>
                          </a:r>
                          <a:r>
                            <a:rPr lang="en-US" sz="4800" b="1" dirty="0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phím</a:t>
                          </a: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Kết quả</a:t>
                          </a:r>
                          <a:endParaRPr lang="en-US" sz="4800" b="1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0973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𝒔𝒊𝒏</m:t>
                                    </m:r>
                                  </m:fName>
                                  <m:e>
                                    <m:r>
                                      <a:rPr lang="en-US" sz="48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𝒙</m:t>
                                    </m:r>
                                  </m:e>
                                </m:func>
                                <m:r>
                                  <a:rPr lang="en-US" sz="4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4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  <m:r>
                                  <a:rPr lang="en-US" sz="4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48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𝟑𝟒𝟓𝟔</m:t>
                                </m:r>
                              </m:oMath>
                            </m:oMathPara>
                          </a14:m>
                          <a:endParaRPr lang="en-US" sz="4800" b="1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                 </a:t>
                          </a: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752593"/>
                  </p:ext>
                </p:extLst>
              </p:nvPr>
            </p:nvGraphicFramePr>
            <p:xfrm>
              <a:off x="1066800" y="3901440"/>
              <a:ext cx="22098000" cy="347805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63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72973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72946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1683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2" t="-2083" r="-292649" b="-200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 err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Bấm</a:t>
                          </a:r>
                          <a:r>
                            <a:rPr lang="en-US" sz="4800" b="1" dirty="0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</a:t>
                          </a:r>
                          <a:r>
                            <a:rPr lang="en-US" sz="4800" b="1" dirty="0" err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phím</a:t>
                          </a: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Kết quả</a:t>
                          </a:r>
                          <a:endParaRPr lang="en-US" sz="4800" b="1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097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2" t="-51715" r="-292649" b="-1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4800" b="1" dirty="0">
                              <a:solidFill>
                                <a:srgbClr val="000000"/>
                              </a:solidFill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a:t>                  </a:t>
                          </a: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US" sz="4800" b="1" dirty="0"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TextBox 15"/>
          <p:cNvSpPr txBox="1"/>
          <p:nvPr/>
        </p:nvSpPr>
        <p:spPr>
          <a:xfrm>
            <a:off x="14859000" y="9296400"/>
            <a:ext cx="5715000" cy="1447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8973800" y="5562600"/>
                <a:ext cx="4343400" cy="882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sz="4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≈</m:t>
                      </m:r>
                      <m:r>
                        <a:rPr lang="en-US" sz="4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sz="4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US" sz="4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en-US" sz="4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𝟏𝟑</m:t>
                      </m:r>
                      <m:r>
                        <a:rPr lang="en-US" sz="4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′</m:t>
                      </m:r>
                      <m:r>
                        <a:rPr lang="en-US" sz="4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𝟕</m:t>
                      </m:r>
                      <m:r>
                        <a:rPr lang="en-US" sz="4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"</m:t>
                      </m:r>
                    </m:oMath>
                  </m:oMathPara>
                </a14:m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3800" y="5562600"/>
                <a:ext cx="4343400" cy="88267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5486400"/>
            <a:ext cx="11249236" cy="13383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90600" y="7620000"/>
            <a:ext cx="434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solidFill>
                  <a:srgbClr val="FF0000"/>
                </a:solidFill>
              </a:rPr>
              <a:t>Chú</a:t>
            </a:r>
            <a:r>
              <a:rPr lang="en-US" sz="4800" b="1" dirty="0">
                <a:solidFill>
                  <a:srgbClr val="FF0000"/>
                </a:solidFill>
              </a:rPr>
              <a:t> ý</a:t>
            </a:r>
            <a:endParaRPr lang="en-US" sz="4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914400" y="8458200"/>
                <a:ext cx="221742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 algn="just">
                  <a:lnSpc>
                    <a:spcPct val="150000"/>
                  </a:lnSpc>
                  <a:spcAft>
                    <a:spcPts val="0"/>
                  </a:spcAft>
                  <a:buFont typeface="Symbol" panose="05050102010706020507" pitchFamily="18" charset="2"/>
                  <a:buChar char=""/>
                </a:pPr>
                <a:r>
                  <a:rPr lang="en-US" sz="48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8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8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𝒙</m:t>
                    </m:r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biết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𝒔𝒊𝒏</m:t>
                        </m:r>
                      </m:fName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𝒙</m:t>
                        </m:r>
                      </m:e>
                    </m:fun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máy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đưa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𝒙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≤</m:t>
                    </m:r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𝟗</m:t>
                    </m:r>
                    <m:sSup>
                      <m:sSupPr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8458200"/>
                <a:ext cx="22174200" cy="1200329"/>
              </a:xfrm>
              <a:prstGeom prst="rect">
                <a:avLst/>
              </a:prstGeom>
              <a:blipFill rotWithShape="0">
                <a:blip r:embed="rId5"/>
                <a:stretch>
                  <a:fillRect l="-1292" b="-15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143000" y="10058400"/>
                <a:ext cx="213360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Muốn</a:t>
                </a:r>
                <a:r>
                  <a:rPr lang="en-US" sz="48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800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biết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fun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𝒕𝒂𝒏</m:t>
                        </m:r>
                      </m:fName>
                      <m:e>
                        <m:r>
                          <a:rPr lang="en-US" sz="4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func>
                  </m:oMath>
                </a14:m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cũng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làm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như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thay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phím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bởi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phím</a:t>
                </a:r>
                <a:r>
                  <a:rPr lang="en-US" sz="4800" b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,  </a:t>
                </a:r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0058400"/>
                <a:ext cx="21336000" cy="1569660"/>
              </a:xfrm>
              <a:prstGeom prst="rect">
                <a:avLst/>
              </a:prstGeom>
              <a:blipFill rotWithShape="0">
                <a:blip r:embed="rId6"/>
                <a:stretch>
                  <a:fillRect l="-1314" t="-9339" b="-19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35"/>
          <p:cNvPicPr/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4545"/>
          <a:stretch/>
        </p:blipFill>
        <p:spPr bwMode="auto">
          <a:xfrm>
            <a:off x="4953000" y="10896600"/>
            <a:ext cx="1168292" cy="74462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7" name="Picture 36"/>
          <p:cNvPicPr/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40"/>
          <a:stretch/>
        </p:blipFill>
        <p:spPr bwMode="auto">
          <a:xfrm>
            <a:off x="13030200" y="10972800"/>
            <a:ext cx="1168292" cy="74462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8" name="Picture 37"/>
          <p:cNvPicPr/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91"/>
          <a:stretch/>
        </p:blipFill>
        <p:spPr bwMode="auto">
          <a:xfrm>
            <a:off x="14706600" y="10972800"/>
            <a:ext cx="1316904" cy="74462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8" name="Rounded Rectangle 4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3993263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9" grpId="0"/>
      <p:bldP spid="20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782781" y="1676400"/>
            <a:ext cx="23164800" cy="10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FF0000"/>
                </a:solidFill>
              </a:rPr>
              <a:t>2. MỐI QUAN HỆ GIỮA CÁC GIÁ TRỊ LƯỢNG GIÁC CỦA HAI GÓC BÙ NHAU</a:t>
            </a:r>
            <a:endParaRPr lang="vi-VN" sz="4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0491" y="2514600"/>
                <a:ext cx="13030200" cy="112014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tùy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ý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𝟏𝟖</m:t>
                        </m:r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bù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𝟏𝟖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𝒙𝑶𝑴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𝒙𝑶</m:t>
                            </m:r>
                            <m:sSup>
                              <m:sSupPr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𝟏𝟖</m:t>
                        </m:r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Nêu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𝑶𝒚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nêu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mối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func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d>
                          <m:d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𝟏𝟖</m:t>
                            </m:r>
                            <m:sSup>
                              <m:sSupPr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</m:e>
                    </m:func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𝟏𝟖</m:t>
                        </m:r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𝑶𝒚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Do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d>
                          <m:d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𝟏𝟖</m:t>
                            </m:r>
                            <m:sSup>
                              <m:sSupPr>
                                <m:ctrlPr>
                                  <a:rPr lang="vi-V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𝒐</m:t>
                                </m:r>
                              </m:sup>
                            </m:s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</m:e>
                    </m:fun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func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𝟏𝟖</m:t>
                        </m:r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tan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𝟏𝟖</m:t>
                        </m:r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𝒕𝒂𝒏</m:t>
                        </m:r>
                      </m:fName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func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𝟗</m:t>
                        </m:r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cot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𝟏𝟖</m:t>
                        </m:r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cot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𝟏𝟖</m:t>
                        </m:r>
                        <m:sSup>
                          <m:sSupPr>
                            <m:ctrlPr>
                              <a:rPr lang="vi-V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4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91" y="2514600"/>
                <a:ext cx="13030200" cy="11201400"/>
              </a:xfrm>
              <a:prstGeom prst="rect">
                <a:avLst/>
              </a:prstGeom>
              <a:blipFill>
                <a:blip r:embed="rId3"/>
                <a:stretch>
                  <a:fillRect l="-1917" t="-179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3868401" y="2895601"/>
            <a:ext cx="10106891" cy="1082039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côsin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tang,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côtang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7B5441-FA02-4C08-8ECE-12FF3CCDFE2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0691" y="2514600"/>
            <a:ext cx="10106890" cy="6629399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3590517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0" y="1828800"/>
            <a:ext cx="243840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0000"/>
                </a:solidFill>
              </a:rPr>
              <a:t>2. </a:t>
            </a:r>
            <a:r>
              <a:rPr lang="en-US" sz="5300" b="1" dirty="0">
                <a:solidFill>
                  <a:srgbClr val="FF0000"/>
                </a:solidFill>
              </a:rPr>
              <a:t>MỐI QUAN HỆ GIỮA CÁC GIÁ TRỊ LƯỢNG GIÁC CỦA HAI GÓC BÙ NHAU</a:t>
            </a:r>
            <a:endParaRPr lang="vi-VN" sz="53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3401" y="2721708"/>
                <a:ext cx="12801600" cy="10308492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tùy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ý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  <m:sSup>
                          <m:sSupPr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tròn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bù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sSup>
                      <m:sSup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𝒙𝑶𝑴</m:t>
                            </m:r>
                          </m:e>
                        </m:acc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𝒙𝑶</m:t>
                            </m:r>
                            <m:sSup>
                              <m:sSupPr>
                                <m:ctrlPr>
                                  <a:rPr lang="vi-V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</m:e>
                              <m:sup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acc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  <m:sSup>
                          <m:sSupPr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Nêu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nhận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𝑶𝒚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nêu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mối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func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d>
                          <m:dPr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𝟏𝟖</m:t>
                            </m:r>
                            <m:sSup>
                              <m:sSupPr>
                                <m:ctrlPr>
                                  <a:rPr lang="vi-V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sup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𝒐</m:t>
                                </m:r>
                              </m:sup>
                            </m:s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</m:e>
                    </m:func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d>
                      <m:d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  <m:sSup>
                          <m:sSupPr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𝑶𝒚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Do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endPara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d>
                          <m:dPr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𝟏𝟖</m:t>
                            </m:r>
                            <m:sSup>
                              <m:sSupPr>
                                <m:ctrlPr>
                                  <a:rPr lang="vi-VN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sup>
                                <m:r>
                                  <a:rPr lang="en-US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𝒐</m:t>
                                </m:r>
                              </m:sup>
                            </m:s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</m:e>
                    </m:func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func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m:rPr>
                        <m:nor/>
                      </m:rPr>
                      <a:rPr lang="en-US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d>
                      <m:d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  <m:sSup>
                          <m:sSupPr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m:rPr>
                        <m:nor/>
                      </m:rPr>
                      <a:rPr lang="en-US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tan</m:t>
                    </m:r>
                    <m:d>
                      <m:d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  <m:sSup>
                          <m:sSupPr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𝒕𝒂𝒏</m:t>
                        </m:r>
                      </m:fName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func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  <m:sSup>
                          <m:sSupPr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i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m:rPr>
                        <m:nor/>
                      </m:rPr>
                      <a:rPr lang="en-US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cot</m:t>
                    </m:r>
                    <m:d>
                      <m:d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  <m:sSup>
                          <m:sSupPr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en-US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cot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vi-V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  <m:sSup>
                          <m:sSupPr>
                            <m:ctrlPr>
                              <a:rPr lang="vi-VN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4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1" y="2721708"/>
                <a:ext cx="12801600" cy="10308492"/>
              </a:xfrm>
              <a:prstGeom prst="rect">
                <a:avLst/>
              </a:prstGeom>
              <a:blipFill>
                <a:blip r:embed="rId3"/>
                <a:stretch>
                  <a:fillRect l="-1951" t="-1948" r="-1618" b="-377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3868401" y="2895601"/>
            <a:ext cx="10106891" cy="1013459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endParaRPr lang="en-US" sz="4400" dirty="0"/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côsin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tang,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côtang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7B5441-FA02-4C08-8ECE-12FF3CCDFE2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0691" y="2895601"/>
            <a:ext cx="10106890" cy="6629399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647430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7699" y="1981201"/>
                <a:ext cx="11544301" cy="11411748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  Tính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𝟏𝟐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𝟏𝟑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𝟏𝟓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GỢI Ý TÌM LỜI GIẢI</a:t>
                </a:r>
              </a:p>
              <a:p>
                <a:pPr marL="0" indent="0">
                  <a:buNone/>
                </a:pP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𝟏𝟐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𝟏𝟑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𝟏𝟓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bù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nào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3.1?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𝟏𝟐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𝟏𝟑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𝟏𝟓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vi-V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99" y="1981201"/>
                <a:ext cx="11544301" cy="11411748"/>
              </a:xfrm>
              <a:prstGeom prst="rect">
                <a:avLst/>
              </a:prstGeom>
              <a:blipFill>
                <a:blip r:embed="rId3"/>
                <a:stretch>
                  <a:fillRect l="-2321"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LỜI GIẢI</a:t>
                </a:r>
              </a:p>
              <a:p>
                <a:pPr marL="914400" lvl="1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𝟏𝟐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𝟏𝟑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𝟏𝟓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bù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4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3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3.1 ta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cũng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bảng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vi-V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1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848F70D-1598-4B6F-810B-A251ACDB4FD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3039791" y="5638800"/>
            <a:ext cx="10210800" cy="74493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054120-73B0-4427-BCE9-569879E0E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59" y="6553200"/>
            <a:ext cx="11307181" cy="6534949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8318802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2508" y="1831705"/>
                <a:ext cx="143740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Luyện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tập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3.6,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phụ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nhau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𝟗</m:t>
                    </m:r>
                    <m:sSup>
                      <m:sSup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𝒙𝑶𝑴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𝒙𝑶𝑵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𝟗</m:t>
                        </m:r>
                        <m:sSup>
                          <m:sSupPr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minh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rằng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𝑴𝑶𝑷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𝑵𝑶𝑸</m:t>
                    </m:r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nêu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mối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44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d>
                          <m:dPr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𝟗</m:t>
                            </m:r>
                            <m:sSup>
                              <m:sSupPr>
                                <m:ctrlPr>
                                  <a:rPr lang="vi-VN" sz="4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sup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𝒐</m:t>
                                </m:r>
                              </m:sup>
                            </m:s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:r>
                  <a:rPr lang="en-US" sz="4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LỜI GIẢI</a:t>
                </a:r>
              </a:p>
              <a:p>
                <a:pPr marL="0" indent="0">
                  <a:buNone/>
                </a:pP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𝒙𝑶𝑵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𝟗</m:t>
                    </m:r>
                    <m:sSup>
                      <m:sSup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⇒</m:t>
                    </m:r>
                    <m:acc>
                      <m:accPr>
                        <m:chr m:val="̂"/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𝑵𝑶𝑸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tam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giác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vuông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𝑴𝑶𝑷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𝑵𝑶𝑸</m:t>
                    </m:r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𝑶𝑴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𝑶𝑵</m:t>
                            </m:r>
                          </m:e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acc>
                              <m:accPr>
                                <m:chr m:val="̂"/>
                                <m:ctrlPr>
                                  <a:rPr lang="vi-VN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𝒙𝑶𝑴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̂"/>
                                <m:ctrlPr>
                                  <a:rPr lang="vi-VN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𝑵𝑶𝑸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eqArr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𝑴𝑶𝑷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𝑵𝑶𝑸</m:t>
                    </m:r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vi-VN" sz="4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44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4400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𝑶𝑷</m:t>
                    </m:r>
                    <m:r>
                      <a:rPr lang="en-US" sz="4400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𝑶𝑸</m:t>
                    </m:r>
                    <m:r>
                      <a:rPr lang="en-US" sz="4400" b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d>
                          <m:dPr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𝟗</m:t>
                            </m:r>
                            <m:sSup>
                              <m:sSupPr>
                                <m:ctrlPr>
                                  <a:rPr lang="vi-VN" sz="4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sup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𝒐</m:t>
                                </m:r>
                              </m:sup>
                            </m:s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endParaRPr lang="en-US" sz="4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d>
                          <m:dPr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  <m:t>𝟗</m:t>
                            </m:r>
                            <m:sSup>
                              <m:sSupPr>
                                <m:ctrlPr>
                                  <a:rPr lang="vi-VN" sz="4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sup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𝒐</m:t>
                                </m:r>
                              </m:sup>
                            </m:s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</m:e>
                    </m:fun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func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44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m:rPr>
                        <m:nor/>
                      </m:rPr>
                      <a:rPr lang="en-US" sz="4400" b="1" i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𝒐𝒔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  <m:sSup>
                          <m:sSupPr>
                            <m:ctrlPr>
                              <a:rPr lang="vi-VN" sz="4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44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m:rPr>
                        <m:nor/>
                      </m:rPr>
                      <a:rPr lang="en-US" sz="44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</m:t>
                    </m:r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𝒂𝒏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  <m:sSup>
                          <m:sSupPr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𝒄𝒐𝒕</m:t>
                    </m:r>
                    <m:r>
                      <a:rPr lang="en-US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≠</m:t>
                        </m:r>
                        <m:sSup>
                          <m:sSupPr>
                            <m:ctrlP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𝟗</m:t>
                        </m:r>
                        <m:sSup>
                          <m:sSupPr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  <m:t>𝟏𝟖𝟎</m:t>
                            </m:r>
                          </m:e>
                          <m:sup>
                            <m: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44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m:rPr>
                        <m:nor/>
                      </m:rPr>
                      <a:rPr lang="en-US" sz="4400" b="1" i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cot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 smtClean="0">
                                <a:latin typeface="Cambria Math" panose="02040503050406030204" pitchFamily="18" charset="0"/>
                              </a:rPr>
                              <m:t>𝟗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𝒐</m:t>
                            </m:r>
                          </m:sup>
                        </m:s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𝒕𝒂𝒏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vi-VN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≠</m:t>
                        </m:r>
                        <m:sSup>
                          <m:sSup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𝟗</m:t>
                        </m:r>
                        <m:sSup>
                          <m:sSupPr>
                            <m:ctrlPr>
                              <a:rPr lang="vi-VN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𝟏𝟖𝟎</m:t>
                            </m:r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vi-V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08" y="1831705"/>
                <a:ext cx="14374091" cy="11411749"/>
              </a:xfrm>
              <a:prstGeom prst="rect">
                <a:avLst/>
              </a:prstGeom>
              <a:blipFill>
                <a:blip r:embed="rId3"/>
                <a:stretch>
                  <a:fillRect l="-1696" t="-1547" r="-975" b="-373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4706599" y="1981200"/>
            <a:ext cx="9344892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CDAE73-F276-4715-88E7-2354431E1014}"/>
              </a:ext>
            </a:extLst>
          </p:cNvPr>
          <p:cNvGrpSpPr/>
          <p:nvPr/>
        </p:nvGrpSpPr>
        <p:grpSpPr>
          <a:xfrm>
            <a:off x="14706599" y="1066801"/>
            <a:ext cx="8763001" cy="8482812"/>
            <a:chOff x="13968844" y="1981200"/>
            <a:chExt cx="10415156" cy="807642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AF28000-3BB0-41AD-AB3F-255A03781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68844" y="1981200"/>
              <a:ext cx="10415156" cy="8076423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9D12308-9C39-427C-9BAC-0B3FDE0FCCD6}"/>
                </a:ext>
              </a:extLst>
            </p:cNvPr>
            <p:cNvSpPr/>
            <p:nvPr/>
          </p:nvSpPr>
          <p:spPr>
            <a:xfrm>
              <a:off x="23164800" y="2286000"/>
              <a:ext cx="1219200" cy="3429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9260CA6-8BE8-4E23-9A99-D7E365C31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25800" y="9296400"/>
            <a:ext cx="7311484" cy="3655742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300959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371600"/>
                <a:ext cx="14935200" cy="120213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44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Vận</a:t>
                </a:r>
                <a:r>
                  <a:rPr lang="en-US" sz="4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US" sz="44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chiếc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đu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kính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𝟕𝟓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tâm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 ở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𝟗𝟎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(H 3.7),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gian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hiện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đu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𝟑𝟎</m:t>
                    </m:r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phút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Nếu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người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cabin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thấp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vòng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quay,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phút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quay,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người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bao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nhiêu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mét</a:t>
                </a:r>
                <a:r>
                  <a:rPr lang="en-U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0" indent="0">
                  <a:buNone/>
                </a:pPr>
                <a:r>
                  <a:rPr lang="en-US" sz="4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71600"/>
                <a:ext cx="14935200" cy="12021349"/>
              </a:xfrm>
              <a:prstGeom prst="rect">
                <a:avLst/>
              </a:prstGeom>
              <a:blipFill>
                <a:blip r:embed="rId3"/>
                <a:stretch>
                  <a:fillRect l="-1631" t="-1469" r="-102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5864713" y="1390650"/>
            <a:ext cx="8186777" cy="1200229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GỢI Ý GIẢI</a:t>
            </a:r>
          </a:p>
          <a:p>
            <a:pPr marL="0" indent="0">
              <a:buNone/>
            </a:pP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Gắn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đu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quay ta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tròn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giác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2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dương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828800" lvl="2" indent="0">
              <a:buNone/>
            </a:pP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828800" lvl="2" indent="0">
              <a:buNone/>
            </a:pP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Đu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quay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quay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quay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2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ngồi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cabin ở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quay 20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phút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3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BBEC0D-CFCF-4219-927B-0E0C18F8A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257800"/>
            <a:ext cx="7568708" cy="77345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A06ED7-D462-4D01-ABA6-C6FD54493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2594" y="5244736"/>
            <a:ext cx="8719514" cy="7734532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8126880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1981200"/>
                <a:ext cx="16230598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Vận </a:t>
                </a:r>
                <a:r>
                  <a:rPr lang="en-US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TH1: ĐU QUAY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QUAY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CÙNG CHIỀU KIM ĐỒNG HỒ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 20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phút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 cabin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𝟐𝟎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𝟑𝟎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𝟑𝟔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𝟐𝟒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tức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𝑯𝑶𝑱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𝑯𝑱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func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𝑶𝑯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phút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quay,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người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𝟑𝟕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𝟗𝟎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𝟏𝟐𝟕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vi-V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TH2: ĐU QUAY </a:t>
                </a:r>
                <a:r>
                  <a:rPr lang="en-US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QUAY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NGƯỢC  CHIỀU KIM ĐỒNG HỒ</a:t>
                </a:r>
                <a:endParaRPr lang="vi-V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 20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phút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 cabin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𝟐𝟎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𝟑𝟎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𝟑𝟔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𝟐𝟒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tức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𝐊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xứng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𝐇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𝑶𝒚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𝐈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chiếu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𝐊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𝐎𝐱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𝐊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func>
                    <m:sSup>
                      <m:sSupPr>
                        <m:ctrlPr>
                          <a:rPr lang="vi-V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𝑶𝑲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sau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phút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quay,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người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𝟑𝟕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𝟗𝟎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𝟏𝟐𝟕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vi-V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vi-V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81200"/>
                <a:ext cx="16230598" cy="11411749"/>
              </a:xfrm>
              <a:prstGeom prst="rect">
                <a:avLst/>
              </a:prstGeom>
              <a:blipFill>
                <a:blip r:embed="rId3"/>
                <a:stretch>
                  <a:fillRect l="-1652" t="-1761" r="-7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6840199" y="1981200"/>
            <a:ext cx="7211291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marL="2743200" lvl="3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DBEB5D-913B-4809-BCE8-CE3D3BDAF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0200" y="1981200"/>
            <a:ext cx="7211291" cy="67818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943516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141341" y="7267712"/>
            <a:ext cx="23862374" cy="5716249"/>
            <a:chOff x="48567" y="4381500"/>
            <a:chExt cx="23018772" cy="5716248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5166763"/>
              <a:ext cx="22682027" cy="4930985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8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8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500"/>
              <a:ext cx="3941117" cy="1091512"/>
              <a:chOff x="410517" y="4648200"/>
              <a:chExt cx="3941117" cy="1091512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370261" y="3758339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305421" y="4889012"/>
                <a:ext cx="2872839" cy="80021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600" b="1" dirty="0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620483" y="5105400"/>
            <a:ext cx="23556178" cy="1234536"/>
            <a:chOff x="241306" y="2243792"/>
            <a:chExt cx="11778089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vi-VN" sz="5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 b="-16588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5400" b="1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blipFill>
                  <a:blip r:embed="rId4"/>
                  <a:stretch>
                    <a:fillRect b="-13744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vi-VN" sz="5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 b="-16588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5400" b="1" i="1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𝟎</m:t>
                      </m:r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 b="-13744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AF6DD6E-C69C-4024-A5BF-FE21EA5DD223}"/>
              </a:ext>
            </a:extLst>
          </p:cNvPr>
          <p:cNvSpPr/>
          <p:nvPr/>
        </p:nvSpPr>
        <p:spPr>
          <a:xfrm>
            <a:off x="6636465" y="5211650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endParaRPr lang="en-US" sz="64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141340" y="2590803"/>
            <a:ext cx="23943880" cy="2401467"/>
            <a:chOff x="923003" y="3917552"/>
            <a:chExt cx="23943880" cy="2401466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72211" y="4426857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  <a:endParaRPr lang="en-US" sz="4800" b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800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1</a:t>
                  </a:r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818C57C-1988-4D43-859D-82DC91340849}"/>
              </a:ext>
            </a:extLst>
          </p:cNvPr>
          <p:cNvGrpSpPr/>
          <p:nvPr/>
        </p:nvGrpSpPr>
        <p:grpSpPr>
          <a:xfrm>
            <a:off x="-72643" y="1572056"/>
            <a:ext cx="19656043" cy="830997"/>
            <a:chOff x="-288923" y="1892299"/>
            <a:chExt cx="19659598" cy="830996"/>
          </a:xfrm>
        </p:grpSpPr>
        <p:sp>
          <p:nvSpPr>
            <p:cNvPr id="26" name="Rounded Rectangle 2">
              <a:extLst>
                <a:ext uri="{FF2B5EF4-FFF2-40B4-BE49-F238E27FC236}">
                  <a16:creationId xmlns:a16="http://schemas.microsoft.com/office/drawing/2014/main" id="{0A9E6F3C-C9C6-4653-8688-729C6539C260}"/>
                </a:ext>
              </a:extLst>
            </p:cNvPr>
            <p:cNvSpPr/>
            <p:nvPr/>
          </p:nvSpPr>
          <p:spPr>
            <a:xfrm>
              <a:off x="-288923" y="2052547"/>
              <a:ext cx="2130429" cy="657125"/>
            </a:xfrm>
            <a:prstGeom prst="roundRect">
              <a:avLst/>
            </a:prstGeom>
            <a:solidFill>
              <a:srgbClr val="145F8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41A601-B9CB-4799-9262-795745D3C127}"/>
                </a:ext>
              </a:extLst>
            </p:cNvPr>
            <p:cNvSpPr txBox="1"/>
            <p:nvPr/>
          </p:nvSpPr>
          <p:spPr>
            <a:xfrm>
              <a:off x="1082674" y="1922269"/>
              <a:ext cx="184764" cy="7540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F08DB64-BC2D-418D-8BD5-391B8CF3BEA4}"/>
                </a:ext>
              </a:extLst>
            </p:cNvPr>
            <p:cNvSpPr txBox="1"/>
            <p:nvPr/>
          </p:nvSpPr>
          <p:spPr>
            <a:xfrm>
              <a:off x="2087562" y="1892299"/>
              <a:ext cx="17283113" cy="830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>
                  <a:solidFill>
                    <a:srgbClr val="145F82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BÀI TẬP TRẮC NGHIỆM CỦNG CỐ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1C65-8BD6-48B2-A424-E6F4B06755C4}"/>
                  </a:ext>
                </a:extLst>
              </p:cNvPr>
              <p:cNvSpPr txBox="1"/>
              <p:nvPr/>
            </p:nvSpPr>
            <p:spPr>
              <a:xfrm>
                <a:off x="2776428" y="9070248"/>
                <a:ext cx="20497442" cy="43047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8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bảng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đặc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biệt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dùng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MTCT ta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vi-VN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vi-VN" sz="4800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func>
                              <m:funcPr>
                                <m:ctrlPr>
                                  <a:rPr lang="vi-VN" sz="4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𝒄𝒐𝒔</m:t>
                                </m:r>
                              </m:fName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func>
                            <m:sSup>
                              <m:sSupPr>
                                <m:ctrlPr>
                                  <a:rPr lang="vi-VN" sz="4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sup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p>
                            </m:s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vi-VN" sz="480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vi-VN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func>
                              <m:funcPr>
                                <m:ctrlPr>
                                  <a:rPr lang="vi-VN" sz="48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</m:fName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func>
                            <m:sSup>
                              <m:sSupPr>
                                <m:ctrlPr>
                                  <a:rPr lang="vi-VN" sz="4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sup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p>
                            </m:s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vi-VN" sz="480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vi-VN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eqArr>
                      </m:e>
                    </m:d>
                    <m:r>
                      <a:rPr lang="en-US" sz="4800" b="1" i="1">
                        <a:latin typeface="Cambria Math" panose="02040503050406030204" pitchFamily="18" charset="0"/>
                      </a:rPr>
                      <m:t>⇒</m:t>
                    </m:r>
                    <m:func>
                      <m:funcPr>
                        <m:ctrlPr>
                          <a:rPr lang="vi-VN" sz="48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func>
                    <m:sSup>
                      <m:sSupPr>
                        <m:ctrlPr>
                          <a:rPr lang="vi-VN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US" sz="4800" b="1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vi-VN" sz="48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func>
                    <m:sSup>
                      <m:sSupPr>
                        <m:ctrlPr>
                          <a:rPr lang="vi-VN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vi-VN" sz="48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sz="48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vi-VN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8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1C65-8BD6-48B2-A424-E6F4B0675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428" y="9070248"/>
                <a:ext cx="20497442" cy="4304768"/>
              </a:xfrm>
              <a:prstGeom prst="rect">
                <a:avLst/>
              </a:prstGeom>
              <a:blipFill>
                <a:blip r:embed="rId8"/>
                <a:stretch>
                  <a:fillRect l="-1338" t="-325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069042" y="3191463"/>
                <a:ext cx="22204828" cy="12250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29920" indent="-629920" algn="just">
                  <a:lnSpc>
                    <a:spcPct val="150000"/>
                  </a:lnSpc>
                  <a:tabLst>
                    <a:tab pos="629920" algn="l"/>
                  </a:tabLst>
                </a:pPr>
                <a:r>
                  <a:rPr lang="en-US" sz="5400" b="1" dirty="0"/>
                  <a:t>Giá </a:t>
                </a:r>
                <a:r>
                  <a:rPr lang="en-US" sz="5400" b="1" dirty="0" err="1"/>
                  <a:t>trị</a:t>
                </a:r>
                <a:r>
                  <a:rPr lang="en-US" sz="5400" b="1" dirty="0"/>
                  <a:t> </a:t>
                </a:r>
                <a14:m>
                  <m:oMath xmlns:m="http://schemas.openxmlformats.org/officeDocument/2006/math">
                    <m:r>
                      <a:rPr lang="en-US" sz="5400" b="1" i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lang="en-US" sz="5400" b="1" i="1" smtClean="0">
                        <a:latin typeface="Cambria Math" panose="02040503050406030204" pitchFamily="18" charset="0"/>
                      </a:rPr>
                      <m:t>𝒐𝒔</m:t>
                    </m:r>
                    <m:sSup>
                      <m:sSupPr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US" sz="540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1" i="1" smtClean="0">
                            <a:latin typeface="Cambria Math" panose="02040503050406030204" pitchFamily="18" charset="0"/>
                          </a:rPr>
                          <m:t>𝒔𝒊𝒏</m:t>
                        </m:r>
                        <m:r>
                          <a:rPr lang="en-US" sz="5400" b="1" i="1" smtClean="0">
                            <a:latin typeface="Cambria Math" panose="02040503050406030204" pitchFamily="18" charset="0"/>
                          </a:rPr>
                          <m:t>𝟒𝟓</m:t>
                        </m:r>
                      </m:e>
                      <m:sup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sz="5400" b="1" dirty="0"/>
                  <a:t> </a:t>
                </a:r>
                <a:r>
                  <a:rPr lang="en-US" sz="5400" b="1" dirty="0" err="1"/>
                  <a:t>bằng</a:t>
                </a:r>
                <a:r>
                  <a:rPr lang="en-US" sz="5400" b="1" dirty="0"/>
                  <a:t> bao </a:t>
                </a:r>
                <a:r>
                  <a:rPr lang="en-US" sz="5400" b="1" dirty="0" err="1"/>
                  <a:t>nhiêu</a:t>
                </a:r>
                <a:r>
                  <a:rPr lang="en-US" sz="5400" b="1" dirty="0"/>
                  <a:t>?</a:t>
                </a:r>
                <a:endParaRPr lang="en-US" sz="5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042" y="3191463"/>
                <a:ext cx="22204828" cy="1225079"/>
              </a:xfrm>
              <a:prstGeom prst="rect">
                <a:avLst/>
              </a:prstGeom>
              <a:blipFill>
                <a:blip r:embed="rId9"/>
                <a:stretch>
                  <a:fillRect l="-1455" b="-305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73C3CF5C-1143-48B0-96F6-576266D875C3}"/>
              </a:ext>
            </a:extLst>
          </p:cNvPr>
          <p:cNvSpPr txBox="1"/>
          <p:nvPr/>
        </p:nvSpPr>
        <p:spPr>
          <a:xfrm>
            <a:off x="669002" y="1685889"/>
            <a:ext cx="982961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III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0512098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EB82AE6-AEC7-471B-B78A-1191782FE5EE}"/>
              </a:ext>
            </a:extLst>
          </p:cNvPr>
          <p:cNvGrpSpPr/>
          <p:nvPr/>
        </p:nvGrpSpPr>
        <p:grpSpPr>
          <a:xfrm>
            <a:off x="287528" y="8838809"/>
            <a:ext cx="23212642" cy="4496189"/>
            <a:chOff x="330207" y="4476134"/>
            <a:chExt cx="22737132" cy="4770314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8EC90793-DF17-4A07-A5D2-DB94D58C8AE3}"/>
                </a:ext>
              </a:extLst>
            </p:cNvPr>
            <p:cNvSpPr/>
            <p:nvPr/>
          </p:nvSpPr>
          <p:spPr>
            <a:xfrm>
              <a:off x="842663" y="5380826"/>
              <a:ext cx="22224676" cy="386562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8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8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562FFBD-FE77-4735-B718-FA3371130E3F}"/>
                </a:ext>
              </a:extLst>
            </p:cNvPr>
            <p:cNvGrpSpPr/>
            <p:nvPr/>
          </p:nvGrpSpPr>
          <p:grpSpPr>
            <a:xfrm>
              <a:off x="330207" y="4476134"/>
              <a:ext cx="3625881" cy="1277955"/>
              <a:chOff x="692157" y="4742834"/>
              <a:chExt cx="3625881" cy="1277955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3133C863-4078-4B8D-9552-4D4B3BE93052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327415" y="4003326"/>
                <a:ext cx="1069258" cy="2911989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546F6A-11D8-4A99-9EB4-C5D65E0A2719}"/>
                  </a:ext>
                </a:extLst>
              </p:cNvPr>
              <p:cNvSpPr txBox="1"/>
              <p:nvPr/>
            </p:nvSpPr>
            <p:spPr>
              <a:xfrm>
                <a:off x="1349307" y="4924691"/>
                <a:ext cx="2911990" cy="84900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600" b="1" dirty="0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F515284-21E0-44AF-AAEA-E1929AD346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692157" y="4742834"/>
                <a:ext cx="911113" cy="1277955"/>
              </a:xfrm>
              <a:prstGeom prst="round2DiagRect">
                <a:avLst>
                  <a:gd name="adj1" fmla="val 27632"/>
                  <a:gd name="adj2" fmla="val 2809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DA79702-BC73-45DD-8B0D-06F87A7F6834}"/>
              </a:ext>
            </a:extLst>
          </p:cNvPr>
          <p:cNvGrpSpPr/>
          <p:nvPr/>
        </p:nvGrpSpPr>
        <p:grpSpPr>
          <a:xfrm>
            <a:off x="460997" y="4564038"/>
            <a:ext cx="22999594" cy="1813669"/>
            <a:chOff x="241306" y="2152086"/>
            <a:chExt cx="11499797" cy="708974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B0C42A7-D65C-4CAC-9A0D-3A94CCB1A1A2}"/>
                    </a:ext>
                  </a:extLst>
                </p:cNvPr>
                <p:cNvSpPr/>
                <p:nvPr/>
              </p:nvSpPr>
              <p:spPr>
                <a:xfrm>
                  <a:off x="6637226" y="2152086"/>
                  <a:ext cx="5103877" cy="708974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prstClr val="white"/>
                      </a:solidFill>
                      <a:latin typeface="Calibri" panose="020F0502020204030204"/>
                    </a:rPr>
                    <a:t>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vi-VN" sz="5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5400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  <m:r>
                        <a:rPr lang="en-US" sz="5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vi-VN" sz="5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a14:m>
                  <a:r>
                    <a:rPr lang="fr-FR" sz="4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  <a:endParaRPr lang="en-US" sz="44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B0C42A7-D65C-4CAC-9A0D-3A94CCB1A1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7226" y="2152086"/>
                  <a:ext cx="5103877" cy="70897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74B8A5C-5EC7-4D8A-A650-84DAC943F49E}"/>
                </a:ext>
              </a:extLst>
            </p:cNvPr>
            <p:cNvSpPr/>
            <p:nvPr/>
          </p:nvSpPr>
          <p:spPr>
            <a:xfrm>
              <a:off x="6254178" y="2279571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3619AB8-54F6-481A-B57C-7747834DD824}"/>
                    </a:ext>
                  </a:extLst>
                </p:cNvPr>
                <p:cNvSpPr/>
                <p:nvPr/>
              </p:nvSpPr>
              <p:spPr>
                <a:xfrm>
                  <a:off x="531851" y="2152086"/>
                  <a:ext cx="5044541" cy="708974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func>
                        <m:funcPr>
                          <m:ctrlPr>
                            <a:rPr lang="vi-VN" sz="5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5400" b="1" i="1">
                              <a:latin typeface="Cambria Math" panose="02040503050406030204" pitchFamily="18" charset="0"/>
                            </a:rPr>
                            <m:t>𝒔𝒊𝒏</m:t>
                          </m:r>
                        </m:fName>
                        <m:e>
                          <m:r>
                            <a:rPr lang="en-US" sz="54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</m:func>
                      <m:r>
                        <a:rPr lang="en-US" sz="5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sz="5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vi-VN" sz="54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5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US" sz="5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fr-FR" sz="4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  <a:endParaRPr lang="en-US" sz="4400" b="1" dirty="0">
                    <a:solidFill>
                      <a:prstClr val="white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3619AB8-54F6-481A-B57C-7747834DD8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152086"/>
                  <a:ext cx="5044541" cy="70897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FD56429-64B0-4D11-A1D9-849C0D79D914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0A23201D-E5A4-467B-81F0-A1E932C61D5A}"/>
              </a:ext>
            </a:extLst>
          </p:cNvPr>
          <p:cNvSpPr/>
          <p:nvPr/>
        </p:nvSpPr>
        <p:spPr>
          <a:xfrm>
            <a:off x="12486740" y="4816934"/>
            <a:ext cx="1080000" cy="1381405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endParaRPr lang="en-US" sz="64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A230B1-3214-42A4-BF48-E31182151FA4}"/>
              </a:ext>
            </a:extLst>
          </p:cNvPr>
          <p:cNvGrpSpPr/>
          <p:nvPr/>
        </p:nvGrpSpPr>
        <p:grpSpPr>
          <a:xfrm>
            <a:off x="141340" y="1905000"/>
            <a:ext cx="23943880" cy="2506966"/>
            <a:chOff x="923003" y="3917552"/>
            <a:chExt cx="23943880" cy="2506965"/>
          </a:xfrm>
        </p:grpSpPr>
        <p:sp>
          <p:nvSpPr>
            <p:cNvPr id="15" name="Rounded Rectangle 41">
              <a:extLst>
                <a:ext uri="{FF2B5EF4-FFF2-40B4-BE49-F238E27FC236}">
                  <a16:creationId xmlns:a16="http://schemas.microsoft.com/office/drawing/2014/main" id="{8EE06E5B-F42B-4A33-B714-81E567F4D072}"/>
                </a:ext>
              </a:extLst>
            </p:cNvPr>
            <p:cNvSpPr/>
            <p:nvPr/>
          </p:nvSpPr>
          <p:spPr>
            <a:xfrm>
              <a:off x="1272211" y="4426857"/>
              <a:ext cx="23594672" cy="1997660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  <a:endParaRPr lang="en-US" sz="4800" b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93BF6-34C0-45F2-8FB7-B7F144687DAE}"/>
                </a:ext>
              </a:extLst>
            </p:cNvPr>
            <p:cNvGrpSpPr/>
            <p:nvPr/>
          </p:nvGrpSpPr>
          <p:grpSpPr>
            <a:xfrm>
              <a:off x="923003" y="3917552"/>
              <a:ext cx="4029041" cy="1040476"/>
              <a:chOff x="923003" y="3917552"/>
              <a:chExt cx="4029041" cy="1040476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45F444A-634F-41D3-8BAE-FDC1B3FD945C}"/>
                  </a:ext>
                </a:extLst>
              </p:cNvPr>
              <p:cNvGrpSpPr/>
              <p:nvPr/>
            </p:nvGrpSpPr>
            <p:grpSpPr>
              <a:xfrm>
                <a:off x="1448984" y="4075060"/>
                <a:ext cx="3503060" cy="882966"/>
                <a:chOff x="2115734" y="4437010"/>
                <a:chExt cx="3503060" cy="882966"/>
              </a:xfrm>
            </p:grpSpPr>
            <p:sp>
              <p:nvSpPr>
                <p:cNvPr id="19" name="Freeform 20">
                  <a:extLst>
                    <a:ext uri="{FF2B5EF4-FFF2-40B4-BE49-F238E27FC236}">
                      <a16:creationId xmlns:a16="http://schemas.microsoft.com/office/drawing/2014/main" id="{C202490D-5AF0-419F-9F35-52A4057497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425781" y="3126963"/>
                  <a:ext cx="882966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B483DCE-626C-42FE-8324-5C1C5BBDC4E1}"/>
                    </a:ext>
                  </a:extLst>
                </p:cNvPr>
                <p:cNvSpPr txBox="1"/>
                <p:nvPr/>
              </p:nvSpPr>
              <p:spPr>
                <a:xfrm>
                  <a:off x="2542254" y="4480056"/>
                  <a:ext cx="2895398" cy="800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2 </a:t>
                  </a:r>
                  <a:endParaRPr lang="en-US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74605736-4062-48B7-90A5-5915C724FB0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A1F8AF4-8999-4ECB-821A-877BA8BDFBD6}"/>
                  </a:ext>
                </a:extLst>
              </p:cNvPr>
              <p:cNvSpPr txBox="1"/>
              <p:nvPr/>
            </p:nvSpPr>
            <p:spPr>
              <a:xfrm>
                <a:off x="1540996" y="2815597"/>
                <a:ext cx="21919593" cy="850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Tam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ở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vi-VN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vi-VN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US" sz="48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Khẳng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  <a:endParaRPr lang="vi-VN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A1F8AF4-8999-4ECB-821A-877BA8BDF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996" y="2815597"/>
                <a:ext cx="21919593" cy="850939"/>
              </a:xfrm>
              <a:prstGeom prst="rect">
                <a:avLst/>
              </a:prstGeom>
              <a:blipFill>
                <a:blip r:embed="rId6"/>
                <a:stretch>
                  <a:fillRect l="-1279" t="-15108" r="-1029" b="-3669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2783BFEB-9740-48FE-B28E-C14846D0132C}"/>
              </a:ext>
            </a:extLst>
          </p:cNvPr>
          <p:cNvGrpSpPr/>
          <p:nvPr/>
        </p:nvGrpSpPr>
        <p:grpSpPr>
          <a:xfrm>
            <a:off x="487414" y="6734652"/>
            <a:ext cx="22973176" cy="1857145"/>
            <a:chOff x="6254178" y="2243792"/>
            <a:chExt cx="11486588" cy="635094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B1821F2-040F-4C1E-8FCA-A1688ADC3066}"/>
                    </a:ext>
                  </a:extLst>
                </p:cNvPr>
                <p:cNvSpPr/>
                <p:nvPr/>
              </p:nvSpPr>
              <p:spPr>
                <a:xfrm>
                  <a:off x="6524178" y="2243792"/>
                  <a:ext cx="5051876" cy="635094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𝒄𝒐𝒔</m:t>
                            </m:r>
                          </m:fName>
                          <m:e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</m:func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fr-FR" sz="5400" b="1">
                            <a:solidFill>
                              <a:prstClr val="white"/>
                            </a:solidFill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oMath>
                    </m:oMathPara>
                  </a14:m>
                  <a:endParaRPr lang="en-US" sz="5400" b="1" dirty="0">
                    <a:solidFill>
                      <a:prstClr val="white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B1821F2-040F-4C1E-8FCA-A1688ADC30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4178" y="2243792"/>
                  <a:ext cx="5051876" cy="63509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BC53347-A8CE-4D55-A636-9686BCF162F3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30667F9-116D-4633-ACCD-1123DFE5C4E3}"/>
                    </a:ext>
                  </a:extLst>
                </p:cNvPr>
                <p:cNvSpPr/>
                <p:nvPr/>
              </p:nvSpPr>
              <p:spPr>
                <a:xfrm>
                  <a:off x="12636889" y="2243792"/>
                  <a:ext cx="5103877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𝒔𝒊𝒏</m:t>
                            </m:r>
                          </m:fName>
                          <m:e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func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5400" b="1" dirty="0">
                    <a:solidFill>
                      <a:prstClr val="white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30667F9-116D-4633-ACCD-1123DFE5C4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6889" y="2243792"/>
                  <a:ext cx="5103877" cy="61726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6C226C6-5EFF-4660-AA38-79138F2EDB2B}"/>
                </a:ext>
              </a:extLst>
            </p:cNvPr>
            <p:cNvSpPr/>
            <p:nvPr/>
          </p:nvSpPr>
          <p:spPr>
            <a:xfrm>
              <a:off x="12236701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8439E4D-A79D-43E7-ACD0-D530140DAEC5}"/>
                  </a:ext>
                </a:extLst>
              </p:cNvPr>
              <p:cNvSpPr txBox="1"/>
              <p:nvPr/>
            </p:nvSpPr>
            <p:spPr>
              <a:xfrm>
                <a:off x="2160867" y="10018031"/>
                <a:ext cx="20701118" cy="3115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thiết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ra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en-US" sz="5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𝟔</m:t>
                    </m:r>
                    <m:sSup>
                      <m:sSupPr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US" sz="5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vi-VN" sz="5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tra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bảng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lượng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đặc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biệt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dùng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MTCT ta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func>
                    <m:r>
                      <a:rPr lang="en-US" sz="5400" b="1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func>
                    <m:sSup>
                      <m:sSupPr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US" sz="5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5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vi-VN" sz="5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8439E4D-A79D-43E7-ACD0-D530140DA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867" y="10018031"/>
                <a:ext cx="20701118" cy="3115405"/>
              </a:xfrm>
              <a:prstGeom prst="rect">
                <a:avLst/>
              </a:prstGeom>
              <a:blipFill>
                <a:blip r:embed="rId9"/>
                <a:stretch>
                  <a:fillRect l="-1561" t="-4892" b="-430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ounded Rectangle 3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3012744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4" grpId="0"/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0CE3C4-DAA7-4A0F-8E87-ED076F69185F}"/>
              </a:ext>
            </a:extLst>
          </p:cNvPr>
          <p:cNvGrpSpPr/>
          <p:nvPr/>
        </p:nvGrpSpPr>
        <p:grpSpPr>
          <a:xfrm>
            <a:off x="10930026" y="4188177"/>
            <a:ext cx="13184614" cy="1685784"/>
            <a:chOff x="10560251" y="4326907"/>
            <a:chExt cx="13184614" cy="1685784"/>
          </a:xfrm>
          <a:solidFill>
            <a:srgbClr val="398842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ED60405-6FE9-4B40-9417-CAE23C9ED837}"/>
                </a:ext>
              </a:extLst>
            </p:cNvPr>
            <p:cNvGrpSpPr/>
            <p:nvPr/>
          </p:nvGrpSpPr>
          <p:grpSpPr>
            <a:xfrm>
              <a:off x="10560251" y="4326907"/>
              <a:ext cx="13184614" cy="1685784"/>
              <a:chOff x="5308531" y="1918160"/>
              <a:chExt cx="6592307" cy="842892"/>
            </a:xfrm>
            <a:grpFill/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CA2B41E-3E96-4461-8538-9C0E545FB27A}"/>
                  </a:ext>
                </a:extLst>
              </p:cNvPr>
              <p:cNvSpPr/>
              <p:nvPr/>
            </p:nvSpPr>
            <p:spPr>
              <a:xfrm>
                <a:off x="5595929" y="1918160"/>
                <a:ext cx="3011578" cy="835899"/>
              </a:xfrm>
              <a:prstGeom prst="rect">
                <a:avLst/>
              </a:prstGeom>
              <a:grpFill/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4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F4C6AFC-ECFF-4896-A74E-0ABF4C0215BE}"/>
                  </a:ext>
                </a:extLst>
              </p:cNvPr>
              <p:cNvSpPr/>
              <p:nvPr/>
            </p:nvSpPr>
            <p:spPr>
              <a:xfrm>
                <a:off x="5308531" y="2028963"/>
                <a:ext cx="540000" cy="495995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</a:t>
                </a:r>
                <a:endParaRPr lang="en-US" sz="6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5B34D41-D978-4E56-B444-EE5A24E5A300}"/>
                  </a:ext>
                </a:extLst>
              </p:cNvPr>
              <p:cNvSpPr/>
              <p:nvPr/>
            </p:nvSpPr>
            <p:spPr>
              <a:xfrm>
                <a:off x="9016999" y="1925153"/>
                <a:ext cx="2883839" cy="835899"/>
              </a:xfrm>
              <a:prstGeom prst="rect">
                <a:avLst/>
              </a:prstGeom>
              <a:grpFill/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4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274D4B7-DB46-45A2-9BE8-FD4F6E5AA9BA}"/>
                  </a:ext>
                </a:extLst>
              </p:cNvPr>
              <p:cNvSpPr/>
              <p:nvPr/>
            </p:nvSpPr>
            <p:spPr>
              <a:xfrm>
                <a:off x="8794495" y="2073103"/>
                <a:ext cx="540000" cy="540000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</a:t>
                </a:r>
                <a:endParaRPr lang="en-US" sz="64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084E6AB-536A-4376-B134-DADD4F5BCF11}"/>
                    </a:ext>
                  </a:extLst>
                </p:cNvPr>
                <p:cNvSpPr/>
                <p:nvPr/>
              </p:nvSpPr>
              <p:spPr>
                <a:xfrm>
                  <a:off x="11782632" y="4552955"/>
                  <a:ext cx="5340055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vi-VN" sz="5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5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𝒕𝒂𝒏</m:t>
                            </m:r>
                          </m:fName>
                          <m:e>
                            <m:r>
                              <a:rPr lang="en-US" sz="5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func>
                        <m:r>
                          <a:rPr lang="en-US" sz="5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func>
                          <m:funcPr>
                            <m:ctrlPr>
                              <a:rPr lang="vi-VN" sz="5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5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𝒕𝒂𝒏</m:t>
                            </m:r>
                          </m:fName>
                          <m:e>
                            <m:r>
                              <a:rPr lang="en-US" sz="5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</m:func>
                      </m:oMath>
                    </m:oMathPara>
                  </a14:m>
                  <a:endParaRPr lang="en-US" sz="5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084E6AB-536A-4376-B134-DADD4F5BCF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82632" y="4552955"/>
                  <a:ext cx="5340055" cy="92333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AE03CC7A-63AE-496D-BA77-14300DB71895}"/>
                    </a:ext>
                  </a:extLst>
                </p:cNvPr>
                <p:cNvSpPr/>
                <p:nvPr/>
              </p:nvSpPr>
              <p:spPr>
                <a:xfrm>
                  <a:off x="18612179" y="4582843"/>
                  <a:ext cx="4557028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vi-VN" sz="5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𝑐𝑜𝑡</m:t>
                            </m:r>
                          </m:fName>
                          <m:e>
                            <m:r>
                              <a:rPr lang="en-US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func>
                        <m:r>
                          <a:rPr lang="en-US" sz="5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vi-VN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𝑐𝑜𝑡</m:t>
                            </m:r>
                          </m:fName>
                          <m:e>
                            <m:r>
                              <a:rPr lang="en-US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</m:oMath>
                    </m:oMathPara>
                  </a14:m>
                  <a:endParaRPr lang="en-US" sz="5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AE03CC7A-63AE-496D-BA77-14300DB718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12179" y="4582843"/>
                  <a:ext cx="4557028" cy="92333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ounded Rectangle 52">
            <a:extLst>
              <a:ext uri="{FF2B5EF4-FFF2-40B4-BE49-F238E27FC236}">
                <a16:creationId xmlns:a16="http://schemas.microsoft.com/office/drawing/2014/main" id="{FA8A8524-55A3-4DC1-AC61-514744DED919}"/>
              </a:ext>
            </a:extLst>
          </p:cNvPr>
          <p:cNvSpPr/>
          <p:nvPr/>
        </p:nvSpPr>
        <p:spPr>
          <a:xfrm>
            <a:off x="288688" y="7734060"/>
            <a:ext cx="23848520" cy="5423901"/>
          </a:xfrm>
          <a:prstGeom prst="roundRect">
            <a:avLst>
              <a:gd name="adj" fmla="val 2239"/>
            </a:avLst>
          </a:prstGeom>
          <a:solidFill>
            <a:srgbClr val="C9E2B8"/>
          </a:solidFill>
          <a:ln w="28575">
            <a:solidFill>
              <a:schemeClr val="accent3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b="1" dirty="0">
              <a:solidFill>
                <a:schemeClr val="tx1"/>
              </a:solidFill>
            </a:endParaRPr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5357AC78-711D-478D-ACB6-63856B9AEF4B}"/>
              </a:ext>
            </a:extLst>
          </p:cNvPr>
          <p:cNvGrpSpPr/>
          <p:nvPr/>
        </p:nvGrpSpPr>
        <p:grpSpPr>
          <a:xfrm>
            <a:off x="54374" y="7462298"/>
            <a:ext cx="3600000" cy="936000"/>
            <a:chOff x="444985" y="4706268"/>
            <a:chExt cx="3957472" cy="1037412"/>
          </a:xfrm>
          <a:solidFill>
            <a:srgbClr val="C9E2B8"/>
          </a:solidFill>
        </p:grpSpPr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71EB90B6-0FE8-4179-A425-76D3F5FD278D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2450119" y="3741843"/>
              <a:ext cx="908272" cy="2996405"/>
            </a:xfrm>
            <a:prstGeom prst="round1Rect">
              <a:avLst/>
            </a:prstGeom>
            <a:grpFill/>
            <a:ln w="57150">
              <a:solidFill>
                <a:schemeClr val="accent6">
                  <a:lumMod val="7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0C3FF307-8179-4A2B-82EF-0CAF4A8A7ECA}"/>
                </a:ext>
              </a:extLst>
            </p:cNvPr>
            <p:cNvSpPr txBox="1"/>
            <p:nvPr/>
          </p:nvSpPr>
          <p:spPr>
            <a:xfrm>
              <a:off x="1425342" y="4753497"/>
              <a:ext cx="2872840" cy="8869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4600" b="1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Bài giải</a:t>
              </a:r>
              <a:endParaRPr lang="en-US" sz="4600" b="1" dirty="0"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pic>
          <p:nvPicPr>
            <p:cNvPr id="14" name="Picture 8">
              <a:extLst>
                <a:ext uri="{FF2B5EF4-FFF2-40B4-BE49-F238E27FC236}">
                  <a16:creationId xmlns:a16="http://schemas.microsoft.com/office/drawing/2014/main" id="{7907171D-A66E-488E-B774-2D76551B21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50" t="14860" r="18922" b="25555"/>
            <a:stretch/>
          </p:blipFill>
          <p:spPr>
            <a:xfrm>
              <a:off x="444985" y="4706268"/>
              <a:ext cx="1058947" cy="1037412"/>
            </a:xfrm>
            <a:prstGeom prst="round2DiagRect">
              <a:avLst>
                <a:gd name="adj1" fmla="val 27632"/>
                <a:gd name="adj2" fmla="val 0"/>
              </a:avLst>
            </a:prstGeom>
            <a:grpFill/>
            <a:ln w="38100" cap="sq">
              <a:solidFill>
                <a:schemeClr val="accent6">
                  <a:lumMod val="50000"/>
                </a:schemeClr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D61C58AD-E142-4C48-96BC-E9109F55949F}"/>
              </a:ext>
            </a:extLst>
          </p:cNvPr>
          <p:cNvSpPr/>
          <p:nvPr/>
        </p:nvSpPr>
        <p:spPr>
          <a:xfrm>
            <a:off x="17921747" y="4444886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endParaRPr lang="en-US" sz="6400" dirty="0"/>
          </a:p>
        </p:txBody>
      </p:sp>
      <p:sp>
        <p:nvSpPr>
          <p:cNvPr id="16" name="Rounded Rectangle 41">
            <a:extLst>
              <a:ext uri="{FF2B5EF4-FFF2-40B4-BE49-F238E27FC236}">
                <a16:creationId xmlns:a16="http://schemas.microsoft.com/office/drawing/2014/main" id="{8CEB7639-8C37-429B-8642-89A2596E45BF}"/>
              </a:ext>
            </a:extLst>
          </p:cNvPr>
          <p:cNvSpPr/>
          <p:nvPr/>
        </p:nvSpPr>
        <p:spPr>
          <a:xfrm>
            <a:off x="310459" y="2371992"/>
            <a:ext cx="10357541" cy="4185488"/>
          </a:xfrm>
          <a:prstGeom prst="roundRect">
            <a:avLst>
              <a:gd name="adj" fmla="val 10158"/>
            </a:avLst>
          </a:prstGeom>
          <a:solidFill>
            <a:srgbClr val="FEEBB0"/>
          </a:solidFill>
          <a:ln w="12700">
            <a:solidFill>
              <a:srgbClr val="91720D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C6580-039C-483A-B732-1519BE679FD3}"/>
              </a:ext>
            </a:extLst>
          </p:cNvPr>
          <p:cNvGrpSpPr/>
          <p:nvPr/>
        </p:nvGrpSpPr>
        <p:grpSpPr>
          <a:xfrm>
            <a:off x="0" y="1917382"/>
            <a:ext cx="3656379" cy="847011"/>
            <a:chOff x="923003" y="3917552"/>
            <a:chExt cx="4003839" cy="106436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DE8E5AA-2865-469B-B774-A4C2380AE3FD}"/>
                </a:ext>
              </a:extLst>
            </p:cNvPr>
            <p:cNvGrpSpPr/>
            <p:nvPr/>
          </p:nvGrpSpPr>
          <p:grpSpPr>
            <a:xfrm>
              <a:off x="1362045" y="3976350"/>
              <a:ext cx="3564797" cy="1005567"/>
              <a:chOff x="2028795" y="4338300"/>
              <a:chExt cx="3564797" cy="10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3EA2DB46-FE90-4B71-AD74-95E7FBA35FB5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3364273" y="3082799"/>
                <a:ext cx="832104" cy="3503060"/>
              </a:xfrm>
              <a:prstGeom prst="round2SameRect">
                <a:avLst>
                  <a:gd name="adj1" fmla="val 19445"/>
                  <a:gd name="adj2" fmla="val 0"/>
                </a:avLst>
              </a:prstGeom>
              <a:solidFill>
                <a:srgbClr val="FFF9BC"/>
              </a:solidFill>
              <a:ln w="57150">
                <a:solidFill>
                  <a:srgbClr val="91720D"/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396E61-7359-474F-BCD6-96B28911FADE}"/>
                  </a:ext>
                </a:extLst>
              </p:cNvPr>
              <p:cNvSpPr txBox="1"/>
              <p:nvPr/>
            </p:nvSpPr>
            <p:spPr>
              <a:xfrm>
                <a:off x="2532513" y="4338300"/>
                <a:ext cx="3061079" cy="1005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6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Câu</a:t>
                </a:r>
                <a:r>
                  <a:rPr lang="en-US" sz="46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vi-VN" sz="46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3</a:t>
                </a:r>
                <a:endParaRPr lang="en-US" sz="46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77179F5-EF5F-4DF5-BB5A-FC6532B957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99" t="21515" r="9759" b="14519"/>
            <a:stretch/>
          </p:blipFill>
          <p:spPr>
            <a:xfrm>
              <a:off x="923003" y="3917552"/>
              <a:ext cx="1076356" cy="1040476"/>
            </a:xfrm>
            <a:prstGeom prst="round2DiagRect">
              <a:avLst>
                <a:gd name="adj1" fmla="val 30509"/>
                <a:gd name="adj2" fmla="val 0"/>
              </a:avLst>
            </a:prstGeom>
            <a:ln w="38100" cap="sq">
              <a:solidFill>
                <a:srgbClr val="91720D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D542EB-DA8F-4047-A893-7C264039979F}"/>
                  </a:ext>
                </a:extLst>
              </p:cNvPr>
              <p:cNvSpPr txBox="1"/>
              <p:nvPr/>
            </p:nvSpPr>
            <p:spPr>
              <a:xfrm>
                <a:off x="352737" y="2880430"/>
                <a:ext cx="10567199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14:m>
                  <m:oMath xmlns:m="http://schemas.openxmlformats.org/officeDocument/2006/math">
                    <m:r>
                      <a:rPr lang="en-US" sz="54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khác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bù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đẳng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đẳng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  <a:endParaRPr lang="vi-VN" sz="5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D542EB-DA8F-4047-A893-7C2640399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37" y="2880430"/>
                <a:ext cx="10567199" cy="3416320"/>
              </a:xfrm>
              <a:prstGeom prst="rect">
                <a:avLst/>
              </a:prstGeom>
              <a:blipFill>
                <a:blip r:embed="rId6"/>
                <a:stretch>
                  <a:fillRect l="-3116" t="-5357" r="-1789" b="-1000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5CF5B428-2AE5-4B2C-A905-444E83BBB4EE}"/>
              </a:ext>
            </a:extLst>
          </p:cNvPr>
          <p:cNvSpPr/>
          <p:nvPr/>
        </p:nvSpPr>
        <p:spPr>
          <a:xfrm>
            <a:off x="6211043" y="7641809"/>
            <a:ext cx="1219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4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635B31B-E94E-48B7-8C78-6190E091BEF6}"/>
                  </a:ext>
                </a:extLst>
              </p:cNvPr>
              <p:cNvSpPr/>
              <p:nvPr/>
            </p:nvSpPr>
            <p:spPr>
              <a:xfrm>
                <a:off x="2405688" y="9106878"/>
                <a:ext cx="20301911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bù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sin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còn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lại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đối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Do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 </a:t>
                </a:r>
                <a:r>
                  <a:rPr lang="en-US" sz="5400" b="1" dirty="0" err="1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sai</a:t>
                </a:r>
                <a:r>
                  <a:rPr lang="en-US" sz="5400" b="1" dirty="0">
                    <a:solidFill>
                      <a:schemeClr val="tx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endParaRPr lang="vi-VN" sz="5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635B31B-E94E-48B7-8C78-6190E091BE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688" y="9106878"/>
                <a:ext cx="20301911" cy="1754326"/>
              </a:xfrm>
              <a:prstGeom prst="rect">
                <a:avLst/>
              </a:prstGeom>
              <a:blipFill>
                <a:blip r:embed="rId7"/>
                <a:stretch>
                  <a:fillRect l="-1622" t="-10417" b="-20139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C303861E-6FA2-449C-B11E-80AFA514B3E4}"/>
              </a:ext>
            </a:extLst>
          </p:cNvPr>
          <p:cNvGrpSpPr/>
          <p:nvPr/>
        </p:nvGrpSpPr>
        <p:grpSpPr>
          <a:xfrm>
            <a:off x="10981264" y="1964173"/>
            <a:ext cx="13133374" cy="1802353"/>
            <a:chOff x="10981264" y="1964173"/>
            <a:chExt cx="13133374" cy="180235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50AE326-6CE8-425B-8406-EB1FD3BD3328}"/>
                </a:ext>
              </a:extLst>
            </p:cNvPr>
            <p:cNvSpPr/>
            <p:nvPr/>
          </p:nvSpPr>
          <p:spPr>
            <a:xfrm>
              <a:off x="18346961" y="1964173"/>
              <a:ext cx="5636099" cy="1798971"/>
            </a:xfrm>
            <a:prstGeom prst="rect">
              <a:avLst/>
            </a:prstGeom>
            <a:solidFill>
              <a:srgbClr val="398842"/>
            </a:solid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400" b="1"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7E3F1BF-BB23-4A94-B346-4B0B46509E3F}"/>
                </a:ext>
              </a:extLst>
            </p:cNvPr>
            <p:cNvSpPr/>
            <p:nvPr/>
          </p:nvSpPr>
          <p:spPr>
            <a:xfrm>
              <a:off x="17725006" y="2412548"/>
              <a:ext cx="1080000" cy="1080000"/>
            </a:xfrm>
            <a:prstGeom prst="ellipse">
              <a:avLst/>
            </a:prstGeom>
            <a:solidFill>
              <a:srgbClr val="327E3B"/>
            </a:solidFill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6400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D781D58-9BD1-4957-8ABB-AAA4E3A17A32}"/>
                </a:ext>
              </a:extLst>
            </p:cNvPr>
            <p:cNvSpPr/>
            <p:nvPr/>
          </p:nvSpPr>
          <p:spPr>
            <a:xfrm>
              <a:off x="11486983" y="2035302"/>
              <a:ext cx="6040995" cy="1731224"/>
            </a:xfrm>
            <a:prstGeom prst="rect">
              <a:avLst/>
            </a:prstGeom>
            <a:solidFill>
              <a:srgbClr val="398842"/>
            </a:solid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400" b="1"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D6F22D8-0DB0-4E1E-BD0C-F5C8809A0BF1}"/>
                </a:ext>
              </a:extLst>
            </p:cNvPr>
            <p:cNvSpPr/>
            <p:nvPr/>
          </p:nvSpPr>
          <p:spPr>
            <a:xfrm>
              <a:off x="10981264" y="2507135"/>
              <a:ext cx="1080000" cy="1080000"/>
            </a:xfrm>
            <a:prstGeom prst="ellipse">
              <a:avLst/>
            </a:prstGeom>
            <a:solidFill>
              <a:srgbClr val="327E3B"/>
            </a:solidFill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6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3C2C1509-6F71-4779-9A02-91AF3304F6A2}"/>
                    </a:ext>
                  </a:extLst>
                </p:cNvPr>
                <p:cNvSpPr/>
                <p:nvPr/>
              </p:nvSpPr>
              <p:spPr>
                <a:xfrm>
                  <a:off x="18779780" y="2361520"/>
                  <a:ext cx="5334858" cy="92333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vi-VN" sz="5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fName>
                          <m:e>
                            <m:r>
                              <a:rPr lang="en-US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func>
                        <m:r>
                          <a:rPr lang="en-US" sz="5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func>
                          <m:funcPr>
                            <m:ctrlPr>
                              <a:rPr lang="vi-VN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fName>
                          <m:e>
                            <m:r>
                              <a:rPr lang="en-US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  <m:r>
                          <a:rPr lang="en-US" sz="5400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5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3C2C1509-6F71-4779-9A02-91AF3304F6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79780" y="2361520"/>
                  <a:ext cx="5334858" cy="92333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45BE5CF-7A77-440A-B1C9-9B17FE2DE78E}"/>
                    </a:ext>
                  </a:extLst>
                </p:cNvPr>
                <p:cNvSpPr/>
                <p:nvPr/>
              </p:nvSpPr>
              <p:spPr>
                <a:xfrm>
                  <a:off x="12153004" y="2650074"/>
                  <a:ext cx="4555991" cy="9233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vi-VN" sz="5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fName>
                          <m:e>
                            <m:r>
                              <a:rPr lang="en-US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func>
                        <m:r>
                          <a:rPr lang="en-US" sz="5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vi-VN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fName>
                          <m:e>
                            <m:r>
                              <a:rPr lang="en-US" sz="5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func>
                        <m:r>
                          <a:rPr lang="en-US" sz="5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5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45BE5CF-7A77-440A-B1C9-9B17FE2DE7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53004" y="2650074"/>
                  <a:ext cx="4555991" cy="92333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Rounded Rectangle 4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7499213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6" grpId="0" animBg="1"/>
      <p:bldP spid="22" grpId="0"/>
      <p:bldP spid="2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52">
            <a:extLst>
              <a:ext uri="{FF2B5EF4-FFF2-40B4-BE49-F238E27FC236}">
                <a16:creationId xmlns:a16="http://schemas.microsoft.com/office/drawing/2014/main" id="{DCC27979-D4AD-4B18-9202-4CC05ADE6140}"/>
              </a:ext>
            </a:extLst>
          </p:cNvPr>
          <p:cNvSpPr/>
          <p:nvPr/>
        </p:nvSpPr>
        <p:spPr>
          <a:xfrm>
            <a:off x="685800" y="9597421"/>
            <a:ext cx="23430459" cy="3290842"/>
          </a:xfrm>
          <a:prstGeom prst="roundRect">
            <a:avLst>
              <a:gd name="adj" fmla="val 2239"/>
            </a:avLst>
          </a:prstGeom>
          <a:solidFill>
            <a:srgbClr val="C9E2B8"/>
          </a:solidFill>
          <a:ln w="28575">
            <a:solidFill>
              <a:schemeClr val="accent3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41">
            <a:extLst>
              <a:ext uri="{FF2B5EF4-FFF2-40B4-BE49-F238E27FC236}">
                <a16:creationId xmlns:a16="http://schemas.microsoft.com/office/drawing/2014/main" id="{1EE9DB2D-03C1-41AB-80C5-E202BAD352E6}"/>
              </a:ext>
            </a:extLst>
          </p:cNvPr>
          <p:cNvSpPr/>
          <p:nvPr/>
        </p:nvSpPr>
        <p:spPr>
          <a:xfrm>
            <a:off x="412861" y="2340687"/>
            <a:ext cx="23741053" cy="2361870"/>
          </a:xfrm>
          <a:prstGeom prst="roundRect">
            <a:avLst>
              <a:gd name="adj" fmla="val 10158"/>
            </a:avLst>
          </a:prstGeom>
          <a:solidFill>
            <a:srgbClr val="FEEBB0"/>
          </a:solidFill>
          <a:ln w="12700">
            <a:solidFill>
              <a:srgbClr val="91720D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2511CA-EC9C-43AA-812F-A872336F7AFE}"/>
              </a:ext>
            </a:extLst>
          </p:cNvPr>
          <p:cNvSpPr txBox="1"/>
          <p:nvPr/>
        </p:nvSpPr>
        <p:spPr>
          <a:xfrm>
            <a:off x="4171438" y="2317197"/>
            <a:ext cx="1798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8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AF67052-4A7E-45C4-B8EB-8D2E307D33AE}"/>
              </a:ext>
            </a:extLst>
          </p:cNvPr>
          <p:cNvGrpSpPr/>
          <p:nvPr/>
        </p:nvGrpSpPr>
        <p:grpSpPr>
          <a:xfrm>
            <a:off x="63654" y="1831381"/>
            <a:ext cx="3566188" cy="900000"/>
            <a:chOff x="923003" y="3917552"/>
            <a:chExt cx="4010763" cy="104047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B18F047-2FAF-46B3-94C1-7AD57ADBF470}"/>
                </a:ext>
              </a:extLst>
            </p:cNvPr>
            <p:cNvGrpSpPr/>
            <p:nvPr/>
          </p:nvGrpSpPr>
          <p:grpSpPr>
            <a:xfrm>
              <a:off x="1362045" y="3975229"/>
              <a:ext cx="3571721" cy="925121"/>
              <a:chOff x="2028795" y="4337179"/>
              <a:chExt cx="3571721" cy="925121"/>
            </a:xfrm>
          </p:grpSpPr>
          <p:sp>
            <p:nvSpPr>
              <p:cNvPr id="12" name="Freeform 20">
                <a:extLst>
                  <a:ext uri="{FF2B5EF4-FFF2-40B4-BE49-F238E27FC236}">
                    <a16:creationId xmlns:a16="http://schemas.microsoft.com/office/drawing/2014/main" id="{695B8396-3672-43A3-B7AB-8D6CBCE6CCC1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3364273" y="3082799"/>
                <a:ext cx="832104" cy="3503060"/>
              </a:xfrm>
              <a:prstGeom prst="round2SameRect">
                <a:avLst>
                  <a:gd name="adj1" fmla="val 19445"/>
                  <a:gd name="adj2" fmla="val 0"/>
                </a:avLst>
              </a:prstGeom>
              <a:solidFill>
                <a:srgbClr val="FFF9BC"/>
              </a:solidFill>
              <a:ln w="57150">
                <a:solidFill>
                  <a:srgbClr val="91720D"/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299C37-FE3F-4178-A950-7EF79F9DD01C}"/>
                  </a:ext>
                </a:extLst>
              </p:cNvPr>
              <p:cNvSpPr txBox="1"/>
              <p:nvPr/>
            </p:nvSpPr>
            <p:spPr>
              <a:xfrm>
                <a:off x="2539436" y="4337179"/>
                <a:ext cx="3061080" cy="925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6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</a:t>
                </a:r>
                <a:r>
                  <a:rPr lang="en-US" sz="46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âu</a:t>
                </a:r>
                <a:r>
                  <a:rPr lang="en-US" sz="46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</a:t>
                </a:r>
                <a:r>
                  <a:rPr lang="vi-VN" sz="46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4</a:t>
                </a:r>
                <a:endParaRPr lang="en-US" sz="46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7D4B5D5-D7E8-4C1C-B35A-DE0D284C50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99" t="21515" r="9759" b="14519"/>
            <a:stretch/>
          </p:blipFill>
          <p:spPr>
            <a:xfrm>
              <a:off x="923003" y="3917552"/>
              <a:ext cx="1076356" cy="1040476"/>
            </a:xfrm>
            <a:prstGeom prst="round2DiagRect">
              <a:avLst>
                <a:gd name="adj1" fmla="val 30509"/>
                <a:gd name="adj2" fmla="val 0"/>
              </a:avLst>
            </a:prstGeom>
            <a:ln w="38100" cap="sq">
              <a:solidFill>
                <a:srgbClr val="91720D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01578BF-372A-4785-A679-5DC6CD681501}"/>
              </a:ext>
            </a:extLst>
          </p:cNvPr>
          <p:cNvSpPr txBox="1"/>
          <p:nvPr/>
        </p:nvSpPr>
        <p:spPr>
          <a:xfrm>
            <a:off x="4062668" y="1997526"/>
            <a:ext cx="1798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8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12FF64-17F7-462C-BFA2-5F4F9DCE70BF}"/>
                  </a:ext>
                </a:extLst>
              </p:cNvPr>
              <p:cNvSpPr txBox="1"/>
              <p:nvPr/>
            </p:nvSpPr>
            <p:spPr>
              <a:xfrm>
                <a:off x="900111" y="2768723"/>
                <a:ext cx="23115180" cy="942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Chọn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ra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𝒄𝒐𝒔</m:t>
                            </m:r>
                          </m:e>
                          <m:sup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func>
                    <m:r>
                      <a:rPr lang="en-US" sz="5400" b="1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𝒔𝒊𝒏</m:t>
                            </m:r>
                          </m:e>
                          <m:sup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func>
                    <m:r>
                      <a:rPr lang="en-US" sz="5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54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12FF64-17F7-462C-BFA2-5F4F9DCE7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11" y="2768723"/>
                <a:ext cx="23115180" cy="942053"/>
              </a:xfrm>
              <a:prstGeom prst="rect">
                <a:avLst/>
              </a:prstGeom>
              <a:blipFill>
                <a:blip r:embed="rId4"/>
                <a:stretch>
                  <a:fillRect l="-1424" t="-17419" b="-3677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200640E6-CAB2-414F-8EFC-1EDBD4155B5C}"/>
              </a:ext>
            </a:extLst>
          </p:cNvPr>
          <p:cNvSpPr/>
          <p:nvPr/>
        </p:nvSpPr>
        <p:spPr>
          <a:xfrm>
            <a:off x="5899999" y="11131700"/>
            <a:ext cx="1219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4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8EDA8AF-9BE1-4E6A-B4BF-F535CF011672}"/>
                  </a:ext>
                </a:extLst>
              </p:cNvPr>
              <p:cNvSpPr/>
              <p:nvPr/>
            </p:nvSpPr>
            <p:spPr>
              <a:xfrm>
                <a:off x="1658886" y="9896478"/>
                <a:ext cx="22356405" cy="2444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biểu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𝒄𝒐𝒔</m:t>
                            </m:r>
                          </m:e>
                          <m:sup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func>
                    <m:r>
                      <a:rPr lang="en-US" sz="5400" b="1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𝒔𝒊𝒏</m:t>
                            </m:r>
                          </m:e>
                          <m:sup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func>
                    <m:r>
                      <a:rPr lang="en-US" sz="5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ra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𝒄𝒐𝒔</m:t>
                            </m:r>
                          </m:e>
                          <m:sup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num>
                          <m:den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den>
                        </m:f>
                      </m:e>
                    </m:func>
                    <m:r>
                      <a:rPr lang="en-US" sz="5400" b="1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𝒔𝒊𝒏</m:t>
                            </m:r>
                          </m:e>
                          <m:sup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num>
                          <m:den>
                            <m:r>
                              <a:rPr lang="en-US" sz="5400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den>
                        </m:f>
                      </m:e>
                    </m:func>
                    <m:r>
                      <a:rPr lang="en-US" sz="5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vi-VN" sz="5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sz="5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1" i="1">
                        <a:latin typeface="Cambria Math" panose="02040503050406030204" pitchFamily="18" charset="0"/>
                      </a:rPr>
                      <m:t>𝟓</m:t>
                    </m:r>
                    <m:d>
                      <m:dPr>
                        <m:ctrlPr>
                          <a:rPr lang="vi-VN" sz="5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vi-VN" sz="5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400" b="1" i="1">
                                    <a:latin typeface="Cambria Math" panose="02040503050406030204" pitchFamily="18" charset="0"/>
                                  </a:rPr>
                                  <m:t>𝒄𝒐𝒔</m:t>
                                </m:r>
                              </m:e>
                              <m:sup>
                                <m:r>
                                  <a:rPr lang="en-US" sz="54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fName>
                          <m:e>
                            <m:f>
                              <m:fPr>
                                <m:ctrlPr>
                                  <a:rPr lang="vi-VN" sz="540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5400" b="1" i="1"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sz="5400" b="1" i="1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den>
                            </m:f>
                          </m:e>
                        </m:func>
                        <m:r>
                          <a:rPr lang="en-US" sz="5400" b="1" i="1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vi-VN" sz="54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vi-VN" sz="5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400" b="1" i="1"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</m:e>
                              <m:sup>
                                <m:r>
                                  <a:rPr lang="en-US" sz="54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fName>
                          <m:e>
                            <m:f>
                              <m:fPr>
                                <m:ctrlPr>
                                  <a:rPr lang="vi-VN" sz="540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5400" b="1" i="1"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sz="5400" b="1" i="1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den>
                            </m:f>
                          </m:e>
                        </m:func>
                      </m:e>
                    </m:d>
                    <m:r>
                      <a:rPr lang="en-US" sz="5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5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vi-VN" sz="5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8EDA8AF-9BE1-4E6A-B4BF-F535CF0116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886" y="9896478"/>
                <a:ext cx="22356405" cy="2444195"/>
              </a:xfrm>
              <a:prstGeom prst="rect">
                <a:avLst/>
              </a:prstGeom>
              <a:blipFill>
                <a:blip r:embed="rId5"/>
                <a:stretch>
                  <a:fillRect l="-1445" t="-4239" b="-473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20A16348-1154-4338-94E5-D8CCE172F5DA}"/>
              </a:ext>
            </a:extLst>
          </p:cNvPr>
          <p:cNvGrpSpPr/>
          <p:nvPr/>
        </p:nvGrpSpPr>
        <p:grpSpPr>
          <a:xfrm>
            <a:off x="1786953" y="4618675"/>
            <a:ext cx="20768796" cy="1960068"/>
            <a:chOff x="1786953" y="4618675"/>
            <a:chExt cx="20694624" cy="196006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1862D89-6EB2-4A1A-BFB2-64C3B5AE4C94}"/>
                </a:ext>
              </a:extLst>
            </p:cNvPr>
            <p:cNvSpPr/>
            <p:nvPr/>
          </p:nvSpPr>
          <p:spPr>
            <a:xfrm>
              <a:off x="13243832" y="4751190"/>
              <a:ext cx="8543919" cy="1782507"/>
            </a:xfrm>
            <a:prstGeom prst="rect">
              <a:avLst/>
            </a:prstGeom>
            <a:solidFill>
              <a:srgbClr val="398842"/>
            </a:solid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400" b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25A06B6-2F6D-44E2-8696-166ED24625D7}"/>
                </a:ext>
              </a:extLst>
            </p:cNvPr>
            <p:cNvSpPr/>
            <p:nvPr/>
          </p:nvSpPr>
          <p:spPr>
            <a:xfrm>
              <a:off x="12724775" y="5085833"/>
              <a:ext cx="1080000" cy="1080000"/>
            </a:xfrm>
            <a:prstGeom prst="ellipse">
              <a:avLst/>
            </a:prstGeom>
            <a:solidFill>
              <a:srgbClr val="327E3B"/>
            </a:solidFill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6400" dirty="0">
                <a:solidFill>
                  <a:schemeClr val="bg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F37F6D1-FFD4-4619-8E34-F961D9B38C86}"/>
                </a:ext>
              </a:extLst>
            </p:cNvPr>
            <p:cNvSpPr/>
            <p:nvPr/>
          </p:nvSpPr>
          <p:spPr>
            <a:xfrm>
              <a:off x="2514600" y="4821067"/>
              <a:ext cx="7790086" cy="1757676"/>
            </a:xfrm>
            <a:prstGeom prst="rect">
              <a:avLst/>
            </a:prstGeom>
            <a:solidFill>
              <a:srgbClr val="398842"/>
            </a:solid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400" b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BA0AEC2-4D96-4382-9C52-61C937F98F57}"/>
                </a:ext>
              </a:extLst>
            </p:cNvPr>
            <p:cNvSpPr/>
            <p:nvPr/>
          </p:nvSpPr>
          <p:spPr>
            <a:xfrm>
              <a:off x="1786953" y="4998283"/>
              <a:ext cx="1080000" cy="1080000"/>
            </a:xfrm>
            <a:prstGeom prst="ellipse">
              <a:avLst/>
            </a:prstGeom>
            <a:solidFill>
              <a:srgbClr val="327E3B"/>
            </a:solidFill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6400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73D78514-1667-41CA-AF9C-6A39D8E047D0}"/>
                    </a:ext>
                  </a:extLst>
                </p:cNvPr>
                <p:cNvSpPr/>
                <p:nvPr/>
              </p:nvSpPr>
              <p:spPr>
                <a:xfrm>
                  <a:off x="13592268" y="4618675"/>
                  <a:ext cx="8889309" cy="165353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vi-VN" sz="5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vi-VN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𝒄𝒐𝒔</m:t>
                                </m:r>
                              </m:e>
                              <m:sup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fName>
                          <m:e>
                            <m:f>
                              <m:fPr>
                                <m:ctrlPr>
                                  <a:rPr lang="vi-VN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func>
                        <m:r>
                          <a:rPr lang="en-US" sz="5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vi-VN" sz="5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vi-VN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</m:e>
                              <m:sup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fName>
                          <m:e>
                            <m:f>
                              <m:fPr>
                                <m:ctrlPr>
                                  <a:rPr lang="vi-VN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func>
                        <m:r>
                          <a:rPr lang="en-US" sz="5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vi-VN" sz="5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5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5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  <m:r>
                          <a:rPr lang="en-US" sz="5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vi-VN" sz="5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73D78514-1667-41CA-AF9C-6A39D8E047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92268" y="4618675"/>
                  <a:ext cx="8889309" cy="16535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346CE882-D0E3-4DDA-A7CF-6531DFE005DB}"/>
                    </a:ext>
                  </a:extLst>
                </p:cNvPr>
                <p:cNvSpPr/>
                <p:nvPr/>
              </p:nvSpPr>
              <p:spPr>
                <a:xfrm>
                  <a:off x="1828103" y="4714211"/>
                  <a:ext cx="9184815" cy="164814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vi-VN" sz="5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vi-VN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𝒄𝒐𝒔</m:t>
                                </m:r>
                              </m:e>
                              <m:sup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fName>
                          <m:e>
                            <m:f>
                              <m:fPr>
                                <m:ctrlPr>
                                  <a:rPr lang="vi-VN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func>
                        <m:r>
                          <a:rPr lang="en-US" sz="5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vi-VN" sz="5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vi-VN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𝒔𝒊𝒏</m:t>
                                </m:r>
                              </m:e>
                              <m:sup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fName>
                          <m:e>
                            <m:f>
                              <m:fPr>
                                <m:ctrlPr>
                                  <a:rPr lang="vi-VN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</m:num>
                              <m:den>
                                <m:r>
                                  <a:rPr lang="en-US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func>
                        <m:r>
                          <a:rPr lang="en-US" sz="5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vi-VN" sz="5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5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5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sz="5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5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346CE882-D0E3-4DDA-A7CF-6531DFE005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8103" y="4714211"/>
                  <a:ext cx="9184815" cy="164814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43F7CDD-7D9F-4C3F-9D68-2A20DEBC3227}"/>
              </a:ext>
            </a:extLst>
          </p:cNvPr>
          <p:cNvGrpSpPr/>
          <p:nvPr/>
        </p:nvGrpSpPr>
        <p:grpSpPr>
          <a:xfrm>
            <a:off x="1828103" y="6593878"/>
            <a:ext cx="20949315" cy="1963128"/>
            <a:chOff x="1811024" y="6593048"/>
            <a:chExt cx="20949315" cy="196312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1D7DADB-BE36-4204-931C-8110B22DA0AA}"/>
                </a:ext>
              </a:extLst>
            </p:cNvPr>
            <p:cNvGrpSpPr/>
            <p:nvPr/>
          </p:nvGrpSpPr>
          <p:grpSpPr>
            <a:xfrm>
              <a:off x="1811024" y="6593048"/>
              <a:ext cx="20031333" cy="1963128"/>
              <a:chOff x="12451545" y="4630811"/>
              <a:chExt cx="22275164" cy="1963128"/>
            </a:xfrm>
            <a:solidFill>
              <a:srgbClr val="398842"/>
            </a:solidFill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4EB06DF-D58E-4145-BAD8-03C9AFBE6695}"/>
                  </a:ext>
                </a:extLst>
              </p:cNvPr>
              <p:cNvGrpSpPr/>
              <p:nvPr/>
            </p:nvGrpSpPr>
            <p:grpSpPr>
              <a:xfrm>
                <a:off x="12451545" y="4630811"/>
                <a:ext cx="22275164" cy="1963128"/>
                <a:chOff x="6254178" y="2070112"/>
                <a:chExt cx="11137582" cy="981564"/>
              </a:xfrm>
              <a:grpFill/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D6DE1C1-9116-4184-8D57-815734DAE58F}"/>
                    </a:ext>
                  </a:extLst>
                </p:cNvPr>
                <p:cNvSpPr/>
                <p:nvPr/>
              </p:nvSpPr>
              <p:spPr>
                <a:xfrm>
                  <a:off x="6627003" y="2114588"/>
                  <a:ext cx="4340223" cy="93708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400" b="1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9BC3F5A4-FB37-4325-8AAB-0DB7F9533BAF}"/>
                    </a:ext>
                  </a:extLst>
                </p:cNvPr>
                <p:cNvSpPr/>
                <p:nvPr/>
              </p:nvSpPr>
              <p:spPr>
                <a:xfrm>
                  <a:off x="6254178" y="2303047"/>
                  <a:ext cx="540000" cy="540000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6400" b="1" dirty="0">
                      <a:solidFill>
                        <a:schemeClr val="bg1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</a:t>
                  </a:r>
                  <a:endParaRPr lang="en-US" sz="64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EC2A730D-57B9-45AC-9850-1171FEA630B0}"/>
                    </a:ext>
                  </a:extLst>
                </p:cNvPr>
                <p:cNvSpPr/>
                <p:nvPr/>
              </p:nvSpPr>
              <p:spPr>
                <a:xfrm>
                  <a:off x="12628336" y="2070112"/>
                  <a:ext cx="4763424" cy="923737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6EE53F41-6875-484D-9B85-5F8D176B24D7}"/>
                    </a:ext>
                  </a:extLst>
                </p:cNvPr>
                <p:cNvSpPr/>
                <p:nvPr/>
              </p:nvSpPr>
              <p:spPr>
                <a:xfrm>
                  <a:off x="12311085" y="2215870"/>
                  <a:ext cx="540000" cy="540000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6400" b="1" dirty="0">
                      <a:solidFill>
                        <a:schemeClr val="bg1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D</a:t>
                  </a:r>
                  <a:endParaRPr lang="en-US" sz="6400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FDA49201-BC11-4385-B8A0-4609732409E5}"/>
                      </a:ext>
                    </a:extLst>
                  </p:cNvPr>
                  <p:cNvSpPr/>
                  <p:nvPr/>
                </p:nvSpPr>
                <p:spPr>
                  <a:xfrm>
                    <a:off x="13323291" y="4730643"/>
                    <a:ext cx="8662700" cy="164814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lv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lang="vi-VN" sz="5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vi-VN" sz="5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</m:e>
                                <m:sup>
                                  <m:r>
                                    <a:rPr lang="en-US" sz="5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f>
                                <m:fPr>
                                  <m:ctrlPr>
                                    <a:rPr lang="vi-VN" sz="5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5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num>
                                <m:den>
                                  <m:r>
                                    <a:rPr lang="en-US" sz="5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</m:e>
                          </m:func>
                          <m:r>
                            <a:rPr lang="en-US" sz="5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vi-VN" sz="5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vi-VN" sz="5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𝒔𝒊𝒏</m:t>
                                  </m:r>
                                </m:e>
                                <m:sup>
                                  <m:r>
                                    <a:rPr lang="en-US" sz="5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f>
                                <m:fPr>
                                  <m:ctrlPr>
                                    <a:rPr lang="vi-VN" sz="5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5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𝜶</m:t>
                                  </m:r>
                                </m:num>
                                <m:den>
                                  <m:r>
                                    <a:rPr lang="en-US" sz="5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</m:e>
                          </m:func>
                          <m:r>
                            <a:rPr lang="en-US" sz="5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vi-VN" sz="5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5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5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den>
                          </m:f>
                          <m:r>
                            <a:rPr lang="en-US" sz="5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oMath>
                      </m:oMathPara>
                    </a14:m>
                    <a:endParaRPr lang="en-US" sz="5400" b="1" dirty="0">
                      <a:solidFill>
                        <a:schemeClr val="bg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FDA49201-BC11-4385-B8A0-4609732409E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323291" y="4730643"/>
                    <a:ext cx="8662700" cy="164814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vi-V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7790318-C636-472D-9554-4D37910F2CEF}"/>
                    </a:ext>
                  </a:extLst>
                </p:cNvPr>
                <p:cNvSpPr/>
                <p:nvPr/>
              </p:nvSpPr>
              <p:spPr>
                <a:xfrm>
                  <a:off x="12762815" y="6810435"/>
                  <a:ext cx="9997524" cy="151528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vi-VN" sz="5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d>
                          <m:dPr>
                            <m:ctrlPr>
                              <a:rPr lang="vi-VN" sz="5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vi-VN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vi-VN" sz="54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vi-VN" sz="54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𝒄𝒐𝒔</m:t>
                                    </m:r>
                                  </m:e>
                                  <m:sup>
                                    <m:r>
                                      <a:rPr lang="vi-VN" sz="5400" b="1" i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fName>
                              <m:e>
                                <m:f>
                                  <m:fPr>
                                    <m:ctrlPr>
                                      <a:rPr lang="vi-VN" sz="54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vi-VN" sz="54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</m:num>
                                  <m:den>
                                    <m:r>
                                      <a:rPr lang="vi-VN" sz="5400" b="1" i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e>
                            </m:func>
                            <m:r>
                              <a:rPr lang="vi-VN" sz="54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vi-VN" sz="5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vi-VN" sz="54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vi-VN" sz="54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𝒔𝒊𝒏</m:t>
                                    </m:r>
                                  </m:e>
                                  <m:sup>
                                    <m:r>
                                      <a:rPr lang="vi-VN" sz="5400" b="1" i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fName>
                              <m:e>
                                <m:f>
                                  <m:fPr>
                                    <m:ctrlPr>
                                      <a:rPr lang="vi-VN" sz="54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vi-VN" sz="54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</m:num>
                                  <m:den>
                                    <m:r>
                                      <a:rPr lang="vi-VN" sz="5400" b="1" i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e>
                            </m:func>
                          </m:e>
                        </m:d>
                        <m:r>
                          <a:rPr lang="vi-VN" sz="5400" b="1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vi-VN" sz="5400" b="1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vi-VN" sz="5400" b="1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vi-VN" sz="54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7790318-C636-472D-9554-4D37910F2C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62815" y="6810435"/>
                  <a:ext cx="9997524" cy="15152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36A398E4-9025-4E82-B8B6-D0A772F3A1A1}"/>
              </a:ext>
            </a:extLst>
          </p:cNvPr>
          <p:cNvSpPr/>
          <p:nvPr/>
        </p:nvSpPr>
        <p:spPr>
          <a:xfrm>
            <a:off x="12748776" y="6908119"/>
            <a:ext cx="967224" cy="985872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endParaRPr lang="en-US" sz="640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D0E47E-00AD-44F7-A49D-C16E2ACC5F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0579" y="8749835"/>
            <a:ext cx="3920068" cy="1524132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III   ·   BÀI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2431182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/>
      <p:bldP spid="18" grpId="0"/>
      <p:bldP spid="4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0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74&quot;/&gt;&lt;/object&gt;&lt;object type=&quot;3&quot; unique_id=&quot;10016&quot;&gt;&lt;property id=&quot;20148&quot; value=&quot;5&quot;/&gt;&lt;property id=&quot;20300&quot; value=&quot;Slide 14&quot;/&gt;&lt;property id=&quot;20307&quot; value=&quot;275&quot;/&gt;&lt;/object&gt;&lt;object type=&quot;3&quot; unique_id=&quot;10017&quot;&gt;&lt;property id=&quot;20148&quot; value=&quot;5&quot;/&gt;&lt;property id=&quot;20300&quot; value=&quot;Slide 15&quot;/&gt;&lt;property id=&quot;20307&quot; value=&quot;276&quot;/&gt;&lt;/object&gt;&lt;object type=&quot;3&quot; unique_id=&quot;10018&quot;&gt;&lt;property id=&quot;20148&quot; value=&quot;5&quot;/&gt;&lt;property id=&quot;20300&quot; value=&quot;Slide 16&quot;/&gt;&lt;property id=&quot;20307&quot; value=&quot;277&quot;/&gt;&lt;/object&gt;&lt;object type=&quot;3&quot; unique_id=&quot;10019&quot;&gt;&lt;property id=&quot;20148&quot; value=&quot;5&quot;/&gt;&lt;property id=&quot;20300&quot; value=&quot;Slide 17&quot;/&gt;&lt;property id=&quot;20307&quot; value=&quot;271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72&quot;/&gt;&lt;/object&gt;&lt;object type=&quot;3&quot; unique_id=&quot;10023&quot;&gt;&lt;property id=&quot;20148&quot; value=&quot;5&quot;/&gt;&lt;property id=&quot;20300&quot; value=&quot;Slide 21&quot;/&gt;&lt;property id=&quot;20307&quot; value=&quot;273&quot;/&gt;&lt;/object&gt;&lt;object type=&quot;3&quot; unique_id=&quot;10024&quot;&gt;&lt;property id=&quot;20148&quot; value=&quot;5&quot;/&gt;&lt;property id=&quot;20300&quot; value=&quot;Slide 22&quot;/&gt;&lt;property id=&quot;20307&quot; value=&quot;268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/object&gt;&lt;object type=&quot;8&quot; unique_id=&quot;1005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3565</TotalTime>
  <Words>2433</Words>
  <Application>Microsoft Office PowerPoint</Application>
  <PresentationFormat>Custom</PresentationFormat>
  <Paragraphs>329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Yu Gothic UI Semilight</vt:lpstr>
      <vt:lpstr>Arial</vt:lpstr>
      <vt:lpstr>Bahnschrift SemiBold SemiConden</vt:lpstr>
      <vt:lpstr>Calibri</vt:lpstr>
      <vt:lpstr>Cambria Math</vt:lpstr>
      <vt:lpstr>Symbol</vt:lpstr>
      <vt:lpstr>Tahoma</vt:lpstr>
      <vt:lpstr>Times New Roman</vt:lpstr>
      <vt:lpstr>Tomaho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9Slide.vn</dc:subject>
  <dc:creator>BINH</dc:creator>
  <dc:description>9Slide.vn</dc:description>
  <cp:lastModifiedBy>Luông Trương</cp:lastModifiedBy>
  <cp:revision>375</cp:revision>
  <dcterms:created xsi:type="dcterms:W3CDTF">2013-08-31T11:42:51Z</dcterms:created>
  <dcterms:modified xsi:type="dcterms:W3CDTF">2026-07-17T14:00:26Z</dcterms:modified>
  <cp:category>9Slide.vn</cp:category>
</cp:coreProperties>
</file>