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29"/>
  </p:notesMasterIdLst>
  <p:sldIdLst>
    <p:sldId id="313" r:id="rId3"/>
    <p:sldId id="301" r:id="rId4"/>
    <p:sldId id="340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21" r:id="rId13"/>
    <p:sldId id="339" r:id="rId14"/>
    <p:sldId id="315" r:id="rId15"/>
    <p:sldId id="331" r:id="rId16"/>
    <p:sldId id="316" r:id="rId17"/>
    <p:sldId id="317" r:id="rId18"/>
    <p:sldId id="318" r:id="rId19"/>
    <p:sldId id="319" r:id="rId20"/>
    <p:sldId id="320" r:id="rId21"/>
    <p:sldId id="322" r:id="rId22"/>
    <p:sldId id="323" r:id="rId23"/>
    <p:sldId id="324" r:id="rId24"/>
    <p:sldId id="325" r:id="rId25"/>
    <p:sldId id="326" r:id="rId26"/>
    <p:sldId id="327" r:id="rId27"/>
    <p:sldId id="329" r:id="rId28"/>
  </p:sldIdLst>
  <p:sldSz cx="24384000" cy="13716000"/>
  <p:notesSz cx="6858000" cy="9144000"/>
  <p:custDataLst>
    <p:tags r:id="rId30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7FF"/>
    <a:srgbClr val="D6F7FE"/>
    <a:srgbClr val="EEF7E9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210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87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8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56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0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13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81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04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04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96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03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9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47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81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46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43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1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74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86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919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emf"/><Relationship Id="rId4" Type="http://schemas.openxmlformats.org/officeDocument/2006/relationships/image" Target="../media/image9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8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0.png"/><Relationship Id="rId4" Type="http://schemas.openxmlformats.org/officeDocument/2006/relationships/image" Target="../media/image100.png"/><Relationship Id="rId5" Type="http://schemas.openxmlformats.org/officeDocument/2006/relationships/image" Target="../media/image1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0.png"/><Relationship Id="rId4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0.png"/><Relationship Id="rId4" Type="http://schemas.openxmlformats.org/officeDocument/2006/relationships/image" Target="../media/image1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0.png"/><Relationship Id="rId4" Type="http://schemas.openxmlformats.org/officeDocument/2006/relationships/image" Target="../media/image18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0.png"/><Relationship Id="rId4" Type="http://schemas.openxmlformats.org/officeDocument/2006/relationships/image" Target="../media/image200.png"/><Relationship Id="rId5" Type="http://schemas.openxmlformats.org/officeDocument/2006/relationships/image" Target="../media/image210.png"/><Relationship Id="rId6" Type="http://schemas.openxmlformats.org/officeDocument/2006/relationships/image" Target="../media/image220.png"/><Relationship Id="rId7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0"/>
              <a:ext cx="10807999" cy="1833212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1222787" y="4107703"/>
              <a:ext cx="12344400" cy="891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§15.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Hàm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§16.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Hàm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bậc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§17.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Dấu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tam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thức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bậc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§18.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quy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về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bậc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Ôn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cuối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VI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51250" y="2428363"/>
              <a:ext cx="102863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 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I. 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HÀM SỐ - ĐỒ THỊ VÀ ỨNG DỤNG</a:t>
              </a:r>
              <a:endParaRPr lang="vi-V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028AE48-366D-498C-93F9-5A0342CE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5" y="1820883"/>
            <a:ext cx="9220415" cy="1150021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90598" y="1809814"/>
            <a:ext cx="22808130" cy="11677586"/>
            <a:chOff x="1447797" y="1793810"/>
            <a:chExt cx="22808130" cy="1167758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7" y="1793810"/>
              <a:ext cx="22808130" cy="11677586"/>
              <a:chOff x="1447797" y="1793810"/>
              <a:chExt cx="22808130" cy="11677586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793810"/>
                <a:ext cx="15412403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597662" y="1953929"/>
                <a:ext cx="1492950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CHƯƠNG </a:t>
                </a:r>
                <a:r>
                  <a:rPr lang="en-US" sz="4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vi-VN" sz="4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 </a:t>
                </a:r>
                <a:r>
                  <a:rPr lang="en-US" sz="4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SỐ - ĐỒ THỊ VÀ ỨNG DỤNG</a:t>
                </a:r>
                <a:endParaRPr lang="vi-VN" sz="4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800" y="5264647"/>
                <a:ext cx="10689885" cy="907184"/>
                <a:chOff x="7459670" y="7086600"/>
                <a:chExt cx="10691124" cy="907289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92456" y="7178187"/>
                  <a:ext cx="9058338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7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DẤU CỦA TAM THỨC BẬC HAI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7688759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5" y="7626599"/>
                <a:ext cx="10420582" cy="1331100"/>
                <a:chOff x="7459670" y="7336929"/>
                <a:chExt cx="10421779" cy="1331254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092456" y="7336929"/>
                  <a:ext cx="8788993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BẤT PHƯƠNG TRÌNH BẬC HAI</a:t>
                  </a: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0" y="7364094"/>
                  <a:ext cx="1392615" cy="1304089"/>
                  <a:chOff x="7459669" y="6383399"/>
                  <a:chExt cx="1381118" cy="1304089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69187" y="6383399"/>
                    <a:ext cx="1371600" cy="734405"/>
                    <a:chOff x="7469187" y="6383399"/>
                    <a:chExt cx="1371600" cy="734405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789227" y="6063359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58806" y="6409837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p:txBody>
                </p:sp>
              </p:grpSp>
            </p:grpSp>
          </p:grpSp>
          <p:grpSp>
            <p:nvGrpSpPr>
              <p:cNvPr id="83" name="Group 44"/>
              <p:cNvGrpSpPr/>
              <p:nvPr/>
            </p:nvGrpSpPr>
            <p:grpSpPr>
              <a:xfrm>
                <a:off x="1447797" y="11125197"/>
                <a:ext cx="1014914" cy="852829"/>
                <a:chOff x="7459669" y="7543800"/>
                <a:chExt cx="1006652" cy="852928"/>
              </a:xfrm>
            </p:grpSpPr>
            <p:sp>
              <p:nvSpPr>
                <p:cNvPr id="84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7958808" y="7688760"/>
                  <a:ext cx="507513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4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grpSp>
            <p:nvGrpSpPr>
              <p:cNvPr id="47" name="Group 67"/>
              <p:cNvGrpSpPr/>
              <p:nvPr/>
            </p:nvGrpSpPr>
            <p:grpSpPr>
              <a:xfrm>
                <a:off x="1447797" y="9982200"/>
                <a:ext cx="4121464" cy="956919"/>
                <a:chOff x="7459670" y="8524495"/>
                <a:chExt cx="5328716" cy="957029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9" y="8665822"/>
                  <a:ext cx="3258467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BÀI TẬP</a:t>
                  </a: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8524495"/>
                  <a:ext cx="1800329" cy="929883"/>
                  <a:chOff x="7459669" y="7543800"/>
                  <a:chExt cx="1785466" cy="929883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89" y="7685126"/>
                    <a:ext cx="1775946" cy="788557"/>
                    <a:chOff x="7469189" y="7685126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3" y="7191432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0" y="7725421"/>
                      <a:ext cx="656097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65" name="Isosceles Triangle 44"/>
              <p:cNvSpPr/>
              <p:nvPr/>
            </p:nvSpPr>
            <p:spPr>
              <a:xfrm rot="16200000">
                <a:off x="1458749" y="12246881"/>
                <a:ext cx="143671" cy="165569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7279296" y="3347059"/>
            <a:ext cx="13828104" cy="1275969"/>
            <a:chOff x="71819" y="108752"/>
            <a:chExt cx="6395438" cy="87248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1236809" y="245789"/>
              <a:ext cx="4239341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dirty="0">
                  <a:solidFill>
                    <a:srgbClr val="FCFFE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DẤU CỦA TAM THỨC BẬC HAI</a:t>
              </a:r>
              <a:endPara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366091" y="108752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6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17</a:t>
              </a:r>
              <a:endPara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7494181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Thuật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ngữ</a:t>
            </a:r>
            <a:endParaRPr lang="en-US" dirty="0">
              <a:solidFill>
                <a:srgbClr val="FF0000"/>
              </a:solidFill>
            </a:endParaRPr>
          </a:p>
          <a:p>
            <a:pPr lvl="0"/>
            <a:r>
              <a:rPr lang="en-US" dirty="0"/>
              <a:t>Tam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  <a:p>
            <a:pPr lvl="0"/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tam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  <a:p>
            <a:pPr lvl="0"/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192000" y="1981200"/>
            <a:ext cx="11859491" cy="7494180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0000FF"/>
                </a:solidFill>
              </a:rPr>
              <a:t>Kiến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thức</a:t>
            </a:r>
            <a:r>
              <a:rPr lang="en-US" b="1" dirty="0">
                <a:solidFill>
                  <a:srgbClr val="0000FF"/>
                </a:solidFill>
              </a:rPr>
              <a:t>, </a:t>
            </a:r>
            <a:r>
              <a:rPr lang="en-US" b="1" dirty="0" err="1">
                <a:solidFill>
                  <a:srgbClr val="0000FF"/>
                </a:solidFill>
              </a:rPr>
              <a:t>kĩ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năng</a:t>
            </a:r>
            <a:endParaRPr lang="en-US" dirty="0">
              <a:solidFill>
                <a:srgbClr val="0000FF"/>
              </a:solidFill>
            </a:endParaRPr>
          </a:p>
          <a:p>
            <a:pPr lvl="0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tam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tiễn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8A7B3CF6-3C25-43A9-B8AC-661FF9DA8A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163" y="9475383"/>
                <a:ext cx="23164800" cy="3783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endParaRPr lang="en-US" dirty="0"/>
              </a:p>
              <a:p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vườn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ở </a:t>
                </a:r>
                <a:r>
                  <a:rPr lang="en-US" dirty="0" err="1"/>
                  <a:t>bài</a:t>
                </a:r>
                <a:r>
                  <a:rPr lang="en-US" dirty="0"/>
                  <a:t> 16, </a:t>
                </a:r>
                <a:r>
                  <a:rPr lang="en-US" dirty="0" err="1"/>
                  <a:t>nhưng</a:t>
                </a:r>
                <a:r>
                  <a:rPr lang="en-US" dirty="0"/>
                  <a:t> ta </a:t>
                </a:r>
                <a:r>
                  <a:rPr lang="en-US" dirty="0" err="1"/>
                  <a:t>trả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: Hai </a:t>
                </a:r>
                <a:r>
                  <a:rPr lang="en-US" dirty="0" err="1"/>
                  <a:t>cột</a:t>
                </a:r>
                <a:r>
                  <a:rPr lang="en-US" dirty="0"/>
                  <a:t> </a:t>
                </a:r>
                <a:r>
                  <a:rPr lang="en-US" dirty="0" err="1"/>
                  <a:t>góc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(H6.8)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cắm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:r>
                  <a:rPr lang="en-US" dirty="0" err="1"/>
                  <a:t>tường</a:t>
                </a:r>
                <a:r>
                  <a:rPr lang="en-US" dirty="0"/>
                  <a:t> bao </a:t>
                </a:r>
                <a:r>
                  <a:rPr lang="en-US" dirty="0" err="1"/>
                  <a:t>nhiêu</a:t>
                </a:r>
                <a:r>
                  <a:rPr lang="en-US" dirty="0"/>
                  <a:t> </a:t>
                </a:r>
                <a:r>
                  <a:rPr lang="en-US" dirty="0" err="1"/>
                  <a:t>mét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mảnh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</a:t>
                </a:r>
                <a:r>
                  <a:rPr lang="en-US" dirty="0" err="1"/>
                  <a:t>chắn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diện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48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8A7B3CF6-3C25-43A9-B8AC-661FF9DA8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63" y="9475383"/>
                <a:ext cx="23164800" cy="3783417"/>
              </a:xfrm>
              <a:prstGeom prst="rect">
                <a:avLst/>
              </a:prstGeom>
              <a:blipFill>
                <a:blip r:embed="rId4"/>
                <a:stretch>
                  <a:fillRect l="-1394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>
            <a:extLst>
              <a:ext uri="{FF2B5EF4-FFF2-40B4-BE49-F238E27FC236}">
                <a16:creationId xmlns:a16="http://schemas.microsoft.com/office/drawing/2014/main" id="{4DB005CC-0618-416E-B301-0A4A5E2E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Xét bài toán vườn rào ở bài 16, nhưng ta trả lời câu hỏi: Hai cột góc hàng rào (H6.8) cần phải cắm cách bờ tường bao nhiêu mét để mảnh đất được rào chắn có diện tích không nhỏ hơn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7D2B0A5-5C8F-4C89-B5D4-8746D3ED1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373063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5" imgW="368140" imgH="203112" progId="Equation.DSMT4">
                  <p:embed/>
                </p:oleObj>
              </mc:Choice>
              <mc:Fallback>
                <p:oleObj name="Equation" r:id="rId5" imgW="368140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373063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1EF19AFD-5216-48D0-BAC2-9815DAE20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63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24692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86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1. DẤU CỦA TAM THỨC BẬC HAI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743201"/>
                <a:ext cx="11353800" cy="107600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HĐ1: </a:t>
                </a:r>
                <a:r>
                  <a:rPr lang="en-US" dirty="0" err="1"/>
                  <a:t>Hãy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đặc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chung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đây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/>
                  <a:t>Định</a:t>
                </a:r>
                <a:r>
                  <a:rPr lang="en-US" b="1" dirty="0"/>
                  <a:t> </a:t>
                </a:r>
                <a:r>
                  <a:rPr lang="en-US" b="1" dirty="0" err="1"/>
                  <a:t>nghĩa</a:t>
                </a:r>
                <a:r>
                  <a:rPr lang="en-US" b="1" dirty="0"/>
                  <a:t>: </a:t>
                </a:r>
                <a:r>
                  <a:rPr lang="en-US" dirty="0"/>
                  <a:t>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( </a:t>
                </a:r>
                <a:r>
                  <a:rPr lang="en-US" dirty="0" err="1"/>
                  <a:t>đối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những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trước</a:t>
                </a:r>
                <a:r>
                  <a:rPr lang="en-US" dirty="0"/>
                  <a:t> (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),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Người</a:t>
                </a:r>
                <a:r>
                  <a:rPr lang="en-US" dirty="0"/>
                  <a:t> ta </a:t>
                </a:r>
                <a:r>
                  <a:rPr lang="en-US" dirty="0" err="1"/>
                  <a:t>thường</a:t>
                </a:r>
                <a:r>
                  <a:rPr lang="en-US" dirty="0"/>
                  <a:t> </a:t>
                </a:r>
                <a:r>
                  <a:rPr lang="en-US" dirty="0" err="1"/>
                  <a:t>viết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HĐ1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những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. Ở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A,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0,5;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43201"/>
                <a:ext cx="11353800" cy="10760075"/>
              </a:xfrm>
              <a:prstGeom prst="rect">
                <a:avLst/>
              </a:prstGeom>
              <a:blipFill>
                <a:blip r:embed="rId3"/>
                <a:stretch>
                  <a:fillRect l="-2414" t="-1868" r="-85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2743201"/>
                <a:ext cx="11630891" cy="107600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Luyện</a:t>
                </a:r>
                <a:r>
                  <a:rPr lang="en-US" b="1" dirty="0"/>
                  <a:t> </a:t>
                </a:r>
                <a:r>
                  <a:rPr lang="en-US" b="1" dirty="0" err="1"/>
                  <a:t>tập</a:t>
                </a:r>
                <a:r>
                  <a:rPr lang="en-US" b="1" dirty="0"/>
                  <a:t> 1: </a:t>
                </a:r>
                <a:r>
                  <a:rPr lang="en-US" dirty="0" err="1"/>
                  <a:t>Hãy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biết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đây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b="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=−5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		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dẫn</a:t>
                </a:r>
                <a:r>
                  <a:rPr lang="en-US" b="1" dirty="0"/>
                  <a:t>: </a:t>
                </a:r>
                <a:r>
                  <a:rPr lang="en-US" dirty="0"/>
                  <a:t>Theo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nghĩa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,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,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7;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Chú</a:t>
                </a:r>
                <a:r>
                  <a:rPr lang="en-US" b="1" dirty="0"/>
                  <a:t> ý: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cũng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2743201"/>
                <a:ext cx="11630891" cy="10760075"/>
              </a:xfrm>
              <a:prstGeom prst="rect">
                <a:avLst/>
              </a:prstGeom>
              <a:blipFill>
                <a:blip r:embed="rId4"/>
                <a:stretch>
                  <a:fillRect l="-2304" t="-186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19013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ứng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biệt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biệt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gọn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HĐ2: </a:t>
                </a:r>
                <a:r>
                  <a:rPr lang="en-US" dirty="0"/>
                  <a:t>Cho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chúng</a:t>
                </a:r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b) Cho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(H.6.17).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từng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hay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16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từng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0" y="2743200"/>
            <a:ext cx="6172200" cy="64770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26990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52600"/>
                <a:ext cx="11125201" cy="116403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dẫn</a:t>
                </a:r>
                <a:r>
                  <a:rPr lang="en-US" b="1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;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2600"/>
                <a:ext cx="11125201" cy="11640349"/>
              </a:xfrm>
              <a:prstGeom prst="rect">
                <a:avLst/>
              </a:prstGeom>
              <a:blipFill>
                <a:blip r:embed="rId3"/>
                <a:stretch>
                  <a:fillRect l="-2463" t="-1727" r="-60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752600"/>
                <a:ext cx="11859491" cy="116403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HĐ3: </a:t>
                </a:r>
                <a:r>
                  <a:rPr lang="en-US" dirty="0"/>
                  <a:t>Cho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6.18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từng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hay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752600"/>
                <a:ext cx="11859491" cy="11640349"/>
              </a:xfrm>
              <a:prstGeom prst="rect">
                <a:avLst/>
              </a:prstGeom>
              <a:blipFill>
                <a:blip r:embed="rId4"/>
                <a:stretch>
                  <a:fillRect l="-2260" t="-1727" b="-230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0" y="3429000"/>
            <a:ext cx="6096000" cy="65532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24296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từng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dẫn</a:t>
                </a:r>
                <a:r>
                  <a:rPr lang="en-US" b="1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;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phía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87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Nhận</a:t>
                </a:r>
                <a:r>
                  <a:rPr lang="en-US" b="1" dirty="0"/>
                  <a:t> </a:t>
                </a:r>
                <a:r>
                  <a:rPr lang="en-US" b="1" dirty="0" err="1"/>
                  <a:t>xét</a:t>
                </a:r>
                <a:r>
                  <a:rPr lang="en-US" b="1" dirty="0"/>
                  <a:t>: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Từ</a:t>
                </a:r>
                <a:r>
                  <a:rPr lang="en-US" dirty="0"/>
                  <a:t> HĐ2 </a:t>
                </a:r>
                <a:r>
                  <a:rPr lang="en-US" dirty="0" err="1"/>
                  <a:t>và</a:t>
                </a:r>
                <a:r>
                  <a:rPr lang="en-US" dirty="0"/>
                  <a:t> HĐ3 ta </a:t>
                </a:r>
                <a:r>
                  <a:rPr lang="en-US" dirty="0" err="1"/>
                  <a:t>thấy</a:t>
                </a:r>
                <a:r>
                  <a:rPr lang="en-US" dirty="0"/>
                  <a:t> , </a:t>
                </a:r>
                <a:r>
                  <a:rPr lang="en-US" dirty="0" err="1"/>
                  <a:t>nếu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biệt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(ở </a:t>
                </a:r>
                <a:r>
                  <a:rPr lang="en-US" dirty="0" err="1"/>
                  <a:t>ngoài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)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(ở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b="1" dirty="0"/>
                  <a:t>HĐ4: </a:t>
                </a:r>
                <a:r>
                  <a:rPr lang="en-US" dirty="0" err="1"/>
                  <a:t>Nêu</a:t>
                </a:r>
                <a:r>
                  <a:rPr lang="en-US" dirty="0"/>
                  <a:t> </a:t>
                </a:r>
                <a:r>
                  <a:rPr lang="en-US" dirty="0" err="1"/>
                  <a:t>nội</a:t>
                </a:r>
                <a:r>
                  <a:rPr lang="en-US" dirty="0"/>
                  <a:t> dung </a:t>
                </a:r>
                <a:r>
                  <a:rPr lang="en-US" dirty="0" err="1"/>
                  <a:t>thay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ô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“?”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thích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179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3365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23241000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998921"/>
            <a:ext cx="21259800" cy="62761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r="1083" b="8601"/>
          <a:stretch/>
        </p:blipFill>
        <p:spPr>
          <a:xfrm>
            <a:off x="1676400" y="8212129"/>
            <a:ext cx="21031200" cy="4929605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01887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23241000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200674"/>
            <a:ext cx="22479000" cy="10972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84536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Định</a:t>
                </a:r>
                <a:r>
                  <a:rPr lang="en-US" b="1" dirty="0"/>
                  <a:t> </a:t>
                </a:r>
                <a:r>
                  <a:rPr lang="en-US" b="1" dirty="0" err="1"/>
                  <a:t>lý</a:t>
                </a:r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Cho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biệt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 Khi </a:t>
                </a:r>
                <a:r>
                  <a:rPr lang="en-US" dirty="0" err="1"/>
                  <a:t>đó</a:t>
                </a:r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Khi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 : “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ngoài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147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Chú</a:t>
                </a:r>
                <a:r>
                  <a:rPr lang="en-US" b="1" dirty="0"/>
                  <a:t> ý.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lí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thay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1.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fr-FR" dirty="0"/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>
                        <a:latin typeface="Cambria Math" panose="02040503050406030204" pitchFamily="18" charset="0"/>
                      </a:rPr>
                      <m:t>1;</m:t>
                    </m:r>
                  </m:oMath>
                </a14:m>
                <a:r>
                  <a:rPr lang="fr-FR" dirty="0"/>
                  <a:t>	b)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>
                        <a:latin typeface="Cambria Math" panose="02040503050406030204" pitchFamily="18" charset="0"/>
                      </a:rPr>
                      <m:t>9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27;</m:t>
                    </m:r>
                  </m:oMath>
                </a14:m>
                <a:r>
                  <a:rPr lang="fr-FR" dirty="0"/>
                  <a:t>	</a:t>
                </a:r>
              </a:p>
              <a:p>
                <a:pPr marL="0" indent="0">
                  <a:buNone/>
                </a:pPr>
                <a:r>
                  <a:rPr lang="fr-FR" dirty="0"/>
                  <a:t>c) 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>
                        <a:latin typeface="Cambria Math" panose="02040503050406030204" pitchFamily="18" charset="0"/>
                      </a:rPr>
                      <m:t>6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r="-102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5400" y="1981200"/>
            <a:ext cx="9829800" cy="24384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44531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dirty="0"/>
                  <a:t>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kép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3.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 err="1"/>
                  <a:t>Suy</a:t>
                </a:r>
                <a:r>
                  <a:rPr lang="fr-FR" dirty="0"/>
                  <a:t> 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4;1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42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Luyện </a:t>
                </a:r>
                <a:r>
                  <a:rPr lang="en-US" b="1" dirty="0" err="1"/>
                  <a:t>tập</a:t>
                </a:r>
                <a:r>
                  <a:rPr lang="en-US" b="1" dirty="0"/>
                  <a:t> 2.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		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r>
                  <a:rPr lang="en-US" b="1" dirty="0"/>
                  <a:t>                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/>
                  <a:t>  có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err="1"/>
                  <a:t>nên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kép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77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8001000"/>
            <a:ext cx="9712635" cy="1740944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62629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;3</m:t>
                        </m:r>
                      </m:e>
                    </m:d>
                  </m:oMath>
                </a14:m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blipFill>
                <a:blip r:embed="rId3"/>
                <a:stretch>
                  <a:fillRect l="-1180" t="-5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800600"/>
            <a:ext cx="19964400" cy="2549236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57262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86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2. BẤT PHƯƠNG TRÌNH BẬC HAI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743201"/>
                <a:ext cx="9677400" cy="107600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HĐ5.</a:t>
                </a:r>
                <a:r>
                  <a:rPr lang="en-US" dirty="0"/>
                  <a:t> </a:t>
                </a:r>
                <a:r>
                  <a:rPr lang="en-US" dirty="0" err="1"/>
                  <a:t>Trở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i="1" dirty="0"/>
                  <a:t> </a:t>
                </a:r>
                <a:r>
                  <a:rPr lang="en-US" i="1" dirty="0" err="1"/>
                  <a:t>tình</a:t>
                </a:r>
                <a:r>
                  <a:rPr lang="en-US" i="1" dirty="0"/>
                  <a:t> </a:t>
                </a:r>
                <a:r>
                  <a:rPr lang="en-US" i="1" dirty="0" err="1"/>
                  <a:t>huống</a:t>
                </a:r>
                <a:r>
                  <a:rPr lang="en-US" i="1" dirty="0"/>
                  <a:t> </a:t>
                </a:r>
                <a:r>
                  <a:rPr lang="en-US" i="1" dirty="0" err="1"/>
                  <a:t>mở</a:t>
                </a:r>
                <a:r>
                  <a:rPr lang="en-US" i="1" dirty="0"/>
                  <a:t> </a:t>
                </a:r>
                <a:r>
                  <a:rPr lang="en-US" i="1" dirty="0" err="1"/>
                  <a:t>đầu</a:t>
                </a:r>
                <a:r>
                  <a:rPr lang="en-US" i="1" dirty="0"/>
                  <a:t>.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yêu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mảnh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</a:t>
                </a:r>
                <a:r>
                  <a:rPr lang="en-US" dirty="0" err="1"/>
                  <a:t>chắn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diện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48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hãy</a:t>
                </a:r>
                <a:r>
                  <a:rPr lang="en-US" dirty="0"/>
                  <a:t> </a:t>
                </a:r>
                <a:r>
                  <a:rPr lang="en-US" dirty="0" err="1"/>
                  <a:t>viết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đẳng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hiện</a:t>
                </a:r>
                <a:r>
                  <a:rPr lang="en-US" dirty="0"/>
                  <a:t> </a:t>
                </a:r>
                <a:r>
                  <a:rPr lang="en-US" dirty="0" err="1"/>
                  <a:t>sự</a:t>
                </a:r>
                <a:r>
                  <a:rPr lang="en-US" dirty="0"/>
                  <a:t> 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diện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Từ </a:t>
                </a:r>
                <a:r>
                  <a:rPr lang="en-US" b="1" dirty="0"/>
                  <a:t>HĐ5</a:t>
                </a:r>
                <a:r>
                  <a:rPr lang="en-US" dirty="0"/>
                  <a:t>, ta </a:t>
                </a:r>
                <a:r>
                  <a:rPr lang="en-US" dirty="0" err="1"/>
                  <a:t>có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Đây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43201"/>
                <a:ext cx="9677400" cy="10760075"/>
              </a:xfrm>
              <a:prstGeom prst="rect">
                <a:avLst/>
              </a:prstGeom>
              <a:blipFill>
                <a:blip r:embed="rId3"/>
                <a:stretch>
                  <a:fillRect l="-2832" t="-198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0" y="2743201"/>
                <a:ext cx="13307291" cy="1067593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quát</a:t>
                </a:r>
                <a:r>
                  <a:rPr lang="en-US" dirty="0"/>
                  <a:t>,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nghĩa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lvl="0"/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),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những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i="1" dirty="0" err="1"/>
                  <a:t>nghiệm</a:t>
                </a:r>
                <a:r>
                  <a:rPr lang="en-US" i="1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gồm</a:t>
                </a:r>
                <a:r>
                  <a:rPr lang="en-US" dirty="0"/>
                  <a:t>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i="1" dirty="0"/>
                  <a:t> </a:t>
                </a:r>
                <a:r>
                  <a:rPr lang="en-US" i="1" dirty="0" err="1"/>
                  <a:t>tập</a:t>
                </a:r>
                <a:r>
                  <a:rPr lang="en-US" i="1" dirty="0"/>
                  <a:t> </a:t>
                </a:r>
                <a:r>
                  <a:rPr lang="en-US" i="1" dirty="0" err="1"/>
                  <a:t>nghiệm</a:t>
                </a:r>
                <a:r>
                  <a:rPr lang="en-US" i="1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,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 hay </a:t>
                </a:r>
                <a:r>
                  <a:rPr lang="en-US" dirty="0" err="1"/>
                  <a:t>trái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0" y="2743201"/>
                <a:ext cx="13307291" cy="10675939"/>
              </a:xfrm>
              <a:prstGeom prst="rect">
                <a:avLst/>
              </a:prstGeom>
              <a:blipFill>
                <a:blip r:embed="rId4"/>
                <a:stretch>
                  <a:fillRect l="-2014" t="-1882" r="-288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23113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b="1" dirty="0" err="1"/>
                  <a:t>Nhận</a:t>
                </a:r>
                <a:r>
                  <a:rPr lang="en-US" b="1" dirty="0"/>
                  <a:t> </a:t>
                </a:r>
                <a:r>
                  <a:rPr lang="en-US" b="1" dirty="0" err="1"/>
                  <a:t>xét</a:t>
                </a:r>
                <a:r>
                  <a:rPr lang="en-US" b="1" dirty="0"/>
                  <a:t>.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2311399"/>
              </a:xfrm>
              <a:prstGeom prst="rect">
                <a:avLst/>
              </a:prstGeom>
              <a:blipFill>
                <a:blip r:embed="rId3"/>
                <a:stretch>
                  <a:fillRect l="-1394" t="-10236" b="-1601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90998"/>
                <a:ext cx="9677400" cy="931227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2.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90998"/>
                <a:ext cx="9677400" cy="9312277"/>
              </a:xfrm>
              <a:prstGeom prst="rect">
                <a:avLst/>
              </a:prstGeom>
              <a:blipFill>
                <a:blip r:embed="rId4"/>
                <a:stretch>
                  <a:fillRect l="-2832" t="-209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0" y="4190998"/>
                <a:ext cx="13307291" cy="922814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(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vô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âm</a:t>
                </a:r>
                <a:r>
                  <a:rPr lang="en-US" dirty="0"/>
                  <a:t> (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duy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0" y="4190998"/>
                <a:ext cx="13307291" cy="9228142"/>
              </a:xfrm>
              <a:prstGeom prst="rect">
                <a:avLst/>
              </a:prstGeom>
              <a:blipFill>
                <a:blip r:embed="rId5"/>
                <a:stretch>
                  <a:fillRect l="-2014" t="-2111" r="-238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87965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1648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c)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do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164800" cy="11411749"/>
              </a:xfrm>
              <a:prstGeom prst="rect">
                <a:avLst/>
              </a:prstGeom>
              <a:blipFill>
                <a:blip r:embed="rId3"/>
                <a:stretch>
                  <a:fillRect l="-1184" t="-117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400CBCD-04CA-436D-BB67-A0A9FF6D9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1063" algn="l"/>
              </a:tabLst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Tam thức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=-x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x+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nên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 hai nghiệm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1063" algn="l"/>
              </a:tabLst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Mặt khác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a=-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do đó ta có bảng xét dấu sau: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1063" algn="l"/>
              </a:tabLs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22">
            <a:extLst>
              <a:ext uri="{FF2B5EF4-FFF2-40B4-BE49-F238E27FC236}">
                <a16:creationId xmlns:a16="http://schemas.microsoft.com/office/drawing/2014/main" id="{07DCD0C9-E90C-42F9-9C29-2E175735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6003925" cy="4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3261AF-1FA9-48AE-B0E2-FCECCC90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2338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1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1063" algn="l"/>
              </a:tabLst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Tập nghiệm của bất phương trình là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S=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2;1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7222FB-65B4-463A-AD19-DC03F3F56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291" y="4953000"/>
            <a:ext cx="20591417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Rounded Rectangle 102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1648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3.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</a:t>
                </a:r>
                <a:r>
                  <a:rPr lang="en-US" dirty="0" err="1"/>
                  <a:t>vườn</a:t>
                </a:r>
                <a:r>
                  <a:rPr lang="en-US" dirty="0"/>
                  <a:t> ở </a:t>
                </a:r>
                <a:r>
                  <a:rPr lang="en-US" i="1" dirty="0" err="1"/>
                  <a:t>tình</a:t>
                </a:r>
                <a:r>
                  <a:rPr lang="en-US" i="1" dirty="0"/>
                  <a:t> </a:t>
                </a:r>
                <a:r>
                  <a:rPr lang="en-US" i="1" dirty="0" err="1"/>
                  <a:t>huống</a:t>
                </a:r>
                <a:r>
                  <a:rPr lang="en-US" i="1" dirty="0"/>
                  <a:t> </a:t>
                </a:r>
                <a:r>
                  <a:rPr lang="en-US" i="1" dirty="0" err="1"/>
                  <a:t>mở</a:t>
                </a:r>
                <a:r>
                  <a:rPr lang="en-US" i="1" dirty="0"/>
                  <a:t> </a:t>
                </a:r>
                <a:r>
                  <a:rPr lang="en-US" i="1" dirty="0" err="1"/>
                  <a:t>đầu</a:t>
                </a:r>
                <a:r>
                  <a:rPr lang="en-US" i="1" dirty="0"/>
                  <a:t>. 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 err="1"/>
                  <a:t>Giải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và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4;6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Như </a:t>
                </a:r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cắm</a:t>
                </a:r>
                <a:r>
                  <a:rPr lang="en-US" dirty="0"/>
                  <a:t> </a:t>
                </a:r>
                <a:r>
                  <a:rPr lang="en-US" dirty="0" err="1"/>
                  <a:t>cột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:r>
                  <a:rPr lang="en-US" dirty="0" err="1"/>
                  <a:t>tường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mảnh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rào</a:t>
                </a:r>
                <a:r>
                  <a:rPr lang="en-US" dirty="0"/>
                  <a:t> </a:t>
                </a:r>
                <a:r>
                  <a:rPr lang="en-US" dirty="0" err="1"/>
                  <a:t>chắn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bác</a:t>
                </a:r>
                <a:r>
                  <a:rPr lang="en-US" dirty="0"/>
                  <a:t> </a:t>
                </a:r>
                <a:r>
                  <a:rPr lang="en-US" dirty="0" err="1"/>
                  <a:t>Việt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diện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164800" cy="11411749"/>
              </a:xfrm>
              <a:prstGeom prst="rect">
                <a:avLst/>
              </a:prstGeom>
              <a:blipFill>
                <a:blip r:embed="rId3"/>
                <a:stretch>
                  <a:fillRect l="-1184" t="-1868" r="-55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42416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0210799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Luyện </a:t>
                </a:r>
                <a:r>
                  <a:rPr lang="en-US" b="1" dirty="0" err="1"/>
                  <a:t>tập</a:t>
                </a:r>
                <a:r>
                  <a:rPr lang="en-US" b="1" dirty="0"/>
                  <a:t> 3.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0210799" cy="11411749"/>
              </a:xfrm>
              <a:prstGeom prst="rect">
                <a:avLst/>
              </a:prstGeom>
              <a:blipFill>
                <a:blip r:embed="rId3"/>
                <a:stretch>
                  <a:fillRect l="-2685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01400" y="1981200"/>
                <a:ext cx="128500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có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âm</a:t>
                </a:r>
                <a:r>
                  <a:rPr lang="en-US" dirty="0"/>
                  <a:t> (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có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hệ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nên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(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c) Tam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(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00" y="1981200"/>
                <a:ext cx="12850091" cy="11411749"/>
              </a:xfrm>
              <a:prstGeom prst="rect">
                <a:avLst/>
              </a:prstGeom>
              <a:blipFill>
                <a:blip r:embed="rId4"/>
                <a:stretch>
                  <a:fillRect l="-2134" t="-1761" r="-1043" b="-138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15783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Vận</a:t>
                </a:r>
                <a:r>
                  <a:rPr lang="en-US" b="1" dirty="0"/>
                  <a:t> </a:t>
                </a:r>
                <a:r>
                  <a:rPr lang="en-US" b="1" dirty="0" err="1"/>
                  <a:t>dụng</a:t>
                </a:r>
                <a:r>
                  <a:rPr lang="en-US" b="1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bóng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ném</a:t>
                </a:r>
                <a:r>
                  <a:rPr lang="en-US" dirty="0"/>
                  <a:t> </a:t>
                </a:r>
                <a:r>
                  <a:rPr lang="en-US" dirty="0" err="1"/>
                  <a:t>lên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:r>
                  <a:rPr lang="en-US" dirty="0" err="1"/>
                  <a:t>đứng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tả</a:t>
                </a:r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4,9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ở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mét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giây</a:t>
                </a:r>
                <a:r>
                  <a:rPr lang="en-US" dirty="0"/>
                  <a:t>.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bay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,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bóng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ở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153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Phương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4,9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Khi </a:t>
                </a:r>
                <a:r>
                  <a:rPr lang="en-US" dirty="0" err="1"/>
                  <a:t>vật</a:t>
                </a:r>
                <a:r>
                  <a:rPr lang="en-US" dirty="0"/>
                  <a:t> ở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4,9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80,4</m:t>
                            </m:r>
                          </m:e>
                        </m:ra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4,9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80,4</m:t>
                            </m:r>
                          </m:e>
                        </m:ra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4,9</m:t>
                        </m:r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80,4</m:t>
                                </m:r>
                              </m:e>
                            </m:ra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4,9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80,4</m:t>
                                </m:r>
                              </m:e>
                            </m:ra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4,9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bóng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ở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195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36912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Tìm</a:t>
                </a:r>
                <a:r>
                  <a:rPr lang="en-US" b="1" dirty="0"/>
                  <a:t> </a:t>
                </a:r>
                <a:r>
                  <a:rPr lang="en-US" b="1" dirty="0" err="1"/>
                  <a:t>hiểu</a:t>
                </a:r>
                <a:r>
                  <a:rPr lang="en-US" b="1" dirty="0"/>
                  <a:t> </a:t>
                </a:r>
                <a:r>
                  <a:rPr lang="en-US" b="1" dirty="0" err="1"/>
                  <a:t>thêm</a:t>
                </a:r>
                <a:r>
                  <a:rPr lang="en-US" b="1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cầm</a:t>
                </a:r>
                <a:r>
                  <a:rPr lang="en-US" dirty="0"/>
                  <a:t> </a:t>
                </a:r>
                <a:r>
                  <a:rPr lang="en-US" dirty="0" err="1"/>
                  <a:t>tay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Sau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mở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, ta </a:t>
                </a:r>
                <a:r>
                  <a:rPr lang="en-US" dirty="0" err="1"/>
                  <a:t>bấm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phím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đây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Sau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bốn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rồi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27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: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ta </a:t>
                </a:r>
                <a:r>
                  <a:rPr lang="en-US" dirty="0" err="1"/>
                  <a:t>bấm</a:t>
                </a:r>
                <a:r>
                  <a:rPr lang="en-US" dirty="0"/>
                  <a:t> </a:t>
                </a:r>
                <a:r>
                  <a:rPr lang="en-US" dirty="0" err="1"/>
                  <a:t>tổ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phím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Màn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hiển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: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57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57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e>
                            </m:ra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e>
                            </m:ra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F36BE53-B6FE-4925-A100-4AA658B68B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771423"/>
                  </p:ext>
                </p:extLst>
              </p:nvPr>
            </p:nvGraphicFramePr>
            <p:xfrm>
              <a:off x="2209800" y="5962713"/>
              <a:ext cx="7658417" cy="8190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14412">
                      <a:extLst>
                        <a:ext uri="{9D8B030D-6E8A-4147-A177-3AD203B41FA5}">
                          <a16:colId xmlns:a16="http://schemas.microsoft.com/office/drawing/2014/main" val="2044106729"/>
                        </a:ext>
                      </a:extLst>
                    </a:gridCol>
                    <a:gridCol w="1914412">
                      <a:extLst>
                        <a:ext uri="{9D8B030D-6E8A-4147-A177-3AD203B41FA5}">
                          <a16:colId xmlns:a16="http://schemas.microsoft.com/office/drawing/2014/main" val="3993162367"/>
                        </a:ext>
                      </a:extLst>
                    </a:gridCol>
                    <a:gridCol w="1914412">
                      <a:extLst>
                        <a:ext uri="{9D8B030D-6E8A-4147-A177-3AD203B41FA5}">
                          <a16:colId xmlns:a16="http://schemas.microsoft.com/office/drawing/2014/main" val="3167573554"/>
                        </a:ext>
                      </a:extLst>
                    </a:gridCol>
                    <a:gridCol w="1915181">
                      <a:extLst>
                        <a:ext uri="{9D8B030D-6E8A-4147-A177-3AD203B41FA5}">
                          <a16:colId xmlns:a16="http://schemas.microsoft.com/office/drawing/2014/main" val="97707998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>
                                    <a:effectLst/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440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73496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F36BE53-B6FE-4925-A100-4AA658B68B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771423"/>
                  </p:ext>
                </p:extLst>
              </p:nvPr>
            </p:nvGraphicFramePr>
            <p:xfrm>
              <a:off x="2209800" y="5962713"/>
              <a:ext cx="7658417" cy="8190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14412">
                      <a:extLst>
                        <a:ext uri="{9D8B030D-6E8A-4147-A177-3AD203B41FA5}">
                          <a16:colId xmlns:a16="http://schemas.microsoft.com/office/drawing/2014/main" val="2044106729"/>
                        </a:ext>
                      </a:extLst>
                    </a:gridCol>
                    <a:gridCol w="1914412">
                      <a:extLst>
                        <a:ext uri="{9D8B030D-6E8A-4147-A177-3AD203B41FA5}">
                          <a16:colId xmlns:a16="http://schemas.microsoft.com/office/drawing/2014/main" val="3993162367"/>
                        </a:ext>
                      </a:extLst>
                    </a:gridCol>
                    <a:gridCol w="1914412">
                      <a:extLst>
                        <a:ext uri="{9D8B030D-6E8A-4147-A177-3AD203B41FA5}">
                          <a16:colId xmlns:a16="http://schemas.microsoft.com/office/drawing/2014/main" val="3167573554"/>
                        </a:ext>
                      </a:extLst>
                    </a:gridCol>
                    <a:gridCol w="1915181">
                      <a:extLst>
                        <a:ext uri="{9D8B030D-6E8A-4147-A177-3AD203B41FA5}">
                          <a16:colId xmlns:a16="http://schemas.microsoft.com/office/drawing/2014/main" val="977079987"/>
                        </a:ext>
                      </a:extLst>
                    </a:gridCol>
                  </a:tblGrid>
                  <a:tr h="81908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00318" t="-12593" r="-201592" b="-3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734965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D1A8EB8-5AAC-4533-8327-050944562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0511453"/>
                  </p:ext>
                </p:extLst>
              </p:nvPr>
            </p:nvGraphicFramePr>
            <p:xfrm>
              <a:off x="12344399" y="3429000"/>
              <a:ext cx="11554691" cy="8190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83611">
                      <a:extLst>
                        <a:ext uri="{9D8B030D-6E8A-4147-A177-3AD203B41FA5}">
                          <a16:colId xmlns:a16="http://schemas.microsoft.com/office/drawing/2014/main" val="392062079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89151479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232619268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424948462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30409991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101553612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715987667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7866248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493549890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625347153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711450564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84039413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>
                                    <a:effectLst/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4400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>
                                    <a:effectLst/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4400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>
                                    <a:effectLst/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sz="4400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213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D1A8EB8-5AAC-4533-8327-050944562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0511453"/>
                  </p:ext>
                </p:extLst>
              </p:nvPr>
            </p:nvGraphicFramePr>
            <p:xfrm>
              <a:off x="12344399" y="3429000"/>
              <a:ext cx="11554691" cy="8190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83611">
                      <a:extLst>
                        <a:ext uri="{9D8B030D-6E8A-4147-A177-3AD203B41FA5}">
                          <a16:colId xmlns:a16="http://schemas.microsoft.com/office/drawing/2014/main" val="392062079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89151479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232619268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4249484625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30409991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101553612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715987667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7866248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493549890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3625347153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2711450564"/>
                        </a:ext>
                      </a:extLst>
                    </a:gridCol>
                    <a:gridCol w="888280">
                      <a:extLst>
                        <a:ext uri="{9D8B030D-6E8A-4147-A177-3AD203B41FA5}">
                          <a16:colId xmlns:a16="http://schemas.microsoft.com/office/drawing/2014/main" val="840394137"/>
                        </a:ext>
                      </a:extLst>
                    </a:gridCol>
                  </a:tblGrid>
                  <a:tr h="81908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201370" t="-12593" r="-1001370" b="-3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800685" t="-12593" r="-402055" b="-3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000000" t="-12593" r="-202740" b="-3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tabLst>
                              <a:tab pos="3420745" algn="l"/>
                            </a:tabLst>
                          </a:pPr>
                          <a:r>
                            <a:rPr lang="en-US" sz="440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=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2136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E124A08-B439-43BC-BCE1-45269B92F0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200" y="6569429"/>
            <a:ext cx="4386600" cy="1564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60503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9982199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6.15.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dấu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tam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d)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6.16.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6.17.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tam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mọi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4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9982199" cy="11411749"/>
              </a:xfrm>
              <a:prstGeom prst="rect">
                <a:avLst/>
              </a:prstGeom>
              <a:blipFill>
                <a:blip r:embed="rId3"/>
                <a:stretch>
                  <a:fillRect l="-2746" t="-1761" r="-299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0" y="1981200"/>
                <a:ext cx="130786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6.18.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xuống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Hỏi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ít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giây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sức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6.19.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(H.6.19).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𝐴𝑀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vượt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1981200"/>
                <a:ext cx="13078691" cy="11411749"/>
              </a:xfrm>
              <a:prstGeom prst="rect">
                <a:avLst/>
              </a:prstGeom>
              <a:blipFill>
                <a:blip r:embed="rId4"/>
                <a:stretch>
                  <a:fillRect l="-2049" t="-1761" r="-158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311AA728-AF41-434F-8ADF-E6C633B55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1470" y="10134600"/>
            <a:ext cx="2595130" cy="31390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48187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b="1" dirty="0" err="1"/>
                  <a:t>Giải</a:t>
                </a:r>
                <a:r>
                  <a:rPr lang="fr-FR" b="1" dirty="0"/>
                  <a:t> </a:t>
                </a:r>
                <a:r>
                  <a:rPr lang="fr-FR" b="1" dirty="0" err="1"/>
                  <a:t>bài</a:t>
                </a:r>
                <a:r>
                  <a:rPr lang="fr-FR" b="1" dirty="0"/>
                  <a:t> </a:t>
                </a:r>
                <a:r>
                  <a:rPr lang="fr-FR" b="1" dirty="0" err="1"/>
                  <a:t>tập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b="1" dirty="0" err="1"/>
                  <a:t>Bài</a:t>
                </a:r>
                <a:r>
                  <a:rPr lang="fr-FR" b="1" dirty="0"/>
                  <a:t> 6.15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a)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Suy</a:t>
                </a:r>
                <a:r>
                  <a:rPr lang="fr-FR" dirty="0"/>
                  <a:t> 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dirty="0"/>
                  <a:t>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kép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c)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Suy</a:t>
                </a:r>
                <a:r>
                  <a:rPr lang="fr-FR" dirty="0"/>
                  <a:t> 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601" b="-37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752859E-17AC-4E99-B887-1223F819BA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911" y="7339411"/>
            <a:ext cx="8818203" cy="2185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84A14B-735A-4F83-B317-50586D2B2E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0" y="7339411"/>
            <a:ext cx="8893086" cy="2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62875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b="1" dirty="0" err="1"/>
                  <a:t>Bài</a:t>
                </a:r>
                <a:r>
                  <a:rPr lang="fr-FR" b="1" dirty="0"/>
                  <a:t> 6.16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a)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:r>
                  <a:rPr lang="fr-FR" dirty="0" err="1"/>
                  <a:t>bất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tập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dirty="0"/>
                  <a:t>b)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:r>
                  <a:rPr lang="fr-FR" dirty="0" err="1"/>
                  <a:t>bất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tập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là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fr-FR">
                            <a:latin typeface="Cambria Math" panose="02040503050406030204" pitchFamily="18" charset="0"/>
                          </a:rPr>
                          <m:t>;1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lang="fr-F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601" r="-41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8152B4D-1C80-4BBF-9759-9A04DD3CDD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272" y="6108862"/>
            <a:ext cx="10052125" cy="250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B5BB8-B299-4100-AE16-69F0379DAF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0" y="5332257"/>
            <a:ext cx="10834267" cy="266874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402961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dirty="0"/>
                  <a:t>c) </a:t>
                </a:r>
                <a:r>
                  <a:rPr lang="fr-FR" dirty="0" err="1"/>
                  <a:t>Dễ</a:t>
                </a:r>
                <a:r>
                  <a:rPr lang="fr-FR" dirty="0"/>
                  <a:t> </a:t>
                </a:r>
                <a:r>
                  <a:rPr lang="fr-FR" dirty="0" err="1"/>
                  <a:t>thấy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có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phân</a:t>
                </a:r>
                <a:r>
                  <a:rPr lang="fr-FR" dirty="0"/>
                  <a:t> </a:t>
                </a:r>
                <a:r>
                  <a:rPr lang="fr-FR" dirty="0" err="1"/>
                  <a:t>biệt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39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39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Do </a:t>
                </a:r>
                <a:r>
                  <a:rPr lang="fr-FR" dirty="0" err="1"/>
                  <a:t>đó</a:t>
                </a:r>
                <a:r>
                  <a:rPr lang="fr-FR" dirty="0"/>
                  <a:t> 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bảng</a:t>
                </a:r>
                <a:r>
                  <a:rPr lang="fr-FR" dirty="0"/>
                  <a:t> </a:t>
                </a:r>
                <a:r>
                  <a:rPr lang="fr-FR" dirty="0" err="1"/>
                  <a:t>xét</a:t>
                </a:r>
                <a:r>
                  <a:rPr lang="fr-FR" dirty="0"/>
                  <a:t> </a:t>
                </a:r>
                <a:r>
                  <a:rPr lang="fr-FR" dirty="0" err="1"/>
                  <a:t>dấu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:r>
                  <a:rPr lang="fr-FR" dirty="0" err="1"/>
                  <a:t>bất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tập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</m:e>
                            </m:ra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</m:e>
                            </m:ra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fr-F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601" r="-54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dirty="0"/>
                  <a:t>d)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và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nên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Từ</a:t>
                </a:r>
                <a:r>
                  <a:rPr lang="fr-FR" dirty="0"/>
                  <a:t> </a:t>
                </a:r>
                <a:r>
                  <a:rPr lang="fr-FR" dirty="0" err="1"/>
                  <a:t>đó</a:t>
                </a:r>
                <a:r>
                  <a:rPr lang="fr-FR" dirty="0"/>
                  <a:t> </a:t>
                </a:r>
                <a:r>
                  <a:rPr lang="fr-FR" dirty="0" err="1"/>
                  <a:t>suy</a:t>
                </a:r>
                <a:r>
                  <a:rPr lang="fr-FR" dirty="0"/>
                  <a:t> ra </a:t>
                </a:r>
                <a:r>
                  <a:rPr lang="fr-FR" dirty="0" err="1"/>
                  <a:t>bất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            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tập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60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2C1477C-0FE4-419C-B6E6-7367DAD27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6934200"/>
            <a:ext cx="10183471" cy="2590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49921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b="1" dirty="0" err="1"/>
                  <a:t>Bài</a:t>
                </a:r>
                <a:r>
                  <a:rPr lang="fr-FR" b="1" dirty="0"/>
                  <a:t> 6.17.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 err="1"/>
                  <a:t>Đặt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hệ</a:t>
                </a:r>
                <a:r>
                  <a:rPr lang="fr-FR" dirty="0"/>
                  <a:t> </a:t>
                </a:r>
                <a:r>
                  <a:rPr lang="fr-FR" dirty="0" err="1"/>
                  <a:t>số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*) </a:t>
                </a:r>
                <a:r>
                  <a:rPr lang="fr-FR" dirty="0" err="1"/>
                  <a:t>Nếu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thì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là </a:t>
                </a:r>
                <a:r>
                  <a:rPr lang="fr-FR" dirty="0" err="1"/>
                  <a:t>hai</a:t>
                </a:r>
                <a:r>
                  <a:rPr lang="fr-FR" dirty="0"/>
                  <a:t> </a:t>
                </a:r>
                <a:r>
                  <a:rPr lang="fr-FR" dirty="0" err="1"/>
                  <a:t>nghiệm</a:t>
                </a:r>
                <a:r>
                  <a:rPr lang="fr-FR" dirty="0"/>
                  <a:t> </a:t>
                </a:r>
                <a:r>
                  <a:rPr lang="fr-FR" dirty="0" err="1"/>
                  <a:t>của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Khi </a:t>
                </a:r>
                <a:r>
                  <a:rPr lang="fr-FR" dirty="0" err="1"/>
                  <a:t>đó</a:t>
                </a:r>
                <a:r>
                  <a:rPr lang="fr-FR" dirty="0"/>
                  <a:t> </a:t>
                </a:r>
                <a:r>
                  <a:rPr lang="fr-FR" dirty="0" err="1"/>
                  <a:t>không</a:t>
                </a:r>
                <a:r>
                  <a:rPr lang="fr-FR" dirty="0"/>
                  <a:t> </a:t>
                </a:r>
                <a:r>
                  <a:rPr lang="fr-FR" dirty="0" err="1"/>
                  <a:t>thỏa</a:t>
                </a:r>
                <a:r>
                  <a:rPr lang="fr-FR" dirty="0"/>
                  <a:t> </a:t>
                </a:r>
                <a:r>
                  <a:rPr lang="fr-FR" dirty="0" err="1"/>
                  <a:t>mãn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dirty="0"/>
                  <a:t>.</a:t>
                </a:r>
              </a:p>
              <a:p>
                <a:pPr marL="0" indent="0">
                  <a:buNone/>
                </a:pPr>
                <a:r>
                  <a:rPr lang="fr-FR" dirty="0"/>
                  <a:t>*) </a:t>
                </a:r>
                <a:r>
                  <a:rPr lang="fr-FR" dirty="0" err="1"/>
                  <a:t>Nếu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thì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fr-FR" dirty="0"/>
                  <a:t>, khi </a:t>
                </a:r>
                <a:r>
                  <a:rPr lang="fr-FR" dirty="0" err="1"/>
                  <a:t>đó</a:t>
                </a:r>
                <a:r>
                  <a:rPr lang="fr-FR" dirty="0"/>
                  <a:t> </a:t>
                </a:r>
                <a:r>
                  <a:rPr lang="fr-FR" dirty="0" err="1"/>
                  <a:t>không</a:t>
                </a:r>
                <a:r>
                  <a:rPr lang="fr-FR" dirty="0"/>
                  <a:t> </a:t>
                </a:r>
                <a:r>
                  <a:rPr lang="fr-FR" dirty="0" err="1"/>
                  <a:t>thỏa</a:t>
                </a:r>
                <a:r>
                  <a:rPr lang="fr-FR" dirty="0"/>
                  <a:t> </a:t>
                </a:r>
                <a:r>
                  <a:rPr lang="fr-FR" dirty="0" err="1"/>
                  <a:t>mãn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dirty="0"/>
                  <a:t>.</a:t>
                </a:r>
              </a:p>
              <a:p>
                <a:pPr marL="0" indent="0">
                  <a:buNone/>
                </a:pPr>
                <a:r>
                  <a:rPr lang="fr-FR" dirty="0"/>
                  <a:t>*) </a:t>
                </a:r>
                <a:r>
                  <a:rPr lang="fr-FR" dirty="0" err="1"/>
                  <a:t>Nếu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thì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với</a:t>
                </a:r>
                <a:r>
                  <a:rPr lang="fr-FR" dirty="0"/>
                  <a:t> </a:t>
                </a:r>
                <a:r>
                  <a:rPr lang="fr-FR" dirty="0" err="1"/>
                  <a:t>mọi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dirty="0"/>
                  <a:t> (</a:t>
                </a:r>
                <a:r>
                  <a:rPr lang="fr-FR" dirty="0" err="1"/>
                  <a:t>thỏa</a:t>
                </a:r>
                <a:r>
                  <a:rPr lang="fr-FR" dirty="0"/>
                  <a:t> </a:t>
                </a:r>
                <a:r>
                  <a:rPr lang="fr-FR" dirty="0" err="1"/>
                  <a:t>mãn</a:t>
                </a:r>
                <a:r>
                  <a:rPr lang="fr-FR" dirty="0"/>
                  <a:t> </a:t>
                </a:r>
                <a:r>
                  <a:rPr lang="fr-FR" dirty="0" err="1"/>
                  <a:t>đề</a:t>
                </a:r>
                <a:r>
                  <a:rPr lang="fr-FR" dirty="0"/>
                  <a:t> </a:t>
                </a:r>
                <a:r>
                  <a:rPr lang="fr-FR" dirty="0" err="1"/>
                  <a:t>bài</a:t>
                </a:r>
                <a:r>
                  <a:rPr lang="fr-FR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fr-FR" dirty="0"/>
                  <a:t>Vậy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thỏa</a:t>
                </a:r>
                <a:r>
                  <a:rPr lang="fr-FR" dirty="0"/>
                  <a:t> </a:t>
                </a:r>
                <a:r>
                  <a:rPr lang="fr-FR" dirty="0" err="1"/>
                  <a:t>mãn</a:t>
                </a:r>
                <a:r>
                  <a:rPr lang="fr-FR" dirty="0"/>
                  <a:t> </a:t>
                </a:r>
                <a:r>
                  <a:rPr lang="fr-FR" dirty="0" err="1"/>
                  <a:t>yêu</a:t>
                </a:r>
                <a:r>
                  <a:rPr lang="fr-FR" dirty="0"/>
                  <a:t> </a:t>
                </a:r>
                <a:r>
                  <a:rPr lang="fr-FR" dirty="0" err="1"/>
                  <a:t>cầu</a:t>
                </a:r>
                <a:r>
                  <a:rPr lang="fr-FR" dirty="0"/>
                  <a:t> </a:t>
                </a:r>
                <a:r>
                  <a:rPr lang="fr-FR" dirty="0" err="1"/>
                  <a:t>bài</a:t>
                </a:r>
                <a:r>
                  <a:rPr lang="fr-FR" dirty="0"/>
                  <a:t> </a:t>
                </a:r>
                <a:r>
                  <a:rPr lang="fr-FR" dirty="0" err="1"/>
                  <a:t>toán</a:t>
                </a:r>
                <a:r>
                  <a:rPr lang="fr-F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blipFill>
                <a:blip r:embed="rId3"/>
                <a:stretch>
                  <a:fillRect l="-1180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643209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3172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6.18.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fr-FR" dirty="0"/>
                  <a:t>ta </a:t>
                </a:r>
                <a:r>
                  <a:rPr lang="fr-FR" dirty="0" err="1"/>
                  <a:t>có</a:t>
                </a:r>
                <a:r>
                  <a:rPr lang="fr-FR" dirty="0"/>
                  <a:t> </a:t>
                </a:r>
                <a:r>
                  <a:rPr lang="fr-FR" dirty="0" err="1"/>
                  <a:t>phương</a:t>
                </a:r>
                <a:r>
                  <a:rPr lang="fr-FR" dirty="0"/>
                  <a:t> </a:t>
                </a:r>
                <a:r>
                  <a:rPr lang="fr-FR" dirty="0" err="1"/>
                  <a:t>trình</a:t>
                </a:r>
                <a:r>
                  <a:rPr lang="fr-FR" dirty="0"/>
                  <a:t> </a:t>
                </a:r>
                <a:r>
                  <a:rPr lang="fr-FR" dirty="0" err="1"/>
                  <a:t>chuyển</a:t>
                </a:r>
                <a:r>
                  <a:rPr lang="fr-FR" dirty="0"/>
                  <a:t> </a:t>
                </a:r>
                <a:r>
                  <a:rPr lang="fr-FR" dirty="0" err="1"/>
                  <a:t>động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Vật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fr-FR" dirty="0" err="1"/>
                  <a:t>Sử</a:t>
                </a:r>
                <a:r>
                  <a:rPr lang="fr-FR" dirty="0"/>
                  <a:t> </a:t>
                </a:r>
                <a:r>
                  <a:rPr lang="fr-FR" dirty="0" err="1"/>
                  <a:t>dụng</a:t>
                </a:r>
                <a:r>
                  <a:rPr lang="fr-FR" dirty="0"/>
                  <a:t> MTCT ta </a:t>
                </a:r>
                <a:r>
                  <a:rPr lang="fr-FR" dirty="0" err="1"/>
                  <a:t>được</a:t>
                </a:r>
                <a:r>
                  <a:rPr lang="fr-FR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317200" cy="11411749"/>
              </a:xfrm>
              <a:prstGeom prst="rect">
                <a:avLst/>
              </a:prstGeom>
              <a:blipFill>
                <a:blip r:embed="rId3"/>
                <a:stretch>
                  <a:fillRect l="-1176" t="-160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19840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fr-FR" b="1" dirty="0"/>
                  <a:t>6.19. </a:t>
                </a:r>
                <a:r>
                  <a:rPr lang="fr-FR" dirty="0"/>
                  <a:t>Ta </a:t>
                </a:r>
                <a:r>
                  <a:rPr lang="fr-FR" dirty="0" err="1"/>
                  <a:t>có</a:t>
                </a:r>
                <a:r>
                  <a:rPr lang="fr-FR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/>
                  <a:t> ;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𝐴𝑀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/>
                  <a:t> ;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/>
                  <a:t> ;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𝐴𝑀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𝑀𝐵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𝐴𝑀</m:t>
                                  </m:r>
                                </m:e>
                              </m:d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𝑀𝐵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88072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3300</TotalTime>
  <Words>897</Words>
  <Application>Microsoft Office PowerPoint</Application>
  <PresentationFormat>Custom</PresentationFormat>
  <Paragraphs>299</Paragraphs>
  <Slides>26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Tahoma</vt:lpstr>
      <vt:lpstr>Times New Roman</vt:lpstr>
      <vt:lpstr>Tomaho</vt:lpstr>
      <vt:lpstr>Office Theme</vt:lpstr>
      <vt:lpstr>1_Office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341</cp:revision>
  <dcterms:created xsi:type="dcterms:W3CDTF">2013-08-31T11:42:51Z</dcterms:created>
  <dcterms:modified xsi:type="dcterms:W3CDTF">2022-08-29T11:14:31Z</dcterms:modified>
  <cp:category>9Slide.vn</cp:category>
</cp:coreProperties>
</file>