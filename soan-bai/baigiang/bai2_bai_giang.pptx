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  <p:sldMasterId id="2147483754" r:id="rId2"/>
  </p:sldMasterIdLst>
  <p:notesMasterIdLst>
    <p:notesMasterId r:id="rId45"/>
  </p:notesMasterIdLst>
  <p:sldIdLst>
    <p:sldId id="313" r:id="rId3"/>
    <p:sldId id="315" r:id="rId4"/>
    <p:sldId id="316" r:id="rId5"/>
    <p:sldId id="317" r:id="rId6"/>
    <p:sldId id="318" r:id="rId7"/>
    <p:sldId id="319" r:id="rId8"/>
    <p:sldId id="320" r:id="rId9"/>
    <p:sldId id="321" r:id="rId10"/>
    <p:sldId id="322" r:id="rId11"/>
    <p:sldId id="323" r:id="rId12"/>
    <p:sldId id="324" r:id="rId13"/>
    <p:sldId id="325" r:id="rId14"/>
    <p:sldId id="326" r:id="rId15"/>
    <p:sldId id="327" r:id="rId16"/>
    <p:sldId id="328" r:id="rId17"/>
    <p:sldId id="329" r:id="rId18"/>
    <p:sldId id="332" r:id="rId19"/>
    <p:sldId id="333" r:id="rId20"/>
    <p:sldId id="334" r:id="rId21"/>
    <p:sldId id="335" r:id="rId22"/>
    <p:sldId id="336" r:id="rId23"/>
    <p:sldId id="337" r:id="rId24"/>
    <p:sldId id="338" r:id="rId25"/>
    <p:sldId id="339" r:id="rId26"/>
    <p:sldId id="340" r:id="rId27"/>
    <p:sldId id="341" r:id="rId28"/>
    <p:sldId id="342" r:id="rId29"/>
    <p:sldId id="343" r:id="rId30"/>
    <p:sldId id="345" r:id="rId31"/>
    <p:sldId id="346" r:id="rId32"/>
    <p:sldId id="347" r:id="rId33"/>
    <p:sldId id="348" r:id="rId34"/>
    <p:sldId id="349" r:id="rId35"/>
    <p:sldId id="350" r:id="rId36"/>
    <p:sldId id="351" r:id="rId37"/>
    <p:sldId id="352" r:id="rId38"/>
    <p:sldId id="353" r:id="rId39"/>
    <p:sldId id="354" r:id="rId40"/>
    <p:sldId id="355" r:id="rId41"/>
    <p:sldId id="356" r:id="rId42"/>
    <p:sldId id="357" r:id="rId43"/>
    <p:sldId id="344" r:id="rId44"/>
  </p:sldIdLst>
  <p:sldSz cx="24384000" cy="13716000"/>
  <p:notesSz cx="6858000" cy="9144000"/>
  <p:custDataLst>
    <p:tags r:id="rId46"/>
  </p:custDataLst>
  <p:defaultTextStyle>
    <a:defPPr>
      <a:defRPr lang="en-US"/>
    </a:defPPr>
    <a:lvl1pPr marL="0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1pPr>
    <a:lvl2pPr marL="1088639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2pPr>
    <a:lvl3pPr marL="2177278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3pPr>
    <a:lvl4pPr marL="3265917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4pPr>
    <a:lvl5pPr marL="4354556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5pPr>
    <a:lvl6pPr marL="5443195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6pPr>
    <a:lvl7pPr marL="6531834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7pPr>
    <a:lvl8pPr marL="7620472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8pPr>
    <a:lvl9pPr marL="8709111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F7E9"/>
    <a:srgbClr val="ECFEF2"/>
    <a:srgbClr val="FFF8E5"/>
    <a:srgbClr val="D6F7FE"/>
    <a:srgbClr val="0000FF"/>
    <a:srgbClr val="E7F7FF"/>
    <a:srgbClr val="135F82"/>
    <a:srgbClr val="FFFFFF"/>
    <a:srgbClr val="008000"/>
    <a:srgbClr val="2424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44" autoAdjust="0"/>
    <p:restoredTop sz="94139" autoAdjust="0"/>
  </p:normalViewPr>
  <p:slideViewPr>
    <p:cSldViewPr>
      <p:cViewPr varScale="1">
        <p:scale>
          <a:sx n="35" d="100"/>
          <a:sy n="35" d="100"/>
        </p:scale>
        <p:origin x="714" y="60"/>
      </p:cViewPr>
      <p:guideLst>
        <p:guide orient="horz" pos="4320"/>
        <p:guide pos="76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notesMaster" Target="notesMasters/notesMaster1.xml"/><Relationship Id="rId46" Type="http://schemas.openxmlformats.org/officeDocument/2006/relationships/tags" Target="tags/tag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BB293-0719-4B19-A181-EE36FD0623AD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EA8B73-FCCD-4D4C-BC4E-0CE5120A1B5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63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1pPr>
    <a:lvl2pPr marL="1088639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2pPr>
    <a:lvl3pPr marL="2177278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3pPr>
    <a:lvl4pPr marL="3265917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4pPr>
    <a:lvl5pPr marL="4354556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5pPr>
    <a:lvl6pPr marL="5443195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6pPr>
    <a:lvl7pPr marL="6531834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7pPr>
    <a:lvl8pPr marL="7620472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8pPr>
    <a:lvl9pPr marL="8709111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113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113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113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113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113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113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113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113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113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113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113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113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3160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6253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8658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3935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6494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2242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3898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6897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3707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3510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7973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2526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86585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9727" y="1781954"/>
            <a:ext cx="21031200" cy="2651126"/>
          </a:xfrm>
          <a:prstGeom prst="rect">
            <a:avLst/>
          </a:prstGeom>
        </p:spPr>
        <p:txBody>
          <a:bodyPr/>
          <a:lstStyle>
            <a:lvl1pPr algn="l">
              <a:defRPr sz="5400">
                <a:latin typeface="Tomaho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99727" y="4702953"/>
            <a:ext cx="10363200" cy="8702676"/>
          </a:xfrm>
          <a:prstGeom prst="rect">
            <a:avLst/>
          </a:prstGeom>
        </p:spPr>
        <p:txBody>
          <a:bodyPr/>
          <a:lstStyle>
            <a:lvl1pPr algn="l">
              <a:defRPr sz="4800">
                <a:latin typeface="Tomaho"/>
              </a:defRPr>
            </a:lvl1pPr>
            <a:lvl2pPr algn="l">
              <a:defRPr sz="4800">
                <a:latin typeface="Tomaho"/>
              </a:defRPr>
            </a:lvl2pPr>
            <a:lvl3pPr algn="l">
              <a:defRPr sz="4800">
                <a:latin typeface="Tomaho"/>
              </a:defRPr>
            </a:lvl3pPr>
            <a:lvl4pPr algn="l">
              <a:defRPr sz="4800">
                <a:latin typeface="Tomaho"/>
              </a:defRPr>
            </a:lvl4pPr>
            <a:lvl5pPr algn="l">
              <a:defRPr sz="4800">
                <a:latin typeface="Tomaho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67727" y="4702953"/>
            <a:ext cx="10363200" cy="8702676"/>
          </a:xfrm>
          <a:prstGeom prst="rect">
            <a:avLst/>
          </a:prstGeom>
        </p:spPr>
        <p:txBody>
          <a:bodyPr/>
          <a:lstStyle>
            <a:lvl1pPr algn="l">
              <a:defRPr sz="4800">
                <a:latin typeface="Tomaho"/>
              </a:defRPr>
            </a:lvl1pPr>
            <a:lvl2pPr algn="l">
              <a:defRPr sz="4800">
                <a:latin typeface="Tomaho"/>
              </a:defRPr>
            </a:lvl2pPr>
            <a:lvl3pPr algn="l">
              <a:defRPr sz="4800">
                <a:latin typeface="Tomaho"/>
              </a:defRPr>
            </a:lvl3pPr>
            <a:lvl4pPr algn="l">
              <a:defRPr sz="4800">
                <a:latin typeface="Tomaho"/>
              </a:defRPr>
            </a:lvl4pPr>
            <a:lvl5pPr algn="l">
              <a:defRPr sz="4800">
                <a:latin typeface="Tomaho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20733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508065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51046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  <a:prstGeom prst="rect">
            <a:avLst/>
          </a:prstGeo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938197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241930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589881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655814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98361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88558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33076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6959766"/>
      </p:ext>
    </p:extLst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4265558"/>
      </p:ext>
    </p:extLst>
  </p:cSld>
  <p:clrMapOvr>
    <a:masterClrMapping/>
  </p:clrMapOvr>
  <p:transition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78770"/>
      </p:ext>
    </p:extLst>
  </p:cSld>
  <p:clrMapOvr>
    <a:masterClrMapping/>
  </p:clrMapOvr>
  <p:transition spd="slow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615295"/>
      </p:ext>
    </p:extLst>
  </p:cSld>
  <p:clrMapOvr>
    <a:masterClrMapping/>
  </p:clrMapOvr>
  <p:transition spd="slow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  <a:prstGeom prst="rect">
            <a:avLst/>
          </a:prstGeo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594460"/>
      </p:ext>
    </p:extLst>
  </p:cSld>
  <p:clrMapOvr>
    <a:masterClrMapping/>
  </p:clrMapOvr>
  <p:transition spd="slow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683300"/>
      </p:ext>
    </p:extLst>
  </p:cSld>
  <p:clrMapOvr>
    <a:masterClrMapping/>
  </p:clrMapOvr>
  <p:transition spd="slow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778250"/>
      </p:ext>
    </p:extLst>
  </p:cSld>
  <p:clrMapOvr>
    <a:masterClrMapping/>
  </p:clrMapOvr>
  <p:transition spd="slow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510540"/>
      </p:ext>
    </p:extLst>
  </p:cSld>
  <p:clrMapOvr>
    <a:masterClrMapping/>
  </p:clrMapOvr>
  <p:transition spd="slow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246283"/>
      </p:ext>
    </p:extLst>
  </p:cSld>
  <p:clrMapOvr>
    <a:masterClrMapping/>
  </p:clrMapOvr>
  <p:transition spd="slow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481129"/>
      </p:ext>
    </p:extLst>
  </p:cSld>
  <p:clrMapOvr>
    <a:masterClrMapping/>
  </p:clrMapOvr>
  <p:transition spd="slow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707362"/>
      </p:ext>
    </p:extLst>
  </p:cSld>
  <p:clrMapOvr>
    <a:masterClrMapping/>
  </p:clrMapOvr>
  <p:transition spd="slow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930660"/>
      </p:ext>
    </p:extLst>
  </p:cSld>
  <p:clrMapOvr>
    <a:masterClrMapping/>
  </p:clrMapOvr>
  <p:transition spd="slow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48505"/>
      </p:ext>
    </p:extLst>
  </p:cSld>
  <p:clrMapOvr>
    <a:masterClrMapping/>
  </p:clrMapOvr>
  <p:transition spd="slow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0" y="12712706"/>
            <a:ext cx="5689601" cy="730250"/>
          </a:xfrm>
          <a:prstGeom prst="rect">
            <a:avLst/>
          </a:prstGeom>
        </p:spPr>
        <p:txBody>
          <a:bodyPr lIns="91426" tIns="45713" rIns="91426" bIns="45713"/>
          <a:lstStyle/>
          <a:p>
            <a:fld id="{D15044BE-B3F3-4258-B55D-9238C2EBFDF1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5" y="12712706"/>
            <a:ext cx="7721601" cy="730250"/>
          </a:xfrm>
          <a:prstGeom prst="rect">
            <a:avLst/>
          </a:prstGeom>
        </p:spPr>
        <p:txBody>
          <a:bodyPr lIns="91426" tIns="45713" rIns="91426" bIns="45713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4" y="12712706"/>
            <a:ext cx="5689601" cy="730250"/>
          </a:xfrm>
          <a:prstGeom prst="rect">
            <a:avLst/>
          </a:prstGeom>
        </p:spPr>
        <p:txBody>
          <a:bodyPr lIns="91426" tIns="45713" rIns="91426" bIns="45713"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862067"/>
      </p:ext>
    </p:extLst>
  </p:cSld>
  <p:clrMapOvr>
    <a:masterClrMapping/>
  </p:clrMapOvr>
  <p:transition spd="slow"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2" y="12712702"/>
            <a:ext cx="5689600" cy="730250"/>
          </a:xfrm>
          <a:prstGeom prst="rect">
            <a:avLst/>
          </a:prstGeom>
        </p:spPr>
        <p:txBody>
          <a:bodyPr/>
          <a:lstStyle/>
          <a:p>
            <a:fld id="{D15044BE-B3F3-4258-B55D-9238C2EBFDF1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0" y="12712702"/>
            <a:ext cx="7721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1" y="12712702"/>
            <a:ext cx="5689600" cy="730250"/>
          </a:xfrm>
          <a:prstGeom prst="rect">
            <a:avLst/>
          </a:prstGeom>
        </p:spPr>
        <p:txBody>
          <a:bodyPr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164471"/>
      </p:ext>
    </p:extLst>
  </p:cSld>
  <p:clrMapOvr>
    <a:masterClrMapping/>
  </p:clrMapOvr>
  <p:transition spd="slow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1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D15044BE-B3F3-4258-B55D-9238C2EBFDF1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0" y="12712701"/>
            <a:ext cx="7721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0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6085"/>
      </p:ext>
    </p:extLst>
  </p:cSld>
  <p:clrMapOvr>
    <a:masterClrMapping/>
  </p:clrMapOvr>
  <p:transition spd="slow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1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D15044BE-B3F3-4258-B55D-9238C2EBFDF1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0" y="12712701"/>
            <a:ext cx="7721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0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813515"/>
      </p:ext>
    </p:extLst>
  </p:cSld>
  <p:clrMapOvr>
    <a:masterClrMapping/>
  </p:clrMapOvr>
  <p:transition spd="slow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gi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7.xml"/><Relationship Id="rId16" Type="http://schemas.openxmlformats.org/officeDocument/2006/relationships/theme" Target="../theme/theme2.xml"/><Relationship Id="rId17" Type="http://schemas.openxmlformats.org/officeDocument/2006/relationships/image" Target="../media/image1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3140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0" r:id="rId3"/>
    <p:sldLayoutId id="2147483741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82" r:id="rId11"/>
    <p:sldLayoutId id="2147483783" r:id="rId12"/>
  </p:sldLayoutIdLst>
  <p:transition spd="slow">
    <p:fade/>
  </p:transition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1094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</p:sldLayoutIdLst>
  <p:transition spd="slow">
    <p:fade/>
  </p:transition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5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3.png"/><Relationship Id="rId4" Type="http://schemas.openxmlformats.org/officeDocument/2006/relationships/image" Target="../media/image2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5.png"/><Relationship Id="rId4" Type="http://schemas.openxmlformats.org/officeDocument/2006/relationships/image" Target="../media/image28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0.png"/><Relationship Id="rId4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3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4" Type="http://schemas.openxmlformats.org/officeDocument/2006/relationships/image" Target="../media/image51.png"/><Relationship Id="rId5" Type="http://schemas.openxmlformats.org/officeDocument/2006/relationships/oleObject" Target="../embeddings/oleObject1.bin"/><Relationship Id="rId6" Type="http://schemas.openxmlformats.org/officeDocument/2006/relationships/image" Target="../media/image35.wmf"/><Relationship Id="rId7" Type="http://schemas.openxmlformats.org/officeDocument/2006/relationships/oleObject" Target="../embeddings/oleObject2.bin"/><Relationship Id="rId8" Type="http://schemas.openxmlformats.org/officeDocument/2006/relationships/image" Target="../media/image36.wmf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1.png"/><Relationship Id="rId4" Type="http://schemas.openxmlformats.org/officeDocument/2006/relationships/image" Target="../media/image80.png"/><Relationship Id="rId5" Type="http://schemas.openxmlformats.org/officeDocument/2006/relationships/image" Target="../media/image48.png"/><Relationship Id="rId6" Type="http://schemas.openxmlformats.org/officeDocument/2006/relationships/image" Target="../media/image100.png"/><Relationship Id="rId7" Type="http://schemas.openxmlformats.org/officeDocument/2006/relationships/image" Target="../media/image110.png"/><Relationship Id="rId8" Type="http://schemas.openxmlformats.org/officeDocument/2006/relationships/image" Target="../media/image49.png"/><Relationship Id="rId9" Type="http://schemas.openxmlformats.org/officeDocument/2006/relationships/image" Target="../media/image5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0.png"/><Relationship Id="rId4" Type="http://schemas.openxmlformats.org/officeDocument/2006/relationships/image" Target="../media/image52.png"/><Relationship Id="rId5" Type="http://schemas.openxmlformats.org/officeDocument/2006/relationships/image" Target="../media/image160.png"/><Relationship Id="rId6" Type="http://schemas.openxmlformats.org/officeDocument/2006/relationships/image" Target="../media/image170.png"/><Relationship Id="rId7" Type="http://schemas.openxmlformats.org/officeDocument/2006/relationships/image" Target="../media/image180.png"/><Relationship Id="rId8" Type="http://schemas.openxmlformats.org/officeDocument/2006/relationships/image" Target="../media/image5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56.wmf"/><Relationship Id="rId5" Type="http://schemas.openxmlformats.org/officeDocument/2006/relationships/oleObject" Target="../embeddings/oleObject4.bin"/><Relationship Id="rId6" Type="http://schemas.openxmlformats.org/officeDocument/2006/relationships/image" Target="../media/image57.wmf"/><Relationship Id="rId8" Type="http://schemas.openxmlformats.org/officeDocument/2006/relationships/image" Target="../media/image220.png"/><Relationship Id="rId9" Type="http://schemas.openxmlformats.org/officeDocument/2006/relationships/image" Target="../media/image23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0.png"/><Relationship Id="rId4" Type="http://schemas.openxmlformats.org/officeDocument/2006/relationships/image" Target="../media/image250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28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56.wmf"/><Relationship Id="rId5" Type="http://schemas.openxmlformats.org/officeDocument/2006/relationships/oleObject" Target="../embeddings/oleObject4.bin"/><Relationship Id="rId6" Type="http://schemas.openxmlformats.org/officeDocument/2006/relationships/image" Target="../media/image57.wmf"/><Relationship Id="rId8" Type="http://schemas.openxmlformats.org/officeDocument/2006/relationships/image" Target="../media/image290.png"/><Relationship Id="rId9" Type="http://schemas.openxmlformats.org/officeDocument/2006/relationships/image" Target="../media/image300.png"/><Relationship Id="rId10" Type="http://schemas.openxmlformats.org/officeDocument/2006/relationships/image" Target="../media/image31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20.png"/><Relationship Id="rId3" Type="http://schemas.openxmlformats.org/officeDocument/2006/relationships/image" Target="../media/image330.png"/><Relationship Id="rId4" Type="http://schemas.openxmlformats.org/officeDocument/2006/relationships/image" Target="../media/image340.png"/><Relationship Id="rId5" Type="http://schemas.openxmlformats.org/officeDocument/2006/relationships/image" Target="../media/image6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60.png"/><Relationship Id="rId4" Type="http://schemas.openxmlformats.org/officeDocument/2006/relationships/image" Target="../media/image61.png"/><Relationship Id="rId5" Type="http://schemas.openxmlformats.org/officeDocument/2006/relationships/image" Target="../media/image38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90.png"/><Relationship Id="rId4" Type="http://schemas.openxmlformats.org/officeDocument/2006/relationships/image" Target="../media/image40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10.png"/><Relationship Id="rId4" Type="http://schemas.openxmlformats.org/officeDocument/2006/relationships/image" Target="../media/image420.png"/><Relationship Id="rId5" Type="http://schemas.openxmlformats.org/officeDocument/2006/relationships/image" Target="../media/image430.png"/><Relationship Id="rId6" Type="http://schemas.openxmlformats.org/officeDocument/2006/relationships/image" Target="../media/image44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50.png"/><Relationship Id="rId4" Type="http://schemas.openxmlformats.org/officeDocument/2006/relationships/image" Target="../media/image460.png"/><Relationship Id="rId5" Type="http://schemas.openxmlformats.org/officeDocument/2006/relationships/image" Target="../media/image47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80.png"/><Relationship Id="rId4" Type="http://schemas.openxmlformats.org/officeDocument/2006/relationships/image" Target="../media/image490.png"/><Relationship Id="rId5" Type="http://schemas.openxmlformats.org/officeDocument/2006/relationships/image" Target="../media/image500.png"/><Relationship Id="rId6" Type="http://schemas.openxmlformats.org/officeDocument/2006/relationships/image" Target="../media/image510.png"/><Relationship Id="rId7" Type="http://schemas.openxmlformats.org/officeDocument/2006/relationships/image" Target="../media/image52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30.png"/><Relationship Id="rId4" Type="http://schemas.openxmlformats.org/officeDocument/2006/relationships/image" Target="../media/image540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6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90.png"/><Relationship Id="rId4" Type="http://schemas.openxmlformats.org/officeDocument/2006/relationships/image" Target="../media/image6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3FF6797-9084-4088-B03C-F68BB0D6D29D}"/>
              </a:ext>
            </a:extLst>
          </p:cNvPr>
          <p:cNvGrpSpPr/>
          <p:nvPr/>
        </p:nvGrpSpPr>
        <p:grpSpPr>
          <a:xfrm>
            <a:off x="9677400" y="1676400"/>
            <a:ext cx="13944600" cy="11181523"/>
            <a:chOff x="9851187" y="2126503"/>
            <a:chExt cx="13944600" cy="11181523"/>
          </a:xfrm>
        </p:grpSpPr>
        <p:grpSp>
          <p:nvGrpSpPr>
            <p:cNvPr id="8" name="Group 7"/>
            <p:cNvGrpSpPr/>
            <p:nvPr/>
          </p:nvGrpSpPr>
          <p:grpSpPr>
            <a:xfrm>
              <a:off x="9851187" y="2126503"/>
              <a:ext cx="13944600" cy="11181523"/>
              <a:chOff x="1339699" y="3448230"/>
              <a:chExt cx="13944600" cy="11181523"/>
            </a:xfrm>
          </p:grpSpPr>
          <p:sp>
            <p:nvSpPr>
              <p:cNvPr id="10" name="Right Triangle 9"/>
              <p:cNvSpPr/>
              <p:nvPr/>
            </p:nvSpPr>
            <p:spPr>
              <a:xfrm flipH="1">
                <a:off x="8958821" y="3486542"/>
                <a:ext cx="193377" cy="212342"/>
              </a:xfrm>
              <a:prstGeom prst="rtTriangle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" name="Group 10"/>
              <p:cNvGrpSpPr/>
              <p:nvPr/>
            </p:nvGrpSpPr>
            <p:grpSpPr>
              <a:xfrm>
                <a:off x="1339699" y="3448230"/>
                <a:ext cx="13944600" cy="11181523"/>
                <a:chOff x="1339699" y="3448230"/>
                <a:chExt cx="13944600" cy="11181523"/>
              </a:xfrm>
            </p:grpSpPr>
            <p:sp>
              <p:nvSpPr>
                <p:cNvPr id="12" name="Rounded Rectangle 11"/>
                <p:cNvSpPr/>
                <p:nvPr/>
              </p:nvSpPr>
              <p:spPr>
                <a:xfrm>
                  <a:off x="1339699" y="3696072"/>
                  <a:ext cx="13944600" cy="10933681"/>
                </a:xfrm>
                <a:prstGeom prst="roundRect">
                  <a:avLst>
                    <a:gd name="adj" fmla="val 2374"/>
                  </a:avLst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28575">
                  <a:solidFill>
                    <a:srgbClr val="0999C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18000" rIns="36000" bIns="18000" rtlCol="0" anchor="ctr"/>
                <a:lstStyle/>
                <a:p>
                  <a:pPr algn="ctr"/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14" name="TextBox 13"/>
                <p:cNvSpPr txBox="1"/>
                <p:nvPr/>
              </p:nvSpPr>
              <p:spPr>
                <a:xfrm>
                  <a:off x="5759299" y="3448230"/>
                  <a:ext cx="3890809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fontAlgn="auto">
                    <a:spcBef>
                      <a:spcPct val="50000"/>
                    </a:spcBef>
                    <a:spcAft>
                      <a:spcPts val="0"/>
                    </a:spcAft>
                    <a:defRPr/>
                  </a:pPr>
                  <a:r>
                    <a:rPr lang="en-US" sz="5400" b="1" cap="all" dirty="0">
                      <a:ln w="0"/>
                      <a:solidFill>
                        <a:schemeClr val="bg1"/>
                      </a:solidFill>
                      <a:effectLst>
                        <a:reflection blurRad="12700" stA="50000" endPos="50000" dist="5000" dir="5400000" sy="-100000" rotWithShape="0"/>
                      </a:effectLst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CHƯƠNG I</a:t>
                  </a:r>
                </a:p>
              </p:txBody>
            </p:sp>
          </p:grpSp>
        </p:grpSp>
        <p:sp>
          <p:nvSpPr>
            <p:cNvPr id="15" name="Right Triangle 14"/>
            <p:cNvSpPr/>
            <p:nvPr/>
          </p:nvSpPr>
          <p:spPr>
            <a:xfrm flipH="1">
              <a:off x="11477625" y="2164818"/>
              <a:ext cx="193377" cy="212342"/>
            </a:xfrm>
            <a:prstGeom prst="rtTriangl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ound Same Side Corner Rectangle 15"/>
            <p:cNvSpPr/>
            <p:nvPr/>
          </p:nvSpPr>
          <p:spPr>
            <a:xfrm flipV="1">
              <a:off x="11671001" y="2164811"/>
              <a:ext cx="10807999" cy="1333291"/>
            </a:xfrm>
            <a:prstGeom prst="round2Same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11757873" y="5288484"/>
              <a:ext cx="10634253" cy="51054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just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§1.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Mệnh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đề</a:t>
              </a:r>
              <a:endParaRPr lang="en-US" sz="6000" b="1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  <a:p>
              <a:pPr algn="just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§2.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Tập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hợp</a:t>
              </a:r>
              <a:endParaRPr lang="en-US" sz="6000" b="1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  <a:p>
              <a:pPr algn="just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§3.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Bài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tập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cuối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chương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1</a:t>
              </a:r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11912450" y="2428363"/>
              <a:ext cx="103251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4800" b="1" dirty="0">
                  <a:solidFill>
                    <a:schemeClr val="bg1"/>
                  </a:solidFill>
                  <a:latin typeface="+mj-lt"/>
                </a:rPr>
                <a:t>CHƯƠNG I. MỆNH </a:t>
              </a:r>
              <a:r>
                <a:rPr lang="vi-VN" sz="4800" b="1">
                  <a:solidFill>
                    <a:schemeClr val="bg1"/>
                  </a:solidFill>
                  <a:latin typeface="+mj-lt"/>
                </a:rPr>
                <a:t>ĐỀ </a:t>
              </a:r>
              <a:r>
                <a:rPr lang="en-US" sz="4800" b="1">
                  <a:solidFill>
                    <a:schemeClr val="bg1"/>
                  </a:solidFill>
                  <a:latin typeface="+mj-lt"/>
                </a:rPr>
                <a:t>VÀ</a:t>
              </a:r>
              <a:r>
                <a:rPr lang="vi-VN" sz="4800" b="1">
                  <a:solidFill>
                    <a:schemeClr val="bg1"/>
                  </a:solidFill>
                  <a:latin typeface="+mj-lt"/>
                </a:rPr>
                <a:t> </a:t>
              </a:r>
              <a:r>
                <a:rPr lang="vi-VN" sz="4800" b="1" dirty="0">
                  <a:solidFill>
                    <a:schemeClr val="bg1"/>
                  </a:solidFill>
                  <a:latin typeface="+mj-lt"/>
                </a:rPr>
                <a:t>TẬP HỢP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4FF52DF-8AC8-4DAD-B751-39601E57B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34" y="1924240"/>
            <a:ext cx="8813299" cy="10933681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   ·   BÀI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514051880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914400" y="3657600"/>
            <a:ext cx="22098000" cy="9829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8D3EBD6-50F5-16BB-34A0-200DC2892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1600200"/>
            <a:ext cx="13792200" cy="181643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   ·   BÀI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42924804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533400" y="2075522"/>
            <a:ext cx="12115800" cy="8572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Tahoma" pitchFamily="34" charset="0"/>
                <a:ea typeface="Tahoma" pitchFamily="34" charset="0"/>
                <a:cs typeface="Tahoma" pitchFamily="34" charset="0"/>
              </a:rPr>
              <a:t>1. </a:t>
            </a:r>
            <a:r>
              <a:rPr lang="en-US" sz="4800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Khái</a:t>
            </a:r>
            <a:r>
              <a:rPr lang="en-US" sz="4800" b="1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800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niệm</a:t>
            </a:r>
            <a:r>
              <a:rPr lang="en-US" sz="4800" b="1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800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cơ</a:t>
            </a:r>
            <a:r>
              <a:rPr lang="en-US" sz="4800" b="1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800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bản</a:t>
            </a:r>
            <a:r>
              <a:rPr lang="en-US" sz="4800" b="1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800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về</a:t>
            </a:r>
            <a:r>
              <a:rPr lang="en-US" sz="4800" b="1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800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tập</a:t>
            </a:r>
            <a:r>
              <a:rPr lang="en-US" sz="4800" b="1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800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hợp</a:t>
            </a:r>
            <a:endParaRPr lang="en-US" sz="48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649980" y="3361397"/>
            <a:ext cx="466610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rgbClr val="0000CC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a.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rgbClr val="0000CC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Tập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rgbClr val="0000CC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rgbClr val="0000CC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hợp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rgbClr val="0000CC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8" name="Rectangle 12"/>
          <p:cNvSpPr>
            <a:spLocks noChangeArrowheads="1"/>
          </p:cNvSpPr>
          <p:nvPr/>
        </p:nvSpPr>
        <p:spPr bwMode="auto">
          <a:xfrm>
            <a:off x="1037896" y="4951737"/>
            <a:ext cx="22050703" cy="5632311"/>
          </a:xfrm>
          <a:prstGeom prst="rect">
            <a:avLst/>
          </a:prstGeom>
          <a:solidFill>
            <a:srgbClr val="FFFFEF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Trong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tình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huống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trên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gọi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A</a:t>
            </a:r>
            <a:r>
              <a:rPr kumimoji="0" lang="en-US" altLang="en-US" sz="4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là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tập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hợp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những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thành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viên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tham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gia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Chuyên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đề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1, </a:t>
            </a:r>
            <a:r>
              <a:rPr kumimoji="0" lang="en-US" altLang="en-US" sz="48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B</a:t>
            </a:r>
            <a:r>
              <a:rPr kumimoji="0" lang="en-US" altLang="en-US" sz="4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là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tập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hợp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những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thành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viên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tham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gia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Chuyên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đề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2.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a) Nam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có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là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một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phần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tử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của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tập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hợp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A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không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?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Ngân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có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là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một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phần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tử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của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tập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hợp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B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không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b)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Hãy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mô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tả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các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tập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hợp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A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và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B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bằng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cách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liệt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kê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các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phần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tử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   ·   BÀI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04023952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1000" y="2667000"/>
                <a:ext cx="23241000" cy="338201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en-US" sz="4800" b="1" dirty="0">
                    <a:solidFill>
                      <a:srgbClr val="FF0000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Giải</a:t>
                </a:r>
                <a:endParaRPr lang="en-US" sz="4800" dirty="0">
                  <a:solidFill>
                    <a:srgbClr val="FF0000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 marL="457200" indent="-457200">
                  <a:lnSpc>
                    <a:spcPct val="150000"/>
                  </a:lnSpc>
                  <a:spcAft>
                    <a:spcPts val="800"/>
                  </a:spcAft>
                  <a:buAutoNum type="alphaLcParenR"/>
                </a:pP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Ta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thấy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Nam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có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là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một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phần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tử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của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tập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hợp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𝑨</m:t>
                    </m:r>
                  </m:oMath>
                </a14:m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,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Ngân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không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là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một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phần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tử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của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tập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hợp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𝑩</m:t>
                    </m:r>
                  </m:oMath>
                </a14:m>
                <a:endParaRPr lang="en-US" sz="4800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2667000"/>
                <a:ext cx="23241000" cy="3382016"/>
              </a:xfrm>
              <a:prstGeom prst="rect">
                <a:avLst/>
              </a:prstGeom>
              <a:blipFill rotWithShape="1">
                <a:blip r:embed="rId2"/>
                <a:stretch>
                  <a:fillRect l="-1207" b="-83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09600" y="6760377"/>
                <a:ext cx="18669000" cy="2513509"/>
              </a:xfrm>
              <a:prstGeom prst="rect">
                <a:avLst/>
              </a:prstGeom>
              <a:solidFill>
                <a:srgbClr val="D6F7FE"/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b)   </a:t>
                </a:r>
                <a14:m>
                  <m:oMath xmlns:m="http://schemas.openxmlformats.org/officeDocument/2006/math">
                    <m:r>
                      <a:rPr lang="en-US" sz="4800" b="1" i="0" smtClean="0">
                        <a:latin typeface="Cambria Math"/>
                        <a:ea typeface="Cascadia Mono"/>
                        <a:cs typeface="Times New Roman" panose="02020603050405020304" pitchFamily="18" charset="0"/>
                      </a:rPr>
                      <m:t>                 </m:t>
                    </m:r>
                    <m:r>
                      <a:rPr lang="en-US" sz="4800" b="1" i="1"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𝑨</m:t>
                    </m:r>
                    <m:r>
                      <a:rPr lang="en-US" sz="4800" b="1" i="1"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={ </m:t>
                    </m:r>
                    <m:r>
                      <a:rPr lang="en-US" sz="4800" b="1" i="1"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𝐍𝐚𝐦</m:t>
                    </m:r>
                    <m:r>
                      <a:rPr lang="en-US" sz="4800" b="1"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4800" b="1" i="1"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𝐊𝐡</m:t>
                    </m:r>
                    <m:r>
                      <a:rPr lang="en-US" sz="4800" b="1"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á</m:t>
                    </m:r>
                    <m:r>
                      <a:rPr lang="en-US" sz="4800" b="1" i="1"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𝐧𝐡</m:t>
                    </m:r>
                    <m:r>
                      <a:rPr lang="en-US" sz="4800" b="1"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4800" b="1" i="1"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𝐓</m:t>
                    </m:r>
                    <m:r>
                      <a:rPr lang="en-US" sz="4800" b="1"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ú, </m:t>
                    </m:r>
                    <m:r>
                      <a:rPr lang="en-US" sz="4800" b="1" i="1"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𝐇</m:t>
                    </m:r>
                    <m:r>
                      <a:rPr lang="en-US" sz="4800" b="1"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ươ</m:t>
                    </m:r>
                    <m:r>
                      <a:rPr lang="en-US" sz="4800" b="1" i="1"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𝐧𝐠</m:t>
                    </m:r>
                    <m:r>
                      <a:rPr lang="en-US" sz="4800" b="1"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4800" b="1" i="1"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𝐁</m:t>
                    </m:r>
                    <m:r>
                      <a:rPr lang="en-US" sz="4800" b="1"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ì</m:t>
                    </m:r>
                    <m:r>
                      <a:rPr lang="en-US" sz="4800" b="1" i="1"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𝐧𝐡</m:t>
                    </m:r>
                    <m:r>
                      <a:rPr lang="en-US" sz="4800" b="1"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4800" b="1" i="1"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𝐂𝐡𝐢</m:t>
                    </m:r>
                    <m:r>
                      <a:rPr lang="en-US" sz="4800" b="1"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4800" b="1" i="1"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𝐍𝐠</m:t>
                    </m:r>
                    <m:r>
                      <a:rPr lang="en-US" sz="4800" b="1"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â</m:t>
                    </m:r>
                    <m:r>
                      <a:rPr lang="en-US" sz="4800" b="1" i="1"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𝒏</m:t>
                    </m:r>
                    <m:r>
                      <a:rPr lang="en-US" sz="4800" b="1" i="1">
                        <a:latin typeface="Cambria Math" panose="02040503050406030204" pitchFamily="18" charset="0"/>
                        <a:ea typeface="Cascadia Mono"/>
                        <a:cs typeface="Times New Roman" panose="02020603050405020304" pitchFamily="18" charset="0"/>
                      </a:rPr>
                      <m:t> }</m:t>
                    </m:r>
                  </m:oMath>
                </a14:m>
                <a:endParaRPr lang="en-US" sz="4800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1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𝑩</m:t>
                      </m:r>
                      <m:r>
                        <a:rPr lang="en-US" sz="4800" b="1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 { </m:t>
                      </m:r>
                      <m:r>
                        <a:rPr lang="en-US" sz="4800" b="1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𝐇</m:t>
                      </m:r>
                      <m:r>
                        <a:rPr lang="en-US" sz="4800" b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ươ</m:t>
                      </m:r>
                      <m:r>
                        <a:rPr lang="en-US" sz="4800" b="1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𝐧𝐠</m:t>
                      </m:r>
                      <m:r>
                        <a:rPr lang="en-US" sz="4800" b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sz="4800" b="1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𝐊𝐡</m:t>
                      </m:r>
                      <m:r>
                        <a:rPr lang="en-US" sz="4800" b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á</m:t>
                      </m:r>
                      <m:r>
                        <a:rPr lang="en-US" sz="4800" b="1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𝐧𝐡</m:t>
                      </m:r>
                      <m:r>
                        <a:rPr lang="en-US" sz="4800" b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sz="4800" b="1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𝐇𝐢</m:t>
                      </m:r>
                      <m:r>
                        <a:rPr lang="en-US" sz="4800" b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ề</m:t>
                      </m:r>
                      <m:r>
                        <a:rPr lang="en-US" sz="4800" b="1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𝐧</m:t>
                      </m:r>
                      <m:r>
                        <a:rPr lang="en-US" sz="4800" b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sz="4800" b="1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𝐂𝐡𝐢</m:t>
                      </m:r>
                      <m:r>
                        <a:rPr lang="en-US" sz="4800" b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sz="4800" b="1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𝐁</m:t>
                      </m:r>
                      <m:r>
                        <a:rPr lang="en-US" sz="4800" b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ì</m:t>
                      </m:r>
                      <m:r>
                        <a:rPr lang="en-US" sz="4800" b="1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𝐧𝐡</m:t>
                      </m:r>
                      <m:r>
                        <a:rPr lang="en-US" sz="4800" b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sz="4800" b="1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𝐋𝐚𝐦</m:t>
                      </m:r>
                      <m:r>
                        <a:rPr lang="en-US" sz="4800" b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sz="4800" b="1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𝐓</m:t>
                      </m:r>
                      <m:r>
                        <a:rPr lang="en-US" sz="4800" b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ú , </m:t>
                      </m:r>
                      <m:r>
                        <a:rPr lang="en-US" sz="4800" b="1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𝐇</m:t>
                      </m:r>
                      <m:r>
                        <a:rPr lang="en-US" sz="4800" b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â</m:t>
                      </m:r>
                      <m:r>
                        <a:rPr lang="en-US" sz="4800" b="1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𝒏</m:t>
                      </m:r>
                      <m:r>
                        <a:rPr lang="en-US" sz="4800" b="1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}</m:t>
                      </m:r>
                    </m:oMath>
                  </m:oMathPara>
                </a14:m>
                <a:endParaRPr lang="en-US" sz="4800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6760377"/>
                <a:ext cx="18669000" cy="2513509"/>
              </a:xfrm>
              <a:prstGeom prst="rect">
                <a:avLst/>
              </a:prstGeom>
              <a:blipFill rotWithShape="1">
                <a:blip r:embed="rId3"/>
                <a:stretch>
                  <a:fillRect l="-1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   ·   BÀI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53758010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2"/>
          <p:cNvSpPr>
            <a:spLocks noChangeArrowheads="1"/>
          </p:cNvSpPr>
          <p:nvPr/>
        </p:nvSpPr>
        <p:spPr bwMode="auto">
          <a:xfrm>
            <a:off x="1269330" y="3476405"/>
            <a:ext cx="21895470" cy="4373698"/>
          </a:xfrm>
          <a:prstGeom prst="rect">
            <a:avLst/>
          </a:prstGeom>
          <a:solidFill>
            <a:srgbClr val="FFF8E5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C = {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châu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Á,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châu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Âu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;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châu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Đại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Dương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;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châu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Mỹ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;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châu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Nam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Cực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;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châu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Phi</a:t>
            </a:r>
            <a:r>
              <a:rPr kumimoji="0" lang="en-US" altLang="en-US" sz="4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}</a:t>
            </a:r>
            <a:endParaRPr kumimoji="0" lang="en-US" altLang="en-US" sz="4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arenR"/>
              <a:tabLst/>
            </a:pP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Hãy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chỉ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ra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tính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chất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đặc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trưng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cho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các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phần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tử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của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tập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hợp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C.</a:t>
            </a:r>
            <a:endParaRPr kumimoji="0" lang="en-US" altLang="en-US" sz="4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b) 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Tập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hợp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C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có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bao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nhiêu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phần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tử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</a:p>
        </p:txBody>
      </p: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990600" y="2667000"/>
            <a:ext cx="7696200" cy="914400"/>
            <a:chOff x="0" y="447"/>
            <a:chExt cx="31732" cy="2452"/>
          </a:xfrm>
        </p:grpSpPr>
        <p:sp>
          <p:nvSpPr>
            <p:cNvPr id="4" name="TextBox 321"/>
            <p:cNvSpPr txBox="1">
              <a:spLocks noChangeArrowheads="1"/>
            </p:cNvSpPr>
            <p:nvPr/>
          </p:nvSpPr>
          <p:spPr bwMode="auto">
            <a:xfrm>
              <a:off x="7012" y="447"/>
              <a:ext cx="24720" cy="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4800" b="1" kern="1200" dirty="0">
                  <a:solidFill>
                    <a:srgbClr val="FF0000"/>
                  </a:solidFill>
                  <a:effectLst/>
                  <a:latin typeface="Tahoma" pitchFamily="34" charset="0"/>
                  <a:ea typeface="Tahoma" pitchFamily="34" charset="0"/>
                  <a:cs typeface="Tahoma" pitchFamily="34" charset="0"/>
                </a:rPr>
                <a:t>HĐ2. </a:t>
              </a:r>
              <a:r>
                <a:rPr lang="en-US" sz="4800" b="1" kern="1200" dirty="0">
                  <a:effectLst/>
                  <a:latin typeface="Tahoma" pitchFamily="34" charset="0"/>
                  <a:ea typeface="Tahoma" pitchFamily="34" charset="0"/>
                  <a:cs typeface="Tahoma" pitchFamily="34" charset="0"/>
                </a:rPr>
                <a:t>Cho </a:t>
              </a:r>
              <a:r>
                <a:rPr lang="en-US" sz="4800" b="1" kern="1200" dirty="0" err="1">
                  <a:effectLst/>
                  <a:latin typeface="Tahoma" pitchFamily="34" charset="0"/>
                  <a:ea typeface="Tahoma" pitchFamily="34" charset="0"/>
                  <a:cs typeface="Tahoma" pitchFamily="34" charset="0"/>
                </a:rPr>
                <a:t>tập</a:t>
              </a:r>
              <a:r>
                <a:rPr lang="en-US" sz="4800" b="1" kern="1200" dirty="0">
                  <a:effectLst/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4800" b="1" kern="1200" dirty="0" err="1">
                  <a:effectLst/>
                  <a:latin typeface="Tahoma" pitchFamily="34" charset="0"/>
                  <a:ea typeface="Tahoma" pitchFamily="34" charset="0"/>
                  <a:cs typeface="Tahoma" pitchFamily="34" charset="0"/>
                </a:rPr>
                <a:t>hợp</a:t>
              </a:r>
              <a:r>
                <a:rPr lang="en-US" sz="4800" b="1" kern="1200" dirty="0">
                  <a:solidFill>
                    <a:srgbClr val="FF0000"/>
                  </a:solidFill>
                  <a:effectLst/>
                  <a:latin typeface="Tahoma" pitchFamily="34" charset="0"/>
                  <a:ea typeface="Tahoma" pitchFamily="34" charset="0"/>
                  <a:cs typeface="Tahoma" pitchFamily="34" charset="0"/>
                </a:rPr>
                <a:t>: </a:t>
              </a:r>
              <a:endParaRPr lang="en-US" sz="4800" b="1" dirty="0">
                <a:effectLst/>
                <a:latin typeface="Tahoma" pitchFamily="34" charset="0"/>
                <a:ea typeface="Tahoma" pitchFamily="34" charset="0"/>
                <a:cs typeface="Tahoma" pitchFamily="34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4800" b="1" kern="1200" dirty="0">
                  <a:solidFill>
                    <a:srgbClr val="FF0000"/>
                  </a:solidFill>
                  <a:effectLst/>
                  <a:latin typeface="Tahoma" pitchFamily="34" charset="0"/>
                  <a:ea typeface="Tahoma" pitchFamily="34" charset="0"/>
                  <a:cs typeface="Tahoma" pitchFamily="34" charset="0"/>
                </a:rPr>
                <a:t> </a:t>
              </a:r>
              <a:endParaRPr lang="en-US" sz="4800" b="1" dirty="0">
                <a:effectLst/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  <p:grpSp>
          <p:nvGrpSpPr>
            <p:cNvPr id="5" name="Group 4"/>
            <p:cNvGrpSpPr>
              <a:grpSpLocks/>
            </p:cNvGrpSpPr>
            <p:nvPr/>
          </p:nvGrpSpPr>
          <p:grpSpPr bwMode="auto">
            <a:xfrm>
              <a:off x="0" y="923"/>
              <a:ext cx="6271" cy="1976"/>
              <a:chOff x="0" y="923"/>
              <a:chExt cx="5755" cy="1976"/>
            </a:xfrm>
          </p:grpSpPr>
          <p:grpSp>
            <p:nvGrpSpPr>
              <p:cNvPr id="6" name="Group 5"/>
              <p:cNvGrpSpPr>
                <a:grpSpLocks/>
              </p:cNvGrpSpPr>
              <p:nvPr/>
            </p:nvGrpSpPr>
            <p:grpSpPr bwMode="auto">
              <a:xfrm>
                <a:off x="0" y="923"/>
                <a:ext cx="5755" cy="1976"/>
                <a:chOff x="0" y="923"/>
                <a:chExt cx="6444" cy="3028"/>
              </a:xfrm>
            </p:grpSpPr>
            <p:sp>
              <p:nvSpPr>
                <p:cNvPr id="9" name="Arrow: Pentagon 6"/>
                <p:cNvSpPr>
                  <a:spLocks noChangeArrowheads="1"/>
                </p:cNvSpPr>
                <p:nvPr/>
              </p:nvSpPr>
              <p:spPr bwMode="auto">
                <a:xfrm>
                  <a:off x="0" y="1038"/>
                  <a:ext cx="4206" cy="2913"/>
                </a:xfrm>
                <a:prstGeom prst="homePlate">
                  <a:avLst>
                    <a:gd name="adj" fmla="val 50001"/>
                  </a:avLst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ctr" anchorCtr="0" upright="1">
                  <a:noAutofit/>
                </a:bodyPr>
                <a:lstStyle/>
                <a:p>
                  <a:endParaRPr lang="en-US" sz="4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" name="Arrow: Chevron 11"/>
                <p:cNvSpPr>
                  <a:spLocks noChangeArrowheads="1"/>
                </p:cNvSpPr>
                <p:nvPr/>
              </p:nvSpPr>
              <p:spPr bwMode="auto">
                <a:xfrm>
                  <a:off x="3802" y="923"/>
                  <a:ext cx="1695" cy="2916"/>
                </a:xfrm>
                <a:prstGeom prst="chevron">
                  <a:avLst>
                    <a:gd name="adj" fmla="val 83505"/>
                  </a:avLst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12700">
                  <a:solidFill>
                    <a:srgbClr val="FFC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ctr" anchorCtr="0" upright="1">
                  <a:noAutofit/>
                </a:bodyPr>
                <a:lstStyle/>
                <a:p>
                  <a:endParaRPr lang="en-US" sz="4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" name="Arrow: Chevron 12"/>
                <p:cNvSpPr>
                  <a:spLocks noChangeArrowheads="1"/>
                </p:cNvSpPr>
                <p:nvPr/>
              </p:nvSpPr>
              <p:spPr bwMode="auto">
                <a:xfrm>
                  <a:off x="4749" y="923"/>
                  <a:ext cx="1695" cy="2916"/>
                </a:xfrm>
                <a:prstGeom prst="chevron">
                  <a:avLst>
                    <a:gd name="adj" fmla="val 83505"/>
                  </a:avLst>
                </a:prstGeom>
                <a:solidFill>
                  <a:srgbClr val="0000CC"/>
                </a:solidFill>
                <a:ln w="12700">
                  <a:solidFill>
                    <a:srgbClr val="FFFF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ctr" anchorCtr="0" upright="1">
                  <a:noAutofit/>
                </a:bodyPr>
                <a:lstStyle/>
                <a:p>
                  <a:endParaRPr lang="en-US" sz="4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7" name="Flowchart: Terminator 6"/>
              <p:cNvSpPr>
                <a:spLocks noChangeArrowheads="1"/>
              </p:cNvSpPr>
              <p:nvPr/>
            </p:nvSpPr>
            <p:spPr bwMode="auto">
              <a:xfrm>
                <a:off x="803" y="1376"/>
                <a:ext cx="2537" cy="1158"/>
              </a:xfrm>
              <a:prstGeom prst="flowChartTerminator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ctr" anchorCtr="0" upright="1">
                <a:noAutofit/>
              </a:bodyPr>
              <a:lstStyle/>
              <a:p>
                <a:endParaRPr lang="en-US" sz="4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" name="Oval 7"/>
              <p:cNvSpPr>
                <a:spLocks noChangeArrowheads="1"/>
              </p:cNvSpPr>
              <p:nvPr/>
            </p:nvSpPr>
            <p:spPr bwMode="auto">
              <a:xfrm>
                <a:off x="2116" y="1427"/>
                <a:ext cx="924" cy="954"/>
              </a:xfrm>
              <a:prstGeom prst="ellipse">
                <a:avLst/>
              </a:prstGeom>
              <a:solidFill>
                <a:srgbClr val="3333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ctr" anchorCtr="0" upright="1">
                <a:noAutofit/>
              </a:bodyPr>
              <a:lstStyle/>
              <a:p>
                <a:endParaRPr lang="en-US" sz="4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290350" y="8526104"/>
                <a:ext cx="21874449" cy="3621504"/>
              </a:xfrm>
              <a:prstGeom prst="rect">
                <a:avLst/>
              </a:prstGeom>
              <a:solidFill>
                <a:srgbClr val="ECFEF2"/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Giải</a:t>
                </a:r>
              </a:p>
              <a:p>
                <a:pPr marL="457200" indent="-457200">
                  <a:lnSpc>
                    <a:spcPct val="150000"/>
                  </a:lnSpc>
                  <a:spcAft>
                    <a:spcPts val="800"/>
                  </a:spcAft>
                  <a:buAutoNum type="alphaLcParenR"/>
                </a:pP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Tập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𝐂</m:t>
                    </m:r>
                  </m:oMath>
                </a14:m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là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tập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hợp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các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châu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lục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trên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thế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giới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b)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Tập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𝐂</m:t>
                    </m:r>
                  </m:oMath>
                </a14:m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có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6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phần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tử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0350" y="8526104"/>
                <a:ext cx="21874449" cy="3621504"/>
              </a:xfrm>
              <a:prstGeom prst="rect">
                <a:avLst/>
              </a:prstGeom>
              <a:blipFill rotWithShape="1">
                <a:blip r:embed="rId2"/>
                <a:stretch>
                  <a:fillRect l="-1282" b="-3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ounded Rectangle 17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   ·   BÀI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68699445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426839"/>
              </p:ext>
            </p:extLst>
          </p:nvPr>
        </p:nvGraphicFramePr>
        <p:xfrm>
          <a:off x="1219200" y="3124200"/>
          <a:ext cx="10134600" cy="9372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34600">
                  <a:extLst>
                    <a:ext uri="{9D8B030D-6E8A-4147-A177-3AD203B41FA5}">
                      <a16:colId xmlns:a16="http://schemas.microsoft.com/office/drawing/2014/main" val="3914530328"/>
                    </a:ext>
                  </a:extLst>
                </a:gridCol>
              </a:tblGrid>
              <a:tr h="937260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en-US" sz="4800" dirty="0"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4800" dirty="0" err="1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Có</a:t>
                      </a:r>
                      <a:r>
                        <a:rPr lang="en-US" sz="4800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4800" dirty="0" err="1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thể</a:t>
                      </a:r>
                      <a:r>
                        <a:rPr lang="en-US" sz="4800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4800" dirty="0" err="1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mô</a:t>
                      </a:r>
                      <a:r>
                        <a:rPr lang="en-US" sz="4800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4800" dirty="0" err="1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tả</a:t>
                      </a:r>
                      <a:r>
                        <a:rPr lang="en-US" sz="4800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4800" dirty="0" err="1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một</a:t>
                      </a:r>
                      <a:r>
                        <a:rPr lang="en-US" sz="4800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4800" dirty="0" err="1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tập</a:t>
                      </a:r>
                      <a:r>
                        <a:rPr lang="en-US" sz="4800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4800" dirty="0" err="1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hợp</a:t>
                      </a:r>
                      <a:r>
                        <a:rPr lang="en-US" sz="4800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4800" dirty="0" err="1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bằng</a:t>
                      </a:r>
                      <a:r>
                        <a:rPr lang="en-US" sz="4800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4800" dirty="0" err="1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một</a:t>
                      </a:r>
                      <a:r>
                        <a:rPr lang="en-US" sz="4800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4800" dirty="0" err="1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trong</a:t>
                      </a:r>
                      <a:r>
                        <a:rPr lang="en-US" sz="4800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4800" dirty="0" err="1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hai</a:t>
                      </a:r>
                      <a:r>
                        <a:rPr lang="en-US" sz="4800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4800" dirty="0" err="1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cách</a:t>
                      </a:r>
                      <a:r>
                        <a:rPr lang="en-US" sz="4800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4800" dirty="0" err="1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sau</a:t>
                      </a:r>
                      <a:endParaRPr lang="en-US" sz="4800" dirty="0"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4800" dirty="0" err="1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Cách</a:t>
                      </a:r>
                      <a:r>
                        <a:rPr lang="en-US" sz="4800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1. </a:t>
                      </a:r>
                      <a:r>
                        <a:rPr lang="en-US" sz="4800" dirty="0" err="1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Liệt</a:t>
                      </a:r>
                      <a:r>
                        <a:rPr lang="en-US" sz="4800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4800" dirty="0" err="1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kê</a:t>
                      </a:r>
                      <a:r>
                        <a:rPr lang="en-US" sz="4800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4800" dirty="0" err="1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các</a:t>
                      </a:r>
                      <a:r>
                        <a:rPr lang="en-US" sz="4800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4800" dirty="0" err="1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phần</a:t>
                      </a:r>
                      <a:r>
                        <a:rPr lang="en-US" sz="4800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4800" dirty="0" err="1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tử</a:t>
                      </a:r>
                      <a:r>
                        <a:rPr lang="en-US" sz="4800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4800" dirty="0" err="1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của</a:t>
                      </a:r>
                      <a:r>
                        <a:rPr lang="en-US" sz="4800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4800" dirty="0" err="1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tập</a:t>
                      </a:r>
                      <a:r>
                        <a:rPr lang="en-US" sz="4800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4800" dirty="0" err="1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hợp</a:t>
                      </a:r>
                      <a:r>
                        <a:rPr lang="en-US" sz="4800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;</a:t>
                      </a: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4800" dirty="0" err="1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Cách</a:t>
                      </a:r>
                      <a:r>
                        <a:rPr lang="en-US" sz="4800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2. </a:t>
                      </a:r>
                      <a:r>
                        <a:rPr lang="en-US" sz="4800" dirty="0" err="1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Chỉ</a:t>
                      </a:r>
                      <a:r>
                        <a:rPr lang="en-US" sz="4800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4800" dirty="0" err="1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ra</a:t>
                      </a:r>
                      <a:r>
                        <a:rPr lang="en-US" sz="4800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4800" dirty="0" err="1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tính</a:t>
                      </a:r>
                      <a:r>
                        <a:rPr lang="en-US" sz="4800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4800" dirty="0" err="1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chất</a:t>
                      </a:r>
                      <a:r>
                        <a:rPr lang="en-US" sz="4800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4800" dirty="0" err="1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đặc</a:t>
                      </a:r>
                      <a:r>
                        <a:rPr lang="en-US" sz="4800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4800" dirty="0" err="1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trưng</a:t>
                      </a:r>
                      <a:r>
                        <a:rPr lang="en-US" sz="4800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4800" dirty="0" err="1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cho</a:t>
                      </a:r>
                      <a:r>
                        <a:rPr lang="en-US" sz="4800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4800" dirty="0" err="1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các</a:t>
                      </a:r>
                      <a:r>
                        <a:rPr lang="en-US" sz="4800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4800" dirty="0" err="1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phần</a:t>
                      </a:r>
                      <a:r>
                        <a:rPr lang="en-US" sz="4800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4800" dirty="0" err="1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tử</a:t>
                      </a:r>
                      <a:r>
                        <a:rPr lang="en-US" sz="4800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4800" dirty="0" err="1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của</a:t>
                      </a:r>
                      <a:r>
                        <a:rPr lang="en-US" sz="4800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4800" dirty="0" err="1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tập</a:t>
                      </a:r>
                      <a:r>
                        <a:rPr lang="en-US" sz="4800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4800" dirty="0" err="1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hợp</a:t>
                      </a:r>
                      <a:endParaRPr lang="en-US" sz="4800" dirty="0"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114300" marR="114300" marT="0" marB="0">
                    <a:solidFill>
                      <a:srgbClr val="DBF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10935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: Rounded Corners 136"/>
              <p:cNvSpPr/>
              <p:nvPr/>
            </p:nvSpPr>
            <p:spPr>
              <a:xfrm>
                <a:off x="12192000" y="3124200"/>
                <a:ext cx="11582400" cy="8629650"/>
              </a:xfrm>
              <a:prstGeom prst="roundRect">
                <a:avLst/>
              </a:prstGeom>
              <a:solidFill>
                <a:srgbClr val="FFFFE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sz="56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𝒂</m:t>
                    </m:r>
                    <m:r>
                      <a:rPr lang="en-US" sz="56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en-US" sz="56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𝑺</m:t>
                    </m:r>
                  </m:oMath>
                </a14:m>
                <a:r>
                  <a:rPr lang="en-US" sz="5600" b="1" dirty="0">
                    <a:solidFill>
                      <a:srgbClr val="000000"/>
                    </a:solidFill>
                    <a:effectLst/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;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phần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tử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56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𝒂</m:t>
                    </m:r>
                  </m:oMath>
                </a14:m>
                <a:r>
                  <a:rPr lang="en-US" sz="5600" b="1" dirty="0">
                    <a:solidFill>
                      <a:srgbClr val="000000"/>
                    </a:solidFill>
                    <a:effectLst/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thuộc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tập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hợp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56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𝑺</m:t>
                    </m:r>
                  </m:oMath>
                </a14:m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en-US" sz="4800" b="1" dirty="0">
                  <a:effectLst/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sz="56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𝒂</m:t>
                    </m:r>
                    <m:r>
                      <a:rPr lang="en-US" sz="56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∉</m:t>
                    </m:r>
                    <m:r>
                      <a:rPr lang="en-US" sz="56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𝑺</m:t>
                    </m:r>
                  </m:oMath>
                </a14:m>
                <a:r>
                  <a:rPr lang="en-US" sz="5600" b="1" dirty="0">
                    <a:solidFill>
                      <a:srgbClr val="000000"/>
                    </a:solidFill>
                    <a:effectLst/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;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phần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tử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56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𝒂</m:t>
                    </m:r>
                  </m:oMath>
                </a14:m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không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thuộc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tập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hợp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56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𝑺</m:t>
                    </m:r>
                  </m:oMath>
                </a14:m>
                <a:r>
                  <a:rPr lang="en-US" sz="5600" b="1" dirty="0">
                    <a:solidFill>
                      <a:srgbClr val="000000"/>
                    </a:solidFill>
                    <a:effectLst/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  <a:endParaRPr lang="en-US" sz="5600" b="1" dirty="0">
                  <a:effectLst/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3" name="Rectangle: Rounded Corners 1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3124200"/>
                <a:ext cx="11582400" cy="862965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   ·   BÀI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28299843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673047" y="2252557"/>
                <a:ext cx="18020894" cy="156966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Cho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/>
                      </a:rPr>
                      <m:t>𝑫</m:t>
                    </m:r>
                    <m:r>
                      <a:rPr lang="en-US" sz="4800" b="1" i="1">
                        <a:latin typeface="Cambria Math"/>
                      </a:rPr>
                      <m:t>=</m:t>
                    </m:r>
                  </m:oMath>
                </a14:m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{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/>
                      </a:rPr>
                      <m:t>𝒏</m:t>
                    </m:r>
                    <m:r>
                      <a:rPr lang="en-US" sz="4800" b="1" i="1">
                        <a:latin typeface="Cambria Math"/>
                      </a:rPr>
                      <m:t>∈</m:t>
                    </m:r>
                    <m:r>
                      <a:rPr lang="en-US" sz="4800" b="1" i="1">
                        <a:latin typeface="Cambria Math"/>
                      </a:rPr>
                      <m:t>ℕ</m:t>
                    </m:r>
                    <m:r>
                      <a:rPr lang="en-US" sz="4800" b="1" i="1">
                        <a:latin typeface="Cambria Math"/>
                      </a:rPr>
                      <m:t>|</m:t>
                    </m:r>
                    <m:r>
                      <a:rPr lang="en-US" sz="4800" b="1" i="1">
                        <a:latin typeface="Cambria Math"/>
                      </a:rPr>
                      <m:t>𝒏</m:t>
                    </m:r>
                  </m:oMath>
                </a14:m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là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số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nguyên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tố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/>
                      </a:rPr>
                      <m:t>𝟓</m:t>
                    </m:r>
                    <m:r>
                      <a:rPr lang="en-US" sz="4800" b="1" i="1">
                        <a:latin typeface="Cambria Math"/>
                      </a:rPr>
                      <m:t>&lt;</m:t>
                    </m:r>
                    <m:r>
                      <a:rPr lang="en-US" sz="4800" b="1" i="1">
                        <a:latin typeface="Cambria Math"/>
                      </a:rPr>
                      <m:t>𝒏</m:t>
                    </m:r>
                    <m:r>
                      <a:rPr lang="en-US" sz="4800" b="1" i="1">
                        <a:latin typeface="Cambria Math"/>
                      </a:rPr>
                      <m:t>&lt;</m:t>
                    </m:r>
                    <m:r>
                      <a:rPr lang="en-US" sz="4800" b="1" i="1">
                        <a:latin typeface="Cambria Math"/>
                      </a:rPr>
                      <m:t>𝟐𝟎</m:t>
                    </m:r>
                  </m:oMath>
                </a14:m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}.</a:t>
                </a:r>
              </a:p>
              <a:p>
                <a:endParaRPr lang="en-US" sz="4800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3047" y="2252557"/>
                <a:ext cx="18020894" cy="1569660"/>
              </a:xfrm>
              <a:prstGeom prst="rect">
                <a:avLst/>
              </a:prstGeom>
              <a:blipFill>
                <a:blip r:embed="rId2"/>
                <a:stretch>
                  <a:fillRect l="-1556" t="-933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211588" y="4033984"/>
                <a:ext cx="22943812" cy="326570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Dùng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hiệu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để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viết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câu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trả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lời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câu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hỏi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/>
                      </a:rPr>
                      <m:t>𝟓</m:t>
                    </m:r>
                    <m:r>
                      <a:rPr lang="en-US" sz="4800" b="1" i="1">
                        <a:latin typeface="Cambria Math"/>
                      </a:rPr>
                      <m:t>;</m:t>
                    </m:r>
                    <m:r>
                      <a:rPr lang="en-US" sz="4800" b="1" i="1">
                        <a:latin typeface="Cambria Math"/>
                      </a:rPr>
                      <m:t>𝟏𝟐</m:t>
                    </m:r>
                    <m:r>
                      <a:rPr lang="en-US" sz="4800" b="1" i="1">
                        <a:latin typeface="Cambria Math"/>
                      </a:rPr>
                      <m:t>;</m:t>
                    </m:r>
                    <m:r>
                      <a:rPr lang="en-US" sz="4800" b="1" i="1">
                        <a:latin typeface="Cambria Math"/>
                      </a:rPr>
                      <m:t>𝟏𝟕</m:t>
                    </m:r>
                    <m:r>
                      <a:rPr lang="en-US" sz="4800" b="1" i="1">
                        <a:latin typeface="Cambria Math"/>
                      </a:rPr>
                      <m:t>;</m:t>
                    </m:r>
                    <m:r>
                      <a:rPr lang="en-US" sz="4800" b="1" i="1">
                        <a:latin typeface="Cambria Math"/>
                      </a:rPr>
                      <m:t>𝟏𝟖</m:t>
                    </m:r>
                  </m:oMath>
                </a14:m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,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số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nà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o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/>
                      </a:rPr>
                      <m:t>∈, ∉</m:t>
                    </m:r>
                  </m:oMath>
                </a14:m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thuộc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tập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/>
                      </a:rPr>
                      <m:t>𝑫</m:t>
                    </m:r>
                  </m:oMath>
                </a14:m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,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số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nào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không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thuộc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tập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/>
                      </a:rPr>
                      <m:t>𝑫</m:t>
                    </m:r>
                    <m:r>
                      <a:rPr lang="en-US" sz="4800" b="1" i="1">
                        <a:latin typeface="Cambria Math"/>
                      </a:rPr>
                      <m:t>?</m:t>
                    </m:r>
                  </m:oMath>
                </a14:m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endParaRPr lang="en-US" sz="4800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588" y="4033984"/>
                <a:ext cx="22943812" cy="3265702"/>
              </a:xfrm>
              <a:prstGeom prst="rect">
                <a:avLst/>
              </a:prstGeom>
              <a:blipFill>
                <a:blip r:embed="rId3"/>
                <a:stretch>
                  <a:fillRect l="-122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143000" y="6248400"/>
                <a:ext cx="22631400" cy="198560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Viết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/>
                      </a:rPr>
                      <m:t>𝑫</m:t>
                    </m:r>
                    <m:r>
                      <a:rPr lang="en-US" sz="4400" b="1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cách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liệt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kê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phần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tử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/>
                      </a:rPr>
                      <m:t>𝑫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bao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nhiêu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phần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tử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6248400"/>
                <a:ext cx="22631400" cy="1985608"/>
              </a:xfrm>
              <a:prstGeom prst="rect">
                <a:avLst/>
              </a:prstGeom>
              <a:blipFill>
                <a:blip r:embed="rId4"/>
                <a:stretch>
                  <a:fillRect l="-1105" b="-1380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1211588" y="8159577"/>
            <a:ext cx="1905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Giải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134981" y="8544298"/>
                <a:ext cx="12466313" cy="1508105"/>
              </a:xfrm>
              <a:prstGeom prst="rect">
                <a:avLst/>
              </a:prstGeom>
              <a:solidFill>
                <a:srgbClr val="FFFFDD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4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a)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/>
                      </a:rPr>
                      <m:t>𝟓</m:t>
                    </m:r>
                    <m:r>
                      <a:rPr lang="en-US" sz="4800" b="1" i="1">
                        <a:latin typeface="Cambria Math"/>
                      </a:rPr>
                      <m:t>∉</m:t>
                    </m:r>
                    <m:r>
                      <a:rPr lang="en-US" sz="4800" b="1" i="1">
                        <a:latin typeface="Cambria Math"/>
                      </a:rPr>
                      <m:t>𝑫</m:t>
                    </m:r>
                    <m:r>
                      <a:rPr lang="en-US" sz="4800" b="1" i="1">
                        <a:latin typeface="Cambria Math"/>
                      </a:rPr>
                      <m:t>; </m:t>
                    </m:r>
                    <m:r>
                      <a:rPr lang="en-US" sz="4800" b="1" i="1">
                        <a:latin typeface="Cambria Math"/>
                      </a:rPr>
                      <m:t>𝟏𝟐</m:t>
                    </m:r>
                    <m:r>
                      <a:rPr lang="en-US" sz="4800" b="1" i="1">
                        <a:latin typeface="Cambria Math"/>
                      </a:rPr>
                      <m:t>∉</m:t>
                    </m:r>
                    <m:r>
                      <a:rPr lang="en-US" sz="4800" b="1" i="1">
                        <a:latin typeface="Cambria Math"/>
                      </a:rPr>
                      <m:t>𝑫</m:t>
                    </m:r>
                    <m:r>
                      <a:rPr lang="en-US" sz="4800" b="1" i="1">
                        <a:latin typeface="Cambria Math"/>
                      </a:rPr>
                      <m:t>; </m:t>
                    </m:r>
                    <m:r>
                      <a:rPr lang="en-US" sz="4800" b="1" i="1">
                        <a:latin typeface="Cambria Math"/>
                      </a:rPr>
                      <m:t>𝟏𝟕</m:t>
                    </m:r>
                    <m:r>
                      <a:rPr lang="en-US" sz="4800" b="1" i="1">
                        <a:latin typeface="Cambria Math"/>
                      </a:rPr>
                      <m:t>∈</m:t>
                    </m:r>
                    <m:r>
                      <a:rPr lang="en-US" sz="4800" b="1" i="1">
                        <a:latin typeface="Cambria Math"/>
                      </a:rPr>
                      <m:t>𝑫</m:t>
                    </m:r>
                    <m:r>
                      <a:rPr lang="en-US" sz="4800" b="1" i="1">
                        <a:latin typeface="Cambria Math"/>
                      </a:rPr>
                      <m:t>; </m:t>
                    </m:r>
                    <m:r>
                      <a:rPr lang="en-US" sz="4800" b="1" i="1">
                        <a:latin typeface="Cambria Math"/>
                      </a:rPr>
                      <m:t>𝟏𝟖</m:t>
                    </m:r>
                    <m:r>
                      <a:rPr lang="en-US" sz="4800" b="1" i="1">
                        <a:latin typeface="Cambria Math"/>
                      </a:rPr>
                      <m:t>∉</m:t>
                    </m:r>
                    <m:r>
                      <a:rPr lang="en-US" sz="4800" b="1" i="1">
                        <a:latin typeface="Cambria Math"/>
                      </a:rPr>
                      <m:t>𝑫</m:t>
                    </m:r>
                  </m:oMath>
                </a14:m>
                <a:r>
                  <a:rPr lang="en-US" sz="4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endParaRPr lang="en-US" sz="4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4981" y="8544298"/>
                <a:ext cx="12466313" cy="1508105"/>
              </a:xfrm>
              <a:prstGeom prst="rect">
                <a:avLst/>
              </a:prstGeom>
              <a:blipFill rotWithShape="1">
                <a:blip r:embed="rId5"/>
                <a:stretch>
                  <a:fillRect l="-2200" t="-9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994269" y="11049000"/>
                <a:ext cx="14760331" cy="1063433"/>
              </a:xfrm>
              <a:prstGeom prst="rect">
                <a:avLst/>
              </a:prstGeom>
              <a:solidFill>
                <a:srgbClr val="DBFDE6"/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en-US" sz="4800" b="1" dirty="0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b)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𝑫</m:t>
                    </m:r>
                    <m:r>
                      <a:rPr lang="en-US" sz="4800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4800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4800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𝟕</m:t>
                        </m:r>
                        <m:r>
                          <a:rPr lang="en-US" sz="4800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;</m:t>
                        </m:r>
                        <m:r>
                          <a:rPr lang="en-US" sz="4800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𝟏𝟏</m:t>
                        </m:r>
                        <m:r>
                          <a:rPr lang="en-US" sz="4800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;</m:t>
                        </m:r>
                        <m:r>
                          <a:rPr lang="en-US" sz="4800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𝟏𝟑</m:t>
                        </m:r>
                        <m:r>
                          <a:rPr lang="en-US" sz="4800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;</m:t>
                        </m:r>
                        <m:r>
                          <a:rPr lang="en-US" sz="4800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𝟏𝟕</m:t>
                        </m:r>
                        <m:r>
                          <a:rPr lang="en-US" sz="4800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;</m:t>
                        </m:r>
                        <m:r>
                          <a:rPr lang="en-US" sz="4800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𝟏𝟗</m:t>
                        </m:r>
                      </m:e>
                    </m:d>
                  </m:oMath>
                </a14:m>
                <a:r>
                  <a:rPr lang="en-US" sz="4800" b="1" dirty="0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. </a:t>
                </a:r>
                <a:r>
                  <a:rPr lang="en-US" sz="4800" b="1" dirty="0" err="1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Tập</a:t>
                </a:r>
                <a:r>
                  <a:rPr lang="en-US" sz="4800" b="1" dirty="0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4800" b="1" dirty="0" err="1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hợp</a:t>
                </a:r>
                <a:r>
                  <a:rPr lang="en-US" sz="4800" b="1" dirty="0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𝑫</m:t>
                    </m:r>
                  </m:oMath>
                </a14:m>
                <a:r>
                  <a:rPr lang="en-US" sz="4800" b="1" dirty="0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4800" b="1" dirty="0" err="1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có</a:t>
                </a:r>
                <a:r>
                  <a:rPr lang="en-US" sz="4800" b="1" dirty="0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𝟓</m:t>
                    </m:r>
                  </m:oMath>
                </a14:m>
                <a:r>
                  <a:rPr lang="en-US" sz="4800" b="1" dirty="0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4800" b="1" dirty="0" err="1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phần</a:t>
                </a:r>
                <a:r>
                  <a:rPr lang="en-US" sz="4800" b="1" dirty="0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4800" b="1" dirty="0" err="1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tử</a:t>
                </a:r>
                <a:r>
                  <a:rPr lang="en-US" sz="4800" b="1" dirty="0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4269" y="11049000"/>
                <a:ext cx="14760331" cy="1063433"/>
              </a:xfrm>
              <a:prstGeom prst="rect">
                <a:avLst/>
              </a:prstGeom>
              <a:blipFill rotWithShape="1">
                <a:blip r:embed="rId6"/>
                <a:stretch>
                  <a:fillRect l="-1858" b="-287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/>
          <p:cNvSpPr/>
          <p:nvPr/>
        </p:nvSpPr>
        <p:spPr>
          <a:xfrm>
            <a:off x="126124" y="1981200"/>
            <a:ext cx="3505200" cy="1446550"/>
          </a:xfrm>
          <a:prstGeom prst="ellipse">
            <a:avLst/>
          </a:prstGeom>
          <a:solidFill>
            <a:srgbClr val="FFF8E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2743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Ví</a:t>
            </a:r>
            <a:r>
              <a:rPr lang="en-US" sz="4800" b="1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800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dụ</a:t>
            </a:r>
            <a:r>
              <a:rPr lang="en-US" sz="4800" b="1" dirty="0">
                <a:latin typeface="Tahoma" pitchFamily="34" charset="0"/>
                <a:ea typeface="Tahoma" pitchFamily="34" charset="0"/>
                <a:cs typeface="Tahoma" pitchFamily="34" charset="0"/>
              </a:rPr>
              <a:t> 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   ·   BÀI 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18705988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0"/>
                            </p:stCondLst>
                            <p:childTnLst>
                              <p:par>
                                <p:cTn id="22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/>
      <p:bldP spid="7" grpId="0" animBg="1"/>
      <p:bldP spid="8" grpId="0" animBg="1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val 1"/>
              <p:cNvSpPr/>
              <p:nvPr/>
            </p:nvSpPr>
            <p:spPr>
              <a:xfrm>
                <a:off x="2819400" y="4191000"/>
                <a:ext cx="18059400" cy="5486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Chú ý. 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phần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tử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/>
                      </a:rPr>
                      <m:t>𝑺</m:t>
                    </m:r>
                  </m:oMath>
                </a14:m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được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kí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hiệu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là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/>
                      </a:rPr>
                      <m:t>𝒏</m:t>
                    </m:r>
                    <m:d>
                      <m:d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b="1" i="1">
                            <a:latin typeface="Cambria Math"/>
                          </a:rPr>
                          <m:t>𝑺</m:t>
                        </m:r>
                      </m:e>
                    </m:d>
                  </m:oMath>
                </a14:m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Chẳng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hạn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,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tập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hợp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/>
                      </a:rPr>
                      <m:t>𝑨</m:t>
                    </m:r>
                  </m:oMath>
                </a14:m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trong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HĐ1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có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số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phần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tử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là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/>
                      </a:rPr>
                      <m:t>𝟕</m:t>
                    </m:r>
                  </m:oMath>
                </a14:m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, ta </a:t>
                </a:r>
                <a:r>
                  <a:rPr lang="en-US" sz="48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viết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/>
                      </a:rPr>
                      <m:t>𝒏</m:t>
                    </m:r>
                    <m:d>
                      <m:d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b="1" i="1">
                            <a:latin typeface="Cambria Math"/>
                          </a:rPr>
                          <m:t>𝑨</m:t>
                        </m:r>
                      </m:e>
                    </m:d>
                    <m:r>
                      <a:rPr lang="en-US" sz="4800" b="1" i="1">
                        <a:latin typeface="Cambria Math"/>
                      </a:rPr>
                      <m:t>=</m:t>
                    </m:r>
                    <m:r>
                      <a:rPr lang="en-US" sz="4800" b="1" i="1">
                        <a:latin typeface="Cambria Math"/>
                      </a:rPr>
                      <m:t>𝟕</m:t>
                    </m:r>
                  </m:oMath>
                </a14:m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Oval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4191000"/>
                <a:ext cx="18059400" cy="548640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   ·   BÀI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00813748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685800" y="2288628"/>
            <a:ext cx="21869400" cy="80009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/>
              <p:cNvSpPr/>
              <p:nvPr/>
            </p:nvSpPr>
            <p:spPr>
              <a:xfrm>
                <a:off x="2924798" y="10668000"/>
                <a:ext cx="18364200" cy="1685925"/>
              </a:xfrm>
              <a:prstGeom prst="round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chứa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phần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tử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nào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rỗng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</a:t>
                </a:r>
              </a:p>
              <a:p>
                <a:pPr algn="ctr"/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hiệu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/>
                      </a:rPr>
                      <m:t>∅</m:t>
                    </m:r>
                  </m:oMath>
                </a14:m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.</a:t>
                </a:r>
              </a:p>
            </p:txBody>
          </p:sp>
        </mc:Choice>
        <mc:Fallback xmlns="">
          <p:sp>
            <p:nvSpPr>
              <p:cNvPr id="3" name="Rounded 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4798" y="10668000"/>
                <a:ext cx="18364200" cy="1685925"/>
              </a:xfrm>
              <a:prstGeom prst="roundRect">
                <a:avLst/>
              </a:prstGeom>
              <a:blipFill>
                <a:blip r:embed="rId3"/>
                <a:stretch>
                  <a:fillRect t="-3943" b="-14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   ·   BÀI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92905567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590800" y="2286000"/>
            <a:ext cx="6857077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800" b="1" dirty="0" err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Chẳng</a:t>
            </a:r>
            <a:r>
              <a:rPr lang="en-US" sz="4800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800" b="1" dirty="0" err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hạn</a:t>
            </a:r>
            <a:r>
              <a:rPr lang="en-US" sz="4800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133600" y="4378404"/>
                <a:ext cx="18041186" cy="1078950"/>
              </a:xfrm>
              <a:prstGeom prst="rect">
                <a:avLst/>
              </a:prstGeom>
              <a:solidFill>
                <a:srgbClr val="FFFFEF"/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4800" b="1" dirty="0">
                    <a:solidFill>
                      <a:srgbClr val="CC00CC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- </a:t>
                </a:r>
                <a:r>
                  <a:rPr lang="en-US" sz="4800" b="1" dirty="0" err="1">
                    <a:solidFill>
                      <a:srgbClr val="CC00CC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Tập</a:t>
                </a:r>
                <a:r>
                  <a:rPr lang="en-US" sz="4800" b="1" dirty="0">
                    <a:solidFill>
                      <a:srgbClr val="CC00CC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CC00CC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các</a:t>
                </a:r>
                <a:r>
                  <a:rPr lang="en-US" sz="4800" b="1" dirty="0">
                    <a:solidFill>
                      <a:srgbClr val="CC00CC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CC00CC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nghiệm</a:t>
                </a:r>
                <a:r>
                  <a:rPr lang="en-US" sz="4800" b="1" dirty="0">
                    <a:solidFill>
                      <a:srgbClr val="CC00CC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CC00CC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của</a:t>
                </a:r>
                <a:r>
                  <a:rPr lang="en-US" sz="4800" b="1" dirty="0">
                    <a:solidFill>
                      <a:srgbClr val="CC00CC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CC00CC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phương</a:t>
                </a:r>
                <a:r>
                  <a:rPr lang="en-US" sz="4800" b="1" dirty="0">
                    <a:solidFill>
                      <a:srgbClr val="CC00CC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CC00CC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trình</a:t>
                </a:r>
                <a:r>
                  <a:rPr lang="en-US" sz="4800" b="1" dirty="0">
                    <a:solidFill>
                      <a:srgbClr val="CC00CC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800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800" b="1" i="1">
                            <a:solidFill>
                              <a:srgbClr val="CC00CC"/>
                            </a:solidFill>
                            <a:latin typeface="Cambria Math"/>
                          </a:rPr>
                          <m:t>𝒙</m:t>
                        </m:r>
                      </m:e>
                      <m:sup>
                        <m:r>
                          <a:rPr lang="en-US" sz="4800" b="1" i="1">
                            <a:solidFill>
                              <a:srgbClr val="CC00CC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US" sz="4800" b="1" i="1">
                        <a:solidFill>
                          <a:srgbClr val="CC00CC"/>
                        </a:solidFill>
                        <a:latin typeface="Cambria Math"/>
                      </a:rPr>
                      <m:t>+</m:t>
                    </m:r>
                    <m:r>
                      <a:rPr lang="en-US" sz="4800" b="1" i="1">
                        <a:solidFill>
                          <a:srgbClr val="CC00CC"/>
                        </a:solidFill>
                        <a:latin typeface="Cambria Math"/>
                      </a:rPr>
                      <m:t>𝟏</m:t>
                    </m:r>
                    <m:r>
                      <a:rPr lang="en-US" sz="4800" b="1" i="1">
                        <a:solidFill>
                          <a:srgbClr val="CC00CC"/>
                        </a:solidFill>
                        <a:latin typeface="Cambria Math"/>
                      </a:rPr>
                      <m:t>=</m:t>
                    </m:r>
                    <m:r>
                      <a:rPr lang="en-US" sz="4800" b="1" i="1">
                        <a:solidFill>
                          <a:srgbClr val="CC00CC"/>
                        </a:solidFill>
                        <a:latin typeface="Cambria Math"/>
                      </a:rPr>
                      <m:t>𝟎</m:t>
                    </m:r>
                  </m:oMath>
                </a14:m>
                <a:r>
                  <a:rPr lang="en-US" sz="4800" b="1" dirty="0">
                    <a:solidFill>
                      <a:srgbClr val="CC00CC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CC00CC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là</a:t>
                </a:r>
                <a:r>
                  <a:rPr lang="en-US" sz="4800" b="1" dirty="0">
                    <a:solidFill>
                      <a:srgbClr val="CC00CC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CC00CC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tập</a:t>
                </a:r>
                <a:r>
                  <a:rPr lang="en-US" sz="4800" b="1" dirty="0">
                    <a:solidFill>
                      <a:srgbClr val="CC00CC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CC00CC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rỗng</a:t>
                </a:r>
                <a:r>
                  <a:rPr lang="en-US" sz="4800" b="1" dirty="0">
                    <a:solidFill>
                      <a:srgbClr val="CC00CC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4378404"/>
                <a:ext cx="18041186" cy="1078950"/>
              </a:xfrm>
              <a:prstGeom prst="rect">
                <a:avLst/>
              </a:prstGeom>
              <a:blipFill rotWithShape="1">
                <a:blip r:embed="rId2"/>
                <a:stretch>
                  <a:fillRect l="-1520" b="-282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2057400" y="5826204"/>
            <a:ext cx="18452434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800" b="1" dirty="0">
                <a:solidFill>
                  <a:srgbClr val="0033CC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- </a:t>
            </a:r>
            <a:r>
              <a:rPr lang="en-US" sz="4800" b="1" dirty="0" err="1">
                <a:solidFill>
                  <a:srgbClr val="0033CC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Tập</a:t>
            </a:r>
            <a:r>
              <a:rPr lang="en-US" sz="4800" b="1" dirty="0">
                <a:solidFill>
                  <a:srgbClr val="0033CC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800" b="1" dirty="0" err="1">
                <a:solidFill>
                  <a:srgbClr val="0033CC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hợp</a:t>
            </a:r>
            <a:r>
              <a:rPr lang="en-US" sz="4800" b="1" dirty="0">
                <a:solidFill>
                  <a:srgbClr val="0033CC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800" b="1" dirty="0" err="1">
                <a:solidFill>
                  <a:srgbClr val="0033CC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những</a:t>
            </a:r>
            <a:r>
              <a:rPr lang="en-US" sz="4800" b="1" dirty="0">
                <a:solidFill>
                  <a:srgbClr val="0033CC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800" b="1" dirty="0" err="1">
                <a:solidFill>
                  <a:srgbClr val="0033CC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người</a:t>
            </a:r>
            <a:r>
              <a:rPr lang="en-US" sz="4800" b="1" dirty="0">
                <a:solidFill>
                  <a:srgbClr val="0033CC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800" b="1" dirty="0" err="1">
                <a:solidFill>
                  <a:srgbClr val="0033CC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sống</a:t>
            </a:r>
            <a:r>
              <a:rPr lang="en-US" sz="4800" b="1" dirty="0">
                <a:solidFill>
                  <a:srgbClr val="0033CC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800" b="1" dirty="0" err="1">
                <a:solidFill>
                  <a:srgbClr val="0033CC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trên</a:t>
            </a:r>
            <a:r>
              <a:rPr lang="en-US" sz="4800" b="1" dirty="0">
                <a:solidFill>
                  <a:srgbClr val="0033CC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800" b="1" dirty="0" err="1">
                <a:solidFill>
                  <a:srgbClr val="0033CC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Mặt</a:t>
            </a:r>
            <a:r>
              <a:rPr lang="en-US" sz="4800" b="1" dirty="0">
                <a:solidFill>
                  <a:srgbClr val="0033CC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800" b="1" dirty="0" err="1">
                <a:solidFill>
                  <a:srgbClr val="0033CC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Trời</a:t>
            </a:r>
            <a:r>
              <a:rPr lang="en-US" sz="4800" b="1" dirty="0">
                <a:solidFill>
                  <a:srgbClr val="0033CC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800" b="1" dirty="0" err="1">
                <a:solidFill>
                  <a:srgbClr val="0033CC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là</a:t>
            </a:r>
            <a:r>
              <a:rPr lang="en-US" sz="4800" b="1" dirty="0">
                <a:solidFill>
                  <a:srgbClr val="0033CC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800" b="1" dirty="0" err="1">
                <a:solidFill>
                  <a:srgbClr val="0033CC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tập</a:t>
            </a:r>
            <a:r>
              <a:rPr lang="en-US" sz="4800" b="1" dirty="0">
                <a:solidFill>
                  <a:srgbClr val="0033CC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800" b="1" dirty="0" err="1">
                <a:solidFill>
                  <a:srgbClr val="0033CC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rỗng</a:t>
            </a:r>
            <a:r>
              <a:rPr lang="en-US" sz="4800" b="1" dirty="0">
                <a:solidFill>
                  <a:srgbClr val="0033CC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.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   ·   BÀI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76545392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1021302" y="2707182"/>
            <a:ext cx="5798322" cy="950418"/>
            <a:chOff x="174" y="34"/>
            <a:chExt cx="10919" cy="1824"/>
          </a:xfrm>
        </p:grpSpPr>
        <p:grpSp>
          <p:nvGrpSpPr>
            <p:cNvPr id="3" name="Group 2"/>
            <p:cNvGrpSpPr>
              <a:grpSpLocks/>
            </p:cNvGrpSpPr>
            <p:nvPr/>
          </p:nvGrpSpPr>
          <p:grpSpPr bwMode="auto">
            <a:xfrm>
              <a:off x="174" y="34"/>
              <a:ext cx="9739" cy="1824"/>
              <a:chOff x="244" y="-88"/>
              <a:chExt cx="13703" cy="2255"/>
            </a:xfrm>
          </p:grpSpPr>
          <p:sp>
            <p:nvSpPr>
              <p:cNvPr id="5" name="Arrow: Pentagon 33"/>
              <p:cNvSpPr>
                <a:spLocks noChangeArrowheads="1"/>
              </p:cNvSpPr>
              <p:nvPr/>
            </p:nvSpPr>
            <p:spPr bwMode="auto">
              <a:xfrm>
                <a:off x="2259" y="-88"/>
                <a:ext cx="11688" cy="2255"/>
              </a:xfrm>
              <a:prstGeom prst="homePlate">
                <a:avLst>
                  <a:gd name="adj" fmla="val 50025"/>
                </a:avLst>
              </a:prstGeom>
              <a:solidFill>
                <a:srgbClr val="FCFFEF"/>
              </a:solidFill>
              <a:ln w="12700">
                <a:solidFill>
                  <a:srgbClr val="FBE5D6"/>
                </a:solidFill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ctr" anchorCtr="0" upright="1">
                <a:noAutofit/>
              </a:bodyPr>
              <a:lstStyle/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4400" b="1" kern="1200">
                    <a:solidFill>
                      <a:srgbClr val="0000CC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 </a:t>
                </a:r>
                <a:endParaRPr lang="en-US" sz="440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" name="Arrow: Chevron 34"/>
              <p:cNvSpPr>
                <a:spLocks noChangeArrowheads="1"/>
              </p:cNvSpPr>
              <p:nvPr/>
            </p:nvSpPr>
            <p:spPr bwMode="auto">
              <a:xfrm>
                <a:off x="244" y="59"/>
                <a:ext cx="1627" cy="1961"/>
              </a:xfrm>
              <a:prstGeom prst="chevron">
                <a:avLst>
                  <a:gd name="adj" fmla="val 50000"/>
                </a:avLst>
              </a:prstGeom>
              <a:solidFill>
                <a:srgbClr val="4472C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ctr" anchorCtr="0" upright="1">
                <a:noAutofit/>
              </a:bodyPr>
              <a:lstStyle/>
              <a:p>
                <a:endParaRPr lang="en-US" sz="4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" name="Arrow: Chevron 35"/>
              <p:cNvSpPr>
                <a:spLocks noChangeArrowheads="1"/>
              </p:cNvSpPr>
              <p:nvPr/>
            </p:nvSpPr>
            <p:spPr bwMode="auto">
              <a:xfrm>
                <a:off x="933" y="101"/>
                <a:ext cx="1768" cy="1961"/>
              </a:xfrm>
              <a:prstGeom prst="chevron">
                <a:avLst>
                  <a:gd name="adj" fmla="val 50000"/>
                </a:avLst>
              </a:prstGeom>
              <a:solidFill>
                <a:srgbClr val="F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ctr" anchorCtr="0" upright="1">
                <a:noAutofit/>
              </a:bodyPr>
              <a:lstStyle/>
              <a:p>
                <a:endParaRPr lang="en-US" sz="4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" name="TextBox 56"/>
            <p:cNvSpPr txBox="1">
              <a:spLocks noChangeArrowheads="1"/>
            </p:cNvSpPr>
            <p:nvPr/>
          </p:nvSpPr>
          <p:spPr bwMode="auto">
            <a:xfrm>
              <a:off x="2034" y="76"/>
              <a:ext cx="9059" cy="1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4800" b="1" kern="1200" dirty="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Luyện</a:t>
              </a:r>
              <a:r>
                <a:rPr lang="en-US" sz="4800" b="1" kern="1200" dirty="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800" b="1" kern="1200" dirty="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tập</a:t>
              </a:r>
              <a:r>
                <a:rPr lang="en-US" sz="4800" b="1" kern="1200" dirty="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1.</a:t>
              </a:r>
              <a:endParaRPr lang="en-US" sz="4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88450" y="4026310"/>
                <a:ext cx="23971398" cy="3274166"/>
              </a:xfrm>
              <a:prstGeom prst="rect">
                <a:avLst/>
              </a:prstGeom>
              <a:solidFill>
                <a:srgbClr val="ECFEF2"/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X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nghiệm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4800" i="0">
                            <a:latin typeface="Cambria Math"/>
                          </a:rPr>
                          <m:t>x</m:t>
                        </m:r>
                      </m:e>
                      <m:sup>
                        <m:r>
                          <a:rPr lang="en-US" sz="4800" i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4800" i="0">
                        <a:latin typeface="Cambria Math"/>
                      </a:rPr>
                      <m:t>−24</m:t>
                    </m:r>
                    <m:r>
                      <m:rPr>
                        <m:sty m:val="p"/>
                      </m:rPr>
                      <a:rPr lang="en-US" sz="4800" i="0">
                        <a:latin typeface="Cambria Math"/>
                      </a:rPr>
                      <m:t>x</m:t>
                    </m:r>
                    <m:r>
                      <a:rPr lang="en-US" sz="4800" i="0">
                        <a:latin typeface="Cambria Math"/>
                      </a:rPr>
                      <m:t>+143=0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mệnh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đề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đúng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hay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?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14:m>
                  <m:oMath xmlns:m="http://schemas.openxmlformats.org/officeDocument/2006/math">
                    <m:r>
                      <a:rPr lang="en-US" sz="4800" i="0">
                        <a:latin typeface="Cambria Math"/>
                      </a:rPr>
                      <m:t>13∈</m:t>
                    </m:r>
                    <m:r>
                      <m:rPr>
                        <m:sty m:val="p"/>
                      </m:rPr>
                      <a:rPr lang="en-US" sz="4800" i="0">
                        <a:latin typeface="Cambria Math"/>
                      </a:rPr>
                      <m:t>X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	b)  </a:t>
                </a:r>
                <a14:m>
                  <m:oMath xmlns:m="http://schemas.openxmlformats.org/officeDocument/2006/math">
                    <m:r>
                      <a:rPr lang="en-US" sz="4800" i="0">
                        <a:latin typeface="Cambria Math"/>
                      </a:rPr>
                      <m:t>11∉</m:t>
                    </m:r>
                    <m:r>
                      <m:rPr>
                        <m:sty m:val="p"/>
                      </m:rPr>
                      <a:rPr lang="en-US" sz="4800" i="0">
                        <a:latin typeface="Cambria Math"/>
                      </a:rPr>
                      <m:t>X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	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4800" i="0">
                        <a:latin typeface="Cambria Math"/>
                      </a:rPr>
                      <m:t>n</m:t>
                    </m:r>
                    <m:d>
                      <m:d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4800" i="0">
                            <a:latin typeface="Cambria Math"/>
                          </a:rPr>
                          <m:t>X</m:t>
                        </m:r>
                      </m:e>
                    </m:d>
                    <m:r>
                      <a:rPr lang="en-US" sz="4800" i="0">
                        <a:latin typeface="Cambria Math"/>
                      </a:rPr>
                      <m:t>=2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450" y="4026310"/>
                <a:ext cx="23971398" cy="3274166"/>
              </a:xfrm>
              <a:prstGeom prst="rect">
                <a:avLst/>
              </a:prstGeom>
              <a:blipFill>
                <a:blip r:embed="rId2"/>
                <a:stretch>
                  <a:fillRect l="-1170" b="-855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24152" y="8399245"/>
                <a:ext cx="23935696" cy="2166170"/>
              </a:xfrm>
              <a:prstGeom prst="rect">
                <a:avLst/>
              </a:prstGeom>
              <a:solidFill>
                <a:srgbClr val="EEF7E9"/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800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sz="4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4800" i="1">
                        <a:latin typeface="Cambria Math"/>
                      </a:rPr>
                      <m:t>−24</m:t>
                    </m:r>
                    <m:r>
                      <a:rPr lang="en-US" sz="4800" i="1">
                        <a:latin typeface="Cambria Math"/>
                      </a:rPr>
                      <m:t>𝑥</m:t>
                    </m:r>
                    <m:r>
                      <a:rPr lang="en-US" sz="4800" i="1">
                        <a:latin typeface="Cambria Math"/>
                      </a:rPr>
                      <m:t>+143=0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nghiệm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phân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biệt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4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4800" i="1">
                        <a:latin typeface="Cambria Math"/>
                      </a:rPr>
                      <m:t>=11, </m:t>
                    </m:r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4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4800" i="1">
                        <a:latin typeface="Cambria Math"/>
                      </a:rPr>
                      <m:t>=13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Suy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/>
                      </a:rPr>
                      <m:t>𝑋</m:t>
                    </m:r>
                    <m:r>
                      <a:rPr lang="en-US" sz="48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i="1">
                            <a:latin typeface="Cambria Math"/>
                          </a:rPr>
                          <m:t>11;13</m:t>
                        </m:r>
                      </m:e>
                    </m:d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mệnh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đề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152" y="8399245"/>
                <a:ext cx="23935696" cy="2166170"/>
              </a:xfrm>
              <a:prstGeom prst="rect">
                <a:avLst/>
              </a:prstGeom>
              <a:blipFill>
                <a:blip r:embed="rId3"/>
                <a:stretch>
                  <a:fillRect l="-1172" b="-1380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368492" y="11050250"/>
                <a:ext cx="17605308" cy="1569660"/>
              </a:xfrm>
              <a:prstGeom prst="rect">
                <a:avLst/>
              </a:prstGeom>
              <a:solidFill>
                <a:srgbClr val="FFF8E5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13∈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đúng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    b) 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11∉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     c)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4800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đúng</a:t>
                </a:r>
                <a:endParaRPr lang="en-US" sz="4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endParaRPr lang="en-US" sz="4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8492" y="11050250"/>
                <a:ext cx="17605308" cy="1569660"/>
              </a:xfrm>
              <a:prstGeom prst="rect">
                <a:avLst/>
              </a:prstGeom>
              <a:blipFill>
                <a:blip r:embed="rId4"/>
                <a:stretch>
                  <a:fillRect l="-1558" t="-9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F3A5ACF0-4F11-4A08-B8B3-476263EDB62D}"/>
              </a:ext>
            </a:extLst>
          </p:cNvPr>
          <p:cNvGrpSpPr/>
          <p:nvPr/>
        </p:nvGrpSpPr>
        <p:grpSpPr>
          <a:xfrm>
            <a:off x="188450" y="7511768"/>
            <a:ext cx="3760381" cy="887477"/>
            <a:chOff x="22440" y="16831"/>
            <a:chExt cx="850471" cy="230002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2987103-7EFF-41AD-83F0-78C05A9B9F66}"/>
                </a:ext>
              </a:extLst>
            </p:cNvPr>
            <p:cNvGrpSpPr/>
            <p:nvPr/>
          </p:nvGrpSpPr>
          <p:grpSpPr>
            <a:xfrm>
              <a:off x="22440" y="59287"/>
              <a:ext cx="850471" cy="159855"/>
              <a:chOff x="31572" y="60276"/>
              <a:chExt cx="1196628" cy="197828"/>
            </a:xfrm>
          </p:grpSpPr>
          <p:sp>
            <p:nvSpPr>
              <p:cNvPr id="15" name="Arrow: Pentagon 14">
                <a:extLst>
                  <a:ext uri="{FF2B5EF4-FFF2-40B4-BE49-F238E27FC236}">
                    <a16:creationId xmlns:a16="http://schemas.microsoft.com/office/drawing/2014/main" id="{13E23CF7-D034-415F-A8FB-09E0E5ACAC3F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Arrow: Chevron 15">
                <a:extLst>
                  <a:ext uri="{FF2B5EF4-FFF2-40B4-BE49-F238E27FC236}">
                    <a16:creationId xmlns:a16="http://schemas.microsoft.com/office/drawing/2014/main" id="{A3A3DB38-BE92-43EF-B7E7-0250E32FC013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" name="Arrow: Chevron 16">
                <a:extLst>
                  <a:ext uri="{FF2B5EF4-FFF2-40B4-BE49-F238E27FC236}">
                    <a16:creationId xmlns:a16="http://schemas.microsoft.com/office/drawing/2014/main" id="{0C4A73D0-F0EF-4033-B898-86F0C927A7F2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4" name="TextBox 56">
              <a:extLst>
                <a:ext uri="{FF2B5EF4-FFF2-40B4-BE49-F238E27FC236}">
                  <a16:creationId xmlns:a16="http://schemas.microsoft.com/office/drawing/2014/main" id="{E52934CE-00AB-4484-846A-4F9584B9A75F}"/>
                </a:ext>
              </a:extLst>
            </p:cNvPr>
            <p:cNvSpPr txBox="1"/>
            <p:nvPr/>
          </p:nvSpPr>
          <p:spPr>
            <a:xfrm>
              <a:off x="188148" y="16831"/>
              <a:ext cx="591618" cy="23000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Giải</a:t>
              </a:r>
              <a:r>
                <a:rPr kumimoji="0" lang="en-US" sz="4800" b="1" i="0" u="none" strike="noStrike" kern="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endPara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9" name="Rounded Rectangle 1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   ·   BÀI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84358238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913770" y="2286000"/>
            <a:ext cx="8624718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a. </a:t>
            </a:r>
            <a:r>
              <a:rPr lang="en-US" sz="4800" b="1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Tập</a:t>
            </a:r>
            <a:r>
              <a:rPr lang="en-US" sz="4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hợp</a:t>
            </a:r>
            <a:r>
              <a:rPr lang="en-US" sz="4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 </a:t>
            </a:r>
            <a:endParaRPr lang="en-US" sz="48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3015998"/>
                  </p:ext>
                </p:extLst>
              </p:nvPr>
            </p:nvGraphicFramePr>
            <p:xfrm>
              <a:off x="1219200" y="3429000"/>
              <a:ext cx="21082644" cy="3151061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1082644">
                      <a:extLst>
                        <a:ext uri="{9D8B030D-6E8A-4147-A177-3AD203B41FA5}">
                          <a16:colId xmlns:a16="http://schemas.microsoft.com/office/drawing/2014/main" val="206183416"/>
                        </a:ext>
                      </a:extLst>
                    </a:gridCol>
                  </a:tblGrid>
                  <a:tr h="2543905">
                    <a:tc>
                      <a:txBody>
                        <a:bodyPr/>
                        <a:lstStyle/>
                        <a:p>
                          <a:pPr marL="180340" algn="l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4800" dirty="0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Nếu </a:t>
                          </a:r>
                          <a:r>
                            <a:rPr lang="en-US" sz="4800" dirty="0" err="1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mọi</a:t>
                          </a:r>
                          <a:r>
                            <a:rPr lang="en-US" sz="4800" dirty="0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dirty="0" err="1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phần</a:t>
                          </a:r>
                          <a:r>
                            <a:rPr lang="en-US" sz="4800" dirty="0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dirty="0" err="1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tử</a:t>
                          </a:r>
                          <a:r>
                            <a:rPr lang="en-US" sz="4800" dirty="0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dirty="0" err="1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của</a:t>
                          </a:r>
                          <a:r>
                            <a:rPr lang="en-US" sz="4800" dirty="0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dirty="0" err="1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tập</a:t>
                          </a:r>
                          <a:r>
                            <a:rPr lang="en-US" sz="4800" dirty="0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dirty="0" err="1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hợp</a:t>
                          </a:r>
                          <a:r>
                            <a:rPr lang="en-US" sz="4800" dirty="0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4800">
                                  <a:solidFill>
                                    <a:schemeClr val="bg1"/>
                                  </a:solidFill>
                                  <a:effectLst/>
                                  <a:latin typeface="Cambria Math"/>
                                </a:rPr>
                                <m:t>𝑇</m:t>
                              </m:r>
                            </m:oMath>
                          </a14:m>
                          <a:r>
                            <a:rPr lang="en-US" sz="4800" dirty="0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dirty="0" err="1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đều</a:t>
                          </a:r>
                          <a:r>
                            <a:rPr lang="en-US" sz="4800" dirty="0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dirty="0" err="1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là</a:t>
                          </a:r>
                          <a:r>
                            <a:rPr lang="en-US" sz="4800" dirty="0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dirty="0" err="1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phần</a:t>
                          </a:r>
                          <a:r>
                            <a:rPr lang="en-US" sz="4800" dirty="0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dirty="0" err="1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tử</a:t>
                          </a:r>
                          <a:r>
                            <a:rPr lang="en-US" sz="4800" dirty="0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dirty="0" err="1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của</a:t>
                          </a:r>
                          <a:r>
                            <a:rPr lang="en-US" sz="4800" dirty="0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dirty="0" err="1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tập</a:t>
                          </a:r>
                          <a:r>
                            <a:rPr lang="en-US" sz="4800" dirty="0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dirty="0" err="1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hợp</a:t>
                          </a:r>
                          <a:r>
                            <a:rPr lang="en-US" sz="4800" dirty="0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4800">
                                  <a:solidFill>
                                    <a:schemeClr val="bg1"/>
                                  </a:solidFill>
                                  <a:effectLst/>
                                  <a:latin typeface="Cambria Math"/>
                                </a:rPr>
                                <m:t>𝑆</m:t>
                              </m:r>
                            </m:oMath>
                          </a14:m>
                          <a:r>
                            <a:rPr lang="en-US" sz="4800" dirty="0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dirty="0" err="1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thì</a:t>
                          </a:r>
                          <a:r>
                            <a:rPr lang="en-US" sz="4800" dirty="0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ta </a:t>
                          </a:r>
                          <a:r>
                            <a:rPr lang="en-US" sz="4800" dirty="0" err="1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nói</a:t>
                          </a:r>
                          <a:r>
                            <a:rPr lang="en-US" sz="4800" dirty="0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4800">
                                  <a:solidFill>
                                    <a:schemeClr val="bg1"/>
                                  </a:solidFill>
                                  <a:effectLst/>
                                  <a:latin typeface="Cambria Math"/>
                                </a:rPr>
                                <m:t>𝑇</m:t>
                              </m:r>
                            </m:oMath>
                          </a14:m>
                          <a:r>
                            <a:rPr lang="en-US" sz="4800" dirty="0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dirty="0" err="1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là</a:t>
                          </a:r>
                          <a:r>
                            <a:rPr lang="en-US" sz="4800" dirty="0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dirty="0" err="1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một</a:t>
                          </a:r>
                          <a:r>
                            <a:rPr lang="en-US" sz="4800" dirty="0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dirty="0" err="1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tập</a:t>
                          </a:r>
                          <a:r>
                            <a:rPr lang="en-US" sz="4800" dirty="0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dirty="0" err="1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hợp</a:t>
                          </a:r>
                          <a:r>
                            <a:rPr lang="en-US" sz="4800" dirty="0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con (</a:t>
                          </a:r>
                          <a:r>
                            <a:rPr lang="en-US" sz="4800" dirty="0" err="1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tập</a:t>
                          </a:r>
                          <a:r>
                            <a:rPr lang="en-US" sz="4800" dirty="0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con) </a:t>
                          </a:r>
                          <a:r>
                            <a:rPr lang="en-US" sz="4800" dirty="0" err="1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của</a:t>
                          </a:r>
                          <a:r>
                            <a:rPr lang="en-US" sz="4800" dirty="0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4800">
                                  <a:solidFill>
                                    <a:schemeClr val="bg1"/>
                                  </a:solidFill>
                                  <a:effectLst/>
                                  <a:latin typeface="Cambria Math"/>
                                </a:rPr>
                                <m:t>𝑆</m:t>
                              </m:r>
                            </m:oMath>
                          </a14:m>
                          <a:r>
                            <a:rPr lang="en-US" sz="4800" dirty="0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dirty="0" err="1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và</a:t>
                          </a:r>
                          <a:r>
                            <a:rPr lang="en-US" sz="4800" dirty="0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ta </a:t>
                          </a:r>
                          <a:r>
                            <a:rPr lang="en-US" sz="4800" dirty="0" err="1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viết</a:t>
                          </a:r>
                          <a:r>
                            <a:rPr lang="en-US" sz="4800" dirty="0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dirty="0" err="1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là</a:t>
                          </a:r>
                          <a:r>
                            <a:rPr lang="en-US" sz="4800" dirty="0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4800">
                                  <a:solidFill>
                                    <a:schemeClr val="bg1"/>
                                  </a:solidFill>
                                  <a:effectLst/>
                                  <a:latin typeface="Cambria Math"/>
                                </a:rPr>
                                <m:t>𝑇</m:t>
                              </m:r>
                              <m:r>
                                <a:rPr lang="en-US" sz="4800">
                                  <a:solidFill>
                                    <a:schemeClr val="bg1"/>
                                  </a:solidFill>
                                  <a:effectLst/>
                                  <a:latin typeface="Cambria Math"/>
                                </a:rPr>
                                <m:t>⊂</m:t>
                              </m:r>
                              <m:r>
                                <a:rPr lang="en-US" sz="4800">
                                  <a:solidFill>
                                    <a:schemeClr val="bg1"/>
                                  </a:solidFill>
                                  <a:effectLst/>
                                  <a:latin typeface="Cambria Math"/>
                                </a:rPr>
                                <m:t>𝑆</m:t>
                              </m:r>
                            </m:oMath>
                          </a14:m>
                          <a:r>
                            <a:rPr lang="en-US" sz="4800" dirty="0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kern="1200" dirty="0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(</a:t>
                          </a:r>
                          <a:r>
                            <a:rPr lang="en-US" sz="4800" kern="1200" dirty="0" err="1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đọc</a:t>
                          </a:r>
                          <a:r>
                            <a:rPr lang="en-US" sz="4800" kern="1200" dirty="0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kern="1200" dirty="0" err="1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là</a:t>
                          </a:r>
                          <a:r>
                            <a:rPr lang="en-US" sz="4800" kern="1200" dirty="0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480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/>
                                </a:rPr>
                                <m:t>𝑇</m:t>
                              </m:r>
                            </m:oMath>
                          </a14:m>
                          <a:r>
                            <a:rPr lang="en-US" sz="4800" kern="1200" dirty="0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kern="1200" dirty="0" err="1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chứa</a:t>
                          </a:r>
                          <a:r>
                            <a:rPr lang="en-US" sz="4800" kern="1200" dirty="0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kern="1200" dirty="0" err="1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trong</a:t>
                          </a:r>
                          <a:r>
                            <a:rPr lang="en-US" sz="4800" kern="1200" dirty="0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480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/>
                                </a:rPr>
                                <m:t>𝑆</m:t>
                              </m:r>
                            </m:oMath>
                          </a14:m>
                          <a:r>
                            <a:rPr lang="en-US" sz="4800" kern="1200" dirty="0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 </a:t>
                          </a:r>
                          <a:r>
                            <a:rPr lang="en-US" sz="4800" kern="1200" dirty="0" err="1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hoặc</a:t>
                          </a:r>
                          <a:r>
                            <a:rPr lang="en-US" sz="4800" kern="1200" dirty="0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480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/>
                                </a:rPr>
                                <m:t>𝑇</m:t>
                              </m:r>
                            </m:oMath>
                          </a14:m>
                          <a:r>
                            <a:rPr lang="en-US" sz="4800" kern="1200" dirty="0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kern="1200" dirty="0" err="1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là</a:t>
                          </a:r>
                          <a:r>
                            <a:rPr lang="en-US" sz="4800" kern="1200" dirty="0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kern="1200" dirty="0" err="1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tập</a:t>
                          </a:r>
                          <a:r>
                            <a:rPr lang="en-US" sz="4800" kern="1200" dirty="0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con </a:t>
                          </a:r>
                          <a:r>
                            <a:rPr lang="en-US" sz="4800" kern="1200" dirty="0" err="1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của</a:t>
                          </a:r>
                          <a:r>
                            <a:rPr lang="en-US" sz="4800" kern="1200" dirty="0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480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/>
                                </a:rPr>
                                <m:t>𝑆</m:t>
                              </m:r>
                            </m:oMath>
                          </a14:m>
                          <a:r>
                            <a:rPr lang="en-US" sz="4800" kern="1200" dirty="0">
                              <a:solidFill>
                                <a:schemeClr val="bg1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.</a:t>
                          </a:r>
                          <a:endParaRPr lang="en-US" sz="4800" dirty="0">
                            <a:solidFill>
                              <a:schemeClr val="bg1"/>
                            </a:solidFill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114300" marR="114300" marT="0" marB="0">
                        <a:solidFill>
                          <a:srgbClr val="0033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92816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3015998"/>
                  </p:ext>
                </p:extLst>
              </p:nvPr>
            </p:nvGraphicFramePr>
            <p:xfrm>
              <a:off x="1219200" y="3429000"/>
              <a:ext cx="21082644" cy="3151061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1082644">
                      <a:extLst>
                        <a:ext uri="{9D8B030D-6E8A-4147-A177-3AD203B41FA5}">
                          <a16:colId xmlns:a16="http://schemas.microsoft.com/office/drawing/2014/main" val="206183416"/>
                        </a:ext>
                      </a:extLst>
                    </a:gridCol>
                  </a:tblGrid>
                  <a:tr h="315106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0" marB="0">
                        <a:blipFill>
                          <a:blip r:embed="rId2"/>
                          <a:stretch>
                            <a:fillRect l="-58" t="-193" r="-58" b="-11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928166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: Rounded Corners 145"/>
              <p:cNvSpPr/>
              <p:nvPr/>
            </p:nvSpPr>
            <p:spPr>
              <a:xfrm>
                <a:off x="1167756" y="7010400"/>
                <a:ext cx="21082644" cy="2714506"/>
              </a:xfrm>
              <a:prstGeom prst="roundRect">
                <a:avLst/>
              </a:prstGeom>
              <a:solidFill>
                <a:srgbClr val="FFFFE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480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</a:t>
                </a:r>
                <a:r>
                  <a:rPr lang="en-US" sz="480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Thay</a:t>
                </a:r>
                <a:r>
                  <a:rPr lang="en-US" sz="480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sz="480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sz="4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⊂</m:t>
                    </m:r>
                    <m:r>
                      <a:rPr lang="en-US" sz="4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US" sz="480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ta </a:t>
                </a:r>
                <a:r>
                  <a:rPr lang="en-US" sz="480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còn</a:t>
                </a:r>
                <a:r>
                  <a:rPr lang="en-US" sz="480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viết</a:t>
                </a:r>
                <a:r>
                  <a:rPr lang="en-US" sz="480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sz="4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sz="4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⊃</m:t>
                    </m:r>
                    <m:r>
                      <a:rPr lang="en-US" sz="4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sz="480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(</a:t>
                </a:r>
                <a:r>
                  <a:rPr lang="en-US" sz="480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đọc</a:t>
                </a:r>
                <a:r>
                  <a:rPr lang="en-US" sz="480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US" sz="480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chứa</a:t>
                </a:r>
                <a:r>
                  <a:rPr lang="en-US" sz="480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sz="480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).</a:t>
                </a:r>
                <a:endParaRPr lang="en-US" sz="48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480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</a:t>
                </a:r>
                <a:r>
                  <a:rPr lang="en-US" sz="480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</a:t>
                </a:r>
                <a:r>
                  <a:rPr lang="en-US" sz="480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hiệu</a:t>
                </a:r>
                <a:r>
                  <a:rPr lang="en-US" sz="480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sz="4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⊄</m:t>
                    </m:r>
                    <m:r>
                      <a:rPr lang="en-US" sz="4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US" sz="480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để</a:t>
                </a:r>
                <a:r>
                  <a:rPr lang="en-US" sz="480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chỉ</a:t>
                </a:r>
                <a:r>
                  <a:rPr lang="en-US" sz="480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sz="480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sz="480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con </a:t>
                </a:r>
                <a:r>
                  <a:rPr lang="en-US" sz="480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US" sz="480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endParaRPr lang="en-US" sz="48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Rectangle: Rounded Corners 1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756" y="7010400"/>
                <a:ext cx="21082644" cy="2714506"/>
              </a:xfrm>
              <a:prstGeom prst="roundRect">
                <a:avLst/>
              </a:prstGeom>
              <a:blipFill>
                <a:blip r:embed="rId3"/>
                <a:stretch>
                  <a:fillRect l="-6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ounded Rectangle 2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   ·   BÀI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12260998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09600" y="1687298"/>
                <a:ext cx="23164800" cy="3265702"/>
              </a:xfrm>
              <a:prstGeom prst="rect">
                <a:avLst/>
              </a:prstGeom>
              <a:solidFill>
                <a:srgbClr val="FFF8E5"/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             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4800" i="0">
                        <a:latin typeface="Cambria Math"/>
                      </a:rPr>
                      <m:t>H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bạn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tham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Chuyên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đề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2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huống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mở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đầu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tên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bắt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đầu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chữ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H.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phần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tử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4800" i="0">
                        <a:latin typeface="Cambria Math"/>
                      </a:rPr>
                      <m:t>H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phần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tử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B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HĐ1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87298"/>
                <a:ext cx="23164800" cy="3265702"/>
              </a:xfrm>
              <a:prstGeom prst="rect">
                <a:avLst/>
              </a:prstGeom>
              <a:blipFill>
                <a:blip r:embed="rId2"/>
                <a:stretch>
                  <a:fillRect l="-1184" b="-8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/>
          <p:nvPr/>
        </p:nvPicPr>
        <p:blipFill>
          <a:blip r:embed="rId3"/>
          <a:stretch>
            <a:fillRect/>
          </a:stretch>
        </p:blipFill>
        <p:spPr>
          <a:xfrm>
            <a:off x="1371600" y="5029200"/>
            <a:ext cx="21793200" cy="8382000"/>
          </a:xfrm>
          <a:prstGeom prst="rect">
            <a:avLst/>
          </a:prstGeom>
        </p:spPr>
      </p:pic>
      <p:grpSp>
        <p:nvGrpSpPr>
          <p:cNvPr id="4" name="Group 6">
            <a:extLst>
              <a:ext uri="{FF2B5EF4-FFF2-40B4-BE49-F238E27FC236}">
                <a16:creationId xmlns:a16="http://schemas.microsoft.com/office/drawing/2014/main" id="{390EF31F-4236-407A-BBD7-5CD807AB040A}"/>
              </a:ext>
            </a:extLst>
          </p:cNvPr>
          <p:cNvGrpSpPr/>
          <p:nvPr/>
        </p:nvGrpSpPr>
        <p:grpSpPr>
          <a:xfrm>
            <a:off x="228600" y="1828800"/>
            <a:ext cx="3581400" cy="1081690"/>
            <a:chOff x="22440" y="59287"/>
            <a:chExt cx="976347" cy="194251"/>
          </a:xfrm>
        </p:grpSpPr>
        <p:grpSp>
          <p:nvGrpSpPr>
            <p:cNvPr id="5" name="Group 7">
              <a:extLst>
                <a:ext uri="{FF2B5EF4-FFF2-40B4-BE49-F238E27FC236}">
                  <a16:creationId xmlns:a16="http://schemas.microsoft.com/office/drawing/2014/main" id="{E542E503-7BC4-4F68-9E39-8A8F7C8882EA}"/>
                </a:ext>
              </a:extLst>
            </p:cNvPr>
            <p:cNvGrpSpPr/>
            <p:nvPr/>
          </p:nvGrpSpPr>
          <p:grpSpPr>
            <a:xfrm>
              <a:off x="22440" y="59287"/>
              <a:ext cx="850471" cy="194251"/>
              <a:chOff x="31572" y="60276"/>
              <a:chExt cx="1196628" cy="240395"/>
            </a:xfrm>
          </p:grpSpPr>
          <p:sp>
            <p:nvSpPr>
              <p:cNvPr id="7" name="Arrow: Pentagon 8">
                <a:extLst>
                  <a:ext uri="{FF2B5EF4-FFF2-40B4-BE49-F238E27FC236}">
                    <a16:creationId xmlns:a16="http://schemas.microsoft.com/office/drawing/2014/main" id="{F6215073-ECA0-4FC3-875D-8DB77AF9C92B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1000" b="1" kern="1200">
                    <a:solidFill>
                      <a:srgbClr val="0000CC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" name="Arrow: Chevron 9">
                <a:extLst>
                  <a:ext uri="{FF2B5EF4-FFF2-40B4-BE49-F238E27FC236}">
                    <a16:creationId xmlns:a16="http://schemas.microsoft.com/office/drawing/2014/main" id="{D4413214-BF6F-40DC-86DE-DFD660745BE0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240330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sp>
            <p:nvSpPr>
              <p:cNvPr id="9" name="Arrow: Chevron 10">
                <a:extLst>
                  <a:ext uri="{FF2B5EF4-FFF2-40B4-BE49-F238E27FC236}">
                    <a16:creationId xmlns:a16="http://schemas.microsoft.com/office/drawing/2014/main" id="{4A15A179-C3D1-4059-97BE-6447DDC1FF6B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240330"/>
              </a:xfrm>
              <a:prstGeom prst="chevron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p:grpSp>
        <p:sp>
          <p:nvSpPr>
            <p:cNvPr id="6" name="TextBox 56">
              <a:extLst>
                <a:ext uri="{FF2B5EF4-FFF2-40B4-BE49-F238E27FC236}">
                  <a16:creationId xmlns:a16="http://schemas.microsoft.com/office/drawing/2014/main" id="{D2EEA2C1-853E-4B1F-AF48-32B72155F30B}"/>
                </a:ext>
              </a:extLst>
            </p:cNvPr>
            <p:cNvSpPr txBox="1"/>
            <p:nvPr/>
          </p:nvSpPr>
          <p:spPr>
            <a:xfrm>
              <a:off x="271036" y="83816"/>
              <a:ext cx="727751" cy="158428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4800" b="1" dirty="0" err="1">
                  <a:solidFill>
                    <a:srgbClr val="FF0066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HĐ</a:t>
              </a:r>
              <a:r>
                <a:rPr lang="en-US" sz="4800" b="1" dirty="0">
                  <a:solidFill>
                    <a:srgbClr val="FF0066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4</a:t>
              </a:r>
              <a:endParaRPr lang="en-US" sz="4800" dirty="0">
                <a:solidFill>
                  <a:srgbClr val="FF0066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7" name="Rounded Rectangle 16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   ·   BÀI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409131701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1418234" y="2057400"/>
            <a:ext cx="21822766" cy="8458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630083" y="10515600"/>
                <a:ext cx="1851557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/>
                      </a:rPr>
                      <m:t>𝐻</m:t>
                    </m:r>
                    <m:r>
                      <a:rPr lang="en-US" sz="4800" i="1">
                        <a:latin typeface="Cambria Math"/>
                      </a:rPr>
                      <m:t>={ </m:t>
                    </m:r>
                    <m:r>
                      <m:rPr>
                        <m:sty m:val="p"/>
                      </m:rPr>
                      <a:rPr lang="en-US" sz="4800">
                        <a:latin typeface="Cambria Math"/>
                      </a:rPr>
                      <m:t>H</m:t>
                    </m:r>
                    <m:r>
                      <a:rPr lang="en-US" sz="4800">
                        <a:latin typeface="Cambria Math"/>
                      </a:rPr>
                      <m:t>ươ</m:t>
                    </m:r>
                    <m:r>
                      <m:rPr>
                        <m:sty m:val="p"/>
                      </m:rPr>
                      <a:rPr lang="en-US" sz="4800">
                        <a:latin typeface="Cambria Math"/>
                      </a:rPr>
                      <m:t>ng</m:t>
                    </m:r>
                    <m:r>
                      <a:rPr lang="en-US" sz="4800">
                        <a:latin typeface="Cambria Math"/>
                      </a:rPr>
                      <m:t>, </m:t>
                    </m:r>
                    <m:r>
                      <m:rPr>
                        <m:sty m:val="p"/>
                      </m:rPr>
                      <a:rPr lang="en-US" sz="4800">
                        <a:latin typeface="Cambria Math"/>
                      </a:rPr>
                      <m:t>Hi</m:t>
                    </m:r>
                    <m:r>
                      <a:rPr lang="en-US" sz="4800">
                        <a:latin typeface="Cambria Math"/>
                      </a:rPr>
                      <m:t>ề</m:t>
                    </m:r>
                    <m:r>
                      <m:rPr>
                        <m:sty m:val="p"/>
                      </m:rPr>
                      <a:rPr lang="en-US" sz="4800">
                        <a:latin typeface="Cambria Math"/>
                      </a:rPr>
                      <m:t>n</m:t>
                    </m:r>
                    <m:r>
                      <a:rPr lang="en-US" sz="4800">
                        <a:latin typeface="Cambria Math"/>
                      </a:rPr>
                      <m:t>, </m:t>
                    </m:r>
                    <m:r>
                      <m:rPr>
                        <m:sty m:val="p"/>
                      </m:rPr>
                      <a:rPr lang="en-US" sz="4800">
                        <a:latin typeface="Cambria Math"/>
                      </a:rPr>
                      <m:t>H</m:t>
                    </m:r>
                    <m:r>
                      <a:rPr lang="en-US" sz="4800">
                        <a:latin typeface="Cambria Math"/>
                      </a:rPr>
                      <m:t>â</m:t>
                    </m:r>
                    <m:r>
                      <m:rPr>
                        <m:sty m:val="p"/>
                      </m:rPr>
                      <a:rPr lang="en-US" sz="4800">
                        <a:latin typeface="Cambria Math"/>
                      </a:rPr>
                      <m:t>n</m:t>
                    </m:r>
                    <m:r>
                      <a:rPr lang="en-US" sz="4800">
                        <a:latin typeface="Cambria Math"/>
                      </a:rPr>
                      <m:t> </m:t>
                    </m:r>
                    <m:r>
                      <a:rPr lang="en-US" sz="4800" i="1">
                        <a:latin typeface="Cambria Math"/>
                      </a:rPr>
                      <m:t>}</m:t>
                    </m:r>
                  </m:oMath>
                </a14:m>
                <a:endParaRPr lang="en-US" sz="4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0083" y="10515600"/>
                <a:ext cx="18515576" cy="830997"/>
              </a:xfrm>
              <a:prstGeom prst="rect">
                <a:avLst/>
              </a:prstGeom>
              <a:blipFill>
                <a:blip r:embed="rId3"/>
                <a:stretch>
                  <a:fillRect l="-1481" t="-17647" b="-3750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630083" y="11582400"/>
                <a:ext cx="19500672" cy="10581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phần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tử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/>
                      </a:rPr>
                      <m:t>𝐻</m:t>
                    </m:r>
                  </m:oMath>
                </a14:m>
                <a:r>
                  <a:rPr lang="en-US" sz="48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phần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tử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B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HĐ1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0083" y="11582400"/>
                <a:ext cx="19500672" cy="1058175"/>
              </a:xfrm>
              <a:prstGeom prst="rect">
                <a:avLst/>
              </a:prstGeom>
              <a:blipFill>
                <a:blip r:embed="rId4"/>
                <a:stretch>
                  <a:fillRect l="-1407" b="-287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1D2D2DB9-3F74-4AD0-AF9E-9D63C7FE4632}"/>
              </a:ext>
            </a:extLst>
          </p:cNvPr>
          <p:cNvGrpSpPr/>
          <p:nvPr/>
        </p:nvGrpSpPr>
        <p:grpSpPr>
          <a:xfrm>
            <a:off x="304800" y="9510221"/>
            <a:ext cx="3760381" cy="887477"/>
            <a:chOff x="22440" y="16831"/>
            <a:chExt cx="850471" cy="23000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35B8535-9EAC-4123-BA77-1F583870E14B}"/>
                </a:ext>
              </a:extLst>
            </p:cNvPr>
            <p:cNvGrpSpPr/>
            <p:nvPr/>
          </p:nvGrpSpPr>
          <p:grpSpPr>
            <a:xfrm>
              <a:off x="22440" y="59287"/>
              <a:ext cx="850471" cy="159855"/>
              <a:chOff x="31572" y="60276"/>
              <a:chExt cx="1196628" cy="197828"/>
            </a:xfrm>
          </p:grpSpPr>
          <p:sp>
            <p:nvSpPr>
              <p:cNvPr id="9" name="Arrow: Pentagon 8">
                <a:extLst>
                  <a:ext uri="{FF2B5EF4-FFF2-40B4-BE49-F238E27FC236}">
                    <a16:creationId xmlns:a16="http://schemas.microsoft.com/office/drawing/2014/main" id="{33900D62-CDC2-464C-B5E2-D81CC9C2DBC2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Arrow: Chevron 9">
                <a:extLst>
                  <a:ext uri="{FF2B5EF4-FFF2-40B4-BE49-F238E27FC236}">
                    <a16:creationId xmlns:a16="http://schemas.microsoft.com/office/drawing/2014/main" id="{23D6B0E4-59E3-4799-8E6D-C584583FBE33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" name="Arrow: Chevron 10">
                <a:extLst>
                  <a:ext uri="{FF2B5EF4-FFF2-40B4-BE49-F238E27FC236}">
                    <a16:creationId xmlns:a16="http://schemas.microsoft.com/office/drawing/2014/main" id="{600C16DE-276C-46A0-93F2-940EECB5D642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8" name="TextBox 56">
              <a:extLst>
                <a:ext uri="{FF2B5EF4-FFF2-40B4-BE49-F238E27FC236}">
                  <a16:creationId xmlns:a16="http://schemas.microsoft.com/office/drawing/2014/main" id="{41439DC8-1CAE-455D-B4D9-0A782B021669}"/>
                </a:ext>
              </a:extLst>
            </p:cNvPr>
            <p:cNvSpPr txBox="1"/>
            <p:nvPr/>
          </p:nvSpPr>
          <p:spPr>
            <a:xfrm>
              <a:off x="188148" y="16831"/>
              <a:ext cx="591618" cy="23000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Giải</a:t>
              </a:r>
              <a:r>
                <a:rPr kumimoji="0" lang="en-US" sz="4800" b="1" i="0" u="none" strike="noStrike" kern="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endPara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9" name="Rounded Rectangle 1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   ·   BÀI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45722060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1003484" y="2286000"/>
            <a:ext cx="4330516" cy="1752600"/>
          </a:xfrm>
          <a:prstGeom prst="ellipse">
            <a:avLst/>
          </a:prstGeom>
          <a:solidFill>
            <a:srgbClr val="ECFEF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b="1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Nhận</a:t>
            </a:r>
            <a:r>
              <a:rPr lang="en-US" sz="4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xét</a:t>
            </a:r>
            <a:endParaRPr lang="en-US" sz="48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4" b="3120"/>
          <a:stretch>
            <a:fillRect/>
          </a:stretch>
        </p:blipFill>
        <p:spPr bwMode="auto">
          <a:xfrm>
            <a:off x="18516600" y="2723260"/>
            <a:ext cx="5089634" cy="1003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6"/>
          <p:cNvSpPr>
            <a:spLocks noChangeArrowheads="1"/>
          </p:cNvSpPr>
          <p:nvPr/>
        </p:nvSpPr>
        <p:spPr bwMode="auto">
          <a:xfrm rot="10800000" flipV="1">
            <a:off x="1600200" y="4549429"/>
            <a:ext cx="16535400" cy="2168799"/>
          </a:xfrm>
          <a:prstGeom prst="rect">
            <a:avLst/>
          </a:prstGeom>
          <a:solidFill>
            <a:srgbClr val="FFFFEF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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Từ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kumimoji="0" lang="en-US" altLang="en-US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định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kumimoji="0" lang="en-US" altLang="en-US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nghĩa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kumimoji="0" lang="en-US" altLang="en-US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trên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, </a:t>
            </a:r>
            <a:r>
              <a:rPr kumimoji="0" lang="en-US" altLang="en-US" sz="4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T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 </a:t>
            </a:r>
            <a:r>
              <a:rPr kumimoji="0" lang="en-US" altLang="en-US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là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kumimoji="0" lang="en-US" altLang="en-US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tập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con </a:t>
            </a:r>
            <a:r>
              <a:rPr kumimoji="0" lang="en-US" altLang="en-US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của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kumimoji="0" lang="en-US" altLang="en-US" sz="4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S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kumimoji="0" lang="en-US" altLang="en-US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nếu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kumimoji="0" lang="en-US" altLang="en-US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mệnh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kumimoji="0" lang="en-US" altLang="en-US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đề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kumimoji="0" lang="en-US" altLang="en-US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sau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kumimoji="0" lang="en-US" altLang="en-US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đúng</a:t>
            </a:r>
            <a:r>
              <a:rPr lang="en-US" alt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:  </a:t>
            </a:r>
            <a:r>
              <a:rPr kumimoji="0" lang="en-US" altLang="en-US" sz="4800" b="1" i="1" u="none" strike="noStrike" cap="none" normalizeH="0" baseline="0" dirty="0">
                <a:ln>
                  <a:noFill/>
                </a:ln>
                <a:solidFill>
                  <a:srgbClr val="38562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∀x, </a:t>
            </a:r>
            <a:r>
              <a:rPr kumimoji="0" lang="en-US" altLang="en-US" sz="4800" b="1" i="1" u="none" strike="noStrike" cap="none" normalizeH="0" baseline="0" dirty="0" err="1">
                <a:ln>
                  <a:noFill/>
                </a:ln>
                <a:solidFill>
                  <a:srgbClr val="38562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x∈T⇒x∈S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Wingdings" panose="05000000000000000000" pitchFamily="2" charset="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97572" y="6858000"/>
            <a:ext cx="14028395" cy="830997"/>
          </a:xfrm>
          <a:prstGeom prst="rect">
            <a:avLst/>
          </a:prstGeom>
          <a:solidFill>
            <a:srgbClr val="EEF7E9"/>
          </a:solidFill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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Quy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ước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tập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rỗng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tập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mọi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tập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hợp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00200" y="7924800"/>
            <a:ext cx="16535400" cy="25220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Người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ta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thường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minh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họa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tập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hợp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bằng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hình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phẳng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bao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quanh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bởi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đường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kín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gọi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biểu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đồ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Ven (H.1.2)</a:t>
            </a:r>
          </a:p>
          <a:p>
            <a:pPr algn="ctr"/>
            <a:endParaRPr lang="en-US"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12A0199F-4B6C-4962-8663-C735D4063C6F}"/>
              </a:ext>
            </a:extLst>
          </p:cNvPr>
          <p:cNvSpPr/>
          <p:nvPr/>
        </p:nvSpPr>
        <p:spPr>
          <a:xfrm>
            <a:off x="1752600" y="10744200"/>
            <a:ext cx="16535400" cy="20123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Minh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họa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tập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như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Hình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1.3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   ·   BÀI 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53291029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455279" y="2438400"/>
            <a:ext cx="4928256" cy="1071556"/>
            <a:chOff x="224" y="591"/>
            <a:chExt cx="8506" cy="1877"/>
          </a:xfrm>
        </p:grpSpPr>
        <p:grpSp>
          <p:nvGrpSpPr>
            <p:cNvPr id="3" name="Group 2"/>
            <p:cNvGrpSpPr>
              <a:grpSpLocks/>
            </p:cNvGrpSpPr>
            <p:nvPr/>
          </p:nvGrpSpPr>
          <p:grpSpPr bwMode="auto">
            <a:xfrm>
              <a:off x="224" y="591"/>
              <a:ext cx="8506" cy="1600"/>
              <a:chOff x="315" y="602"/>
              <a:chExt cx="11967" cy="1979"/>
            </a:xfrm>
          </p:grpSpPr>
          <p:sp>
            <p:nvSpPr>
              <p:cNvPr id="5" name="Arrow: Pentagon 25"/>
              <p:cNvSpPr>
                <a:spLocks noChangeArrowheads="1"/>
              </p:cNvSpPr>
              <p:nvPr/>
            </p:nvSpPr>
            <p:spPr bwMode="auto">
              <a:xfrm>
                <a:off x="2045" y="620"/>
                <a:ext cx="10237" cy="1961"/>
              </a:xfrm>
              <a:prstGeom prst="homePlate">
                <a:avLst>
                  <a:gd name="adj" fmla="val 50004"/>
                </a:avLst>
              </a:prstGeom>
              <a:solidFill>
                <a:srgbClr val="FCFFEF"/>
              </a:solidFill>
              <a:ln w="12700">
                <a:solidFill>
                  <a:srgbClr val="ED7D31">
                    <a:lumMod val="20000"/>
                    <a:lumOff val="80000"/>
                  </a:srgbClr>
                </a:solidFill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ctr" anchorCtr="0" upright="1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kumimoji="0" lang="en-US" sz="4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" name="Arrow: Chevron 26"/>
              <p:cNvSpPr>
                <a:spLocks noChangeArrowheads="1"/>
              </p:cNvSpPr>
              <p:nvPr/>
            </p:nvSpPr>
            <p:spPr bwMode="auto">
              <a:xfrm>
                <a:off x="315" y="603"/>
                <a:ext cx="1627" cy="1961"/>
              </a:xfrm>
              <a:prstGeom prst="chevron">
                <a:avLst>
                  <a:gd name="adj" fmla="val 50000"/>
                </a:avLst>
              </a:prstGeom>
              <a:solidFill>
                <a:srgbClr val="4472C4">
                  <a:lumMod val="100000"/>
                  <a:lumOff val="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ctr" anchorCtr="0" upright="1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" name="Arrow: Chevron 27"/>
              <p:cNvSpPr>
                <a:spLocks noChangeArrowheads="1"/>
              </p:cNvSpPr>
              <p:nvPr/>
            </p:nvSpPr>
            <p:spPr bwMode="auto">
              <a:xfrm>
                <a:off x="1162" y="602"/>
                <a:ext cx="1768" cy="1961"/>
              </a:xfrm>
              <a:prstGeom prst="chevron">
                <a:avLst>
                  <a:gd name="adj" fmla="val 50000"/>
                </a:avLst>
              </a:prstGeom>
              <a:solidFill>
                <a:srgbClr val="F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ctr" anchorCtr="0" upright="1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4" name="TextBox 56"/>
            <p:cNvSpPr txBox="1">
              <a:spLocks noChangeArrowheads="1"/>
            </p:cNvSpPr>
            <p:nvPr/>
          </p:nvSpPr>
          <p:spPr bwMode="auto">
            <a:xfrm>
              <a:off x="1881" y="591"/>
              <a:ext cx="5916" cy="18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Ví</a:t>
              </a:r>
              <a:r>
                <a:rPr kumimoji="0" 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4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dụ</a:t>
              </a:r>
              <a:r>
                <a:rPr kumimoji="0" 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2.</a:t>
              </a:r>
              <a:endPara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22171" y="3733800"/>
                <a:ext cx="20056629" cy="21661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/>
                      </a:rPr>
                      <m:t>𝑆</m:t>
                    </m:r>
                    <m:r>
                      <a:rPr lang="en-US" sz="48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i="1">
                            <a:latin typeface="Cambria Math"/>
                          </a:rPr>
                          <m:t>2;3;5</m:t>
                        </m:r>
                      </m:e>
                    </m:d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Những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nào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đây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con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/>
                      </a:rPr>
                      <m:t>𝑆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?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4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48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i="1">
                            <a:latin typeface="Cambria Math"/>
                          </a:rPr>
                          <m:t>3</m:t>
                        </m:r>
                      </m:e>
                    </m:d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	 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4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48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i="1">
                            <a:latin typeface="Cambria Math"/>
                          </a:rPr>
                          <m:t>0;2</m:t>
                        </m:r>
                      </m:e>
                    </m:d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	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4800" i="1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sz="48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i="1">
                            <a:latin typeface="Cambria Math"/>
                          </a:rPr>
                          <m:t>3,5</m:t>
                        </m:r>
                      </m:e>
                    </m:d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171" y="3733800"/>
                <a:ext cx="20056629" cy="2166170"/>
              </a:xfrm>
              <a:prstGeom prst="rect">
                <a:avLst/>
              </a:prstGeom>
              <a:blipFill>
                <a:blip r:embed="rId2"/>
                <a:stretch>
                  <a:fillRect l="-1398" b="-13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305511" y="7239000"/>
                <a:ext cx="1865696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4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48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i="1">
                            <a:latin typeface="Cambria Math"/>
                          </a:rPr>
                          <m:t>3</m:t>
                        </m:r>
                      </m:e>
                    </m:d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4800" i="1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sz="48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i="1">
                            <a:latin typeface="Cambria Math"/>
                          </a:rPr>
                          <m:t>3,5</m:t>
                        </m:r>
                      </m:e>
                    </m:d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là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những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con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/>
                      </a:rPr>
                      <m:t>𝑆</m:t>
                    </m:r>
                    <m:r>
                      <a:rPr lang="en-US" sz="4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4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4800" b="0" i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4800" b="0" i="0" smtClean="0">
                        <a:latin typeface="Cambria Math" panose="02040503050406030204" pitchFamily="18" charset="0"/>
                      </a:rPr>
                      <m:t>ì</m:t>
                    </m:r>
                    <m:r>
                      <m:rPr>
                        <m:sty m:val="p"/>
                      </m:rPr>
                      <a:rPr lang="en-US" sz="4800" b="0" i="0" smtClean="0">
                        <a:latin typeface="Cambria Math" panose="02040503050406030204" pitchFamily="18" charset="0"/>
                      </a:rPr>
                      <m:t>nh</m:t>
                    </m:r>
                    <m:r>
                      <a:rPr lang="en-US" sz="4800" b="0" i="0" smtClean="0">
                        <a:latin typeface="Cambria Math" panose="02040503050406030204" pitchFamily="18" charset="0"/>
                      </a:rPr>
                      <m:t> 1.4)</m:t>
                    </m:r>
                  </m:oMath>
                </a14:m>
                <a:endParaRPr lang="en-US" sz="4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5511" y="7239000"/>
                <a:ext cx="18656968" cy="830997"/>
              </a:xfrm>
              <a:prstGeom prst="rect">
                <a:avLst/>
              </a:prstGeom>
              <a:blipFill>
                <a:blip r:embed="rId3"/>
                <a:stretch>
                  <a:fillRect l="-1470" t="-17647" b="-36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/>
          <p:cNvPicPr/>
          <p:nvPr/>
        </p:nvPicPr>
        <p:blipFill>
          <a:blip r:embed="rId4"/>
          <a:stretch>
            <a:fillRect/>
          </a:stretch>
        </p:blipFill>
        <p:spPr>
          <a:xfrm>
            <a:off x="498768" y="8352756"/>
            <a:ext cx="20056629" cy="4982243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E039667B-1FF4-42BF-9009-84624210D1F5}"/>
              </a:ext>
            </a:extLst>
          </p:cNvPr>
          <p:cNvGrpSpPr/>
          <p:nvPr/>
        </p:nvGrpSpPr>
        <p:grpSpPr>
          <a:xfrm>
            <a:off x="228600" y="6238885"/>
            <a:ext cx="3760381" cy="887477"/>
            <a:chOff x="22440" y="16831"/>
            <a:chExt cx="850471" cy="230002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748DAB3-8D11-47DC-9339-AC0B71770410}"/>
                </a:ext>
              </a:extLst>
            </p:cNvPr>
            <p:cNvGrpSpPr/>
            <p:nvPr/>
          </p:nvGrpSpPr>
          <p:grpSpPr>
            <a:xfrm>
              <a:off x="22440" y="59287"/>
              <a:ext cx="850471" cy="159855"/>
              <a:chOff x="31572" y="60276"/>
              <a:chExt cx="1196628" cy="197828"/>
            </a:xfrm>
          </p:grpSpPr>
          <p:sp>
            <p:nvSpPr>
              <p:cNvPr id="15" name="Arrow: Pentagon 14">
                <a:extLst>
                  <a:ext uri="{FF2B5EF4-FFF2-40B4-BE49-F238E27FC236}">
                    <a16:creationId xmlns:a16="http://schemas.microsoft.com/office/drawing/2014/main" id="{3BFD1461-0CD3-40E5-A214-2233CD7585EC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Arrow: Chevron 15">
                <a:extLst>
                  <a:ext uri="{FF2B5EF4-FFF2-40B4-BE49-F238E27FC236}">
                    <a16:creationId xmlns:a16="http://schemas.microsoft.com/office/drawing/2014/main" id="{918D0C43-E5C6-4EEF-8E94-A91FBDE84A1B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" name="Arrow: Chevron 16">
                <a:extLst>
                  <a:ext uri="{FF2B5EF4-FFF2-40B4-BE49-F238E27FC236}">
                    <a16:creationId xmlns:a16="http://schemas.microsoft.com/office/drawing/2014/main" id="{9FCAEF93-867F-46D4-832B-2F7F2566BBB3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4" name="TextBox 56">
              <a:extLst>
                <a:ext uri="{FF2B5EF4-FFF2-40B4-BE49-F238E27FC236}">
                  <a16:creationId xmlns:a16="http://schemas.microsoft.com/office/drawing/2014/main" id="{5C5C0380-8A0E-4A00-A030-13879B22098A}"/>
                </a:ext>
              </a:extLst>
            </p:cNvPr>
            <p:cNvSpPr txBox="1"/>
            <p:nvPr/>
          </p:nvSpPr>
          <p:spPr>
            <a:xfrm>
              <a:off x="188148" y="16831"/>
              <a:ext cx="591618" cy="23000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Giải</a:t>
              </a:r>
              <a:r>
                <a:rPr kumimoji="0" lang="en-US" sz="4800" b="1" i="0" u="none" strike="noStrike" kern="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endPara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27" name="Rounded Rectangle 26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   ·   BÀI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71549585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879600"/>
                <a:ext cx="24003000" cy="81735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r>
                  <a:rPr lang="en-US" sz="4800" b="1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c. </a:t>
                </a:r>
                <a:r>
                  <a:rPr lang="en-US" sz="4800" b="1" dirty="0" err="1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b="1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b="1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800" b="1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</a:t>
                </a:r>
                <a:r>
                  <a:rPr lang="en-US" sz="4800" b="1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nhau</a:t>
                </a:r>
                <a:endParaRPr lang="en-US" sz="48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endParaRPr lang="en-US" sz="48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endParaRPr lang="en-US" sz="48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Sơn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Thu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viết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chính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nhỏ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hơn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100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như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Sơn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/>
                      </a:rPr>
                      <m:t>𝑺</m:t>
                    </m:r>
                    <m:r>
                      <a:rPr lang="en-US" sz="48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i="1">
                            <a:latin typeface="Cambria Math"/>
                          </a:rPr>
                          <m:t>0;1;4;9;25;36;49;64;81</m:t>
                        </m:r>
                      </m:e>
                    </m:d>
                  </m:oMath>
                </a14:m>
                <a:r>
                  <a:rPr lang="en-US" sz="4800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;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4800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Thu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/>
                      </a:rPr>
                      <m:t>𝑻</m:t>
                    </m:r>
                    <m:r>
                      <a:rPr lang="en-US" sz="4800" i="1">
                        <a:latin typeface="Cambria Math"/>
                      </a:rPr>
                      <m:t>=</m:t>
                    </m:r>
                  </m:oMath>
                </a14:m>
                <a:r>
                  <a:rPr lang="en-US" sz="4800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{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/>
                      </a:rPr>
                      <m:t>𝑛</m:t>
                    </m:r>
                    <m:r>
                      <a:rPr lang="en-US" sz="4800" i="1">
                        <a:latin typeface="Cambria Math"/>
                      </a:rPr>
                      <m:t>∈</m:t>
                    </m:r>
                    <m:r>
                      <a:rPr lang="en-US" sz="4800" i="1">
                        <a:latin typeface="Cambria Math"/>
                      </a:rPr>
                      <m:t>ℕ</m:t>
                    </m:r>
                    <m:r>
                      <a:rPr lang="en-US" sz="4800" i="1">
                        <a:latin typeface="Cambria Math"/>
                      </a:rPr>
                      <m:t>|</m:t>
                    </m:r>
                    <m:r>
                      <a:rPr lang="en-US" sz="4800" i="1">
                        <a:latin typeface="Cambria Math"/>
                      </a:rPr>
                      <m:t>𝑛</m:t>
                    </m:r>
                  </m:oMath>
                </a14:m>
                <a:r>
                  <a:rPr lang="en-US" sz="4800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là</a:t>
                </a:r>
                <a:r>
                  <a:rPr lang="en-US" sz="4800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số</a:t>
                </a:r>
                <a:r>
                  <a:rPr lang="en-US" sz="4800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chính</a:t>
                </a:r>
                <a:r>
                  <a:rPr lang="en-US" sz="4800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phương</a:t>
                </a:r>
                <a:r>
                  <a:rPr lang="en-US" sz="4800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;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/>
                      </a:rPr>
                      <m:t>𝑛</m:t>
                    </m:r>
                    <m:r>
                      <a:rPr lang="en-US" sz="4800" i="1">
                        <a:latin typeface="Cambria Math"/>
                      </a:rPr>
                      <m:t>&lt;100</m:t>
                    </m:r>
                  </m:oMath>
                </a14:m>
                <a:r>
                  <a:rPr lang="en-US" sz="4800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}.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4800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Hỏi</a:t>
                </a:r>
                <a:r>
                  <a:rPr lang="en-US" sz="4800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bạn</a:t>
                </a:r>
                <a:r>
                  <a:rPr lang="en-US" sz="4800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nào</a:t>
                </a:r>
                <a:r>
                  <a:rPr lang="en-US" sz="4800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viết</a:t>
                </a:r>
                <a:r>
                  <a:rPr lang="en-US" sz="4800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4800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đúng</a:t>
                </a:r>
                <a:r>
                  <a:rPr lang="en-US" sz="4800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?</a:t>
                </a: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endParaRPr lang="en-US" sz="4800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879600"/>
                <a:ext cx="24003000" cy="8173500"/>
              </a:xfrm>
              <a:prstGeom prst="rect">
                <a:avLst/>
              </a:prstGeom>
              <a:blipFill>
                <a:blip r:embed="rId3"/>
                <a:stretch>
                  <a:fillRect l="-1117" t="-2532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4822BB7-DB89-4357-87F0-6E511FC44A6A}"/>
              </a:ext>
            </a:extLst>
          </p:cNvPr>
          <p:cNvSpPr txBox="1">
            <a:spLocks/>
          </p:cNvSpPr>
          <p:nvPr/>
        </p:nvSpPr>
        <p:spPr>
          <a:xfrm>
            <a:off x="0" y="11552379"/>
            <a:ext cx="24383999" cy="1960520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Cả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hai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bạn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cùng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viết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err="1">
                <a:latin typeface="Tahoma" pitchFamily="34" charset="0"/>
                <a:ea typeface="Tahoma" pitchFamily="34" charset="0"/>
                <a:cs typeface="Tahoma" pitchFamily="34" charset="0"/>
              </a:rPr>
              <a:t>đúng</a:t>
            </a:r>
            <a:endParaRPr lang="en-US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5EBDE18-F9CD-4FEA-8471-E18C7DBD2D39}"/>
              </a:ext>
            </a:extLst>
          </p:cNvPr>
          <p:cNvGrpSpPr/>
          <p:nvPr/>
        </p:nvGrpSpPr>
        <p:grpSpPr>
          <a:xfrm>
            <a:off x="810491" y="2971800"/>
            <a:ext cx="5715000" cy="1081690"/>
            <a:chOff x="22440" y="59287"/>
            <a:chExt cx="976347" cy="194251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F0E9F2E-BCAA-4B78-9DAE-A52B2771E363}"/>
                </a:ext>
              </a:extLst>
            </p:cNvPr>
            <p:cNvGrpSpPr/>
            <p:nvPr/>
          </p:nvGrpSpPr>
          <p:grpSpPr>
            <a:xfrm>
              <a:off x="22440" y="59287"/>
              <a:ext cx="850471" cy="194251"/>
              <a:chOff x="31572" y="60276"/>
              <a:chExt cx="1196628" cy="240395"/>
            </a:xfrm>
          </p:grpSpPr>
          <p:sp>
            <p:nvSpPr>
              <p:cNvPr id="10" name="Arrow: Pentagon 8">
                <a:extLst>
                  <a:ext uri="{FF2B5EF4-FFF2-40B4-BE49-F238E27FC236}">
                    <a16:creationId xmlns:a16="http://schemas.microsoft.com/office/drawing/2014/main" id="{B8596493-2224-4712-8A6C-20C5F8414787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1000" b="1" kern="1200">
                    <a:solidFill>
                      <a:srgbClr val="0000CC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Arrow: Chevron 9">
                <a:extLst>
                  <a:ext uri="{FF2B5EF4-FFF2-40B4-BE49-F238E27FC236}">
                    <a16:creationId xmlns:a16="http://schemas.microsoft.com/office/drawing/2014/main" id="{87301ED1-CAC4-4F82-A4CB-203607300CFF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240330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sp>
            <p:nvSpPr>
              <p:cNvPr id="13" name="Arrow: Chevron 10">
                <a:extLst>
                  <a:ext uri="{FF2B5EF4-FFF2-40B4-BE49-F238E27FC236}">
                    <a16:creationId xmlns:a16="http://schemas.microsoft.com/office/drawing/2014/main" id="{87EE6C7B-32EA-46DF-AC0F-E55CD4C12DFF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240330"/>
              </a:xfrm>
              <a:prstGeom prst="chevron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p:grpSp>
        <p:sp>
          <p:nvSpPr>
            <p:cNvPr id="9" name="TextBox 56">
              <a:extLst>
                <a:ext uri="{FF2B5EF4-FFF2-40B4-BE49-F238E27FC236}">
                  <a16:creationId xmlns:a16="http://schemas.microsoft.com/office/drawing/2014/main" id="{023F66BC-ECEC-43C9-9D71-FAC24B5AF0B1}"/>
                </a:ext>
              </a:extLst>
            </p:cNvPr>
            <p:cNvSpPr txBox="1"/>
            <p:nvPr/>
          </p:nvSpPr>
          <p:spPr>
            <a:xfrm>
              <a:off x="271036" y="83816"/>
              <a:ext cx="727751" cy="158428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4800" b="1" dirty="0" err="1">
                  <a:solidFill>
                    <a:srgbClr val="FF0066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HĐ</a:t>
              </a:r>
              <a:r>
                <a:rPr lang="en-US" sz="4800" b="1" dirty="0">
                  <a:solidFill>
                    <a:srgbClr val="FF0066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4</a:t>
              </a:r>
              <a:endParaRPr lang="en-US" sz="4800" dirty="0">
                <a:solidFill>
                  <a:srgbClr val="FF0066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CFD55C-64D8-4BED-9984-99F02AA279C6}"/>
              </a:ext>
            </a:extLst>
          </p:cNvPr>
          <p:cNvGrpSpPr/>
          <p:nvPr/>
        </p:nvGrpSpPr>
        <p:grpSpPr>
          <a:xfrm>
            <a:off x="18051" y="10231023"/>
            <a:ext cx="3760381" cy="1010461"/>
            <a:chOff x="22440" y="-15041"/>
            <a:chExt cx="850471" cy="26187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C448E4B-7998-4E39-896D-153211E059D9}"/>
                </a:ext>
              </a:extLst>
            </p:cNvPr>
            <p:cNvGrpSpPr/>
            <p:nvPr/>
          </p:nvGrpSpPr>
          <p:grpSpPr>
            <a:xfrm>
              <a:off x="22440" y="59287"/>
              <a:ext cx="850471" cy="159855"/>
              <a:chOff x="31572" y="60276"/>
              <a:chExt cx="1196628" cy="197828"/>
            </a:xfrm>
          </p:grpSpPr>
          <p:sp>
            <p:nvSpPr>
              <p:cNvPr id="17" name="Arrow: Pentagon 16">
                <a:extLst>
                  <a:ext uri="{FF2B5EF4-FFF2-40B4-BE49-F238E27FC236}">
                    <a16:creationId xmlns:a16="http://schemas.microsoft.com/office/drawing/2014/main" id="{7F13C0BF-14C9-4EFE-A12E-8A7E5C87AB2C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Arrow: Chevron 17">
                <a:extLst>
                  <a:ext uri="{FF2B5EF4-FFF2-40B4-BE49-F238E27FC236}">
                    <a16:creationId xmlns:a16="http://schemas.microsoft.com/office/drawing/2014/main" id="{AC4792EA-A741-414F-BC55-BEA852C2F11C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" name="Arrow: Chevron 18">
                <a:extLst>
                  <a:ext uri="{FF2B5EF4-FFF2-40B4-BE49-F238E27FC236}">
                    <a16:creationId xmlns:a16="http://schemas.microsoft.com/office/drawing/2014/main" id="{433E2327-806E-46F4-917E-B0861E0AAE34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6" name="TextBox 56">
              <a:extLst>
                <a:ext uri="{FF2B5EF4-FFF2-40B4-BE49-F238E27FC236}">
                  <a16:creationId xmlns:a16="http://schemas.microsoft.com/office/drawing/2014/main" id="{C29E7BE5-C2A1-41D7-ACA6-829E5A437F9B}"/>
                </a:ext>
              </a:extLst>
            </p:cNvPr>
            <p:cNvSpPr txBox="1"/>
            <p:nvPr/>
          </p:nvSpPr>
          <p:spPr>
            <a:xfrm>
              <a:off x="188148" y="-15041"/>
              <a:ext cx="561248" cy="261875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Giải</a:t>
              </a:r>
              <a:r>
                <a:rPr kumimoji="0" lang="en-US" sz="4800" b="1" i="0" u="none" strike="noStrike" kern="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endPara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99" name="Rounded Rectangle 9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   ·   BÀI 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73697447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838200" y="1879600"/>
            <a:ext cx="23164800" cy="27685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4800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c. </a:t>
            </a:r>
            <a:r>
              <a:rPr lang="en-US" sz="4800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Hai</a:t>
            </a:r>
            <a:r>
              <a:rPr lang="en-US" sz="4800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tập</a:t>
            </a:r>
            <a:r>
              <a:rPr lang="en-US" sz="4800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hợp</a:t>
            </a:r>
            <a:r>
              <a:rPr lang="en-US" sz="4800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bằng</a:t>
            </a:r>
            <a:r>
              <a:rPr lang="en-US" sz="4800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nhau</a:t>
            </a:r>
            <a:endParaRPr lang="en-US" sz="4800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9" name="Content Placeholder 2">
            <a:extLst>
              <a:ext uri="{FF2B5EF4-FFF2-40B4-BE49-F238E27FC236}">
                <a16:creationId xmlns:a16="http://schemas.microsoft.com/office/drawing/2014/main" id="{14822BB7-DB89-4357-87F0-6E511FC44A6A}"/>
              </a:ext>
            </a:extLst>
          </p:cNvPr>
          <p:cNvSpPr txBox="1">
            <a:spLocks/>
          </p:cNvSpPr>
          <p:nvPr/>
        </p:nvSpPr>
        <p:spPr>
          <a:xfrm>
            <a:off x="838199" y="2971800"/>
            <a:ext cx="13868399" cy="8558212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B49A2E-2A9D-46FD-AE9C-29462A33F0E6}"/>
              </a:ext>
            </a:extLst>
          </p:cNvPr>
          <p:cNvSpPr txBox="1">
            <a:spLocks/>
          </p:cNvSpPr>
          <p:nvPr/>
        </p:nvSpPr>
        <p:spPr>
          <a:xfrm>
            <a:off x="14706599" y="4716464"/>
            <a:ext cx="9268692" cy="6881812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4114419"/>
                  </p:ext>
                </p:extLst>
              </p:nvPr>
            </p:nvGraphicFramePr>
            <p:xfrm>
              <a:off x="838200" y="3581400"/>
              <a:ext cx="13868398" cy="7948612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386839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7948612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4800" b="1" dirty="0" err="1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Hai</a:t>
                          </a:r>
                          <a:r>
                            <a:rPr lang="en-US" sz="4800" b="1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b="1" dirty="0" err="1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tập</a:t>
                          </a:r>
                          <a:r>
                            <a:rPr lang="en-US" sz="4800" b="1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b="1" dirty="0" err="1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hợp</a:t>
                          </a:r>
                          <a:r>
                            <a:rPr lang="en-US" sz="4800" b="1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4800" b="1" i="1" smtClean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/>
                                </a:rPr>
                                <m:t>𝑺</m:t>
                              </m:r>
                            </m:oMath>
                          </a14:m>
                          <a:r>
                            <a:rPr lang="en-US" sz="4800" b="1" dirty="0">
                              <a:solidFill>
                                <a:srgbClr val="FF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b="1" dirty="0" err="1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và</a:t>
                          </a:r>
                          <a:r>
                            <a:rPr lang="en-US" sz="4800" b="1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4800" b="1" i="1" smtClean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/>
                                </a:rPr>
                                <m:t>𝑻</m:t>
                              </m:r>
                            </m:oMath>
                          </a14:m>
                          <a:r>
                            <a:rPr lang="en-US" sz="4800" b="1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b="1" dirty="0" err="1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được</a:t>
                          </a:r>
                          <a:r>
                            <a:rPr lang="en-US" sz="4800" b="1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b="1" dirty="0" err="1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gọi</a:t>
                          </a:r>
                          <a:r>
                            <a:rPr lang="en-US" sz="4800" b="1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b="1" dirty="0" err="1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là</a:t>
                          </a:r>
                          <a:r>
                            <a:rPr lang="en-US" sz="4800" b="1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b="1" dirty="0" err="1">
                              <a:solidFill>
                                <a:srgbClr val="FF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hai</a:t>
                          </a:r>
                          <a:r>
                            <a:rPr lang="en-US" sz="4800" b="1" dirty="0">
                              <a:solidFill>
                                <a:srgbClr val="FF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b="1" dirty="0" err="1">
                              <a:solidFill>
                                <a:srgbClr val="FF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tập</a:t>
                          </a:r>
                          <a:r>
                            <a:rPr lang="en-US" sz="4800" b="1" dirty="0">
                              <a:solidFill>
                                <a:srgbClr val="FF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b="1" dirty="0" err="1">
                              <a:solidFill>
                                <a:srgbClr val="FF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hợp</a:t>
                          </a:r>
                          <a:r>
                            <a:rPr lang="en-US" sz="4800" b="1" dirty="0">
                              <a:solidFill>
                                <a:srgbClr val="FF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b="1" dirty="0" err="1">
                              <a:solidFill>
                                <a:srgbClr val="FF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bằng</a:t>
                          </a:r>
                          <a:r>
                            <a:rPr lang="en-US" sz="4800" b="1" dirty="0">
                              <a:solidFill>
                                <a:srgbClr val="FF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b="1" dirty="0" err="1">
                              <a:solidFill>
                                <a:srgbClr val="FF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nhau</a:t>
                          </a:r>
                          <a:r>
                            <a:rPr lang="en-US" sz="4800" b="1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b="1" dirty="0" err="1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nếu</a:t>
                          </a:r>
                          <a:r>
                            <a:rPr lang="en-US" sz="4800" b="1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b="1" dirty="0" err="1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mỗi</a:t>
                          </a:r>
                          <a:r>
                            <a:rPr lang="en-US" sz="4800" b="1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b="1" dirty="0" err="1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phần</a:t>
                          </a:r>
                          <a:r>
                            <a:rPr lang="en-US" sz="4800" b="1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b="1" dirty="0" err="1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tử</a:t>
                          </a:r>
                          <a:r>
                            <a:rPr lang="en-US" sz="4800" b="1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b="1" dirty="0" err="1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của</a:t>
                          </a:r>
                          <a:r>
                            <a:rPr lang="en-US" sz="4800" b="1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4800" b="1" i="1">
                                  <a:effectLst/>
                                  <a:latin typeface="Cambria Math"/>
                                </a:rPr>
                                <m:t>𝑻</m:t>
                              </m:r>
                            </m:oMath>
                          </a14:m>
                          <a:r>
                            <a:rPr lang="en-US" sz="4800" b="1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b="1" dirty="0" err="1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cũng</a:t>
                          </a:r>
                          <a:r>
                            <a:rPr lang="en-US" sz="4800" b="1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b="1" dirty="0" err="1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là</a:t>
                          </a:r>
                          <a:r>
                            <a:rPr lang="en-US" sz="4800" b="1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b="1" dirty="0" err="1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phần</a:t>
                          </a:r>
                          <a:r>
                            <a:rPr lang="en-US" sz="4800" b="1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b="1" dirty="0" err="1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tử</a:t>
                          </a:r>
                          <a:r>
                            <a:rPr lang="en-US" sz="4800" b="1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b="1" dirty="0" err="1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của</a:t>
                          </a:r>
                          <a:r>
                            <a:rPr lang="en-US" sz="4800" b="1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b="1" dirty="0" err="1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tập</a:t>
                          </a:r>
                          <a:r>
                            <a:rPr lang="en-US" sz="4800" b="1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b="1" dirty="0" err="1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hợp</a:t>
                          </a:r>
                          <a:r>
                            <a:rPr lang="en-US" sz="4800" b="1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4800" b="1" i="1">
                                  <a:effectLst/>
                                  <a:latin typeface="Cambria Math"/>
                                </a:rPr>
                                <m:t>𝑺</m:t>
                              </m:r>
                            </m:oMath>
                          </a14:m>
                          <a:r>
                            <a:rPr lang="en-US" sz="4800" b="1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 và</a:t>
                          </a:r>
                          <a:r>
                            <a:rPr lang="en-US" sz="4800" b="1" baseline="0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b="1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ngược </a:t>
                          </a:r>
                          <a:r>
                            <a:rPr lang="en-US" sz="4800" b="1" dirty="0" err="1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lại</a:t>
                          </a:r>
                          <a:r>
                            <a:rPr lang="en-US" sz="4800" b="1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. </a:t>
                          </a:r>
                        </a:p>
                        <a:p>
                          <a:pPr algn="l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4800" b="1" dirty="0" err="1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Kí</a:t>
                          </a:r>
                          <a:r>
                            <a:rPr lang="en-US" sz="4800" b="1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b="1" dirty="0" err="1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hiệu</a:t>
                          </a:r>
                          <a:r>
                            <a:rPr lang="en-US" sz="4800" b="1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4800" b="1" i="1">
                                  <a:effectLst/>
                                  <a:latin typeface="Cambria Math"/>
                                </a:rPr>
                                <m:t>𝑺</m:t>
                              </m:r>
                              <m:r>
                                <a:rPr lang="en-US" sz="4800" b="1">
                                  <a:effectLst/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sz="4800" b="1" i="1">
                                  <a:effectLst/>
                                  <a:latin typeface="Cambria Math"/>
                                </a:rPr>
                                <m:t>𝑻</m:t>
                              </m:r>
                            </m:oMath>
                          </a14:m>
                          <a:r>
                            <a:rPr lang="en-US" sz="4800" b="1" dirty="0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.</a:t>
                          </a:r>
                        </a:p>
                      </a:txBody>
                      <a:tcPr marL="114300" marR="11430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4114419"/>
                  </p:ext>
                </p:extLst>
              </p:nvPr>
            </p:nvGraphicFramePr>
            <p:xfrm>
              <a:off x="838200" y="3581400"/>
              <a:ext cx="13868398" cy="7948612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386839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7948612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marL="114300" marR="114300" marT="0" marB="0">
                        <a:blipFill>
                          <a:blip r:embed="rId3"/>
                          <a:stretch>
                            <a:fillRect l="-44" t="-77" r="-88" b="-1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8" name="Picture 7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873" y="2971800"/>
            <a:ext cx="9268691" cy="8558212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   ·   BÀI 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30466791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879599"/>
                <a:ext cx="24003000" cy="428167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			Cho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4800" b="1" i="1">
                        <a:latin typeface="Cambria Math"/>
                      </a:rPr>
                      <m:t>𝑪</m:t>
                    </m:r>
                    <m:r>
                      <a:rPr lang="en-US" sz="4800" b="1" i="1">
                        <a:latin typeface="Cambria Math"/>
                      </a:rPr>
                      <m:t>=</m:t>
                    </m:r>
                  </m:oMath>
                </a14:m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{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/>
                      </a:rPr>
                      <m:t>𝒏</m:t>
                    </m:r>
                    <m:r>
                      <a:rPr lang="en-US" sz="4800" b="1" i="1">
                        <a:latin typeface="Cambria Math"/>
                      </a:rPr>
                      <m:t>∈</m:t>
                    </m:r>
                    <m:r>
                      <a:rPr lang="en-US" sz="4800" b="1" i="1">
                        <a:latin typeface="Cambria Math"/>
                      </a:rPr>
                      <m:t>ℕ</m:t>
                    </m:r>
                    <m:r>
                      <a:rPr lang="en-US" sz="4800" b="1" i="1">
                        <a:latin typeface="Cambria Math"/>
                      </a:rPr>
                      <m:t>|</m:t>
                    </m:r>
                    <m:r>
                      <a:rPr lang="en-US" sz="4800" b="1" i="1">
                        <a:latin typeface="Cambria Math"/>
                      </a:rPr>
                      <m:t>𝒏</m:t>
                    </m:r>
                  </m:oMath>
                </a14:m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bội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chung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2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3;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/>
                      </a:rPr>
                      <m:t>𝒏</m:t>
                    </m:r>
                    <m:r>
                      <a:rPr lang="en-US" sz="4800" b="1" i="1">
                        <a:latin typeface="Cambria Math"/>
                      </a:rPr>
                      <m:t>&lt;</m:t>
                    </m:r>
                    <m:r>
                      <a:rPr lang="en-US" sz="4800" b="1" i="1">
                        <a:latin typeface="Cambria Math"/>
                      </a:rPr>
                      <m:t>𝟑𝟎</m:t>
                    </m:r>
                  </m:oMath>
                </a14:m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};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4800" b="1" i="1">
                        <a:latin typeface="Cambria Math"/>
                      </a:rPr>
                      <m:t>𝑫</m:t>
                    </m:r>
                    <m:r>
                      <a:rPr lang="en-US" sz="4800" b="1" i="1">
                        <a:latin typeface="Cambria Math"/>
                      </a:rPr>
                      <m:t>=</m:t>
                    </m:r>
                  </m:oMath>
                </a14:m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{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/>
                      </a:rPr>
                      <m:t>𝒏</m:t>
                    </m:r>
                    <m:r>
                      <a:rPr lang="en-US" sz="4800" b="1" i="1">
                        <a:latin typeface="Cambria Math"/>
                      </a:rPr>
                      <m:t>∈</m:t>
                    </m:r>
                    <m:r>
                      <a:rPr lang="en-US" sz="4800" b="1" i="1">
                        <a:latin typeface="Cambria Math"/>
                      </a:rPr>
                      <m:t>ℕ</m:t>
                    </m:r>
                    <m:r>
                      <a:rPr lang="en-US" sz="4800" b="1" i="1">
                        <a:latin typeface="Cambria Math"/>
                      </a:rPr>
                      <m:t>|</m:t>
                    </m:r>
                    <m:r>
                      <a:rPr lang="en-US" sz="4800" b="1" i="1">
                        <a:latin typeface="Cambria Math"/>
                      </a:rPr>
                      <m:t>𝒏</m:t>
                    </m:r>
                  </m:oMath>
                </a14:m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bội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6;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/>
                      </a:rPr>
                      <m:t>𝒏</m:t>
                    </m:r>
                    <m:r>
                      <a:rPr lang="en-US" sz="4800" b="1" i="1">
                        <a:latin typeface="Cambria Math"/>
                      </a:rPr>
                      <m:t>&lt;</m:t>
                    </m:r>
                    <m:r>
                      <a:rPr lang="en-US" sz="4800" b="1" i="1">
                        <a:latin typeface="Cambria Math"/>
                      </a:rPr>
                      <m:t>𝟑𝟎</m:t>
                    </m:r>
                  </m:oMath>
                </a14:m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}.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Chứng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minh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/>
                      </a:rPr>
                      <m:t>𝑪</m:t>
                    </m:r>
                    <m:r>
                      <a:rPr lang="en-US" sz="4800" b="1" i="1">
                        <a:latin typeface="Cambria Math"/>
                      </a:rPr>
                      <m:t>=</m:t>
                    </m:r>
                    <m:r>
                      <a:rPr lang="en-US" sz="4800" b="1" i="1">
                        <a:latin typeface="Cambria Math"/>
                      </a:rPr>
                      <m:t>𝑫</m:t>
                    </m:r>
                  </m:oMath>
                </a14:m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  <a:p>
                <a:endParaRPr lang="en-US" sz="48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879599"/>
                <a:ext cx="24003000" cy="4281679"/>
              </a:xfrm>
              <a:prstGeom prst="rect">
                <a:avLst/>
              </a:prstGeom>
              <a:blipFill>
                <a:blip r:embed="rId3"/>
                <a:stretch>
                  <a:fillRect l="-1117" b="-8511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2630" y="7162800"/>
                <a:ext cx="23820370" cy="632460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𝑪</m:t>
                    </m:r>
                    <m:r>
                      <a:rPr lang="en-US" b="1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𝟎</m:t>
                        </m:r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r>
                          <a:rPr lang="en-US" b="1" i="1">
                            <a:latin typeface="Cambria Math"/>
                          </a:rPr>
                          <m:t>𝟔</m:t>
                        </m:r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r>
                          <a:rPr lang="en-US" b="1" i="1">
                            <a:latin typeface="Cambria Math"/>
                          </a:rPr>
                          <m:t>𝟏𝟐</m:t>
                        </m:r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r>
                          <a:rPr lang="en-US" b="1" i="1">
                            <a:latin typeface="Cambria Math"/>
                          </a:rPr>
                          <m:t>𝟏𝟖</m:t>
                        </m:r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r>
                          <a:rPr lang="en-US" b="1" i="1">
                            <a:latin typeface="Cambria Math"/>
                          </a:rPr>
                          <m:t>𝟐𝟒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𝑫</m:t>
                    </m:r>
                    <m:r>
                      <a:rPr lang="en-US" b="1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𝟎</m:t>
                        </m:r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r>
                          <a:rPr lang="en-US" b="1" i="1">
                            <a:latin typeface="Cambria Math"/>
                          </a:rPr>
                          <m:t>𝟔</m:t>
                        </m:r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r>
                          <a:rPr lang="en-US" b="1" i="1">
                            <a:latin typeface="Cambria Math"/>
                          </a:rPr>
                          <m:t>𝟏𝟐</m:t>
                        </m:r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r>
                          <a:rPr lang="en-US" b="1" i="1">
                            <a:latin typeface="Cambria Math"/>
                          </a:rPr>
                          <m:t>𝟏𝟖</m:t>
                        </m:r>
                        <m:r>
                          <a:rPr lang="en-US" b="1" i="1">
                            <a:latin typeface="Cambria Math"/>
                          </a:rPr>
                          <m:t>;</m:t>
                        </m:r>
                        <m:r>
                          <a:rPr lang="en-US" b="1" i="1">
                            <a:latin typeface="Cambria Math"/>
                          </a:rPr>
                          <m:t>𝟐𝟒</m:t>
                        </m:r>
                      </m:e>
                    </m:d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𝑪</m:t>
                    </m:r>
                    <m:r>
                      <a:rPr lang="en-US" b="1" i="1">
                        <a:latin typeface="Cambria Math"/>
                      </a:rPr>
                      <m:t>=</m:t>
                    </m:r>
                    <m:r>
                      <a:rPr lang="en-US" b="1" i="1">
                        <a:latin typeface="Cambria Math"/>
                      </a:rPr>
                      <m:t>𝑫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3657600" lvl="4" indent="0">
                  <a:buNone/>
                </a:pP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630" y="7162800"/>
                <a:ext cx="23820370" cy="6324600"/>
              </a:xfrm>
              <a:prstGeom prst="rect">
                <a:avLst/>
              </a:prstGeom>
              <a:blipFill>
                <a:blip r:embed="rId4"/>
                <a:stretch>
                  <a:fillRect l="-115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C5EBDE18-F9CD-4FEA-8471-E18C7DBD2D39}"/>
              </a:ext>
            </a:extLst>
          </p:cNvPr>
          <p:cNvGrpSpPr/>
          <p:nvPr/>
        </p:nvGrpSpPr>
        <p:grpSpPr>
          <a:xfrm>
            <a:off x="0" y="1874094"/>
            <a:ext cx="5715000" cy="1081690"/>
            <a:chOff x="22440" y="59287"/>
            <a:chExt cx="976347" cy="19425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F0E9F2E-BCAA-4B78-9DAE-A52B2771E363}"/>
                </a:ext>
              </a:extLst>
            </p:cNvPr>
            <p:cNvGrpSpPr/>
            <p:nvPr/>
          </p:nvGrpSpPr>
          <p:grpSpPr>
            <a:xfrm>
              <a:off x="22440" y="59287"/>
              <a:ext cx="850471" cy="194251"/>
              <a:chOff x="31572" y="60276"/>
              <a:chExt cx="1196628" cy="240395"/>
            </a:xfrm>
          </p:grpSpPr>
          <p:sp>
            <p:nvSpPr>
              <p:cNvPr id="9" name="Arrow: Pentagon 8">
                <a:extLst>
                  <a:ext uri="{FF2B5EF4-FFF2-40B4-BE49-F238E27FC236}">
                    <a16:creationId xmlns:a16="http://schemas.microsoft.com/office/drawing/2014/main" id="{B8596493-2224-4712-8A6C-20C5F8414787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1000" b="1" kern="1200">
                    <a:solidFill>
                      <a:srgbClr val="0000CC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Arrow: Chevron 9">
                <a:extLst>
                  <a:ext uri="{FF2B5EF4-FFF2-40B4-BE49-F238E27FC236}">
                    <a16:creationId xmlns:a16="http://schemas.microsoft.com/office/drawing/2014/main" id="{87301ED1-CAC4-4F82-A4CB-203607300CFF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240330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sp>
            <p:nvSpPr>
              <p:cNvPr id="11" name="Arrow: Chevron 10">
                <a:extLst>
                  <a:ext uri="{FF2B5EF4-FFF2-40B4-BE49-F238E27FC236}">
                    <a16:creationId xmlns:a16="http://schemas.microsoft.com/office/drawing/2014/main" id="{87EE6C7B-32EA-46DF-AC0F-E55CD4C12DFF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240330"/>
              </a:xfrm>
              <a:prstGeom prst="chevron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p:grpSp>
        <p:sp>
          <p:nvSpPr>
            <p:cNvPr id="8" name="TextBox 56">
              <a:extLst>
                <a:ext uri="{FF2B5EF4-FFF2-40B4-BE49-F238E27FC236}">
                  <a16:creationId xmlns:a16="http://schemas.microsoft.com/office/drawing/2014/main" id="{023F66BC-ECEC-43C9-9D71-FAC24B5AF0B1}"/>
                </a:ext>
              </a:extLst>
            </p:cNvPr>
            <p:cNvSpPr txBox="1"/>
            <p:nvPr/>
          </p:nvSpPr>
          <p:spPr>
            <a:xfrm>
              <a:off x="271036" y="83816"/>
              <a:ext cx="727751" cy="158428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4400" b="1" dirty="0" err="1">
                  <a:solidFill>
                    <a:srgbClr val="0000FF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Ví</a:t>
              </a:r>
              <a:r>
                <a:rPr lang="en-US" sz="4400" b="1" dirty="0">
                  <a:solidFill>
                    <a:srgbClr val="0000FF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400" b="1" dirty="0" err="1">
                  <a:solidFill>
                    <a:srgbClr val="0000FF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dụ</a:t>
              </a:r>
              <a:r>
                <a:rPr lang="en-US" sz="4400" b="1" dirty="0">
                  <a:solidFill>
                    <a:srgbClr val="0000FF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3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8DCD702-B89F-4518-9506-6A3AEF7C898C}"/>
              </a:ext>
            </a:extLst>
          </p:cNvPr>
          <p:cNvGrpSpPr/>
          <p:nvPr/>
        </p:nvGrpSpPr>
        <p:grpSpPr>
          <a:xfrm>
            <a:off x="182630" y="6271725"/>
            <a:ext cx="3760381" cy="887477"/>
            <a:chOff x="22440" y="16831"/>
            <a:chExt cx="850471" cy="230002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2DE11C3-B866-4ABB-A8FD-8676EE42917F}"/>
                </a:ext>
              </a:extLst>
            </p:cNvPr>
            <p:cNvGrpSpPr/>
            <p:nvPr/>
          </p:nvGrpSpPr>
          <p:grpSpPr>
            <a:xfrm>
              <a:off x="22440" y="59287"/>
              <a:ext cx="850471" cy="159855"/>
              <a:chOff x="31572" y="60276"/>
              <a:chExt cx="1196628" cy="197828"/>
            </a:xfrm>
          </p:grpSpPr>
          <p:sp>
            <p:nvSpPr>
              <p:cNvPr id="15" name="Arrow: Pentagon 14">
                <a:extLst>
                  <a:ext uri="{FF2B5EF4-FFF2-40B4-BE49-F238E27FC236}">
                    <a16:creationId xmlns:a16="http://schemas.microsoft.com/office/drawing/2014/main" id="{544EB138-B1A5-42AE-A0F7-D39FE1544F36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Arrow: Chevron 15">
                <a:extLst>
                  <a:ext uri="{FF2B5EF4-FFF2-40B4-BE49-F238E27FC236}">
                    <a16:creationId xmlns:a16="http://schemas.microsoft.com/office/drawing/2014/main" id="{3950409C-869B-445F-895C-55B896354799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" name="Arrow: Chevron 16">
                <a:extLst>
                  <a:ext uri="{FF2B5EF4-FFF2-40B4-BE49-F238E27FC236}">
                    <a16:creationId xmlns:a16="http://schemas.microsoft.com/office/drawing/2014/main" id="{D2A3D8AB-C17F-46F7-9E5C-80DC076DF550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4" name="TextBox 56">
              <a:extLst>
                <a:ext uri="{FF2B5EF4-FFF2-40B4-BE49-F238E27FC236}">
                  <a16:creationId xmlns:a16="http://schemas.microsoft.com/office/drawing/2014/main" id="{C448691D-D28E-4CC8-A9BD-A01C2F2E5B2B}"/>
                </a:ext>
              </a:extLst>
            </p:cNvPr>
            <p:cNvSpPr txBox="1"/>
            <p:nvPr/>
          </p:nvSpPr>
          <p:spPr>
            <a:xfrm>
              <a:off x="188148" y="16831"/>
              <a:ext cx="591618" cy="23000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Giải</a:t>
              </a:r>
              <a:r>
                <a:rPr kumimoji="0" lang="en-US" sz="4800" b="1" i="0" u="none" strike="noStrike" kern="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endPara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   ·   BÀI 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42604194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43196" y="2030474"/>
                <a:ext cx="24046196" cy="337972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endParaRPr lang="en-US" sz="48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endParaRPr lang="en-US" sz="48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sử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/>
                      </a:rPr>
                      <m:t>𝑪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hình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bình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hành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chéo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vuông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/>
                      </a:rPr>
                      <m:t>𝑫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hình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hình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vuông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mệnh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đề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đây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đúng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hay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?</a:t>
                </a:r>
              </a:p>
              <a:p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	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/>
                      </a:rPr>
                      <m:t>𝑪</m:t>
                    </m:r>
                    <m:r>
                      <a:rPr lang="en-US" sz="4800" b="1" i="1">
                        <a:latin typeface="Cambria Math"/>
                      </a:rPr>
                      <m:t>⊂</m:t>
                    </m:r>
                    <m:r>
                      <a:rPr lang="en-US" sz="4800" b="1" i="1">
                        <a:latin typeface="Cambria Math"/>
                      </a:rPr>
                      <m:t>𝑫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		b)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/>
                      </a:rPr>
                      <m:t>𝑪</m:t>
                    </m:r>
                    <m:r>
                      <a:rPr lang="en-US" sz="4800" b="1" i="1">
                        <a:latin typeface="Cambria Math"/>
                      </a:rPr>
                      <m:t>⊃</m:t>
                    </m:r>
                    <m:r>
                      <a:rPr lang="en-US" sz="4800" b="1" i="1">
                        <a:latin typeface="Cambria Math"/>
                      </a:rPr>
                      <m:t>𝑫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	;	c)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/>
                      </a:rPr>
                      <m:t>𝑪</m:t>
                    </m:r>
                    <m:r>
                      <a:rPr lang="en-US" sz="4800" b="1" i="1">
                        <a:latin typeface="Cambria Math"/>
                      </a:rPr>
                      <m:t>=</m:t>
                    </m:r>
                    <m:r>
                      <a:rPr lang="en-US" sz="4800" b="1" i="1">
                        <a:latin typeface="Cambria Math"/>
                      </a:rPr>
                      <m:t>𝑫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endParaRPr lang="en-US" sz="4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3196" y="2030474"/>
                <a:ext cx="24046196" cy="3379725"/>
              </a:xfrm>
              <a:prstGeom prst="rect">
                <a:avLst/>
              </a:prstGeom>
              <a:blipFill>
                <a:blip r:embed="rId3"/>
                <a:stretch>
                  <a:fillRect l="-1140" b="-9353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922" y="6193269"/>
                <a:ext cx="23939078" cy="7310007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hình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bình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hành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chéo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vuông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hình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thoi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Lại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mọi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hình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vuông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đều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hình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thoi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Suy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𝑪</m:t>
                    </m:r>
                    <m:r>
                      <a:rPr lang="en-US" b="1" i="1">
                        <a:latin typeface="Cambria Math"/>
                      </a:rPr>
                      <m:t>⊃</m:t>
                    </m:r>
                    <m:r>
                      <a:rPr lang="en-US" i="1">
                        <a:latin typeface="Cambria Math"/>
                      </a:rPr>
                      <m:t>𝐷</m:t>
                    </m:r>
                  </m:oMath>
                </a14:m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mệnh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đề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𝑪</m:t>
                    </m:r>
                    <m:r>
                      <a:rPr lang="en-US" b="1" i="1">
                        <a:latin typeface="Cambria Math"/>
                      </a:rPr>
                      <m:t>⊂</m:t>
                    </m:r>
                    <m:r>
                      <a:rPr lang="en-US" b="1" i="1">
                        <a:latin typeface="Cambria Math"/>
                      </a:rPr>
                      <m:t>𝑫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𝑪</m:t>
                    </m:r>
                    <m:r>
                      <a:rPr lang="en-US" b="1" i="1">
                        <a:latin typeface="Cambria Math"/>
                      </a:rPr>
                      <m:t>⊃</m:t>
                    </m:r>
                    <m:r>
                      <a:rPr lang="en-US" b="1" i="1">
                        <a:latin typeface="Cambria Math"/>
                      </a:rPr>
                      <m:t>𝑫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đúng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c)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𝑪</m:t>
                    </m:r>
                    <m:r>
                      <a:rPr lang="en-US" b="1" i="1">
                        <a:latin typeface="Cambria Math"/>
                      </a:rPr>
                      <m:t>=</m:t>
                    </m:r>
                    <m:r>
                      <a:rPr lang="en-US" b="1" i="1">
                        <a:latin typeface="Cambria Math"/>
                      </a:rPr>
                      <m:t>𝑫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do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hình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thoi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cạnh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kề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dài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nhau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thì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phải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hình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vuông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2" y="6193269"/>
                <a:ext cx="23939078" cy="7310007"/>
              </a:xfrm>
              <a:prstGeom prst="rect">
                <a:avLst/>
              </a:prstGeom>
              <a:blipFill>
                <a:blip r:embed="rId4"/>
                <a:stretch>
                  <a:fillRect l="-1120" r="-102" b="-4080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C5EBDE18-F9CD-4FEA-8471-E18C7DBD2D39}"/>
              </a:ext>
            </a:extLst>
          </p:cNvPr>
          <p:cNvGrpSpPr/>
          <p:nvPr/>
        </p:nvGrpSpPr>
        <p:grpSpPr>
          <a:xfrm>
            <a:off x="0" y="2030475"/>
            <a:ext cx="5715000" cy="1081690"/>
            <a:chOff x="22440" y="59287"/>
            <a:chExt cx="976347" cy="19425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F0E9F2E-BCAA-4B78-9DAE-A52B2771E363}"/>
                </a:ext>
              </a:extLst>
            </p:cNvPr>
            <p:cNvGrpSpPr/>
            <p:nvPr/>
          </p:nvGrpSpPr>
          <p:grpSpPr>
            <a:xfrm>
              <a:off x="22440" y="59287"/>
              <a:ext cx="850471" cy="194251"/>
              <a:chOff x="31572" y="60276"/>
              <a:chExt cx="1196628" cy="240395"/>
            </a:xfrm>
          </p:grpSpPr>
          <p:sp>
            <p:nvSpPr>
              <p:cNvPr id="9" name="Arrow: Pentagon 8">
                <a:extLst>
                  <a:ext uri="{FF2B5EF4-FFF2-40B4-BE49-F238E27FC236}">
                    <a16:creationId xmlns:a16="http://schemas.microsoft.com/office/drawing/2014/main" id="{B8596493-2224-4712-8A6C-20C5F8414787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1000" b="1" kern="1200">
                    <a:solidFill>
                      <a:srgbClr val="0000CC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Arrow: Chevron 9">
                <a:extLst>
                  <a:ext uri="{FF2B5EF4-FFF2-40B4-BE49-F238E27FC236}">
                    <a16:creationId xmlns:a16="http://schemas.microsoft.com/office/drawing/2014/main" id="{87301ED1-CAC4-4F82-A4CB-203607300CFF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240330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sp>
            <p:nvSpPr>
              <p:cNvPr id="11" name="Arrow: Chevron 10">
                <a:extLst>
                  <a:ext uri="{FF2B5EF4-FFF2-40B4-BE49-F238E27FC236}">
                    <a16:creationId xmlns:a16="http://schemas.microsoft.com/office/drawing/2014/main" id="{87EE6C7B-32EA-46DF-AC0F-E55CD4C12DFF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240330"/>
              </a:xfrm>
              <a:prstGeom prst="chevron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p:grpSp>
        <p:sp>
          <p:nvSpPr>
            <p:cNvPr id="8" name="TextBox 56">
              <a:extLst>
                <a:ext uri="{FF2B5EF4-FFF2-40B4-BE49-F238E27FC236}">
                  <a16:creationId xmlns:a16="http://schemas.microsoft.com/office/drawing/2014/main" id="{023F66BC-ECEC-43C9-9D71-FAC24B5AF0B1}"/>
                </a:ext>
              </a:extLst>
            </p:cNvPr>
            <p:cNvSpPr txBox="1"/>
            <p:nvPr/>
          </p:nvSpPr>
          <p:spPr>
            <a:xfrm>
              <a:off x="271036" y="83816"/>
              <a:ext cx="727751" cy="158428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4400" b="1" dirty="0" err="1">
                  <a:solidFill>
                    <a:srgbClr val="0000FF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Luyện</a:t>
              </a:r>
              <a:r>
                <a:rPr lang="en-US" sz="4400" b="1" dirty="0">
                  <a:solidFill>
                    <a:srgbClr val="0000FF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400" b="1" dirty="0" err="1">
                  <a:solidFill>
                    <a:srgbClr val="0000FF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tập</a:t>
              </a:r>
              <a:r>
                <a:rPr lang="en-US" sz="4400" b="1" dirty="0">
                  <a:solidFill>
                    <a:srgbClr val="0000FF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2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096E2B9-EC57-487E-8865-F202D2D04968}"/>
              </a:ext>
            </a:extLst>
          </p:cNvPr>
          <p:cNvGrpSpPr/>
          <p:nvPr/>
        </p:nvGrpSpPr>
        <p:grpSpPr>
          <a:xfrm>
            <a:off x="63922" y="5418146"/>
            <a:ext cx="3760381" cy="887477"/>
            <a:chOff x="22440" y="16831"/>
            <a:chExt cx="850471" cy="230002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5B962F-F5FA-49A3-A3E2-352BBCBC8865}"/>
                </a:ext>
              </a:extLst>
            </p:cNvPr>
            <p:cNvGrpSpPr/>
            <p:nvPr/>
          </p:nvGrpSpPr>
          <p:grpSpPr>
            <a:xfrm>
              <a:off x="22440" y="59287"/>
              <a:ext cx="850471" cy="159855"/>
              <a:chOff x="31572" y="60276"/>
              <a:chExt cx="1196628" cy="197828"/>
            </a:xfrm>
          </p:grpSpPr>
          <p:sp>
            <p:nvSpPr>
              <p:cNvPr id="15" name="Arrow: Pentagon 14">
                <a:extLst>
                  <a:ext uri="{FF2B5EF4-FFF2-40B4-BE49-F238E27FC236}">
                    <a16:creationId xmlns:a16="http://schemas.microsoft.com/office/drawing/2014/main" id="{9E5FCAC4-10AF-4402-8630-48F9EF8F824D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Arrow: Chevron 15">
                <a:extLst>
                  <a:ext uri="{FF2B5EF4-FFF2-40B4-BE49-F238E27FC236}">
                    <a16:creationId xmlns:a16="http://schemas.microsoft.com/office/drawing/2014/main" id="{99FDD420-7BC1-409C-89F9-595C12971AB6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" name="Arrow: Chevron 16">
                <a:extLst>
                  <a:ext uri="{FF2B5EF4-FFF2-40B4-BE49-F238E27FC236}">
                    <a16:creationId xmlns:a16="http://schemas.microsoft.com/office/drawing/2014/main" id="{59BB99DD-6901-4ED4-BC5B-ED4E286579BA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4" name="TextBox 56">
              <a:extLst>
                <a:ext uri="{FF2B5EF4-FFF2-40B4-BE49-F238E27FC236}">
                  <a16:creationId xmlns:a16="http://schemas.microsoft.com/office/drawing/2014/main" id="{7387E878-FCE1-4D39-965E-2ACE159144EC}"/>
                </a:ext>
              </a:extLst>
            </p:cNvPr>
            <p:cNvSpPr txBox="1"/>
            <p:nvPr/>
          </p:nvSpPr>
          <p:spPr>
            <a:xfrm>
              <a:off x="188148" y="16831"/>
              <a:ext cx="591618" cy="23000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Giải</a:t>
              </a:r>
              <a:r>
                <a:rPr kumimoji="0" lang="en-US" sz="4800" b="1" i="0" u="none" strike="noStrike" kern="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endPara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   ·   BÀI 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4703265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304800" y="1879601"/>
            <a:ext cx="23850600" cy="15493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 </a:t>
            </a:r>
            <a:r>
              <a:rPr lang="en-US" sz="4800" b="1" dirty="0" err="1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4800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TẬP</a:t>
            </a:r>
            <a:r>
              <a:rPr lang="en-US" sz="4800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HỢP</a:t>
            </a:r>
            <a:r>
              <a:rPr lang="en-US" sz="4800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endParaRPr lang="en-US" sz="4800" dirty="0">
              <a:solidFill>
                <a:schemeClr val="accent2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4800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a. </a:t>
            </a:r>
            <a:r>
              <a:rPr lang="en-US" sz="4800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Mối</a:t>
            </a:r>
            <a:r>
              <a:rPr lang="en-US" sz="4800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quan</a:t>
            </a:r>
            <a:r>
              <a:rPr lang="en-US" sz="4800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hệ</a:t>
            </a:r>
            <a:r>
              <a:rPr lang="en-US" sz="4800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giữa</a:t>
            </a:r>
            <a:r>
              <a:rPr lang="en-US" sz="4800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4800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tập</a:t>
            </a:r>
            <a:r>
              <a:rPr lang="en-US" sz="4800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hợp</a:t>
            </a:r>
            <a:r>
              <a:rPr lang="en-US" sz="4800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endParaRPr lang="en-US" sz="4800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8044" y="3429001"/>
                <a:ext cx="24007356" cy="1005840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i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tự</a:t>
                </a:r>
                <a:r>
                  <a:rPr lang="en-US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i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nhiên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ℕ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0; 1; 2; 3,4;...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i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nguyên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ℤ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gồm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tự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nhiên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nguyên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âm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/>
                      </a:rPr>
                      <m:t> </m:t>
                    </m:r>
                  </m:oMath>
                </a14:m>
                <a:endParaRPr lang="en-US" b="0" i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ℤ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...;−3;−2;−1;0;1;2;3...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i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hữu</a:t>
                </a:r>
                <a:r>
                  <a:rPr lang="en-US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i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tỉ</a:t>
                </a:r>
                <a:r>
                  <a:rPr lang="en-US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ℚ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gồm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viết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dưới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dạng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phân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𝑎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𝑏</m:t>
                    </m:r>
                    <m:r>
                      <a:rPr lang="en-US" i="1">
                        <a:latin typeface="Cambria Math"/>
                      </a:rPr>
                      <m:t>∈</m:t>
                    </m:r>
                    <m:r>
                      <a:rPr lang="en-US" i="1">
                        <a:latin typeface="Cambria Math"/>
                      </a:rPr>
                      <m:t>ℤ</m:t>
                    </m:r>
                    <m:r>
                      <a:rPr lang="en-US" i="1">
                        <a:latin typeface="Cambria Math"/>
                      </a:rPr>
                      <m:t>, </m:t>
                    </m:r>
                    <m:r>
                      <a:rPr lang="en-US" i="1">
                        <a:latin typeface="Cambria Math"/>
                      </a:rPr>
                      <m:t>𝑏</m:t>
                    </m:r>
                    <m:r>
                      <a:rPr lang="en-US" i="1">
                        <a:latin typeface="Cambria Math"/>
                      </a:rPr>
                      <m:t>≠0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hữu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tỉ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còn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biểu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diễn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dưới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dạng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thập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phân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hữu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hạn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hoặc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vô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hạn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tuần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hoàn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i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thực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ℝ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gồm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hữu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tỉ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vô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tỉ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vô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tỉ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thập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phân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vô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hạn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tuần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hoàn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 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044" y="3429001"/>
                <a:ext cx="24007356" cy="10058400"/>
              </a:xfrm>
              <a:prstGeom prst="rect">
                <a:avLst/>
              </a:prstGeom>
              <a:blipFill>
                <a:blip r:embed="rId3"/>
                <a:stretch>
                  <a:fillRect l="-1015" b="-3632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   ·   BÀI 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40791450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225052" y="1879600"/>
            <a:ext cx="23777948" cy="44060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       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mệnh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đề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sau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đúng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hay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sai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</a:t>
            </a:r>
          </a:p>
          <a:p>
            <a:pPr marL="914400" indent="-914400">
              <a:lnSpc>
                <a:spcPct val="150000"/>
              </a:lnSpc>
              <a:buAutoNum type="alphaLcParenR"/>
            </a:pP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Mọi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nguyên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đều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viết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dưới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dạng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phân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b)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Tập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hợp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thực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chứa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tập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hợp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hữu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tỉ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c)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Tồn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tại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thực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không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hữu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tỉ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5052" y="7364214"/>
                <a:ext cx="14633948" cy="6139061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Cả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mệnh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đề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đều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đúng</a:t>
                </a: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Mối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quan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hệ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giữa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:endParaRPr lang="en-US" i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ℕ</m:t>
                    </m:r>
                    <m:r>
                      <a:rPr lang="en-US" i="1">
                        <a:latin typeface="Cambria Math"/>
                      </a:rPr>
                      <m:t>⊂</m:t>
                    </m:r>
                    <m:r>
                      <a:rPr lang="en-US" i="1">
                        <a:latin typeface="Cambria Math"/>
                      </a:rPr>
                      <m:t>ℤ</m:t>
                    </m:r>
                    <m:r>
                      <a:rPr lang="en-US" i="1">
                        <a:latin typeface="Cambria Math"/>
                      </a:rPr>
                      <m:t>⊂</m:t>
                    </m:r>
                    <m:r>
                      <a:rPr lang="en-US" i="1">
                        <a:latin typeface="Cambria Math"/>
                      </a:rPr>
                      <m:t>ℚ</m:t>
                    </m:r>
                    <m:r>
                      <a:rPr lang="en-US" i="1">
                        <a:latin typeface="Cambria Math"/>
                      </a:rPr>
                      <m:t>⊂</m:t>
                    </m:r>
                    <m:r>
                      <a:rPr lang="en-US" i="1">
                        <a:latin typeface="Cambria Math"/>
                      </a:rPr>
                      <m:t>ℝ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052" y="7364214"/>
                <a:ext cx="14633948" cy="6139061"/>
              </a:xfrm>
              <a:prstGeom prst="rect">
                <a:avLst/>
              </a:prstGeom>
              <a:blipFill>
                <a:blip r:embed="rId3"/>
                <a:stretch>
                  <a:fillRect l="-1873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0" y="6578080"/>
            <a:ext cx="9116291" cy="684106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C5EBDE18-F9CD-4FEA-8471-E18C7DBD2D39}"/>
              </a:ext>
            </a:extLst>
          </p:cNvPr>
          <p:cNvGrpSpPr/>
          <p:nvPr/>
        </p:nvGrpSpPr>
        <p:grpSpPr>
          <a:xfrm>
            <a:off x="214166" y="1895531"/>
            <a:ext cx="5715000" cy="1081690"/>
            <a:chOff x="22440" y="59287"/>
            <a:chExt cx="976347" cy="194251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F0E9F2E-BCAA-4B78-9DAE-A52B2771E363}"/>
                </a:ext>
              </a:extLst>
            </p:cNvPr>
            <p:cNvGrpSpPr/>
            <p:nvPr/>
          </p:nvGrpSpPr>
          <p:grpSpPr>
            <a:xfrm>
              <a:off x="22440" y="59287"/>
              <a:ext cx="850471" cy="194251"/>
              <a:chOff x="31572" y="60276"/>
              <a:chExt cx="1196628" cy="240395"/>
            </a:xfrm>
          </p:grpSpPr>
          <p:sp>
            <p:nvSpPr>
              <p:cNvPr id="10" name="Arrow: Pentagon 8">
                <a:extLst>
                  <a:ext uri="{FF2B5EF4-FFF2-40B4-BE49-F238E27FC236}">
                    <a16:creationId xmlns:a16="http://schemas.microsoft.com/office/drawing/2014/main" id="{B8596493-2224-4712-8A6C-20C5F8414787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1000" b="1" kern="1200">
                    <a:solidFill>
                      <a:srgbClr val="0000CC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Arrow: Chevron 9">
                <a:extLst>
                  <a:ext uri="{FF2B5EF4-FFF2-40B4-BE49-F238E27FC236}">
                    <a16:creationId xmlns:a16="http://schemas.microsoft.com/office/drawing/2014/main" id="{87301ED1-CAC4-4F82-A4CB-203607300CFF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240330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sp>
            <p:nvSpPr>
              <p:cNvPr id="12" name="Arrow: Chevron 10">
                <a:extLst>
                  <a:ext uri="{FF2B5EF4-FFF2-40B4-BE49-F238E27FC236}">
                    <a16:creationId xmlns:a16="http://schemas.microsoft.com/office/drawing/2014/main" id="{87EE6C7B-32EA-46DF-AC0F-E55CD4C12DFF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240330"/>
              </a:xfrm>
              <a:prstGeom prst="chevron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p:grpSp>
        <p:sp>
          <p:nvSpPr>
            <p:cNvPr id="9" name="TextBox 56">
              <a:extLst>
                <a:ext uri="{FF2B5EF4-FFF2-40B4-BE49-F238E27FC236}">
                  <a16:creationId xmlns:a16="http://schemas.microsoft.com/office/drawing/2014/main" id="{023F66BC-ECEC-43C9-9D71-FAC24B5AF0B1}"/>
                </a:ext>
              </a:extLst>
            </p:cNvPr>
            <p:cNvSpPr txBox="1"/>
            <p:nvPr/>
          </p:nvSpPr>
          <p:spPr>
            <a:xfrm>
              <a:off x="271036" y="83816"/>
              <a:ext cx="727751" cy="158428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4400" b="1" dirty="0" err="1">
                  <a:solidFill>
                    <a:srgbClr val="FF0066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HĐ</a:t>
              </a:r>
              <a:r>
                <a:rPr lang="en-US" sz="4400" b="1" dirty="0">
                  <a:solidFill>
                    <a:srgbClr val="FF0066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5</a:t>
              </a:r>
              <a:endParaRPr lang="en-US" sz="4400" dirty="0">
                <a:solidFill>
                  <a:srgbClr val="FF0066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EA6C2FB-8D2A-41FB-B84F-A4E6342052BB}"/>
              </a:ext>
            </a:extLst>
          </p:cNvPr>
          <p:cNvGrpSpPr/>
          <p:nvPr/>
        </p:nvGrpSpPr>
        <p:grpSpPr>
          <a:xfrm>
            <a:off x="225052" y="6497859"/>
            <a:ext cx="3760381" cy="887477"/>
            <a:chOff x="22440" y="16831"/>
            <a:chExt cx="850471" cy="23000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1327BFA-D7C6-4603-A23B-26B05F076692}"/>
                </a:ext>
              </a:extLst>
            </p:cNvPr>
            <p:cNvGrpSpPr/>
            <p:nvPr/>
          </p:nvGrpSpPr>
          <p:grpSpPr>
            <a:xfrm>
              <a:off x="22440" y="59287"/>
              <a:ext cx="850471" cy="159855"/>
              <a:chOff x="31572" y="60276"/>
              <a:chExt cx="1196628" cy="197828"/>
            </a:xfrm>
          </p:grpSpPr>
          <p:sp>
            <p:nvSpPr>
              <p:cNvPr id="17" name="Arrow: Pentagon 16">
                <a:extLst>
                  <a:ext uri="{FF2B5EF4-FFF2-40B4-BE49-F238E27FC236}">
                    <a16:creationId xmlns:a16="http://schemas.microsoft.com/office/drawing/2014/main" id="{F455D2CF-00F0-4559-B219-4471A1F3F0A4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Arrow: Chevron 17">
                <a:extLst>
                  <a:ext uri="{FF2B5EF4-FFF2-40B4-BE49-F238E27FC236}">
                    <a16:creationId xmlns:a16="http://schemas.microsoft.com/office/drawing/2014/main" id="{BA26B0B5-FF12-482F-8002-9DC8B818F1E6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" name="Arrow: Chevron 18">
                <a:extLst>
                  <a:ext uri="{FF2B5EF4-FFF2-40B4-BE49-F238E27FC236}">
                    <a16:creationId xmlns:a16="http://schemas.microsoft.com/office/drawing/2014/main" id="{5967A35C-9845-42D2-8C8D-3CAF57BD177F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6" name="TextBox 56">
              <a:extLst>
                <a:ext uri="{FF2B5EF4-FFF2-40B4-BE49-F238E27FC236}">
                  <a16:creationId xmlns:a16="http://schemas.microsoft.com/office/drawing/2014/main" id="{B97AC9CE-93E1-467C-9C3E-D788CE04F38B}"/>
                </a:ext>
              </a:extLst>
            </p:cNvPr>
            <p:cNvSpPr txBox="1"/>
            <p:nvPr/>
          </p:nvSpPr>
          <p:spPr>
            <a:xfrm>
              <a:off x="188148" y="16831"/>
              <a:ext cx="591618" cy="23000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Giải</a:t>
              </a:r>
              <a:r>
                <a:rPr kumimoji="0" lang="en-US" sz="4800" b="1" i="0" u="none" strike="noStrike" kern="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endPara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   ·   BÀI 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79082215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3370174"/>
                <a:ext cx="24027063" cy="318302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Hãy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xác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định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đúng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mệnh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đề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/>
                      </a:rPr>
                      <m:t>3,274∈</m:t>
                    </m:r>
                    <m:r>
                      <a:rPr lang="en-US" sz="4800" i="1">
                        <a:latin typeface="Cambria Math"/>
                      </a:rPr>
                      <m:t>ℚ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		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4800" i="1">
                            <a:latin typeface="Cambria Math"/>
                          </a:rPr>
                          <m:t>2</m:t>
                        </m:r>
                      </m:e>
                    </m:rad>
                    <m:r>
                      <a:rPr lang="en-US" sz="4800" i="1">
                        <a:latin typeface="Cambria Math"/>
                      </a:rPr>
                      <m:t>∈</m:t>
                    </m:r>
                    <m:r>
                      <a:rPr lang="en-US" sz="4800" i="1">
                        <a:latin typeface="Cambria Math"/>
                      </a:rPr>
                      <m:t>ℝ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	;	c)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800" i="1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US" sz="4800" i="1">
                            <a:latin typeface="Cambria Math"/>
                          </a:rPr>
                          <m:t>4</m:t>
                        </m:r>
                      </m:den>
                    </m:f>
                    <m:r>
                      <a:rPr lang="en-US" sz="4800" i="1">
                        <a:latin typeface="Cambria Math"/>
                      </a:rPr>
                      <m:t>∈</m:t>
                    </m:r>
                    <m:r>
                      <a:rPr lang="en-US" sz="4800" i="1">
                        <a:latin typeface="Cambria Math"/>
                      </a:rPr>
                      <m:t>ℤ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endParaRPr lang="en-US" sz="4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370174"/>
                <a:ext cx="24027063" cy="3183026"/>
              </a:xfrm>
              <a:prstGeom prst="rect">
                <a:avLst/>
              </a:prstGeom>
              <a:blipFill>
                <a:blip r:embed="rId3"/>
                <a:stretch>
                  <a:fillRect l="-1116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6171" y="7667701"/>
                <a:ext cx="23760892" cy="5758471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3,274∈</m:t>
                    </m:r>
                    <m:r>
                      <a:rPr lang="en-US" i="1">
                        <a:latin typeface="Cambria Math"/>
                      </a:rPr>
                      <m:t>ℚ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mệnh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đề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đúng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	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/>
                          </a:rPr>
                          <m:t>2</m:t>
                        </m:r>
                      </m:e>
                    </m:rad>
                    <m:r>
                      <a:rPr lang="en-US" i="1">
                        <a:latin typeface="Cambria Math"/>
                      </a:rPr>
                      <m:t>∈</m:t>
                    </m:r>
                    <m:r>
                      <a:rPr lang="en-US" i="1">
                        <a:latin typeface="Cambria Math"/>
                      </a:rPr>
                      <m:t>ℝ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mệnh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đề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đúng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c)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4</m:t>
                        </m:r>
                      </m:den>
                    </m:f>
                    <m:r>
                      <a:rPr lang="en-US" i="1">
                        <a:latin typeface="Cambria Math"/>
                      </a:rPr>
                      <m:t>∈</m:t>
                    </m:r>
                    <m:r>
                      <a:rPr lang="en-US" i="1">
                        <a:latin typeface="Cambria Math"/>
                      </a:rPr>
                      <m:t>ℤ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mệnh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đề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171" y="7667701"/>
                <a:ext cx="23760892" cy="5758471"/>
              </a:xfrm>
              <a:prstGeom prst="rect">
                <a:avLst/>
              </a:prstGeom>
              <a:blipFill>
                <a:blip r:embed="rId4"/>
                <a:stretch>
                  <a:fillRect l="-1154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C5EBDE18-F9CD-4FEA-8471-E18C7DBD2D39}"/>
              </a:ext>
            </a:extLst>
          </p:cNvPr>
          <p:cNvGrpSpPr/>
          <p:nvPr/>
        </p:nvGrpSpPr>
        <p:grpSpPr>
          <a:xfrm>
            <a:off x="0" y="2030475"/>
            <a:ext cx="5715000" cy="1081690"/>
            <a:chOff x="22440" y="59287"/>
            <a:chExt cx="976347" cy="194251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F0E9F2E-BCAA-4B78-9DAE-A52B2771E363}"/>
                </a:ext>
              </a:extLst>
            </p:cNvPr>
            <p:cNvGrpSpPr/>
            <p:nvPr/>
          </p:nvGrpSpPr>
          <p:grpSpPr>
            <a:xfrm>
              <a:off x="22440" y="59287"/>
              <a:ext cx="850471" cy="194251"/>
              <a:chOff x="31572" y="60276"/>
              <a:chExt cx="1196628" cy="240395"/>
            </a:xfrm>
          </p:grpSpPr>
          <p:sp>
            <p:nvSpPr>
              <p:cNvPr id="20" name="Arrow: Pentagon 8">
                <a:extLst>
                  <a:ext uri="{FF2B5EF4-FFF2-40B4-BE49-F238E27FC236}">
                    <a16:creationId xmlns:a16="http://schemas.microsoft.com/office/drawing/2014/main" id="{B8596493-2224-4712-8A6C-20C5F8414787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1000" b="1" kern="1200">
                    <a:solidFill>
                      <a:srgbClr val="0000CC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" name="Arrow: Chevron 9">
                <a:extLst>
                  <a:ext uri="{FF2B5EF4-FFF2-40B4-BE49-F238E27FC236}">
                    <a16:creationId xmlns:a16="http://schemas.microsoft.com/office/drawing/2014/main" id="{87301ED1-CAC4-4F82-A4CB-203607300CFF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240330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sp>
            <p:nvSpPr>
              <p:cNvPr id="22" name="Arrow: Chevron 10">
                <a:extLst>
                  <a:ext uri="{FF2B5EF4-FFF2-40B4-BE49-F238E27FC236}">
                    <a16:creationId xmlns:a16="http://schemas.microsoft.com/office/drawing/2014/main" id="{87EE6C7B-32EA-46DF-AC0F-E55CD4C12DFF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240330"/>
              </a:xfrm>
              <a:prstGeom prst="chevron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p:grpSp>
        <p:sp>
          <p:nvSpPr>
            <p:cNvPr id="19" name="TextBox 56">
              <a:extLst>
                <a:ext uri="{FF2B5EF4-FFF2-40B4-BE49-F238E27FC236}">
                  <a16:creationId xmlns:a16="http://schemas.microsoft.com/office/drawing/2014/main" id="{023F66BC-ECEC-43C9-9D71-FAC24B5AF0B1}"/>
                </a:ext>
              </a:extLst>
            </p:cNvPr>
            <p:cNvSpPr txBox="1"/>
            <p:nvPr/>
          </p:nvSpPr>
          <p:spPr>
            <a:xfrm>
              <a:off x="271036" y="83816"/>
              <a:ext cx="727751" cy="158428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4400" b="1" dirty="0" err="1">
                  <a:solidFill>
                    <a:srgbClr val="0000FF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Ví</a:t>
              </a:r>
              <a:r>
                <a:rPr lang="en-US" sz="4400" b="1" dirty="0">
                  <a:solidFill>
                    <a:srgbClr val="0000FF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400" b="1" dirty="0" err="1">
                  <a:solidFill>
                    <a:srgbClr val="0000FF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dụ</a:t>
              </a:r>
              <a:r>
                <a:rPr lang="en-US" sz="4400" b="1" dirty="0">
                  <a:solidFill>
                    <a:srgbClr val="0000FF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4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D2B27D0-2C86-4463-8676-5BA320EB08B8}"/>
              </a:ext>
            </a:extLst>
          </p:cNvPr>
          <p:cNvGrpSpPr/>
          <p:nvPr/>
        </p:nvGrpSpPr>
        <p:grpSpPr>
          <a:xfrm>
            <a:off x="0" y="6717747"/>
            <a:ext cx="3760381" cy="887477"/>
            <a:chOff x="22440" y="16831"/>
            <a:chExt cx="850471" cy="23000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4117C551-E2B7-4244-8E50-B80D4A2C75E8}"/>
                </a:ext>
              </a:extLst>
            </p:cNvPr>
            <p:cNvGrpSpPr/>
            <p:nvPr/>
          </p:nvGrpSpPr>
          <p:grpSpPr>
            <a:xfrm>
              <a:off x="22440" y="59287"/>
              <a:ext cx="850471" cy="159855"/>
              <a:chOff x="31572" y="60276"/>
              <a:chExt cx="1196628" cy="197828"/>
            </a:xfrm>
          </p:grpSpPr>
          <p:sp>
            <p:nvSpPr>
              <p:cNvPr id="13" name="Arrow: Pentagon 12">
                <a:extLst>
                  <a:ext uri="{FF2B5EF4-FFF2-40B4-BE49-F238E27FC236}">
                    <a16:creationId xmlns:a16="http://schemas.microsoft.com/office/drawing/2014/main" id="{2DB8028A-2FC0-4150-9644-63059BB80C7A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Arrow: Chevron 13">
                <a:extLst>
                  <a:ext uri="{FF2B5EF4-FFF2-40B4-BE49-F238E27FC236}">
                    <a16:creationId xmlns:a16="http://schemas.microsoft.com/office/drawing/2014/main" id="{015F9427-91DA-4EC2-9D27-9FA5284A95A7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" name="Arrow: Chevron 14">
                <a:extLst>
                  <a:ext uri="{FF2B5EF4-FFF2-40B4-BE49-F238E27FC236}">
                    <a16:creationId xmlns:a16="http://schemas.microsoft.com/office/drawing/2014/main" id="{1CDD72F4-6D68-4BF2-BD84-DC592D06566A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2" name="TextBox 56">
              <a:extLst>
                <a:ext uri="{FF2B5EF4-FFF2-40B4-BE49-F238E27FC236}">
                  <a16:creationId xmlns:a16="http://schemas.microsoft.com/office/drawing/2014/main" id="{F523B1E4-6014-47C1-B8E5-B82719009F08}"/>
                </a:ext>
              </a:extLst>
            </p:cNvPr>
            <p:cNvSpPr txBox="1"/>
            <p:nvPr/>
          </p:nvSpPr>
          <p:spPr>
            <a:xfrm>
              <a:off x="188148" y="16831"/>
              <a:ext cx="591618" cy="23000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Giải</a:t>
              </a:r>
              <a:r>
                <a:rPr kumimoji="0" lang="en-US" sz="4800" b="1" i="0" u="none" strike="noStrike" kern="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endPara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   ·   BÀI 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58912631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9493" y="3240516"/>
                <a:ext cx="23803507" cy="24963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/>
                      </a:rPr>
                      <m:t>𝐶</m:t>
                    </m:r>
                    <m:r>
                      <a:rPr lang="en-US" sz="48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i="1">
                            <a:latin typeface="Cambria Math"/>
                          </a:rPr>
                          <m:t>−4;0;1;2</m:t>
                        </m:r>
                      </m:e>
                    </m:d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mệnh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đề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đúng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hay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?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/>
                      </a:rPr>
                      <m:t>𝐶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con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/>
                      </a:rPr>
                      <m:t>ℤ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	    b)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/>
                      </a:rPr>
                      <m:t>𝐶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con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/>
                      </a:rPr>
                      <m:t>ℕ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     c)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/>
                      </a:rPr>
                      <m:t>𝐶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con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/>
                      </a:rPr>
                      <m:t>ℝ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endParaRPr lang="en-US" sz="4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endParaRPr lang="en-US" sz="4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493" y="3240516"/>
                <a:ext cx="23803507" cy="2496300"/>
              </a:xfrm>
              <a:prstGeom prst="rect">
                <a:avLst/>
              </a:prstGeom>
              <a:blipFill>
                <a:blip r:embed="rId3"/>
                <a:stretch>
                  <a:fillRect l="-1152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3588" y="6913166"/>
                <a:ext cx="23719412" cy="6498033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Đáp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án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a), c)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đúng</a:t>
                </a: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Đáp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án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b)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vì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−4∉</m:t>
                    </m:r>
                    <m:r>
                      <a:rPr lang="en-US" i="1">
                        <a:latin typeface="Cambria Math"/>
                      </a:rPr>
                      <m:t>ℕ</m:t>
                    </m:r>
                  </m:oMath>
                </a14:m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 algn="ctr">
                  <a:buNone/>
                </a:pP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588" y="6913166"/>
                <a:ext cx="23719412" cy="6498033"/>
              </a:xfrm>
              <a:prstGeom prst="rect">
                <a:avLst/>
              </a:prstGeom>
              <a:blipFill>
                <a:blip r:embed="rId4"/>
                <a:stretch>
                  <a:fillRect l="-1156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C5EBDE18-F9CD-4FEA-8471-E18C7DBD2D39}"/>
              </a:ext>
            </a:extLst>
          </p:cNvPr>
          <p:cNvGrpSpPr/>
          <p:nvPr/>
        </p:nvGrpSpPr>
        <p:grpSpPr>
          <a:xfrm>
            <a:off x="0" y="2030475"/>
            <a:ext cx="5715000" cy="1081690"/>
            <a:chOff x="22440" y="59287"/>
            <a:chExt cx="976347" cy="194251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F0E9F2E-BCAA-4B78-9DAE-A52B2771E363}"/>
                </a:ext>
              </a:extLst>
            </p:cNvPr>
            <p:cNvGrpSpPr/>
            <p:nvPr/>
          </p:nvGrpSpPr>
          <p:grpSpPr>
            <a:xfrm>
              <a:off x="22440" y="59287"/>
              <a:ext cx="850471" cy="194251"/>
              <a:chOff x="31572" y="60276"/>
              <a:chExt cx="1196628" cy="240395"/>
            </a:xfrm>
          </p:grpSpPr>
          <p:sp>
            <p:nvSpPr>
              <p:cNvPr id="11" name="Arrow: Pentagon 8">
                <a:extLst>
                  <a:ext uri="{FF2B5EF4-FFF2-40B4-BE49-F238E27FC236}">
                    <a16:creationId xmlns:a16="http://schemas.microsoft.com/office/drawing/2014/main" id="{B8596493-2224-4712-8A6C-20C5F8414787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1000" b="1" kern="1200">
                    <a:solidFill>
                      <a:srgbClr val="0000CC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Arrow: Chevron 9">
                <a:extLst>
                  <a:ext uri="{FF2B5EF4-FFF2-40B4-BE49-F238E27FC236}">
                    <a16:creationId xmlns:a16="http://schemas.microsoft.com/office/drawing/2014/main" id="{87301ED1-CAC4-4F82-A4CB-203607300CFF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240330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sp>
            <p:nvSpPr>
              <p:cNvPr id="13" name="Arrow: Chevron 10">
                <a:extLst>
                  <a:ext uri="{FF2B5EF4-FFF2-40B4-BE49-F238E27FC236}">
                    <a16:creationId xmlns:a16="http://schemas.microsoft.com/office/drawing/2014/main" id="{87EE6C7B-32EA-46DF-AC0F-E55CD4C12DFF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240330"/>
              </a:xfrm>
              <a:prstGeom prst="chevron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p:grpSp>
        <p:sp>
          <p:nvSpPr>
            <p:cNvPr id="10" name="TextBox 56">
              <a:extLst>
                <a:ext uri="{FF2B5EF4-FFF2-40B4-BE49-F238E27FC236}">
                  <a16:creationId xmlns:a16="http://schemas.microsoft.com/office/drawing/2014/main" id="{023F66BC-ECEC-43C9-9D71-FAC24B5AF0B1}"/>
                </a:ext>
              </a:extLst>
            </p:cNvPr>
            <p:cNvSpPr txBox="1"/>
            <p:nvPr/>
          </p:nvSpPr>
          <p:spPr>
            <a:xfrm>
              <a:off x="271036" y="83816"/>
              <a:ext cx="727751" cy="158428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4400" b="1" dirty="0" err="1">
                  <a:solidFill>
                    <a:srgbClr val="0000FF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Luyện</a:t>
              </a:r>
              <a:r>
                <a:rPr lang="en-US" sz="4400" b="1" dirty="0">
                  <a:solidFill>
                    <a:srgbClr val="0000FF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400" b="1" dirty="0" err="1">
                  <a:solidFill>
                    <a:srgbClr val="0000FF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tập</a:t>
              </a:r>
              <a:r>
                <a:rPr lang="en-US" sz="4400" b="1" dirty="0">
                  <a:solidFill>
                    <a:srgbClr val="0000FF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3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1842BA6-05A9-4C22-9B1D-2E9533F1E98E}"/>
              </a:ext>
            </a:extLst>
          </p:cNvPr>
          <p:cNvGrpSpPr/>
          <p:nvPr/>
        </p:nvGrpSpPr>
        <p:grpSpPr>
          <a:xfrm>
            <a:off x="17417" y="5679845"/>
            <a:ext cx="3760381" cy="887477"/>
            <a:chOff x="22440" y="16831"/>
            <a:chExt cx="850471" cy="23000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844F3FC-8EF1-4D8F-BFB1-BF3D38AFF28D}"/>
                </a:ext>
              </a:extLst>
            </p:cNvPr>
            <p:cNvGrpSpPr/>
            <p:nvPr/>
          </p:nvGrpSpPr>
          <p:grpSpPr>
            <a:xfrm>
              <a:off x="22440" y="59287"/>
              <a:ext cx="850471" cy="159855"/>
              <a:chOff x="31572" y="60276"/>
              <a:chExt cx="1196628" cy="197828"/>
            </a:xfrm>
          </p:grpSpPr>
          <p:sp>
            <p:nvSpPr>
              <p:cNvPr id="17" name="Arrow: Pentagon 16">
                <a:extLst>
                  <a:ext uri="{FF2B5EF4-FFF2-40B4-BE49-F238E27FC236}">
                    <a16:creationId xmlns:a16="http://schemas.microsoft.com/office/drawing/2014/main" id="{D9014B67-083E-4083-A8AB-6851CAC0631D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Arrow: Chevron 17">
                <a:extLst>
                  <a:ext uri="{FF2B5EF4-FFF2-40B4-BE49-F238E27FC236}">
                    <a16:creationId xmlns:a16="http://schemas.microsoft.com/office/drawing/2014/main" id="{41ED0483-7DE5-4B96-8A97-6D090A51A7AF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" name="Arrow: Chevron 18">
                <a:extLst>
                  <a:ext uri="{FF2B5EF4-FFF2-40B4-BE49-F238E27FC236}">
                    <a16:creationId xmlns:a16="http://schemas.microsoft.com/office/drawing/2014/main" id="{9E5F6F99-EE41-483B-9C87-CF667C79E1C1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6" name="TextBox 56">
              <a:extLst>
                <a:ext uri="{FF2B5EF4-FFF2-40B4-BE49-F238E27FC236}">
                  <a16:creationId xmlns:a16="http://schemas.microsoft.com/office/drawing/2014/main" id="{AAD75B36-0D3E-4CC6-B18B-4E95B2251FD3}"/>
                </a:ext>
              </a:extLst>
            </p:cNvPr>
            <p:cNvSpPr txBox="1"/>
            <p:nvPr/>
          </p:nvSpPr>
          <p:spPr>
            <a:xfrm>
              <a:off x="188148" y="16831"/>
              <a:ext cx="591618" cy="23000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Giải</a:t>
              </a:r>
              <a:r>
                <a:rPr kumimoji="0" lang="en-US" sz="4800" b="1" i="0" u="none" strike="noStrike" kern="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endPara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   ·   BÀI 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85955901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844" y="1827350"/>
                <a:ext cx="24228312" cy="578025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r>
                  <a:rPr lang="en-US" sz="4800" b="1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b. </a:t>
                </a:r>
                <a:r>
                  <a:rPr lang="en-US" sz="4800" b="1" dirty="0" err="1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b="1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b="1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con </a:t>
                </a:r>
                <a:r>
                  <a:rPr lang="en-US" sz="4800" b="1" dirty="0" err="1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thường</a:t>
                </a:r>
                <a:r>
                  <a:rPr lang="en-US" sz="4800" b="1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dùng</a:t>
                </a:r>
                <a:r>
                  <a:rPr lang="en-US" sz="4800" b="1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b="1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4800" i="1">
                        <a:solidFill>
                          <a:srgbClr val="0000FF"/>
                        </a:solidFill>
                        <a:latin typeface="Cambria Math"/>
                      </a:rPr>
                      <m:t>ℝ</m:t>
                    </m:r>
                  </m:oMath>
                </a14:m>
                <a:endParaRPr lang="en-US" sz="4800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endParaRPr lang="en-US" sz="4800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/>
                      </a:rPr>
                      <m:t>𝐶</m:t>
                    </m:r>
                    <m:r>
                      <a:rPr lang="en-US" sz="48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i="1">
                            <a:latin typeface="Cambria Math"/>
                          </a:rPr>
                          <m:t>𝑥</m:t>
                        </m:r>
                        <m:r>
                          <a:rPr lang="en-US" sz="4800" i="1">
                            <a:latin typeface="Cambria Math"/>
                          </a:rPr>
                          <m:t>∈</m:t>
                        </m:r>
                        <m:r>
                          <a:rPr lang="en-US" sz="4800" i="1">
                            <a:latin typeface="Cambria Math"/>
                          </a:rPr>
                          <m:t>ℝ</m:t>
                        </m:r>
                        <m:r>
                          <a:rPr lang="en-US" sz="4800" i="1">
                            <a:latin typeface="Cambria Math"/>
                          </a:rPr>
                          <m:t>|</m:t>
                        </m:r>
                        <m:r>
                          <a:rPr lang="en-US" sz="4800" i="1">
                            <a:latin typeface="Cambria Math"/>
                          </a:rPr>
                          <m:t>𝑥</m:t>
                        </m:r>
                        <m:r>
                          <a:rPr lang="en-US" sz="4800" i="1">
                            <a:latin typeface="Cambria Math"/>
                          </a:rPr>
                          <m:t>≥3</m:t>
                        </m:r>
                      </m:e>
                    </m:d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/>
                      </a:rPr>
                      <m:t>𝐷</m:t>
                    </m:r>
                    <m:r>
                      <a:rPr lang="en-US" sz="48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i="1">
                            <a:latin typeface="Cambria Math"/>
                          </a:rPr>
                          <m:t>𝑥</m:t>
                        </m:r>
                        <m:r>
                          <a:rPr lang="en-US" sz="4800" i="1">
                            <a:latin typeface="Cambria Math"/>
                          </a:rPr>
                          <m:t>∈</m:t>
                        </m:r>
                        <m:r>
                          <a:rPr lang="en-US" sz="4800" i="1">
                            <a:latin typeface="Cambria Math"/>
                          </a:rPr>
                          <m:t>ℝ</m:t>
                        </m:r>
                        <m:r>
                          <a:rPr lang="en-US" sz="4800" i="1">
                            <a:latin typeface="Cambria Math"/>
                          </a:rPr>
                          <m:t>|</m:t>
                        </m:r>
                        <m:r>
                          <a:rPr lang="en-US" sz="4800" i="1">
                            <a:latin typeface="Cambria Math"/>
                          </a:rPr>
                          <m:t>𝑥</m:t>
                        </m:r>
                        <m:r>
                          <a:rPr lang="en-US" sz="4800" i="1">
                            <a:latin typeface="Cambria Math"/>
                          </a:rPr>
                          <m:t>&gt;3</m:t>
                        </m:r>
                      </m:e>
                    </m:d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mệnh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đề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đúng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hay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?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/>
                      </a:rPr>
                      <m:t>𝐶</m:t>
                    </m:r>
                    <m:r>
                      <a:rPr lang="en-US" sz="4800" i="1">
                        <a:latin typeface="Cambria Math"/>
                      </a:rPr>
                      <m:t>,</m:t>
                    </m:r>
                    <m:r>
                      <a:rPr lang="en-US" sz="4800" i="1">
                        <a:latin typeface="Cambria Math"/>
                      </a:rPr>
                      <m:t>𝐷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con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/>
                      </a:rPr>
                      <m:t>ℝ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		b)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/>
                      </a:rPr>
                      <m:t>∀</m:t>
                    </m:r>
                    <m:r>
                      <a:rPr lang="en-US" sz="4800" i="1">
                        <a:latin typeface="Cambria Math"/>
                      </a:rPr>
                      <m:t>𝑥</m:t>
                    </m:r>
                    <m:r>
                      <a:rPr lang="en-US" sz="4800" i="1">
                        <a:latin typeface="Cambria Math"/>
                      </a:rPr>
                      <m:t>, </m:t>
                    </m:r>
                    <m:r>
                      <a:rPr lang="en-US" sz="4800" i="1">
                        <a:latin typeface="Cambria Math"/>
                      </a:rPr>
                      <m:t>𝑥</m:t>
                    </m:r>
                    <m:r>
                      <a:rPr lang="en-US" sz="4800" i="1">
                        <a:latin typeface="Cambria Math"/>
                      </a:rPr>
                      <m:t>∈</m:t>
                    </m:r>
                    <m:r>
                      <a:rPr lang="en-US" sz="4800" i="1">
                        <a:latin typeface="Cambria Math"/>
                      </a:rPr>
                      <m:t>𝐶</m:t>
                    </m:r>
                    <m:r>
                      <a:rPr lang="en-US" sz="4800" i="1">
                        <a:latin typeface="Cambria Math"/>
                      </a:rPr>
                      <m:t>⇒</m:t>
                    </m:r>
                    <m:r>
                      <a:rPr lang="en-US" sz="4800" i="1">
                        <a:latin typeface="Cambria Math"/>
                      </a:rPr>
                      <m:t>𝑥</m:t>
                    </m:r>
                    <m:r>
                      <a:rPr lang="en-US" sz="4800" i="1">
                        <a:latin typeface="Cambria Math"/>
                      </a:rPr>
                      <m:t>∈</m:t>
                    </m:r>
                    <m:r>
                      <a:rPr lang="en-US" sz="4800" i="1">
                        <a:latin typeface="Cambria Math"/>
                      </a:rPr>
                      <m:t>𝐷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c) 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/>
                      </a:rPr>
                      <m:t>3∈</m:t>
                    </m:r>
                    <m:r>
                      <a:rPr lang="en-US" sz="4800" i="1">
                        <a:latin typeface="Cambria Math"/>
                      </a:rPr>
                      <m:t>𝐶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nhưng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/>
                      </a:rPr>
                      <m:t>3∉</m:t>
                    </m:r>
                    <m:r>
                      <a:rPr lang="en-US" sz="4800" i="1">
                        <a:latin typeface="Cambria Math"/>
                      </a:rPr>
                      <m:t>𝐷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			d)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/>
                      </a:rPr>
                      <m:t>𝐶</m:t>
                    </m:r>
                    <m:r>
                      <a:rPr lang="en-US" sz="4800" i="1">
                        <a:latin typeface="Cambria Math"/>
                      </a:rPr>
                      <m:t>=</m:t>
                    </m:r>
                    <m:r>
                      <a:rPr lang="en-US" sz="4800" i="1">
                        <a:latin typeface="Cambria Math"/>
                      </a:rPr>
                      <m:t>𝐷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endParaRPr lang="en-US" sz="4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44" y="1827350"/>
                <a:ext cx="24228312" cy="5780250"/>
              </a:xfrm>
              <a:prstGeom prst="rect">
                <a:avLst/>
              </a:prstGeom>
              <a:blipFill>
                <a:blip r:embed="rId3"/>
                <a:stretch>
                  <a:fillRect l="-1132" t="-3684" b="-3263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8600" y="9067800"/>
                <a:ext cx="11963400" cy="381000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Đáp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án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b) , d)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vì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𝐷</m:t>
                    </m:r>
                    <m:r>
                      <a:rPr lang="en-US" i="1">
                        <a:latin typeface="Cambria Math"/>
                      </a:rPr>
                      <m:t>⊂</m:t>
                    </m:r>
                    <m:r>
                      <a:rPr lang="en-US" i="1">
                        <a:latin typeface="Cambria Math"/>
                      </a:rPr>
                      <m:t>𝐶</m:t>
                    </m:r>
                  </m:oMath>
                </a14:m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Đáp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án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a), c)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đúng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theo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định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nghĩa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con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thực</a:t>
                </a: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9067800"/>
                <a:ext cx="11963400" cy="3810000"/>
              </a:xfrm>
              <a:prstGeom prst="rect">
                <a:avLst/>
              </a:prstGeom>
              <a:blipFill>
                <a:blip r:embed="rId4"/>
                <a:stretch>
                  <a:fillRect l="-2291" r="-117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/>
          <p:cNvPicPr/>
          <p:nvPr/>
        </p:nvPicPr>
        <p:blipFill>
          <a:blip r:embed="rId5"/>
          <a:stretch>
            <a:fillRect/>
          </a:stretch>
        </p:blipFill>
        <p:spPr>
          <a:xfrm>
            <a:off x="12420600" y="7696200"/>
            <a:ext cx="11963400" cy="572294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C5EBDE18-F9CD-4FEA-8471-E18C7DBD2D39}"/>
              </a:ext>
            </a:extLst>
          </p:cNvPr>
          <p:cNvGrpSpPr/>
          <p:nvPr/>
        </p:nvGrpSpPr>
        <p:grpSpPr>
          <a:xfrm>
            <a:off x="77844" y="2513717"/>
            <a:ext cx="5347608" cy="839083"/>
            <a:chOff x="22440" y="15870"/>
            <a:chExt cx="913582" cy="237668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F0E9F2E-BCAA-4B78-9DAE-A52B2771E363}"/>
                </a:ext>
              </a:extLst>
            </p:cNvPr>
            <p:cNvGrpSpPr/>
            <p:nvPr/>
          </p:nvGrpSpPr>
          <p:grpSpPr>
            <a:xfrm>
              <a:off x="22440" y="59287"/>
              <a:ext cx="850471" cy="194251"/>
              <a:chOff x="31572" y="60276"/>
              <a:chExt cx="1196628" cy="240395"/>
            </a:xfrm>
          </p:grpSpPr>
          <p:sp>
            <p:nvSpPr>
              <p:cNvPr id="13" name="Arrow: Pentagon 8">
                <a:extLst>
                  <a:ext uri="{FF2B5EF4-FFF2-40B4-BE49-F238E27FC236}">
                    <a16:creationId xmlns:a16="http://schemas.microsoft.com/office/drawing/2014/main" id="{B8596493-2224-4712-8A6C-20C5F8414787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1000" b="1" kern="1200">
                    <a:solidFill>
                      <a:srgbClr val="0000CC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Arrow: Chevron 9">
                <a:extLst>
                  <a:ext uri="{FF2B5EF4-FFF2-40B4-BE49-F238E27FC236}">
                    <a16:creationId xmlns:a16="http://schemas.microsoft.com/office/drawing/2014/main" id="{87301ED1-CAC4-4F82-A4CB-203607300CFF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240330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sp>
            <p:nvSpPr>
              <p:cNvPr id="16" name="Arrow: Chevron 10">
                <a:extLst>
                  <a:ext uri="{FF2B5EF4-FFF2-40B4-BE49-F238E27FC236}">
                    <a16:creationId xmlns:a16="http://schemas.microsoft.com/office/drawing/2014/main" id="{87EE6C7B-32EA-46DF-AC0F-E55CD4C12DFF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240330"/>
              </a:xfrm>
              <a:prstGeom prst="chevron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p:grpSp>
        <p:sp>
          <p:nvSpPr>
            <p:cNvPr id="12" name="TextBox 56">
              <a:extLst>
                <a:ext uri="{FF2B5EF4-FFF2-40B4-BE49-F238E27FC236}">
                  <a16:creationId xmlns:a16="http://schemas.microsoft.com/office/drawing/2014/main" id="{023F66BC-ECEC-43C9-9D71-FAC24B5AF0B1}"/>
                </a:ext>
              </a:extLst>
            </p:cNvPr>
            <p:cNvSpPr txBox="1"/>
            <p:nvPr/>
          </p:nvSpPr>
          <p:spPr>
            <a:xfrm>
              <a:off x="208271" y="15870"/>
              <a:ext cx="727751" cy="158428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4400" b="1" dirty="0" err="1">
                  <a:solidFill>
                    <a:srgbClr val="FF0066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HĐ</a:t>
              </a:r>
              <a:r>
                <a:rPr lang="en-US" sz="4400" b="1" dirty="0">
                  <a:solidFill>
                    <a:srgbClr val="FF0066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6</a:t>
              </a:r>
              <a:endParaRPr lang="en-US" sz="4400" dirty="0">
                <a:solidFill>
                  <a:srgbClr val="FF0066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4AED131-4F09-4BC2-B022-97FAA9EA9CB0}"/>
              </a:ext>
            </a:extLst>
          </p:cNvPr>
          <p:cNvGrpSpPr/>
          <p:nvPr/>
        </p:nvGrpSpPr>
        <p:grpSpPr>
          <a:xfrm>
            <a:off x="77844" y="7865476"/>
            <a:ext cx="3760381" cy="887477"/>
            <a:chOff x="22440" y="16831"/>
            <a:chExt cx="850471" cy="230002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496D35A-7DCB-413A-B0DE-FA2828898012}"/>
                </a:ext>
              </a:extLst>
            </p:cNvPr>
            <p:cNvGrpSpPr/>
            <p:nvPr/>
          </p:nvGrpSpPr>
          <p:grpSpPr>
            <a:xfrm>
              <a:off x="22440" y="59287"/>
              <a:ext cx="850471" cy="159855"/>
              <a:chOff x="31572" y="60276"/>
              <a:chExt cx="1196628" cy="197828"/>
            </a:xfrm>
          </p:grpSpPr>
          <p:sp>
            <p:nvSpPr>
              <p:cNvPr id="19" name="Arrow: Pentagon 18">
                <a:extLst>
                  <a:ext uri="{FF2B5EF4-FFF2-40B4-BE49-F238E27FC236}">
                    <a16:creationId xmlns:a16="http://schemas.microsoft.com/office/drawing/2014/main" id="{2B82351B-B416-401C-82EC-DD7F95C9C9EF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Arrow: Chevron 19">
                <a:extLst>
                  <a:ext uri="{FF2B5EF4-FFF2-40B4-BE49-F238E27FC236}">
                    <a16:creationId xmlns:a16="http://schemas.microsoft.com/office/drawing/2014/main" id="{6F64FB6E-47EE-49AF-AE47-3EE73DEF6BF2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1" name="Arrow: Chevron 20">
                <a:extLst>
                  <a:ext uri="{FF2B5EF4-FFF2-40B4-BE49-F238E27FC236}">
                    <a16:creationId xmlns:a16="http://schemas.microsoft.com/office/drawing/2014/main" id="{5BF71D2A-4B0E-4EE3-A79D-46741F1158C5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8" name="TextBox 56">
              <a:extLst>
                <a:ext uri="{FF2B5EF4-FFF2-40B4-BE49-F238E27FC236}">
                  <a16:creationId xmlns:a16="http://schemas.microsoft.com/office/drawing/2014/main" id="{08FF08A7-74D5-4A8E-A47C-906BE81D2D61}"/>
                </a:ext>
              </a:extLst>
            </p:cNvPr>
            <p:cNvSpPr txBox="1"/>
            <p:nvPr/>
          </p:nvSpPr>
          <p:spPr>
            <a:xfrm>
              <a:off x="188148" y="16831"/>
              <a:ext cx="591618" cy="23000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Giải</a:t>
              </a:r>
              <a:r>
                <a:rPr kumimoji="0" lang="en-US" sz="4800" b="1" i="0" u="none" strike="noStrike" kern="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endPara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   ·   BÀI 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74410257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204" y="2859017"/>
                <a:ext cx="23977796" cy="277073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Viết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dưới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dạng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khoảng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đoạn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nửa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khoảng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/>
                      </a:rPr>
                      <m:t>ℝ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rồi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biểu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diễn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trục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/>
                      </a:rPr>
                      <m:t>𝐶</m:t>
                    </m:r>
                    <m:r>
                      <a:rPr lang="en-US" sz="48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i="1">
                            <a:latin typeface="Cambria Math"/>
                          </a:rPr>
                          <m:t>𝑥</m:t>
                        </m:r>
                        <m:r>
                          <a:rPr lang="en-US" sz="4800" i="1">
                            <a:latin typeface="Cambria Math"/>
                          </a:rPr>
                          <m:t>∈</m:t>
                        </m:r>
                        <m:r>
                          <a:rPr lang="en-US" sz="4800" i="1">
                            <a:latin typeface="Cambria Math"/>
                          </a:rPr>
                          <m:t>ℝ</m:t>
                        </m:r>
                        <m:r>
                          <a:rPr lang="en-US" sz="4800" i="1">
                            <a:latin typeface="Cambria Math"/>
                          </a:rPr>
                          <m:t>|2≤</m:t>
                        </m:r>
                        <m:r>
                          <a:rPr lang="en-US" sz="4800" i="1">
                            <a:latin typeface="Cambria Math"/>
                          </a:rPr>
                          <m:t>𝑥</m:t>
                        </m:r>
                        <m:r>
                          <a:rPr lang="en-US" sz="4800" i="1">
                            <a:latin typeface="Cambria Math"/>
                          </a:rPr>
                          <m:t>≤7</m:t>
                        </m:r>
                      </m:e>
                    </m:d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/>
                      </a:rPr>
                      <m:t>𝐷</m:t>
                    </m:r>
                    <m:r>
                      <a:rPr lang="en-US" sz="48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i="1">
                            <a:latin typeface="Cambria Math"/>
                          </a:rPr>
                          <m:t>𝑥</m:t>
                        </m:r>
                        <m:r>
                          <a:rPr lang="en-US" sz="4800" i="1">
                            <a:latin typeface="Cambria Math"/>
                          </a:rPr>
                          <m:t>∈</m:t>
                        </m:r>
                        <m:r>
                          <a:rPr lang="en-US" sz="4800" i="1">
                            <a:latin typeface="Cambria Math"/>
                          </a:rPr>
                          <m:t>ℝ</m:t>
                        </m:r>
                        <m:r>
                          <a:rPr lang="en-US" sz="4800" i="1">
                            <a:latin typeface="Cambria Math"/>
                          </a:rPr>
                          <m:t>|</m:t>
                        </m:r>
                        <m:r>
                          <a:rPr lang="en-US" sz="4800" i="1">
                            <a:latin typeface="Cambria Math"/>
                          </a:rPr>
                          <m:t>𝑥</m:t>
                        </m:r>
                        <m:r>
                          <a:rPr lang="en-US" sz="4800" i="1">
                            <a:latin typeface="Cambria Math"/>
                          </a:rPr>
                          <m:t>&lt;2</m:t>
                        </m:r>
                      </m:e>
                    </m:d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04" y="2859017"/>
                <a:ext cx="23977796" cy="2770739"/>
              </a:xfrm>
              <a:prstGeom prst="rect">
                <a:avLst/>
              </a:prstGeom>
              <a:blipFill>
                <a:blip r:embed="rId4"/>
                <a:stretch>
                  <a:fillRect l="-1118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C5EBDE18-F9CD-4FEA-8471-E18C7DBD2D39}"/>
              </a:ext>
            </a:extLst>
          </p:cNvPr>
          <p:cNvGrpSpPr/>
          <p:nvPr/>
        </p:nvGrpSpPr>
        <p:grpSpPr>
          <a:xfrm>
            <a:off x="0" y="1676400"/>
            <a:ext cx="5715000" cy="1081690"/>
            <a:chOff x="22440" y="59287"/>
            <a:chExt cx="976347" cy="194251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F0E9F2E-BCAA-4B78-9DAE-A52B2771E363}"/>
                </a:ext>
              </a:extLst>
            </p:cNvPr>
            <p:cNvGrpSpPr/>
            <p:nvPr/>
          </p:nvGrpSpPr>
          <p:grpSpPr>
            <a:xfrm>
              <a:off x="22440" y="59287"/>
              <a:ext cx="850471" cy="194251"/>
              <a:chOff x="31572" y="60276"/>
              <a:chExt cx="1196628" cy="240395"/>
            </a:xfrm>
          </p:grpSpPr>
          <p:sp>
            <p:nvSpPr>
              <p:cNvPr id="12" name="Arrow: Pentagon 8">
                <a:extLst>
                  <a:ext uri="{FF2B5EF4-FFF2-40B4-BE49-F238E27FC236}">
                    <a16:creationId xmlns:a16="http://schemas.microsoft.com/office/drawing/2014/main" id="{B8596493-2224-4712-8A6C-20C5F8414787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1000" b="1" kern="1200">
                    <a:solidFill>
                      <a:srgbClr val="0000CC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Arrow: Chevron 9">
                <a:extLst>
                  <a:ext uri="{FF2B5EF4-FFF2-40B4-BE49-F238E27FC236}">
                    <a16:creationId xmlns:a16="http://schemas.microsoft.com/office/drawing/2014/main" id="{87301ED1-CAC4-4F82-A4CB-203607300CFF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240330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sp>
            <p:nvSpPr>
              <p:cNvPr id="15" name="Arrow: Chevron 10">
                <a:extLst>
                  <a:ext uri="{FF2B5EF4-FFF2-40B4-BE49-F238E27FC236}">
                    <a16:creationId xmlns:a16="http://schemas.microsoft.com/office/drawing/2014/main" id="{87EE6C7B-32EA-46DF-AC0F-E55CD4C12DFF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240330"/>
              </a:xfrm>
              <a:prstGeom prst="chevron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p:grpSp>
        <p:sp>
          <p:nvSpPr>
            <p:cNvPr id="11" name="TextBox 56">
              <a:extLst>
                <a:ext uri="{FF2B5EF4-FFF2-40B4-BE49-F238E27FC236}">
                  <a16:creationId xmlns:a16="http://schemas.microsoft.com/office/drawing/2014/main" id="{023F66BC-ECEC-43C9-9D71-FAC24B5AF0B1}"/>
                </a:ext>
              </a:extLst>
            </p:cNvPr>
            <p:cNvSpPr txBox="1"/>
            <p:nvPr/>
          </p:nvSpPr>
          <p:spPr>
            <a:xfrm>
              <a:off x="271036" y="83816"/>
              <a:ext cx="727751" cy="158428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4400" b="1" dirty="0" err="1">
                  <a:solidFill>
                    <a:srgbClr val="0000FF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Ví</a:t>
              </a:r>
              <a:r>
                <a:rPr lang="en-US" sz="4400" b="1" dirty="0">
                  <a:solidFill>
                    <a:srgbClr val="0000FF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400" b="1" dirty="0" err="1">
                  <a:solidFill>
                    <a:srgbClr val="0000FF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dụ</a:t>
              </a:r>
              <a:r>
                <a:rPr lang="en-US" sz="4400" b="1" dirty="0">
                  <a:solidFill>
                    <a:srgbClr val="0000FF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5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291375" y="7317343"/>
            <a:ext cx="23674054" cy="5881132"/>
            <a:chOff x="838200" y="6019800"/>
            <a:chExt cx="23164800" cy="7483475"/>
          </a:xfrm>
        </p:grpSpPr>
        <p:sp>
          <p:nvSpPr>
            <p:cNvPr id="99" name="Content Placeholder 2">
              <a:extLst>
                <a:ext uri="{FF2B5EF4-FFF2-40B4-BE49-F238E27FC236}">
                  <a16:creationId xmlns:a16="http://schemas.microsoft.com/office/drawing/2014/main" id="{14822BB7-DB89-4357-87F0-6E511FC44A6A}"/>
                </a:ext>
              </a:extLst>
            </p:cNvPr>
            <p:cNvSpPr txBox="1">
              <a:spLocks/>
            </p:cNvSpPr>
            <p:nvPr/>
          </p:nvSpPr>
          <p:spPr>
            <a:xfrm>
              <a:off x="838200" y="6019800"/>
              <a:ext cx="23164800" cy="7483475"/>
            </a:xfrm>
            <a:prstGeom prst="rect">
              <a:avLst/>
            </a:prstGeom>
            <a:solidFill>
              <a:srgbClr val="D6F7FE"/>
            </a:solidFill>
            <a:ln>
              <a:solidFill>
                <a:srgbClr val="00B0F0"/>
              </a:solidFill>
            </a:ln>
          </p:spPr>
          <p:txBody>
            <a:bodyPr/>
            <a:lstStyle>
              <a:lvl1pPr marL="457200" indent="-457200" algn="l" defTabSz="1828800" rtl="0" eaLnBrk="1" latinLnBrk="0" hangingPunct="1">
                <a:lnSpc>
                  <a:spcPct val="90000"/>
                </a:lnSpc>
                <a:spcBef>
                  <a:spcPts val="2000"/>
                </a:spcBef>
                <a:buFont typeface="Arial" panose="020B0604020202020204" pitchFamily="34" charset="0"/>
                <a:buChar char="•"/>
                <a:defRPr sz="4800" kern="1200">
                  <a:solidFill>
                    <a:schemeClr val="tx1"/>
                  </a:solidFill>
                  <a:latin typeface="Tomaho"/>
                  <a:ea typeface="+mn-ea"/>
                  <a:cs typeface="+mn-cs"/>
                </a:defRPr>
              </a:lvl1pPr>
              <a:lvl2pPr marL="1371600" indent="-457200" algn="l" defTabSz="18288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4800" kern="1200">
                  <a:solidFill>
                    <a:schemeClr val="tx1"/>
                  </a:solidFill>
                  <a:latin typeface="Tomaho"/>
                  <a:ea typeface="+mn-ea"/>
                  <a:cs typeface="+mn-cs"/>
                </a:defRPr>
              </a:lvl2pPr>
              <a:lvl3pPr marL="2286000" indent="-457200" algn="l" defTabSz="18288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4800" kern="1200">
                  <a:solidFill>
                    <a:schemeClr val="tx1"/>
                  </a:solidFill>
                  <a:latin typeface="Tomaho"/>
                  <a:ea typeface="+mn-ea"/>
                  <a:cs typeface="+mn-cs"/>
                </a:defRPr>
              </a:lvl3pPr>
              <a:lvl4pPr marL="3200400" indent="-457200" algn="l" defTabSz="18288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4800" kern="1200">
                  <a:solidFill>
                    <a:schemeClr val="tx1"/>
                  </a:solidFill>
                  <a:latin typeface="Tomaho"/>
                  <a:ea typeface="+mn-ea"/>
                  <a:cs typeface="+mn-cs"/>
                </a:defRPr>
              </a:lvl4pPr>
              <a:lvl5pPr marL="4114800" indent="-457200" algn="l" defTabSz="18288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4800" kern="1200">
                  <a:solidFill>
                    <a:schemeClr val="tx1"/>
                  </a:solidFill>
                  <a:latin typeface="Tomaho"/>
                  <a:ea typeface="+mn-ea"/>
                  <a:cs typeface="+mn-cs"/>
                </a:defRPr>
              </a:lvl5pPr>
              <a:lvl6pPr marL="5029200" indent="-457200" algn="l" defTabSz="18288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943600" indent="-457200" algn="l" defTabSz="18288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858000" indent="-457200" algn="l" defTabSz="18288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772400" indent="-457200" algn="l" defTabSz="18288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b="1" dirty="0"/>
                <a:t> </a:t>
              </a:r>
            </a:p>
            <a:p>
              <a:pPr marL="0" indent="0">
                <a:buNone/>
              </a:pPr>
              <a:endParaRPr lang="en-US" b="1" dirty="0"/>
            </a:p>
            <a:p>
              <a:pPr marL="0" indent="0">
                <a:buNone/>
              </a:pPr>
              <a:endParaRPr lang="en-US" dirty="0"/>
            </a:p>
          </p:txBody>
        </p:sp>
        <p:graphicFrame>
          <p:nvGraphicFramePr>
            <p:cNvPr id="2" name="Object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18119424"/>
                </p:ext>
              </p:extLst>
            </p:nvPr>
          </p:nvGraphicFramePr>
          <p:xfrm>
            <a:off x="6553200" y="6830412"/>
            <a:ext cx="3924300" cy="11515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583920" imgH="203040" progId="Equation.DSMT4">
                    <p:embed/>
                  </p:oleObj>
                </mc:Choice>
                <mc:Fallback>
                  <p:oleObj name="Equation" r:id="rId5" imgW="58392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553200" y="6830412"/>
                          <a:ext cx="3924300" cy="115153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51696305"/>
                </p:ext>
              </p:extLst>
            </p:nvPr>
          </p:nvGraphicFramePr>
          <p:xfrm>
            <a:off x="6400800" y="9220200"/>
            <a:ext cx="4954587" cy="12658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685800" imgH="203040" progId="Equation.DSMT4">
                    <p:embed/>
                  </p:oleObj>
                </mc:Choice>
                <mc:Fallback>
                  <p:oleObj name="Equation" r:id="rId7" imgW="68580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400800" y="9220200"/>
                          <a:ext cx="4954587" cy="126589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" name="Straight Arrow Connector 3"/>
            <p:cNvCxnSpPr/>
            <p:nvPr/>
          </p:nvCxnSpPr>
          <p:spPr>
            <a:xfrm>
              <a:off x="13639800" y="7620000"/>
              <a:ext cx="7848600" cy="0"/>
            </a:xfrm>
            <a:prstGeom prst="straightConnector1">
              <a:avLst/>
            </a:prstGeom>
            <a:ln w="762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Double Bracket 5"/>
            <p:cNvSpPr/>
            <p:nvPr/>
          </p:nvSpPr>
          <p:spPr>
            <a:xfrm>
              <a:off x="15278100" y="7010400"/>
              <a:ext cx="4572000" cy="990600"/>
            </a:xfrm>
            <a:prstGeom prst="bracketPair">
              <a:avLst/>
            </a:prstGeom>
            <a:ln w="762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>
              <a:off x="13639800" y="9832482"/>
              <a:ext cx="7848600" cy="0"/>
            </a:xfrm>
            <a:prstGeom prst="straightConnector1">
              <a:avLst/>
            </a:prstGeom>
            <a:ln w="762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Arc 15"/>
            <p:cNvSpPr/>
            <p:nvPr/>
          </p:nvSpPr>
          <p:spPr>
            <a:xfrm>
              <a:off x="14535150" y="9108582"/>
              <a:ext cx="1485900" cy="1447800"/>
            </a:xfrm>
            <a:prstGeom prst="arc">
              <a:avLst>
                <a:gd name="adj1" fmla="val 17542194"/>
                <a:gd name="adj2" fmla="val 3028572"/>
              </a:avLst>
            </a:prstGeom>
            <a:ln w="762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13639800" y="7277100"/>
              <a:ext cx="266700" cy="7239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3907814" y="7258050"/>
              <a:ext cx="266700" cy="7239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14215242" y="7258050"/>
              <a:ext cx="266700" cy="7239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14535150" y="7285640"/>
              <a:ext cx="266700" cy="7239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20116800" y="7306661"/>
              <a:ext cx="266700" cy="7239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20296133" y="7306661"/>
              <a:ext cx="266700" cy="7239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20562833" y="7306661"/>
              <a:ext cx="266700" cy="7239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0746764" y="7306661"/>
              <a:ext cx="266700" cy="7239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16034845" y="9399587"/>
              <a:ext cx="266700" cy="7239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16364607" y="9410700"/>
              <a:ext cx="266700" cy="7239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16631307" y="9410700"/>
              <a:ext cx="266700" cy="7239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16898007" y="9372600"/>
              <a:ext cx="266700" cy="7239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7106243" y="9372600"/>
              <a:ext cx="266700" cy="7239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17359805" y="9372600"/>
              <a:ext cx="266700" cy="7239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7626505" y="9372600"/>
              <a:ext cx="266700" cy="7239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17893205" y="9372600"/>
              <a:ext cx="266700" cy="7239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18159905" y="9372600"/>
              <a:ext cx="266700" cy="7239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18368798" y="9372600"/>
              <a:ext cx="266700" cy="7239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18635498" y="9372600"/>
              <a:ext cx="266700" cy="7239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18902198" y="9372600"/>
              <a:ext cx="266700" cy="7239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19229989" y="9372600"/>
              <a:ext cx="266700" cy="7239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19716750" y="9372600"/>
              <a:ext cx="266700" cy="7239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20313212" y="9372600"/>
              <a:ext cx="266700" cy="7239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19980823" y="9372600"/>
              <a:ext cx="266700" cy="7239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19416548" y="9372600"/>
              <a:ext cx="266700" cy="7239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15161501" y="8064720"/>
              <a:ext cx="764299" cy="754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2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9483224" y="7981950"/>
              <a:ext cx="764299" cy="754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7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5543650" y="10486095"/>
              <a:ext cx="764299" cy="754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2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F7E1BBE-661E-46E2-9713-7FA11FBB775E}"/>
              </a:ext>
            </a:extLst>
          </p:cNvPr>
          <p:cNvGrpSpPr/>
          <p:nvPr/>
        </p:nvGrpSpPr>
        <p:grpSpPr>
          <a:xfrm>
            <a:off x="25204" y="6106824"/>
            <a:ext cx="3760381" cy="733454"/>
            <a:chOff x="22440" y="36790"/>
            <a:chExt cx="850471" cy="190085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F6AECB6F-C329-4B64-903E-5F5088F57B48}"/>
                </a:ext>
              </a:extLst>
            </p:cNvPr>
            <p:cNvGrpSpPr/>
            <p:nvPr/>
          </p:nvGrpSpPr>
          <p:grpSpPr>
            <a:xfrm>
              <a:off x="22440" y="59287"/>
              <a:ext cx="850471" cy="159855"/>
              <a:chOff x="31572" y="60276"/>
              <a:chExt cx="1196628" cy="197828"/>
            </a:xfrm>
          </p:grpSpPr>
          <p:sp>
            <p:nvSpPr>
              <p:cNvPr id="52" name="Arrow: Pentagon 51">
                <a:extLst>
                  <a:ext uri="{FF2B5EF4-FFF2-40B4-BE49-F238E27FC236}">
                    <a16:creationId xmlns:a16="http://schemas.microsoft.com/office/drawing/2014/main" id="{64517840-2C8C-4BCD-BD4F-BC079BDC5B36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3" name="Arrow: Chevron 52">
                <a:extLst>
                  <a:ext uri="{FF2B5EF4-FFF2-40B4-BE49-F238E27FC236}">
                    <a16:creationId xmlns:a16="http://schemas.microsoft.com/office/drawing/2014/main" id="{983EA80C-AECC-487F-8381-1FDD15716F42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4" name="Arrow: Chevron 53">
                <a:extLst>
                  <a:ext uri="{FF2B5EF4-FFF2-40B4-BE49-F238E27FC236}">
                    <a16:creationId xmlns:a16="http://schemas.microsoft.com/office/drawing/2014/main" id="{3A3C3A52-178F-412C-BBEB-A85642A7FE94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51" name="TextBox 56">
              <a:extLst>
                <a:ext uri="{FF2B5EF4-FFF2-40B4-BE49-F238E27FC236}">
                  <a16:creationId xmlns:a16="http://schemas.microsoft.com/office/drawing/2014/main" id="{1C269E0B-0E4C-47B4-AC5A-4C475738D4EF}"/>
                </a:ext>
              </a:extLst>
            </p:cNvPr>
            <p:cNvSpPr txBox="1"/>
            <p:nvPr/>
          </p:nvSpPr>
          <p:spPr>
            <a:xfrm>
              <a:off x="188148" y="36790"/>
              <a:ext cx="591618" cy="190085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Giải</a:t>
              </a:r>
              <a:r>
                <a:rPr kumimoji="0" lang="en-US" sz="4800" b="1" i="0" u="none" strike="noStrike" kern="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endPara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   ·   BÀI 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55167648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227822" y="3202780"/>
            <a:ext cx="13488178" cy="25752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Hãy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ghép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mỗi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dòng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ở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cột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bên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trái</a:t>
            </a:r>
            <a:endParaRPr lang="en-US"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với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dòng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thích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hợp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ở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cột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bên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phải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endParaRPr lang="en-US"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9" name="Content Placeholder 2">
            <a:extLst>
              <a:ext uri="{FF2B5EF4-FFF2-40B4-BE49-F238E27FC236}">
                <a16:creationId xmlns:a16="http://schemas.microsoft.com/office/drawing/2014/main" id="{14822BB7-DB89-4357-87F0-6E511FC44A6A}"/>
              </a:ext>
            </a:extLst>
          </p:cNvPr>
          <p:cNvSpPr txBox="1">
            <a:spLocks/>
          </p:cNvSpPr>
          <p:nvPr/>
        </p:nvSpPr>
        <p:spPr>
          <a:xfrm>
            <a:off x="145473" y="7019924"/>
            <a:ext cx="13570527" cy="6325986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ctr"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1-d, 2-a, 3-b, 4-c</a:t>
            </a:r>
          </a:p>
        </p:txBody>
      </p:sp>
      <p:pic>
        <p:nvPicPr>
          <p:cNvPr id="9" name="Picture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8628" y="3130923"/>
            <a:ext cx="10635372" cy="861059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C5EBDE18-F9CD-4FEA-8471-E18C7DBD2D39}"/>
              </a:ext>
            </a:extLst>
          </p:cNvPr>
          <p:cNvGrpSpPr/>
          <p:nvPr/>
        </p:nvGrpSpPr>
        <p:grpSpPr>
          <a:xfrm>
            <a:off x="0" y="2030475"/>
            <a:ext cx="5715000" cy="1081690"/>
            <a:chOff x="22440" y="59287"/>
            <a:chExt cx="976347" cy="194251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F0E9F2E-BCAA-4B78-9DAE-A52B2771E363}"/>
                </a:ext>
              </a:extLst>
            </p:cNvPr>
            <p:cNvGrpSpPr/>
            <p:nvPr/>
          </p:nvGrpSpPr>
          <p:grpSpPr>
            <a:xfrm>
              <a:off x="22440" y="59287"/>
              <a:ext cx="850471" cy="194251"/>
              <a:chOff x="31572" y="60276"/>
              <a:chExt cx="1196628" cy="240395"/>
            </a:xfrm>
          </p:grpSpPr>
          <p:sp>
            <p:nvSpPr>
              <p:cNvPr id="13" name="Arrow: Pentagon 8">
                <a:extLst>
                  <a:ext uri="{FF2B5EF4-FFF2-40B4-BE49-F238E27FC236}">
                    <a16:creationId xmlns:a16="http://schemas.microsoft.com/office/drawing/2014/main" id="{B8596493-2224-4712-8A6C-20C5F8414787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1000" b="1" kern="1200">
                    <a:solidFill>
                      <a:srgbClr val="0000CC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Arrow: Chevron 9">
                <a:extLst>
                  <a:ext uri="{FF2B5EF4-FFF2-40B4-BE49-F238E27FC236}">
                    <a16:creationId xmlns:a16="http://schemas.microsoft.com/office/drawing/2014/main" id="{87301ED1-CAC4-4F82-A4CB-203607300CFF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240330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sp>
            <p:nvSpPr>
              <p:cNvPr id="16" name="Arrow: Chevron 10">
                <a:extLst>
                  <a:ext uri="{FF2B5EF4-FFF2-40B4-BE49-F238E27FC236}">
                    <a16:creationId xmlns:a16="http://schemas.microsoft.com/office/drawing/2014/main" id="{87EE6C7B-32EA-46DF-AC0F-E55CD4C12DFF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240330"/>
              </a:xfrm>
              <a:prstGeom prst="chevron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p:grpSp>
        <p:sp>
          <p:nvSpPr>
            <p:cNvPr id="12" name="TextBox 56">
              <a:extLst>
                <a:ext uri="{FF2B5EF4-FFF2-40B4-BE49-F238E27FC236}">
                  <a16:creationId xmlns:a16="http://schemas.microsoft.com/office/drawing/2014/main" id="{023F66BC-ECEC-43C9-9D71-FAC24B5AF0B1}"/>
                </a:ext>
              </a:extLst>
            </p:cNvPr>
            <p:cNvSpPr txBox="1"/>
            <p:nvPr/>
          </p:nvSpPr>
          <p:spPr>
            <a:xfrm>
              <a:off x="271036" y="83816"/>
              <a:ext cx="727751" cy="158428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4400" b="1" dirty="0" err="1">
                  <a:solidFill>
                    <a:srgbClr val="0000FF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Luyện</a:t>
              </a:r>
              <a:r>
                <a:rPr lang="en-US" sz="4400" b="1" dirty="0">
                  <a:solidFill>
                    <a:srgbClr val="0000FF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400" b="1" dirty="0" err="1">
                  <a:solidFill>
                    <a:srgbClr val="0000FF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tập</a:t>
              </a:r>
              <a:r>
                <a:rPr lang="en-US" sz="4400" b="1" dirty="0">
                  <a:solidFill>
                    <a:srgbClr val="0000FF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4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BA8511D-D457-4D3C-AD65-3B605EEA8433}"/>
              </a:ext>
            </a:extLst>
          </p:cNvPr>
          <p:cNvGrpSpPr/>
          <p:nvPr/>
        </p:nvGrpSpPr>
        <p:grpSpPr>
          <a:xfrm>
            <a:off x="61567" y="6032453"/>
            <a:ext cx="3760381" cy="887477"/>
            <a:chOff x="22440" y="16831"/>
            <a:chExt cx="850471" cy="230002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8BF759B-B1B1-4BE8-BFA2-F70C5DBE72E6}"/>
                </a:ext>
              </a:extLst>
            </p:cNvPr>
            <p:cNvGrpSpPr/>
            <p:nvPr/>
          </p:nvGrpSpPr>
          <p:grpSpPr>
            <a:xfrm>
              <a:off x="22440" y="59287"/>
              <a:ext cx="850471" cy="159855"/>
              <a:chOff x="31572" y="60276"/>
              <a:chExt cx="1196628" cy="197828"/>
            </a:xfrm>
          </p:grpSpPr>
          <p:sp>
            <p:nvSpPr>
              <p:cNvPr id="19" name="Arrow: Pentagon 18">
                <a:extLst>
                  <a:ext uri="{FF2B5EF4-FFF2-40B4-BE49-F238E27FC236}">
                    <a16:creationId xmlns:a16="http://schemas.microsoft.com/office/drawing/2014/main" id="{A9DDE955-3460-4DCA-B3DA-F61551F37C1F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Arrow: Chevron 19">
                <a:extLst>
                  <a:ext uri="{FF2B5EF4-FFF2-40B4-BE49-F238E27FC236}">
                    <a16:creationId xmlns:a16="http://schemas.microsoft.com/office/drawing/2014/main" id="{9630FD48-58A2-49E1-ABA8-0AA2D3722BD8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1" name="Arrow: Chevron 20">
                <a:extLst>
                  <a:ext uri="{FF2B5EF4-FFF2-40B4-BE49-F238E27FC236}">
                    <a16:creationId xmlns:a16="http://schemas.microsoft.com/office/drawing/2014/main" id="{0C240AEF-A503-4863-8A03-1014AD37CB04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8" name="TextBox 56">
              <a:extLst>
                <a:ext uri="{FF2B5EF4-FFF2-40B4-BE49-F238E27FC236}">
                  <a16:creationId xmlns:a16="http://schemas.microsoft.com/office/drawing/2014/main" id="{970A03DA-B441-495B-9426-58B08BC7C9DD}"/>
                </a:ext>
              </a:extLst>
            </p:cNvPr>
            <p:cNvSpPr txBox="1"/>
            <p:nvPr/>
          </p:nvSpPr>
          <p:spPr>
            <a:xfrm>
              <a:off x="188148" y="16831"/>
              <a:ext cx="591618" cy="23000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Giải</a:t>
              </a:r>
              <a:r>
                <a:rPr kumimoji="0" lang="en-US" sz="4800" b="1" i="0" u="none" strike="noStrike" kern="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endPara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   ·   BÀI 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64818136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844" y="1828799"/>
                <a:ext cx="23925156" cy="811503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sz="4800" b="1" dirty="0">
                    <a:solidFill>
                      <a:schemeClr val="accent2">
                        <a:lumMod val="7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3. </a:t>
                </a:r>
                <a:r>
                  <a:rPr lang="en-US" sz="4800" b="1" dirty="0" err="1">
                    <a:solidFill>
                      <a:schemeClr val="accent2">
                        <a:lumMod val="7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b="1" dirty="0">
                    <a:solidFill>
                      <a:schemeClr val="accent2">
                        <a:lumMod val="7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chemeClr val="accent2">
                        <a:lumMod val="7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PHÉP</a:t>
                </a:r>
                <a:r>
                  <a:rPr lang="en-US" sz="4800" b="1" dirty="0">
                    <a:solidFill>
                      <a:schemeClr val="accent2">
                        <a:lumMod val="7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chemeClr val="accent2">
                        <a:lumMod val="7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TOÁN</a:t>
                </a:r>
                <a:r>
                  <a:rPr lang="en-US" sz="4800" b="1" dirty="0">
                    <a:solidFill>
                      <a:schemeClr val="accent2">
                        <a:lumMod val="7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chemeClr val="accent2">
                        <a:lumMod val="7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sz="4800" b="1" dirty="0">
                    <a:solidFill>
                      <a:schemeClr val="accent2">
                        <a:lumMod val="7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chemeClr val="accent2">
                        <a:lumMod val="7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b="1" dirty="0">
                    <a:solidFill>
                      <a:schemeClr val="accent2">
                        <a:lumMod val="7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chemeClr val="accent2">
                        <a:lumMod val="7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endParaRPr lang="en-US" sz="4800" dirty="0">
                  <a:solidFill>
                    <a:schemeClr val="accent2">
                      <a:lumMod val="7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4800" b="1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a. </a:t>
                </a:r>
                <a:r>
                  <a:rPr lang="en-US" sz="4800" b="1" dirty="0" err="1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Giao</a:t>
                </a:r>
                <a:r>
                  <a:rPr lang="en-US" sz="4800" b="1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b="1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b="1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b="1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800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</a:p>
              <a:p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			</a:t>
                </a:r>
              </a:p>
              <a:p>
                <a:endParaRPr lang="en-US" sz="4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Viết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/>
                      </a:rPr>
                      <m:t>𝑿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gồm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những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thành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viên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tham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cả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chuyên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đề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1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2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i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tình</a:t>
                </a:r>
                <a:r>
                  <a:rPr lang="en-US" sz="48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i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huống</a:t>
                </a:r>
                <a:r>
                  <a:rPr lang="en-US" sz="48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i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mở</a:t>
                </a:r>
                <a:r>
                  <a:rPr lang="en-US" sz="48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i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đầu</a:t>
                </a:r>
                <a:r>
                  <a:rPr lang="en-US" sz="48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US" sz="4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phải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con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/>
                      </a:rPr>
                      <m:t>𝑨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?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/>
                      </a:rPr>
                      <m:t>𝑿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phải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con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/>
                      </a:rPr>
                      <m:t>𝑩</m:t>
                    </m:r>
                    <m:r>
                      <a:rPr lang="en-US" sz="48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? (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/>
                      </a:rPr>
                      <m:t>𝑨</m:t>
                    </m:r>
                    <m:r>
                      <a:rPr lang="en-US" sz="4800" b="1" i="1">
                        <a:latin typeface="Cambria Math"/>
                      </a:rPr>
                      <m:t>,</m:t>
                    </m:r>
                    <m:r>
                      <a:rPr lang="en-US" sz="4800" b="1" i="1">
                        <a:latin typeface="Cambria Math"/>
                      </a:rPr>
                      <m:t>𝑩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là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HĐ1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).</a:t>
                </a:r>
              </a:p>
              <a:p>
                <a:endParaRPr lang="en-US" sz="4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44" y="1828799"/>
                <a:ext cx="23925156" cy="8115039"/>
              </a:xfrm>
              <a:prstGeom prst="rect">
                <a:avLst/>
              </a:prstGeom>
              <a:blipFill>
                <a:blip r:embed="rId3"/>
                <a:stretch>
                  <a:fillRect l="-1146" b="-600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844" y="10972800"/>
                <a:ext cx="23925156" cy="2530476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𝑋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= { Nam,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Tú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Khánh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Hồng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Bình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Chi,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Ngân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Hiền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Lam,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Hân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}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𝑋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con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con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𝐵</m:t>
                    </m:r>
                  </m:oMath>
                </a14:m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44" y="10972800"/>
                <a:ext cx="23925156" cy="2530476"/>
              </a:xfrm>
              <a:prstGeom prst="rect">
                <a:avLst/>
              </a:prstGeom>
              <a:blipFill>
                <a:blip r:embed="rId4"/>
                <a:stretch>
                  <a:fillRect b="-7194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C5EBDE18-F9CD-4FEA-8471-E18C7DBD2D39}"/>
              </a:ext>
            </a:extLst>
          </p:cNvPr>
          <p:cNvGrpSpPr/>
          <p:nvPr/>
        </p:nvGrpSpPr>
        <p:grpSpPr>
          <a:xfrm>
            <a:off x="140277" y="4432966"/>
            <a:ext cx="5715000" cy="824834"/>
            <a:chOff x="22440" y="59287"/>
            <a:chExt cx="976347" cy="218727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F0E9F2E-BCAA-4B78-9DAE-A52B2771E363}"/>
                </a:ext>
              </a:extLst>
            </p:cNvPr>
            <p:cNvGrpSpPr/>
            <p:nvPr/>
          </p:nvGrpSpPr>
          <p:grpSpPr>
            <a:xfrm>
              <a:off x="22440" y="59287"/>
              <a:ext cx="850471" cy="194251"/>
              <a:chOff x="31572" y="60276"/>
              <a:chExt cx="1196628" cy="240395"/>
            </a:xfrm>
          </p:grpSpPr>
          <p:sp>
            <p:nvSpPr>
              <p:cNvPr id="11" name="Arrow: Pentagon 8">
                <a:extLst>
                  <a:ext uri="{FF2B5EF4-FFF2-40B4-BE49-F238E27FC236}">
                    <a16:creationId xmlns:a16="http://schemas.microsoft.com/office/drawing/2014/main" id="{B8596493-2224-4712-8A6C-20C5F8414787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1000" b="1" kern="1200">
                    <a:solidFill>
                      <a:srgbClr val="0000CC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Arrow: Chevron 9">
                <a:extLst>
                  <a:ext uri="{FF2B5EF4-FFF2-40B4-BE49-F238E27FC236}">
                    <a16:creationId xmlns:a16="http://schemas.microsoft.com/office/drawing/2014/main" id="{87301ED1-CAC4-4F82-A4CB-203607300CFF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240330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sp>
            <p:nvSpPr>
              <p:cNvPr id="13" name="Arrow: Chevron 10">
                <a:extLst>
                  <a:ext uri="{FF2B5EF4-FFF2-40B4-BE49-F238E27FC236}">
                    <a16:creationId xmlns:a16="http://schemas.microsoft.com/office/drawing/2014/main" id="{87EE6C7B-32EA-46DF-AC0F-E55CD4C12DFF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240330"/>
              </a:xfrm>
              <a:prstGeom prst="chevron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p:grpSp>
        <p:sp>
          <p:nvSpPr>
            <p:cNvPr id="10" name="TextBox 56">
              <a:extLst>
                <a:ext uri="{FF2B5EF4-FFF2-40B4-BE49-F238E27FC236}">
                  <a16:creationId xmlns:a16="http://schemas.microsoft.com/office/drawing/2014/main" id="{023F66BC-ECEC-43C9-9D71-FAC24B5AF0B1}"/>
                </a:ext>
              </a:extLst>
            </p:cNvPr>
            <p:cNvSpPr txBox="1"/>
            <p:nvPr/>
          </p:nvSpPr>
          <p:spPr>
            <a:xfrm>
              <a:off x="271036" y="83816"/>
              <a:ext cx="727751" cy="194198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4400" b="1" dirty="0" err="1">
                  <a:solidFill>
                    <a:srgbClr val="FF0066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HĐ</a:t>
              </a:r>
              <a:r>
                <a:rPr lang="en-US" sz="4400" b="1" dirty="0">
                  <a:solidFill>
                    <a:srgbClr val="FF0066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7</a:t>
              </a:r>
              <a:endParaRPr lang="en-US" sz="4400" dirty="0">
                <a:solidFill>
                  <a:srgbClr val="FF0066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605EEAB-754C-4990-A5AC-3F2DE5CBE7BF}"/>
              </a:ext>
            </a:extLst>
          </p:cNvPr>
          <p:cNvGrpSpPr/>
          <p:nvPr/>
        </p:nvGrpSpPr>
        <p:grpSpPr>
          <a:xfrm>
            <a:off x="140277" y="10050687"/>
            <a:ext cx="3760381" cy="887477"/>
            <a:chOff x="22440" y="16831"/>
            <a:chExt cx="850471" cy="23000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107912B-65E9-43B9-A008-7CF5C1FD0CFF}"/>
                </a:ext>
              </a:extLst>
            </p:cNvPr>
            <p:cNvGrpSpPr/>
            <p:nvPr/>
          </p:nvGrpSpPr>
          <p:grpSpPr>
            <a:xfrm>
              <a:off x="22440" y="59287"/>
              <a:ext cx="850471" cy="159855"/>
              <a:chOff x="31572" y="60276"/>
              <a:chExt cx="1196628" cy="197828"/>
            </a:xfrm>
          </p:grpSpPr>
          <p:sp>
            <p:nvSpPr>
              <p:cNvPr id="17" name="Arrow: Pentagon 16">
                <a:extLst>
                  <a:ext uri="{FF2B5EF4-FFF2-40B4-BE49-F238E27FC236}">
                    <a16:creationId xmlns:a16="http://schemas.microsoft.com/office/drawing/2014/main" id="{941B664E-F99C-4BC6-A9F7-A8F112C97635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Arrow: Chevron 17">
                <a:extLst>
                  <a:ext uri="{FF2B5EF4-FFF2-40B4-BE49-F238E27FC236}">
                    <a16:creationId xmlns:a16="http://schemas.microsoft.com/office/drawing/2014/main" id="{ECDC80BE-F490-46A9-9CF3-5031366AFC8B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" name="Arrow: Chevron 18">
                <a:extLst>
                  <a:ext uri="{FF2B5EF4-FFF2-40B4-BE49-F238E27FC236}">
                    <a16:creationId xmlns:a16="http://schemas.microsoft.com/office/drawing/2014/main" id="{AA8147C3-4D12-49BC-886C-431A08F9A769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6" name="TextBox 56">
              <a:extLst>
                <a:ext uri="{FF2B5EF4-FFF2-40B4-BE49-F238E27FC236}">
                  <a16:creationId xmlns:a16="http://schemas.microsoft.com/office/drawing/2014/main" id="{E0EC8CCB-3A6E-4ED8-B3CC-84E29C8204D5}"/>
                </a:ext>
              </a:extLst>
            </p:cNvPr>
            <p:cNvSpPr txBox="1"/>
            <p:nvPr/>
          </p:nvSpPr>
          <p:spPr>
            <a:xfrm>
              <a:off x="188148" y="16831"/>
              <a:ext cx="591618" cy="23000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Giải</a:t>
              </a:r>
              <a:r>
                <a:rPr kumimoji="0" lang="en-US" sz="4800" b="1" i="0" u="none" strike="noStrike" kern="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endPara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   ·   BÀI 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3034888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3027" y="1695738"/>
                <a:ext cx="18412452" cy="345068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 algn="just"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gồm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phần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tử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cả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giao</a:t>
                </a:r>
                <a:r>
                  <a:rPr lang="en-US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ký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hiệu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b="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∩</m:t>
                    </m:r>
                    <m:r>
                      <a:rPr lang="en-US" b="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  <a:p>
                <a:pPr algn="ctr">
                  <a:lnSpc>
                    <a:spcPct val="100000"/>
                  </a:lnSpc>
                  <a:spcAft>
                    <a:spcPts val="800"/>
                  </a:spcAft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∩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à </m:t>
                        </m:r>
                        <m:r>
                          <a:rPr lang="en-US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</m:d>
                  </m:oMath>
                </a14:m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27" y="1695738"/>
                <a:ext cx="18412452" cy="3450688"/>
              </a:xfrm>
              <a:prstGeom prst="rect">
                <a:avLst/>
              </a:prstGeom>
              <a:blipFill>
                <a:blip r:embed="rId3"/>
                <a:stretch>
                  <a:fillRect l="-1754" r="-1721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3026" y="6126687"/>
                <a:ext cx="23948681" cy="2442888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914400" indent="-914400" algn="just">
                  <a:lnSpc>
                    <a:spcPct val="150000"/>
                  </a:lnSpc>
                  <a:buAutoNum type="alphaLcParenR"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4;7;27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2;4;9;27;36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.Hãy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xác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định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Cho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=[</m:t>
                    </m:r>
                    <m:d>
                      <m:dPr>
                        <m:beg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1;+∞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−∞;3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Hãy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xác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định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26" y="6126687"/>
                <a:ext cx="23948681" cy="2442888"/>
              </a:xfrm>
              <a:prstGeom prst="rect">
                <a:avLst/>
              </a:prstGeom>
              <a:blipFill>
                <a:blip r:embed="rId4"/>
                <a:stretch>
                  <a:fillRect l="-1145" b="-10918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0E98F2FC-DEAE-422E-BEA6-6BF0271CBB25}"/>
              </a:ext>
            </a:extLst>
          </p:cNvPr>
          <p:cNvGrpSpPr/>
          <p:nvPr/>
        </p:nvGrpSpPr>
        <p:grpSpPr>
          <a:xfrm>
            <a:off x="26126" y="5120640"/>
            <a:ext cx="3837281" cy="1160381"/>
            <a:chOff x="22440" y="16831"/>
            <a:chExt cx="850471" cy="23000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F60CF18-9611-40C5-89A4-438FBFB39780}"/>
                </a:ext>
              </a:extLst>
            </p:cNvPr>
            <p:cNvGrpSpPr/>
            <p:nvPr/>
          </p:nvGrpSpPr>
          <p:grpSpPr>
            <a:xfrm>
              <a:off x="22440" y="59287"/>
              <a:ext cx="850471" cy="159855"/>
              <a:chOff x="31572" y="60276"/>
              <a:chExt cx="1196628" cy="197828"/>
            </a:xfrm>
          </p:grpSpPr>
          <p:sp>
            <p:nvSpPr>
              <p:cNvPr id="18" name="Arrow: Pentagon 17">
                <a:extLst>
                  <a:ext uri="{FF2B5EF4-FFF2-40B4-BE49-F238E27FC236}">
                    <a16:creationId xmlns:a16="http://schemas.microsoft.com/office/drawing/2014/main" id="{D6F1A983-B514-4B18-81EE-C6B47CD672DA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Arrow: Chevron 18">
                <a:extLst>
                  <a:ext uri="{FF2B5EF4-FFF2-40B4-BE49-F238E27FC236}">
                    <a16:creationId xmlns:a16="http://schemas.microsoft.com/office/drawing/2014/main" id="{6451536B-A641-4F05-86DE-641ADB6C0C23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" name="Arrow: Chevron 19">
                <a:extLst>
                  <a:ext uri="{FF2B5EF4-FFF2-40B4-BE49-F238E27FC236}">
                    <a16:creationId xmlns:a16="http://schemas.microsoft.com/office/drawing/2014/main" id="{0A007631-E717-40DA-98B6-07F3DE15B72F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7" name="TextBox 56">
              <a:extLst>
                <a:ext uri="{FF2B5EF4-FFF2-40B4-BE49-F238E27FC236}">
                  <a16:creationId xmlns:a16="http://schemas.microsoft.com/office/drawing/2014/main" id="{E9B719A9-E1FA-409E-8B3D-62C9E84714D4}"/>
                </a:ext>
              </a:extLst>
            </p:cNvPr>
            <p:cNvSpPr txBox="1"/>
            <p:nvPr/>
          </p:nvSpPr>
          <p:spPr>
            <a:xfrm>
              <a:off x="188148" y="16831"/>
              <a:ext cx="591618" cy="23000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4800" b="1" dirty="0">
                  <a:solidFill>
                    <a:srgbClr val="0000C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800" b="1" dirty="0" err="1">
                  <a:solidFill>
                    <a:srgbClr val="0000C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Ví</a:t>
              </a:r>
              <a:r>
                <a:rPr lang="en-US" sz="4800" b="1" dirty="0">
                  <a:solidFill>
                    <a:srgbClr val="0000C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800" b="1" dirty="0" err="1">
                  <a:solidFill>
                    <a:srgbClr val="0000C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dụ</a:t>
              </a:r>
              <a:r>
                <a:rPr lang="en-US" sz="4800" b="1" dirty="0">
                  <a:solidFill>
                    <a:srgbClr val="0000C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6</a:t>
              </a:r>
              <a:endPara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1FEA08CE-B77C-46E4-93CC-3D11BE5DF2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66720" y="1695736"/>
            <a:ext cx="5764880" cy="2950263"/>
          </a:xfrm>
          <a:prstGeom prst="rect">
            <a:avLst/>
          </a:prstGeom>
          <a:noFill/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26AD4EF3-D865-4A84-9EAB-1C5A234CC519}"/>
              </a:ext>
            </a:extLst>
          </p:cNvPr>
          <p:cNvGrpSpPr/>
          <p:nvPr/>
        </p:nvGrpSpPr>
        <p:grpSpPr>
          <a:xfrm>
            <a:off x="152400" y="8553557"/>
            <a:ext cx="3760381" cy="887477"/>
            <a:chOff x="22440" y="16831"/>
            <a:chExt cx="850471" cy="230002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81FFB60-0F95-4982-9D5A-E1AB765E6EC0}"/>
                </a:ext>
              </a:extLst>
            </p:cNvPr>
            <p:cNvGrpSpPr/>
            <p:nvPr/>
          </p:nvGrpSpPr>
          <p:grpSpPr>
            <a:xfrm>
              <a:off x="22440" y="59287"/>
              <a:ext cx="850471" cy="159855"/>
              <a:chOff x="31572" y="60276"/>
              <a:chExt cx="1196628" cy="197828"/>
            </a:xfrm>
          </p:grpSpPr>
          <p:sp>
            <p:nvSpPr>
              <p:cNvPr id="26" name="Arrow: Pentagon 25">
                <a:extLst>
                  <a:ext uri="{FF2B5EF4-FFF2-40B4-BE49-F238E27FC236}">
                    <a16:creationId xmlns:a16="http://schemas.microsoft.com/office/drawing/2014/main" id="{ED59255B-533E-4C04-812E-5265BB64B3DC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Arrow: Chevron 26">
                <a:extLst>
                  <a:ext uri="{FF2B5EF4-FFF2-40B4-BE49-F238E27FC236}">
                    <a16:creationId xmlns:a16="http://schemas.microsoft.com/office/drawing/2014/main" id="{70C45B3F-A7FA-414A-9D19-8422F8D4BF06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8" name="Arrow: Chevron 27">
                <a:extLst>
                  <a:ext uri="{FF2B5EF4-FFF2-40B4-BE49-F238E27FC236}">
                    <a16:creationId xmlns:a16="http://schemas.microsoft.com/office/drawing/2014/main" id="{67F86402-9287-4EF1-B368-5AD1715C2AF0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25" name="TextBox 56">
              <a:extLst>
                <a:ext uri="{FF2B5EF4-FFF2-40B4-BE49-F238E27FC236}">
                  <a16:creationId xmlns:a16="http://schemas.microsoft.com/office/drawing/2014/main" id="{EC17564D-9E64-4DD1-BFB2-B326A6C9C4D9}"/>
                </a:ext>
              </a:extLst>
            </p:cNvPr>
            <p:cNvSpPr txBox="1"/>
            <p:nvPr/>
          </p:nvSpPr>
          <p:spPr>
            <a:xfrm>
              <a:off x="188148" y="16831"/>
              <a:ext cx="591618" cy="23000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Giải</a:t>
              </a:r>
              <a:r>
                <a:rPr kumimoji="0" lang="en-US" sz="4800" b="1" i="0" u="none" strike="noStrike" kern="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endPara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itle 1">
                <a:extLst>
                  <a:ext uri="{FF2B5EF4-FFF2-40B4-BE49-F238E27FC236}">
                    <a16:creationId xmlns:a16="http://schemas.microsoft.com/office/drawing/2014/main" id="{A0FFD6F1-1E11-4685-A37D-32BB2953D2E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3026" y="9305136"/>
                <a:ext cx="12750755" cy="2060619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 marL="914400" indent="-914400">
                  <a:lnSpc>
                    <a:spcPct val="150000"/>
                  </a:lnSpc>
                  <a:buAutoNum type="alphaLcParenR"/>
                </a:pP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Giao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là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b="0" i="1">
                            <a:latin typeface="Cambria Math" panose="02040503050406030204" pitchFamily="18" charset="0"/>
                          </a:rPr>
                          <m:t>4;27</m:t>
                        </m:r>
                      </m:e>
                    </m:d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9" name="Title 1">
                <a:extLst>
                  <a:ext uri="{FF2B5EF4-FFF2-40B4-BE49-F238E27FC236}">
                    <a16:creationId xmlns:a16="http://schemas.microsoft.com/office/drawing/2014/main" id="{A0FFD6F1-1E11-4685-A37D-32BB2953D2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26" y="9305136"/>
                <a:ext cx="12750755" cy="2060619"/>
              </a:xfrm>
              <a:prstGeom prst="rect">
                <a:avLst/>
              </a:prstGeom>
              <a:blipFill>
                <a:blip r:embed="rId6"/>
                <a:stretch>
                  <a:fillRect l="-2149" b="-19118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itle 1">
                <a:extLst>
                  <a:ext uri="{FF2B5EF4-FFF2-40B4-BE49-F238E27FC236}">
                    <a16:creationId xmlns:a16="http://schemas.microsoft.com/office/drawing/2014/main" id="{2E8CD60F-EC99-412D-BB24-D47FF176B4B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9557" y="11395999"/>
                <a:ext cx="12750755" cy="206062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 Giao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0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là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b="0" i="1">
                            <a:latin typeface="Cambria Math" panose="02040503050406030204" pitchFamily="18" charset="0"/>
                          </a:rPr>
                          <m:t>1;3</m:t>
                        </m:r>
                      </m:e>
                    </m:d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31" name="Title 1">
                <a:extLst>
                  <a:ext uri="{FF2B5EF4-FFF2-40B4-BE49-F238E27FC236}">
                    <a16:creationId xmlns:a16="http://schemas.microsoft.com/office/drawing/2014/main" id="{2E8CD60F-EC99-412D-BB24-D47FF176B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57" y="11395999"/>
                <a:ext cx="12750755" cy="2060620"/>
              </a:xfrm>
              <a:prstGeom prst="rect">
                <a:avLst/>
              </a:prstGeom>
              <a:blipFill>
                <a:blip r:embed="rId7"/>
                <a:stretch>
                  <a:fillRect l="-2149" b="-19118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155AB38B-5488-4E88-B985-CA1AF7B6CE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114575" y="9488018"/>
            <a:ext cx="11117025" cy="2567281"/>
          </a:xfrm>
          <a:prstGeom prst="rect">
            <a:avLst/>
          </a:prstGeom>
          <a:solidFill>
            <a:srgbClr val="EEF7E9"/>
          </a:solidFill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6E42410-A5B0-40ED-B03D-9092D9931C0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20409" y="11378121"/>
            <a:ext cx="10885425" cy="230411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1D8AF4-98B9-4681-B254-EC6EBA55E818}"/>
              </a:ext>
            </a:extLst>
          </p:cNvPr>
          <p:cNvSpPr txBox="1"/>
          <p:nvPr/>
        </p:nvSpPr>
        <p:spPr>
          <a:xfrm>
            <a:off x="13411200" y="8608680"/>
            <a:ext cx="769620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Biểu</a:t>
            </a:r>
            <a:r>
              <a:rPr lang="en-US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diễn</a:t>
            </a:r>
            <a:r>
              <a:rPr lang="en-US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sơ</a:t>
            </a:r>
            <a:r>
              <a:rPr lang="en-US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đồ</a:t>
            </a:r>
            <a:r>
              <a:rPr lang="en-US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ven</a:t>
            </a:r>
            <a:endParaRPr lang="vi-VN" b="1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   ·   BÀI 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7278664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  <p:bldP spid="29" grpId="0" animBg="1"/>
      <p:bldP spid="31" grpId="0" animBg="1"/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809" y="2006782"/>
                <a:ext cx="23975292" cy="12402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 algn="just"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Cho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sz="4800" b="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4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4800" b="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1;5</m:t>
                        </m:r>
                      </m:e>
                    </m:d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4800" b="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sz="4800" b="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4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4800" b="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</m:t>
                        </m:r>
                        <m:r>
                          <a:rPr lang="en-US" sz="4800" b="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2;3</m:t>
                        </m:r>
                      </m:e>
                    </m:d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Hãy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xác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định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sz="4800" b="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∩</m:t>
                    </m:r>
                    <m:r>
                      <a:rPr lang="en-US" sz="4800" b="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US" sz="48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09" y="2006782"/>
                <a:ext cx="23975292" cy="1240219"/>
              </a:xfrm>
              <a:prstGeom prst="rect">
                <a:avLst/>
              </a:prstGeom>
              <a:blipFill>
                <a:blip r:embed="rId3"/>
                <a:stretch>
                  <a:fillRect b="-9223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0E98F2FC-DEAE-422E-BEA6-6BF0271CBB25}"/>
              </a:ext>
            </a:extLst>
          </p:cNvPr>
          <p:cNvGrpSpPr/>
          <p:nvPr/>
        </p:nvGrpSpPr>
        <p:grpSpPr>
          <a:xfrm>
            <a:off x="2590800" y="990600"/>
            <a:ext cx="5486400" cy="811277"/>
            <a:chOff x="22440" y="16831"/>
            <a:chExt cx="850471" cy="23000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F60CF18-9611-40C5-89A4-438FBFB39780}"/>
                </a:ext>
              </a:extLst>
            </p:cNvPr>
            <p:cNvGrpSpPr/>
            <p:nvPr/>
          </p:nvGrpSpPr>
          <p:grpSpPr>
            <a:xfrm>
              <a:off x="22440" y="59287"/>
              <a:ext cx="850471" cy="159855"/>
              <a:chOff x="31572" y="60276"/>
              <a:chExt cx="1196628" cy="197828"/>
            </a:xfrm>
          </p:grpSpPr>
          <p:sp>
            <p:nvSpPr>
              <p:cNvPr id="18" name="Arrow: Pentagon 17">
                <a:extLst>
                  <a:ext uri="{FF2B5EF4-FFF2-40B4-BE49-F238E27FC236}">
                    <a16:creationId xmlns:a16="http://schemas.microsoft.com/office/drawing/2014/main" id="{D6F1A983-B514-4B18-81EE-C6B47CD672DA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Arrow: Chevron 18">
                <a:extLst>
                  <a:ext uri="{FF2B5EF4-FFF2-40B4-BE49-F238E27FC236}">
                    <a16:creationId xmlns:a16="http://schemas.microsoft.com/office/drawing/2014/main" id="{6451536B-A641-4F05-86DE-641ADB6C0C23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" name="Arrow: Chevron 19">
                <a:extLst>
                  <a:ext uri="{FF2B5EF4-FFF2-40B4-BE49-F238E27FC236}">
                    <a16:creationId xmlns:a16="http://schemas.microsoft.com/office/drawing/2014/main" id="{0A007631-E717-40DA-98B6-07F3DE15B72F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7" name="TextBox 56">
              <a:extLst>
                <a:ext uri="{FF2B5EF4-FFF2-40B4-BE49-F238E27FC236}">
                  <a16:creationId xmlns:a16="http://schemas.microsoft.com/office/drawing/2014/main" id="{E9B719A9-E1FA-409E-8B3D-62C9E84714D4}"/>
                </a:ext>
              </a:extLst>
            </p:cNvPr>
            <p:cNvSpPr txBox="1"/>
            <p:nvPr/>
          </p:nvSpPr>
          <p:spPr>
            <a:xfrm>
              <a:off x="188148" y="16831"/>
              <a:ext cx="591618" cy="23000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4800" b="1" dirty="0" err="1">
                  <a:solidFill>
                    <a:srgbClr val="0000C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Luyện</a:t>
              </a:r>
              <a:r>
                <a:rPr lang="en-US" sz="4800" b="1" dirty="0">
                  <a:solidFill>
                    <a:srgbClr val="0000C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800" b="1" dirty="0" err="1">
                  <a:solidFill>
                    <a:srgbClr val="0000C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tập</a:t>
              </a:r>
              <a:endPara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21" name="Title 1">
            <a:extLst>
              <a:ext uri="{FF2B5EF4-FFF2-40B4-BE49-F238E27FC236}">
                <a16:creationId xmlns:a16="http://schemas.microsoft.com/office/drawing/2014/main" id="{36811BDB-4069-4EB9-8BB3-2632EE494311}"/>
              </a:ext>
            </a:extLst>
          </p:cNvPr>
          <p:cNvSpPr txBox="1">
            <a:spLocks/>
          </p:cNvSpPr>
          <p:nvPr/>
        </p:nvSpPr>
        <p:spPr>
          <a:xfrm>
            <a:off x="-7315" y="4114800"/>
            <a:ext cx="24253092" cy="20697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US" sz="4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HĐ 8.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Trở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lại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tình</a:t>
            </a:r>
            <a:r>
              <a:rPr lang="en-US" sz="4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huống</a:t>
            </a:r>
            <a:r>
              <a:rPr lang="en-US" sz="4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mở</a:t>
            </a:r>
            <a:r>
              <a:rPr lang="en-US" sz="4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đầu</a:t>
            </a:r>
            <a:r>
              <a:rPr lang="en-US" sz="4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hãy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xác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định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tập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hợp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thành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viên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tham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Chuyên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đề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hoặc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Chuyên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đề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EE88C6C-796C-4F11-BCD9-A944395F38EE}"/>
              </a:ext>
            </a:extLst>
          </p:cNvPr>
          <p:cNvSpPr txBox="1">
            <a:spLocks/>
          </p:cNvSpPr>
          <p:nvPr/>
        </p:nvSpPr>
        <p:spPr>
          <a:xfrm>
            <a:off x="-7315" y="3032405"/>
            <a:ext cx="8084515" cy="1025201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b. </a:t>
            </a:r>
            <a:r>
              <a:rPr lang="en-US" sz="4800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Hợp</a:t>
            </a:r>
            <a:r>
              <a:rPr lang="en-US" sz="4800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4800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hai</a:t>
            </a:r>
            <a:r>
              <a:rPr lang="en-US" sz="4800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tập</a:t>
            </a:r>
            <a:r>
              <a:rPr lang="en-US" sz="4800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hợp</a:t>
            </a:r>
            <a:endParaRPr lang="en-US" sz="4800" b="1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D447EC7-C73B-4E0B-AFB8-93DBF4B33B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93232" y="6637473"/>
            <a:ext cx="5836779" cy="29156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39947D31-3FBD-4367-857E-5BF159C85A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615" y="6387709"/>
                <a:ext cx="18335617" cy="3229347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 algn="just">
                  <a:lnSpc>
                    <a:spcPct val="150000"/>
                  </a:lnSpc>
                </a:pPr>
                <a:r>
                  <a:rPr lang="en-US" sz="4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 </a:t>
                </a:r>
                <a:r>
                  <a:rPr lang="en-US" sz="48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gồm</a:t>
                </a:r>
                <a:r>
                  <a:rPr lang="en-US" sz="4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phần</a:t>
                </a:r>
                <a:r>
                  <a:rPr lang="en-US" sz="4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tử</a:t>
                </a:r>
                <a:r>
                  <a:rPr lang="en-US" sz="4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sz="4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14:m>
                  <m:oMath xmlns:m="http://schemas.openxmlformats.org/officeDocument/2006/math">
                    <m:r>
                      <a:rPr lang="en-US" sz="4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4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4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hoặc</a:t>
                </a:r>
                <a:r>
                  <a:rPr lang="en-US" sz="4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4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sz="4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4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4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8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ký</a:t>
                </a:r>
                <a:r>
                  <a:rPr lang="en-US" sz="4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hiệu</a:t>
                </a:r>
                <a:r>
                  <a:rPr lang="en-US" sz="4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4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sz="4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sz="48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4800" b="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4800" b="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sz="4800" b="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4800" b="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4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4800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4800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4800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4800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4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48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ho</m:t>
                        </m:r>
                        <m:r>
                          <a:rPr lang="en-US" sz="48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ặ</m:t>
                        </m:r>
                        <m:r>
                          <m:rPr>
                            <m:sty m:val="p"/>
                          </m:rPr>
                          <a:rPr lang="en-US" sz="48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sz="48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4800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4800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4800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sz="4800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39947D31-3FBD-4367-857E-5BF159C85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15" y="6387709"/>
                <a:ext cx="18335617" cy="3229347"/>
              </a:xfrm>
              <a:prstGeom prst="rect">
                <a:avLst/>
              </a:prstGeom>
              <a:blipFill>
                <a:blip r:embed="rId5"/>
                <a:stretch>
                  <a:fillRect l="-1462" r="-1495" b="-9962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BCB83D6D-51C0-40D2-8891-6C9D86170C5C}"/>
              </a:ext>
            </a:extLst>
          </p:cNvPr>
          <p:cNvGrpSpPr/>
          <p:nvPr/>
        </p:nvGrpSpPr>
        <p:grpSpPr>
          <a:xfrm>
            <a:off x="107328" y="9519464"/>
            <a:ext cx="5486400" cy="811277"/>
            <a:chOff x="22440" y="16831"/>
            <a:chExt cx="850471" cy="230002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F62F473-44EA-4543-B98A-FD12E7BC4D40}"/>
                </a:ext>
              </a:extLst>
            </p:cNvPr>
            <p:cNvGrpSpPr/>
            <p:nvPr/>
          </p:nvGrpSpPr>
          <p:grpSpPr>
            <a:xfrm>
              <a:off x="22440" y="59287"/>
              <a:ext cx="850471" cy="159855"/>
              <a:chOff x="31572" y="60276"/>
              <a:chExt cx="1196628" cy="197828"/>
            </a:xfrm>
          </p:grpSpPr>
          <p:sp>
            <p:nvSpPr>
              <p:cNvPr id="26" name="Arrow: Pentagon 25">
                <a:extLst>
                  <a:ext uri="{FF2B5EF4-FFF2-40B4-BE49-F238E27FC236}">
                    <a16:creationId xmlns:a16="http://schemas.microsoft.com/office/drawing/2014/main" id="{C933F19F-DDEF-45DE-948D-24F0DE939042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Arrow: Chevron 26">
                <a:extLst>
                  <a:ext uri="{FF2B5EF4-FFF2-40B4-BE49-F238E27FC236}">
                    <a16:creationId xmlns:a16="http://schemas.microsoft.com/office/drawing/2014/main" id="{0F1768B7-0AB8-493B-8178-91A0A890A5D0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8" name="Arrow: Chevron 27">
                <a:extLst>
                  <a:ext uri="{FF2B5EF4-FFF2-40B4-BE49-F238E27FC236}">
                    <a16:creationId xmlns:a16="http://schemas.microsoft.com/office/drawing/2014/main" id="{AF82784E-017D-43FF-9762-3CB7F2FBEA76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25" name="TextBox 56">
              <a:extLst>
                <a:ext uri="{FF2B5EF4-FFF2-40B4-BE49-F238E27FC236}">
                  <a16:creationId xmlns:a16="http://schemas.microsoft.com/office/drawing/2014/main" id="{9D324883-80DF-4DE7-A3F4-C85EAC249E57}"/>
                </a:ext>
              </a:extLst>
            </p:cNvPr>
            <p:cNvSpPr txBox="1"/>
            <p:nvPr/>
          </p:nvSpPr>
          <p:spPr>
            <a:xfrm>
              <a:off x="188148" y="16831"/>
              <a:ext cx="591618" cy="23000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4800" b="1" dirty="0" err="1">
                  <a:solidFill>
                    <a:srgbClr val="0000C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Ví</a:t>
              </a:r>
              <a:r>
                <a:rPr lang="en-US" sz="4800" b="1" dirty="0">
                  <a:solidFill>
                    <a:srgbClr val="0000C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800" b="1" dirty="0" err="1">
                  <a:solidFill>
                    <a:srgbClr val="0000C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dụ</a:t>
              </a:r>
              <a:r>
                <a:rPr lang="en-US" sz="4800" b="1" dirty="0">
                  <a:solidFill>
                    <a:srgbClr val="0000C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7</a:t>
              </a:r>
              <a:endPara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itle 1">
                <a:extLst>
                  <a:ext uri="{FF2B5EF4-FFF2-40B4-BE49-F238E27FC236}">
                    <a16:creationId xmlns:a16="http://schemas.microsoft.com/office/drawing/2014/main" id="{22D86986-C98D-4A15-9193-4E169B03213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585" y="10352696"/>
                <a:ext cx="24365415" cy="135652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en-US" sz="47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:r>
                  <a:rPr lang="en-US" sz="47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7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7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7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7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7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700" b="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4700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4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700" b="0" i="1">
                            <a:latin typeface="Cambria Math" panose="02040503050406030204" pitchFamily="18" charset="0"/>
                          </a:rPr>
                          <m:t>2;3;4;7</m:t>
                        </m:r>
                      </m:e>
                    </m:d>
                    <m:r>
                      <a:rPr lang="en-US" sz="4700" b="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47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700" b="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4700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4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700" b="0" i="1">
                            <a:latin typeface="Cambria Math" panose="02040503050406030204" pitchFamily="18" charset="0"/>
                          </a:rPr>
                          <m:t>−1;2;3;4;6</m:t>
                        </m:r>
                      </m:e>
                    </m:d>
                  </m:oMath>
                </a14:m>
                <a:r>
                  <a:rPr lang="en-US" sz="47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7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Hãy</a:t>
                </a:r>
                <a:r>
                  <a:rPr lang="en-US" sz="47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7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xác</a:t>
                </a:r>
                <a:r>
                  <a:rPr lang="en-US" sz="47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7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định</a:t>
                </a:r>
                <a:r>
                  <a:rPr lang="en-US" sz="47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7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7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7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7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700" b="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4700" b="0" i="1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sz="4700" b="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47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9" name="Title 1">
                <a:extLst>
                  <a:ext uri="{FF2B5EF4-FFF2-40B4-BE49-F238E27FC236}">
                    <a16:creationId xmlns:a16="http://schemas.microsoft.com/office/drawing/2014/main" id="{22D86986-C98D-4A15-9193-4E169B0321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85" y="10352696"/>
                <a:ext cx="24365415" cy="1356522"/>
              </a:xfrm>
              <a:prstGeom prst="rect">
                <a:avLst/>
              </a:prstGeom>
              <a:blipFill>
                <a:blip r:embed="rId6"/>
                <a:stretch>
                  <a:fillRect l="-1075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itle 1">
                <a:extLst>
                  <a:ext uri="{FF2B5EF4-FFF2-40B4-BE49-F238E27FC236}">
                    <a16:creationId xmlns:a16="http://schemas.microsoft.com/office/drawing/2014/main" id="{E19E099E-DEA0-4483-A399-758109B94E3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3739" y="12234041"/>
                <a:ext cx="18147287" cy="124702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sz="4800" b="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b="0" i="1">
                            <a:latin typeface="Cambria Math" panose="02040503050406030204" pitchFamily="18" charset="0"/>
                          </a:rPr>
                          <m:t>−1;2;3;4;6;7</m:t>
                        </m:r>
                      </m:e>
                    </m:d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US" sz="48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1" name="Title 1">
                <a:extLst>
                  <a:ext uri="{FF2B5EF4-FFF2-40B4-BE49-F238E27FC236}">
                    <a16:creationId xmlns:a16="http://schemas.microsoft.com/office/drawing/2014/main" id="{E19E099E-DEA0-4483-A399-758109B9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739" y="12234041"/>
                <a:ext cx="18147287" cy="1247022"/>
              </a:xfrm>
              <a:prstGeom prst="rect">
                <a:avLst/>
              </a:prstGeom>
              <a:blipFill>
                <a:blip r:embed="rId7"/>
                <a:stretch>
                  <a:fillRect b="-9223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9B0E9633-BF1B-4A43-9B36-E6AC3A364E85}"/>
              </a:ext>
            </a:extLst>
          </p:cNvPr>
          <p:cNvGrpSpPr/>
          <p:nvPr/>
        </p:nvGrpSpPr>
        <p:grpSpPr>
          <a:xfrm>
            <a:off x="8385" y="11424656"/>
            <a:ext cx="5486400" cy="811277"/>
            <a:chOff x="22440" y="16831"/>
            <a:chExt cx="850471" cy="230002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1C37CE31-2C5B-49EE-AD6A-74E7D924D42A}"/>
                </a:ext>
              </a:extLst>
            </p:cNvPr>
            <p:cNvGrpSpPr/>
            <p:nvPr/>
          </p:nvGrpSpPr>
          <p:grpSpPr>
            <a:xfrm>
              <a:off x="22440" y="59287"/>
              <a:ext cx="850471" cy="159855"/>
              <a:chOff x="31572" y="60276"/>
              <a:chExt cx="1196628" cy="197828"/>
            </a:xfrm>
          </p:grpSpPr>
          <p:sp>
            <p:nvSpPr>
              <p:cNvPr id="35" name="Arrow: Pentagon 34">
                <a:extLst>
                  <a:ext uri="{FF2B5EF4-FFF2-40B4-BE49-F238E27FC236}">
                    <a16:creationId xmlns:a16="http://schemas.microsoft.com/office/drawing/2014/main" id="{A144BD86-5983-4EE2-9978-B2EC7E27D4B6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Arrow: Chevron 35">
                <a:extLst>
                  <a:ext uri="{FF2B5EF4-FFF2-40B4-BE49-F238E27FC236}">
                    <a16:creationId xmlns:a16="http://schemas.microsoft.com/office/drawing/2014/main" id="{824220AE-DCBC-4D04-A08D-202E975586F9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7" name="Arrow: Chevron 36">
                <a:extLst>
                  <a:ext uri="{FF2B5EF4-FFF2-40B4-BE49-F238E27FC236}">
                    <a16:creationId xmlns:a16="http://schemas.microsoft.com/office/drawing/2014/main" id="{71234FE8-EF17-463E-A732-A1403D04627E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34" name="TextBox 56">
              <a:extLst>
                <a:ext uri="{FF2B5EF4-FFF2-40B4-BE49-F238E27FC236}">
                  <a16:creationId xmlns:a16="http://schemas.microsoft.com/office/drawing/2014/main" id="{139C9F31-3587-43BC-9217-93FEBA8DE796}"/>
                </a:ext>
              </a:extLst>
            </p:cNvPr>
            <p:cNvSpPr txBox="1"/>
            <p:nvPr/>
          </p:nvSpPr>
          <p:spPr>
            <a:xfrm>
              <a:off x="188148" y="16831"/>
              <a:ext cx="591618" cy="23000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Giải</a:t>
              </a:r>
              <a:endPara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772C9EDE-CE7C-4F93-9219-B68461BE2F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654371" y="11669080"/>
            <a:ext cx="5684645" cy="1811983"/>
          </a:xfrm>
          <a:prstGeom prst="rect">
            <a:avLst/>
          </a:prstGeom>
        </p:spPr>
      </p:pic>
      <p:sp>
        <p:nvSpPr>
          <p:cNvPr id="99" name="Rounded Rectangle 9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   ·   BÀI 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4323144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21" grpId="0" animBg="1"/>
      <p:bldP spid="22" grpId="0" animBg="1"/>
      <p:bldP spid="14" grpId="0" animBg="1"/>
      <p:bldP spid="29" grpId="0" animBg="1"/>
      <p:bldP spid="3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9F4D16C-3347-4966-AFF3-C9914530F1CA}"/>
              </a:ext>
            </a:extLst>
          </p:cNvPr>
          <p:cNvGrpSpPr/>
          <p:nvPr/>
        </p:nvGrpSpPr>
        <p:grpSpPr>
          <a:xfrm>
            <a:off x="325117" y="1981200"/>
            <a:ext cx="4425559" cy="811277"/>
            <a:chOff x="22440" y="16831"/>
            <a:chExt cx="850471" cy="23000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B946DCC-7DA7-4958-8493-F1951E8F50DB}"/>
                </a:ext>
              </a:extLst>
            </p:cNvPr>
            <p:cNvGrpSpPr/>
            <p:nvPr/>
          </p:nvGrpSpPr>
          <p:grpSpPr>
            <a:xfrm>
              <a:off x="22440" y="59287"/>
              <a:ext cx="850471" cy="159855"/>
              <a:chOff x="31572" y="60276"/>
              <a:chExt cx="1196628" cy="197828"/>
            </a:xfrm>
          </p:grpSpPr>
          <p:sp>
            <p:nvSpPr>
              <p:cNvPr id="8" name="Arrow: Pentagon 7">
                <a:extLst>
                  <a:ext uri="{FF2B5EF4-FFF2-40B4-BE49-F238E27FC236}">
                    <a16:creationId xmlns:a16="http://schemas.microsoft.com/office/drawing/2014/main" id="{1F738B7B-D940-45B4-A6CA-10335E11982B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Arrow: Chevron 8">
                <a:extLst>
                  <a:ext uri="{FF2B5EF4-FFF2-40B4-BE49-F238E27FC236}">
                    <a16:creationId xmlns:a16="http://schemas.microsoft.com/office/drawing/2014/main" id="{B322093B-541B-4915-9806-73F64C11C2DA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" name="Arrow: Chevron 9">
                <a:extLst>
                  <a:ext uri="{FF2B5EF4-FFF2-40B4-BE49-F238E27FC236}">
                    <a16:creationId xmlns:a16="http://schemas.microsoft.com/office/drawing/2014/main" id="{E53FBFBD-2F5C-4886-8956-19E85CCDA0BB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6" name="TextBox 56">
              <a:extLst>
                <a:ext uri="{FF2B5EF4-FFF2-40B4-BE49-F238E27FC236}">
                  <a16:creationId xmlns:a16="http://schemas.microsoft.com/office/drawing/2014/main" id="{4A0823DC-8E1B-43F3-A190-6301666D4CF8}"/>
                </a:ext>
              </a:extLst>
            </p:cNvPr>
            <p:cNvSpPr txBox="1"/>
            <p:nvPr/>
          </p:nvSpPr>
          <p:spPr>
            <a:xfrm>
              <a:off x="188148" y="16831"/>
              <a:ext cx="591618" cy="23000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4800" b="1" dirty="0" err="1">
                  <a:solidFill>
                    <a:srgbClr val="0000C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Ví</a:t>
              </a:r>
              <a:r>
                <a:rPr lang="en-US" sz="4800" b="1" dirty="0">
                  <a:solidFill>
                    <a:srgbClr val="0000C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800" b="1" dirty="0" err="1">
                  <a:solidFill>
                    <a:srgbClr val="0000C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dụ</a:t>
              </a:r>
              <a:r>
                <a:rPr lang="en-US" sz="4800" b="1" dirty="0">
                  <a:solidFill>
                    <a:srgbClr val="0000C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8</a:t>
              </a:r>
              <a:endPara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D25C9BD7-CED4-4BCF-9F0F-1336097762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457200"/>
          <a:ext cx="15875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2268" imgH="164957" progId="Equation.DSMT4">
                  <p:embed/>
                </p:oleObj>
              </mc:Choice>
              <mc:Fallback>
                <p:oleObj name="Equation" r:id="rId3" imgW="152268" imgH="164957" progId="Equation.DSMT4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D25C9BD7-CED4-4BCF-9F0F-1336097762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57200"/>
                        <a:ext cx="158750" cy="165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3A7BD65B-61B2-443D-8FA2-D0DD077D7E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622300"/>
          <a:ext cx="15875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268" imgH="164957" progId="Equation.DSMT4">
                  <p:embed/>
                </p:oleObj>
              </mc:Choice>
              <mc:Fallback>
                <p:oleObj name="Equation" r:id="rId5" imgW="152268" imgH="164957" progId="Equation.DSMT4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3A7BD65B-61B2-443D-8FA2-D0DD077D7E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22300"/>
                        <a:ext cx="158750" cy="165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itle 1">
            <a:extLst>
              <a:ext uri="{FF2B5EF4-FFF2-40B4-BE49-F238E27FC236}">
                <a16:creationId xmlns:a16="http://schemas.microsoft.com/office/drawing/2014/main" id="{A524E200-3AB8-483B-9045-AD5CFB697F8C}"/>
              </a:ext>
            </a:extLst>
          </p:cNvPr>
          <p:cNvSpPr txBox="1">
            <a:spLocks/>
          </p:cNvSpPr>
          <p:nvPr/>
        </p:nvSpPr>
        <p:spPr>
          <a:xfrm>
            <a:off x="31898" y="2942230"/>
            <a:ext cx="24123501" cy="22053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Trở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lại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tình</a:t>
            </a:r>
            <a:r>
              <a:rPr lang="en-US" sz="4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huống</a:t>
            </a:r>
            <a:r>
              <a:rPr lang="en-US" sz="4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ban </a:t>
            </a:r>
            <a:r>
              <a:rPr lang="en-US" sz="48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đầu</a:t>
            </a:r>
            <a:r>
              <a:rPr lang="en-US" sz="4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sz="48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Gọi</a:t>
            </a:r>
            <a:r>
              <a:rPr lang="en-US" sz="4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lang="en-US" sz="48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sz="4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tập</a:t>
            </a:r>
            <a:r>
              <a:rPr lang="en-US" sz="4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hợp</a:t>
            </a:r>
            <a:r>
              <a:rPr lang="en-US" sz="4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4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thành</a:t>
            </a:r>
            <a:r>
              <a:rPr lang="en-US" sz="4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viên</a:t>
            </a:r>
            <a:r>
              <a:rPr lang="en-US" sz="4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tham</a:t>
            </a:r>
            <a:r>
              <a:rPr lang="en-US" sz="4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</a:t>
            </a:r>
            <a:r>
              <a:rPr lang="en-US" sz="4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chuyên</a:t>
            </a:r>
            <a:r>
              <a:rPr lang="en-US" sz="4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đề</a:t>
            </a:r>
            <a:r>
              <a:rPr lang="en-US" sz="4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1, B </a:t>
            </a:r>
            <a:r>
              <a:rPr lang="en-US" sz="48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sz="4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tập</a:t>
            </a:r>
            <a:r>
              <a:rPr lang="en-US" sz="4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hợp</a:t>
            </a:r>
            <a:r>
              <a:rPr lang="en-US" sz="4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4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thành</a:t>
            </a:r>
            <a:r>
              <a:rPr lang="en-US" sz="4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viên</a:t>
            </a:r>
            <a:r>
              <a:rPr lang="en-US" sz="4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tham</a:t>
            </a:r>
            <a:r>
              <a:rPr lang="en-US" sz="4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</a:t>
            </a:r>
            <a:r>
              <a:rPr lang="en-US" sz="4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chuyên</a:t>
            </a:r>
            <a:r>
              <a:rPr lang="en-US" sz="4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đề</a:t>
            </a:r>
            <a:r>
              <a:rPr lang="en-US" sz="4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 </a:t>
            </a:r>
            <a:endParaRPr lang="en-US" sz="4800" i="1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itle 1">
                <a:extLst>
                  <a:ext uri="{FF2B5EF4-FFF2-40B4-BE49-F238E27FC236}">
                    <a16:creationId xmlns:a16="http://schemas.microsoft.com/office/drawing/2014/main" id="{DF99E993-1677-4467-B2E8-875216CF1D8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375" y="5426750"/>
                <a:ext cx="24076024" cy="478405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 algn="just"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en-US" sz="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Ta </a:t>
                </a:r>
                <a:r>
                  <a:rPr lang="en-US" sz="50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5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5000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sz="5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5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5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5000" b="0" i="0" smtClean="0">
                            <a:latin typeface="Cambria Math" panose="02040503050406030204" pitchFamily="18" charset="0"/>
                          </a:rPr>
                          <m:t>Nam</m:t>
                        </m:r>
                        <m:r>
                          <a:rPr lang="en-US" sz="5000" b="0" i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5000" b="0" i="0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5000" b="0" i="0" smtClean="0">
                            <a:latin typeface="Cambria Math" panose="02040503050406030204" pitchFamily="18" charset="0"/>
                          </a:rPr>
                          <m:t>ươ</m:t>
                        </m:r>
                        <m:r>
                          <m:rPr>
                            <m:sty m:val="p"/>
                          </m:rPr>
                          <a:rPr lang="en-US" sz="5000" b="0" i="0" smtClean="0">
                            <a:latin typeface="Cambria Math" panose="02040503050406030204" pitchFamily="18" charset="0"/>
                          </a:rPr>
                          <m:t>ng</m:t>
                        </m:r>
                        <m:r>
                          <a:rPr lang="en-US" sz="5000" b="0" i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5000" b="0" i="0" smtClean="0">
                            <a:latin typeface="Cambria Math" panose="02040503050406030204" pitchFamily="18" charset="0"/>
                          </a:rPr>
                          <m:t>Chi</m:t>
                        </m:r>
                        <m:r>
                          <a:rPr lang="en-US" sz="5000" b="0" i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5000" b="0" i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5000" b="0" i="0" smtClean="0">
                            <a:latin typeface="Cambria Math" panose="02040503050406030204" pitchFamily="18" charset="0"/>
                          </a:rPr>
                          <m:t>ú, </m:t>
                        </m:r>
                        <m:r>
                          <m:rPr>
                            <m:sty m:val="p"/>
                          </m:rPr>
                          <a:rPr lang="en-US" sz="5000" b="0" i="0" smtClean="0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sz="5000" b="0" i="0" smtClean="0">
                            <a:latin typeface="Cambria Math" panose="02040503050406030204" pitchFamily="18" charset="0"/>
                          </a:rPr>
                          <m:t>ì</m:t>
                        </m:r>
                        <m:r>
                          <m:rPr>
                            <m:sty m:val="p"/>
                          </m:rPr>
                          <a:rPr lang="en-US" sz="5000" b="0" i="0" smtClean="0">
                            <a:latin typeface="Cambria Math" panose="02040503050406030204" pitchFamily="18" charset="0"/>
                          </a:rPr>
                          <m:t>nh</m:t>
                        </m:r>
                        <m:r>
                          <a:rPr lang="en-US" sz="5000" b="0" i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5000" b="0" i="0" smtClean="0">
                            <a:latin typeface="Cambria Math" panose="02040503050406030204" pitchFamily="18" charset="0"/>
                          </a:rPr>
                          <m:t>Ng</m:t>
                        </m:r>
                        <m:r>
                          <a:rPr lang="en-US" sz="5000" b="0" i="0" smtClean="0">
                            <a:latin typeface="Cambria Math" panose="02040503050406030204" pitchFamily="18" charset="0"/>
                          </a:rPr>
                          <m:t>â</m:t>
                        </m:r>
                        <m:r>
                          <m:rPr>
                            <m:sty m:val="p"/>
                          </m:rPr>
                          <a:rPr lang="en-US" sz="5000" b="0" i="0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5000" b="0" i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5000" b="0" i="0" smtClean="0">
                            <a:latin typeface="Cambria Math" panose="02040503050406030204" pitchFamily="18" charset="0"/>
                          </a:rPr>
                          <m:t>Kh</m:t>
                        </m:r>
                        <m:r>
                          <a:rPr lang="en-US" sz="5000" b="0" i="0" smtClean="0">
                            <a:latin typeface="Cambria Math" panose="02040503050406030204" pitchFamily="18" charset="0"/>
                          </a:rPr>
                          <m:t>á</m:t>
                        </m:r>
                        <m:r>
                          <m:rPr>
                            <m:sty m:val="p"/>
                          </m:rPr>
                          <a:rPr lang="en-US" sz="5000" b="0" i="0" smtClean="0">
                            <a:latin typeface="Cambria Math" panose="02040503050406030204" pitchFamily="18" charset="0"/>
                          </a:rPr>
                          <m:t>nh</m:t>
                        </m:r>
                        <m:r>
                          <a:rPr lang="en-US" sz="5000" b="0" i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5000" b="0" i="0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5000" b="0" i="0" smtClean="0">
                            <a:latin typeface="Cambria Math" panose="02040503050406030204" pitchFamily="18" charset="0"/>
                          </a:rPr>
                          <m:t>â</m:t>
                        </m:r>
                        <m:r>
                          <m:rPr>
                            <m:sty m:val="p"/>
                          </m:rPr>
                          <a:rPr lang="en-US" sz="5000" b="0" i="0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5000" b="0" i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5000" b="0" i="0" smtClean="0">
                            <a:latin typeface="Cambria Math" panose="02040503050406030204" pitchFamily="18" charset="0"/>
                          </a:rPr>
                          <m:t>Hi</m:t>
                        </m:r>
                        <m:r>
                          <a:rPr lang="en-US" sz="5000" b="0" i="0" smtClean="0">
                            <a:latin typeface="Cambria Math" panose="02040503050406030204" pitchFamily="18" charset="0"/>
                          </a:rPr>
                          <m:t>ề</m:t>
                        </m:r>
                        <m:r>
                          <m:rPr>
                            <m:sty m:val="p"/>
                          </m:rPr>
                          <a:rPr lang="en-US" sz="5000" b="0" i="0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5000" b="0" i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5000" b="0" i="0" smtClean="0">
                            <a:latin typeface="Cambria Math" panose="02040503050406030204" pitchFamily="18" charset="0"/>
                          </a:rPr>
                          <m:t>Lam</m:t>
                        </m:r>
                      </m:e>
                    </m:d>
                  </m:oMath>
                </a14:m>
                <a:endParaRPr lang="en-US" sz="5000" i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en-US" sz="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0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5000" b="0" i="1">
                        <a:latin typeface="Cambria Math" panose="02040503050406030204" pitchFamily="18" charset="0"/>
                        <a:ea typeface="Cascadia Mono" panose="020B0609020000020004" pitchFamily="49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sz="5000" b="0" i="1">
                        <a:latin typeface="Cambria Math" panose="02040503050406030204" pitchFamily="18" charset="0"/>
                        <a:ea typeface="Cascadia Mono" panose="020B0609020000020004" pitchFamily="49" charset="0"/>
                        <a:cs typeface="Cambria Math" panose="02040503050406030204" pitchFamily="18" charset="0"/>
                      </a:rPr>
                      <m:t>∪</m:t>
                    </m:r>
                    <m:r>
                      <a:rPr lang="en-US" sz="5000" b="0" i="1">
                        <a:latin typeface="Cambria Math" panose="02040503050406030204" pitchFamily="18" charset="0"/>
                        <a:ea typeface="Cascadia Mono" panose="020B0609020000020004" pitchFamily="49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sz="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0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5000" b="0" i="1">
                        <a:latin typeface="Cambria Math" panose="02040503050406030204" pitchFamily="18" charset="0"/>
                        <a:ea typeface="Cascadia Mono" panose="020B0609020000020004" pitchFamily="49" charset="0"/>
                        <a:cs typeface="Times New Roman" panose="02020603050405020304" pitchFamily="18" charset="0"/>
                      </a:rPr>
                      <m:t>10</m:t>
                    </m:r>
                  </m:oMath>
                </a14:m>
                <a:r>
                  <a:rPr lang="en-US" sz="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0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phần</a:t>
                </a:r>
                <a:r>
                  <a:rPr lang="en-US" sz="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0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tử</a:t>
                </a:r>
                <a:r>
                  <a:rPr lang="en-US" sz="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50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tức</a:t>
                </a:r>
                <a:r>
                  <a:rPr lang="en-US" sz="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0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0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5000" b="0" i="1" smtClean="0">
                        <a:latin typeface="Cambria Math" panose="02040503050406030204" pitchFamily="18" charset="0"/>
                        <a:ea typeface="Cascadia Mono" panose="020B0609020000020004" pitchFamily="49" charset="0"/>
                        <a:cs typeface="Times New Roman" panose="02020603050405020304" pitchFamily="18" charset="0"/>
                      </a:rPr>
                      <m:t>10</m:t>
                    </m:r>
                  </m:oMath>
                </a14:m>
                <a:r>
                  <a:rPr lang="en-US" sz="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0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thành</a:t>
                </a:r>
                <a:r>
                  <a:rPr lang="en-US" sz="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0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viên</a:t>
                </a:r>
                <a:r>
                  <a:rPr lang="en-US" sz="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0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tham</a:t>
                </a:r>
                <a:r>
                  <a:rPr lang="en-US" sz="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0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gia</a:t>
                </a:r>
                <a:r>
                  <a:rPr lang="en-US" sz="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0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sz="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0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hoặc</a:t>
                </a:r>
                <a:r>
                  <a:rPr lang="en-US" sz="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0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0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chuyên</a:t>
                </a:r>
                <a:r>
                  <a:rPr lang="en-US" sz="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0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đề</a:t>
                </a:r>
                <a:r>
                  <a:rPr lang="en-US" sz="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algn="just">
                  <a:lnSpc>
                    <a:spcPct val="150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sz="5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Số </a:t>
                </a:r>
                <a:r>
                  <a:rPr lang="en-US" sz="50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thành</a:t>
                </a:r>
                <a:r>
                  <a:rPr lang="en-US" sz="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0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viên</a:t>
                </a:r>
                <a:r>
                  <a:rPr lang="en-US" sz="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0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vắng</a:t>
                </a:r>
                <a:r>
                  <a:rPr lang="en-US" sz="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0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mặt</a:t>
                </a:r>
                <a:r>
                  <a:rPr lang="en-US" sz="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0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0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cả</a:t>
                </a:r>
                <a:r>
                  <a:rPr lang="en-US" sz="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0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0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chuyên</a:t>
                </a:r>
                <a:r>
                  <a:rPr lang="en-US" sz="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0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đề</a:t>
                </a:r>
                <a:r>
                  <a:rPr lang="en-US" sz="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0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  <a:p>
                <a:pPr algn="ctr">
                  <a:lnSpc>
                    <a:spcPct val="150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sz="5000" b="0" i="1">
                        <a:latin typeface="Cambria Math" panose="02040503050406030204" pitchFamily="18" charset="0"/>
                        <a:ea typeface="Cascadia Mono" panose="020B0609020000020004" pitchFamily="49" charset="0"/>
                        <a:cs typeface="Times New Roman" panose="02020603050405020304" pitchFamily="18" charset="0"/>
                      </a:rPr>
                      <m:t>12−2=10</m:t>
                    </m:r>
                  </m:oMath>
                </a14:m>
                <a:r>
                  <a:rPr lang="en-US" sz="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</a:t>
                </a:r>
                <a:r>
                  <a:rPr lang="en-US" sz="50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thành</a:t>
                </a:r>
                <a:r>
                  <a:rPr lang="en-US" sz="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0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viên</a:t>
                </a:r>
                <a:r>
                  <a:rPr lang="en-US" sz="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9" name="Title 1">
                <a:extLst>
                  <a:ext uri="{FF2B5EF4-FFF2-40B4-BE49-F238E27FC236}">
                    <a16:creationId xmlns:a16="http://schemas.microsoft.com/office/drawing/2014/main" id="{DF99E993-1677-4467-B2E8-875216CF1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5" y="5426750"/>
                <a:ext cx="24076024" cy="4784050"/>
              </a:xfrm>
              <a:prstGeom prst="rect">
                <a:avLst/>
              </a:prstGeom>
              <a:blipFill>
                <a:blip r:embed="rId8"/>
                <a:stretch>
                  <a:fillRect l="-354" r="-709" b="-7497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itle 1">
                <a:extLst>
                  <a:ext uri="{FF2B5EF4-FFF2-40B4-BE49-F238E27FC236}">
                    <a16:creationId xmlns:a16="http://schemas.microsoft.com/office/drawing/2014/main" id="{DD86F37B-FE48-45A8-80BA-8A65608FA1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0249" y="11218588"/>
                <a:ext cx="24123501" cy="181161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Hãy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biểu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diễn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biểu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đồ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Ven,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HĐ1.</a:t>
                </a:r>
                <a:endParaRPr lang="en-US" sz="4800" i="1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3" name="Title 1">
                <a:extLst>
                  <a:ext uri="{FF2B5EF4-FFF2-40B4-BE49-F238E27FC236}">
                    <a16:creationId xmlns:a16="http://schemas.microsoft.com/office/drawing/2014/main" id="{DD86F37B-FE48-45A8-80BA-8A65608FA1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249" y="11218588"/>
                <a:ext cx="24123501" cy="181161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49DC20AA-1B19-4F6B-81F5-593CCF7BEC77}"/>
              </a:ext>
            </a:extLst>
          </p:cNvPr>
          <p:cNvGrpSpPr/>
          <p:nvPr/>
        </p:nvGrpSpPr>
        <p:grpSpPr>
          <a:xfrm>
            <a:off x="70241" y="10210800"/>
            <a:ext cx="6101959" cy="838200"/>
            <a:chOff x="22440" y="16831"/>
            <a:chExt cx="850471" cy="23000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B954905-80D0-4FD9-AEB9-716571B5F431}"/>
                </a:ext>
              </a:extLst>
            </p:cNvPr>
            <p:cNvGrpSpPr/>
            <p:nvPr/>
          </p:nvGrpSpPr>
          <p:grpSpPr>
            <a:xfrm>
              <a:off x="22440" y="59287"/>
              <a:ext cx="850471" cy="159855"/>
              <a:chOff x="31572" y="60276"/>
              <a:chExt cx="1196628" cy="197828"/>
            </a:xfrm>
          </p:grpSpPr>
          <p:sp>
            <p:nvSpPr>
              <p:cNvPr id="38" name="Arrow: Pentagon 37">
                <a:extLst>
                  <a:ext uri="{FF2B5EF4-FFF2-40B4-BE49-F238E27FC236}">
                    <a16:creationId xmlns:a16="http://schemas.microsoft.com/office/drawing/2014/main" id="{1C23FFA7-9932-4958-B369-AAF653CD217B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" name="Arrow: Chevron 38">
                <a:extLst>
                  <a:ext uri="{FF2B5EF4-FFF2-40B4-BE49-F238E27FC236}">
                    <a16:creationId xmlns:a16="http://schemas.microsoft.com/office/drawing/2014/main" id="{3CF7B87F-4828-4085-8D84-2C2B9E7469C8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0" name="Arrow: Chevron 39">
                <a:extLst>
                  <a:ext uri="{FF2B5EF4-FFF2-40B4-BE49-F238E27FC236}">
                    <a16:creationId xmlns:a16="http://schemas.microsoft.com/office/drawing/2014/main" id="{1A998972-785D-4661-AACE-126A9B7ABC14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37" name="TextBox 56">
              <a:extLst>
                <a:ext uri="{FF2B5EF4-FFF2-40B4-BE49-F238E27FC236}">
                  <a16:creationId xmlns:a16="http://schemas.microsoft.com/office/drawing/2014/main" id="{BB393165-F60E-44A8-9C60-B4B7DF1BEF7B}"/>
                </a:ext>
              </a:extLst>
            </p:cNvPr>
            <p:cNvSpPr txBox="1"/>
            <p:nvPr/>
          </p:nvSpPr>
          <p:spPr>
            <a:xfrm>
              <a:off x="188148" y="16831"/>
              <a:ext cx="591618" cy="23000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Luyện</a:t>
              </a:r>
              <a:r>
                <a:rPr kumimoji="0" lang="en-US" sz="4800" b="1" i="0" u="none" strike="noStrike" kern="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en-US" sz="4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tập</a:t>
              </a:r>
              <a:r>
                <a:rPr kumimoji="0" lang="en-US" sz="4800" b="1" i="0" u="none" strike="noStrike" kern="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6</a:t>
              </a:r>
              <a:endPara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42" name="Rounded Rectangle 41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   ·   BÀI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1586650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9" grpId="0" animBg="1"/>
      <p:bldP spid="3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72656" y="2609100"/>
            <a:ext cx="23998299" cy="20686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4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HĐ 9: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Trở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lại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tình</a:t>
            </a:r>
            <a:r>
              <a:rPr lang="en-US" sz="4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huống</a:t>
            </a:r>
            <a:r>
              <a:rPr lang="en-US" sz="4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mở</a:t>
            </a:r>
            <a:r>
              <a:rPr lang="en-US" sz="4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đầu</a:t>
            </a:r>
            <a:r>
              <a:rPr lang="en-US" sz="4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hãy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xác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định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tập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hợp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thành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viên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chỉ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tham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Chuyên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đề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mà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không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tham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Chuyên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đề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4797" y="4753461"/>
                <a:ext cx="16230600" cy="370200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Hiệu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𝑆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𝑇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gồm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phần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tử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𝑆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𝑇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hiệu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à </m:t>
                        </m:r>
                        <m:r>
                          <a:rPr lang="en-US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∉</m:t>
                        </m:r>
                        <m:r>
                          <a:rPr lang="en-US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0000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797" y="4753461"/>
                <a:ext cx="16230600" cy="3702002"/>
              </a:xfrm>
              <a:prstGeom prst="rect">
                <a:avLst/>
              </a:prstGeom>
              <a:blipFill>
                <a:blip r:embed="rId3"/>
                <a:stretch>
                  <a:fillRect l="-1651" b="-2956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itle 1">
                <a:extLst>
                  <a:ext uri="{FF2B5EF4-FFF2-40B4-BE49-F238E27FC236}">
                    <a16:creationId xmlns:a16="http://schemas.microsoft.com/office/drawing/2014/main" id="{A0FFD6F1-1E11-4685-A37D-32BB2953D2E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7654" y="8501393"/>
                <a:ext cx="16225345" cy="206868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Nếu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con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thì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\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còn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Phần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bù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Ký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hiệu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b="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4800" b="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4800" b="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sz="4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9" name="Title 1">
                <a:extLst>
                  <a:ext uri="{FF2B5EF4-FFF2-40B4-BE49-F238E27FC236}">
                    <a16:creationId xmlns:a16="http://schemas.microsoft.com/office/drawing/2014/main" id="{A0FFD6F1-1E11-4685-A37D-32BB2953D2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654" y="8501393"/>
                <a:ext cx="16225345" cy="2068685"/>
              </a:xfrm>
              <a:prstGeom prst="rect">
                <a:avLst/>
              </a:prstGeom>
              <a:blipFill>
                <a:blip r:embed="rId4"/>
                <a:stretch>
                  <a:fillRect l="-1690" b="-71554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itle 1">
            <a:extLst>
              <a:ext uri="{FF2B5EF4-FFF2-40B4-BE49-F238E27FC236}">
                <a16:creationId xmlns:a16="http://schemas.microsoft.com/office/drawing/2014/main" id="{B82E6C73-04DF-4001-BE8C-B0C296D3BBEE}"/>
              </a:ext>
            </a:extLst>
          </p:cNvPr>
          <p:cNvSpPr txBox="1">
            <a:spLocks/>
          </p:cNvSpPr>
          <p:nvPr/>
        </p:nvSpPr>
        <p:spPr>
          <a:xfrm>
            <a:off x="72656" y="1723433"/>
            <a:ext cx="8134815" cy="8592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c. </a:t>
            </a:r>
            <a:r>
              <a:rPr lang="en-US" sz="4800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Hiệu</a:t>
            </a:r>
            <a:r>
              <a:rPr lang="en-US" sz="4800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4800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hai</a:t>
            </a:r>
            <a:r>
              <a:rPr lang="en-US" sz="4800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tập</a:t>
            </a:r>
            <a:r>
              <a:rPr lang="en-US" sz="4800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hợp</a:t>
            </a:r>
            <a:endParaRPr lang="en-US" sz="4800" b="1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D3E56F-9D84-48EA-862D-779CEE7760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22955" y="4947835"/>
            <a:ext cx="6605174" cy="35535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01217D6-A5E6-4A1E-864C-8D60D9D1AA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58442" y="8771443"/>
            <a:ext cx="6934200" cy="34763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itle 1">
                <a:extLst>
                  <a:ext uri="{FF2B5EF4-FFF2-40B4-BE49-F238E27FC236}">
                    <a16:creationId xmlns:a16="http://schemas.microsoft.com/office/drawing/2014/main" id="{8B06A32A-08C6-4ED7-AABE-FA8D90E3728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0283" y="11982433"/>
                <a:ext cx="5173718" cy="134243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 anchor="ctr"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r>
                  <a:rPr lang="en-US" b="1" dirty="0">
                    <a:solidFill>
                      <a:srgbClr val="FF0000"/>
                    </a:solidFill>
                  </a:rPr>
                  <a:t>Chú ý: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b="1" dirty="0">
                    <a:solidFill>
                      <a:srgbClr val="0000FF"/>
                    </a:solidFill>
                  </a:rPr>
                  <a:t>.</a:t>
                </a:r>
                <a:endParaRPr lang="en-US" b="1" dirty="0"/>
              </a:p>
            </p:txBody>
          </p:sp>
        </mc:Choice>
        <mc:Fallback xmlns="">
          <p:sp>
            <p:nvSpPr>
              <p:cNvPr id="18" name="Title 1">
                <a:extLst>
                  <a:ext uri="{FF2B5EF4-FFF2-40B4-BE49-F238E27FC236}">
                    <a16:creationId xmlns:a16="http://schemas.microsoft.com/office/drawing/2014/main" id="{8B06A32A-08C6-4ED7-AABE-FA8D90E372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83" y="11982433"/>
                <a:ext cx="5173718" cy="1342434"/>
              </a:xfrm>
              <a:prstGeom prst="rect">
                <a:avLst/>
              </a:prstGeom>
              <a:blipFill>
                <a:blip r:embed="rId7"/>
                <a:stretch>
                  <a:fillRect l="-6110" b="-8108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   ·   BÀI 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5771797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  <p:bldP spid="29" grpId="0" animBg="1"/>
      <p:bldP spid="1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9F4D16C-3347-4966-AFF3-C9914530F1CA}"/>
              </a:ext>
            </a:extLst>
          </p:cNvPr>
          <p:cNvGrpSpPr/>
          <p:nvPr/>
        </p:nvGrpSpPr>
        <p:grpSpPr>
          <a:xfrm>
            <a:off x="-28903" y="1696740"/>
            <a:ext cx="4425559" cy="811277"/>
            <a:chOff x="22440" y="16831"/>
            <a:chExt cx="850471" cy="23000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B946DCC-7DA7-4958-8493-F1951E8F50DB}"/>
                </a:ext>
              </a:extLst>
            </p:cNvPr>
            <p:cNvGrpSpPr/>
            <p:nvPr/>
          </p:nvGrpSpPr>
          <p:grpSpPr>
            <a:xfrm>
              <a:off x="22440" y="59287"/>
              <a:ext cx="850471" cy="159855"/>
              <a:chOff x="31572" y="60276"/>
              <a:chExt cx="1196628" cy="197828"/>
            </a:xfrm>
          </p:grpSpPr>
          <p:sp>
            <p:nvSpPr>
              <p:cNvPr id="8" name="Arrow: Pentagon 7">
                <a:extLst>
                  <a:ext uri="{FF2B5EF4-FFF2-40B4-BE49-F238E27FC236}">
                    <a16:creationId xmlns:a16="http://schemas.microsoft.com/office/drawing/2014/main" id="{1F738B7B-D940-45B4-A6CA-10335E11982B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Arrow: Chevron 8">
                <a:extLst>
                  <a:ext uri="{FF2B5EF4-FFF2-40B4-BE49-F238E27FC236}">
                    <a16:creationId xmlns:a16="http://schemas.microsoft.com/office/drawing/2014/main" id="{B322093B-541B-4915-9806-73F64C11C2DA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" name="Arrow: Chevron 9">
                <a:extLst>
                  <a:ext uri="{FF2B5EF4-FFF2-40B4-BE49-F238E27FC236}">
                    <a16:creationId xmlns:a16="http://schemas.microsoft.com/office/drawing/2014/main" id="{E53FBFBD-2F5C-4886-8956-19E85CCDA0BB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6" name="TextBox 56">
              <a:extLst>
                <a:ext uri="{FF2B5EF4-FFF2-40B4-BE49-F238E27FC236}">
                  <a16:creationId xmlns:a16="http://schemas.microsoft.com/office/drawing/2014/main" id="{4A0823DC-8E1B-43F3-A190-6301666D4CF8}"/>
                </a:ext>
              </a:extLst>
            </p:cNvPr>
            <p:cNvSpPr txBox="1"/>
            <p:nvPr/>
          </p:nvSpPr>
          <p:spPr>
            <a:xfrm>
              <a:off x="188148" y="16831"/>
              <a:ext cx="591618" cy="23000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4800" b="1" dirty="0" err="1">
                  <a:solidFill>
                    <a:srgbClr val="0000C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Ví</a:t>
              </a:r>
              <a:r>
                <a:rPr lang="en-US" sz="4800" b="1" dirty="0">
                  <a:solidFill>
                    <a:srgbClr val="0000C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800" b="1" dirty="0" err="1">
                  <a:solidFill>
                    <a:srgbClr val="0000C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dụ</a:t>
              </a:r>
              <a:r>
                <a:rPr lang="en-US" sz="4800" b="1" dirty="0">
                  <a:solidFill>
                    <a:srgbClr val="0000C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9</a:t>
              </a:r>
              <a:endPara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D25C9BD7-CED4-4BCF-9F0F-1336097762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457200"/>
          <a:ext cx="15875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2268" imgH="164957" progId="Equation.DSMT4">
                  <p:embed/>
                </p:oleObj>
              </mc:Choice>
              <mc:Fallback>
                <p:oleObj name="Equation" r:id="rId3" imgW="152268" imgH="164957" progId="Equation.DSMT4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D25C9BD7-CED4-4BCF-9F0F-1336097762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57200"/>
                        <a:ext cx="158750" cy="165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3A7BD65B-61B2-443D-8FA2-D0DD077D7E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622300"/>
          <a:ext cx="15875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268" imgH="164957" progId="Equation.DSMT4">
                  <p:embed/>
                </p:oleObj>
              </mc:Choice>
              <mc:Fallback>
                <p:oleObj name="Equation" r:id="rId5" imgW="152268" imgH="164957" progId="Equation.DSMT4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3A7BD65B-61B2-443D-8FA2-D0DD077D7E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22300"/>
                        <a:ext cx="158750" cy="165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itle 1">
                <a:extLst>
                  <a:ext uri="{FF2B5EF4-FFF2-40B4-BE49-F238E27FC236}">
                    <a16:creationId xmlns:a16="http://schemas.microsoft.com/office/drawing/2014/main" id="{A524E200-3AB8-483B-9045-AD5CFB697F8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654" y="2451033"/>
                <a:ext cx="24123501" cy="459558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 algn="just"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4800" b="0" i="1" dirty="0" smtClean="0">
                        <a:latin typeface="Cambria Math" panose="02040503050406030204" pitchFamily="18" charset="0"/>
                      </a:rPr>
                      <m:t>={−2; 3; 5; 6}, </m:t>
                    </m:r>
                    <m:r>
                      <a:rPr lang="en-US" sz="48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4800" b="0" i="1" dirty="0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4800" b="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4800" b="0" i="1" dirty="0" err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4800" b="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4800" b="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4800" b="0" i="0" dirty="0" err="1"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sz="4800" b="0" i="0" dirty="0" err="1">
                        <a:latin typeface="Cambria Math" panose="02040503050406030204" pitchFamily="18" charset="0"/>
                      </a:rPr>
                      <m:t>à </m:t>
                    </m:r>
                    <m:r>
                      <m:rPr>
                        <m:sty m:val="p"/>
                      </m:rPr>
                      <a:rPr lang="en-US" sz="4800" b="0" i="0" dirty="0" err="1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4800" b="0" i="0" dirty="0" err="1">
                        <a:latin typeface="Cambria Math" panose="02040503050406030204" pitchFamily="18" charset="0"/>
                      </a:rPr>
                      <m:t>ố </m:t>
                    </m:r>
                    <m:r>
                      <m:rPr>
                        <m:sty m:val="p"/>
                      </m:rPr>
                      <a:rPr lang="en-US" sz="4800" b="0" i="0" dirty="0" err="1">
                        <a:latin typeface="Cambria Math" panose="02040503050406030204" pitchFamily="18" charset="0"/>
                      </a:rPr>
                      <m:t>nguy</m:t>
                    </m:r>
                    <m:r>
                      <a:rPr lang="en-US" sz="4800" b="0" i="0" dirty="0" err="1">
                        <a:latin typeface="Cambria Math" panose="02040503050406030204" pitchFamily="18" charset="0"/>
                      </a:rPr>
                      <m:t>ê</m:t>
                    </m:r>
                    <m:r>
                      <m:rPr>
                        <m:sty m:val="p"/>
                      </m:rPr>
                      <a:rPr lang="en-US" sz="4800" b="0" i="0" dirty="0" err="1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4800" b="0" i="0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4800" b="0" i="0" dirty="0" err="1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4800" b="0" i="0" dirty="0" err="1">
                        <a:latin typeface="Cambria Math" panose="02040503050406030204" pitchFamily="18" charset="0"/>
                      </a:rPr>
                      <m:t>ố </m:t>
                    </m:r>
                    <m:r>
                      <m:rPr>
                        <m:sty m:val="p"/>
                      </m:rPr>
                      <a:rPr lang="en-US" sz="4800" b="0" i="0" dirty="0" err="1">
                        <a:latin typeface="Cambria Math" panose="02040503050406030204" pitchFamily="18" charset="0"/>
                      </a:rPr>
                      <m:t>nh</m:t>
                    </m:r>
                    <m:r>
                      <a:rPr lang="en-US" sz="4800" b="0" i="0" dirty="0" err="1">
                        <a:latin typeface="Cambria Math" panose="02040503050406030204" pitchFamily="18" charset="0"/>
                      </a:rPr>
                      <m:t>ỏ </m:t>
                    </m:r>
                    <m:r>
                      <m:rPr>
                        <m:sty m:val="p"/>
                      </m:rPr>
                      <a:rPr lang="en-US" sz="4800" b="0" i="0" dirty="0" err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4800" b="0" i="0" dirty="0" err="1">
                        <a:latin typeface="Cambria Math" panose="02040503050406030204" pitchFamily="18" charset="0"/>
                      </a:rPr>
                      <m:t>ơ</m:t>
                    </m:r>
                    <m:r>
                      <m:rPr>
                        <m:sty m:val="p"/>
                      </m:rPr>
                      <a:rPr lang="en-US" sz="4800" b="0" i="0" dirty="0" err="1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4800" b="0" i="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4800" b="0" i="1" dirty="0">
                        <a:latin typeface="Cambria Math" panose="02040503050406030204" pitchFamily="18" charset="0"/>
                      </a:rPr>
                      <m:t>10}, </m:t>
                    </m:r>
                  </m:oMath>
                </a14:m>
                <a:endParaRPr lang="en-US" sz="4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algn="ctr">
                  <a:lnSpc>
                    <a:spcPct val="150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4800" b="0" i="1" dirty="0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sz="4800" b="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4800" b="0" i="1" dirty="0" err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4800" b="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4800" b="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4800" b="0" i="0" dirty="0" err="1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en-US" sz="4800" b="0" i="0" dirty="0" err="1">
                          <a:latin typeface="Cambria Math" panose="02040503050406030204" pitchFamily="18" charset="0"/>
                        </a:rPr>
                        <m:t>à </m:t>
                      </m:r>
                      <m:r>
                        <m:rPr>
                          <m:sty m:val="p"/>
                        </m:rPr>
                        <a:rPr lang="en-US" sz="4800" b="0" i="0" dirty="0" err="1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sz="4800" b="0" i="0" dirty="0" err="1">
                          <a:latin typeface="Cambria Math" panose="02040503050406030204" pitchFamily="18" charset="0"/>
                        </a:rPr>
                        <m:t>ố </m:t>
                      </m:r>
                      <m:r>
                        <m:rPr>
                          <m:sty m:val="p"/>
                        </m:rPr>
                        <a:rPr lang="en-US" sz="4800" b="0" i="0" dirty="0" err="1">
                          <a:latin typeface="Cambria Math" panose="02040503050406030204" pitchFamily="18" charset="0"/>
                        </a:rPr>
                        <m:t>nguy</m:t>
                      </m:r>
                      <m:r>
                        <a:rPr lang="en-US" sz="4800" b="0" i="0" dirty="0" err="1">
                          <a:latin typeface="Cambria Math" panose="02040503050406030204" pitchFamily="18" charset="0"/>
                        </a:rPr>
                        <m:t>ê</m:t>
                      </m:r>
                      <m:r>
                        <m:rPr>
                          <m:sty m:val="p"/>
                        </m:rPr>
                        <a:rPr lang="en-US" sz="4800" b="0" i="0" dirty="0" err="1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4800" b="0" i="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4800" b="0" i="0" dirty="0" err="1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4800" b="0" i="0" dirty="0" err="1">
                          <a:latin typeface="Cambria Math" panose="02040503050406030204" pitchFamily="18" charset="0"/>
                        </a:rPr>
                        <m:t>ươ</m:t>
                      </m:r>
                      <m:r>
                        <m:rPr>
                          <m:sty m:val="p"/>
                        </m:rPr>
                        <a:rPr lang="en-US" sz="4800" b="0" i="0" dirty="0" err="1">
                          <a:latin typeface="Cambria Math" panose="02040503050406030204" pitchFamily="18" charset="0"/>
                        </a:rPr>
                        <m:t>ng</m:t>
                      </m:r>
                      <m:r>
                        <a:rPr lang="en-US" sz="4800" b="0" i="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4800" b="0" i="0" dirty="0" err="1">
                          <a:latin typeface="Cambria Math" panose="02040503050406030204" pitchFamily="18" charset="0"/>
                        </a:rPr>
                        <m:t>nh</m:t>
                      </m:r>
                      <m:r>
                        <a:rPr lang="en-US" sz="4800" b="0" i="0" dirty="0" err="1">
                          <a:latin typeface="Cambria Math" panose="02040503050406030204" pitchFamily="18" charset="0"/>
                        </a:rPr>
                        <m:t>ỏ </m:t>
                      </m:r>
                      <m:r>
                        <m:rPr>
                          <m:sty m:val="p"/>
                        </m:rPr>
                        <a:rPr lang="en-US" sz="4800" b="0" i="0" dirty="0" err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4800" b="0" i="0" dirty="0" err="1">
                          <a:latin typeface="Cambria Math" panose="02040503050406030204" pitchFamily="18" charset="0"/>
                        </a:rPr>
                        <m:t>ơ</m:t>
                      </m:r>
                      <m:r>
                        <m:rPr>
                          <m:sty m:val="p"/>
                        </m:rPr>
                        <a:rPr lang="en-US" sz="4800" b="0" i="0" dirty="0" err="1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4800" b="0" i="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800" b="0" i="1" dirty="0">
                          <a:latin typeface="Cambria Math" panose="02040503050406030204" pitchFamily="18" charset="0"/>
                        </a:rPr>
                        <m:t>10}</m:t>
                      </m:r>
                    </m:oMath>
                  </m:oMathPara>
                </a14:m>
                <a:endParaRPr lang="en-US" sz="4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914400" indent="-914400">
                  <a:lnSpc>
                    <a:spcPct val="150000"/>
                  </a:lnSpc>
                  <a:spcAft>
                    <a:spcPts val="800"/>
                  </a:spcAft>
                  <a:buAutoNum type="alphaLcPeriod"/>
                </a:pP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4800" b="0" i="1" dirty="0" smtClean="0">
                        <a:latin typeface="Cambria Math" panose="02040503050406030204" pitchFamily="18" charset="0"/>
                      </a:rPr>
                      <m:t>\</m:t>
                    </m:r>
                    <m:r>
                      <a:rPr lang="en-US" sz="4800" b="0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48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4800" b="0" i="1" dirty="0" smtClean="0">
                        <a:latin typeface="Cambria Math" panose="02040503050406030204" pitchFamily="18" charset="0"/>
                      </a:rPr>
                      <m:t>\</m:t>
                    </m:r>
                    <m:r>
                      <a:rPr lang="en-US" sz="4800" b="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914400" indent="-914400">
                  <a:lnSpc>
                    <a:spcPct val="150000"/>
                  </a:lnSpc>
                  <a:spcAft>
                    <a:spcPts val="800"/>
                  </a:spcAft>
                  <a:buAutoNum type="alphaLcPeriod"/>
                </a:pPr>
                <a14:m>
                  <m:oMath xmlns:m="http://schemas.openxmlformats.org/officeDocument/2006/math">
                    <m:r>
                      <a:rPr lang="en-US" sz="48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48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con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?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Hãy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phần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bù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0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nếu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).</a:t>
                </a:r>
              </a:p>
            </p:txBody>
          </p:sp>
        </mc:Choice>
        <mc:Fallback xmlns="">
          <p:sp>
            <p:nvSpPr>
              <p:cNvPr id="22" name="Title 1">
                <a:extLst>
                  <a:ext uri="{FF2B5EF4-FFF2-40B4-BE49-F238E27FC236}">
                    <a16:creationId xmlns:a16="http://schemas.microsoft.com/office/drawing/2014/main" id="{A524E200-3AB8-483B-9045-AD5CFB697F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4" y="2451033"/>
                <a:ext cx="24123501" cy="4595589"/>
              </a:xfrm>
              <a:prstGeom prst="rect">
                <a:avLst/>
              </a:prstGeom>
              <a:blipFill>
                <a:blip r:embed="rId8"/>
                <a:stretch>
                  <a:fillRect l="-1137" b="-7804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49DC20AA-1B19-4F6B-81F5-593CCF7BEC77}"/>
              </a:ext>
            </a:extLst>
          </p:cNvPr>
          <p:cNvGrpSpPr/>
          <p:nvPr/>
        </p:nvGrpSpPr>
        <p:grpSpPr>
          <a:xfrm>
            <a:off x="222285" y="7137115"/>
            <a:ext cx="4892881" cy="1082336"/>
            <a:chOff x="22440" y="16831"/>
            <a:chExt cx="850471" cy="23000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B954905-80D0-4FD9-AEB9-716571B5F431}"/>
                </a:ext>
              </a:extLst>
            </p:cNvPr>
            <p:cNvGrpSpPr/>
            <p:nvPr/>
          </p:nvGrpSpPr>
          <p:grpSpPr>
            <a:xfrm>
              <a:off x="22440" y="59287"/>
              <a:ext cx="850471" cy="159855"/>
              <a:chOff x="31572" y="60276"/>
              <a:chExt cx="1196628" cy="197828"/>
            </a:xfrm>
          </p:grpSpPr>
          <p:sp>
            <p:nvSpPr>
              <p:cNvPr id="38" name="Arrow: Pentagon 37">
                <a:extLst>
                  <a:ext uri="{FF2B5EF4-FFF2-40B4-BE49-F238E27FC236}">
                    <a16:creationId xmlns:a16="http://schemas.microsoft.com/office/drawing/2014/main" id="{1C23FFA7-9932-4958-B369-AAF653CD217B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" name="Arrow: Chevron 38">
                <a:extLst>
                  <a:ext uri="{FF2B5EF4-FFF2-40B4-BE49-F238E27FC236}">
                    <a16:creationId xmlns:a16="http://schemas.microsoft.com/office/drawing/2014/main" id="{3CF7B87F-4828-4085-8D84-2C2B9E7469C8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0" name="Arrow: Chevron 39">
                <a:extLst>
                  <a:ext uri="{FF2B5EF4-FFF2-40B4-BE49-F238E27FC236}">
                    <a16:creationId xmlns:a16="http://schemas.microsoft.com/office/drawing/2014/main" id="{1A998972-785D-4661-AACE-126A9B7ABC14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37" name="TextBox 56">
              <a:extLst>
                <a:ext uri="{FF2B5EF4-FFF2-40B4-BE49-F238E27FC236}">
                  <a16:creationId xmlns:a16="http://schemas.microsoft.com/office/drawing/2014/main" id="{BB393165-F60E-44A8-9C60-B4B7DF1BEF7B}"/>
                </a:ext>
              </a:extLst>
            </p:cNvPr>
            <p:cNvSpPr txBox="1"/>
            <p:nvPr/>
          </p:nvSpPr>
          <p:spPr>
            <a:xfrm>
              <a:off x="188148" y="16831"/>
              <a:ext cx="591618" cy="23000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Giải</a:t>
              </a:r>
              <a:endPara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itle 1">
                <a:extLst>
                  <a:ext uri="{FF2B5EF4-FFF2-40B4-BE49-F238E27FC236}">
                    <a16:creationId xmlns:a16="http://schemas.microsoft.com/office/drawing/2014/main" id="{9F758B5B-1AD7-4E93-9960-41BA01E04A4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9315" y="8309943"/>
                <a:ext cx="23975840" cy="261101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 algn="just"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a. Ta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4800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4800" b="0" i="1" dirty="0" smtClean="0">
                        <a:latin typeface="Cambria Math" panose="02040503050406030204" pitchFamily="18" charset="0"/>
                      </a:rPr>
                      <m:t>= {−2; 3; 5; 6}, </m:t>
                    </m:r>
                    <m:r>
                      <a:rPr lang="en-US" sz="48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4800" b="0" i="1" dirty="0" smtClean="0">
                        <a:latin typeface="Cambria Math" panose="02040503050406030204" pitchFamily="18" charset="0"/>
                      </a:rPr>
                      <m:t>= { 2; 3; 5; 7}</m:t>
                    </m:r>
                  </m:oMath>
                </a14:m>
                <a:endParaRPr lang="en-US" sz="4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Do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4800" b="0" i="1" dirty="0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𝐷</m:t>
                    </m:r>
                    <m:r>
                      <a:rPr lang="en-US" sz="4800" b="0" i="1" dirty="0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\</m:t>
                    </m:r>
                    <m:r>
                      <a:rPr lang="en-US" sz="4800" b="0" i="1" dirty="0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𝐸</m:t>
                    </m:r>
                    <m:r>
                      <a:rPr lang="en-US" sz="4800" b="0" i="1" dirty="0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 {−2; 6}, </m:t>
                    </m:r>
                    <m:r>
                      <a:rPr lang="en-US" sz="4800" b="0" i="1" dirty="0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𝐸</m:t>
                    </m:r>
                    <m:r>
                      <a:rPr lang="en-US" sz="4800" b="0" i="1" dirty="0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\</m:t>
                    </m:r>
                    <m:r>
                      <a:rPr lang="en-US" sz="4800" b="0" i="1" dirty="0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𝐷</m:t>
                    </m:r>
                    <m:r>
                      <a:rPr lang="en-US" sz="4800" b="0" i="1" dirty="0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 = {2;7} </m:t>
                    </m:r>
                  </m:oMath>
                </a14:m>
                <a:endParaRPr lang="en-US" sz="4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4" name="Title 1">
                <a:extLst>
                  <a:ext uri="{FF2B5EF4-FFF2-40B4-BE49-F238E27FC236}">
                    <a16:creationId xmlns:a16="http://schemas.microsoft.com/office/drawing/2014/main" id="{9F758B5B-1AD7-4E93-9960-41BA01E04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315" y="8309943"/>
                <a:ext cx="23975840" cy="2611014"/>
              </a:xfrm>
              <a:prstGeom prst="rect">
                <a:avLst/>
              </a:prstGeom>
              <a:blipFill>
                <a:blip r:embed="rId9"/>
                <a:stretch>
                  <a:fillRect l="-1118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itle 1">
                <a:extLst>
                  <a:ext uri="{FF2B5EF4-FFF2-40B4-BE49-F238E27FC236}">
                    <a16:creationId xmlns:a16="http://schemas.microsoft.com/office/drawing/2014/main" id="{6862A933-236E-479D-A1A6-0E0897FA0D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9315" y="10926744"/>
                <a:ext cx="23975840" cy="2479637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 algn="just"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b. Ta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: </a:t>
                </a:r>
                <a14:m>
                  <m:oMath xmlns:m="http://schemas.openxmlformats.org/officeDocument/2006/math">
                    <m:r>
                      <a:rPr lang="en-US" sz="4800" b="0" i="1" dirty="0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𝑋</m:t>
                    </m:r>
                    <m:r>
                      <a:rPr lang="en-US" sz="4800" b="0" i="1" dirty="0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 {1; 2; 3; 4; 5; 6; 7; 8; 9} </m:t>
                    </m:r>
                  </m:oMath>
                </a14:m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0" i="1" dirty="0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𝐸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con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0" i="1" dirty="0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𝑋</m:t>
                    </m:r>
                  </m:oMath>
                </a14:m>
                <a:endParaRPr lang="en-US" sz="4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Vậy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phần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bù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0" i="1" dirty="0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𝐸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0" i="1" dirty="0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𝑋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4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sz="48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4800" b="0" i="1" dirty="0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</m:t>
                    </m:r>
                    <m:r>
                      <a:rPr lang="en-US" sz="4800" b="0" i="1" dirty="0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𝑋</m:t>
                    </m:r>
                    <m:r>
                      <a:rPr lang="en-US" sz="4800" b="0" i="1" dirty="0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\</m:t>
                    </m:r>
                    <m:r>
                      <a:rPr lang="en-US" sz="4800" b="0" i="1" dirty="0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𝐸</m:t>
                    </m:r>
                    <m:r>
                      <a:rPr lang="en-US" sz="4800" b="0" i="1" dirty="0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 = {1; 4; 6; 8; 9}</m:t>
                    </m:r>
                  </m:oMath>
                </a14:m>
                <a:endParaRPr lang="en-US" sz="4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5" name="Title 1">
                <a:extLst>
                  <a:ext uri="{FF2B5EF4-FFF2-40B4-BE49-F238E27FC236}">
                    <a16:creationId xmlns:a16="http://schemas.microsoft.com/office/drawing/2014/main" id="{6862A933-236E-479D-A1A6-0E0897FA0D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315" y="10926744"/>
                <a:ext cx="23975840" cy="2479637"/>
              </a:xfrm>
              <a:prstGeom prst="rect">
                <a:avLst/>
              </a:prstGeom>
              <a:blipFill>
                <a:blip r:embed="rId10"/>
                <a:stretch>
                  <a:fillRect l="-1118" b="-3178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ounded Rectangle 41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   ·   BÀI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1049267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 animBg="1"/>
      <p:bldP spid="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1C7D032-4956-474E-B8E6-34A5FCC154A4}"/>
              </a:ext>
            </a:extLst>
          </p:cNvPr>
          <p:cNvGrpSpPr/>
          <p:nvPr/>
        </p:nvGrpSpPr>
        <p:grpSpPr>
          <a:xfrm>
            <a:off x="704850" y="1828800"/>
            <a:ext cx="4705350" cy="1429205"/>
            <a:chOff x="22440" y="59288"/>
            <a:chExt cx="1028769" cy="15966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91B7FEE-EE85-4C97-A7EA-BBE5C68D16E1}"/>
                </a:ext>
              </a:extLst>
            </p:cNvPr>
            <p:cNvGrpSpPr/>
            <p:nvPr/>
          </p:nvGrpSpPr>
          <p:grpSpPr>
            <a:xfrm>
              <a:off x="22440" y="59288"/>
              <a:ext cx="953655" cy="159667"/>
              <a:chOff x="31572" y="60276"/>
              <a:chExt cx="1341810" cy="197595"/>
            </a:xfrm>
          </p:grpSpPr>
          <p:sp>
            <p:nvSpPr>
              <p:cNvPr id="24" name="Arrow: Pentagon 23">
                <a:extLst>
                  <a:ext uri="{FF2B5EF4-FFF2-40B4-BE49-F238E27FC236}">
                    <a16:creationId xmlns:a16="http://schemas.microsoft.com/office/drawing/2014/main" id="{9A13AE1C-5F91-48FA-AFA8-3E80B9798BDF}"/>
                  </a:ext>
                </a:extLst>
              </p:cNvPr>
              <p:cNvSpPr/>
              <p:nvPr/>
            </p:nvSpPr>
            <p:spPr>
              <a:xfrm>
                <a:off x="204506" y="61809"/>
                <a:ext cx="1168876" cy="196062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5000" b="1" kern="1200">
                    <a:solidFill>
                      <a:srgbClr val="0000CC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Arrow: Chevron 24">
                <a:extLst>
                  <a:ext uri="{FF2B5EF4-FFF2-40B4-BE49-F238E27FC236}">
                    <a16:creationId xmlns:a16="http://schemas.microsoft.com/office/drawing/2014/main" id="{5BA5F1BD-CE26-49B5-8B31-546339E9E353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 sz="5000"/>
              </a:p>
            </p:txBody>
          </p:sp>
          <p:sp>
            <p:nvSpPr>
              <p:cNvPr id="26" name="Arrow: Chevron 25">
                <a:extLst>
                  <a:ext uri="{FF2B5EF4-FFF2-40B4-BE49-F238E27FC236}">
                    <a16:creationId xmlns:a16="http://schemas.microsoft.com/office/drawing/2014/main" id="{6E99A209-2CD8-4A45-A1B8-120AE289016D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 sz="5000"/>
              </a:p>
            </p:txBody>
          </p:sp>
        </p:grpSp>
        <p:sp>
          <p:nvSpPr>
            <p:cNvPr id="23" name="TextBox 56">
              <a:extLst>
                <a:ext uri="{FF2B5EF4-FFF2-40B4-BE49-F238E27FC236}">
                  <a16:creationId xmlns:a16="http://schemas.microsoft.com/office/drawing/2014/main" id="{B73C034F-9274-4B00-BCC4-098901CD8041}"/>
                </a:ext>
              </a:extLst>
            </p:cNvPr>
            <p:cNvSpPr txBox="1"/>
            <p:nvPr/>
          </p:nvSpPr>
          <p:spPr>
            <a:xfrm>
              <a:off x="145348" y="77280"/>
              <a:ext cx="905861" cy="9364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5000" b="1" kern="1200" dirty="0" err="1">
                  <a:solidFill>
                    <a:srgbClr val="0000CC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Luyện</a:t>
              </a:r>
              <a:r>
                <a:rPr lang="en-US" sz="5000" b="1" kern="1200" dirty="0">
                  <a:solidFill>
                    <a:srgbClr val="0000CC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5000" b="1" kern="1200" dirty="0" err="1">
                  <a:solidFill>
                    <a:srgbClr val="0000CC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tập</a:t>
              </a:r>
              <a:r>
                <a:rPr lang="en-US" sz="5000" b="1" kern="1200" dirty="0">
                  <a:solidFill>
                    <a:srgbClr val="0000CC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7.</a:t>
              </a:r>
              <a:endParaRPr lang="en-US" sz="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F577B00-2968-4BF5-AE20-3D246BE5386E}"/>
                  </a:ext>
                </a:extLst>
              </p:cNvPr>
              <p:cNvSpPr/>
              <p:nvPr/>
            </p:nvSpPr>
            <p:spPr>
              <a:xfrm>
                <a:off x="5066646" y="1447800"/>
                <a:ext cx="19086126" cy="1862179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 anchor="ctr"/>
              <a:lstStyle/>
              <a:p>
                <a:pPr algn="ctr" defTabSz="1828800">
                  <a:lnSpc>
                    <a:spcPct val="90000"/>
                  </a:lnSpc>
                  <a:spcBef>
                    <a:spcPts val="2000"/>
                  </a:spcBef>
                </a:pP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phần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bù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của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endParaRPr lang="en-US" sz="4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algn="ctr" defTabSz="1828800">
                  <a:lnSpc>
                    <a:spcPct val="90000"/>
                  </a:lnSpc>
                  <a:spcBef>
                    <a:spcPts val="2000"/>
                  </a:spcBef>
                </a:pP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sz="4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sz="4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4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−∞;−2</m:t>
                        </m:r>
                      </m:e>
                    </m:d>
                  </m:oMath>
                </a14:m>
                <a:r>
                  <a:rPr lang="en-US" sz="48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 </a:t>
                </a:r>
                <a14:m>
                  <m:oMath xmlns:m="http://schemas.openxmlformats.org/officeDocument/2006/math">
                    <m:r>
                      <a:rPr lang="en-US" sz="4800" i="1" dirty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𝐵</m:t>
                    </m:r>
                    <m:r>
                      <a:rPr lang="en-US" sz="4800" dirty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</m:t>
                    </m:r>
                    <m:r>
                      <a:rPr lang="en-US" sz="4800" i="1" dirty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[5;+</m:t>
                    </m:r>
                    <m:r>
                      <a:rPr lang="en-US" sz="4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∞</m:t>
                    </m:r>
                    <m:r>
                      <a:rPr lang="en-US" sz="480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4800" dirty="0">
                  <a:latin typeface="Tahom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F577B00-2968-4BF5-AE20-3D246BE538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6646" y="1447800"/>
                <a:ext cx="19086126" cy="1862179"/>
              </a:xfrm>
              <a:prstGeom prst="rect">
                <a:avLst/>
              </a:prstGeom>
              <a:blipFill>
                <a:blip r:embed="rId2"/>
                <a:stretch>
                  <a:fillRect t="-6189" b="-1140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B16E622C-7C65-4163-9EAD-26F05C764168}"/>
              </a:ext>
            </a:extLst>
          </p:cNvPr>
          <p:cNvGrpSpPr/>
          <p:nvPr/>
        </p:nvGrpSpPr>
        <p:grpSpPr>
          <a:xfrm>
            <a:off x="711836" y="3371395"/>
            <a:ext cx="4909976" cy="1429205"/>
            <a:chOff x="22440" y="59288"/>
            <a:chExt cx="1073508" cy="159667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99BB74C-5EC2-4821-B22A-8364A3E3862A}"/>
                </a:ext>
              </a:extLst>
            </p:cNvPr>
            <p:cNvGrpSpPr/>
            <p:nvPr/>
          </p:nvGrpSpPr>
          <p:grpSpPr>
            <a:xfrm>
              <a:off x="22440" y="59288"/>
              <a:ext cx="953655" cy="159667"/>
              <a:chOff x="31572" y="60276"/>
              <a:chExt cx="1341810" cy="197595"/>
            </a:xfrm>
          </p:grpSpPr>
          <p:sp>
            <p:nvSpPr>
              <p:cNvPr id="14" name="Arrow: Pentagon 13">
                <a:extLst>
                  <a:ext uri="{FF2B5EF4-FFF2-40B4-BE49-F238E27FC236}">
                    <a16:creationId xmlns:a16="http://schemas.microsoft.com/office/drawing/2014/main" id="{A0451260-DEC0-40FA-9D6A-AF8166CD30B6}"/>
                  </a:ext>
                </a:extLst>
              </p:cNvPr>
              <p:cNvSpPr/>
              <p:nvPr/>
            </p:nvSpPr>
            <p:spPr>
              <a:xfrm>
                <a:off x="204506" y="61809"/>
                <a:ext cx="1168876" cy="196062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5000" b="1" kern="1200">
                    <a:solidFill>
                      <a:srgbClr val="0000CC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Arrow: Chevron 14">
                <a:extLst>
                  <a:ext uri="{FF2B5EF4-FFF2-40B4-BE49-F238E27FC236}">
                    <a16:creationId xmlns:a16="http://schemas.microsoft.com/office/drawing/2014/main" id="{15C1668A-3B16-42E3-8F43-4A7A89890179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 sz="5000"/>
              </a:p>
            </p:txBody>
          </p:sp>
          <p:sp>
            <p:nvSpPr>
              <p:cNvPr id="16" name="Arrow: Chevron 15">
                <a:extLst>
                  <a:ext uri="{FF2B5EF4-FFF2-40B4-BE49-F238E27FC236}">
                    <a16:creationId xmlns:a16="http://schemas.microsoft.com/office/drawing/2014/main" id="{2C725E22-63BA-48D6-875D-A145694FD8CD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 sz="5000"/>
              </a:p>
            </p:txBody>
          </p:sp>
        </p:grpSp>
        <p:sp>
          <p:nvSpPr>
            <p:cNvPr id="13" name="TextBox 56">
              <a:extLst>
                <a:ext uri="{FF2B5EF4-FFF2-40B4-BE49-F238E27FC236}">
                  <a16:creationId xmlns:a16="http://schemas.microsoft.com/office/drawing/2014/main" id="{205D3E32-9AA5-4648-948E-B6D7308396F3}"/>
                </a:ext>
              </a:extLst>
            </p:cNvPr>
            <p:cNvSpPr txBox="1"/>
            <p:nvPr/>
          </p:nvSpPr>
          <p:spPr>
            <a:xfrm>
              <a:off x="190087" y="77280"/>
              <a:ext cx="905861" cy="9364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5000" b="1" dirty="0" err="1">
                  <a:solidFill>
                    <a:srgbClr val="92D05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Vận</a:t>
              </a:r>
              <a:r>
                <a:rPr lang="en-US" sz="5000" b="1" dirty="0">
                  <a:solidFill>
                    <a:srgbClr val="92D05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5000" b="1" dirty="0" err="1">
                  <a:solidFill>
                    <a:srgbClr val="92D05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dụng</a:t>
              </a:r>
              <a:r>
                <a:rPr lang="en-US" sz="5000" b="1" kern="1200" dirty="0">
                  <a:solidFill>
                    <a:srgbClr val="92D05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.</a:t>
              </a:r>
              <a:endParaRPr lang="en-US" sz="5000" dirty="0">
                <a:solidFill>
                  <a:srgbClr val="92D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726851F-C15A-4254-B5B1-4998C667BFC8}"/>
                  </a:ext>
                </a:extLst>
              </p:cNvPr>
              <p:cNvSpPr/>
              <p:nvPr/>
            </p:nvSpPr>
            <p:spPr>
              <a:xfrm>
                <a:off x="233964" y="4757412"/>
                <a:ext cx="23918807" cy="4769968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pPr algn="just" defTabSz="1828800">
                  <a:lnSpc>
                    <a:spcPct val="150000"/>
                  </a:lnSpc>
                  <a:spcBef>
                    <a:spcPts val="2000"/>
                  </a:spcBef>
                </a:pP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Lớp 10A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 dirty="0"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bạn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tham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đấu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bóng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đá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cầu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lông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 dirty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bạn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tham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đấu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bóng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đá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i="1" dirty="0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bạn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tham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đấu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cầu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lông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sử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trận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bóng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đá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trận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cầu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lông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tổ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chức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đồng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thời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Hỏi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bao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nhiêu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bạn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lớp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10A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tham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đấu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cả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bóng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đá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cả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cầu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lông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726851F-C15A-4254-B5B1-4998C667BF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64" y="4757412"/>
                <a:ext cx="23918807" cy="4769968"/>
              </a:xfrm>
              <a:prstGeom prst="rect">
                <a:avLst/>
              </a:prstGeom>
              <a:blipFill>
                <a:blip r:embed="rId3"/>
                <a:stretch>
                  <a:fillRect l="-1121" r="-112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A4145FC-F603-419D-A730-DBA648B213DA}"/>
                  </a:ext>
                </a:extLst>
              </p:cNvPr>
              <p:cNvSpPr/>
              <p:nvPr/>
            </p:nvSpPr>
            <p:spPr>
              <a:xfrm>
                <a:off x="233966" y="9624258"/>
                <a:ext cx="23918805" cy="3472214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pPr defTabSz="1828800">
                  <a:lnSpc>
                    <a:spcPct val="90000"/>
                  </a:lnSpc>
                  <a:spcBef>
                    <a:spcPts val="2000"/>
                  </a:spcBef>
                </a:pPr>
                <a:r>
                  <a:rPr lang="en-US" sz="4800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Gợi ý: </a:t>
                </a:r>
                <a:r>
                  <a:rPr lang="en-US" sz="48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sz="4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4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bạn</a:t>
                </a:r>
                <a:r>
                  <a:rPr lang="en-US" sz="4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tham</a:t>
                </a:r>
                <a:r>
                  <a:rPr lang="en-US" sz="4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gia</a:t>
                </a:r>
                <a:r>
                  <a:rPr lang="en-US" sz="4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thi</a:t>
                </a:r>
                <a:r>
                  <a:rPr lang="en-US" sz="4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đấu</a:t>
                </a:r>
                <a:r>
                  <a:rPr lang="en-US" sz="4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cả</a:t>
                </a:r>
                <a:r>
                  <a:rPr lang="en-US" sz="4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bóng</a:t>
                </a:r>
                <a:r>
                  <a:rPr lang="en-US" sz="4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đá</a:t>
                </a:r>
                <a:r>
                  <a:rPr lang="en-US" sz="4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cả</a:t>
                </a:r>
                <a:r>
                  <a:rPr lang="en-US" sz="4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cầu</a:t>
                </a:r>
                <a:r>
                  <a:rPr lang="en-US" sz="4800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lông</a:t>
                </a:r>
                <a:endParaRPr lang="en-US" sz="48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defTabSz="1828800">
                  <a:lnSpc>
                    <a:spcPct val="90000"/>
                  </a:lnSpc>
                  <a:spcBef>
                    <a:spcPts val="2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i="1">
                          <a:latin typeface="Cambria Math" panose="02040503050406030204" pitchFamily="18" charset="0"/>
                        </a:rPr>
                        <m:t>24=16+11−</m:t>
                      </m:r>
                      <m:r>
                        <a:rPr lang="en-US" sz="480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4800" i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defTabSz="1828800">
                  <a:lnSpc>
                    <a:spcPct val="90000"/>
                  </a:lnSpc>
                  <a:spcBef>
                    <a:spcPts val="2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i="1">
                          <a:latin typeface="Cambria Math" panose="02040503050406030204" pitchFamily="18" charset="0"/>
                        </a:rPr>
                        <m:t>⇔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4800" i="1">
                          <a:latin typeface="Cambria Math" panose="02040503050406030204" pitchFamily="18" charset="0"/>
                        </a:rPr>
                        <m:t>=16+11−24⇔</m:t>
                      </m:r>
                      <m:r>
                        <a:rPr lang="en-US" sz="4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4800" i="1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4800" b="1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defTabSz="1828800">
                  <a:lnSpc>
                    <a:spcPct val="150000"/>
                  </a:lnSpc>
                  <a:spcBef>
                    <a:spcPts val="2000"/>
                  </a:spcBef>
                </a:pP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Mặt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khác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sz="4800" b="1" i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b="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4800" b="0" i="1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en-US" sz="4800" b="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48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b="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4800" b="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b="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4800" b="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b="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4800" b="0" i="1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sz="4800" b="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US" sz="4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A4145FC-F603-419D-A730-DBA648B213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66" y="9624258"/>
                <a:ext cx="23918805" cy="3472214"/>
              </a:xfrm>
              <a:prstGeom prst="rect">
                <a:avLst/>
              </a:prstGeom>
              <a:blipFill>
                <a:blip r:embed="rId4"/>
                <a:stretch>
                  <a:fillRect l="-1121" t="-6130" b="-3503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6" name="Picture 35">
            <a:extLst>
              <a:ext uri="{FF2B5EF4-FFF2-40B4-BE49-F238E27FC236}">
                <a16:creationId xmlns:a16="http://schemas.microsoft.com/office/drawing/2014/main" id="{3E15E0AA-5E47-4DC0-808F-7A26866AAF52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18592800" y="9658074"/>
            <a:ext cx="5557234" cy="3472214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   ·   BÀI 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0072364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17" grpId="0" animBg="1"/>
      <p:bldP spid="1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8499" y="1973855"/>
                <a:ext cx="23975292" cy="395657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 algn="just"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600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1.8 . </a:t>
                </a:r>
                <a:r>
                  <a:rPr lang="en-US" sz="5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sz="5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5600" b="0" i="1" dirty="0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𝑋</m:t>
                    </m:r>
                  </m:oMath>
                </a14:m>
                <a:r>
                  <a:rPr lang="en-US" sz="5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5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5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5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5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quốc</a:t>
                </a:r>
                <a:r>
                  <a:rPr lang="en-US" sz="5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gia</a:t>
                </a:r>
                <a:r>
                  <a:rPr lang="en-US" sz="5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tiếp</a:t>
                </a:r>
                <a:r>
                  <a:rPr lang="en-US" sz="5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giáp</a:t>
                </a:r>
                <a:r>
                  <a:rPr lang="en-US" sz="5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sz="5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Việt</a:t>
                </a:r>
                <a:r>
                  <a:rPr lang="en-US" sz="5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Nam.</a:t>
                </a:r>
              </a:p>
              <a:p>
                <a:pPr algn="just"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en-US" sz="5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Hãy</a:t>
                </a:r>
                <a:r>
                  <a:rPr lang="en-US" sz="5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liệt</a:t>
                </a:r>
                <a:r>
                  <a:rPr lang="en-US" sz="5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kê</a:t>
                </a:r>
                <a:r>
                  <a:rPr lang="en-US" sz="5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5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phần</a:t>
                </a:r>
                <a:r>
                  <a:rPr lang="en-US" sz="5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tử</a:t>
                </a:r>
                <a:r>
                  <a:rPr lang="en-US" sz="5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5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5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5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5600" b="0" i="1" dirty="0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𝑋</m:t>
                    </m:r>
                  </m:oMath>
                </a14:m>
                <a:r>
                  <a:rPr lang="en-US" sz="5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5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biểu</a:t>
                </a:r>
                <a:r>
                  <a:rPr lang="en-US" sz="5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diễn</a:t>
                </a:r>
                <a:r>
                  <a:rPr lang="en-US" sz="5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5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5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X </a:t>
                </a:r>
                <a:r>
                  <a:rPr lang="en-US" sz="5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</a:t>
                </a:r>
                <a:r>
                  <a:rPr lang="en-US" sz="5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biểu</a:t>
                </a:r>
                <a:r>
                  <a:rPr lang="en-US" sz="5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đồ</a:t>
                </a:r>
                <a:r>
                  <a:rPr lang="en-US" sz="5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Ven?</a:t>
                </a:r>
                <a:endParaRPr lang="en-US" sz="56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499" y="1973855"/>
                <a:ext cx="23975292" cy="3956571"/>
              </a:xfrm>
              <a:prstGeom prst="rect">
                <a:avLst/>
              </a:prstGeom>
              <a:blipFill>
                <a:blip r:embed="rId3"/>
                <a:stretch>
                  <a:fillRect l="-1372" r="-1398" b="-7066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0E98F2FC-DEAE-422E-BEA6-6BF0271CBB25}"/>
              </a:ext>
            </a:extLst>
          </p:cNvPr>
          <p:cNvGrpSpPr/>
          <p:nvPr/>
        </p:nvGrpSpPr>
        <p:grpSpPr>
          <a:xfrm>
            <a:off x="2414499" y="987166"/>
            <a:ext cx="5486400" cy="811277"/>
            <a:chOff x="22440" y="16831"/>
            <a:chExt cx="850471" cy="23000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F60CF18-9611-40C5-89A4-438FBFB39780}"/>
                </a:ext>
              </a:extLst>
            </p:cNvPr>
            <p:cNvGrpSpPr/>
            <p:nvPr/>
          </p:nvGrpSpPr>
          <p:grpSpPr>
            <a:xfrm>
              <a:off x="22440" y="59287"/>
              <a:ext cx="850471" cy="159855"/>
              <a:chOff x="31572" y="60276"/>
              <a:chExt cx="1196628" cy="197828"/>
            </a:xfrm>
          </p:grpSpPr>
          <p:sp>
            <p:nvSpPr>
              <p:cNvPr id="18" name="Arrow: Pentagon 17">
                <a:extLst>
                  <a:ext uri="{FF2B5EF4-FFF2-40B4-BE49-F238E27FC236}">
                    <a16:creationId xmlns:a16="http://schemas.microsoft.com/office/drawing/2014/main" id="{D6F1A983-B514-4B18-81EE-C6B47CD672DA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Arrow: Chevron 18">
                <a:extLst>
                  <a:ext uri="{FF2B5EF4-FFF2-40B4-BE49-F238E27FC236}">
                    <a16:creationId xmlns:a16="http://schemas.microsoft.com/office/drawing/2014/main" id="{6451536B-A641-4F05-86DE-641ADB6C0C23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" name="Arrow: Chevron 19">
                <a:extLst>
                  <a:ext uri="{FF2B5EF4-FFF2-40B4-BE49-F238E27FC236}">
                    <a16:creationId xmlns:a16="http://schemas.microsoft.com/office/drawing/2014/main" id="{0A007631-E717-40DA-98B6-07F3DE15B72F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7" name="TextBox 56">
              <a:extLst>
                <a:ext uri="{FF2B5EF4-FFF2-40B4-BE49-F238E27FC236}">
                  <a16:creationId xmlns:a16="http://schemas.microsoft.com/office/drawing/2014/main" id="{E9B719A9-E1FA-409E-8B3D-62C9E84714D4}"/>
                </a:ext>
              </a:extLst>
            </p:cNvPr>
            <p:cNvSpPr txBox="1"/>
            <p:nvPr/>
          </p:nvSpPr>
          <p:spPr>
            <a:xfrm>
              <a:off x="188148" y="16831"/>
              <a:ext cx="591618" cy="23000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5600" b="1" dirty="0" err="1">
                  <a:solidFill>
                    <a:srgbClr val="0000C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Luyện</a:t>
              </a:r>
              <a:r>
                <a:rPr lang="en-US" sz="5600" b="1" dirty="0">
                  <a:solidFill>
                    <a:srgbClr val="0000C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5600" b="1" dirty="0" err="1">
                  <a:solidFill>
                    <a:srgbClr val="0000C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tập</a:t>
              </a:r>
              <a:r>
                <a:rPr lang="en-US" sz="5600" b="1" dirty="0">
                  <a:solidFill>
                    <a:srgbClr val="0000C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endParaRPr kumimoji="0" lang="en-US" sz="5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6DE61D1-32C0-4367-9CC6-40756277942A}"/>
              </a:ext>
            </a:extLst>
          </p:cNvPr>
          <p:cNvGrpSpPr/>
          <p:nvPr/>
        </p:nvGrpSpPr>
        <p:grpSpPr>
          <a:xfrm>
            <a:off x="128499" y="5944150"/>
            <a:ext cx="4572000" cy="1078546"/>
            <a:chOff x="22440" y="-7319"/>
            <a:chExt cx="850471" cy="278302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90C63B3-6337-43EC-A494-759FB61D2338}"/>
                </a:ext>
              </a:extLst>
            </p:cNvPr>
            <p:cNvGrpSpPr/>
            <p:nvPr/>
          </p:nvGrpSpPr>
          <p:grpSpPr>
            <a:xfrm>
              <a:off x="22440" y="23952"/>
              <a:ext cx="850471" cy="231955"/>
              <a:chOff x="31572" y="16546"/>
              <a:chExt cx="1196628" cy="287055"/>
            </a:xfrm>
          </p:grpSpPr>
          <p:sp>
            <p:nvSpPr>
              <p:cNvPr id="26" name="Arrow: Pentagon 25">
                <a:extLst>
                  <a:ext uri="{FF2B5EF4-FFF2-40B4-BE49-F238E27FC236}">
                    <a16:creationId xmlns:a16="http://schemas.microsoft.com/office/drawing/2014/main" id="{1A60D8B9-EB2E-4D57-B8D2-77542F48EC5F}"/>
                  </a:ext>
                </a:extLst>
              </p:cNvPr>
              <p:cNvSpPr/>
              <p:nvPr/>
            </p:nvSpPr>
            <p:spPr>
              <a:xfrm>
                <a:off x="204585" y="16546"/>
                <a:ext cx="1023615" cy="287055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Arrow: Chevron 26">
                <a:extLst>
                  <a:ext uri="{FF2B5EF4-FFF2-40B4-BE49-F238E27FC236}">
                    <a16:creationId xmlns:a16="http://schemas.microsoft.com/office/drawing/2014/main" id="{4C54C50D-3512-443F-B6A3-CC5F95078B73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8" name="Arrow: Chevron 27">
                <a:extLst>
                  <a:ext uri="{FF2B5EF4-FFF2-40B4-BE49-F238E27FC236}">
                    <a16:creationId xmlns:a16="http://schemas.microsoft.com/office/drawing/2014/main" id="{6ABE9192-E30B-4A60-AAC1-FB5096304DF9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25" name="TextBox 56">
              <a:extLst>
                <a:ext uri="{FF2B5EF4-FFF2-40B4-BE49-F238E27FC236}">
                  <a16:creationId xmlns:a16="http://schemas.microsoft.com/office/drawing/2014/main" id="{1AAD937D-AA35-4022-9CF0-4EEF9D1206B0}"/>
                </a:ext>
              </a:extLst>
            </p:cNvPr>
            <p:cNvSpPr txBox="1"/>
            <p:nvPr/>
          </p:nvSpPr>
          <p:spPr>
            <a:xfrm>
              <a:off x="188148" y="-7319"/>
              <a:ext cx="591618" cy="27830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5600" b="1" dirty="0" err="1">
                  <a:solidFill>
                    <a:srgbClr val="0000C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Giải</a:t>
              </a:r>
              <a:endParaRPr kumimoji="0" lang="en-US" sz="5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BE99D47C-6466-4C0B-94B1-3FB6C419D1CC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5163799" y="5264408"/>
            <a:ext cx="8836301" cy="71561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EEC3BC1-47B2-42CE-9EFA-3BDD250C7F1C}"/>
                  </a:ext>
                </a:extLst>
              </p:cNvPr>
              <p:cNvSpPr txBox="1"/>
              <p:nvPr/>
            </p:nvSpPr>
            <p:spPr>
              <a:xfrm>
                <a:off x="191506" y="7740894"/>
                <a:ext cx="14428133" cy="954107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600" b="0" i="1" dirty="0" smtClean="0">
                          <a:latin typeface="Cambria Math" panose="02040503050406030204" pitchFamily="18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𝑋</m:t>
                      </m:r>
                      <m:r>
                        <a:rPr lang="en-US" sz="5600" b="0" i="1" dirty="0" smtClean="0">
                          <a:latin typeface="Cambria Math" panose="02040503050406030204" pitchFamily="18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={</m:t>
                      </m:r>
                      <m:r>
                        <m:rPr>
                          <m:sty m:val="p"/>
                        </m:rPr>
                        <a:rPr lang="en-US" sz="5600" b="0" i="0" dirty="0" err="1">
                          <a:latin typeface="Cambria Math" panose="02040503050406030204" pitchFamily="18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Trung</m:t>
                      </m:r>
                      <m:r>
                        <a:rPr lang="en-US" sz="5600" b="0" i="0" dirty="0">
                          <a:latin typeface="Cambria Math" panose="02040503050406030204" pitchFamily="18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5600" b="0" i="0" dirty="0" err="1">
                          <a:latin typeface="Cambria Math" panose="02040503050406030204" pitchFamily="18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Qu</m:t>
                      </m:r>
                      <m:r>
                        <a:rPr lang="en-US" sz="5600" b="0" i="0" dirty="0" err="1">
                          <a:latin typeface="Cambria Math" panose="02040503050406030204" pitchFamily="18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ố</m:t>
                      </m:r>
                      <m:r>
                        <m:rPr>
                          <m:sty m:val="p"/>
                        </m:rPr>
                        <a:rPr lang="en-US" sz="5600" b="0" i="0" dirty="0" err="1">
                          <a:latin typeface="Cambria Math" panose="02040503050406030204" pitchFamily="18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c</m:t>
                      </m:r>
                      <m:r>
                        <a:rPr lang="en-US" sz="5600" b="0" i="0" dirty="0">
                          <a:latin typeface="Cambria Math" panose="02040503050406030204" pitchFamily="18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5600" b="0" i="0" dirty="0" err="1">
                          <a:latin typeface="Cambria Math" panose="02040503050406030204" pitchFamily="18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L</m:t>
                      </m:r>
                      <m:r>
                        <a:rPr lang="en-US" sz="5600" b="0" i="0" dirty="0" err="1">
                          <a:latin typeface="Cambria Math" panose="02040503050406030204" pitchFamily="18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à</m:t>
                      </m:r>
                      <m:r>
                        <m:rPr>
                          <m:sty m:val="p"/>
                        </m:rPr>
                        <a:rPr lang="en-US" sz="5600" b="0" i="0" dirty="0" err="1">
                          <a:latin typeface="Cambria Math" panose="02040503050406030204" pitchFamily="18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o</m:t>
                      </m:r>
                      <m:r>
                        <a:rPr lang="en-US" sz="5600" b="0" i="0" dirty="0" smtClean="0">
                          <a:latin typeface="Cambria Math" panose="02040503050406030204" pitchFamily="18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5600" b="0" i="0" dirty="0" err="1">
                          <a:latin typeface="Cambria Math" panose="02040503050406030204" pitchFamily="18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Campuchia</m:t>
                      </m:r>
                      <m:r>
                        <a:rPr lang="en-US" sz="5600" b="0" i="1" dirty="0" smtClean="0">
                          <a:latin typeface="Cambria Math" panose="02040503050406030204" pitchFamily="18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}</m:t>
                      </m:r>
                    </m:oMath>
                  </m:oMathPara>
                </a14:m>
                <a:endParaRPr lang="en-US" sz="5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EEC3BC1-47B2-42CE-9EFA-3BDD250C7F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506" y="7740894"/>
                <a:ext cx="14428133" cy="9541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Rounded Rectangle 9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   ·   BÀI 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0624485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3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157655" y="1753476"/>
            <a:ext cx="23975292" cy="17196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4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1.9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Ký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hiệu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tập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hợp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quốc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tại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khu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vực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Đông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Nam Á</a:t>
            </a:r>
            <a:endParaRPr lang="en-US" sz="48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2400" y="3599234"/>
                <a:ext cx="12052743" cy="9904042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914400" indent="-914400">
                  <a:lnSpc>
                    <a:spcPct val="150000"/>
                  </a:lnSpc>
                  <a:buAutoNum type="alphaLcParenR"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Nêu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ít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nhất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phần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tử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914400" indent="-914400">
                  <a:lnSpc>
                    <a:spcPct val="150000"/>
                  </a:lnSpc>
                  <a:buAutoNum type="alphaLcParenR"/>
                </a:pP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ít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nhất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phần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tử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914400" indent="-914400">
                  <a:lnSpc>
                    <a:spcPct val="150000"/>
                  </a:lnSpc>
                  <a:buAutoNum type="alphaLcParenR"/>
                </a:pP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Liệt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kê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phần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tử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bao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nhiêu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phần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tử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?</a:t>
                </a:r>
              </a:p>
              <a:p>
                <a:pPr marL="0" indent="0">
                  <a:buNone/>
                </a:pP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3599234"/>
                <a:ext cx="12052743" cy="9904042"/>
              </a:xfrm>
              <a:prstGeom prst="rect">
                <a:avLst/>
              </a:prstGeom>
              <a:blipFill>
                <a:blip r:embed="rId3"/>
                <a:stretch>
                  <a:fillRect l="-2274" r="-1314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92000" y="3599234"/>
                <a:ext cx="12039600" cy="9819905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914400" indent="-914400">
                  <a:lnSpc>
                    <a:spcPct val="150000"/>
                  </a:lnSpc>
                  <a:buAutoNum type="alphaLcParenR"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quốc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vực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Đông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Nam Á :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Lào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Thái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Lan.</a:t>
                </a:r>
              </a:p>
              <a:p>
                <a:pPr marL="914400" indent="-914400">
                  <a:lnSpc>
                    <a:spcPct val="150000"/>
                  </a:lnSpc>
                  <a:buAutoNum type="alphaLcParenR"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quốc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vưc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Đông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Nam Á :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Trung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Quốc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Ấn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914400" indent="-914400">
                  <a:lnSpc>
                    <a:spcPct val="150000"/>
                  </a:lnSpc>
                  <a:buAutoNum type="alphaLcParenR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{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Việt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Nam,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Lào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Campuchia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Thái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lan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Indonesia, Singapore,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Đông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Timor,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Philipin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Myanma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Brunei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Myanma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}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phần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tử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=11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3599234"/>
                <a:ext cx="12039600" cy="9819905"/>
              </a:xfrm>
              <a:prstGeom prst="rect">
                <a:avLst/>
              </a:prstGeom>
              <a:blipFill>
                <a:blip r:embed="rId4"/>
                <a:stretch>
                  <a:fillRect l="-2276" r="-1113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81C47D21-FD33-461E-97F4-8A7F0877F5B4}"/>
              </a:ext>
            </a:extLst>
          </p:cNvPr>
          <p:cNvGrpSpPr/>
          <p:nvPr/>
        </p:nvGrpSpPr>
        <p:grpSpPr>
          <a:xfrm>
            <a:off x="12266890" y="2661025"/>
            <a:ext cx="4572000" cy="891362"/>
            <a:chOff x="22440" y="16831"/>
            <a:chExt cx="850471" cy="230002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E4B7CA73-18BF-43D4-B47B-B50DE5AD195D}"/>
                </a:ext>
              </a:extLst>
            </p:cNvPr>
            <p:cNvGrpSpPr/>
            <p:nvPr/>
          </p:nvGrpSpPr>
          <p:grpSpPr>
            <a:xfrm>
              <a:off x="22440" y="59287"/>
              <a:ext cx="850471" cy="159855"/>
              <a:chOff x="31572" y="60276"/>
              <a:chExt cx="1196628" cy="197828"/>
            </a:xfrm>
          </p:grpSpPr>
          <p:sp>
            <p:nvSpPr>
              <p:cNvPr id="26" name="Arrow: Pentagon 25">
                <a:extLst>
                  <a:ext uri="{FF2B5EF4-FFF2-40B4-BE49-F238E27FC236}">
                    <a16:creationId xmlns:a16="http://schemas.microsoft.com/office/drawing/2014/main" id="{2CBB70FA-16A5-41CA-8EB5-57158213582B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Arrow: Chevron 26">
                <a:extLst>
                  <a:ext uri="{FF2B5EF4-FFF2-40B4-BE49-F238E27FC236}">
                    <a16:creationId xmlns:a16="http://schemas.microsoft.com/office/drawing/2014/main" id="{12D2ACE3-01D9-4C90-A398-950E9B283B1E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8" name="Arrow: Chevron 27">
                <a:extLst>
                  <a:ext uri="{FF2B5EF4-FFF2-40B4-BE49-F238E27FC236}">
                    <a16:creationId xmlns:a16="http://schemas.microsoft.com/office/drawing/2014/main" id="{4A54174F-FAC5-4A5C-88BC-41BF73BE419C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25" name="TextBox 56">
              <a:extLst>
                <a:ext uri="{FF2B5EF4-FFF2-40B4-BE49-F238E27FC236}">
                  <a16:creationId xmlns:a16="http://schemas.microsoft.com/office/drawing/2014/main" id="{07CF8629-4935-4F54-B50B-EE7DEE68F5E5}"/>
                </a:ext>
              </a:extLst>
            </p:cNvPr>
            <p:cNvSpPr txBox="1"/>
            <p:nvPr/>
          </p:nvSpPr>
          <p:spPr>
            <a:xfrm>
              <a:off x="188148" y="16831"/>
              <a:ext cx="591618" cy="23000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4800" b="1" dirty="0" err="1">
                  <a:solidFill>
                    <a:srgbClr val="0000C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Giải</a:t>
              </a:r>
              <a:endPara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   ·   BÀI 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42381650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  <p:bldP spid="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809" y="2854255"/>
                <a:ext cx="23975292" cy="20998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sz="4800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1.10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Hãy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viết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chất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đặc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trưng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phần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tử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cuả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hơp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0;4;8;12;16</m:t>
                        </m:r>
                      </m:e>
                    </m:d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09" y="2854255"/>
                <a:ext cx="23975292" cy="2099807"/>
              </a:xfrm>
              <a:prstGeom prst="rect">
                <a:avLst/>
              </a:prstGeom>
              <a:blipFill>
                <a:blip r:embed="rId3"/>
                <a:stretch>
                  <a:fillRect l="-1118" b="-16715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0E98F2FC-DEAE-422E-BEA6-6BF0271CBB25}"/>
              </a:ext>
            </a:extLst>
          </p:cNvPr>
          <p:cNvGrpSpPr/>
          <p:nvPr/>
        </p:nvGrpSpPr>
        <p:grpSpPr>
          <a:xfrm>
            <a:off x="204354" y="1838478"/>
            <a:ext cx="5486400" cy="811277"/>
            <a:chOff x="22440" y="16831"/>
            <a:chExt cx="850471" cy="23000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F60CF18-9611-40C5-89A4-438FBFB39780}"/>
                </a:ext>
              </a:extLst>
            </p:cNvPr>
            <p:cNvGrpSpPr/>
            <p:nvPr/>
          </p:nvGrpSpPr>
          <p:grpSpPr>
            <a:xfrm>
              <a:off x="22440" y="59287"/>
              <a:ext cx="850471" cy="159855"/>
              <a:chOff x="31572" y="60276"/>
              <a:chExt cx="1196628" cy="197828"/>
            </a:xfrm>
          </p:grpSpPr>
          <p:sp>
            <p:nvSpPr>
              <p:cNvPr id="18" name="Arrow: Pentagon 17">
                <a:extLst>
                  <a:ext uri="{FF2B5EF4-FFF2-40B4-BE49-F238E27FC236}">
                    <a16:creationId xmlns:a16="http://schemas.microsoft.com/office/drawing/2014/main" id="{D6F1A983-B514-4B18-81EE-C6B47CD672DA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Arrow: Chevron 18">
                <a:extLst>
                  <a:ext uri="{FF2B5EF4-FFF2-40B4-BE49-F238E27FC236}">
                    <a16:creationId xmlns:a16="http://schemas.microsoft.com/office/drawing/2014/main" id="{6451536B-A641-4F05-86DE-641ADB6C0C23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" name="Arrow: Chevron 19">
                <a:extLst>
                  <a:ext uri="{FF2B5EF4-FFF2-40B4-BE49-F238E27FC236}">
                    <a16:creationId xmlns:a16="http://schemas.microsoft.com/office/drawing/2014/main" id="{0A007631-E717-40DA-98B6-07F3DE15B72F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7" name="TextBox 56">
              <a:extLst>
                <a:ext uri="{FF2B5EF4-FFF2-40B4-BE49-F238E27FC236}">
                  <a16:creationId xmlns:a16="http://schemas.microsoft.com/office/drawing/2014/main" id="{E9B719A9-E1FA-409E-8B3D-62C9E84714D4}"/>
                </a:ext>
              </a:extLst>
            </p:cNvPr>
            <p:cNvSpPr txBox="1"/>
            <p:nvPr/>
          </p:nvSpPr>
          <p:spPr>
            <a:xfrm>
              <a:off x="188148" y="16831"/>
              <a:ext cx="591618" cy="23000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4800" b="1" dirty="0" err="1">
                  <a:solidFill>
                    <a:srgbClr val="0000C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Luyện</a:t>
              </a:r>
              <a:r>
                <a:rPr lang="en-US" sz="4800" b="1" dirty="0">
                  <a:solidFill>
                    <a:srgbClr val="0000C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800" b="1" dirty="0" err="1">
                  <a:solidFill>
                    <a:srgbClr val="0000C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tập</a:t>
              </a:r>
              <a:r>
                <a:rPr lang="en-US" sz="4800" b="1" dirty="0">
                  <a:solidFill>
                    <a:srgbClr val="0000C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endPara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BA44868-0998-4DA4-8352-AE343768F989}"/>
              </a:ext>
            </a:extLst>
          </p:cNvPr>
          <p:cNvGrpSpPr/>
          <p:nvPr/>
        </p:nvGrpSpPr>
        <p:grpSpPr>
          <a:xfrm>
            <a:off x="115208" y="4850708"/>
            <a:ext cx="15604899" cy="1539960"/>
            <a:chOff x="115208" y="4850708"/>
            <a:chExt cx="15604899" cy="153996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6DE61D1-32C0-4367-9CC6-40756277942A}"/>
                </a:ext>
              </a:extLst>
            </p:cNvPr>
            <p:cNvGrpSpPr/>
            <p:nvPr/>
          </p:nvGrpSpPr>
          <p:grpSpPr>
            <a:xfrm>
              <a:off x="115208" y="4850708"/>
              <a:ext cx="4572000" cy="1043762"/>
              <a:chOff x="22440" y="16831"/>
              <a:chExt cx="850471" cy="230002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790C63B3-6337-43EC-A494-759FB61D2338}"/>
                  </a:ext>
                </a:extLst>
              </p:cNvPr>
              <p:cNvGrpSpPr/>
              <p:nvPr/>
            </p:nvGrpSpPr>
            <p:grpSpPr>
              <a:xfrm>
                <a:off x="22440" y="59287"/>
                <a:ext cx="850471" cy="159855"/>
                <a:chOff x="31572" y="60276"/>
                <a:chExt cx="1196628" cy="197828"/>
              </a:xfrm>
            </p:grpSpPr>
            <p:sp>
              <p:nvSpPr>
                <p:cNvPr id="26" name="Arrow: Pentagon 25">
                  <a:extLst>
                    <a:ext uri="{FF2B5EF4-FFF2-40B4-BE49-F238E27FC236}">
                      <a16:creationId xmlns:a16="http://schemas.microsoft.com/office/drawing/2014/main" id="{1A60D8B9-EB2E-4D57-B8D2-77542F48EC5F}"/>
                    </a:ext>
                  </a:extLst>
                </p:cNvPr>
                <p:cNvSpPr/>
                <p:nvPr/>
              </p:nvSpPr>
              <p:spPr>
                <a:xfrm>
                  <a:off x="204585" y="62042"/>
                  <a:ext cx="1023615" cy="196062"/>
                </a:xfrm>
                <a:prstGeom prst="homePlate">
                  <a:avLst/>
                </a:prstGeom>
                <a:solidFill>
                  <a:srgbClr val="FCFFEF"/>
                </a:solidFill>
                <a:ln w="12700" cap="flat" cmpd="sng" algn="ctr">
                  <a:solidFill>
                    <a:srgbClr val="ED7D31">
                      <a:lumMod val="20000"/>
                      <a:lumOff val="8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CC"/>
                      </a:solidFill>
                      <a:effectLst/>
                      <a:uLnTx/>
                      <a:uFillTx/>
                      <a:latin typeface="Calibri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</a:t>
                  </a:r>
                  <a:endPara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Arrow: Chevron 26">
                  <a:extLst>
                    <a:ext uri="{FF2B5EF4-FFF2-40B4-BE49-F238E27FC236}">
                      <a16:creationId xmlns:a16="http://schemas.microsoft.com/office/drawing/2014/main" id="{4C54C50D-3512-443F-B6A3-CC5F95078B73}"/>
                    </a:ext>
                  </a:extLst>
                </p:cNvPr>
                <p:cNvSpPr/>
                <p:nvPr/>
              </p:nvSpPr>
              <p:spPr>
                <a:xfrm>
                  <a:off x="31572" y="60341"/>
                  <a:ext cx="162630" cy="196062"/>
                </a:xfrm>
                <a:prstGeom prst="chevron">
                  <a:avLst/>
                </a:prstGeom>
                <a:solidFill>
                  <a:srgbClr val="4472C4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8" name="Arrow: Chevron 27">
                  <a:extLst>
                    <a:ext uri="{FF2B5EF4-FFF2-40B4-BE49-F238E27FC236}">
                      <a16:creationId xmlns:a16="http://schemas.microsoft.com/office/drawing/2014/main" id="{6ABE9192-E30B-4A60-AAC1-FB5096304DF9}"/>
                    </a:ext>
                  </a:extLst>
                </p:cNvPr>
                <p:cNvSpPr/>
                <p:nvPr/>
              </p:nvSpPr>
              <p:spPr>
                <a:xfrm>
                  <a:off x="116273" y="60276"/>
                  <a:ext cx="176766" cy="196062"/>
                </a:xfrm>
                <a:prstGeom prst="chevron">
                  <a:avLst/>
                </a:prstGeom>
                <a:solidFill>
                  <a:srgbClr val="FFC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5" name="TextBox 56">
                <a:extLst>
                  <a:ext uri="{FF2B5EF4-FFF2-40B4-BE49-F238E27FC236}">
                    <a16:creationId xmlns:a16="http://schemas.microsoft.com/office/drawing/2014/main" id="{1AAD937D-AA35-4022-9CF0-4EEF9D1206B0}"/>
                  </a:ext>
                </a:extLst>
              </p:cNvPr>
              <p:cNvSpPr txBox="1"/>
              <p:nvPr/>
            </p:nvSpPr>
            <p:spPr>
              <a:xfrm>
                <a:off x="188148" y="16831"/>
                <a:ext cx="591618" cy="230002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4800" b="1" dirty="0" err="1">
                    <a:solidFill>
                      <a:srgbClr val="0000C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endParaRPr kumimoji="0" lang="en-US" sz="4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B8E305D-F4F5-498F-8298-8B8FD387C1B6}"/>
                    </a:ext>
                  </a:extLst>
                </p:cNvPr>
                <p:cNvSpPr txBox="1"/>
                <p:nvPr/>
              </p:nvSpPr>
              <p:spPr>
                <a:xfrm>
                  <a:off x="3375707" y="5332493"/>
                  <a:ext cx="12344400" cy="10581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629920" indent="-629920" algn="ctr">
                    <a:lnSpc>
                      <a:spcPct val="150000"/>
                    </a:lnSpc>
                    <a:spcAft>
                      <a:spcPts val="600"/>
                    </a:spcAft>
                  </a:pPr>
                  <a:r>
                    <a:rPr lang="en-US" sz="4800" dirty="0" err="1">
                      <a:effectLst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Tập</a:t>
                  </a:r>
                  <a:r>
                    <a:rPr lang="en-US" sz="4800" dirty="0">
                      <a:effectLst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</a:t>
                  </a:r>
                  <a:r>
                    <a:rPr lang="en-US" sz="4800" dirty="0" err="1">
                      <a:effectLst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hợp</a:t>
                  </a:r>
                  <a:r>
                    <a:rPr lang="en-US" sz="4800" dirty="0">
                      <a:effectLst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4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sz="4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4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4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  <m:r>
                            <a:rPr lang="en-US" sz="4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4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sz="4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4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4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mbria Math" panose="02040503050406030204" pitchFamily="18" charset="0"/>
                            </a:rPr>
                            <m:t>ℕ</m:t>
                          </m:r>
                          <m:r>
                            <a:rPr lang="en-US" sz="4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,0≤</m:t>
                          </m:r>
                          <m:r>
                            <a:rPr lang="en-US" sz="4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4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≤4</m:t>
                          </m:r>
                        </m:e>
                      </m:d>
                    </m:oMath>
                  </a14:m>
                  <a:r>
                    <a:rPr lang="en-US" sz="4800" dirty="0">
                      <a:effectLst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B8E305D-F4F5-498F-8298-8B8FD387C1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5707" y="5332493"/>
                  <a:ext cx="12344400" cy="1058175"/>
                </a:xfrm>
                <a:prstGeom prst="rect">
                  <a:avLst/>
                </a:prstGeom>
                <a:blipFill>
                  <a:blip r:embed="rId4"/>
                  <a:stretch>
                    <a:fillRect b="-29480"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itle 1">
                <a:extLst>
                  <a:ext uri="{FF2B5EF4-FFF2-40B4-BE49-F238E27FC236}">
                    <a16:creationId xmlns:a16="http://schemas.microsoft.com/office/drawing/2014/main" id="{103C1595-DB51-4C16-B3D8-B80F8E7419B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5208" y="6509448"/>
                <a:ext cx="23975292" cy="217087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sz="4800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1.11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nào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rỗng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?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ℝ</m:t>
                        </m:r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−6=0</m:t>
                        </m:r>
                      </m:e>
                    </m:d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     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ℤ</m:t>
                        </m:r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−6=0</m:t>
                        </m:r>
                      </m:e>
                    </m:d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2" name="Title 1">
                <a:extLst>
                  <a:ext uri="{FF2B5EF4-FFF2-40B4-BE49-F238E27FC236}">
                    <a16:creationId xmlns:a16="http://schemas.microsoft.com/office/drawing/2014/main" id="{103C1595-DB51-4C16-B3D8-B80F8E741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208" y="6509448"/>
                <a:ext cx="23975292" cy="2170876"/>
              </a:xfrm>
              <a:prstGeom prst="rect">
                <a:avLst/>
              </a:prstGeom>
              <a:blipFill>
                <a:blip r:embed="rId5"/>
                <a:stretch>
                  <a:fillRect l="-1144" b="-13128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ontent Placeholder 2">
                <a:extLst>
                  <a:ext uri="{FF2B5EF4-FFF2-40B4-BE49-F238E27FC236}">
                    <a16:creationId xmlns:a16="http://schemas.microsoft.com/office/drawing/2014/main" id="{4638CF86-98B1-4B2E-9D10-4E2BC759C96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4354" y="8686800"/>
                <a:ext cx="23975292" cy="464820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629920" indent="-629920"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−6=0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mbria Math" panose="02040503050406030204" pitchFamily="18" charset="0"/>
                      </a:rPr>
                      <m:t>⇔</m:t>
                    </m:r>
                    <m:d>
                      <m:dPr>
                        <m:begChr m:val="[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&amp;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ad>
                              <m:radPr>
                                <m:deg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6</m:t>
                                </m:r>
                              </m:e>
                            </m:rad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&amp;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=−</m:t>
                            </m:r>
                            <m:rad>
                              <m:radPr>
                                <m:deg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6</m:t>
                                </m:r>
                              </m:e>
                            </m:rad>
                          </m:e>
                        </m:eqAr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marL="629920" indent="-629920"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trị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này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nên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=∅</m:t>
                    </m:r>
                  </m:oMath>
                </a14:m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0" name="Content Placeholder 2">
                <a:extLst>
                  <a:ext uri="{FF2B5EF4-FFF2-40B4-BE49-F238E27FC236}">
                    <a16:creationId xmlns:a16="http://schemas.microsoft.com/office/drawing/2014/main" id="{4638CF86-98B1-4B2E-9D10-4E2BC759C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354" y="8686800"/>
                <a:ext cx="23975292" cy="4648200"/>
              </a:xfrm>
              <a:prstGeom prst="rect">
                <a:avLst/>
              </a:prstGeom>
              <a:blipFill>
                <a:blip r:embed="rId6"/>
                <a:stretch>
                  <a:fillRect l="-1042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Rounded Rectangle 9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   ·   BÀI 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998948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22" grpId="0" animBg="1"/>
      <p:bldP spid="3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879600"/>
                <a:ext cx="23975292" cy="171963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en-US" sz="4800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1.12</a:t>
                </a:r>
                <a:r>
                  <a:rPr lang="en-US" sz="4800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14:m>
                  <m:oMath xmlns:m="http://schemas.openxmlformats.org/officeDocument/2006/math">
                    <m:r>
                      <a:rPr lang="en-US" sz="4800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4800" b="0" i="1" dirty="0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48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4800" b="0" i="1" dirty="0" smtClean="0">
                        <a:latin typeface="Cambria Math" panose="02040503050406030204" pitchFamily="18" charset="0"/>
                      </a:rPr>
                      <m:t>; </m:t>
                    </m:r>
                    <m:r>
                      <a:rPr lang="en-US" sz="48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4800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viết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đúng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hay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?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thích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kết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luận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đưa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ra.</a:t>
                </a:r>
                <a:endParaRPr lang="en-US" sz="48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879600"/>
                <a:ext cx="23975292" cy="1719634"/>
              </a:xfrm>
              <a:prstGeom prst="rect">
                <a:avLst/>
              </a:prstGeom>
              <a:blipFill>
                <a:blip r:embed="rId3"/>
                <a:stretch>
                  <a:fillRect l="-1118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2400" y="3599234"/>
                <a:ext cx="12052743" cy="9904042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914400" indent="-914400">
                  <a:lnSpc>
                    <a:spcPct val="150000"/>
                  </a:lnSpc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⊂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914400" indent="-914400">
                  <a:lnSpc>
                    <a:spcPct val="150000"/>
                  </a:lnSpc>
                  <a:buFont typeface="+mj-lt"/>
                  <a:buAutoNum type="alphaLcParenR"/>
                </a:pP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914400" indent="-914400">
                  <a:lnSpc>
                    <a:spcPct val="150000"/>
                  </a:lnSpc>
                  <a:buFont typeface="+mj-lt"/>
                  <a:buAutoNum type="alphaLcParenR"/>
                </a:pP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914400" indent="-914400">
                  <a:lnSpc>
                    <a:spcPct val="150000"/>
                  </a:lnSpc>
                  <a:buFont typeface="+mj-lt"/>
                  <a:buAutoNum type="alphaLcParenR"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>
                        <a:latin typeface="Cambria Math" panose="02040503050406030204" pitchFamily="18" charset="0"/>
                      </a:rPr>
                      <m:t>⊂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914400" indent="-914400">
                  <a:lnSpc>
                    <a:spcPct val="150000"/>
                  </a:lnSpc>
                  <a:buFont typeface="+mj-lt"/>
                  <a:buAutoNum type="alphaLcParenR"/>
                </a:pP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914400" indent="-914400">
                  <a:lnSpc>
                    <a:spcPct val="150000"/>
                  </a:lnSpc>
                  <a:buFont typeface="+mj-lt"/>
                  <a:buAutoNum type="alphaLcParenR"/>
                </a:pP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914400" indent="-914400">
                  <a:lnSpc>
                    <a:spcPct val="150000"/>
                  </a:lnSpc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∅∈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3599234"/>
                <a:ext cx="12052743" cy="99040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357542" y="3599234"/>
                <a:ext cx="11874058" cy="9819905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914400" indent="-914400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Sai.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Vì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ký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hiệu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phần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tử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Viết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đúng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phải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: 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914400" indent="-914400">
                  <a:buFont typeface="+mj-lt"/>
                  <a:buAutoNum type="alphaLcParenR"/>
                </a:pP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914400" indent="-914400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Đúng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914400" indent="-914400">
                  <a:buFont typeface="+mj-lt"/>
                  <a:buAutoNum type="alphaLcParenR"/>
                </a:pP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914400" indent="-914400">
                  <a:buFont typeface="+mj-lt"/>
                  <a:buAutoNum type="alphaLcParenR"/>
                </a:pP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914400" indent="-914400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Sai.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Vì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phải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phần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tử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Viết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đúng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phải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∅⊂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7542" y="3599234"/>
                <a:ext cx="11874058" cy="9819905"/>
              </a:xfrm>
              <a:prstGeom prst="rect">
                <a:avLst/>
              </a:prstGeom>
              <a:blipFill>
                <a:blip r:embed="rId5"/>
                <a:stretch>
                  <a:fillRect l="-2308" b="-3038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81C47D21-FD33-461E-97F4-8A7F0877F5B4}"/>
              </a:ext>
            </a:extLst>
          </p:cNvPr>
          <p:cNvGrpSpPr/>
          <p:nvPr/>
        </p:nvGrpSpPr>
        <p:grpSpPr>
          <a:xfrm>
            <a:off x="12361483" y="2787149"/>
            <a:ext cx="4572000" cy="891362"/>
            <a:chOff x="22440" y="16831"/>
            <a:chExt cx="850471" cy="230002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E4B7CA73-18BF-43D4-B47B-B50DE5AD195D}"/>
                </a:ext>
              </a:extLst>
            </p:cNvPr>
            <p:cNvGrpSpPr/>
            <p:nvPr/>
          </p:nvGrpSpPr>
          <p:grpSpPr>
            <a:xfrm>
              <a:off x="22440" y="59287"/>
              <a:ext cx="850471" cy="159855"/>
              <a:chOff x="31572" y="60276"/>
              <a:chExt cx="1196628" cy="197828"/>
            </a:xfrm>
          </p:grpSpPr>
          <p:sp>
            <p:nvSpPr>
              <p:cNvPr id="26" name="Arrow: Pentagon 25">
                <a:extLst>
                  <a:ext uri="{FF2B5EF4-FFF2-40B4-BE49-F238E27FC236}">
                    <a16:creationId xmlns:a16="http://schemas.microsoft.com/office/drawing/2014/main" id="{2CBB70FA-16A5-41CA-8EB5-57158213582B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Arrow: Chevron 26">
                <a:extLst>
                  <a:ext uri="{FF2B5EF4-FFF2-40B4-BE49-F238E27FC236}">
                    <a16:creationId xmlns:a16="http://schemas.microsoft.com/office/drawing/2014/main" id="{12D2ACE3-01D9-4C90-A398-950E9B283B1E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8" name="Arrow: Chevron 27">
                <a:extLst>
                  <a:ext uri="{FF2B5EF4-FFF2-40B4-BE49-F238E27FC236}">
                    <a16:creationId xmlns:a16="http://schemas.microsoft.com/office/drawing/2014/main" id="{4A54174F-FAC5-4A5C-88BC-41BF73BE419C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25" name="TextBox 56">
              <a:extLst>
                <a:ext uri="{FF2B5EF4-FFF2-40B4-BE49-F238E27FC236}">
                  <a16:creationId xmlns:a16="http://schemas.microsoft.com/office/drawing/2014/main" id="{07CF8629-4935-4F54-B50B-EE7DEE68F5E5}"/>
                </a:ext>
              </a:extLst>
            </p:cNvPr>
            <p:cNvSpPr txBox="1"/>
            <p:nvPr/>
          </p:nvSpPr>
          <p:spPr>
            <a:xfrm>
              <a:off x="188148" y="16831"/>
              <a:ext cx="591618" cy="23000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4800" b="1" dirty="0" err="1">
                  <a:solidFill>
                    <a:srgbClr val="0000C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Giải</a:t>
              </a:r>
              <a:endPara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   ·   BÀI 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7419336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  <p:bldP spid="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2400" y="1816539"/>
                <a:ext cx="23975292" cy="118267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en-US" sz="4800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1.13</a:t>
                </a:r>
                <a:r>
                  <a:rPr lang="en-US" sz="4800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14:m>
                  <m:oMath xmlns:m="http://schemas.openxmlformats.org/officeDocument/2006/math">
                    <m:r>
                      <a:rPr lang="en-US" sz="4800" b="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b="0" i="1">
                            <a:latin typeface="Cambria Math" panose="02040503050406030204" pitchFamily="18" charset="0"/>
                          </a:rPr>
                          <m:t>2;5</m:t>
                        </m:r>
                      </m:e>
                    </m:d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4800" b="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b="0" i="1">
                            <a:latin typeface="Cambria Math" panose="02040503050406030204" pitchFamily="18" charset="0"/>
                          </a:rPr>
                          <m:t>5;</m:t>
                        </m:r>
                        <m:r>
                          <a:rPr lang="en-US" sz="48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4800" b="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b="0" i="1">
                            <a:latin typeface="Cambria Math" panose="02040503050406030204" pitchFamily="18" charset="0"/>
                          </a:rPr>
                          <m:t>2;</m:t>
                        </m:r>
                        <m:r>
                          <a:rPr lang="en-US" sz="4800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Tìm </a:t>
                </a:r>
                <a14:m>
                  <m:oMath xmlns:m="http://schemas.openxmlformats.org/officeDocument/2006/math">
                    <m:r>
                      <a:rPr lang="en-US" sz="4800" b="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và </a:t>
                </a:r>
                <a14:m>
                  <m:oMath xmlns:m="http://schemas.openxmlformats.org/officeDocument/2006/math">
                    <m:r>
                      <a:rPr lang="en-US" sz="4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để  </a:t>
                </a:r>
                <a14:m>
                  <m:oMath xmlns:m="http://schemas.openxmlformats.org/officeDocument/2006/math">
                    <m:r>
                      <a:rPr lang="en-US" sz="4800" b="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7" name="Title 1">
                <a:extLst>
                  <a:ext uri="{FF2B5EF4-FFF2-40B4-BE49-F238E27FC236}">
                    <a16:creationId xmlns:a16="http://schemas.microsoft.com/office/drawing/2014/main" id="{D87ADF89-46F9-4713-9744-A6447012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816539"/>
                <a:ext cx="23975292" cy="1182676"/>
              </a:xfrm>
              <a:prstGeom prst="rect">
                <a:avLst/>
              </a:prstGeom>
              <a:blipFill>
                <a:blip r:embed="rId3"/>
                <a:stretch>
                  <a:fillRect l="-1118" b="-14796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0894" y="3698760"/>
                <a:ext cx="23926798" cy="2156275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 anchor="ctr"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nhau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nếu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phần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tử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này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cũng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phần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tử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kia.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Vậy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để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thì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=2,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894" y="3698760"/>
                <a:ext cx="23926798" cy="2156275"/>
              </a:xfrm>
              <a:prstGeom prst="rect">
                <a:avLst/>
              </a:prstGeom>
              <a:blipFill>
                <a:blip r:embed="rId4"/>
                <a:stretch>
                  <a:fillRect l="-1146" b="-14930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81C47D21-FD33-461E-97F4-8A7F0877F5B4}"/>
              </a:ext>
            </a:extLst>
          </p:cNvPr>
          <p:cNvGrpSpPr/>
          <p:nvPr/>
        </p:nvGrpSpPr>
        <p:grpSpPr>
          <a:xfrm>
            <a:off x="186220" y="2888712"/>
            <a:ext cx="4572000" cy="891362"/>
            <a:chOff x="22440" y="16831"/>
            <a:chExt cx="850471" cy="230002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E4B7CA73-18BF-43D4-B47B-B50DE5AD195D}"/>
                </a:ext>
              </a:extLst>
            </p:cNvPr>
            <p:cNvGrpSpPr/>
            <p:nvPr/>
          </p:nvGrpSpPr>
          <p:grpSpPr>
            <a:xfrm>
              <a:off x="22440" y="59287"/>
              <a:ext cx="850471" cy="159855"/>
              <a:chOff x="31572" y="60276"/>
              <a:chExt cx="1196628" cy="197828"/>
            </a:xfrm>
          </p:grpSpPr>
          <p:sp>
            <p:nvSpPr>
              <p:cNvPr id="26" name="Arrow: Pentagon 25">
                <a:extLst>
                  <a:ext uri="{FF2B5EF4-FFF2-40B4-BE49-F238E27FC236}">
                    <a16:creationId xmlns:a16="http://schemas.microsoft.com/office/drawing/2014/main" id="{2CBB70FA-16A5-41CA-8EB5-57158213582B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Arrow: Chevron 26">
                <a:extLst>
                  <a:ext uri="{FF2B5EF4-FFF2-40B4-BE49-F238E27FC236}">
                    <a16:creationId xmlns:a16="http://schemas.microsoft.com/office/drawing/2014/main" id="{12D2ACE3-01D9-4C90-A398-950E9B283B1E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8" name="Arrow: Chevron 27">
                <a:extLst>
                  <a:ext uri="{FF2B5EF4-FFF2-40B4-BE49-F238E27FC236}">
                    <a16:creationId xmlns:a16="http://schemas.microsoft.com/office/drawing/2014/main" id="{4A54174F-FAC5-4A5C-88BC-41BF73BE419C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25" name="TextBox 56">
              <a:extLst>
                <a:ext uri="{FF2B5EF4-FFF2-40B4-BE49-F238E27FC236}">
                  <a16:creationId xmlns:a16="http://schemas.microsoft.com/office/drawing/2014/main" id="{07CF8629-4935-4F54-B50B-EE7DEE68F5E5}"/>
                </a:ext>
              </a:extLst>
            </p:cNvPr>
            <p:cNvSpPr txBox="1"/>
            <p:nvPr/>
          </p:nvSpPr>
          <p:spPr>
            <a:xfrm>
              <a:off x="188148" y="16831"/>
              <a:ext cx="591618" cy="23000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4800" b="1" dirty="0" err="1">
                  <a:solidFill>
                    <a:srgbClr val="0000C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Giải</a:t>
              </a:r>
              <a:endPara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le 1">
                <a:extLst>
                  <a:ext uri="{FF2B5EF4-FFF2-40B4-BE49-F238E27FC236}">
                    <a16:creationId xmlns:a16="http://schemas.microsoft.com/office/drawing/2014/main" id="{1BC9E88D-B24C-4432-9791-53E8C0177FB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7800" y="5810782"/>
                <a:ext cx="23975292" cy="11640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>
                <a:lvl1pPr algn="l" defTabSz="1828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>
                    <a:solidFill>
                      <a:schemeClr val="tx1"/>
                    </a:solidFill>
                    <a:latin typeface="Tomaho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en-US" sz="4800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1.14</a:t>
                </a:r>
                <a:r>
                  <a:rPr lang="en-US" sz="4800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14:m>
                  <m:oMath xmlns:m="http://schemas.openxmlformats.org/officeDocument/2006/math">
                    <m:r>
                      <a:rPr lang="en-US" sz="4800" b="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b="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4800" b="0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4800" b="0" i="1">
                            <a:latin typeface="Cambria Math" panose="02040503050406030204" pitchFamily="18" charset="0"/>
                          </a:rPr>
                          <m:t>ℤ</m:t>
                        </m:r>
                        <m:r>
                          <a:rPr lang="en-US" sz="4800" b="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4800" b="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4800" b="0" i="1">
                            <a:latin typeface="Cambria Math" panose="02040503050406030204" pitchFamily="18" charset="0"/>
                          </a:rPr>
                          <m:t>&lt;4</m:t>
                        </m:r>
                      </m:e>
                    </m:d>
                    <m:r>
                      <a:rPr lang="en-US" sz="4800" b="0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4800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b="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4800" b="0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4800" b="0" i="1">
                            <a:latin typeface="Cambria Math" panose="02040503050406030204" pitchFamily="18" charset="0"/>
                          </a:rPr>
                          <m:t>ℤ</m:t>
                        </m:r>
                        <m:r>
                          <a:rPr lang="en-US" sz="4800" b="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800" b="0" i="1"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sz="4800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4800" b="0" i="1">
                                <a:latin typeface="Cambria Math" panose="02040503050406030204" pitchFamily="18" charset="0"/>
                              </a:rPr>
                              <m:t>−3</m:t>
                            </m:r>
                            <m:sSup>
                              <m:sSupPr>
                                <m:ctrlPr>
                                  <a:rPr lang="en-US" sz="4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800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4800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d>
                          <m:d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4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800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4800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4800" b="0" i="1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sz="4800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4800" b="0" i="1">
                                <a:latin typeface="Cambria Math" panose="02040503050406030204" pitchFamily="18" charset="0"/>
                              </a:rPr>
                              <m:t>−3</m:t>
                            </m:r>
                          </m:e>
                        </m:d>
                        <m:r>
                          <a:rPr lang="en-US" sz="4800" b="0" i="1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</m:oMath>
                </a14:m>
                <a:r>
                  <a:rPr lang="en-US" sz="4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Title 1">
                <a:extLst>
                  <a:ext uri="{FF2B5EF4-FFF2-40B4-BE49-F238E27FC236}">
                    <a16:creationId xmlns:a16="http://schemas.microsoft.com/office/drawing/2014/main" id="{1BC9E88D-B24C-4432-9791-53E8C0177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00" y="5810782"/>
                <a:ext cx="23975292" cy="1164019"/>
              </a:xfrm>
              <a:prstGeom prst="rect">
                <a:avLst/>
              </a:prstGeom>
              <a:blipFill>
                <a:blip r:embed="rId5"/>
                <a:stretch>
                  <a:fillRect l="-1118" b="-16580"/>
                </a:stretch>
              </a:blip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2C3D7926-EF9B-414B-8E48-DCA23525FCD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0894" y="7082115"/>
                <a:ext cx="9525000" cy="6227495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Liệt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kê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phần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tử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Hãy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xác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định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2C3D7926-EF9B-414B-8E48-DCA23525FC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894" y="7082115"/>
                <a:ext cx="9525000" cy="6227495"/>
              </a:xfrm>
              <a:prstGeom prst="rect">
                <a:avLst/>
              </a:prstGeom>
              <a:blipFill>
                <a:blip r:embed="rId6"/>
                <a:stretch>
                  <a:fillRect l="-2877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80A50ED7-66C1-4AB0-99BA-5C99F0ED896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751294" y="7082116"/>
                <a:ext cx="14401798" cy="6227495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Ta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...;−4;−3;−2;−1;0;1;2;3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b="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 </a:t>
                </a:r>
                <a:r>
                  <a:rPr lang="en-US" b="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−3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>
                        <a:latin typeface="Cambria Math" panose="02040503050406030204" pitchFamily="18" charset="0"/>
                      </a:rPr>
                      <m:t>=0⇔</m:t>
                    </m:r>
                    <m:d>
                      <m:dPr>
                        <m:begChr m:val="[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=0∈</m:t>
                            </m:r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ℤ</m:t>
                            </m:r>
                          </m:e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∉</m:t>
                            </m:r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ℤ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.     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−3=0⇔</m:t>
                    </m:r>
                    <m:d>
                      <m:dPr>
                        <m:begChr m:val="[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=1∈</m:t>
                            </m:r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ℤ</m:t>
                            </m:r>
                          </m:e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=−3∈</m:t>
                            </m:r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ℤ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−3;0;1</m:t>
                        </m:r>
                      </m:e>
                    </m:d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Ta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: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⊂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;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\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.....;−4;−2;−1;2;3</m:t>
                        </m:r>
                      </m:e>
                    </m:d>
                  </m:oMath>
                </a14:m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80A50ED7-66C1-4AB0-99BA-5C99F0ED89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1294" y="7082116"/>
                <a:ext cx="14401798" cy="6227495"/>
              </a:xfrm>
              <a:prstGeom prst="rect">
                <a:avLst/>
              </a:prstGeom>
              <a:blipFill>
                <a:blip r:embed="rId7"/>
                <a:stretch>
                  <a:fillRect l="-1904" t="-342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   ·   BÀI 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5240980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  <p:bldP spid="10" grpId="0" animBg="1"/>
      <p:bldP spid="18" grpId="0" animBg="1"/>
      <p:bldP spid="1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0" y="1805634"/>
            <a:ext cx="23975292" cy="15609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4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1.15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Xác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định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tập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hợp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sau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biểu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diễn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chúng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trên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trục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830" y="3642815"/>
                <a:ext cx="9443770" cy="9776324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(−4;1]</m:t>
                        </m:r>
                      </m:e>
                    </m:d>
                    <m:r>
                      <a:rPr lang="en-US" b="0" i="1">
                        <a:latin typeface="Cambria Math" panose="02040503050406030204" pitchFamily="18" charset="0"/>
                      </a:rPr>
                      <m:t>∩[</m:t>
                    </m:r>
                    <m:d>
                      <m:dPr>
                        <m:beg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0;3</m:t>
                        </m:r>
                      </m:e>
                    </m:d>
                  </m:oMath>
                </a14:m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0;2</m:t>
                        </m:r>
                      </m:e>
                    </m:d>
                    <m:r>
                      <a:rPr lang="en-US" b="0" i="1">
                        <a:latin typeface="Cambria Math" panose="02040503050406030204" pitchFamily="18" charset="0"/>
                      </a:rPr>
                      <m:t>]∪(</m:t>
                    </m:r>
                    <m:d>
                      <m:dPr>
                        <m:begChr m:val="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−3;1]</m:t>
                        </m:r>
                      </m:e>
                    </m:d>
                  </m:oMath>
                </a14:m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−2;1</m:t>
                        </m:r>
                      </m:e>
                    </m:d>
                    <m:r>
                      <a:rPr lang="en-US" b="0" i="1">
                        <a:latin typeface="Cambria Math" panose="02040503050406030204" pitchFamily="18" charset="0"/>
                      </a:rPr>
                      <m:t>∩</m:t>
                    </m:r>
                    <m:d>
                      <m:dPr>
                        <m:begChr m:val="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(−∞;1]</m:t>
                        </m:r>
                      </m:e>
                    </m:d>
                  </m:oMath>
                </a14:m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d)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\</m:t>
                    </m:r>
                    <m:r>
                      <m:rPr>
                        <m:lit/>
                      </m:rPr>
                      <a:rPr lang="en-US" b="0" i="1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−∞;3]</m:t>
                        </m:r>
                      </m:e>
                    </m:d>
                  </m:oMath>
                </a14:m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30" y="3642815"/>
                <a:ext cx="9443770" cy="9776324"/>
              </a:xfrm>
              <a:prstGeom prst="rect">
                <a:avLst/>
              </a:prstGeom>
              <a:blipFill>
                <a:blip r:embed="rId3"/>
                <a:stretch>
                  <a:fillRect l="-2837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548094" y="3694506"/>
                <a:ext cx="14401798" cy="9699231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4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"/>
                        <m:ctrlPr>
                          <a:rPr lang="en-US" sz="4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600" b="0" i="1">
                            <a:latin typeface="Cambria Math" panose="02040503050406030204" pitchFamily="18" charset="0"/>
                          </a:rPr>
                          <m:t>(−4;1]</m:t>
                        </m:r>
                      </m:e>
                    </m:d>
                    <m:r>
                      <a:rPr lang="en-US" sz="4600" b="0" i="1">
                        <a:latin typeface="Cambria Math" panose="02040503050406030204" pitchFamily="18" charset="0"/>
                      </a:rPr>
                      <m:t>∩[</m:t>
                    </m:r>
                    <m:d>
                      <m:dPr>
                        <m:begChr m:val=""/>
                        <m:ctrlPr>
                          <a:rPr lang="en-US" sz="4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600" b="0" i="1">
                            <a:latin typeface="Cambria Math" panose="02040503050406030204" pitchFamily="18" charset="0"/>
                          </a:rPr>
                          <m:t>0;3</m:t>
                        </m:r>
                      </m:e>
                    </m:d>
                    <m:r>
                      <a:rPr lang="en-US" sz="4600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4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600" b="0" i="1">
                            <a:latin typeface="Cambria Math" panose="02040503050406030204" pitchFamily="18" charset="0"/>
                          </a:rPr>
                          <m:t>0;1</m:t>
                        </m:r>
                      </m:e>
                    </m:d>
                  </m:oMath>
                </a14:m>
                <a:endParaRPr lang="en-US" sz="4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sz="4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sz="4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sz="4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14:m>
                  <m:oMath xmlns:m="http://schemas.openxmlformats.org/officeDocument/2006/math">
                    <m:r>
                      <a:rPr lang="en-US" sz="4600" b="0" i="1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"/>
                        <m:endChr m:val=""/>
                        <m:ctrlPr>
                          <a:rPr lang="en-US" sz="4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600" b="0" i="1">
                            <a:latin typeface="Cambria Math" panose="02040503050406030204" pitchFamily="18" charset="0"/>
                          </a:rPr>
                          <m:t>0;2</m:t>
                        </m:r>
                      </m:e>
                    </m:d>
                    <m:r>
                      <a:rPr lang="en-US" sz="4600" b="0" i="1">
                        <a:latin typeface="Cambria Math" panose="02040503050406030204" pitchFamily="18" charset="0"/>
                      </a:rPr>
                      <m:t>]∪(</m:t>
                    </m:r>
                    <m:d>
                      <m:dPr>
                        <m:begChr m:val=""/>
                        <m:endChr m:val=""/>
                        <m:ctrlPr>
                          <a:rPr lang="en-US" sz="4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600" b="0" i="1">
                            <a:latin typeface="Cambria Math" panose="02040503050406030204" pitchFamily="18" charset="0"/>
                          </a:rPr>
                          <m:t>−3;1]</m:t>
                        </m:r>
                      </m:e>
                    </m:d>
                    <m:r>
                      <a:rPr lang="en-US" sz="4600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"/>
                        <m:endChr m:val=""/>
                        <m:ctrlPr>
                          <a:rPr lang="en-US" sz="4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600" b="0" i="1">
                            <a:latin typeface="Cambria Math" panose="02040503050406030204" pitchFamily="18" charset="0"/>
                          </a:rPr>
                          <m:t>(−3;2]</m:t>
                        </m:r>
                      </m:e>
                    </m:d>
                  </m:oMath>
                </a14:m>
                <a:endParaRPr lang="en-US" sz="4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sz="4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sz="4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sz="4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600" b="0" i="1">
                            <a:latin typeface="Cambria Math" panose="02040503050406030204" pitchFamily="18" charset="0"/>
                          </a:rPr>
                          <m:t>−2;1</m:t>
                        </m:r>
                      </m:e>
                    </m:d>
                    <m:r>
                      <a:rPr lang="en-US" sz="4600" b="0" i="1">
                        <a:latin typeface="Cambria Math" panose="02040503050406030204" pitchFamily="18" charset="0"/>
                      </a:rPr>
                      <m:t>∩</m:t>
                    </m:r>
                    <m:d>
                      <m:dPr>
                        <m:begChr m:val=""/>
                        <m:endChr m:val=""/>
                        <m:ctrlPr>
                          <a:rPr lang="en-US" sz="4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600" b="0" i="1">
                            <a:latin typeface="Cambria Math" panose="02040503050406030204" pitchFamily="18" charset="0"/>
                          </a:rPr>
                          <m:t>(−∞;1]</m:t>
                        </m:r>
                      </m:e>
                    </m:d>
                    <m:r>
                      <a:rPr lang="en-US" sz="4600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4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600" b="0" i="1">
                            <a:latin typeface="Cambria Math" panose="02040503050406030204" pitchFamily="18" charset="0"/>
                          </a:rPr>
                          <m:t>−2;1</m:t>
                        </m:r>
                      </m:e>
                    </m:d>
                  </m:oMath>
                </a14:m>
                <a:endParaRPr lang="en-US" sz="4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sz="4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4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4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d) </a:t>
                </a:r>
                <a14:m>
                  <m:oMath xmlns:m="http://schemas.openxmlformats.org/officeDocument/2006/math">
                    <m:r>
                      <a:rPr lang="en-US" sz="4600" b="0" i="1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sz="4600" b="0" i="1">
                        <a:latin typeface="Cambria Math" panose="02040503050406030204" pitchFamily="18" charset="0"/>
                      </a:rPr>
                      <m:t>\</m:t>
                    </m:r>
                    <m:r>
                      <m:rPr>
                        <m:lit/>
                      </m:rPr>
                      <a:rPr lang="en-US" sz="4600" b="0" i="1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"/>
                        <m:endChr m:val=""/>
                        <m:ctrlPr>
                          <a:rPr lang="en-US" sz="4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600" b="0" i="1">
                            <a:latin typeface="Cambria Math" panose="02040503050406030204" pitchFamily="18" charset="0"/>
                          </a:rPr>
                          <m:t>−∞;3]</m:t>
                        </m:r>
                      </m:e>
                    </m:d>
                    <m:r>
                      <a:rPr lang="en-US" sz="4600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4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600" b="0" i="1">
                            <a:latin typeface="Cambria Math" panose="02040503050406030204" pitchFamily="18" charset="0"/>
                          </a:rPr>
                          <m:t>3;+∞</m:t>
                        </m:r>
                      </m:e>
                    </m:d>
                  </m:oMath>
                </a14:m>
                <a:endParaRPr lang="en-US" sz="4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8094" y="3694506"/>
                <a:ext cx="14401798" cy="9699231"/>
              </a:xfrm>
              <a:prstGeom prst="rect">
                <a:avLst/>
              </a:prstGeom>
              <a:blipFill>
                <a:blip r:embed="rId4"/>
                <a:stretch>
                  <a:fillRect l="-1776" t="-2134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81C47D21-FD33-461E-97F4-8A7F0877F5B4}"/>
              </a:ext>
            </a:extLst>
          </p:cNvPr>
          <p:cNvGrpSpPr/>
          <p:nvPr/>
        </p:nvGrpSpPr>
        <p:grpSpPr>
          <a:xfrm>
            <a:off x="9521818" y="2877577"/>
            <a:ext cx="4572000" cy="891362"/>
            <a:chOff x="22440" y="16831"/>
            <a:chExt cx="850471" cy="230002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E4B7CA73-18BF-43D4-B47B-B50DE5AD195D}"/>
                </a:ext>
              </a:extLst>
            </p:cNvPr>
            <p:cNvGrpSpPr/>
            <p:nvPr/>
          </p:nvGrpSpPr>
          <p:grpSpPr>
            <a:xfrm>
              <a:off x="22440" y="59287"/>
              <a:ext cx="850471" cy="159855"/>
              <a:chOff x="31572" y="60276"/>
              <a:chExt cx="1196628" cy="197828"/>
            </a:xfrm>
          </p:grpSpPr>
          <p:sp>
            <p:nvSpPr>
              <p:cNvPr id="26" name="Arrow: Pentagon 25">
                <a:extLst>
                  <a:ext uri="{FF2B5EF4-FFF2-40B4-BE49-F238E27FC236}">
                    <a16:creationId xmlns:a16="http://schemas.microsoft.com/office/drawing/2014/main" id="{2CBB70FA-16A5-41CA-8EB5-57158213582B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Arrow: Chevron 26">
                <a:extLst>
                  <a:ext uri="{FF2B5EF4-FFF2-40B4-BE49-F238E27FC236}">
                    <a16:creationId xmlns:a16="http://schemas.microsoft.com/office/drawing/2014/main" id="{12D2ACE3-01D9-4C90-A398-950E9B283B1E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8" name="Arrow: Chevron 27">
                <a:extLst>
                  <a:ext uri="{FF2B5EF4-FFF2-40B4-BE49-F238E27FC236}">
                    <a16:creationId xmlns:a16="http://schemas.microsoft.com/office/drawing/2014/main" id="{4A54174F-FAC5-4A5C-88BC-41BF73BE419C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25" name="TextBox 56">
              <a:extLst>
                <a:ext uri="{FF2B5EF4-FFF2-40B4-BE49-F238E27FC236}">
                  <a16:creationId xmlns:a16="http://schemas.microsoft.com/office/drawing/2014/main" id="{07CF8629-4935-4F54-B50B-EE7DEE68F5E5}"/>
                </a:ext>
              </a:extLst>
            </p:cNvPr>
            <p:cNvSpPr txBox="1"/>
            <p:nvPr/>
          </p:nvSpPr>
          <p:spPr>
            <a:xfrm>
              <a:off x="188148" y="16831"/>
              <a:ext cx="591618" cy="23000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4800" b="1" dirty="0" err="1">
                  <a:solidFill>
                    <a:srgbClr val="0000C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Giải</a:t>
              </a:r>
              <a:endPara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DC1E671E-3202-4A6B-A0F7-8E5EEC78C788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9636996" y="4486438"/>
            <a:ext cx="14312896" cy="12671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3B6235D-A2DC-41DA-8E55-9EE1EABA768C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9636996" y="7276619"/>
            <a:ext cx="14312895" cy="126714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9F01144-BEB1-4701-934B-87917D3F0D28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9662396" y="9773199"/>
            <a:ext cx="14335990" cy="126714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D0BE39C-CF19-4248-AF1E-F1DAF524CDC7}"/>
              </a:ext>
            </a:extLst>
          </p:cNvPr>
          <p:cNvPicPr/>
          <p:nvPr/>
        </p:nvPicPr>
        <p:blipFill>
          <a:blip r:embed="rId8"/>
          <a:stretch>
            <a:fillRect/>
          </a:stretch>
        </p:blipFill>
        <p:spPr>
          <a:xfrm>
            <a:off x="9710891" y="12443001"/>
            <a:ext cx="14287495" cy="950736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   ·   BÀI 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4670269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  <p:bldP spid="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0" y="1879600"/>
            <a:ext cx="24384000" cy="3530599"/>
          </a:xfrm>
          <a:prstGeom prst="rect">
            <a:avLst/>
          </a:prstGeom>
          <a:solidFill>
            <a:schemeClr val="bg2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4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1.16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Để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phục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vụ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hội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nghị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quốc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tế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ban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tổ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chức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huy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động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35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người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phiên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dịch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tiếng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Anh, 30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người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phiên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dịch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tiếng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Pháp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đó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16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người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phiên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dịch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cả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hai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thứ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tiếng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Anh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tiếng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Pháp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Hãy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trả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lời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câu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hỏi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sau</a:t>
            </a: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endParaRPr lang="en-US" sz="48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9" name="Content Placeholder 2">
            <a:extLst>
              <a:ext uri="{FF2B5EF4-FFF2-40B4-BE49-F238E27FC236}">
                <a16:creationId xmlns:a16="http://schemas.microsoft.com/office/drawing/2014/main" id="{14822BB7-DB89-4357-87F0-6E511FC44A6A}"/>
              </a:ext>
            </a:extLst>
          </p:cNvPr>
          <p:cNvSpPr txBox="1">
            <a:spLocks/>
          </p:cNvSpPr>
          <p:nvPr/>
        </p:nvSpPr>
        <p:spPr>
          <a:xfrm>
            <a:off x="84083" y="5161324"/>
            <a:ext cx="24231599" cy="3886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4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a) Ban </a:t>
            </a:r>
            <a:r>
              <a:rPr lang="en-US" sz="4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tổ</a:t>
            </a:r>
            <a:r>
              <a:rPr lang="en-US" sz="4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chức</a:t>
            </a:r>
            <a:r>
              <a:rPr lang="en-US" sz="4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đã</a:t>
            </a:r>
            <a:r>
              <a:rPr lang="en-US" sz="4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huy</a:t>
            </a:r>
            <a:r>
              <a:rPr lang="en-US" sz="4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động</a:t>
            </a:r>
            <a:r>
              <a:rPr lang="en-US" sz="4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bao </a:t>
            </a:r>
            <a:r>
              <a:rPr lang="en-US" sz="4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nhiêu</a:t>
            </a:r>
            <a:r>
              <a:rPr lang="en-US" sz="4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người</a:t>
            </a:r>
            <a:r>
              <a:rPr lang="en-US" sz="4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phiên</a:t>
            </a:r>
            <a:r>
              <a:rPr lang="en-US" sz="4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dịch</a:t>
            </a:r>
            <a:r>
              <a:rPr lang="en-US" sz="4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</a:t>
            </a:r>
            <a:r>
              <a:rPr lang="en-US" sz="4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hội</a:t>
            </a:r>
            <a:r>
              <a:rPr lang="en-US" sz="4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nghị</a:t>
            </a:r>
            <a:r>
              <a:rPr lang="en-US" sz="4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đó</a:t>
            </a:r>
            <a:r>
              <a:rPr lang="en-US" sz="4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4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b) </a:t>
            </a:r>
            <a:r>
              <a:rPr lang="en-US" sz="4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sz="4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bao </a:t>
            </a:r>
            <a:r>
              <a:rPr lang="en-US" sz="4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nhiêu</a:t>
            </a:r>
            <a:r>
              <a:rPr lang="en-US" sz="4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người</a:t>
            </a:r>
            <a:r>
              <a:rPr lang="en-US" sz="4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chỉ</a:t>
            </a:r>
            <a:r>
              <a:rPr lang="en-US" sz="4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phiên</a:t>
            </a:r>
            <a:r>
              <a:rPr lang="en-US" sz="4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dịch</a:t>
            </a:r>
            <a:r>
              <a:rPr lang="en-US" sz="4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r>
              <a:rPr lang="en-US" sz="4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tiếng</a:t>
            </a:r>
            <a:r>
              <a:rPr lang="en-US" sz="4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Anh?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4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c) </a:t>
            </a:r>
            <a:r>
              <a:rPr lang="en-US" sz="4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sz="4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bao </a:t>
            </a:r>
            <a:r>
              <a:rPr lang="en-US" sz="4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nhiêu</a:t>
            </a:r>
            <a:r>
              <a:rPr lang="en-US" sz="4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người</a:t>
            </a:r>
            <a:r>
              <a:rPr lang="en-US" sz="4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chỉ</a:t>
            </a:r>
            <a:r>
              <a:rPr lang="en-US" sz="4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phiên</a:t>
            </a:r>
            <a:r>
              <a:rPr lang="en-US" sz="4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dịch</a:t>
            </a:r>
            <a:r>
              <a:rPr lang="en-US" sz="4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r>
              <a:rPr lang="en-US" sz="4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tiếng</a:t>
            </a:r>
            <a:r>
              <a:rPr lang="en-US" sz="4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Pháp</a:t>
            </a:r>
            <a:r>
              <a:rPr lang="en-US" sz="4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4083" y="9673126"/>
                <a:ext cx="24152771" cy="388620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4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:r>
                  <a:rPr lang="en-US" sz="4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người</a:t>
                </a:r>
                <a:r>
                  <a:rPr lang="en-US" sz="4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phiên</a:t>
                </a:r>
                <a:r>
                  <a:rPr lang="en-US" sz="4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dịch</a:t>
                </a:r>
                <a:r>
                  <a:rPr lang="en-US" sz="4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ban </a:t>
                </a:r>
                <a:r>
                  <a:rPr lang="en-US" sz="4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tổ</a:t>
                </a:r>
                <a:r>
                  <a:rPr lang="en-US" sz="4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chức</a:t>
                </a:r>
                <a:r>
                  <a:rPr lang="en-US" sz="4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huy</a:t>
                </a:r>
                <a:r>
                  <a:rPr lang="en-US" sz="4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động</a:t>
                </a:r>
                <a:r>
                  <a:rPr lang="en-US" sz="4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sz="46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4600" b="0" i="1">
                        <a:latin typeface="Cambria Math" panose="02040503050406030204" pitchFamily="18" charset="0"/>
                      </a:rPr>
                      <m:t>35+30−16=49</m:t>
                    </m:r>
                  </m:oMath>
                </a14:m>
                <a:r>
                  <a:rPr lang="en-US" sz="4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</a:t>
                </a:r>
                <a:r>
                  <a:rPr lang="en-US" sz="4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người</a:t>
                </a:r>
                <a:r>
                  <a:rPr lang="en-US" sz="4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4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:r>
                  <a:rPr lang="en-US" sz="4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người</a:t>
                </a:r>
                <a:r>
                  <a:rPr lang="en-US" sz="4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chỉ</a:t>
                </a:r>
                <a:r>
                  <a:rPr lang="en-US" sz="4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phiên</a:t>
                </a:r>
                <a:r>
                  <a:rPr lang="en-US" sz="4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dịch</a:t>
                </a:r>
                <a:r>
                  <a:rPr lang="en-US" sz="4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4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tiếng</a:t>
                </a:r>
                <a:r>
                  <a:rPr lang="en-US" sz="4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anh</a:t>
                </a:r>
                <a:r>
                  <a:rPr lang="en-US" sz="4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4600" b="0" i="1">
                        <a:latin typeface="Cambria Math" panose="02040503050406030204" pitchFamily="18" charset="0"/>
                      </a:rPr>
                      <m:t>35−16=19</m:t>
                    </m:r>
                  </m:oMath>
                </a14:m>
                <a:r>
                  <a:rPr lang="en-US" sz="4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</a:t>
                </a:r>
                <a:r>
                  <a:rPr lang="en-US" sz="4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người</a:t>
                </a:r>
                <a:r>
                  <a:rPr lang="en-US" sz="4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4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c) </a:t>
                </a:r>
                <a:r>
                  <a:rPr lang="en-US" sz="4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4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người</a:t>
                </a:r>
                <a:r>
                  <a:rPr lang="en-US" sz="4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chỉ</a:t>
                </a:r>
                <a:r>
                  <a:rPr lang="en-US" sz="4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phiên</a:t>
                </a:r>
                <a:r>
                  <a:rPr lang="en-US" sz="4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dịch</a:t>
                </a:r>
                <a:r>
                  <a:rPr lang="en-US" sz="4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4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tiếng</a:t>
                </a:r>
                <a:r>
                  <a:rPr lang="en-US" sz="4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Pháp</a:t>
                </a:r>
                <a:r>
                  <a:rPr lang="en-US" sz="4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4600" b="0" i="1">
                        <a:latin typeface="Cambria Math" panose="02040503050406030204" pitchFamily="18" charset="0"/>
                      </a:rPr>
                      <m:t>30−16=14</m:t>
                    </m:r>
                  </m:oMath>
                </a14:m>
                <a:r>
                  <a:rPr lang="en-US" sz="4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</a:t>
                </a:r>
                <a:r>
                  <a:rPr lang="en-US" sz="4600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người</a:t>
                </a:r>
                <a:r>
                  <a:rPr lang="en-US" sz="4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83" y="9673126"/>
                <a:ext cx="24152771" cy="3886200"/>
              </a:xfrm>
              <a:prstGeom prst="rect">
                <a:avLst/>
              </a:prstGeom>
              <a:blipFill>
                <a:blip r:embed="rId3"/>
                <a:stretch>
                  <a:fillRect l="-1060" b="-782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81C47D21-FD33-461E-97F4-8A7F0877F5B4}"/>
              </a:ext>
            </a:extLst>
          </p:cNvPr>
          <p:cNvGrpSpPr/>
          <p:nvPr/>
        </p:nvGrpSpPr>
        <p:grpSpPr>
          <a:xfrm>
            <a:off x="131377" y="8865476"/>
            <a:ext cx="4572000" cy="891362"/>
            <a:chOff x="22440" y="16831"/>
            <a:chExt cx="850471" cy="230002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E4B7CA73-18BF-43D4-B47B-B50DE5AD195D}"/>
                </a:ext>
              </a:extLst>
            </p:cNvPr>
            <p:cNvGrpSpPr/>
            <p:nvPr/>
          </p:nvGrpSpPr>
          <p:grpSpPr>
            <a:xfrm>
              <a:off x="22440" y="59287"/>
              <a:ext cx="850471" cy="159855"/>
              <a:chOff x="31572" y="60276"/>
              <a:chExt cx="1196628" cy="197828"/>
            </a:xfrm>
          </p:grpSpPr>
          <p:sp>
            <p:nvSpPr>
              <p:cNvPr id="26" name="Arrow: Pentagon 25">
                <a:extLst>
                  <a:ext uri="{FF2B5EF4-FFF2-40B4-BE49-F238E27FC236}">
                    <a16:creationId xmlns:a16="http://schemas.microsoft.com/office/drawing/2014/main" id="{2CBB70FA-16A5-41CA-8EB5-57158213582B}"/>
                  </a:ext>
                </a:extLst>
              </p:cNvPr>
              <p:cNvSpPr/>
              <p:nvPr/>
            </p:nvSpPr>
            <p:spPr>
              <a:xfrm>
                <a:off x="204585" y="62042"/>
                <a:ext cx="1023615" cy="196062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Arrow: Chevron 26">
                <a:extLst>
                  <a:ext uri="{FF2B5EF4-FFF2-40B4-BE49-F238E27FC236}">
                    <a16:creationId xmlns:a16="http://schemas.microsoft.com/office/drawing/2014/main" id="{12D2ACE3-01D9-4C90-A398-950E9B283B1E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8" name="Arrow: Chevron 27">
                <a:extLst>
                  <a:ext uri="{FF2B5EF4-FFF2-40B4-BE49-F238E27FC236}">
                    <a16:creationId xmlns:a16="http://schemas.microsoft.com/office/drawing/2014/main" id="{4A54174F-FAC5-4A5C-88BC-41BF73BE419C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25" name="TextBox 56">
              <a:extLst>
                <a:ext uri="{FF2B5EF4-FFF2-40B4-BE49-F238E27FC236}">
                  <a16:creationId xmlns:a16="http://schemas.microsoft.com/office/drawing/2014/main" id="{07CF8629-4935-4F54-B50B-EE7DEE68F5E5}"/>
                </a:ext>
              </a:extLst>
            </p:cNvPr>
            <p:cNvSpPr txBox="1"/>
            <p:nvPr/>
          </p:nvSpPr>
          <p:spPr>
            <a:xfrm>
              <a:off x="188148" y="16831"/>
              <a:ext cx="591618" cy="23000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4800" b="1" dirty="0" err="1">
                  <a:solidFill>
                    <a:srgbClr val="0000C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Giải</a:t>
              </a:r>
              <a:endPara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34A57714-18DB-47A0-9344-EAE2E9B84A2F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9659600" y="9047524"/>
            <a:ext cx="4543095" cy="4511801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   ·   BÀI 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763900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  <p:bldP spid="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   ·   BÀI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71380954"/>
      </p:ext>
    </p:extLst>
  </p:cSld>
  <p:clrMapOvr>
    <a:masterClrMapping/>
  </p:clrMapOvr>
  <p:transition spd="slow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8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257&quot;/&gt;&lt;/object&gt;&lt;object type=&quot;3&quot; unique_id=&quot;10004&quot;&gt;&lt;property id=&quot;20148&quot; value=&quot;5&quot;/&gt;&lt;property id=&quot;20300&quot; value=&quot;Slide 2&quot;/&gt;&lt;property id=&quot;20307&quot; value=&quot;258&quot;/&gt;&lt;/object&gt;&lt;object type=&quot;3&quot; unique_id=&quot;10005&quot;&gt;&lt;property id=&quot;20148&quot; value=&quot;5&quot;/&gt;&lt;property id=&quot;20300&quot; value=&quot;Slide 3&quot;/&gt;&lt;property id=&quot;20307&quot; value=&quot;259&quot;/&gt;&lt;/object&gt;&lt;object type=&quot;3&quot; unique_id=&quot;10006&quot;&gt;&lt;property id=&quot;20148&quot; value=&quot;5&quot;/&gt;&lt;property id=&quot;20300&quot; value=&quot;Slide 4&quot;/&gt;&lt;property id=&quot;20307&quot; value=&quot;260&quot;/&gt;&lt;/object&gt;&lt;object type=&quot;3&quot; unique_id=&quot;10007&quot;&gt;&lt;property id=&quot;20148&quot; value=&quot;5&quot;/&gt;&lt;property id=&quot;20300&quot; value=&quot;Slide 5&quot;/&gt;&lt;property id=&quot;20307&quot; value=&quot;262&quot;/&gt;&lt;/object&gt;&lt;object type=&quot;3&quot; unique_id=&quot;10008&quot;&gt;&lt;property id=&quot;20148&quot; value=&quot;5&quot;/&gt;&lt;property id=&quot;20300&quot; value=&quot;Slide 6&quot;/&gt;&lt;property id=&quot;20307&quot; value=&quot;263&quot;/&gt;&lt;/object&gt;&lt;object type=&quot;3&quot; unique_id=&quot;10009&quot;&gt;&lt;property id=&quot;20148&quot; value=&quot;5&quot;/&gt;&lt;property id=&quot;20300&quot; value=&quot;Slide 7&quot;/&gt;&lt;property id=&quot;20307&quot; value=&quot;264&quot;/&gt;&lt;/object&gt;&lt;object type=&quot;3&quot; unique_id=&quot;10010&quot;&gt;&lt;property id=&quot;20148&quot; value=&quot;5&quot;/&gt;&lt;property id=&quot;20300&quot; value=&quot;Slide 8&quot;/&gt;&lt;property id=&quot;20307&quot; value=&quot;265&quot;/&gt;&lt;/object&gt;&lt;object type=&quot;3&quot; unique_id=&quot;10011&quot;&gt;&lt;property id=&quot;20148&quot; value=&quot;5&quot;/&gt;&lt;property id=&quot;20300&quot; value=&quot;Slide 9&quot;/&gt;&lt;property id=&quot;20307&quot; value=&quot;266&quot;/&gt;&lt;/object&gt;&lt;object type=&quot;3&quot; unique_id=&quot;10012&quot;&gt;&lt;property id=&quot;20148&quot; value=&quot;5&quot;/&gt;&lt;property id=&quot;20300&quot; value=&quot;Slide 10&quot;/&gt;&lt;property id=&quot;20307&quot; value=&quot;267&quot;/&gt;&lt;/object&gt;&lt;object type=&quot;3&quot; unique_id=&quot;10013&quot;&gt;&lt;property id=&quot;20148&quot; value=&quot;5&quot;/&gt;&lt;property id=&quot;20300&quot; value=&quot;Slide 11&quot;/&gt;&lt;property id=&quot;20307&quot; value=&quot;269&quot;/&gt;&lt;/object&gt;&lt;object type=&quot;3&quot; unique_id=&quot;10014&quot;&gt;&lt;property id=&quot;20148&quot; value=&quot;5&quot;/&gt;&lt;property id=&quot;20300&quot; value=&quot;Slide 12&quot;/&gt;&lt;property id=&quot;20307&quot; value=&quot;270&quot;/&gt;&lt;/object&gt;&lt;object type=&quot;3&quot; unique_id=&quot;10015&quot;&gt;&lt;property id=&quot;20148&quot; value=&quot;5&quot;/&gt;&lt;property id=&quot;20300&quot; value=&quot;Slide 13&quot;/&gt;&lt;property id=&quot;20307&quot; value=&quot;274&quot;/&gt;&lt;/object&gt;&lt;object type=&quot;3&quot; unique_id=&quot;10016&quot;&gt;&lt;property id=&quot;20148&quot; value=&quot;5&quot;/&gt;&lt;property id=&quot;20300&quot; value=&quot;Slide 14&quot;/&gt;&lt;property id=&quot;20307&quot; value=&quot;275&quot;/&gt;&lt;/object&gt;&lt;object type=&quot;3&quot; unique_id=&quot;10017&quot;&gt;&lt;property id=&quot;20148&quot; value=&quot;5&quot;/&gt;&lt;property id=&quot;20300&quot; value=&quot;Slide 15&quot;/&gt;&lt;property id=&quot;20307&quot; value=&quot;276&quot;/&gt;&lt;/object&gt;&lt;object type=&quot;3&quot; unique_id=&quot;10018&quot;&gt;&lt;property id=&quot;20148&quot; value=&quot;5&quot;/&gt;&lt;property id=&quot;20300&quot; value=&quot;Slide 16&quot;/&gt;&lt;property id=&quot;20307&quot; value=&quot;277&quot;/&gt;&lt;/object&gt;&lt;object type=&quot;3&quot; unique_id=&quot;10019&quot;&gt;&lt;property id=&quot;20148&quot; value=&quot;5&quot;/&gt;&lt;property id=&quot;20300&quot; value=&quot;Slide 17&quot;/&gt;&lt;property id=&quot;20307&quot; value=&quot;271&quot;/&gt;&lt;/object&gt;&lt;object type=&quot;3&quot; unique_id=&quot;10020&quot;&gt;&lt;property id=&quot;20148&quot; value=&quot;5&quot;/&gt;&lt;property id=&quot;20300&quot; value=&quot;Slide 18&quot;/&gt;&lt;property id=&quot;20307&quot; value=&quot;278&quot;/&gt;&lt;/object&gt;&lt;object type=&quot;3&quot; unique_id=&quot;10021&quot;&gt;&lt;property id=&quot;20148&quot; value=&quot;5&quot;/&gt;&lt;property id=&quot;20300&quot; value=&quot;Slide 19&quot;/&gt;&lt;property id=&quot;20307&quot; value=&quot;279&quot;/&gt;&lt;/object&gt;&lt;object type=&quot;3&quot; unique_id=&quot;10022&quot;&gt;&lt;property id=&quot;20148&quot; value=&quot;5&quot;/&gt;&lt;property id=&quot;20300&quot; value=&quot;Slide 20&quot;/&gt;&lt;property id=&quot;20307&quot; value=&quot;272&quot;/&gt;&lt;/object&gt;&lt;object type=&quot;3&quot; unique_id=&quot;10023&quot;&gt;&lt;property id=&quot;20148&quot; value=&quot;5&quot;/&gt;&lt;property id=&quot;20300&quot; value=&quot;Slide 21&quot;/&gt;&lt;property id=&quot;20307&quot; value=&quot;273&quot;/&gt;&lt;/object&gt;&lt;object type=&quot;3&quot; unique_id=&quot;10024&quot;&gt;&lt;property id=&quot;20148&quot; value=&quot;5&quot;/&gt;&lt;property id=&quot;20300&quot; value=&quot;Slide 22&quot;/&gt;&lt;property id=&quot;20307&quot; value=&quot;268&quot;/&gt;&lt;/object&gt;&lt;object type=&quot;3&quot; unique_id=&quot;10025&quot;&gt;&lt;property id=&quot;20148&quot; value=&quot;5&quot;/&gt;&lt;property id=&quot;20300&quot; value=&quot;Slide 23&quot;/&gt;&lt;property id=&quot;20307&quot; value=&quot;280&quot;/&gt;&lt;/object&gt;&lt;object type=&quot;3&quot; unique_id=&quot;10026&quot;&gt;&lt;property id=&quot;20148&quot; value=&quot;5&quot;/&gt;&lt;property id=&quot;20300&quot; value=&quot;Slide 24&quot;/&gt;&lt;property id=&quot;20307&quot; value=&quot;281&quot;/&gt;&lt;/object&gt;&lt;object type=&quot;3&quot; unique_id=&quot;10027&quot;&gt;&lt;property id=&quot;20148&quot; value=&quot;5&quot;/&gt;&lt;property id=&quot;20300&quot; value=&quot;Slide 25&quot;/&gt;&lt;property id=&quot;20307&quot; value=&quot;282&quot;/&gt;&lt;/object&gt;&lt;/object&gt;&lt;object type=&quot;8&quot; unique_id=&quot;10056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9Slide.vn</Template>
  <TotalTime>4689</TotalTime>
  <Words>3563</Words>
  <Application>Microsoft Office PowerPoint</Application>
  <PresentationFormat>Custom</PresentationFormat>
  <Paragraphs>390</Paragraphs>
  <Slides>42</Slides>
  <Notes>25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1" baseType="lpstr">
      <vt:lpstr>Arial</vt:lpstr>
      <vt:lpstr>Calibri</vt:lpstr>
      <vt:lpstr>Cambria Math</vt:lpstr>
      <vt:lpstr>Tahoma</vt:lpstr>
      <vt:lpstr>Times New Roman</vt:lpstr>
      <vt:lpstr>Tomaho</vt:lpstr>
      <vt:lpstr>Office Theme</vt:lpstr>
      <vt:lpstr>1_Office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9Slide.vn</Manager>
  <Company>9Slide.vn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>9Slide.vn</dc:subject>
  <dc:creator>BINH</dc:creator>
  <dc:description>9Slide.vn</dc:description>
  <cp:lastModifiedBy>Luông Trương</cp:lastModifiedBy>
  <cp:revision>440</cp:revision>
  <dcterms:created xsi:type="dcterms:W3CDTF">2013-08-31T11:42:51Z</dcterms:created>
  <dcterms:modified xsi:type="dcterms:W3CDTF">2026-07-16T11:55:04Z</dcterms:modified>
  <cp:category>9Slide.vn</cp:category>
</cp:coreProperties>
</file>